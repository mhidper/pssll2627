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7"/>
    <p:sldId id="268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77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e inmersión en el rol profesional: «Bienvenidos al equipo de evaluación de políticas públicas sociolaborales. Aquí no se memoriza legislación; se aprende a tomar decisiones con datos para cambiar la vida de las personas». Presentar brevemente al docente y el hilo de la asignatura. (2-3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Proyectar esta diapositiva 30-45 segundos, sin leerla entera: solo situar que hoy es mitad presentación de la asignatura, mitad primer contacto con el contenido real de Tema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Conectar directamente con el caso de Emplea-T y el IMV que veremos en EPD: ambos son ejemplos de estas tres funciones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4-5 min. Pasar rápido — es un mapa mental para situar el resto del curso, no hay que profundizar hoy en cada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Cerrar el bloque de Tema 0 anunciando que estos 5 desafíos reaparecen literalmente en las preguntas para el debate del final de los apuntes de Tema 1 — es el hilo conductor de todo 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Noticia disparadora: «España lidera la tasa de paro de la UE pero alcanza récord histórico de ocupados rozando los 21,8 millones». Pregunta: «¿Cómo es posible que haya más gente trabajando que nunca y sigamos teniendo la mayor tasa de desempleo de Europa?». 5 min de exposición + engancha con el sondeo de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Sondeo Mentimeter (5 min): 1) ¿Cuál crees que es la tasa de desempleo estructural mínima a la que puede aspirar España hoy? (3% / 6% / 10% / 14%). 2) Si alguien deja de buscar trabajo por desánimo, ¿sigue contando como desempleado en las estadísticas oficiales? (Sí/No/No sabe). Después, explicar brevemente los tres indicadores (10 min) — la definición estricta EPA de desempleado (sin empleo, búsqueda activa, disponibilidad en 2 semanas) es la clave para responder la pregunta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min): lanzar la Fase 0 de aula invertida para la Sesión 2 y recordar el Pasaporte de Evaluación Continua (registro de hitos desde hoy). Recordatorio: quien complete el cuestionario previo llega con ventaja al reto en parejas de la Sesión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POLÍTICAS SOCIOLABORALES Y DE EMPLEO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· Bienvenida a la Asignatura y Fundamentos del Mercado de Trabajo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14 de septiembre de 2026  ·  Código 102023  ·  Manuel A. Hidalgo Pérez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1" descr="/home/user/PSSLL2627/.claude/skills/marca-psll/assets/upo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199632"/>
            <a:ext cx="137160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en Relaciones Laborales y Recursos Humanos · Doble Grado en Derecho y RRLL-RRHH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Hoja de Ruta de Hoy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69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minutos repartidos en dos bloques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1F6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0 · 60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1460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vamos a trabajar: método del caso, evaluación y equipos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son las políticas sociolaborales y por qué existen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áreas de las políticas sociolaborales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grandes desafíos actuales (digitalización, envejecimiento, transición ecológica...)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457200" cy="45720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 txBox="1"/>
          <p:nvPr/>
        </p:nvSpPr>
        <p:spPr>
          <a:xfrm>
            <a:off x="6583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28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30 min (arranque)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1460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de trabajo: por qué no es un mercado como los demás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Sondeo diagnóstico en vivo (Mentimeter)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indicadores clave: actividad, paro, empleo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Puente hacia la Sesión 2: dinámica de innovación y Curva de Beveridge</a:t>
            </a:r>
            <a:endParaRPr lang="en-US" sz="1350" dirty="0"/>
          </a:p>
        </p:txBody>
      </p:sp>
      <p:pic>
        <p:nvPicPr>
          <p:cNvPr id="14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7692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icon_transparent.svg"/>
          <p:cNvPicPr>
            <a:picLocks noChangeAspect="1"/>
          </p:cNvPicPr>
          <p:nvPr/>
        </p:nvPicPr>
        <p:blipFill>
          <a:blip>
            <a:alphaModFix amt="8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88575" y="475488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7889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TEMA 0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¿Qué son las Políticas Sociolaborales?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1F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¿Qué son las Políticas Sociolaborales?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2449"/>
            </a:avLst>
          </a:prstGeom>
          <a:solidFill>
            <a:srgbClr val="E1F6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que regulan y mejoran las condiciones del mercado laboral — empleo, formación profesional y protección social — y que corrigen los fallos que el mercado, por sí solo, no resuelve: ni garantiza equidad, ni garantiza eficiencia.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754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i="1" dirty="0">
                <a:solidFill>
                  <a:srgbClr val="E99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por sí solo no garantiza equidad ni eficiencia.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funciones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00800" y="210312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0756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Estabilización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3957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Suavizar las fluctuaciones del ciclo económico.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0" y="306324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 txBox="1"/>
          <p:nvPr/>
        </p:nvSpPr>
        <p:spPr>
          <a:xfrm>
            <a:off x="64008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Redistribución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55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la distribución de ingresos y riqueza del mercado.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9959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43159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fallos de mercado y mejorar la asignación de recursos.</a:t>
            </a:r>
            <a:endParaRPr lang="en-US" sz="1600" dirty="0"/>
          </a:p>
        </p:txBody>
      </p:sp>
      <p:pic>
        <p:nvPicPr>
          <p:cNvPr id="20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Estructura y Áreas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de Empleo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 empleo y cohesión social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45720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Profesional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a los cambios del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14" name="Shape 12"/>
          <p:cNvSpPr/>
          <p:nvPr/>
        </p:nvSpPr>
        <p:spPr>
          <a:xfrm>
            <a:off x="836676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 txBox="1"/>
          <p:nvPr/>
        </p:nvSpPr>
        <p:spPr>
          <a:xfrm>
            <a:off x="83667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y Conciliación</a:t>
            </a:r>
            <a:endParaRPr lang="en-US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 vida laboral / familiar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19" name="Shape 17"/>
          <p:cNvSpPr/>
          <p:nvPr/>
        </p:nvSpPr>
        <p:spPr>
          <a:xfrm>
            <a:off x="777240" y="4206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 txBox="1"/>
          <p:nvPr/>
        </p:nvSpPr>
        <p:spPr>
          <a:xfrm>
            <a:off x="7772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54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Cohesión Territorial</a:t>
            </a:r>
            <a:endParaRPr lang="en-US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disparidades regionales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 txBox="1"/>
          <p:nvPr/>
        </p:nvSpPr>
        <p:spPr>
          <a:xfrm>
            <a:off x="45720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754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Inclusión y Colectivos Vulnerables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laboral, no exclusión</a:t>
            </a:r>
            <a:endParaRPr lang="en-US" sz="1400" dirty="0"/>
          </a:p>
        </p:txBody>
      </p:sp>
      <p:pic>
        <p:nvPicPr>
          <p:cNvPr id="28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Los Grandes Desafíos del Siglo XXI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ellos reaparecerán en la agenda de reforma de Tema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348740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13487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digitalización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62072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9" name="Shape 7"/>
          <p:cNvSpPr/>
          <p:nvPr/>
        </p:nvSpPr>
        <p:spPr>
          <a:xfrm>
            <a:off x="3662172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3662172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Envejecimiento poblacional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75504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5975604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597560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12664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Globalización y deslocalización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88936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8289036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 txBox="1"/>
          <p:nvPr/>
        </p:nvSpPr>
        <p:spPr>
          <a:xfrm>
            <a:off x="8289036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626096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ecológica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802368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0602468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 txBox="1"/>
          <p:nvPr/>
        </p:nvSpPr>
        <p:spPr>
          <a:xfrm>
            <a:off x="1060246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939528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formas de empleo (gig economy)</a:t>
            </a:r>
            <a:endParaRPr lang="en-US" sz="1600" dirty="0"/>
          </a:p>
        </p:txBody>
      </p:sp>
      <p:pic>
        <p:nvPicPr>
          <p:cNvPr id="24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9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icon_transparent.sv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88575" y="475488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B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788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TEMA 1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Fundamentos del Mercado de Trabajo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· Arranque — sin dinámica de innovación todavía (llega en la Sesión 2)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 Mercado Distinto a los Demás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69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se ajusta como el mercado de manzanas?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6400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Heterogeneidad: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no es un bien homogéneo: varía en calidad, habilidades y especialización.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871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imperfecta: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Empleadores y trabajadores no conocen todas las oportunidades ni candidatos disponibles.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346704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 txBox="1"/>
          <p:nvPr/>
        </p:nvSpPr>
        <p:spPr>
          <a:xfrm>
            <a:off x="64008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84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 extensiva: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mínimo, seguridad laboral, normas de contratación y despido.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187952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64008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no monetarios: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Estabilidad, condiciones, desarrollo profesional pesan tanto como el salario.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 txBox="1"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0109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relativa: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Salarios y empleo no se ajustan tan rápido como los precios de otros mercados.</a:t>
            </a:r>
            <a:endParaRPr lang="en-US" sz="1600" dirty="0"/>
          </a:p>
        </p:txBody>
      </p:sp>
      <p:pic>
        <p:nvPicPr>
          <p:cNvPr id="19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Los Tres Indicadores Clave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137160"/>
          </a:xfrm>
          <a:prstGeom prst="rect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Actividad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Activa / Población ≥16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20440" cy="137160"/>
          </a:xfrm>
          <a:prstGeom prst="rect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 txBox="1"/>
          <p:nvPr/>
        </p:nvSpPr>
        <p:spPr>
          <a:xfrm>
            <a:off x="452628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Paro</a:t>
            </a:r>
            <a:endParaRPr lang="en-US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Desempleados / Población Activa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20440" cy="137160"/>
          </a:xfrm>
          <a:prstGeom prst="rect">
            <a:avLst/>
          </a:prstGeom>
          <a:solidFill>
            <a:srgbClr val="EDB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 txBox="1"/>
          <p:nvPr/>
        </p:nvSpPr>
        <p:spPr>
          <a:xfrm>
            <a:off x="827532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Empleo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/ Población ≥16</a:t>
            </a:r>
            <a:endParaRPr lang="en-US" sz="1600" dirty="0"/>
          </a:p>
        </p:txBody>
      </p:sp>
      <p:pic>
        <p:nvPicPr>
          <p:cNvPr id="15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Antes de Iros...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10728655" cy="1828800"/>
          </a:xfrm>
          <a:prstGeom prst="roundRect">
            <a:avLst>
              <a:gd name="adj" fmla="val 6000"/>
            </a:avLst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1097280" y="1691640"/>
            <a:ext cx="99971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martes/viernes entraremos en la sala de máquinas del desempleo: ¿por qué los empresarios dicen que no encuentran trabajadores mientras hay 2,6 millones de personas en paro? La Curva de Beveridge os dará la respuesta.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la Sesión 2 (Aula Invertida):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Vídeo-píldora (10 min) en el Aula Virtual: «La bañera del desempleo y la Curva de Beveridge»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previo de 3 preguntas en el Aula Virtual (autocalificable)</a:t>
            </a:r>
            <a:endParaRPr lang="en-US" sz="1350" dirty="0"/>
          </a:p>
        </p:txBody>
      </p:sp>
      <p:pic>
        <p:nvPicPr>
          <p:cNvPr id="7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1188720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FINAL · ENSAYO DE RODAJE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Individual de Cierre: Fundamentos Laborales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Comprueba tu atención y comprensión de los conceptos clave vistos hoy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(102023) · Sesión 1 · 14/09/2026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600"/>
              </a:spcBef>
              <a:defRPr sz="1500" b="1">
                <a:solidFill>
                  <a:srgbClr val="566B56"/>
                </a:solidFill>
                <a:latin typeface="Poppins"/>
              </a:defRPr>
            </a:pPr>
            <a:r>
              <a:t>1. Un mercado singular: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Cita y explica brevemente dos razones por las que el mercado de trabajo no se ajusta como un mercado ordinario (mercado de manzanas).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2. Funciones de las políticas sociolaborales: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Identifica cuál de las tres funciones (estabilización, redistribución o eficiencia) busca corregir fallos de mercado y pon un ejemplo.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3. Indicadores del mercado: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 una persona parada se desanima y deja de buscar empleo, ¿qué ocurre con la tasa de paro y la de actividad? Razona qué denominador cambia.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regunta final sesión 1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con el móvil y sube tu foto con cuenta UPO (@alu.upo.es).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Sesión de rodaje · En las siguientes sesiones acumulará puntos para el examen final.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FINAL · CORRECCIÓN INMEDIATA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Claves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conceptos nucleares tratados en la sesión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(102023) · Sesión 1 · 14/09/2026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1. Particularidades del Trabajo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Heterogeneidad y Regulación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trabajo no es homogéneo (habilidades, cualificación) y está sometido a regulación estricta (salario mínimo, despidos) e información imperfecta: los salarios no limpian el mercado instantáneamente.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2. Función de Eficiencia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Corrección de Fallos de Mercado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función de eficiencia busca resolver fallos como la asimetría informativa o la falta de casación (*matching*). Ejemplo: intermediación del SAE o formación para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3. El Efecto Desánimo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Tasa de Paro vs. Actividad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Al abandonar la búsqueda, pasa de la población activa a la inactiva. El denominador de la tasa de paro (Activos) se reduce, y el numerador (Parados) también: la tasa de paro puede bajar ficticiamente sin crearse empleo.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1100</Words>
  <Application>Microsoft Office PowerPoint</Application>
  <PresentationFormat>Panorámica</PresentationFormat>
  <Paragraphs>117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Century Schoolbook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Manuel Alejandro Hidalgo Perez</cp:lastModifiedBy>
  <cp:revision>2</cp:revision>
  <dcterms:created xsi:type="dcterms:W3CDTF">2026-09-06T15:27:33Z</dcterms:created>
  <dcterms:modified xsi:type="dcterms:W3CDTF">2026-09-09T08:00:35Z</dcterms:modified>
</cp:coreProperties>
</file>