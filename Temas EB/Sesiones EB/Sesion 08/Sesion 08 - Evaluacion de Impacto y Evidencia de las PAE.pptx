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23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psll_u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44" y="502920"/>
            <a:ext cx="4389120" cy="23938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0632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Outfit"/>
              </a:defRPr>
            </a:pPr>
            <a:r>
              <a:t>POLÍTICAS SOCIOLABORALES Y DE EMPLEO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98F71"/>
                </a:solidFill>
                <a:latin typeface="Outfit"/>
              </a:defRPr>
            </a:pPr>
            <a:r>
              <a:t>Sesión 8 – Evaluación de Impacto y Evidencia Empírica de las PAE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5196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3EFDC"/>
                </a:solidFill>
                <a:latin typeface="Calibri"/>
              </a:defRPr>
            </a:pPr>
            <a:r>
              <a:t>Semana 5 · Martes 13 / Viernes 16 Octubre 2026 · Código 102023 · Manuel A. Hidalgo Pérez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upo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126480"/>
            <a:ext cx="452628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8720" y="6263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3A30"/>
                </a:solidFill>
                <a:latin typeface="Calibri"/>
              </a:defRPr>
            </a:pPr>
            <a:r>
              <a:t>Grado en Relaciones Laborales y Recursos Humanos · Doble Grado en Derecho y RRLL-RRHH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POLÍTICAS SOCIOLABORALES Y DE EMPLEO · TEMA 2 (III)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Arquitectura Pedagógica de la Sesión (120 min)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2029968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7556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6927A"/>
                </a:solidFill>
                <a:latin typeface="Outfit"/>
              </a:defRPr>
            </a:pPr>
            <a:r>
              <a:t>Fase 1 · 00-20 min</a:t>
            </a:r>
          </a:p>
          <a:p>
            <a:pPr>
              <a:spcBef>
                <a:spcPts val="800"/>
              </a:spcBef>
              <a:defRPr sz="1400" b="1">
                <a:solidFill>
                  <a:srgbClr val="113927"/>
                </a:solidFill>
                <a:latin typeface="Outfit"/>
              </a:defRPr>
            </a:pPr>
            <a:r>
              <a:t>Apertura y Sondeo Forms</a:t>
            </a:r>
          </a:p>
          <a:p>
            <a:pPr>
              <a:spcBef>
                <a:spcPts val="1200"/>
              </a:spcBef>
              <a:defRPr sz="1150">
                <a:solidFill>
                  <a:srgbClr val="2F3A30"/>
                </a:solidFill>
                <a:latin typeface="Calibri"/>
              </a:defRPr>
            </a:pPr>
            <a:r>
              <a:t>Noticia disparadora: '3 de cada 4 trabajan'. Enigma de inserción vs. impacto. Choque empírico con la Figura 2.2.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508760"/>
            <a:ext cx="2029968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63240" y="1691640"/>
            <a:ext cx="17556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6927A"/>
                </a:solidFill>
                <a:latin typeface="Outfit"/>
              </a:defRPr>
            </a:pPr>
            <a:r>
              <a:t>Fase 2 · 20-45 min</a:t>
            </a:r>
          </a:p>
          <a:p>
            <a:pPr>
              <a:spcBef>
                <a:spcPts val="800"/>
              </a:spcBef>
              <a:defRPr sz="1400" b="1">
                <a:solidFill>
                  <a:srgbClr val="113927"/>
                </a:solidFill>
                <a:latin typeface="Outfit"/>
              </a:defRPr>
            </a:pPr>
            <a:r>
              <a:t>La Lógica del Contrafactual</a:t>
            </a:r>
          </a:p>
          <a:p>
            <a:pPr>
              <a:spcBef>
                <a:spcPts val="1200"/>
              </a:spcBef>
              <a:defRPr sz="1150">
                <a:solidFill>
                  <a:srgbClr val="2F3A30"/>
                </a:solidFill>
                <a:latin typeface="Calibri"/>
              </a:defRPr>
            </a:pPr>
            <a:r>
              <a:t>Por qué comparar participantes con no participantes engaña: sesgo de selección. Las 4 lupas explicadas sin matemáticas.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508760"/>
            <a:ext cx="2029968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1691640"/>
            <a:ext cx="17556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6927A"/>
                </a:solidFill>
                <a:latin typeface="Outfit"/>
              </a:defRPr>
            </a:pPr>
            <a:r>
              <a:t>Fase 3 · 45-80 min</a:t>
            </a:r>
          </a:p>
          <a:p>
            <a:pPr>
              <a:spcBef>
                <a:spcPts val="800"/>
              </a:spcBef>
              <a:defRPr sz="1400" b="1">
                <a:solidFill>
                  <a:srgbClr val="113927"/>
                </a:solidFill>
                <a:latin typeface="Outfit"/>
              </a:defRPr>
            </a:pPr>
            <a:r>
              <a:t>Las 5 Grandes Evidencias</a:t>
            </a:r>
          </a:p>
          <a:p>
            <a:pPr>
              <a:spcBef>
                <a:spcPts val="1200"/>
              </a:spcBef>
              <a:defRPr sz="1150">
                <a:solidFill>
                  <a:srgbClr val="2F3A30"/>
                </a:solidFill>
                <a:latin typeface="Calibri"/>
              </a:defRPr>
            </a:pPr>
            <a:r>
              <a:t>Microdatos AIReF y CEE, evaluación intermedia SEPE, formación en España y el metaanálisis de Card, Kluve y Weber.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508760"/>
            <a:ext cx="2029968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1691640"/>
            <a:ext cx="17556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6927A"/>
                </a:solidFill>
                <a:latin typeface="Outfit"/>
              </a:defRPr>
            </a:pPr>
            <a:r>
              <a:t>Fase 4 · 80-100 min</a:t>
            </a:r>
          </a:p>
          <a:p>
            <a:pPr>
              <a:spcBef>
                <a:spcPts val="800"/>
              </a:spcBef>
              <a:defRPr sz="1400" b="1">
                <a:solidFill>
                  <a:srgbClr val="113927"/>
                </a:solidFill>
                <a:latin typeface="Outfit"/>
              </a:defRPr>
            </a:pPr>
            <a:r>
              <a:t>Taller: Gasto y Gobernanza</a:t>
            </a:r>
          </a:p>
          <a:p>
            <a:pPr>
              <a:spcBef>
                <a:spcPts val="1200"/>
              </a:spcBef>
              <a:defRPr sz="1150">
                <a:solidFill>
                  <a:srgbClr val="2F3A30"/>
                </a:solidFill>
                <a:latin typeface="Calibri"/>
              </a:defRPr>
            </a:pPr>
            <a:r>
              <a:t>La paradoja del gasto español en PAE (Figura 2.3: PIB vs. Parado). Perfilado estadístico y el reto profesional de RRLL.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508760"/>
            <a:ext cx="2029968" cy="4663440"/>
          </a:xfrm>
          <a:prstGeom prst="roundRect">
            <a:avLst/>
          </a:prstGeom>
          <a:solidFill>
            <a:srgbClr val="113927"/>
          </a:solidFill>
          <a:ln w="1524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46920" y="1691640"/>
            <a:ext cx="1755648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8F71"/>
                </a:solidFill>
                <a:latin typeface="Outfit"/>
              </a:defRPr>
            </a:pPr>
            <a:r>
              <a:t>Fase 5 · 100-120 min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  <a:latin typeface="Outfit"/>
              </a:defRPr>
            </a:pPr>
            <a:r>
              <a:t>Reto Manuscrito y Pasaporte</a:t>
            </a:r>
          </a:p>
          <a:p>
            <a:pPr>
              <a:spcBef>
                <a:spcPts val="1200"/>
              </a:spcBef>
              <a:defRPr sz="1150">
                <a:solidFill>
                  <a:srgbClr val="FFFFFF"/>
                </a:solidFill>
                <a:latin typeface="Calibri"/>
              </a:defRPr>
            </a:pPr>
            <a:r>
              <a:t>Caso individual en papel (10 min). Subida fotográfica QR Forms. Rúbrica de 1.000 pts y comodines para examen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1 (00–20 MIN) · APERTURA CON GANCHO Y ENIGMA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Fase 1 · El Titular Triunfalista: ¿Éxito Social o Espejismo?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8F71"/>
                </a:solidFill>
                <a:latin typeface="Outfit"/>
              </a:defRPr>
            </a:pPr>
            <a:r>
              <a:t>NOTICIA DE PRENSA REGIONAL</a:t>
            </a:r>
          </a:p>
          <a:p>
            <a:pPr>
              <a:spcBef>
                <a:spcPts val="1400"/>
              </a:spcBef>
              <a:defRPr sz="1800" b="1">
                <a:solidFill>
                  <a:srgbClr val="FFFFFF"/>
                </a:solidFill>
                <a:latin typeface="Outfit"/>
              </a:defRPr>
            </a:pPr>
            <a:r>
              <a:t>«La Consejería de Empleo celebra el rotundo éxito del programa de capacitación digital: el 75% de los alumnos está contratado a los seis meses»</a:t>
            </a:r>
          </a:p>
          <a:p>
            <a:pPr>
              <a:spcBef>
                <a:spcPts val="1600"/>
              </a:spcBef>
              <a:defRPr sz="1400">
                <a:solidFill>
                  <a:srgbClr val="F3EFDC"/>
                </a:solidFill>
                <a:latin typeface="Calibri"/>
              </a:defRPr>
            </a:pPr>
            <a:r>
              <a:t>Se han invertido 12 millones de euros en formar a 2.000 jóvenes universitarios desempleados. Los portavoces afirman que la alta empleabilidad 'demuestra la rentabilidad directa de cada euro público'.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EL ENIGMA PROFESIONAL PARA RRLL</a:t>
            </a:r>
          </a:p>
          <a:p>
            <a:pPr>
              <a:spcBef>
                <a:spcPts val="1000"/>
              </a:spcBef>
              <a:defRPr sz="1700" b="1">
                <a:solidFill>
                  <a:srgbClr val="E98F71"/>
                </a:solidFill>
                <a:latin typeface="Outfit"/>
              </a:defRPr>
            </a:pPr>
            <a:r>
              <a:t>¿Podemos firmar como graduados laborales que el curso creó 1.500 empleos?</a:t>
            </a:r>
          </a:p>
          <a:p>
            <a:pPr>
              <a:spcBef>
                <a:spcPts val="1400"/>
              </a:spcBef>
              <a:defRPr sz="1400">
                <a:solidFill>
                  <a:srgbClr val="2F3A30"/>
                </a:solidFill>
                <a:latin typeface="Calibri"/>
              </a:defRPr>
            </a:pPr>
            <a:r>
              <a:t>• Si los 2.000 alumnos eran graduados universitarios jóvenes, ¿cuántos de ellos habrían encontrado empleo de todos modos durante ese semestre sin hacer el curso?</a:t>
            </a:r>
            <a:br/>
            <a:br/>
            <a:r>
              <a:t>• ¿Y si la tasa ordinaria de empleo de graduados en esa comarca ya era del 70% sin intervención pública?</a:t>
            </a:r>
            <a:br/>
            <a:br/>
            <a:r>
              <a:t>• La trampa crítica: confundir lo que les pasa a los alumnos con el cambio que provocó el curso.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1 (00–20 MIN) · PARTICIPACIÓN CON MÓVIL EN DIRECTO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Sondeo en Directo · Diagnóstico Previo en el Aula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685800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6309360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rPr dirty="0"/>
              <a:t>PREGUNTA DE VOTACIÓN EN PANTALLA</a:t>
            </a:r>
          </a:p>
          <a:p>
            <a:pPr>
              <a:spcBef>
                <a:spcPts val="1000"/>
              </a:spcBef>
              <a:defRPr sz="1600" b="1">
                <a:solidFill>
                  <a:srgbClr val="E98F71"/>
                </a:solidFill>
                <a:latin typeface="Outfit"/>
              </a:defRPr>
            </a:pPr>
            <a:r>
              <a:rPr dirty="0"/>
              <a:t>«Un </a:t>
            </a:r>
            <a:r>
              <a:rPr dirty="0" err="1"/>
              <a:t>servicio</a:t>
            </a:r>
            <a:r>
              <a:rPr dirty="0"/>
              <a:t> </a:t>
            </a:r>
            <a:r>
              <a:rPr dirty="0" err="1"/>
              <a:t>público</a:t>
            </a:r>
            <a:r>
              <a:rPr dirty="0"/>
              <a:t> de </a:t>
            </a:r>
            <a:r>
              <a:rPr dirty="0" err="1"/>
              <a:t>empleo</a:t>
            </a:r>
            <a:r>
              <a:rPr dirty="0"/>
              <a:t> </a:t>
            </a:r>
            <a:r>
              <a:rPr dirty="0" err="1"/>
              <a:t>financia</a:t>
            </a:r>
            <a:r>
              <a:rPr dirty="0"/>
              <a:t> un </a:t>
            </a:r>
            <a:r>
              <a:rPr dirty="0" err="1"/>
              <a:t>curso</a:t>
            </a:r>
            <a:r>
              <a:rPr dirty="0"/>
              <a:t> para 200 </a:t>
            </a:r>
            <a:r>
              <a:rPr dirty="0" err="1"/>
              <a:t>desempleados</a:t>
            </a:r>
            <a:r>
              <a:rPr dirty="0"/>
              <a:t>. A </a:t>
            </a:r>
            <a:r>
              <a:rPr dirty="0" err="1"/>
              <a:t>los</a:t>
            </a:r>
            <a:r>
              <a:rPr dirty="0"/>
              <a:t> seis meses, 150 de </a:t>
            </a:r>
            <a:r>
              <a:rPr dirty="0" err="1"/>
              <a:t>ellos</a:t>
            </a:r>
            <a:r>
              <a:rPr dirty="0"/>
              <a:t> (75%) </a:t>
            </a:r>
            <a:r>
              <a:rPr dirty="0" err="1"/>
              <a:t>están</a:t>
            </a:r>
            <a:r>
              <a:rPr dirty="0"/>
              <a:t> </a:t>
            </a:r>
            <a:r>
              <a:rPr dirty="0" err="1"/>
              <a:t>trabajando</a:t>
            </a:r>
            <a:r>
              <a:rPr dirty="0"/>
              <a:t>. ¿</a:t>
            </a:r>
            <a:r>
              <a:rPr dirty="0" err="1"/>
              <a:t>Cuál</a:t>
            </a:r>
            <a:r>
              <a:rPr dirty="0"/>
              <a:t> </a:t>
            </a:r>
            <a:r>
              <a:rPr dirty="0" err="1"/>
              <a:t>fue</a:t>
            </a:r>
            <a:r>
              <a:rPr dirty="0"/>
              <a:t> el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neto</a:t>
            </a:r>
            <a:r>
              <a:rPr dirty="0"/>
              <a:t> del </a:t>
            </a:r>
            <a:r>
              <a:rPr dirty="0" err="1"/>
              <a:t>curso</a:t>
            </a:r>
            <a:r>
              <a:rPr dirty="0"/>
              <a:t>?»</a:t>
            </a:r>
          </a:p>
          <a:p>
            <a:pPr>
              <a:spcBef>
                <a:spcPts val="8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rPr b="1" dirty="0"/>
              <a:t>A) </a:t>
            </a:r>
            <a:r>
              <a:rPr b="1" dirty="0" err="1"/>
              <a:t>Exactamente</a:t>
            </a:r>
            <a:r>
              <a:rPr b="1" dirty="0"/>
              <a:t> el 75%: </a:t>
            </a:r>
            <a:r>
              <a:rPr b="1" dirty="0" err="1"/>
              <a:t>cada</a:t>
            </a:r>
            <a:r>
              <a:rPr b="1" dirty="0"/>
              <a:t> </a:t>
            </a:r>
            <a:r>
              <a:rPr b="1" dirty="0" err="1"/>
              <a:t>empleo</a:t>
            </a:r>
            <a:r>
              <a:rPr b="1" dirty="0"/>
              <a:t> </a:t>
            </a:r>
            <a:r>
              <a:rPr b="1" dirty="0" err="1"/>
              <a:t>registrado</a:t>
            </a:r>
            <a:r>
              <a:rPr b="1" dirty="0"/>
              <a:t> es un </a:t>
            </a:r>
            <a:r>
              <a:rPr b="1" dirty="0" err="1"/>
              <a:t>éxito</a:t>
            </a:r>
            <a:r>
              <a:rPr b="1" dirty="0"/>
              <a:t> del </a:t>
            </a:r>
            <a:r>
              <a:rPr b="1" dirty="0" err="1"/>
              <a:t>programa</a:t>
            </a:r>
            <a:r>
              <a:rPr b="1" dirty="0"/>
              <a:t>.</a:t>
            </a:r>
          </a:p>
          <a:p>
            <a:pPr>
              <a:spcBef>
                <a:spcPts val="8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rPr b="1" dirty="0"/>
              <a:t>B) Cero: </a:t>
            </a:r>
            <a:r>
              <a:rPr b="1" dirty="0" err="1"/>
              <a:t>los</a:t>
            </a:r>
            <a:r>
              <a:rPr b="1" dirty="0"/>
              <a:t> </a:t>
            </a:r>
            <a:r>
              <a:rPr b="1" dirty="0" err="1"/>
              <a:t>cursos</a:t>
            </a:r>
            <a:r>
              <a:rPr b="1" dirty="0"/>
              <a:t> </a:t>
            </a:r>
            <a:r>
              <a:rPr b="1" dirty="0" err="1"/>
              <a:t>públicos</a:t>
            </a:r>
            <a:r>
              <a:rPr b="1" dirty="0"/>
              <a:t> de </a:t>
            </a:r>
            <a:r>
              <a:rPr b="1" dirty="0" err="1"/>
              <a:t>empleo</a:t>
            </a:r>
            <a:r>
              <a:rPr b="1" dirty="0"/>
              <a:t> </a:t>
            </a:r>
            <a:r>
              <a:rPr b="1" dirty="0" err="1"/>
              <a:t>nunca</a:t>
            </a:r>
            <a:r>
              <a:rPr b="1" dirty="0"/>
              <a:t> </a:t>
            </a:r>
            <a:r>
              <a:rPr b="1" dirty="0" err="1"/>
              <a:t>sirven</a:t>
            </a:r>
            <a:r>
              <a:rPr b="1" dirty="0"/>
              <a:t> para nada.</a:t>
            </a:r>
          </a:p>
          <a:p>
            <a:pPr>
              <a:spcBef>
                <a:spcPts val="8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rPr b="1" dirty="0"/>
              <a:t>C) Entre el 50% y el 70%: </a:t>
            </a:r>
            <a:r>
              <a:rPr b="1" dirty="0" err="1"/>
              <a:t>siempre</a:t>
            </a:r>
            <a:r>
              <a:rPr b="1" dirty="0"/>
              <a:t> hay </a:t>
            </a:r>
            <a:r>
              <a:rPr b="1" dirty="0" err="1"/>
              <a:t>bajas</a:t>
            </a:r>
            <a:r>
              <a:rPr b="1" dirty="0"/>
              <a:t>, </a:t>
            </a:r>
            <a:r>
              <a:rPr b="1" dirty="0" err="1"/>
              <a:t>pero</a:t>
            </a:r>
            <a:r>
              <a:rPr b="1" dirty="0"/>
              <a:t> el </a:t>
            </a:r>
            <a:r>
              <a:rPr b="1" dirty="0" err="1"/>
              <a:t>efecto</a:t>
            </a:r>
            <a:r>
              <a:rPr b="1" dirty="0"/>
              <a:t> es </a:t>
            </a:r>
            <a:r>
              <a:rPr b="1" dirty="0" err="1"/>
              <a:t>altísimo</a:t>
            </a:r>
            <a:r>
              <a:rPr b="1" dirty="0"/>
              <a:t>.</a:t>
            </a:r>
          </a:p>
          <a:p>
            <a:pPr>
              <a:spcBef>
                <a:spcPts val="800"/>
              </a:spcBef>
              <a:defRPr sz="1300" b="1">
                <a:solidFill>
                  <a:srgbClr val="113927"/>
                </a:solidFill>
                <a:latin typeface="Calibri"/>
              </a:defRPr>
            </a:pPr>
            <a:r>
              <a:rPr b="1" dirty="0"/>
              <a:t>D) </a:t>
            </a:r>
            <a:r>
              <a:rPr b="1" dirty="0" err="1"/>
              <a:t>Imposible</a:t>
            </a:r>
            <a:r>
              <a:rPr b="1" dirty="0"/>
              <a:t> </a:t>
            </a:r>
            <a:r>
              <a:rPr b="1" dirty="0" err="1"/>
              <a:t>saberlo</a:t>
            </a:r>
            <a:r>
              <a:rPr b="1" dirty="0"/>
              <a:t> solo con ese </a:t>
            </a:r>
            <a:r>
              <a:rPr b="1" dirty="0" err="1"/>
              <a:t>dato</a:t>
            </a:r>
            <a:r>
              <a:rPr b="1" dirty="0"/>
              <a:t>: </a:t>
            </a:r>
            <a:r>
              <a:rPr b="1" dirty="0" err="1"/>
              <a:t>necesitamos</a:t>
            </a:r>
            <a:r>
              <a:rPr b="1" dirty="0"/>
              <a:t> </a:t>
            </a:r>
            <a:r>
              <a:rPr b="1" dirty="0" err="1"/>
              <a:t>estimar</a:t>
            </a:r>
            <a:r>
              <a:rPr b="1" dirty="0"/>
              <a:t> </a:t>
            </a:r>
            <a:r>
              <a:rPr b="1" dirty="0" err="1"/>
              <a:t>qué</a:t>
            </a:r>
            <a:r>
              <a:rPr b="1" dirty="0"/>
              <a:t> </a:t>
            </a:r>
            <a:r>
              <a:rPr b="1" dirty="0" err="1"/>
              <a:t>habría</a:t>
            </a:r>
            <a:r>
              <a:rPr b="1" dirty="0"/>
              <a:t> </a:t>
            </a:r>
            <a:r>
              <a:rPr b="1" dirty="0" err="1"/>
              <a:t>ocurrido</a:t>
            </a:r>
            <a:r>
              <a:rPr b="1" dirty="0"/>
              <a:t> con </a:t>
            </a:r>
            <a:r>
              <a:rPr b="1" dirty="0" err="1"/>
              <a:t>esos</a:t>
            </a:r>
            <a:r>
              <a:rPr b="1" dirty="0"/>
              <a:t> 200 </a:t>
            </a:r>
            <a:r>
              <a:rPr b="1" dirty="0" err="1"/>
              <a:t>jóvenes</a:t>
            </a:r>
            <a:r>
              <a:rPr b="1" dirty="0"/>
              <a:t> </a:t>
            </a:r>
            <a:r>
              <a:rPr b="1" dirty="0" err="1"/>
              <a:t>si</a:t>
            </a:r>
            <a:r>
              <a:rPr b="1" dirty="0"/>
              <a:t> NO </a:t>
            </a:r>
            <a:r>
              <a:rPr b="1" dirty="0" err="1"/>
              <a:t>hubiesen</a:t>
            </a:r>
            <a:r>
              <a:rPr b="1" dirty="0"/>
              <a:t> </a:t>
            </a:r>
            <a:r>
              <a:rPr b="1" dirty="0" err="1"/>
              <a:t>hecho</a:t>
            </a:r>
            <a:r>
              <a:rPr b="1" dirty="0"/>
              <a:t> el </a:t>
            </a:r>
            <a:r>
              <a:rPr b="1" dirty="0" err="1"/>
              <a:t>curso</a:t>
            </a:r>
            <a:r>
              <a:rPr b="1" dirty="0"/>
              <a:t> (el contrafactual).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508760"/>
            <a:ext cx="3566160" cy="4663440"/>
          </a:xfrm>
          <a:prstGeom prst="roundRect">
            <a:avLst/>
          </a:prstGeom>
          <a:solidFill>
            <a:srgbClr val="113927"/>
          </a:solidFill>
          <a:ln w="1524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44805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98F71"/>
                </a:solidFill>
                <a:latin typeface="Outfit"/>
              </a:defRPr>
            </a:pPr>
            <a:r>
              <a:t>ESCANEA CON TU MÓVIL</a:t>
            </a:r>
          </a:p>
          <a:p>
            <a:pPr algn="ctr">
              <a:spcBef>
                <a:spcPts val="400"/>
              </a:spcBef>
              <a:defRPr sz="1200">
                <a:solidFill>
                  <a:srgbClr val="FFFFFF"/>
                </a:solidFill>
                <a:latin typeface="Calibri"/>
              </a:defRPr>
            </a:pPr>
            <a:r>
              <a:t>Votación en directo institucional</a:t>
            </a:r>
            <a:br/>
            <a:r>
              <a:t>(Microsoft Forms · Cuenta UPO)</a:t>
            </a:r>
          </a:p>
        </p:txBody>
      </p:sp>
      <p:pic>
        <p:nvPicPr>
          <p:cNvPr id="10" name="Imagen 9" descr="Código QR">
            <a:extLst>
              <a:ext uri="{FF2B5EF4-FFF2-40B4-BE49-F238E27FC236}">
                <a16:creationId xmlns:a16="http://schemas.microsoft.com/office/drawing/2014/main" id="{C92144B6-6425-59F2-CC40-89163590F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477" y="1715642"/>
            <a:ext cx="2684907" cy="26849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1 (00–20 MIN) · CHOQUE EMPÍRICO INMEDIATO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Choque Empírico · Tasa de Inserción vs. Impacto Neto (Figura 2.2)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pic>
        <p:nvPicPr>
          <p:cNvPr id="5" name="Picture 4" descr="figura_2_2_evaluacion_sesgo_d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83080"/>
            <a:ext cx="6035040" cy="31635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0" y="1508760"/>
            <a:ext cx="438912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7830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LECCIONES DE LA FIGURA 2.2</a:t>
            </a:r>
          </a:p>
          <a:p>
            <a:pPr>
              <a:spcBef>
                <a:spcPts val="800"/>
              </a:spcBef>
              <a:defRPr sz="1500" b="1">
                <a:solidFill>
                  <a:srgbClr val="E98F71"/>
                </a:solidFill>
                <a:latin typeface="Outfit"/>
              </a:defRPr>
            </a:pPr>
            <a:r>
              <a:t>Panel A: La Comparación Ingenua</a:t>
            </a:r>
          </a:p>
          <a:p>
            <a:pPr>
              <a:spcBef>
                <a:spcPts val="4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Comparar alumnos (60%) con no alumnos (40%) da una falsa brecha de +20 puntos: mezcla el efecto real con las ventajas iniciales del participante.</a:t>
            </a:r>
          </a:p>
          <a:p>
            <a:pPr>
              <a:spcBef>
                <a:spcPts val="1200"/>
              </a:spcBef>
              <a:defRPr sz="1500" b="1">
                <a:solidFill>
                  <a:srgbClr val="113927"/>
                </a:solidFill>
                <a:latin typeface="Outfit"/>
              </a:defRPr>
            </a:pPr>
            <a:r>
              <a:t>Panel B: El Contrafactual Real (DiD)</a:t>
            </a:r>
          </a:p>
          <a:p>
            <a:pPr>
              <a:spcBef>
                <a:spcPts val="4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La economía general subió 12 puntos. Sin el curso, los alumnos habrían alcanzado el 42% por inercia. El verdadero impacto neto es de solo +10 puntos.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2 (20–45 MIN) · MINI-LECCIÓN CONCEPTUAL SIN MATEMÁTICAS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La Pregunta Contrafactual: La Película no Rodada (§6.1)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¿QUÉ ES EL CONTRAFACTUAL?</a:t>
            </a:r>
          </a:p>
          <a:p>
            <a:pPr>
              <a:spcBef>
                <a:spcPts val="800"/>
              </a:spcBef>
              <a:defRPr sz="1600" b="1">
                <a:solidFill>
                  <a:srgbClr val="E98F71"/>
                </a:solidFill>
                <a:latin typeface="Outfit"/>
              </a:defRPr>
            </a:pPr>
            <a:r>
              <a:t>El estado que habría experimentado la misma persona si NO hubiera participado en la política pública.</a:t>
            </a:r>
          </a:p>
          <a:p>
            <a:pPr>
              <a:spcBef>
                <a:spcPts val="1200"/>
              </a:spcBef>
              <a:defRPr sz="1350">
                <a:solidFill>
                  <a:srgbClr val="2F3A30"/>
                </a:solidFill>
                <a:latin typeface="Calibri"/>
              </a:defRPr>
            </a:pPr>
            <a:r>
              <a:t>• En medicina, no podemos darle una pastilla a un paciente y a la vez no dársela en el mismo minuto temporal.</a:t>
            </a:r>
            <a:br/>
            <a:br/>
            <a:r>
              <a:t>• En el mercado de trabajo ocurre igual: Juan hizo el curso de soldadura y trabaja. ¿Qué le habría pasado a Juan ese mismo año sin el curso? Esa es la pregunta contrafactual.</a:t>
            </a:r>
            <a:br/>
            <a:br/>
            <a:r>
              <a:t>• Como nunca podemos clonar a Juan, toda evaluación científica consiste en construir un grupo de comparación gemelo creíble.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8F71"/>
                </a:solidFill>
                <a:latin typeface="Outfit"/>
              </a:defRPr>
            </a:pPr>
            <a:r>
              <a:t>LA REGLA FUNDAMENTAL DE EVALUACIÓN</a:t>
            </a:r>
          </a:p>
          <a:p>
            <a:pPr>
              <a:spcBef>
                <a:spcPts val="1400"/>
              </a:spcBef>
              <a:defRPr sz="1800" b="1">
                <a:solidFill>
                  <a:srgbClr val="FFFFFF"/>
                </a:solidFill>
                <a:latin typeface="Outfit"/>
              </a:defRPr>
            </a:pPr>
            <a:r>
              <a:t>Impacto Neto Real = Resultado Observado − Contrafactual</a:t>
            </a:r>
          </a:p>
          <a:p>
            <a:pPr>
              <a:spcBef>
                <a:spcPts val="1600"/>
              </a:spcBef>
              <a:defRPr sz="1400">
                <a:solidFill>
                  <a:srgbClr val="F3EFDC"/>
                </a:solidFill>
                <a:latin typeface="Calibri"/>
              </a:defRPr>
            </a:pPr>
            <a:r>
              <a:t>1. Si 75 de cada 100 participantes encuentran empleo, pero 65 habrían encontrado empleo sin el curso:</a:t>
            </a:r>
            <a:br/>
            <a:r>
              <a:t>   → El impacto neto real es de solo +10 empleos.</a:t>
            </a:r>
            <a:br/>
            <a:br/>
            <a:r>
              <a:t>2. Los otros 65 empleos habrían existido de todos modos (peso muerto).</a:t>
            </a:r>
            <a:br/>
            <a:br/>
            <a:r>
              <a:t>3. Evaluar no es justificar gastos: es averiguar si el cambio en la vida de los trabajadores fue provocado por el dinero público.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2 (20–45 MIN) · MINI-LECCIÓN CONCEPTUAL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Por qué la Comparación Ingenua Engaña: El Sesgo de Selección (§6.2)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MECANISMO 1: AUTOSELECCIÓN</a:t>
            </a:r>
          </a:p>
          <a:p>
            <a:pPr>
              <a:spcBef>
                <a:spcPts val="800"/>
              </a:spcBef>
              <a:defRPr sz="1600" b="1">
                <a:solidFill>
                  <a:srgbClr val="E98F71"/>
                </a:solidFill>
                <a:latin typeface="Outfit"/>
              </a:defRPr>
            </a:pPr>
            <a:r>
              <a:t>La iniciativa del propio trabajador</a:t>
            </a:r>
          </a:p>
          <a:p>
            <a:pPr>
              <a:spcBef>
                <a:spcPts val="12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• Cuando un curso es voluntario, ¿quiénes se inscriben primero? Aquellos desempleados con mayor motivación, mejores hábitos, menor desánimo y redes activas de apoyo.</a:t>
            </a:r>
            <a:br/>
            <a:br/>
            <a:r>
              <a:t>• Esos factores no se ven en el expediente administrativo (son inobservables), pero hacen que encuentren empleo antes que el resto con independencia del curso.</a:t>
            </a:r>
            <a:br/>
            <a:br/>
            <a:r>
              <a:t>• Atribuir el éxito al curso cuando se debió a la motivación del alumno es sesgo de autoselección.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MECANISMO 2: DESCREMADO (CREAMING)</a:t>
            </a:r>
          </a:p>
          <a:p>
            <a:pPr>
              <a:spcBef>
                <a:spcPts val="800"/>
              </a:spcBef>
              <a:defRPr sz="1600" b="1">
                <a:solidFill>
                  <a:srgbClr val="E98F71"/>
                </a:solidFill>
                <a:latin typeface="Outfit"/>
              </a:defRPr>
            </a:pPr>
            <a:r>
              <a:t>La selección del orientador o gestor</a:t>
            </a:r>
          </a:p>
          <a:p>
            <a:pPr>
              <a:spcBef>
                <a:spcPts val="12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• Si los centros de formación cobran un bonus por alumno insertado, elegirán a los mejores candidatos ('la nata de la leche').</a:t>
            </a:r>
            <a:br/>
            <a:br/>
            <a:r>
              <a:t>• Los orientadores derivan a los cursos de élite a desempleados con buena formación previa o menor tiempo de paro, dejando fuera a los perfiles vulnerables.</a:t>
            </a:r>
            <a:br/>
            <a:br/>
            <a:r>
              <a:t>• El resultado parece brillante sobre el papel, pero el valor añadido neto real para la sociedad es mínimo.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2 (20–45 MIN) · METODOLOGÍA INTUITIVA PARA RRLL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Las 4 Lupas Metodológicas para Identificar el Contrafactual (§6.3)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2542032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1. Experimento Aleatorio</a:t>
            </a:r>
          </a:p>
          <a:p>
            <a:pPr>
              <a:spcBef>
                <a:spcPts val="400"/>
              </a:spcBef>
              <a:defRPr sz="1200" b="1">
                <a:solidFill>
                  <a:srgbClr val="E98F71"/>
                </a:solidFill>
                <a:latin typeface="Outfit"/>
              </a:defRPr>
            </a:pPr>
            <a:r>
              <a:t>El Sorteo Clínico (Gold Standard)</a:t>
            </a:r>
          </a:p>
          <a:p>
            <a:pPr>
              <a:spcBef>
                <a:spcPts val="1000"/>
              </a:spcBef>
              <a:defRPr sz="1200">
                <a:solidFill>
                  <a:srgbClr val="2F3A30"/>
                </a:solidFill>
                <a:latin typeface="Calibri"/>
              </a:defRPr>
            </a:pPr>
            <a:r>
              <a:t>Entre quienes cumplen requisitos, el azar decide quién entra y quién queda en lista de control. Elimina todo sesgo.</a:t>
            </a:r>
            <a:br/>
            <a:br/>
            <a:r>
              <a:t>Límite: Dilemas éticos al negar un servicio.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1508760"/>
            <a:ext cx="2542032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2. Diferencias en Diferencias</a:t>
            </a:r>
          </a:p>
          <a:p>
            <a:pPr>
              <a:spcBef>
                <a:spcPts val="400"/>
              </a:spcBef>
              <a:defRPr sz="1200" b="1">
                <a:solidFill>
                  <a:srgbClr val="E98F71"/>
                </a:solidFill>
                <a:latin typeface="Outfit"/>
              </a:defRPr>
            </a:pPr>
            <a:r>
              <a:t>Restar la Marea Económica (DiD)</a:t>
            </a:r>
          </a:p>
          <a:p>
            <a:pPr>
              <a:spcBef>
                <a:spcPts val="1000"/>
              </a:spcBef>
              <a:defRPr sz="1200">
                <a:solidFill>
                  <a:srgbClr val="2F3A30"/>
                </a:solidFill>
                <a:latin typeface="Calibri"/>
              </a:defRPr>
            </a:pPr>
            <a:r>
              <a:t>Compara la trayectoria antes y después del grupo participante, restando la evolución que experimentó el grupo de comparación.</a:t>
            </a:r>
            <a:br/>
            <a:br/>
            <a:r>
              <a:t>Supuesto: Tendencias paralelas.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508760"/>
            <a:ext cx="2542032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3. Emparejamiento (Matching)</a:t>
            </a:r>
          </a:p>
          <a:p>
            <a:pPr>
              <a:spcBef>
                <a:spcPts val="400"/>
              </a:spcBef>
              <a:defRPr sz="1200" b="1">
                <a:solidFill>
                  <a:srgbClr val="E98F71"/>
                </a:solidFill>
                <a:latin typeface="Outfit"/>
              </a:defRPr>
            </a:pPr>
            <a:r>
              <a:t>El Gemelo Estadístico</a:t>
            </a:r>
          </a:p>
          <a:p>
            <a:pPr>
              <a:spcBef>
                <a:spcPts val="1000"/>
              </a:spcBef>
              <a:defRPr sz="1200">
                <a:solidFill>
                  <a:srgbClr val="2F3A30"/>
                </a:solidFill>
                <a:latin typeface="Calibri"/>
              </a:defRPr>
            </a:pPr>
            <a:r>
              <a:t>Con registros de la Seguridad Social, se busca para cada alumno a su clon exacto (misma edad, oficio y meses de paro) que no hizo el curso.</a:t>
            </a:r>
            <a:br/>
            <a:br/>
            <a:r>
              <a:t>Límite: Datos administrativos ricos.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1392" y="1508760"/>
            <a:ext cx="2542032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88552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4. Regresión Discontinua</a:t>
            </a:r>
          </a:p>
          <a:p>
            <a:pPr>
              <a:spcBef>
                <a:spcPts val="400"/>
              </a:spcBef>
              <a:defRPr sz="1200" b="1">
                <a:solidFill>
                  <a:srgbClr val="E98F71"/>
                </a:solidFill>
                <a:latin typeface="Outfit"/>
              </a:defRPr>
            </a:pPr>
            <a:r>
              <a:t>El Corte por Umbral Normativo</a:t>
            </a:r>
          </a:p>
          <a:p>
            <a:pPr>
              <a:spcBef>
                <a:spcPts val="1000"/>
              </a:spcBef>
              <a:defRPr sz="1200">
                <a:solidFill>
                  <a:srgbClr val="2F3A30"/>
                </a:solidFill>
                <a:latin typeface="Calibri"/>
              </a:defRPr>
            </a:pPr>
            <a:r>
              <a:t>Compara a personas a un lado y a otro de una frontera rígida: p. ej. 44 años y 11 meses vs. 45 años recién cumplidos (Programa Emplea-T).</a:t>
            </a:r>
            <a:br/>
            <a:br/>
            <a:r>
              <a:t>Límite: Solo mide en torno al umbral.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2 (20–45 MIN) · LÍMITES DE LA EVALUACIÓN MICROECONÓMICA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Lo que la Lupa Individual no ve: Bloqueo y Desplazamiento (§6.4)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1. EFECTO BLOQUEO (LOCK-IN)</a:t>
            </a:r>
          </a:p>
          <a:p>
            <a:pPr>
              <a:spcBef>
                <a:spcPts val="800"/>
              </a:spcBef>
              <a:defRPr sz="1600" b="1">
                <a:solidFill>
                  <a:srgbClr val="E98F71"/>
                </a:solidFill>
                <a:latin typeface="Outfit"/>
              </a:defRPr>
            </a:pPr>
            <a:r>
              <a:t>La pausa obligada de búsqueda activa</a:t>
            </a:r>
          </a:p>
          <a:p>
            <a:pPr>
              <a:spcBef>
                <a:spcPts val="12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• Mientras un desempleado asiste 6 horas diarias a un curso de recualificación, busca empleo con menor intensidad que quien está fuera.</a:t>
            </a:r>
            <a:br/>
            <a:br/>
            <a:r>
              <a:t>• Si evaluamos a los 3 meses de empezar el curso, el impacto aparente será CERO o incluso NEGATIVO.</a:t>
            </a:r>
            <a:br/>
            <a:br/>
            <a:r>
              <a:t>• Regla temporal: La verdadera ganancia formativa solo emerge a los 2-3 años de finalizar el programa. No hay que precipitar las conclusiones.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2. EFECTO DESPLAZAMIENTO (EQUILIBRIO)</a:t>
            </a:r>
          </a:p>
          <a:p>
            <a:pPr>
              <a:spcBef>
                <a:spcPts val="800"/>
              </a:spcBef>
              <a:defRPr sz="1600" b="1">
                <a:solidFill>
                  <a:srgbClr val="E98F71"/>
                </a:solidFill>
                <a:latin typeface="Outfit"/>
              </a:defRPr>
            </a:pPr>
            <a:r>
              <a:t>El juego de la silla musical en el mercado</a:t>
            </a:r>
          </a:p>
          <a:p>
            <a:pPr>
              <a:spcBef>
                <a:spcPts val="12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• ¿Consiguen los alumnos un puesto a costa de desplazar a desempleados no subvencionados? (Crépon et al., 2013).</a:t>
            </a:r>
            <a:br/>
            <a:br/>
            <a:r>
              <a:t>• Si una comarca solo tiene 50 vacantes de administrativo y subvencionamos a 50 jóvenes, los 50 se colocan, pero dejan fuera a otros 50.</a:t>
            </a:r>
            <a:br/>
            <a:br/>
            <a:r>
              <a:t>• Para el gestor de RRLL: cualificar a un candidato mejora su posición relativa en la cola, pero no crea empleo neto macroeconómico.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3 (45–80 MIN) · LAS 5 GRANDES EVIDENCIAS EMPÍRICAS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Evidencia 1 (España) · AIReF Spending Review: El Laberinto de los CEE (§7.1)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4389120" cy="4663440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8F71"/>
                </a:solidFill>
                <a:latin typeface="Outfit"/>
              </a:defRPr>
            </a:pPr>
            <a:r>
              <a:t>EL INFORME OFICIAL AIReF (2020)</a:t>
            </a:r>
          </a:p>
          <a:p>
            <a:pPr>
              <a:spcBef>
                <a:spcPts val="1200"/>
              </a:spcBef>
              <a:defRPr sz="2200" b="1">
                <a:solidFill>
                  <a:srgbClr val="FFFFFF"/>
                </a:solidFill>
                <a:latin typeface="Outfit"/>
              </a:defRPr>
            </a:pPr>
            <a:r>
              <a:t>831 Millones de Euros</a:t>
            </a:r>
          </a:p>
          <a:p>
            <a:pPr>
              <a:spcBef>
                <a:spcPts val="1400"/>
              </a:spcBef>
              <a:defRPr sz="1350">
                <a:solidFill>
                  <a:srgbClr val="F3EFDC"/>
                </a:solidFill>
                <a:latin typeface="Calibri"/>
              </a:defRPr>
            </a:pPr>
            <a:r>
              <a:t>El 40,6% del gasto total evaluado en incentivos a la contratación se concentra en personas con discapacidad, principalmente en Centros Especiales de Empleo (CEE) con bonificación del 100% de cuotas a la Seguridad Social.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508760"/>
            <a:ext cx="603504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0" y="17830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EL HALLAZGO EMPÍRICO CRÍTICO</a:t>
            </a:r>
          </a:p>
          <a:p>
            <a:pPr>
              <a:spcBef>
                <a:spcPts val="800"/>
              </a:spcBef>
              <a:defRPr sz="1800" b="1">
                <a:solidFill>
                  <a:srgbClr val="E98F71"/>
                </a:solidFill>
                <a:latin typeface="Outfit"/>
              </a:defRPr>
            </a:pPr>
            <a:r>
              <a:t>Transición a la Empresa Ordinaria: &lt; 1,5% anual</a:t>
            </a:r>
          </a:p>
          <a:p>
            <a:pPr>
              <a:spcBef>
                <a:spcPts val="12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• El diseño legal concebía los CEE como una pasarela temporal de formación y tránsito hacia el mercado laboral ordinario.</a:t>
            </a:r>
            <a:br/>
            <a:br/>
            <a:r>
              <a:t>• Microdatos de la Muestra Continua de Vidas Laborales (MCVL): Menos del 1,5% de los trabajadores con discapacidad salta a empresas ordinarias cada año.</a:t>
            </a:r>
            <a:br/>
            <a:br/>
            <a:r>
              <a:t>• El riesgo de 'circuito cerrado': La bonificación indefinida desincentiva a los CEE a perder a sus trabajadores más productivos y crea dependencia estructural del subsidio.</a:t>
            </a:r>
            <a:br/>
            <a:br/>
            <a:r>
              <a:t>• Lección: Los incentivos permanentes sin cláusulas de activación encierran a los colectivos en entornos protegidos.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3 (45–80 MIN) · LAS 5 GRANDES EVIDENCIAS EMPÍRICAS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Evidencia 2 (España) · Evaluación SEPE: Itinerarios Combinados (§7.1)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3927"/>
                </a:solidFill>
                <a:latin typeface="Outfit"/>
              </a:defRPr>
            </a:pPr>
            <a:r>
              <a:t>LA EVALUACIÓN INTERMEDIA DE LA ESTRATEGIA ESPAÑOLA (2023)</a:t>
            </a:r>
          </a:p>
          <a:p>
            <a:pPr>
              <a:spcBef>
                <a:spcPts val="800"/>
              </a:spcBef>
              <a:defRPr sz="1600" b="1">
                <a:solidFill>
                  <a:srgbClr val="E98F71"/>
                </a:solidFill>
                <a:latin typeface="Outfit"/>
              </a:defRPr>
            </a:pPr>
            <a:r>
              <a:t>Servicios Aislados vs. Servicios Integrados</a:t>
            </a:r>
          </a:p>
          <a:p>
            <a:pPr>
              <a:spcBef>
                <a:spcPts val="12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• El SEPE evaluó los servicios garantizados con microdatos masivos usando matching y diferencias en diferencias.</a:t>
            </a:r>
            <a:br/>
            <a:br/>
            <a:r>
              <a:t>• Medidas aisladas (enviar una oferta o una charla de 1 hora): El impacto neto sobre la inserción es prácticamente CERO.</a:t>
            </a:r>
            <a:br/>
            <a:br/>
            <a:r>
              <a:t>• La intervención sin seguimiento no cambia la empleabilidad estructural de quien lleva meses buscando sin éxito.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13927"/>
          </a:solidFill>
          <a:ln w="1524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8F71"/>
                </a:solidFill>
                <a:latin typeface="Outfit"/>
              </a:defRPr>
            </a:pPr>
            <a:r>
              <a:t>EL PODER DEL ITINERARIO PERSONALIZADO</a:t>
            </a:r>
          </a:p>
          <a:p>
            <a:pPr>
              <a:spcBef>
                <a:spcPts val="1000"/>
              </a:spcBef>
              <a:defRPr sz="2000" b="1">
                <a:solidFill>
                  <a:srgbClr val="FFFFFF"/>
                </a:solidFill>
                <a:latin typeface="Outfit"/>
              </a:defRPr>
            </a:pPr>
            <a:r>
              <a:t>+5% a +24% en Inserción Laboral</a:t>
            </a:r>
          </a:p>
          <a:p>
            <a:pPr>
              <a:spcBef>
                <a:spcPts val="1400"/>
              </a:spcBef>
              <a:defRPr sz="1350">
                <a:solidFill>
                  <a:srgbClr val="F3EFDC"/>
                </a:solidFill>
                <a:latin typeface="Calibri"/>
              </a:defRPr>
            </a:pPr>
            <a:r>
              <a:t>• Cuando el servicio público combina tutorización individualizada + formación modular adaptada + prospección de vacantes, la tasa de inserción salta entre 5 y 24 puntos porcentuales.</a:t>
            </a:r>
            <a:br/>
            <a:br/>
            <a:r>
              <a:t>• Conclusión para Recursos Humanos: La eficacia del acompañamiento depende de la continuidad del itinerario, no de cursos aislados.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3 (45–80 MIN) · LAS 5 GRANDES EVIDENCIAS EMPÍRICAS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Evidencia 3 (España) · Formación para el Empleo: Luces y Sombras (§7.1)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¿DÓNDE SÍ FUNCIONA LA FORMACIÓN?</a:t>
            </a:r>
          </a:p>
          <a:p>
            <a:pPr>
              <a:spcBef>
                <a:spcPts val="800"/>
              </a:spcBef>
              <a:defRPr sz="1600" b="1">
                <a:solidFill>
                  <a:srgbClr val="E98F71"/>
                </a:solidFill>
                <a:latin typeface="Outfit"/>
              </a:defRPr>
            </a:pPr>
            <a:r>
              <a:t>Mujeres y Trabajadores de Mediana Edad</a:t>
            </a:r>
          </a:p>
          <a:p>
            <a:pPr>
              <a:spcBef>
                <a:spcPts val="12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• Arellano (2005, 2010), Cueto y Mato (2009): La formación profesional para el empleo tiene efectos muy positivos y duraderos en mujeres que se reincorporan al mercado tras periodos de cuidados.</a:t>
            </a:r>
            <a:br/>
            <a:br/>
            <a:r>
              <a:t>• En desempleados de 30 a 45 años con experiencia laboral previa, la actualización técnica reduce drásticamente el riesgo de paro de larga duración y mejora la estabilidad salarial.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¿DÓNDE FRACASA O APENAS RINDE?</a:t>
            </a:r>
          </a:p>
          <a:p>
            <a:pPr>
              <a:spcBef>
                <a:spcPts val="800"/>
              </a:spcBef>
              <a:defRPr sz="1600" b="1">
                <a:solidFill>
                  <a:srgbClr val="76927A"/>
                </a:solidFill>
                <a:latin typeface="Outfit"/>
              </a:defRPr>
            </a:pPr>
            <a:r>
              <a:t>Jóvenes sin Base y Paro de Muy Larga Duración</a:t>
            </a:r>
          </a:p>
          <a:p>
            <a:pPr>
              <a:spcBef>
                <a:spcPts val="12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• En jóvenes sin titulación secundaria obligatoria, meterlos en un aula teórica genera desenganche y abandono temprano.</a:t>
            </a:r>
            <a:br/>
            <a:br/>
            <a:r>
              <a:t>• En parados de más de 24 meses en desempleo, un curso aislado sin orientación psicosocial ni incentivo a la contratación tiene impacto casi nulo.</a:t>
            </a:r>
            <a:br/>
            <a:br/>
            <a:r>
              <a:t>• Conclusión: La formación no es una receta universal; debe prescribirse como un fármaco específico según el perfil.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3 (45–80 MIN) · LAS 5 GRANDES EVIDENCIAS EMPÍRICAS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Evidencia 4 (Internacional) · Metaanálisis de Card, Kluve y Weber (§7.1)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2542032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LECCIÓN 1</a:t>
            </a:r>
          </a:p>
          <a:p>
            <a:pPr>
              <a:spcBef>
                <a:spcPts val="600"/>
              </a:spcBef>
              <a:defRPr sz="1500" b="1">
                <a:solidFill>
                  <a:srgbClr val="113927"/>
                </a:solidFill>
                <a:latin typeface="Outfit"/>
              </a:defRPr>
            </a:pPr>
            <a:r>
              <a:t>1. La Curva en 'J'</a:t>
            </a:r>
          </a:p>
          <a:p>
            <a:pPr>
              <a:spcBef>
                <a:spcPts val="14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A corto plazo parece que la formación no sirve por el efecto bloqueo (lock-in). A los 2 y 3 años, las ganancias de empleo son sólidas y sostenidas.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1508760"/>
            <a:ext cx="2542032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LECCIÓN 2</a:t>
            </a:r>
          </a:p>
          <a:p>
            <a:pPr>
              <a:spcBef>
                <a:spcPts val="600"/>
              </a:spcBef>
              <a:defRPr sz="1500" b="1">
                <a:solidFill>
                  <a:srgbClr val="113927"/>
                </a:solidFill>
                <a:latin typeface="Outfit"/>
              </a:defRPr>
            </a:pPr>
            <a:r>
              <a:t>2. Empleo Público Directo</a:t>
            </a:r>
          </a:p>
          <a:p>
            <a:pPr>
              <a:spcBef>
                <a:spcPts val="14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Los programas de obras y servicios municipales directos tienen impacto casi nulo o negativo sobre la inserción laboral privada posterior.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508760"/>
            <a:ext cx="2542032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LECCIÓN 3</a:t>
            </a:r>
          </a:p>
          <a:p>
            <a:pPr>
              <a:spcBef>
                <a:spcPts val="600"/>
              </a:spcBef>
              <a:defRPr sz="1500" b="1">
                <a:solidFill>
                  <a:srgbClr val="113927"/>
                </a:solidFill>
                <a:latin typeface="Outfit"/>
              </a:defRPr>
            </a:pPr>
            <a:r>
              <a:t>3. Efecto Antirrecesión</a:t>
            </a:r>
          </a:p>
          <a:p>
            <a:pPr>
              <a:spcBef>
                <a:spcPts val="14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Las políticas activas rinden el doble durante las fases de crisis económica que en las expansiones: salvan vidas laborales.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1392" y="1508760"/>
            <a:ext cx="2542032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88552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LECCIÓN 4</a:t>
            </a:r>
          </a:p>
          <a:p>
            <a:pPr>
              <a:spcBef>
                <a:spcPts val="600"/>
              </a:spcBef>
              <a:defRPr sz="1500" b="1">
                <a:solidFill>
                  <a:srgbClr val="113927"/>
                </a:solidFill>
                <a:latin typeface="Outfit"/>
              </a:defRPr>
            </a:pPr>
            <a:r>
              <a:t>4. Foco en los Vulnerables</a:t>
            </a:r>
          </a:p>
          <a:p>
            <a:pPr>
              <a:spcBef>
                <a:spcPts val="14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Los mayores retornos sociales se concentran en parados de larga duración y mujeres con barreras familiares de acceso.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3 (45–80 MIN) · LAS 5 GRANDES EVIDENCIAS EMPÍRICAS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Evidencia 5 (Internacional) · El Desplazamiento de Crépon et al. (§6.4)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512064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EL ENSAYO EN FRANCIA (2013)</a:t>
            </a:r>
          </a:p>
          <a:p>
            <a:pPr>
              <a:spcBef>
                <a:spcPts val="800"/>
              </a:spcBef>
              <a:defRPr sz="1600" b="1">
                <a:solidFill>
                  <a:srgbClr val="E98F71"/>
                </a:solidFill>
                <a:latin typeface="Outfit"/>
              </a:defRPr>
            </a:pPr>
            <a:r>
              <a:t>Intermediación Privada Intensiva para Jóvenes Titulados</a:t>
            </a:r>
          </a:p>
          <a:p>
            <a:pPr>
              <a:spcBef>
                <a:spcPts val="12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• Experimento aleatorio a gran escala liderado por Esther Duflo (Premio Nobel) y Bruno Crépon.</a:t>
            </a:r>
            <a:br/>
            <a:br/>
            <a:r>
              <a:t>• Asignaron agencias privadas de colocación con incentivos económicos directos para recolocar jóvenes universitarios.</a:t>
            </a:r>
            <a:br/>
            <a:br/>
            <a:r>
              <a:t>• En los distritos donde se trató a pocos jóvenes, los participantes se colocaron un 25% más rápido que el grupo de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663440"/>
          </a:xfrm>
          <a:prstGeom prst="roundRect">
            <a:avLst/>
          </a:prstGeom>
          <a:solidFill>
            <a:srgbClr val="11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8F71"/>
                </a:solidFill>
                <a:latin typeface="Outfit"/>
              </a:defRPr>
            </a:pPr>
            <a:r>
              <a:t>EL DESCUBRIMIENTO MACROECONÓMICO</a:t>
            </a:r>
          </a:p>
          <a:p>
            <a:pPr>
              <a:spcBef>
                <a:spcPts val="1000"/>
              </a:spcBef>
              <a:defRPr sz="1800" b="1">
                <a:solidFill>
                  <a:srgbClr val="FFFFFF"/>
                </a:solidFill>
                <a:latin typeface="Outfit"/>
              </a:defRPr>
            </a:pPr>
            <a:r>
              <a:t>El Efecto de Equilibrio y 'Crowding Out'</a:t>
            </a:r>
          </a:p>
          <a:p>
            <a:pPr>
              <a:spcBef>
                <a:spcPts val="1200"/>
              </a:spcBef>
              <a:defRPr sz="1350">
                <a:solidFill>
                  <a:srgbClr val="F3EFDC"/>
                </a:solidFill>
                <a:latin typeface="Calibri"/>
              </a:defRPr>
            </a:pPr>
            <a:r>
              <a:t>• En los municipios donde se trató a una proporción alta de jóvenes, los no participantes tardaron MUCHO MÁS en encontrar empleo.</a:t>
            </a:r>
            <a:br/>
            <a:br/>
            <a:r>
              <a:t>• Los participantes 'adelantaron en la cola' y ocuparon las pocas vacantes existentes, expulsando a sus compañeros.</a:t>
            </a:r>
            <a:br/>
            <a:br/>
            <a:r>
              <a:t>• Conclusión vital para RRLL: Las políticas activas mejoran la empleabilidad del individuo, pero si no se crean empresas y vacantes, solo reorganizan quién sufre el desempleo.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4 (80–100 MIN) · TALLER ACTIVO DE GOBERNANZA Y GASTO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Fase 4 · Taller: La Paradoja del Gasto en PAE (Figura 2.3)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pic>
        <p:nvPicPr>
          <p:cNvPr id="5" name="Picture 4" descr="figura_2_3_gasto_pae_por_par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8760"/>
            <a:ext cx="603504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040880" y="1508760"/>
            <a:ext cx="438912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0" y="17830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3927"/>
                </a:solidFill>
                <a:latin typeface="Outfit"/>
              </a:defRPr>
            </a:pPr>
            <a:r>
              <a:t>EL ESPEJISMO DEL % SOBRE EL PIB</a:t>
            </a:r>
          </a:p>
          <a:p>
            <a:pPr>
              <a:spcBef>
                <a:spcPts val="800"/>
              </a:spcBef>
              <a:defRPr sz="1300">
                <a:solidFill>
                  <a:srgbClr val="2F3A30"/>
                </a:solidFill>
                <a:latin typeface="Calibri"/>
              </a:defRPr>
            </a:pPr>
            <a:r>
              <a:t>España dedica el 0,76% del PIB (zona media UE, cerca de Alemania con 0,72%). Parece suficiente...</a:t>
            </a:r>
          </a:p>
          <a:p>
            <a:pPr>
              <a:spcBef>
                <a:spcPts val="1200"/>
              </a:spcBef>
              <a:defRPr sz="1500" b="1">
                <a:solidFill>
                  <a:srgbClr val="E98F71"/>
                </a:solidFill>
                <a:latin typeface="Outfit"/>
              </a:defRPr>
            </a:pPr>
            <a:r>
              <a:t>La Realidad: Gasto por Desempleado</a:t>
            </a:r>
          </a:p>
          <a:p>
            <a:pPr>
              <a:spcBef>
                <a:spcPts val="600"/>
              </a:spcBef>
              <a:defRPr sz="1250">
                <a:solidFill>
                  <a:srgbClr val="2F3A30"/>
                </a:solidFill>
                <a:latin typeface="Calibri"/>
              </a:defRPr>
            </a:pPr>
            <a:r>
              <a:t>• España: 3.331 € / parado / año</a:t>
            </a:r>
            <a:br/>
            <a:r>
              <a:t>• Alemania: 16.890 € / parado / año</a:t>
            </a:r>
            <a:br/>
            <a:r>
              <a:t>• Francia: 14.250 € / parado / año</a:t>
            </a:r>
            <a:br/>
            <a:r>
              <a:t>• Dinamarca: &gt; 41.000 € / parado / año</a:t>
            </a:r>
            <a:br/>
            <a:br/>
            <a:r>
              <a:t>Al tener el doble o triple de desempleados, los recursos reales por persona se diluyen por completo.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4 (80–100 MIN) · CIERRE DEL TEMA 2 Y GOBERNANZA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Gobernanza y Desafíos Pendientes para el Graduado en RRLL (§7.3)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2542032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PILAR 1</a:t>
            </a:r>
          </a:p>
          <a:p>
            <a:pPr>
              <a:spcBef>
                <a:spcPts val="600"/>
              </a:spcBef>
              <a:defRPr sz="1400" b="1">
                <a:solidFill>
                  <a:srgbClr val="113927"/>
                </a:solidFill>
                <a:latin typeface="Outfit"/>
              </a:defRPr>
            </a:pPr>
            <a:r>
              <a:t>1. Perfilado Estadístico Real</a:t>
            </a:r>
          </a:p>
          <a:p>
            <a:pPr>
              <a:spcBef>
                <a:spcPts val="1400"/>
              </a:spcBef>
              <a:defRPr sz="1250">
                <a:solidFill>
                  <a:srgbClr val="2F3A30"/>
                </a:solidFill>
                <a:latin typeface="Calibri"/>
              </a:defRPr>
            </a:pPr>
            <a:r>
              <a:t>Uso de herramientas predictivas y algoritmos para detectar a los desempleados con alto riesgo de caer en paro de larga duración antes de que transcurran 12 meses.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8144" y="1508760"/>
            <a:ext cx="2542032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75304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PILAR 2</a:t>
            </a:r>
          </a:p>
          <a:p>
            <a:pPr>
              <a:spcBef>
                <a:spcPts val="600"/>
              </a:spcBef>
              <a:defRPr sz="1400" b="1">
                <a:solidFill>
                  <a:srgbClr val="113927"/>
                </a:solidFill>
                <a:latin typeface="Outfit"/>
              </a:defRPr>
            </a:pPr>
            <a:r>
              <a:t>2. Ratio de Orientadores</a:t>
            </a:r>
          </a:p>
          <a:p>
            <a:pPr>
              <a:spcBef>
                <a:spcPts val="1400"/>
              </a:spcBef>
              <a:defRPr sz="1250">
                <a:solidFill>
                  <a:srgbClr val="2F3A30"/>
                </a:solidFill>
                <a:latin typeface="Calibri"/>
              </a:defRPr>
            </a:pPr>
            <a:r>
              <a:t>En Dinamarca hay 1 orientador por cada 50 demandantes. En España la ratio supera los 700-800. Sin personal especializado es imposible personalizar itinerarios.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508760"/>
            <a:ext cx="2542032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PILAR 3</a:t>
            </a:r>
          </a:p>
          <a:p>
            <a:pPr>
              <a:spcBef>
                <a:spcPts val="600"/>
              </a:spcBef>
              <a:defRPr sz="1400" b="1">
                <a:solidFill>
                  <a:srgbClr val="113927"/>
                </a:solidFill>
                <a:latin typeface="Outfit"/>
              </a:defRPr>
            </a:pPr>
            <a:r>
              <a:t>3. Cartera Común Garantizada</a:t>
            </a:r>
          </a:p>
          <a:p>
            <a:pPr>
              <a:spcBef>
                <a:spcPts val="1400"/>
              </a:spcBef>
              <a:defRPr sz="1250">
                <a:solidFill>
                  <a:srgbClr val="2F3A30"/>
                </a:solidFill>
                <a:latin typeface="Calibri"/>
              </a:defRPr>
            </a:pPr>
            <a:r>
              <a:t>Hacer exigibles los derechos de la Ley 3/2023 y RD 438/2024 en los 17 servicios autonómicos, superando la fragmentación territorial del Sistema Nacional de Empleo.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1392" y="1508760"/>
            <a:ext cx="2542032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88552" y="1691640"/>
            <a:ext cx="22677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PILAR 4</a:t>
            </a:r>
          </a:p>
          <a:p>
            <a:pPr>
              <a:spcBef>
                <a:spcPts val="600"/>
              </a:spcBef>
              <a:defRPr sz="1400" b="1">
                <a:solidFill>
                  <a:srgbClr val="113927"/>
                </a:solidFill>
                <a:latin typeface="Outfit"/>
              </a:defRPr>
            </a:pPr>
            <a:r>
              <a:t>4. Evaluación Continua Obligatoria</a:t>
            </a:r>
          </a:p>
          <a:p>
            <a:pPr>
              <a:spcBef>
                <a:spcPts val="1400"/>
              </a:spcBef>
              <a:defRPr sz="1250">
                <a:solidFill>
                  <a:srgbClr val="2F3A30"/>
                </a:solidFill>
                <a:latin typeface="Calibri"/>
              </a:defRPr>
            </a:pPr>
            <a:r>
              <a:t>Superar la cultura burocrática de 'justificar facturas' y consolidar evaluaciones causales independientes con acceso a microdatos de Seguridad Social.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76927A"/>
                </a:solidFill>
                <a:latin typeface="Outfit"/>
              </a:defRPr>
            </a:pPr>
            <a:r>
              <a:t>FASE 5 (100–120 MIN) · EVALUACIÓN CIEGA Y PASAPORTE DIGITAL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13927"/>
                </a:solidFill>
                <a:latin typeface="Outfit"/>
              </a:defRPr>
            </a:pPr>
            <a:r>
              <a:t>Fase 5 · Reto Manuscrito Individual en Papel (10 min)</a:t>
            </a:r>
          </a:p>
        </p:txBody>
      </p:sp>
      <p:pic>
        <p:nvPicPr>
          <p:cNvPr id="4" name="Picture 3" descr="psll_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57200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508760"/>
            <a:ext cx="6858000" cy="4663440"/>
          </a:xfrm>
          <a:prstGeom prst="roundRect">
            <a:avLst/>
          </a:prstGeom>
          <a:solidFill>
            <a:srgbClr val="113927"/>
          </a:solidFill>
          <a:ln w="1524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6309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98F71"/>
                </a:solidFill>
                <a:latin typeface="Outfit"/>
              </a:defRPr>
            </a:pPr>
            <a:r>
              <a:t>CASO PRÁCTICO EN PAPEL (SOLO LÁPIZ Y PAPEL · 10 MIN)</a:t>
            </a:r>
          </a:p>
          <a:p>
            <a:pPr>
              <a:spcBef>
                <a:spcPts val="800"/>
              </a:spcBef>
              <a:defRPr sz="1300">
                <a:solidFill>
                  <a:srgbClr val="F3EFDC"/>
                </a:solidFill>
                <a:latin typeface="Calibri"/>
              </a:defRPr>
            </a:pPr>
            <a:r>
              <a:t>Un ayuntamiento financia una Escuela Taller de Rehabilitación para 60 jóvenes desempleados. El concejal afirma: 'El 70% de los alumnos está hoy trabajando, frente al 40% de los jóvenes que no hicieron el taller. El programa ha generado un incremento neto de 30 puntos porcentuales'.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1. (500 pts) Explica por qué la afirmación del concejal contiene un 'sesgo de selección' y por qué la tasa de inserción bruta (70%) no equivale al impacto del programa.</a:t>
            </a:r>
          </a:p>
          <a:p>
            <a:pPr>
              <a:spcBef>
                <a:spcPts val="1000"/>
              </a:spcBef>
              <a:defRPr sz="1300" b="1">
                <a:solidFill>
                  <a:srgbClr val="FFFFFF"/>
                </a:solidFill>
                <a:latin typeface="Calibri"/>
              </a:defRPr>
            </a:pPr>
            <a:r>
              <a:t>2. (500 pts) Apoyándote en la evidencia de la AIReF o en el metaanálisis de Card, Kluve y Weber, señala qué dos riesgos de ineficiencia (a corto vs. medio plazo, o de circuito cerrado/desplazamiento) deben evaluarse antes de calificarlo como éxito.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508760"/>
            <a:ext cx="3566160" cy="4663440"/>
          </a:xfrm>
          <a:prstGeom prst="roundRect">
            <a:avLst/>
          </a:prstGeom>
          <a:solidFill>
            <a:srgbClr val="F4F8F5"/>
          </a:solidFill>
          <a:ln w="1524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44805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13927"/>
                </a:solidFill>
                <a:latin typeface="Outfit"/>
              </a:defRPr>
            </a:pPr>
            <a:r>
              <a:t>SUBIDA FOTOGRÁFICA (2 MIN)</a:t>
            </a:r>
          </a:p>
          <a:p>
            <a:pPr algn="ctr">
              <a:spcBef>
                <a:spcPts val="400"/>
              </a:spcBef>
              <a:defRPr sz="1200">
                <a:solidFill>
                  <a:srgbClr val="2F3A30"/>
                </a:solidFill>
                <a:latin typeface="Calibri"/>
              </a:defRPr>
            </a:pPr>
            <a:r>
              <a:t>A la orden del docente:</a:t>
            </a:r>
            <a:br/>
            <a:r>
              <a:t>desbloquea el móvil y sube la foto de tu cuartilla manuscrita.</a:t>
            </a:r>
          </a:p>
        </p:txBody>
      </p:sp>
      <p:pic>
        <p:nvPicPr>
          <p:cNvPr id="10" name="Imagen 9" descr="Código QR">
            <a:extLst>
              <a:ext uri="{FF2B5EF4-FFF2-40B4-BE49-F238E27FC236}">
                <a16:creationId xmlns:a16="http://schemas.microsoft.com/office/drawing/2014/main" id="{68998674-CD18-2FF8-8BEA-3122139C0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915" y="1885950"/>
            <a:ext cx="2366010" cy="23660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76927A"/>
                </a:solidFill>
                <a:latin typeface="Outfit"/>
              </a:rPr>
              <a:t>FASE 2 (20–45 MIN) · INTUICIÓN Y METÁFORAS DE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113927"/>
                </a:solidFill>
                <a:latin typeface="Outfit"/>
              </a:rPr>
              <a:t>Tres Metáforas Visuales: Contrafactual, Autoselección y Descremado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38912"/>
            <a:ext cx="926287" cy="292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44752"/>
            <a:ext cx="3337560" cy="4956048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609344"/>
            <a:ext cx="3008376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13927"/>
                </a:solidFill>
                <a:latin typeface="Outfit"/>
              </a:rPr>
              <a:t>1. EL CONTRAFACTUAL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E98F71"/>
                </a:solidFill>
                <a:latin typeface="Outfit"/>
              </a:rPr>
              <a:t>El gallo y la salida del sol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>
                <a:solidFill>
                  <a:srgbClr val="76927A"/>
                </a:solidFill>
                <a:latin typeface="Calibri"/>
              </a:rPr>
              <a:t>• </a:t>
            </a:r>
            <a:r>
              <a:rPr sz="1250" b="1">
                <a:solidFill>
                  <a:srgbClr val="113927"/>
                </a:solidFill>
                <a:latin typeface="Calibri"/>
              </a:rPr>
              <a:t>La falacia cotidiana: </a:t>
            </a:r>
            <a:r>
              <a:rPr sz="1250" b="0">
                <a:solidFill>
                  <a:srgbClr val="2F3A30"/>
                </a:solidFill>
                <a:latin typeface="Calibri"/>
              </a:rPr>
              <a:t>Cada mañana el gallo canta a las 6:55 h y a las 7:00 h amanece. Concluye: «Sin mi canto matinal, la Tierra viviría en oscuridad perpetua».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>
                <a:solidFill>
                  <a:srgbClr val="76927A"/>
                </a:solidFill>
                <a:latin typeface="Calibri"/>
              </a:rPr>
              <a:t>• </a:t>
            </a:r>
            <a:r>
              <a:rPr sz="1250" b="1">
                <a:solidFill>
                  <a:srgbClr val="113927"/>
                </a:solidFill>
                <a:latin typeface="Calibri"/>
              </a:rPr>
              <a:t>La pregunta contrafactual: </a:t>
            </a:r>
            <a:r>
              <a:rPr sz="1250" b="0">
                <a:solidFill>
                  <a:srgbClr val="2F3A30"/>
                </a:solidFill>
                <a:latin typeface="Calibri"/>
              </a:rPr>
              <a:t>¿Qué ocurriría si amordazamos al gallo? El sol saldría con total normalidad. Confundir secuencia temporal con causalidad es un error fatal.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>
                <a:solidFill>
                  <a:srgbClr val="76927A"/>
                </a:solidFill>
                <a:latin typeface="Calibri"/>
              </a:rPr>
              <a:t>• </a:t>
            </a:r>
            <a:r>
              <a:rPr sz="1250" b="1">
                <a:solidFill>
                  <a:srgbClr val="113927"/>
                </a:solidFill>
                <a:latin typeface="Calibri"/>
              </a:rPr>
              <a:t>En políticas de empleo: </a:t>
            </a:r>
            <a:r>
              <a:rPr sz="1250" b="0">
                <a:solidFill>
                  <a:srgbClr val="2F3A30"/>
                </a:solidFill>
                <a:latin typeface="Calibri"/>
              </a:rPr>
              <a:t>Subvención para contratar camareros en diciembre. El 100% se colocan, pero se habrían contratado igual para cenas de Navidad (peso muerto total).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5513832"/>
            <a:ext cx="3008376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5586984"/>
            <a:ext cx="289864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E98F71"/>
                </a:solidFill>
                <a:latin typeface="Outfit"/>
              </a:rPr>
              <a:t>Regla de oro: </a:t>
            </a:r>
            <a:r>
              <a:rPr sz="1050" b="1">
                <a:solidFill>
                  <a:srgbClr val="113927"/>
                </a:solidFill>
                <a:latin typeface="Calibri"/>
              </a:rPr>
              <a:t>Lo que habría ocurrido sin la ayuda nunca es impacto neto.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44752"/>
            <a:ext cx="3337560" cy="4956048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609344"/>
            <a:ext cx="3008376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13927"/>
                </a:solidFill>
                <a:latin typeface="Outfit"/>
              </a:rPr>
              <a:t>2. SESGO DE AUTOSELECCIÓN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E98F71"/>
                </a:solidFill>
                <a:latin typeface="Outfit"/>
              </a:rPr>
              <a:t>El CrossFit de las 6:00 AM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>
                <a:solidFill>
                  <a:srgbClr val="76927A"/>
                </a:solidFill>
                <a:latin typeface="Calibri"/>
              </a:rPr>
              <a:t>• </a:t>
            </a:r>
            <a:r>
              <a:rPr sz="1250" b="1">
                <a:solidFill>
                  <a:srgbClr val="113927"/>
                </a:solidFill>
                <a:latin typeface="Calibri"/>
              </a:rPr>
              <a:t>El reclamo comercial: </a:t>
            </a:r>
            <a:r>
              <a:rPr sz="1250" b="0">
                <a:solidFill>
                  <a:srgbClr val="2F3A30"/>
                </a:solidFill>
                <a:latin typeface="Calibri"/>
              </a:rPr>
              <a:t>«¡El 90% de los inscritos a las 6:00 AM pierde grasa y gana músculo en 3 meses! Nuestro método de entrenamiento es milagroso».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>
                <a:solidFill>
                  <a:srgbClr val="76927A"/>
                </a:solidFill>
                <a:latin typeface="Calibri"/>
              </a:rPr>
              <a:t>• </a:t>
            </a:r>
            <a:r>
              <a:rPr sz="1250" b="1">
                <a:solidFill>
                  <a:srgbClr val="113927"/>
                </a:solidFill>
                <a:latin typeface="Calibri"/>
              </a:rPr>
              <a:t>La autoselección invisible: </a:t>
            </a:r>
            <a:r>
              <a:rPr sz="1250" b="0">
                <a:solidFill>
                  <a:srgbClr val="2F3A30"/>
                </a:solidFill>
                <a:latin typeface="Calibri"/>
              </a:rPr>
              <a:t>Quien salta de la cama a las 5:15 h en invierno a levantar ruedas ya tiene disciplina de hierro, duerme bien y cuida su dieta. Mejoraría igual sin la clase.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>
                <a:solidFill>
                  <a:srgbClr val="76927A"/>
                </a:solidFill>
                <a:latin typeface="Calibri"/>
              </a:rPr>
              <a:t>• </a:t>
            </a:r>
            <a:r>
              <a:rPr sz="1250" b="1">
                <a:solidFill>
                  <a:srgbClr val="113927"/>
                </a:solidFill>
                <a:latin typeface="Calibri"/>
              </a:rPr>
              <a:t>En políticas de empleo: </a:t>
            </a:r>
            <a:r>
              <a:rPr sz="1250" b="0">
                <a:solidFill>
                  <a:srgbClr val="2F3A30"/>
                </a:solidFill>
                <a:latin typeface="Calibri"/>
              </a:rPr>
              <a:t>Cursos voluntarios de fin de semana. Quien asiste ya posee una proactividad y empleabilidad previa que explica su contrato antes que el diploma.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0288" y="5513832"/>
            <a:ext cx="3008376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5586984"/>
            <a:ext cx="289864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E98F71"/>
                </a:solidFill>
                <a:latin typeface="Outfit"/>
              </a:rPr>
              <a:t>Regla de oro: </a:t>
            </a:r>
            <a:r>
              <a:rPr sz="1050" b="1">
                <a:solidFill>
                  <a:srgbClr val="113927"/>
                </a:solidFill>
                <a:latin typeface="Calibri"/>
              </a:rPr>
              <a:t>Comparar a voluntarios con el resto mezcla curso y motivación.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444752"/>
            <a:ext cx="3337560" cy="4956048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D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609344"/>
            <a:ext cx="3008376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13927"/>
                </a:solidFill>
                <a:latin typeface="Outfit"/>
              </a:rPr>
              <a:t>3. DESCREMADO (CREAMING)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E98F71"/>
                </a:solidFill>
                <a:latin typeface="Outfit"/>
              </a:rPr>
              <a:t>La autoescuela de tractoristas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>
                <a:solidFill>
                  <a:srgbClr val="76927A"/>
                </a:solidFill>
                <a:latin typeface="Calibri"/>
              </a:rPr>
              <a:t>• </a:t>
            </a:r>
            <a:r>
              <a:rPr sz="1250" b="1">
                <a:solidFill>
                  <a:srgbClr val="113927"/>
                </a:solidFill>
                <a:latin typeface="Calibri"/>
              </a:rPr>
              <a:t>El incentivo perverso: </a:t>
            </a:r>
            <a:r>
              <a:rPr sz="1250" b="0">
                <a:solidFill>
                  <a:srgbClr val="2F3A30"/>
                </a:solidFill>
                <a:latin typeface="Calibri"/>
              </a:rPr>
              <a:t>Si la DGT bonifica con 1.000 € por alumno aprobado a la primera, la autoescuela privada rechazará a quien tenga miedo al volante o torpeza motriz.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>
                <a:solidFill>
                  <a:srgbClr val="76927A"/>
                </a:solidFill>
                <a:latin typeface="Calibri"/>
              </a:rPr>
              <a:t>• </a:t>
            </a:r>
            <a:r>
              <a:rPr sz="1250" b="1">
                <a:solidFill>
                  <a:srgbClr val="113927"/>
                </a:solidFill>
                <a:latin typeface="Calibri"/>
              </a:rPr>
              <a:t>Quedarse con la nata: </a:t>
            </a:r>
            <a:r>
              <a:rPr sz="1250" b="0">
                <a:solidFill>
                  <a:srgbClr val="2F3A30"/>
                </a:solidFill>
                <a:latin typeface="Calibri"/>
              </a:rPr>
              <a:t>Matriculará solo a jóvenes de campo que llevan conduciendo tractores desde los 12 años. Presume de un 99% de éxito comercial con cero valor añadido pedagógico.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250" b="1">
                <a:solidFill>
                  <a:srgbClr val="76927A"/>
                </a:solidFill>
                <a:latin typeface="Calibri"/>
              </a:rPr>
              <a:t>• </a:t>
            </a:r>
            <a:r>
              <a:rPr sz="1250" b="1">
                <a:solidFill>
                  <a:srgbClr val="113927"/>
                </a:solidFill>
                <a:latin typeface="Calibri"/>
              </a:rPr>
              <a:t>En políticas de empleo: </a:t>
            </a:r>
            <a:r>
              <a:rPr sz="1250" b="0">
                <a:solidFill>
                  <a:srgbClr val="2F3A30"/>
                </a:solidFill>
                <a:latin typeface="Calibri"/>
              </a:rPr>
              <a:t>Agencias retribuidas por inserción: criban a universitarios jóvenes con idiomas y coche propio, abandonando a parados de larga duración (+50 años).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5513832"/>
            <a:ext cx="3008376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98F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5586984"/>
            <a:ext cx="289864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E98F71"/>
                </a:solidFill>
                <a:latin typeface="Outfit"/>
              </a:rPr>
              <a:t>Regla de oro: </a:t>
            </a:r>
            <a:r>
              <a:rPr sz="1050" b="1">
                <a:solidFill>
                  <a:srgbClr val="113927"/>
                </a:solidFill>
                <a:latin typeface="Calibri"/>
              </a:rPr>
              <a:t>Bonificar el éxito fácil incentiva expulsar a los vulnerables.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2914</Words>
  <Application>Microsoft Office PowerPoint</Application>
  <PresentationFormat>Panorámica</PresentationFormat>
  <Paragraphs>158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Manuel Alejandro Hidalgo Perez</cp:lastModifiedBy>
  <cp:revision>3</cp:revision>
  <dcterms:created xsi:type="dcterms:W3CDTF">2013-01-27T09:14:16Z</dcterms:created>
  <dcterms:modified xsi:type="dcterms:W3CDTF">2026-10-13T07:06:17Z</dcterms:modified>
  <cp:category/>
</cp:coreProperties>
</file>