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psll_u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44" y="502920"/>
            <a:ext cx="4389120" cy="2393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63240"/>
            <a:ext cx="1036289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Outfit"/>
              </a:defRPr>
            </a:pPr>
            <a:r>
              <a:t>POLÍTICAS SOCIOLABORALES Y DE EMPLEO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E98F71"/>
                </a:solidFill>
                <a:latin typeface="Outfit"/>
              </a:defRPr>
            </a:pPr>
            <a:r>
              <a:t>Sesión 06 · Tema 2 (Sesión I): Políticas Activas de Empleo (PAE)</a:t>
            </a:r>
          </a:p>
          <a:p>
            <a:pPr algn="ctr">
              <a:spcBef>
                <a:spcPts val="400"/>
              </a:spcBef>
              <a:defRPr sz="1600">
                <a:solidFill>
                  <a:srgbClr val="F4F8F5"/>
                </a:solidFill>
                <a:latin typeface="Calibri"/>
              </a:defRPr>
            </a:pPr>
            <a:r>
              <a:t>Concepto, Delimitación Frente a las Pasivas y Tipología de Instrumentos</a:t>
            </a:r>
          </a:p>
          <a:p>
            <a:pPr algn="ctr">
              <a:spcBef>
                <a:spcPts val="1000"/>
              </a:spcBef>
              <a:defRPr sz="1300">
                <a:solidFill>
                  <a:srgbClr val="76927A"/>
                </a:solidFill>
                <a:latin typeface="Calibri"/>
              </a:defRPr>
            </a:pPr>
            <a:r>
              <a:t>Código 102023  ·  Universidad Pablo de Olavide  ·  Prof. Manuel A. Hidalgo Pérez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po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126480"/>
            <a:ext cx="452628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1C36"/>
                </a:solidFill>
                <a:latin typeface="Calibri"/>
              </a:defRPr>
            </a:pPr>
            <a:r>
              <a:t>Grado en Relaciones Laborales y Recursos Humanos  ·  Doble Grado en Derecho y RRLL-RRHH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POLÍTICAS SOCIOLABORALES Y DE EMPLEO · TEMA 2 (I)</a:t>
            </a:r>
          </a:p>
          <a:p>
            <a:pPr>
              <a:spcBef>
                <a:spcPts val="300"/>
              </a:spcBef>
              <a:defRPr sz="2600" b="1">
                <a:solidFill>
                  <a:srgbClr val="113927"/>
                </a:solidFill>
                <a:latin typeface="Outfit"/>
              </a:defRPr>
            </a:pPr>
            <a:r>
              <a:t>Fase 1 · La Paradoja del Gasto en Empleo en España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113927"/>
                </a:solidFill>
                <a:latin typeface="Outfit"/>
              </a:defRPr>
            </a:pPr>
            <a:r>
              <a:rPr dirty="0"/>
              <a:t>El </a:t>
            </a:r>
            <a:r>
              <a:rPr dirty="0" err="1"/>
              <a:t>Disparador</a:t>
            </a:r>
            <a:r>
              <a:rPr dirty="0"/>
              <a:t> de la </a:t>
            </a:r>
            <a:r>
              <a:rPr dirty="0" err="1"/>
              <a:t>Realidad</a:t>
            </a:r>
            <a:r>
              <a:rPr dirty="0"/>
              <a:t> Laboral</a:t>
            </a:r>
          </a:p>
          <a:p>
            <a:pPr>
              <a:spcBef>
                <a:spcPts val="8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• España </a:t>
            </a:r>
            <a:r>
              <a:rPr dirty="0" err="1"/>
              <a:t>gasta</a:t>
            </a:r>
            <a:r>
              <a:rPr dirty="0"/>
              <a:t> </a:t>
            </a:r>
            <a:r>
              <a:rPr dirty="0" err="1"/>
              <a:t>anualmente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de 25.000 </a:t>
            </a:r>
            <a:r>
              <a:rPr dirty="0" err="1"/>
              <a:t>millones</a:t>
            </a:r>
            <a:r>
              <a:rPr dirty="0"/>
              <a:t> de euros (</a:t>
            </a:r>
            <a:r>
              <a:rPr dirty="0" err="1"/>
              <a:t>cerca</a:t>
            </a:r>
            <a:r>
              <a:rPr dirty="0"/>
              <a:t> del 2,0% del PIB)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políticas</a:t>
            </a:r>
            <a:r>
              <a:rPr dirty="0"/>
              <a:t> de </a:t>
            </a:r>
            <a:r>
              <a:rPr dirty="0" err="1"/>
              <a:t>protección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al </a:t>
            </a:r>
            <a:r>
              <a:rPr dirty="0" err="1"/>
              <a:t>desempleo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• Sin embargo, </a:t>
            </a:r>
            <a:r>
              <a:rPr dirty="0" err="1"/>
              <a:t>tres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cuatro euros (75%) se </a:t>
            </a:r>
            <a:r>
              <a:rPr dirty="0" err="1"/>
              <a:t>destinan</a:t>
            </a:r>
            <a:r>
              <a:rPr dirty="0"/>
              <a:t> a </a:t>
            </a:r>
            <a:r>
              <a:rPr dirty="0" err="1"/>
              <a:t>políticas</a:t>
            </a:r>
            <a:r>
              <a:rPr dirty="0"/>
              <a:t> </a:t>
            </a:r>
            <a:r>
              <a:rPr dirty="0" err="1"/>
              <a:t>pasivas</a:t>
            </a:r>
            <a:r>
              <a:rPr dirty="0"/>
              <a:t>: </a:t>
            </a:r>
            <a:r>
              <a:rPr dirty="0" err="1"/>
              <a:t>pagar</a:t>
            </a:r>
            <a:r>
              <a:rPr dirty="0"/>
              <a:t> </a:t>
            </a:r>
            <a:r>
              <a:rPr dirty="0" err="1"/>
              <a:t>prestaciones</a:t>
            </a:r>
            <a:r>
              <a:rPr dirty="0"/>
              <a:t> para </a:t>
            </a:r>
            <a:r>
              <a:rPr dirty="0" err="1"/>
              <a:t>sostener</a:t>
            </a:r>
            <a:r>
              <a:rPr dirty="0"/>
              <a:t> </a:t>
            </a:r>
            <a:r>
              <a:rPr dirty="0" err="1"/>
              <a:t>rentas</a:t>
            </a:r>
            <a:r>
              <a:rPr dirty="0"/>
              <a:t> </a:t>
            </a:r>
            <a:r>
              <a:rPr dirty="0" err="1"/>
              <a:t>mientras</a:t>
            </a:r>
            <a:r>
              <a:rPr dirty="0"/>
              <a:t> dura el </a:t>
            </a:r>
            <a:r>
              <a:rPr dirty="0" err="1"/>
              <a:t>desempleo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Apenas</a:t>
            </a:r>
            <a:r>
              <a:rPr dirty="0"/>
              <a:t> el 25% restante se </a:t>
            </a:r>
            <a:r>
              <a:rPr dirty="0" err="1"/>
              <a:t>invierte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políticas</a:t>
            </a:r>
            <a:r>
              <a:rPr dirty="0"/>
              <a:t> </a:t>
            </a:r>
            <a:r>
              <a:rPr dirty="0" err="1"/>
              <a:t>activas</a:t>
            </a:r>
            <a:r>
              <a:rPr dirty="0"/>
              <a:t> (</a:t>
            </a:r>
            <a:r>
              <a:rPr dirty="0" err="1"/>
              <a:t>orientación</a:t>
            </a:r>
            <a:r>
              <a:rPr dirty="0"/>
              <a:t>, </a:t>
            </a:r>
            <a:r>
              <a:rPr dirty="0" err="1"/>
              <a:t>formación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e </a:t>
            </a:r>
            <a:r>
              <a:rPr dirty="0" err="1"/>
              <a:t>intermediación</a:t>
            </a:r>
            <a:r>
              <a:rPr dirty="0"/>
              <a:t>).</a:t>
            </a:r>
          </a:p>
          <a:p>
            <a:pPr>
              <a:spcBef>
                <a:spcPts val="8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Resultado</a:t>
            </a:r>
            <a:r>
              <a:rPr dirty="0"/>
              <a:t>: La ratio de </a:t>
            </a:r>
            <a:r>
              <a:rPr dirty="0" err="1"/>
              <a:t>desempleados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orientador</a:t>
            </a:r>
            <a:r>
              <a:rPr dirty="0"/>
              <a:t> </a:t>
            </a:r>
            <a:r>
              <a:rPr dirty="0" err="1"/>
              <a:t>público</a:t>
            </a:r>
            <a:r>
              <a:rPr dirty="0"/>
              <a:t> </a:t>
            </a:r>
            <a:r>
              <a:rPr dirty="0" err="1"/>
              <a:t>supera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1.500 parados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, y la </a:t>
            </a:r>
            <a:r>
              <a:rPr dirty="0" err="1"/>
              <a:t>tasa</a:t>
            </a:r>
            <a:r>
              <a:rPr dirty="0"/>
              <a:t> de </a:t>
            </a:r>
            <a:r>
              <a:rPr dirty="0" err="1"/>
              <a:t>desempleo</a:t>
            </a:r>
            <a:r>
              <a:rPr dirty="0"/>
              <a:t> (11,3%) </a:t>
            </a:r>
            <a:r>
              <a:rPr dirty="0" err="1"/>
              <a:t>dobla</a:t>
            </a:r>
            <a:r>
              <a:rPr dirty="0"/>
              <a:t> la media </a:t>
            </a:r>
            <a:r>
              <a:rPr dirty="0" err="1"/>
              <a:t>europea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45920"/>
            <a:ext cx="4937760" cy="466344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113927"/>
                </a:solidFill>
                <a:latin typeface="Outfit"/>
              </a:defRPr>
            </a:pPr>
            <a:r>
              <a:rPr sz="1500" dirty="0"/>
              <a:t>El Enigma Económico </a:t>
            </a:r>
            <a:r>
              <a:rPr sz="1500" dirty="0" err="1"/>
              <a:t>Inicial</a:t>
            </a:r>
            <a:endParaRPr sz="1500" dirty="0"/>
          </a:p>
          <a:p>
            <a:pPr>
              <a:spcBef>
                <a:spcPts val="8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sz="1500" dirty="0"/>
              <a:t>• ¿Por </a:t>
            </a:r>
            <a:r>
              <a:rPr sz="1500" dirty="0" err="1"/>
              <a:t>qué</a:t>
            </a:r>
            <a:r>
              <a:rPr sz="1500" dirty="0"/>
              <a:t> el Estado </a:t>
            </a:r>
            <a:r>
              <a:rPr sz="1500" dirty="0" err="1"/>
              <a:t>prefiere</a:t>
            </a:r>
            <a:r>
              <a:rPr sz="1500" dirty="0"/>
              <a:t> «</a:t>
            </a:r>
            <a:r>
              <a:rPr sz="1500" dirty="0" err="1"/>
              <a:t>pagar</a:t>
            </a:r>
            <a:r>
              <a:rPr sz="1500" dirty="0"/>
              <a:t> </a:t>
            </a:r>
            <a:r>
              <a:rPr sz="1500" dirty="0" err="1"/>
              <a:t>por</a:t>
            </a:r>
            <a:r>
              <a:rPr sz="1500" dirty="0"/>
              <a:t> </a:t>
            </a:r>
            <a:r>
              <a:rPr sz="1500" dirty="0" err="1"/>
              <a:t>estar</a:t>
            </a:r>
            <a:r>
              <a:rPr sz="1500" dirty="0"/>
              <a:t> </a:t>
            </a:r>
            <a:r>
              <a:rPr sz="1500" dirty="0" err="1"/>
              <a:t>parado</a:t>
            </a:r>
            <a:r>
              <a:rPr sz="1500" dirty="0"/>
              <a:t>» antes </a:t>
            </a:r>
            <a:r>
              <a:rPr sz="1500" dirty="0" err="1"/>
              <a:t>que</a:t>
            </a:r>
            <a:r>
              <a:rPr sz="1500" dirty="0"/>
              <a:t> «</a:t>
            </a:r>
            <a:r>
              <a:rPr sz="1500" dirty="0" err="1"/>
              <a:t>invertir</a:t>
            </a:r>
            <a:r>
              <a:rPr sz="1500" dirty="0"/>
              <a:t> </a:t>
            </a:r>
            <a:r>
              <a:rPr sz="1500" dirty="0" err="1"/>
              <a:t>en</a:t>
            </a:r>
            <a:r>
              <a:rPr sz="1500" dirty="0"/>
              <a:t> </a:t>
            </a:r>
            <a:r>
              <a:rPr sz="1500" dirty="0" err="1"/>
              <a:t>volver</a:t>
            </a:r>
            <a:r>
              <a:rPr sz="1500" dirty="0"/>
              <a:t> al </a:t>
            </a:r>
            <a:r>
              <a:rPr sz="1500" dirty="0" err="1"/>
              <a:t>empleo</a:t>
            </a:r>
            <a:r>
              <a:rPr sz="1500" dirty="0"/>
              <a:t>»?</a:t>
            </a:r>
          </a:p>
          <a:p>
            <a:pPr>
              <a:spcBef>
                <a:spcPts val="8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sz="1500" dirty="0"/>
              <a:t>• ¿</a:t>
            </a:r>
            <a:r>
              <a:rPr sz="1500" dirty="0" err="1"/>
              <a:t>Qué</a:t>
            </a:r>
            <a:r>
              <a:rPr sz="1500" dirty="0"/>
              <a:t> </a:t>
            </a:r>
            <a:r>
              <a:rPr sz="1500" dirty="0" err="1"/>
              <a:t>ocurriría</a:t>
            </a:r>
            <a:r>
              <a:rPr sz="1500" dirty="0"/>
              <a:t> </a:t>
            </a:r>
            <a:r>
              <a:rPr sz="1500" dirty="0" err="1"/>
              <a:t>si</a:t>
            </a:r>
            <a:r>
              <a:rPr sz="1500" dirty="0"/>
              <a:t> </a:t>
            </a:r>
            <a:r>
              <a:rPr sz="1500" dirty="0" err="1"/>
              <a:t>trasladáramos</a:t>
            </a:r>
            <a:r>
              <a:rPr sz="1500" dirty="0"/>
              <a:t> 5.000 M€ de </a:t>
            </a:r>
            <a:r>
              <a:rPr sz="1500" dirty="0" err="1"/>
              <a:t>prestaciones</a:t>
            </a:r>
            <a:r>
              <a:rPr sz="1500" dirty="0"/>
              <a:t> </a:t>
            </a:r>
            <a:r>
              <a:rPr sz="1500" dirty="0" err="1"/>
              <a:t>pasivas</a:t>
            </a:r>
            <a:r>
              <a:rPr sz="1500" dirty="0"/>
              <a:t> a </a:t>
            </a:r>
            <a:r>
              <a:rPr sz="1500" dirty="0" err="1"/>
              <a:t>subvencionar</a:t>
            </a:r>
            <a:r>
              <a:rPr sz="1500" dirty="0"/>
              <a:t> </a:t>
            </a:r>
            <a:r>
              <a:rPr sz="1500" dirty="0" err="1"/>
              <a:t>contratos</a:t>
            </a:r>
            <a:r>
              <a:rPr sz="1500" dirty="0"/>
              <a:t> de </a:t>
            </a:r>
            <a:r>
              <a:rPr sz="1500" dirty="0" err="1"/>
              <a:t>empresas</a:t>
            </a:r>
            <a:r>
              <a:rPr sz="1500" dirty="0"/>
              <a:t>? ¿</a:t>
            </a:r>
            <a:r>
              <a:rPr sz="1500" dirty="0" err="1"/>
              <a:t>Generaría</a:t>
            </a:r>
            <a:r>
              <a:rPr sz="1500" dirty="0"/>
              <a:t> </a:t>
            </a:r>
            <a:r>
              <a:rPr sz="1500" dirty="0" err="1"/>
              <a:t>empleo</a:t>
            </a:r>
            <a:r>
              <a:rPr sz="1500" dirty="0"/>
              <a:t> </a:t>
            </a:r>
            <a:r>
              <a:rPr sz="1500" dirty="0" err="1"/>
              <a:t>neto</a:t>
            </a:r>
            <a:r>
              <a:rPr sz="1500" dirty="0"/>
              <a:t> o </a:t>
            </a:r>
            <a:r>
              <a:rPr sz="1500" dirty="0" err="1"/>
              <a:t>caería</a:t>
            </a:r>
            <a:r>
              <a:rPr sz="1500" dirty="0"/>
              <a:t> </a:t>
            </a:r>
            <a:r>
              <a:rPr sz="1500" dirty="0" err="1"/>
              <a:t>en</a:t>
            </a:r>
            <a:r>
              <a:rPr sz="1500" dirty="0"/>
              <a:t> la </a:t>
            </a:r>
            <a:r>
              <a:rPr sz="1500" dirty="0" err="1"/>
              <a:t>trampa</a:t>
            </a:r>
            <a:r>
              <a:rPr sz="1500" dirty="0"/>
              <a:t> del peso </a:t>
            </a:r>
            <a:r>
              <a:rPr sz="1500" dirty="0" err="1"/>
              <a:t>muerto</a:t>
            </a:r>
            <a:r>
              <a:rPr sz="1500" dirty="0"/>
              <a:t>?</a:t>
            </a:r>
          </a:p>
          <a:p>
            <a:pPr>
              <a:spcBef>
                <a:spcPts val="8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sz="1500" dirty="0"/>
              <a:t>• En </a:t>
            </a:r>
            <a:r>
              <a:rPr sz="1500" dirty="0" err="1"/>
              <a:t>países</a:t>
            </a:r>
            <a:r>
              <a:rPr sz="1500" dirty="0"/>
              <a:t> </a:t>
            </a:r>
            <a:r>
              <a:rPr sz="1500" dirty="0" err="1"/>
              <a:t>como</a:t>
            </a:r>
            <a:r>
              <a:rPr sz="1500" dirty="0"/>
              <a:t> Dinamarca o </a:t>
            </a:r>
            <a:r>
              <a:rPr sz="1500" dirty="0" err="1"/>
              <a:t>Países</a:t>
            </a:r>
            <a:r>
              <a:rPr sz="1500" dirty="0"/>
              <a:t> Bajos, las </a:t>
            </a:r>
            <a:r>
              <a:rPr sz="1500" dirty="0" err="1"/>
              <a:t>políticas</a:t>
            </a:r>
            <a:r>
              <a:rPr sz="1500" dirty="0"/>
              <a:t> </a:t>
            </a:r>
            <a:r>
              <a:rPr sz="1500" dirty="0" err="1"/>
              <a:t>activas</a:t>
            </a:r>
            <a:r>
              <a:rPr sz="1500" dirty="0"/>
              <a:t> </a:t>
            </a:r>
            <a:r>
              <a:rPr sz="1500" dirty="0" err="1"/>
              <a:t>absorben</a:t>
            </a:r>
            <a:r>
              <a:rPr sz="1500" dirty="0"/>
              <a:t> </a:t>
            </a:r>
            <a:r>
              <a:rPr sz="1500" dirty="0" err="1"/>
              <a:t>más</a:t>
            </a:r>
            <a:r>
              <a:rPr sz="1500" dirty="0"/>
              <a:t> del 60% del </a:t>
            </a:r>
            <a:r>
              <a:rPr sz="1500" dirty="0" err="1"/>
              <a:t>gasto</a:t>
            </a:r>
            <a:r>
              <a:rPr sz="1500" dirty="0"/>
              <a:t> total, </a:t>
            </a:r>
            <a:r>
              <a:rPr sz="1500" dirty="0" err="1"/>
              <a:t>logrando</a:t>
            </a:r>
            <a:r>
              <a:rPr sz="1500" dirty="0"/>
              <a:t> </a:t>
            </a:r>
            <a:r>
              <a:rPr sz="1500" dirty="0" err="1"/>
              <a:t>tasas</a:t>
            </a:r>
            <a:r>
              <a:rPr sz="1500" dirty="0"/>
              <a:t> de </a:t>
            </a:r>
            <a:r>
              <a:rPr sz="1500" dirty="0" err="1"/>
              <a:t>paro</a:t>
            </a:r>
            <a:r>
              <a:rPr sz="1500" dirty="0"/>
              <a:t> </a:t>
            </a:r>
            <a:r>
              <a:rPr sz="1500" dirty="0" err="1"/>
              <a:t>estructural</a:t>
            </a:r>
            <a:r>
              <a:rPr sz="1500" dirty="0"/>
              <a:t> </a:t>
            </a:r>
            <a:r>
              <a:rPr sz="1500" dirty="0" err="1"/>
              <a:t>inferiores</a:t>
            </a:r>
            <a:r>
              <a:rPr sz="1500" dirty="0"/>
              <a:t> al 5%.</a:t>
            </a:r>
          </a:p>
          <a:p>
            <a:pPr>
              <a:spcBef>
                <a:spcPts val="8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sz="1500" dirty="0"/>
              <a:t>• ¿</a:t>
            </a:r>
            <a:r>
              <a:rPr sz="1500" dirty="0" err="1"/>
              <a:t>Cómo</a:t>
            </a:r>
            <a:r>
              <a:rPr sz="1500" dirty="0"/>
              <a:t> </a:t>
            </a:r>
            <a:r>
              <a:rPr sz="1500" dirty="0" err="1"/>
              <a:t>actúa</a:t>
            </a:r>
            <a:r>
              <a:rPr sz="1500" dirty="0"/>
              <a:t> la </a:t>
            </a:r>
            <a:r>
              <a:rPr sz="1500" dirty="0" err="1"/>
              <a:t>inversión</a:t>
            </a:r>
            <a:r>
              <a:rPr sz="1500" dirty="0"/>
              <a:t> </a:t>
            </a:r>
            <a:r>
              <a:rPr sz="1500" dirty="0" err="1"/>
              <a:t>en</a:t>
            </a:r>
            <a:r>
              <a:rPr sz="1500" dirty="0"/>
              <a:t> </a:t>
            </a:r>
            <a:r>
              <a:rPr sz="1500" dirty="0" err="1"/>
              <a:t>intermediación</a:t>
            </a:r>
            <a:r>
              <a:rPr sz="1500" dirty="0"/>
              <a:t> </a:t>
            </a:r>
            <a:r>
              <a:rPr sz="1500" dirty="0" err="1"/>
              <a:t>sobre</a:t>
            </a:r>
            <a:r>
              <a:rPr sz="1500" dirty="0"/>
              <a:t> la Curva de Beveridge? ¿Por </a:t>
            </a:r>
            <a:r>
              <a:rPr sz="1500" dirty="0" err="1"/>
              <a:t>qué</a:t>
            </a:r>
            <a:r>
              <a:rPr sz="1500" dirty="0"/>
              <a:t> es la </a:t>
            </a:r>
            <a:r>
              <a:rPr sz="1500" dirty="0" err="1"/>
              <a:t>única</a:t>
            </a:r>
            <a:r>
              <a:rPr sz="1500" dirty="0"/>
              <a:t> </a:t>
            </a:r>
            <a:r>
              <a:rPr sz="1500" dirty="0" err="1"/>
              <a:t>vía</a:t>
            </a:r>
            <a:r>
              <a:rPr sz="1500" dirty="0"/>
              <a:t> para </a:t>
            </a:r>
            <a:r>
              <a:rPr sz="1500" dirty="0" err="1"/>
              <a:t>reducir</a:t>
            </a:r>
            <a:r>
              <a:rPr sz="1500" dirty="0"/>
              <a:t> la NAIRU de forma </a:t>
            </a:r>
            <a:r>
              <a:rPr sz="1500" dirty="0" err="1"/>
              <a:t>permanente</a:t>
            </a:r>
            <a:r>
              <a:rPr sz="1500" dirty="0"/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POLÍTICAS SOCIOLABORALES Y DE EMPLEO · TEMA 2 (I)</a:t>
            </a:r>
          </a:p>
          <a:p>
            <a:pPr>
              <a:spcBef>
                <a:spcPts val="300"/>
              </a:spcBef>
              <a:defRPr sz="2600" b="1">
                <a:solidFill>
                  <a:srgbClr val="113927"/>
                </a:solidFill>
                <a:latin typeface="Outfit"/>
              </a:defRPr>
            </a:pPr>
            <a:r>
              <a:t>Sondeo Previo en Directo: ¿Cómo Invertirías 2.000 M€?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132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113927"/>
                </a:solidFill>
                <a:latin typeface="Outfit"/>
              </a:defRPr>
            </a:pPr>
            <a:r>
              <a:rPr dirty="0"/>
              <a:t>El </a:t>
            </a:r>
            <a:r>
              <a:rPr dirty="0" err="1"/>
              <a:t>Dilema</a:t>
            </a:r>
            <a:r>
              <a:rPr dirty="0"/>
              <a:t> del Ministro/a de </a:t>
            </a:r>
            <a:r>
              <a:rPr dirty="0" err="1"/>
              <a:t>Trabajo</a:t>
            </a:r>
            <a:endParaRPr dirty="0"/>
          </a:p>
          <a:p>
            <a:pPr>
              <a:spcBef>
                <a:spcPts val="600"/>
              </a:spcBef>
              <a:defRPr sz="1600" i="1">
                <a:solidFill>
                  <a:srgbClr val="2F3A30"/>
                </a:solidFill>
                <a:latin typeface="Calibri"/>
              </a:defRPr>
            </a:pPr>
            <a:r>
              <a:rPr dirty="0"/>
              <a:t>«Dispones de 2.000 M€ </a:t>
            </a:r>
            <a:r>
              <a:rPr dirty="0" err="1"/>
              <a:t>extraordinarios</a:t>
            </a:r>
            <a:r>
              <a:rPr dirty="0"/>
              <a:t> para </a:t>
            </a:r>
            <a:r>
              <a:rPr dirty="0" err="1"/>
              <a:t>reducir</a:t>
            </a:r>
            <a:r>
              <a:rPr dirty="0"/>
              <a:t> el </a:t>
            </a:r>
            <a:r>
              <a:rPr dirty="0" err="1"/>
              <a:t>paro</a:t>
            </a:r>
            <a:r>
              <a:rPr dirty="0"/>
              <a:t> </a:t>
            </a:r>
            <a:r>
              <a:rPr dirty="0" err="1"/>
              <a:t>juvenil</a:t>
            </a:r>
            <a:r>
              <a:rPr dirty="0"/>
              <a:t> y de </a:t>
            </a:r>
            <a:r>
              <a:rPr dirty="0" err="1"/>
              <a:t>larga</a:t>
            </a:r>
            <a:r>
              <a:rPr dirty="0"/>
              <a:t> </a:t>
            </a:r>
            <a:r>
              <a:rPr dirty="0" err="1"/>
              <a:t>duración</a:t>
            </a:r>
            <a:r>
              <a:rPr dirty="0"/>
              <a:t>. ¿</a:t>
            </a:r>
            <a:r>
              <a:rPr dirty="0" err="1"/>
              <a:t>Cuál</a:t>
            </a:r>
            <a:r>
              <a:rPr dirty="0"/>
              <a:t> de </a:t>
            </a:r>
            <a:r>
              <a:rPr dirty="0" err="1"/>
              <a:t>estas</a:t>
            </a:r>
            <a:r>
              <a:rPr dirty="0"/>
              <a:t> 4 </a:t>
            </a:r>
            <a:r>
              <a:rPr dirty="0" err="1"/>
              <a:t>medidas</a:t>
            </a:r>
            <a:r>
              <a:rPr dirty="0"/>
              <a:t> </a:t>
            </a:r>
            <a:r>
              <a:rPr dirty="0" err="1"/>
              <a:t>generará</a:t>
            </a:r>
            <a:r>
              <a:rPr dirty="0"/>
              <a:t> mayor </a:t>
            </a:r>
            <a:r>
              <a:rPr dirty="0" err="1"/>
              <a:t>empleo</a:t>
            </a:r>
            <a:r>
              <a:rPr dirty="0"/>
              <a:t> </a:t>
            </a:r>
            <a:r>
              <a:rPr dirty="0" err="1"/>
              <a:t>neto</a:t>
            </a:r>
            <a:r>
              <a:rPr dirty="0"/>
              <a:t> real?»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chemeClr val="tx1"/>
                </a:solidFill>
                <a:latin typeface="Calibri"/>
              </a:rPr>
              <a:t>A) </a:t>
            </a:r>
            <a:r>
              <a:rPr lang="es-ES" dirty="0">
                <a:solidFill>
                  <a:schemeClr val="tx1"/>
                </a:solidFill>
              </a:rPr>
              <a:t>Subvencionar con 4.000 € a fondo perdido a cualquier empresa que contrate a un joven. </a:t>
            </a:r>
            <a:r>
              <a:rPr lang="es-ES" i="1" dirty="0">
                <a:solidFill>
                  <a:schemeClr val="tx1"/>
                </a:solidFill>
              </a:rPr>
              <a:t>(El 70% se habría contratado igual).</a:t>
            </a:r>
            <a:endParaRPr sz="1600" b="1" dirty="0">
              <a:solidFill>
                <a:schemeClr val="tx1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chemeClr val="tx1"/>
                </a:solidFill>
                <a:latin typeface="Calibri"/>
              </a:rPr>
              <a:t>B) </a:t>
            </a:r>
            <a:r>
              <a:rPr lang="es-ES" dirty="0">
                <a:solidFill>
                  <a:schemeClr val="tx1"/>
                </a:solidFill>
              </a:rPr>
              <a:t>Cursos masivos de formación general sin coordinar con empresas.</a:t>
            </a:r>
            <a:endParaRPr sz="1600" b="1" dirty="0">
              <a:solidFill>
                <a:schemeClr val="tx1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chemeClr val="tx1"/>
                </a:solidFill>
                <a:latin typeface="Calibri"/>
              </a:rPr>
              <a:t>C) </a:t>
            </a:r>
            <a:r>
              <a:rPr lang="es-ES" dirty="0">
                <a:solidFill>
                  <a:schemeClr val="tx1"/>
                </a:solidFill>
              </a:rPr>
              <a:t>Aumentar cuantía y duración de los subsidios asistenciales.</a:t>
            </a:r>
            <a:endParaRPr sz="1600" b="1" dirty="0">
              <a:solidFill>
                <a:schemeClr val="tx1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chemeClr val="tx1"/>
                </a:solidFill>
                <a:latin typeface="Calibri"/>
              </a:rPr>
              <a:t>D) </a:t>
            </a:r>
            <a:r>
              <a:rPr lang="es-ES" dirty="0">
                <a:solidFill>
                  <a:schemeClr val="tx1"/>
                </a:solidFill>
              </a:rPr>
              <a:t>Itinerarios de orientación personalizada con perfilado algorítmico y formación dual comprometida con vacantes reales.</a:t>
            </a:r>
            <a:endParaRPr sz="1600" b="1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800" b="1">
                <a:solidFill>
                  <a:srgbClr val="E98F71"/>
                </a:solidFill>
                <a:latin typeface="Outfit"/>
              </a:defRPr>
            </a:pPr>
            <a:r>
              <a:t>Vota desde tu móvil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51206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113927"/>
                </a:solidFill>
                <a:latin typeface="Calibri"/>
              </a:defRPr>
            </a:pPr>
            <a:r>
              <a:t>Escanea el código QR</a:t>
            </a:r>
            <a:br/>
            <a:r>
              <a:t>Sondeo anónimo y formativo</a:t>
            </a:r>
          </a:p>
        </p:txBody>
      </p:sp>
      <p:pic>
        <p:nvPicPr>
          <p:cNvPr id="8" name="Imagen 7" descr="Código QR">
            <a:extLst>
              <a:ext uri="{FF2B5EF4-FFF2-40B4-BE49-F238E27FC236}">
                <a16:creationId xmlns:a16="http://schemas.microsoft.com/office/drawing/2014/main" id="{F00EBEFB-0089-B6EC-4702-867073FA1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948" y="2072640"/>
            <a:ext cx="2874264" cy="2874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POLÍTICAS SOCIOLABORALES Y DE EMPLEO · TEMA 2 (I)</a:t>
            </a:r>
          </a:p>
          <a:p>
            <a:pPr>
              <a:spcBef>
                <a:spcPts val="300"/>
              </a:spcBef>
              <a:defRPr sz="2600" b="1">
                <a:solidFill>
                  <a:srgbClr val="113927"/>
                </a:solidFill>
                <a:latin typeface="Outfit"/>
              </a:defRPr>
            </a:pPr>
            <a:r>
              <a:t>Fase 2 · ¿Qué son las Políticas Activas de Empleo? (§1.1)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6459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800" b="1">
                <a:solidFill>
                  <a:srgbClr val="113927"/>
                </a:solidFill>
                <a:latin typeface="Outfit"/>
              </a:defRPr>
            </a:pPr>
            <a:r>
              <a:t>Definición Formal de las Políticas Activas de Empleo (PAE)</a:t>
            </a:r>
          </a:p>
          <a:p>
            <a:pPr>
              <a:spcBef>
                <a:spcPts val="6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t>Conjunto articulado de intervenciones públicas en el mercado de trabajo destinadas a mejorar la empleabilidad de los trabajadores, facilitar la intermediación laboral, estimular la creación de puestos estables y corregir los desajustes estructurales entre la oferta y la demanda de mano de obra.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54203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113927"/>
                </a:solidFill>
                <a:latin typeface="Outfit"/>
              </a:defRPr>
            </a:pPr>
            <a:r>
              <a:t>1. Empleabilidad</a:t>
            </a:r>
          </a:p>
          <a:p>
            <a:pPr>
              <a:spcBef>
                <a:spcPts val="6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t>Formación y capacitación técnica para dotar a los trabajadores de cualificaciones demandadas por las empresas.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3474720"/>
            <a:ext cx="254203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113927"/>
                </a:solidFill>
                <a:latin typeface="Outfit"/>
              </a:defRPr>
            </a:pPr>
            <a:r>
              <a:t>2. Inserción Laboral</a:t>
            </a:r>
          </a:p>
          <a:p>
            <a:pPr>
              <a:spcBef>
                <a:spcPts val="6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t>Servicios de orientación, perfilado de demandantes y acompañamiento personalizado para reducir los tiempos de búsqueda.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474720"/>
            <a:ext cx="254203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113927"/>
                </a:solidFill>
                <a:latin typeface="Outfit"/>
              </a:defRPr>
            </a:pPr>
            <a:r>
              <a:t>3. Creación de Empleo</a:t>
            </a:r>
          </a:p>
          <a:p>
            <a:pPr>
              <a:spcBef>
                <a:spcPts val="6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t>Incentivos selectivos a la contratación indefinida y apoyo técnico y financiero al autoempleo y emprendimiento.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3474720"/>
            <a:ext cx="254203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113927"/>
                </a:solidFill>
                <a:latin typeface="Outfit"/>
              </a:defRPr>
            </a:pPr>
            <a:r>
              <a:t>4. Equidad y Colectivos</a:t>
            </a:r>
          </a:p>
          <a:p>
            <a:pPr>
              <a:spcBef>
                <a:spcPts val="6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t>Atención prioritaria a grupos vulnerables con barreras estructurales (jóvenes, parados de larga duración, mayores de 45/52 años).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POLÍTICAS SOCIOLABORALES Y DE EMPLEO · TEMA 2 (I)</a:t>
            </a:r>
          </a:p>
          <a:p>
            <a:pPr>
              <a:spcBef>
                <a:spcPts val="300"/>
              </a:spcBef>
              <a:defRPr sz="2600" b="1">
                <a:solidFill>
                  <a:srgbClr val="113927"/>
                </a:solidFill>
                <a:latin typeface="Outfit"/>
              </a:defRPr>
            </a:pPr>
            <a:r>
              <a:t>Frontera Analítica: Políticas Activas vs. Pasivas (§1.2)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Criterio de Comparación</a:t>
                      </a:r>
                    </a:p>
                  </a:txBody>
                  <a:tcPr>
                    <a:solidFill>
                      <a:srgbClr val="113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Políticas Pasivas (Protección)</a:t>
                      </a:r>
                    </a:p>
                  </a:txBody>
                  <a:tcPr>
                    <a:solidFill>
                      <a:srgbClr val="113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Políticas Activas (Activación)</a:t>
                      </a:r>
                    </a:p>
                  </a:txBody>
                  <a:tcPr>
                    <a:solidFill>
                      <a:srgbClr val="1139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13927"/>
                          </a:solidFill>
                          <a:latin typeface="Calibri"/>
                        </a:defRPr>
                      </a:pPr>
                      <a:r>
                        <a:t>1. Objetivo Principal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F3A30"/>
                          </a:solidFill>
                          <a:latin typeface="Calibri"/>
                        </a:defRPr>
                      </a:pPr>
                      <a:r>
                        <a:t>Protección económica y sostenimiento temporal de la renta del desempleado.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F3A30"/>
                          </a:solidFill>
                          <a:latin typeface="Calibri"/>
                        </a:defRPr>
                      </a:pPr>
                      <a:r>
                        <a:t>Aumento de la empleabilidad y retorno efectivo al puesto de trabajo.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13927"/>
                          </a:solidFill>
                          <a:latin typeface="Calibri"/>
                        </a:defRPr>
                      </a:pPr>
                      <a:r>
                        <a:t>2. Naturaleza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F3A30"/>
                          </a:solidFill>
                          <a:latin typeface="Calibri"/>
                        </a:defRPr>
                      </a:pPr>
                      <a:r>
                        <a:t>Compensatoria / asistencial ex-post tras perder el empleo.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F3A30"/>
                          </a:solidFill>
                          <a:latin typeface="Calibri"/>
                        </a:defRPr>
                      </a:pPr>
                      <a:r>
                        <a:t>Preventiva, capacitadora y estructural sobre la oferta de trabajo.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13927"/>
                          </a:solidFill>
                          <a:latin typeface="Calibri"/>
                        </a:defRPr>
                      </a:pPr>
                      <a:r>
                        <a:t>3. Condición de Cobro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F3A30"/>
                          </a:solidFill>
                          <a:latin typeface="Calibri"/>
                        </a:defRPr>
                      </a:pPr>
                      <a:r>
                        <a:t>Estar en desempleo y acreditar cotizaciones previas o carencia de rentas.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F3A30"/>
                          </a:solidFill>
                          <a:latin typeface="Calibri"/>
                        </a:defRPr>
                      </a:pPr>
                      <a:r>
                        <a:t>Participación obligatoria en itinerarios de inserción y formación.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13927"/>
                          </a:solidFill>
                          <a:latin typeface="Calibri"/>
                        </a:defRPr>
                      </a:pPr>
                      <a:r>
                        <a:t>4. Efecto en Incentivos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F3A30"/>
                          </a:solidFill>
                          <a:latin typeface="Calibri"/>
                        </a:defRPr>
                      </a:pPr>
                      <a:r>
                        <a:t>Posible riesgo moral o trampa de inactividad por desincentivo a la búsqueda.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F3A30"/>
                          </a:solidFill>
                          <a:latin typeface="Calibri"/>
                        </a:defRPr>
                      </a:pPr>
                      <a:r>
                        <a:t>Reducción activa de los tiempos de búsqueda y activación laboral.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13927"/>
                          </a:solidFill>
                          <a:latin typeface="Calibri"/>
                        </a:defRPr>
                      </a:pPr>
                      <a:r>
                        <a:t>5. Impacto Presupuestario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F3A30"/>
                          </a:solidFill>
                          <a:latin typeface="Calibri"/>
                        </a:defRPr>
                      </a:pPr>
                      <a:r>
                        <a:t>Gasto rígido procíclico (a más paro, mayor consumo presupuestario).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F3A30"/>
                          </a:solidFill>
                          <a:latin typeface="Calibri"/>
                        </a:defRPr>
                      </a:pPr>
                      <a:r>
                        <a:t>Inversión social estratégica con retorno fiscal positivo a medio plazo.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13927"/>
                          </a:solidFill>
                          <a:latin typeface="Calibri"/>
                        </a:defRPr>
                      </a:pPr>
                      <a:r>
                        <a:t>6. Horizonte Temporal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F3A30"/>
                          </a:solidFill>
                          <a:latin typeface="Calibri"/>
                        </a:defRPr>
                      </a:pPr>
                      <a:r>
                        <a:t>Corto plazo (subsistencia mientras se busca empleo).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F3A30"/>
                          </a:solidFill>
                          <a:latin typeface="Calibri"/>
                        </a:defRPr>
                      </a:pPr>
                      <a:r>
                        <a:t>Medio y largo plazo (acumulación de capital humano y caída de la NAIRU).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POLÍTICAS SOCIOLABORALES Y DE EMPLEO · TEMA 2 (I)</a:t>
            </a:r>
          </a:p>
          <a:p>
            <a:pPr>
              <a:spcBef>
                <a:spcPts val="300"/>
              </a:spcBef>
              <a:defRPr sz="2600" b="1">
                <a:solidFill>
                  <a:srgbClr val="113927"/>
                </a:solidFill>
                <a:latin typeface="Outfit"/>
              </a:defRPr>
            </a:pPr>
            <a:r>
              <a:t>Las PAE Vistas desde la Curva de Beveridge (§1.4)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113927"/>
                </a:solidFill>
                <a:latin typeface="Outfit"/>
              </a:defRPr>
            </a:pPr>
            <a:r>
              <a:rPr dirty="0"/>
              <a:t>La </a:t>
            </a:r>
            <a:r>
              <a:rPr dirty="0" err="1"/>
              <a:t>Función</a:t>
            </a:r>
            <a:r>
              <a:rPr dirty="0"/>
              <a:t> de </a:t>
            </a:r>
            <a:r>
              <a:rPr dirty="0" err="1"/>
              <a:t>Emparejamiento</a:t>
            </a:r>
            <a:r>
              <a:rPr dirty="0"/>
              <a:t> y el </a:t>
            </a:r>
            <a:r>
              <a:rPr dirty="0" err="1"/>
              <a:t>Parámetro</a:t>
            </a:r>
            <a:r>
              <a:rPr dirty="0"/>
              <a:t> A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E98F71"/>
                </a:solidFill>
                <a:latin typeface="Outfit"/>
              </a:defRPr>
            </a:pPr>
            <a:r>
              <a:rPr dirty="0"/>
              <a:t>m = A · U^α · V^(1-α)</a:t>
            </a:r>
          </a:p>
          <a:p>
            <a:pPr>
              <a:spcBef>
                <a:spcPts val="6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• A </a:t>
            </a:r>
            <a:r>
              <a:rPr dirty="0" err="1"/>
              <a:t>representa</a:t>
            </a:r>
            <a:r>
              <a:rPr dirty="0"/>
              <a:t> la </a:t>
            </a:r>
            <a:r>
              <a:rPr dirty="0" err="1"/>
              <a:t>eficiencia</a:t>
            </a:r>
            <a:r>
              <a:rPr dirty="0"/>
              <a:t> </a:t>
            </a:r>
            <a:r>
              <a:rPr dirty="0" err="1"/>
              <a:t>tecnológica</a:t>
            </a:r>
            <a:r>
              <a:rPr dirty="0"/>
              <a:t> e </a:t>
            </a:r>
            <a:r>
              <a:rPr dirty="0" err="1"/>
              <a:t>institucional</a:t>
            </a:r>
            <a:r>
              <a:rPr dirty="0"/>
              <a:t> del </a:t>
            </a:r>
            <a:r>
              <a:rPr dirty="0" err="1"/>
              <a:t>emparejamiento</a:t>
            </a:r>
            <a:r>
              <a:rPr dirty="0"/>
              <a:t> entre </a:t>
            </a:r>
            <a:r>
              <a:rPr dirty="0" err="1"/>
              <a:t>desempleados</a:t>
            </a:r>
            <a:r>
              <a:rPr dirty="0"/>
              <a:t> (U) y </a:t>
            </a:r>
            <a:r>
              <a:rPr dirty="0" err="1"/>
              <a:t>vacantes</a:t>
            </a:r>
            <a:r>
              <a:rPr dirty="0"/>
              <a:t> (V).</a:t>
            </a:r>
          </a:p>
          <a:p>
            <a:pPr>
              <a:spcBef>
                <a:spcPts val="6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• Las </a:t>
            </a:r>
            <a:r>
              <a:rPr dirty="0" err="1"/>
              <a:t>políticas</a:t>
            </a:r>
            <a:r>
              <a:rPr dirty="0"/>
              <a:t> de </a:t>
            </a:r>
            <a:r>
              <a:rPr dirty="0" err="1"/>
              <a:t>demanda</a:t>
            </a:r>
            <a:r>
              <a:rPr dirty="0"/>
              <a:t> (</a:t>
            </a:r>
            <a:r>
              <a:rPr dirty="0" err="1"/>
              <a:t>gasto</a:t>
            </a:r>
            <a:r>
              <a:rPr dirty="0"/>
              <a:t> </a:t>
            </a:r>
            <a:r>
              <a:rPr dirty="0" err="1"/>
              <a:t>público</a:t>
            </a:r>
            <a:r>
              <a:rPr dirty="0"/>
              <a:t> </a:t>
            </a:r>
            <a:r>
              <a:rPr dirty="0" err="1"/>
              <a:t>tradicional</a:t>
            </a:r>
            <a:r>
              <a:rPr dirty="0"/>
              <a:t>) solo </a:t>
            </a:r>
            <a:r>
              <a:rPr dirty="0" err="1"/>
              <a:t>provocan</a:t>
            </a:r>
            <a:r>
              <a:rPr dirty="0"/>
              <a:t> </a:t>
            </a:r>
            <a:r>
              <a:rPr dirty="0" err="1"/>
              <a:t>movimientos</a:t>
            </a:r>
            <a:r>
              <a:rPr dirty="0"/>
              <a:t> a lo largo de la curva: </a:t>
            </a:r>
            <a:r>
              <a:rPr dirty="0" err="1"/>
              <a:t>más</a:t>
            </a:r>
            <a:r>
              <a:rPr dirty="0"/>
              <a:t> </a:t>
            </a:r>
            <a:r>
              <a:rPr lang="es-ES" dirty="0"/>
              <a:t>vacantes,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a costa de </a:t>
            </a:r>
            <a:r>
              <a:rPr dirty="0" err="1"/>
              <a:t>inflación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• Las </a:t>
            </a:r>
            <a:r>
              <a:rPr dirty="0" err="1"/>
              <a:t>Políticas</a:t>
            </a:r>
            <a:r>
              <a:rPr dirty="0"/>
              <a:t> Activas de </a:t>
            </a:r>
            <a:r>
              <a:rPr dirty="0" err="1"/>
              <a:t>Oferta</a:t>
            </a:r>
            <a:r>
              <a:rPr dirty="0"/>
              <a:t> (</a:t>
            </a:r>
            <a:r>
              <a:rPr dirty="0" err="1"/>
              <a:t>orientación</a:t>
            </a:r>
            <a:r>
              <a:rPr dirty="0"/>
              <a:t> y </a:t>
            </a:r>
            <a:r>
              <a:rPr dirty="0" err="1"/>
              <a:t>formación</a:t>
            </a:r>
            <a:r>
              <a:rPr dirty="0"/>
              <a:t>) </a:t>
            </a:r>
            <a:r>
              <a:rPr dirty="0" err="1"/>
              <a:t>aumentan</a:t>
            </a:r>
            <a:r>
              <a:rPr dirty="0"/>
              <a:t> el </a:t>
            </a:r>
            <a:r>
              <a:rPr dirty="0" err="1"/>
              <a:t>parámetro</a:t>
            </a:r>
            <a:r>
              <a:rPr dirty="0"/>
              <a:t> de </a:t>
            </a:r>
            <a:r>
              <a:rPr dirty="0" err="1"/>
              <a:t>eficiencia</a:t>
            </a:r>
            <a:r>
              <a:rPr dirty="0"/>
              <a:t>: A ↑.</a:t>
            </a:r>
          </a:p>
          <a:p>
            <a:pPr>
              <a:spcBef>
                <a:spcPts val="6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Consecuencia</a:t>
            </a:r>
            <a:r>
              <a:rPr dirty="0"/>
              <a:t> </a:t>
            </a:r>
            <a:r>
              <a:rPr dirty="0" err="1"/>
              <a:t>geométrica</a:t>
            </a:r>
            <a:r>
              <a:rPr dirty="0"/>
              <a:t>: La Curva de Beveridge se </a:t>
            </a:r>
            <a:r>
              <a:rPr dirty="0" err="1"/>
              <a:t>desplaza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el </a:t>
            </a:r>
            <a:r>
              <a:rPr dirty="0" err="1"/>
              <a:t>origen</a:t>
            </a:r>
            <a:r>
              <a:rPr dirty="0"/>
              <a:t>, </a:t>
            </a:r>
            <a:r>
              <a:rPr dirty="0" err="1"/>
              <a:t>logrando</a:t>
            </a:r>
            <a:r>
              <a:rPr dirty="0"/>
              <a:t>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desempleo</a:t>
            </a:r>
            <a:r>
              <a:rPr dirty="0"/>
              <a:t> u para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volumen</a:t>
            </a:r>
            <a:r>
              <a:rPr dirty="0"/>
              <a:t> de </a:t>
            </a:r>
            <a:r>
              <a:rPr dirty="0" err="1"/>
              <a:t>vacantes</a:t>
            </a:r>
            <a:r>
              <a:rPr dirty="0"/>
              <a:t> v.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6309360" y="1645920"/>
                <a:ext cx="5150815" cy="4663440"/>
              </a:xfrm>
              <a:prstGeom prst="roundRect">
                <a:avLst/>
              </a:prstGeom>
              <a:solidFill>
                <a:srgbClr val="F4F8F5"/>
              </a:solidFill>
              <a:ln w="12700">
                <a:solidFill>
                  <a:srgbClr val="76927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74320" tIns="274320" rIns="274320" rtlCol="0" anchor="ctr"/>
              <a:lstStyle/>
              <a:p>
                <a:pPr algn="ctr">
                  <a:defRPr sz="1800" b="1">
                    <a:solidFill>
                      <a:srgbClr val="113927"/>
                    </a:solidFill>
                    <a:latin typeface="Outfit"/>
                  </a:defRPr>
                </a:pPr>
                <a:r>
                  <a:rPr dirty="0"/>
                  <a:t>¿</a:t>
                </a:r>
                <a:r>
                  <a:rPr dirty="0" err="1"/>
                  <a:t>Cómo</a:t>
                </a:r>
                <a:r>
                  <a:rPr dirty="0"/>
                  <a:t> </a:t>
                </a:r>
                <a:r>
                  <a:rPr dirty="0" err="1"/>
                  <a:t>Reducir</a:t>
                </a:r>
                <a:r>
                  <a:rPr dirty="0"/>
                  <a:t> la NAIRU sin </a:t>
                </a:r>
                <a:r>
                  <a:rPr dirty="0" err="1"/>
                  <a:t>Inflación</a:t>
                </a:r>
                <a:r>
                  <a:rPr dirty="0"/>
                  <a:t>?</a:t>
                </a:r>
              </a:p>
              <a:p>
                <a:pPr>
                  <a:spcBef>
                    <a:spcPts val="800"/>
                  </a:spcBef>
                  <a:defRPr sz="1600">
                    <a:solidFill>
                      <a:srgbClr val="2F3A30"/>
                    </a:solidFill>
                    <a:latin typeface="Calibri"/>
                  </a:defRPr>
                </a:pPr>
                <a:r>
                  <a:rPr dirty="0"/>
                  <a:t>• </a:t>
                </a:r>
                <a:r>
                  <a:rPr dirty="0" err="1"/>
                  <a:t>Recordatorio</a:t>
                </a:r>
                <a:r>
                  <a:rPr dirty="0"/>
                  <a:t> de la </a:t>
                </a:r>
                <a:r>
                  <a:rPr dirty="0" err="1"/>
                  <a:t>Sesión</a:t>
                </a:r>
                <a:r>
                  <a:rPr dirty="0"/>
                  <a:t> 4: La </a:t>
                </a:r>
                <a:r>
                  <a:rPr dirty="0" err="1"/>
                  <a:t>tasa</a:t>
                </a:r>
                <a:r>
                  <a:rPr dirty="0"/>
                  <a:t> natural de </a:t>
                </a:r>
                <a:r>
                  <a:rPr dirty="0" err="1"/>
                  <a:t>desempleo</a:t>
                </a:r>
                <a:r>
                  <a:rPr dirty="0"/>
                  <a:t> </a:t>
                </a:r>
                <a:r>
                  <a:rPr dirty="0" err="1"/>
                  <a:t>viene</a:t>
                </a:r>
                <a:r>
                  <a:rPr dirty="0"/>
                  <a:t> dada </a:t>
                </a:r>
                <a:r>
                  <a:rPr dirty="0" err="1"/>
                  <a:t>por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s-E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err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ES" i="1" dirty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s-E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err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dirty="0"/>
                  <a:t>.</a:t>
                </a:r>
              </a:p>
              <a:p>
                <a:pPr>
                  <a:spcBef>
                    <a:spcPts val="800"/>
                  </a:spcBef>
                  <a:defRPr sz="1600">
                    <a:solidFill>
                      <a:srgbClr val="2F3A30"/>
                    </a:solidFill>
                    <a:latin typeface="Calibri"/>
                  </a:defRPr>
                </a:pPr>
                <a:r>
                  <a:rPr dirty="0"/>
                  <a:t>• 1. </a:t>
                </a:r>
                <a:r>
                  <a:rPr dirty="0" err="1"/>
                  <a:t>Orientación</a:t>
                </a:r>
                <a:r>
                  <a:rPr dirty="0"/>
                  <a:t> e </a:t>
                </a:r>
                <a:r>
                  <a:rPr dirty="0" err="1"/>
                  <a:t>Intermediación</a:t>
                </a:r>
                <a:r>
                  <a:rPr dirty="0"/>
                  <a:t> Laboral: Reduce las </a:t>
                </a:r>
                <a:r>
                  <a:rPr dirty="0" err="1"/>
                  <a:t>asimetrías</a:t>
                </a:r>
                <a:r>
                  <a:rPr dirty="0"/>
                  <a:t> de </a:t>
                </a:r>
                <a:r>
                  <a:rPr dirty="0" err="1"/>
                  <a:t>información</a:t>
                </a:r>
                <a:r>
                  <a:rPr dirty="0"/>
                  <a:t> y </a:t>
                </a:r>
                <a:r>
                  <a:rPr dirty="0" err="1"/>
                  <a:t>los</a:t>
                </a:r>
                <a:r>
                  <a:rPr dirty="0"/>
                  <a:t> </a:t>
                </a:r>
                <a:r>
                  <a:rPr dirty="0" err="1"/>
                  <a:t>costes</a:t>
                </a:r>
                <a:r>
                  <a:rPr dirty="0"/>
                  <a:t> de </a:t>
                </a:r>
                <a:r>
                  <a:rPr dirty="0" err="1"/>
                  <a:t>búsqueda</a:t>
                </a:r>
                <a:r>
                  <a:rPr dirty="0"/>
                  <a:t> → reduce el </a:t>
                </a:r>
                <a:r>
                  <a:rPr dirty="0" err="1"/>
                  <a:t>paro</a:t>
                </a:r>
                <a:r>
                  <a:rPr dirty="0"/>
                  <a:t> </a:t>
                </a:r>
                <a:r>
                  <a:rPr dirty="0" err="1"/>
                  <a:t>friccional</a:t>
                </a:r>
                <a:r>
                  <a:rPr dirty="0"/>
                  <a:t>.</a:t>
                </a:r>
              </a:p>
              <a:p>
                <a:pPr>
                  <a:spcBef>
                    <a:spcPts val="800"/>
                  </a:spcBef>
                  <a:defRPr sz="1600">
                    <a:solidFill>
                      <a:srgbClr val="2F3A30"/>
                    </a:solidFill>
                    <a:latin typeface="Calibri"/>
                  </a:defRPr>
                </a:pPr>
                <a:r>
                  <a:rPr dirty="0"/>
                  <a:t>• 2. </a:t>
                </a:r>
                <a:r>
                  <a:rPr dirty="0" err="1"/>
                  <a:t>Formación</a:t>
                </a:r>
                <a:r>
                  <a:rPr dirty="0"/>
                  <a:t> </a:t>
                </a:r>
                <a:r>
                  <a:rPr dirty="0" err="1"/>
                  <a:t>Profesional</a:t>
                </a:r>
                <a:r>
                  <a:rPr dirty="0"/>
                  <a:t> y Reskilling: </a:t>
                </a:r>
                <a:r>
                  <a:rPr dirty="0" err="1"/>
                  <a:t>Corrige</a:t>
                </a:r>
                <a:r>
                  <a:rPr dirty="0"/>
                  <a:t> el </a:t>
                </a:r>
                <a:r>
                  <a:rPr dirty="0" err="1"/>
                  <a:t>desajuste</a:t>
                </a:r>
                <a:r>
                  <a:rPr dirty="0"/>
                  <a:t> de </a:t>
                </a:r>
                <a:r>
                  <a:rPr dirty="0" err="1"/>
                  <a:t>habilidades</a:t>
                </a:r>
                <a:r>
                  <a:rPr dirty="0"/>
                  <a:t> (skills mismatch) → reduce el </a:t>
                </a:r>
                <a:r>
                  <a:rPr dirty="0" err="1"/>
                  <a:t>paro</a:t>
                </a:r>
                <a:r>
                  <a:rPr dirty="0"/>
                  <a:t> </a:t>
                </a:r>
                <a:r>
                  <a:rPr dirty="0" err="1"/>
                  <a:t>estructural</a:t>
                </a:r>
                <a:r>
                  <a:rPr dirty="0"/>
                  <a:t>.</a:t>
                </a:r>
              </a:p>
              <a:p>
                <a:pPr>
                  <a:spcBef>
                    <a:spcPts val="800"/>
                  </a:spcBef>
                  <a:defRPr sz="1600">
                    <a:solidFill>
                      <a:srgbClr val="2F3A30"/>
                    </a:solidFill>
                    <a:latin typeface="Calibri"/>
                  </a:defRPr>
                </a:pPr>
                <a:r>
                  <a:rPr dirty="0"/>
                  <a:t>• 3. </a:t>
                </a:r>
                <a:r>
                  <a:rPr dirty="0" err="1"/>
                  <a:t>Resultado</a:t>
                </a:r>
                <a:r>
                  <a:rPr dirty="0"/>
                  <a:t> </a:t>
                </a:r>
                <a:r>
                  <a:rPr dirty="0" err="1"/>
                  <a:t>macroeconómico</a:t>
                </a:r>
                <a:r>
                  <a:rPr dirty="0"/>
                  <a:t> formal: El </a:t>
                </a:r>
                <a:r>
                  <a:rPr dirty="0" err="1"/>
                  <a:t>desempleo</a:t>
                </a:r>
                <a:r>
                  <a:rPr dirty="0"/>
                  <a:t> de </a:t>
                </a:r>
                <a:r>
                  <a:rPr dirty="0" err="1"/>
                  <a:t>equilibrio</a:t>
                </a:r>
                <a:r>
                  <a:rPr dirty="0"/>
                  <a:t> u* </a:t>
                </a:r>
                <a:r>
                  <a:rPr dirty="0" err="1"/>
                  <a:t>cae</a:t>
                </a:r>
                <a:r>
                  <a:rPr dirty="0"/>
                  <a:t> de forma </a:t>
                </a:r>
                <a:r>
                  <a:rPr dirty="0" err="1"/>
                  <a:t>permanente</a:t>
                </a:r>
                <a:r>
                  <a:rPr dirty="0"/>
                  <a:t> sin </a:t>
                </a:r>
                <a:r>
                  <a:rPr dirty="0" err="1"/>
                  <a:t>generar</a:t>
                </a:r>
                <a:r>
                  <a:rPr dirty="0"/>
                  <a:t> </a:t>
                </a:r>
                <a:r>
                  <a:rPr dirty="0" err="1"/>
                  <a:t>tensiones</a:t>
                </a:r>
                <a:r>
                  <a:rPr dirty="0"/>
                  <a:t> </a:t>
                </a:r>
                <a:r>
                  <a:rPr dirty="0" err="1"/>
                  <a:t>salariales</a:t>
                </a:r>
                <a:r>
                  <a:rPr dirty="0"/>
                  <a:t> </a:t>
                </a:r>
                <a:r>
                  <a:rPr dirty="0" err="1"/>
                  <a:t>ni</a:t>
                </a:r>
                <a:r>
                  <a:rPr dirty="0"/>
                  <a:t> </a:t>
                </a:r>
                <a:r>
                  <a:rPr dirty="0" err="1"/>
                  <a:t>aceleración</a:t>
                </a:r>
                <a:r>
                  <a:rPr dirty="0"/>
                  <a:t> </a:t>
                </a:r>
                <a:r>
                  <a:rPr dirty="0" err="1"/>
                  <a:t>inflacionista</a:t>
                </a:r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0" y="1645920"/>
                <a:ext cx="5150815" cy="46634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76927A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POLÍTICAS SOCIOLABORALES Y DE EMPLEO · TEMA 2 (I)</a:t>
            </a:r>
          </a:p>
          <a:p>
            <a:pPr>
              <a:spcBef>
                <a:spcPts val="300"/>
              </a:spcBef>
              <a:defRPr sz="2600" b="1">
                <a:solidFill>
                  <a:srgbClr val="113927"/>
                </a:solidFill>
                <a:latin typeface="Outfit"/>
              </a:defRPr>
            </a:pPr>
            <a:r>
              <a:t>Fase 3 · Los 5 Grandes Pilares de las PAE (§3.1 – §3.5)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600" b="1">
                <a:solidFill>
                  <a:srgbClr val="113927"/>
                </a:solidFill>
                <a:latin typeface="Outfit"/>
              </a:defRPr>
            </a:pPr>
            <a:r>
              <a:t>1. Orientación e Intermediación (§3.1)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Servicios públicos y agencias de colocación. Entrevistas diagnósticas, perfilado algorítmico (profiling), prospección activa de vacantes y reducción del paro friccional.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78608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600" b="1">
                <a:solidFill>
                  <a:srgbClr val="113927"/>
                </a:solidFill>
                <a:latin typeface="Outfit"/>
              </a:defRPr>
            </a:pPr>
            <a:r>
              <a:t>2. Formación Profesional para el Empleo (§3.2)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Formación de oferta (certificados de profesionalidad) y de demanda en empresas. Clave para el reskilling (recualificación técnica) frente al desajuste estructural.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11296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600" b="1">
                <a:solidFill>
                  <a:srgbClr val="113927"/>
                </a:solidFill>
                <a:latin typeface="Outfit"/>
              </a:defRPr>
            </a:pPr>
            <a:r>
              <a:rPr dirty="0"/>
              <a:t>3. </a:t>
            </a:r>
            <a:r>
              <a:rPr dirty="0" err="1"/>
              <a:t>Incentivos</a:t>
            </a:r>
            <a:r>
              <a:rPr dirty="0"/>
              <a:t> a la </a:t>
            </a:r>
            <a:r>
              <a:rPr dirty="0" err="1"/>
              <a:t>Contratación</a:t>
            </a:r>
            <a:r>
              <a:rPr dirty="0"/>
              <a:t> (§3.3)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 err="1"/>
              <a:t>Bonificaciones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cotizaciones</a:t>
            </a:r>
            <a:r>
              <a:rPr dirty="0"/>
              <a:t> y </a:t>
            </a:r>
            <a:r>
              <a:rPr dirty="0" err="1"/>
              <a:t>subvenciones</a:t>
            </a:r>
            <a:r>
              <a:rPr dirty="0"/>
              <a:t> </a:t>
            </a:r>
            <a:r>
              <a:rPr dirty="0" err="1"/>
              <a:t>directas</a:t>
            </a:r>
            <a:r>
              <a:rPr dirty="0"/>
              <a:t> a </a:t>
            </a:r>
            <a:r>
              <a:rPr dirty="0" err="1"/>
              <a:t>contratos</a:t>
            </a:r>
            <a:r>
              <a:rPr dirty="0"/>
              <a:t> </a:t>
            </a:r>
            <a:r>
              <a:rPr dirty="0" err="1"/>
              <a:t>indefinidos</a:t>
            </a:r>
            <a:r>
              <a:rPr dirty="0"/>
              <a:t>. </a:t>
            </a:r>
            <a:r>
              <a:rPr dirty="0" err="1"/>
              <a:t>Estimulan</a:t>
            </a:r>
            <a:r>
              <a:rPr dirty="0"/>
              <a:t> la </a:t>
            </a:r>
            <a:r>
              <a:rPr lang="es-ES" dirty="0"/>
              <a:t>contratación,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generan</a:t>
            </a:r>
            <a:r>
              <a:rPr dirty="0"/>
              <a:t> </a:t>
            </a:r>
            <a:r>
              <a:rPr dirty="0" err="1"/>
              <a:t>elevado</a:t>
            </a:r>
            <a:r>
              <a:rPr dirty="0"/>
              <a:t> </a:t>
            </a:r>
            <a:r>
              <a:rPr dirty="0" err="1"/>
              <a:t>riesgo</a:t>
            </a:r>
            <a:r>
              <a:rPr dirty="0"/>
              <a:t> de peso </a:t>
            </a:r>
            <a:r>
              <a:rPr dirty="0" err="1"/>
              <a:t>muerto</a:t>
            </a:r>
            <a:r>
              <a:rPr dirty="0"/>
              <a:t> y </a:t>
            </a:r>
            <a:r>
              <a:rPr dirty="0" err="1"/>
              <a:t>sustitución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43984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600" b="1">
                <a:solidFill>
                  <a:srgbClr val="113927"/>
                </a:solidFill>
                <a:latin typeface="Outfit"/>
              </a:defRPr>
            </a:pPr>
            <a:r>
              <a:t>4. Fomento del Autoempleo y Emprendimiento (§3.4)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Capitalización de la prestación por desempleo (pago único al 100%), tarifa plana de cotización y asesoramiento técnico a proyectos viables.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766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600" b="1">
                <a:solidFill>
                  <a:srgbClr val="113927"/>
                </a:solidFill>
                <a:latin typeface="Outfit"/>
              </a:defRPr>
            </a:pPr>
            <a:r>
              <a:rPr dirty="0"/>
              <a:t>5. </a:t>
            </a:r>
            <a:r>
              <a:rPr dirty="0" err="1"/>
              <a:t>Creación</a:t>
            </a:r>
            <a:r>
              <a:rPr dirty="0"/>
              <a:t> Directa de Empleo Público (§3.5)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Planes de </a:t>
            </a:r>
            <a:r>
              <a:rPr dirty="0" err="1"/>
              <a:t>empleo</a:t>
            </a:r>
            <a:r>
              <a:rPr dirty="0"/>
              <a:t> municipal y </a:t>
            </a:r>
            <a:r>
              <a:rPr dirty="0" err="1"/>
              <a:t>obras</a:t>
            </a:r>
            <a:r>
              <a:rPr dirty="0"/>
              <a:t> </a:t>
            </a:r>
            <a:r>
              <a:rPr dirty="0" err="1"/>
              <a:t>comunitarias</a:t>
            </a:r>
            <a:r>
              <a:rPr dirty="0"/>
              <a:t>. Alivio temporal a corto </a:t>
            </a:r>
            <a:r>
              <a:rPr lang="es-ES" dirty="0"/>
              <a:t>plazo,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con </a:t>
            </a:r>
            <a:r>
              <a:rPr dirty="0" err="1"/>
              <a:t>nulo</a:t>
            </a:r>
            <a:r>
              <a:rPr dirty="0"/>
              <a:t>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capital </a:t>
            </a:r>
            <a:r>
              <a:rPr dirty="0" err="1"/>
              <a:t>humano</a:t>
            </a:r>
            <a:r>
              <a:rPr dirty="0"/>
              <a:t> y </a:t>
            </a:r>
            <a:r>
              <a:rPr dirty="0" err="1"/>
              <a:t>riesgo</a:t>
            </a:r>
            <a:r>
              <a:rPr dirty="0"/>
              <a:t> de </a:t>
            </a: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estigma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POLÍTICAS SOCIOLABORALES Y DE EMPLEO · TEMA 2 (I)</a:t>
            </a:r>
          </a:p>
          <a:p>
            <a:pPr>
              <a:spcBef>
                <a:spcPts val="300"/>
              </a:spcBef>
              <a:defRPr sz="2600" b="1">
                <a:solidFill>
                  <a:srgbClr val="113927"/>
                </a:solidFill>
                <a:latin typeface="Outfit"/>
              </a:defRPr>
            </a:pPr>
            <a:r>
              <a:t>Efectos No Deseados en los Incentivos a la Contratación (§4.4)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66344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113927"/>
                </a:solidFill>
                <a:latin typeface="Outfit"/>
              </a:defRPr>
            </a:pPr>
            <a:r>
              <a:t>Efecto Peso Muerto (Deadweight Loss)</a:t>
            </a:r>
          </a:p>
          <a:p>
            <a:pPr>
              <a:spcBef>
                <a:spcPts val="10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t>Se produce cuando la subvención pública financia una contratación que la empresa habría formalizado exactamente igual sin la ayuda económica.</a:t>
            </a:r>
          </a:p>
          <a:p>
            <a:pPr>
              <a:spcBef>
                <a:spcPts val="1000"/>
              </a:spcBef>
              <a:defRPr sz="1600" b="1">
                <a:solidFill>
                  <a:srgbClr val="113927"/>
                </a:solidFill>
                <a:latin typeface="Calibri"/>
              </a:defRPr>
            </a:pPr>
            <a:r>
              <a:t>Evidencia empírica (AIReF y OCDE): Entre el 60% y el 80% del gasto en bonificaciones genéricas a contratos indefinidos es peso muerto puro.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9976" y="1645920"/>
            <a:ext cx="34290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76927A"/>
                </a:solidFill>
                <a:latin typeface="Outfit"/>
              </a:defRPr>
            </a:pP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Sustitución</a:t>
            </a:r>
            <a:endParaRPr dirty="0"/>
          </a:p>
          <a:p>
            <a:pPr>
              <a:spcBef>
                <a:spcPts val="10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La </a:t>
            </a:r>
            <a:r>
              <a:rPr dirty="0" err="1"/>
              <a:t>empresa</a:t>
            </a:r>
            <a:r>
              <a:rPr dirty="0"/>
              <a:t> decide </a:t>
            </a:r>
            <a:r>
              <a:rPr dirty="0" err="1"/>
              <a:t>contratar</a:t>
            </a:r>
            <a:r>
              <a:rPr dirty="0"/>
              <a:t> a un </a:t>
            </a:r>
            <a:r>
              <a:rPr dirty="0" err="1"/>
              <a:t>trabajador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cumple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de la </a:t>
            </a:r>
            <a:r>
              <a:rPr dirty="0" err="1"/>
              <a:t>subvención</a:t>
            </a:r>
            <a:r>
              <a:rPr dirty="0"/>
              <a:t> </a:t>
            </a:r>
            <a:r>
              <a:rPr dirty="0" err="1"/>
              <a:t>despidiendo</a:t>
            </a:r>
            <a:r>
              <a:rPr dirty="0"/>
              <a:t> o no </a:t>
            </a:r>
            <a:r>
              <a:rPr dirty="0" err="1"/>
              <a:t>renovando</a:t>
            </a:r>
            <a:r>
              <a:rPr dirty="0"/>
              <a:t> a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empleado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genera </a:t>
            </a:r>
            <a:r>
              <a:rPr dirty="0" err="1"/>
              <a:t>bonificación</a:t>
            </a:r>
            <a:r>
              <a:rPr dirty="0"/>
              <a:t>.</a:t>
            </a:r>
          </a:p>
          <a:p>
            <a:pPr>
              <a:spcBef>
                <a:spcPts val="1000"/>
              </a:spcBef>
              <a:defRPr sz="1600" b="0">
                <a:solidFill>
                  <a:srgbClr val="2F3A30"/>
                </a:solidFill>
                <a:latin typeface="Calibri"/>
              </a:defRPr>
            </a:pP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neto</a:t>
            </a:r>
            <a:r>
              <a:rPr dirty="0"/>
              <a:t> </a:t>
            </a:r>
            <a:r>
              <a:rPr dirty="0" err="1"/>
              <a:t>nulo</a:t>
            </a:r>
            <a:r>
              <a:rPr dirty="0"/>
              <a:t>: Se cambia el rostro del </a:t>
            </a:r>
            <a:r>
              <a:rPr lang="es-ES" dirty="0"/>
              <a:t>desempleado,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no se </a:t>
            </a:r>
            <a:r>
              <a:rPr dirty="0" err="1"/>
              <a:t>crea</a:t>
            </a:r>
            <a:r>
              <a:rPr dirty="0"/>
              <a:t> </a:t>
            </a:r>
            <a:r>
              <a:rPr dirty="0" err="1"/>
              <a:t>ningún</a:t>
            </a:r>
            <a:r>
              <a:rPr dirty="0"/>
              <a:t> </a:t>
            </a:r>
            <a:r>
              <a:rPr dirty="0" err="1"/>
              <a:t>puesto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economía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2" y="1645920"/>
            <a:ext cx="34290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E98F71"/>
                </a:solidFill>
                <a:latin typeface="Outfit"/>
              </a:defRPr>
            </a:pPr>
            <a:r>
              <a:t>Efecto Desplazamiento y Estigma</a:t>
            </a:r>
          </a:p>
          <a:p>
            <a:pPr>
              <a:spcBef>
                <a:spcPts val="1000"/>
              </a:spcBef>
              <a:defRPr sz="1600">
                <a:solidFill>
                  <a:srgbClr val="2F3A30"/>
                </a:solidFill>
                <a:latin typeface="Calibri"/>
              </a:defRPr>
            </a:pPr>
            <a:r>
              <a:t>Las empresas subvencionadas compiten con ventaja artificial frente a empresas eficientes no subvencionadas, destruyendo empleo en estas últimas.</a:t>
            </a:r>
          </a:p>
          <a:p>
            <a:pPr>
              <a:spcBef>
                <a:spcPts val="1000"/>
              </a:spcBef>
              <a:defRPr sz="1600" b="0">
                <a:solidFill>
                  <a:srgbClr val="2F3A30"/>
                </a:solidFill>
                <a:latin typeface="Calibri"/>
              </a:defRPr>
            </a:pPr>
            <a:r>
              <a:t>Efecto Estigma: El empleador percibe que el parado subvencionado es de menor productividad porque el Estado tiene que pagar para que lo contraten.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POLÍTICAS SOCIOLABORALES Y DE EMPLEO · TEMA 2 (I)</a:t>
            </a:r>
          </a:p>
          <a:p>
            <a:pPr>
              <a:spcBef>
                <a:spcPts val="300"/>
              </a:spcBef>
              <a:defRPr sz="2600" b="1">
                <a:solidFill>
                  <a:srgbClr val="113927"/>
                </a:solidFill>
                <a:latin typeface="Outfit"/>
              </a:defRPr>
            </a:pPr>
            <a:r>
              <a:t>Fase 4 · Taller Activo Móvil: Simulador de Políticas Activas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132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113927"/>
                </a:solidFill>
                <a:latin typeface="Outfit"/>
              </a:defRPr>
            </a:pPr>
            <a:r>
              <a:t>Rol: Consejero/a de Empleo (Presupuesto: 1.000 M€)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13927"/>
                </a:solidFill>
                <a:latin typeface="Calibri"/>
              </a:rPr>
              <a:t>Paso 1: </a:t>
            </a:r>
            <a:r>
              <a:rPr sz="1600">
                <a:solidFill>
                  <a:srgbClr val="2F3A30"/>
                </a:solidFill>
                <a:latin typeface="Calibri"/>
              </a:rPr>
              <a:t>Accede a la micro-app escaneando el código QR o desde mhidper.github.io/micro_apps/.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13927"/>
                </a:solidFill>
                <a:latin typeface="Calibri"/>
              </a:rPr>
              <a:t>Paso 2: </a:t>
            </a:r>
            <a:r>
              <a:rPr sz="1600">
                <a:solidFill>
                  <a:srgbClr val="2F3A30"/>
                </a:solidFill>
                <a:latin typeface="Calibri"/>
              </a:rPr>
              <a:t>Compara el 'Modelo Tradicional Español' (fuerte peso muerto en bonificaciones) frente al 'Modelo Nórdico'.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13927"/>
                </a:solidFill>
                <a:latin typeface="Calibri"/>
              </a:rPr>
              <a:t>Paso 3: </a:t>
            </a:r>
            <a:r>
              <a:rPr sz="1600">
                <a:solidFill>
                  <a:srgbClr val="2F3A30"/>
                </a:solidFill>
                <a:latin typeface="Calibri"/>
              </a:rPr>
              <a:t>Observa cómo la inversión en Orientación y Formación desplaza la Curva de Beveridge hacia el origen (A sube de 100 a &gt;120).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13927"/>
                </a:solidFill>
                <a:latin typeface="Calibri"/>
              </a:rPr>
              <a:t>Paso 4: </a:t>
            </a:r>
            <a:r>
              <a:rPr sz="1600">
                <a:solidFill>
                  <a:srgbClr val="2F3A30"/>
                </a:solidFill>
                <a:latin typeface="Calibri"/>
              </a:rPr>
              <a:t>Comprueba el Coste por Empleo Neto Real y audita qué porcentaje de tu presupuesto se disipa en contrataciones no adicionales.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13927"/>
                </a:solidFill>
                <a:latin typeface="Calibri"/>
              </a:rPr>
              <a:t>Paso 5: </a:t>
            </a:r>
            <a:r>
              <a:rPr sz="1600">
                <a:solidFill>
                  <a:srgbClr val="2F3A30"/>
                </a:solidFill>
                <a:latin typeface="Calibri"/>
              </a:rPr>
              <a:t>Formula tu propuesta óptima de política activa para defenderla en el debate de aula.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800" b="1">
                <a:solidFill>
                  <a:srgbClr val="E98F71"/>
                </a:solidFill>
                <a:latin typeface="Outfit"/>
              </a:defRPr>
            </a:pPr>
            <a:r>
              <a:t>Abre la Micro-App</a:t>
            </a:r>
          </a:p>
        </p:txBody>
      </p:sp>
      <p:pic>
        <p:nvPicPr>
          <p:cNvPr id="6" name="Picture 5" descr="qr_app_sesio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377440"/>
            <a:ext cx="256032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51206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113927"/>
                </a:solidFill>
                <a:latin typeface="Calibri"/>
              </a:defRPr>
            </a:pPr>
            <a:r>
              <a:t>Simulador PAE Lab</a:t>
            </a:r>
            <a:br/>
            <a:r>
              <a:t>Dispositivos móviles y tablets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POLÍTICAS SOCIOLABORALES Y DE EMPLEO · TEMA 2 (I)</a:t>
            </a:r>
          </a:p>
          <a:p>
            <a:pPr>
              <a:spcBef>
                <a:spcPts val="300"/>
              </a:spcBef>
              <a:defRPr sz="2600" b="1">
                <a:solidFill>
                  <a:srgbClr val="113927"/>
                </a:solidFill>
                <a:latin typeface="Outfit"/>
              </a:defRPr>
            </a:pPr>
            <a:r>
              <a:t>Fase 5 · Reto Manuscrito Individual en Papel (10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731521" y="1645920"/>
                <a:ext cx="7571232" cy="4663440"/>
              </a:xfrm>
              <a:prstGeom prst="roundRect">
                <a:avLst/>
              </a:prstGeom>
              <a:solidFill>
                <a:srgbClr val="F4F8F5"/>
              </a:solidFill>
              <a:ln w="25400">
                <a:solidFill>
                  <a:srgbClr val="E98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5760" tIns="274320" rIns="365760" rtlCol="0" anchor="ctr"/>
              <a:lstStyle/>
              <a:p>
                <a:pPr algn="ctr">
                  <a:defRPr sz="1900" b="1">
                    <a:solidFill>
                      <a:srgbClr val="113927"/>
                    </a:solidFill>
                    <a:latin typeface="Outfit"/>
                  </a:defRPr>
                </a:pPr>
                <a:r>
                  <a:rPr dirty="0"/>
                  <a:t>Caso de </a:t>
                </a:r>
                <a:r>
                  <a:rPr dirty="0" err="1"/>
                  <a:t>Aplicación</a:t>
                </a:r>
                <a:r>
                  <a:rPr dirty="0"/>
                  <a:t>: Plan de Choque </a:t>
                </a:r>
                <a:r>
                  <a:rPr dirty="0" err="1"/>
                  <a:t>Autonómico</a:t>
                </a:r>
                <a:r>
                  <a:rPr dirty="0"/>
                  <a:t> de 500 M€</a:t>
                </a:r>
              </a:p>
              <a:p>
                <a:pPr>
                  <a:spcBef>
                    <a:spcPts val="800"/>
                  </a:spcBef>
                  <a:defRPr sz="1600" i="1">
                    <a:solidFill>
                      <a:srgbClr val="2F3A30"/>
                    </a:solidFill>
                    <a:latin typeface="Calibri"/>
                  </a:defRPr>
                </a:pPr>
                <a:r>
                  <a:rPr sz="1400" dirty="0"/>
                  <a:t>«Una comunidad </a:t>
                </a:r>
                <a:r>
                  <a:rPr sz="1400" dirty="0" err="1"/>
                  <a:t>autónoma</a:t>
                </a:r>
                <a:r>
                  <a:rPr sz="1400" dirty="0"/>
                  <a:t> </a:t>
                </a:r>
                <a:r>
                  <a:rPr sz="1400" dirty="0" err="1"/>
                  <a:t>aprueba</a:t>
                </a:r>
                <a:r>
                  <a:rPr sz="1400" dirty="0"/>
                  <a:t> un </a:t>
                </a:r>
                <a:r>
                  <a:rPr sz="1400" dirty="0" err="1"/>
                  <a:t>presupuesto</a:t>
                </a:r>
                <a:r>
                  <a:rPr sz="1400" dirty="0"/>
                  <a:t> de 500 M€. Destina el 80% (400 M€) a </a:t>
                </a:r>
                <a:r>
                  <a:rPr sz="1400" dirty="0" err="1"/>
                  <a:t>subvencionar</a:t>
                </a:r>
                <a:r>
                  <a:rPr sz="1400" dirty="0"/>
                  <a:t> con 6.000 € a </a:t>
                </a:r>
                <a:r>
                  <a:rPr sz="1400" dirty="0" err="1"/>
                  <a:t>fondo</a:t>
                </a:r>
                <a:r>
                  <a:rPr sz="1400" dirty="0"/>
                  <a:t> </a:t>
                </a:r>
                <a:r>
                  <a:rPr sz="1400" dirty="0" err="1"/>
                  <a:t>perdido</a:t>
                </a:r>
                <a:r>
                  <a:rPr sz="1400" dirty="0"/>
                  <a:t> </a:t>
                </a:r>
                <a:r>
                  <a:rPr sz="1400" dirty="0" err="1"/>
                  <a:t>cada</a:t>
                </a:r>
                <a:r>
                  <a:rPr sz="1400" dirty="0"/>
                  <a:t> </a:t>
                </a:r>
                <a:r>
                  <a:rPr sz="1400" dirty="0" err="1"/>
                  <a:t>contrato</a:t>
                </a:r>
                <a:r>
                  <a:rPr sz="1400" dirty="0"/>
                  <a:t> </a:t>
                </a:r>
                <a:r>
                  <a:rPr sz="1400" dirty="0" err="1"/>
                  <a:t>indefinido</a:t>
                </a:r>
                <a:r>
                  <a:rPr sz="1400" dirty="0"/>
                  <a:t> </a:t>
                </a:r>
                <a:r>
                  <a:rPr sz="1400" dirty="0" err="1"/>
                  <a:t>formalizado</a:t>
                </a:r>
                <a:r>
                  <a:rPr sz="1400" dirty="0"/>
                  <a:t> </a:t>
                </a:r>
                <a:r>
                  <a:rPr sz="1400" dirty="0" err="1"/>
                  <a:t>por</a:t>
                </a:r>
                <a:r>
                  <a:rPr sz="1400" dirty="0"/>
                  <a:t> </a:t>
                </a:r>
                <a:r>
                  <a:rPr sz="1400" dirty="0" err="1"/>
                  <a:t>empresas</a:t>
                </a:r>
                <a:r>
                  <a:rPr sz="1400" dirty="0"/>
                  <a:t> </a:t>
                </a:r>
                <a:r>
                  <a:rPr sz="1400" dirty="0" err="1"/>
                  <a:t>privadas</a:t>
                </a:r>
                <a:r>
                  <a:rPr sz="1400" dirty="0"/>
                  <a:t> y el 20% restante (100 M€) a </a:t>
                </a:r>
                <a:r>
                  <a:rPr sz="1400" dirty="0" err="1"/>
                  <a:t>financiar</a:t>
                </a:r>
                <a:r>
                  <a:rPr sz="1400" dirty="0"/>
                  <a:t> </a:t>
                </a:r>
                <a:r>
                  <a:rPr sz="1400" dirty="0" err="1"/>
                  <a:t>contratos</a:t>
                </a:r>
                <a:r>
                  <a:rPr sz="1400" dirty="0"/>
                  <a:t> </a:t>
                </a:r>
                <a:r>
                  <a:rPr sz="1400" dirty="0" err="1"/>
                  <a:t>temporales</a:t>
                </a:r>
                <a:r>
                  <a:rPr sz="1400" dirty="0"/>
                  <a:t> de 6 meses </a:t>
                </a:r>
                <a:r>
                  <a:rPr sz="1400" dirty="0" err="1"/>
                  <a:t>en</a:t>
                </a:r>
                <a:r>
                  <a:rPr sz="1400" dirty="0"/>
                  <a:t> ayuntamientos para </a:t>
                </a:r>
                <a:r>
                  <a:rPr sz="1400" dirty="0" err="1"/>
                  <a:t>limpieza</a:t>
                </a:r>
                <a:r>
                  <a:rPr sz="1400" dirty="0"/>
                  <a:t> y </a:t>
                </a:r>
                <a:r>
                  <a:rPr sz="1400" dirty="0" err="1"/>
                  <a:t>jardinería</a:t>
                </a:r>
                <a:r>
                  <a:rPr sz="1400" dirty="0"/>
                  <a:t>. Los </a:t>
                </a:r>
                <a:r>
                  <a:rPr sz="1400" dirty="0" err="1"/>
                  <a:t>servicios</a:t>
                </a:r>
                <a:r>
                  <a:rPr sz="1400" dirty="0"/>
                  <a:t> de </a:t>
                </a:r>
                <a:r>
                  <a:rPr sz="1400" dirty="0" err="1"/>
                  <a:t>intermediación</a:t>
                </a:r>
                <a:r>
                  <a:rPr sz="1400" dirty="0"/>
                  <a:t> y </a:t>
                </a:r>
                <a:r>
                  <a:rPr sz="1400" dirty="0" err="1"/>
                  <a:t>los</a:t>
                </a:r>
                <a:r>
                  <a:rPr sz="1400" dirty="0"/>
                  <a:t> </a:t>
                </a:r>
                <a:r>
                  <a:rPr sz="1400" dirty="0" err="1"/>
                  <a:t>cursos</a:t>
                </a:r>
                <a:r>
                  <a:rPr sz="1400" dirty="0"/>
                  <a:t> de </a:t>
                </a:r>
                <a:r>
                  <a:rPr sz="1400" dirty="0" err="1"/>
                  <a:t>recualificación</a:t>
                </a:r>
                <a:r>
                  <a:rPr sz="1400" dirty="0"/>
                  <a:t> </a:t>
                </a:r>
                <a:r>
                  <a:rPr sz="1400" dirty="0" err="1"/>
                  <a:t>técnica</a:t>
                </a:r>
                <a:r>
                  <a:rPr sz="1400" dirty="0"/>
                  <a:t> </a:t>
                </a:r>
                <a:r>
                  <a:rPr sz="1400" dirty="0" err="1"/>
                  <a:t>reciben</a:t>
                </a:r>
                <a:r>
                  <a:rPr sz="1400" dirty="0"/>
                  <a:t> 0 €. </a:t>
                </a:r>
                <a:r>
                  <a:rPr sz="1400" dirty="0" err="1"/>
                  <a:t>Razona</a:t>
                </a:r>
                <a:r>
                  <a:rPr sz="1400" dirty="0"/>
                  <a:t> con rigor </a:t>
                </a:r>
                <a:r>
                  <a:rPr sz="1400" dirty="0" err="1"/>
                  <a:t>económico</a:t>
                </a:r>
                <a:r>
                  <a:rPr sz="1400" dirty="0"/>
                  <a:t> formal:»</a:t>
                </a:r>
              </a:p>
              <a:p>
                <a:pPr>
                  <a:spcBef>
                    <a:spcPts val="1200"/>
                  </a:spcBef>
                  <a:defRPr sz="1600" b="1">
                    <a:solidFill>
                      <a:srgbClr val="113927"/>
                    </a:solidFill>
                    <a:latin typeface="Calibri"/>
                  </a:defRPr>
                </a:pPr>
                <a:r>
                  <a:rPr sz="1400" dirty="0"/>
                  <a:t>a) </a:t>
                </a:r>
                <a:r>
                  <a:rPr sz="1400" dirty="0" err="1"/>
                  <a:t>Efectos</a:t>
                </a:r>
                <a:r>
                  <a:rPr sz="1400" dirty="0"/>
                  <a:t> no </a:t>
                </a:r>
                <a:r>
                  <a:rPr sz="1400" dirty="0" err="1"/>
                  <a:t>deseados</a:t>
                </a:r>
                <a:r>
                  <a:rPr sz="1400" dirty="0"/>
                  <a:t> y </a:t>
                </a:r>
                <a:r>
                  <a:rPr sz="1400" dirty="0" err="1"/>
                  <a:t>Eficiencia</a:t>
                </a:r>
                <a:r>
                  <a:rPr sz="1400" dirty="0"/>
                  <a:t>: ¿</a:t>
                </a:r>
                <a:r>
                  <a:rPr sz="1400" dirty="0" err="1"/>
                  <a:t>Qué</a:t>
                </a:r>
                <a:r>
                  <a:rPr sz="1400" dirty="0"/>
                  <a:t> </a:t>
                </a:r>
                <a:r>
                  <a:rPr sz="1400" dirty="0" err="1"/>
                  <a:t>ocurrirá</a:t>
                </a:r>
                <a:r>
                  <a:rPr sz="1400" dirty="0"/>
                  <a:t> con el </a:t>
                </a:r>
                <a:r>
                  <a:rPr sz="1400" dirty="0" err="1"/>
                  <a:t>empleo</a:t>
                </a:r>
                <a:r>
                  <a:rPr sz="1400" dirty="0"/>
                  <a:t> </a:t>
                </a:r>
                <a:r>
                  <a:rPr sz="1400" dirty="0" err="1"/>
                  <a:t>neto</a:t>
                </a:r>
                <a:r>
                  <a:rPr sz="1400" dirty="0"/>
                  <a:t> real </a:t>
                </a:r>
                <a:r>
                  <a:rPr sz="1400" dirty="0" err="1"/>
                  <a:t>generado</a:t>
                </a:r>
                <a:r>
                  <a:rPr sz="1400" dirty="0"/>
                  <a:t> </a:t>
                </a:r>
                <a:r>
                  <a:rPr sz="1400" dirty="0" err="1"/>
                  <a:t>por</a:t>
                </a:r>
                <a:r>
                  <a:rPr sz="1400" dirty="0"/>
                  <a:t> </a:t>
                </a:r>
                <a:r>
                  <a:rPr sz="1400" dirty="0" err="1"/>
                  <a:t>este</a:t>
                </a:r>
                <a:r>
                  <a:rPr sz="1400" dirty="0"/>
                  <a:t> plan? Define y </a:t>
                </a:r>
                <a:r>
                  <a:rPr sz="1400" dirty="0" err="1"/>
                  <a:t>aplica</a:t>
                </a:r>
                <a:r>
                  <a:rPr sz="1400" dirty="0"/>
                  <a:t> con rigor </a:t>
                </a:r>
                <a:r>
                  <a:rPr sz="1400" dirty="0" err="1"/>
                  <a:t>los</a:t>
                </a:r>
                <a:r>
                  <a:rPr sz="1400" dirty="0"/>
                  <a:t> </a:t>
                </a:r>
                <a:r>
                  <a:rPr sz="1400" dirty="0" err="1"/>
                  <a:t>conceptos</a:t>
                </a:r>
                <a:r>
                  <a:rPr sz="1400" dirty="0"/>
                  <a:t> de </a:t>
                </a:r>
                <a:r>
                  <a:rPr sz="1400" dirty="0" err="1"/>
                  <a:t>Efecto</a:t>
                </a:r>
                <a:r>
                  <a:rPr sz="1400" dirty="0"/>
                  <a:t> Peso Muerto (Deadweight Loss) y </a:t>
                </a:r>
                <a:r>
                  <a:rPr sz="1400" dirty="0" err="1"/>
                  <a:t>Efecto</a:t>
                </a:r>
                <a:r>
                  <a:rPr sz="1400" dirty="0"/>
                  <a:t> </a:t>
                </a:r>
                <a:r>
                  <a:rPr sz="1400" dirty="0" err="1"/>
                  <a:t>Sustitución</a:t>
                </a:r>
                <a:r>
                  <a:rPr sz="1400" dirty="0"/>
                  <a:t>.</a:t>
                </a:r>
              </a:p>
              <a:p>
                <a:pPr>
                  <a:spcBef>
                    <a:spcPts val="1000"/>
                  </a:spcBef>
                  <a:defRPr sz="1600" b="1">
                    <a:solidFill>
                      <a:srgbClr val="113927"/>
                    </a:solidFill>
                    <a:latin typeface="Calibri"/>
                  </a:defRPr>
                </a:pPr>
                <a:r>
                  <a:rPr sz="1400" dirty="0"/>
                  <a:t>b) Curva de Beveridge y </a:t>
                </a:r>
                <a:r>
                  <a:rPr sz="1400" dirty="0" err="1"/>
                  <a:t>Rediseño</a:t>
                </a:r>
                <a:r>
                  <a:rPr sz="1400" dirty="0"/>
                  <a:t> de Política Pública: ¿</a:t>
                </a:r>
                <a:r>
                  <a:rPr sz="1400" dirty="0" err="1"/>
                  <a:t>Logrará</a:t>
                </a:r>
                <a:r>
                  <a:rPr sz="1400" dirty="0"/>
                  <a:t> </a:t>
                </a:r>
                <a:r>
                  <a:rPr sz="1400" dirty="0" err="1"/>
                  <a:t>este</a:t>
                </a:r>
                <a:r>
                  <a:rPr sz="1400" dirty="0"/>
                  <a:t> plan </a:t>
                </a:r>
                <a:r>
                  <a:rPr sz="1400" dirty="0" err="1"/>
                  <a:t>desplazar</a:t>
                </a:r>
                <a:r>
                  <a:rPr sz="1400" dirty="0"/>
                  <a:t> la Curva de Beveridge </a:t>
                </a:r>
                <a:r>
                  <a:rPr sz="1400" dirty="0" err="1"/>
                  <a:t>hacia</a:t>
                </a:r>
                <a:r>
                  <a:rPr sz="1400" dirty="0"/>
                  <a:t> el </a:t>
                </a:r>
                <a:r>
                  <a:rPr sz="1400" dirty="0" err="1"/>
                  <a:t>origen</a:t>
                </a:r>
                <a:r>
                  <a:rPr sz="1400" dirty="0"/>
                  <a:t>? Si </a:t>
                </a:r>
                <a:r>
                  <a:rPr sz="1400" dirty="0" err="1"/>
                  <a:t>tuvieras</a:t>
                </a:r>
                <a:r>
                  <a:rPr sz="1400" dirty="0"/>
                  <a:t> </a:t>
                </a:r>
                <a:r>
                  <a:rPr sz="1400" dirty="0" err="1"/>
                  <a:t>que</a:t>
                </a:r>
                <a:r>
                  <a:rPr sz="1400" dirty="0"/>
                  <a:t> </a:t>
                </a:r>
                <a:r>
                  <a:rPr sz="1400" dirty="0" err="1"/>
                  <a:t>rediseñar</a:t>
                </a:r>
                <a:r>
                  <a:rPr sz="1400" dirty="0"/>
                  <a:t> el </a:t>
                </a:r>
                <a:r>
                  <a:rPr sz="1400" dirty="0" err="1"/>
                  <a:t>presupuesto</a:t>
                </a:r>
                <a:r>
                  <a:rPr sz="1400" dirty="0"/>
                  <a:t> para </a:t>
                </a:r>
                <a:r>
                  <a:rPr sz="1400" dirty="0" err="1"/>
                  <a:t>reducir</a:t>
                </a:r>
                <a:r>
                  <a:rPr sz="1400" dirty="0"/>
                  <a:t> la </a:t>
                </a:r>
                <a:r>
                  <a:rPr sz="1400" dirty="0" err="1"/>
                  <a:t>tasa</a:t>
                </a:r>
                <a:r>
                  <a:rPr sz="1400" dirty="0"/>
                  <a:t> natural de </a:t>
                </a:r>
                <a:r>
                  <a:rPr sz="1400" dirty="0" err="1"/>
                  <a:t>paro</a:t>
                </a:r>
                <a:r>
                  <a:rPr sz="1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4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ES" sz="1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1400" dirty="0"/>
                  <a:t>) de forma </a:t>
                </a:r>
                <a:r>
                  <a:rPr sz="1400" dirty="0" err="1"/>
                  <a:t>permanente</a:t>
                </a:r>
                <a:r>
                  <a:rPr sz="1400" dirty="0"/>
                  <a:t> y sin </a:t>
                </a:r>
                <a:r>
                  <a:rPr sz="1400" dirty="0" err="1"/>
                  <a:t>inflación</a:t>
                </a:r>
                <a:r>
                  <a:rPr sz="1400" dirty="0"/>
                  <a:t>, ¿</a:t>
                </a:r>
                <a:r>
                  <a:rPr sz="1400" dirty="0" err="1"/>
                  <a:t>qué</a:t>
                </a:r>
                <a:r>
                  <a:rPr sz="1400" dirty="0"/>
                  <a:t> </a:t>
                </a:r>
                <a:r>
                  <a:rPr sz="1400" dirty="0" err="1"/>
                  <a:t>combinación</a:t>
                </a:r>
                <a:r>
                  <a:rPr sz="1400" dirty="0"/>
                  <a:t> de </a:t>
                </a:r>
                <a:r>
                  <a:rPr sz="1400" dirty="0" err="1"/>
                  <a:t>instrumentos</a:t>
                </a:r>
                <a:r>
                  <a:rPr sz="1400" dirty="0"/>
                  <a:t> de </a:t>
                </a:r>
                <a:r>
                  <a:rPr sz="1400" dirty="0" err="1"/>
                  <a:t>políticas</a:t>
                </a:r>
                <a:r>
                  <a:rPr sz="1400" dirty="0"/>
                  <a:t> </a:t>
                </a:r>
                <a:r>
                  <a:rPr sz="1400" dirty="0" err="1"/>
                  <a:t>activas</a:t>
                </a:r>
                <a:r>
                  <a:rPr sz="1400" dirty="0"/>
                  <a:t> </a:t>
                </a:r>
                <a:r>
                  <a:rPr sz="1400" dirty="0" err="1"/>
                  <a:t>implementarías</a:t>
                </a:r>
                <a:r>
                  <a:rPr sz="1400" dirty="0"/>
                  <a:t> y </a:t>
                </a:r>
                <a:r>
                  <a:rPr sz="1400" dirty="0" err="1"/>
                  <a:t>sobre</a:t>
                </a:r>
                <a:r>
                  <a:rPr sz="1400" dirty="0"/>
                  <a:t> </a:t>
                </a:r>
                <a:r>
                  <a:rPr sz="1400" dirty="0" err="1"/>
                  <a:t>qué</a:t>
                </a:r>
                <a:r>
                  <a:rPr sz="1400" dirty="0"/>
                  <a:t> </a:t>
                </a:r>
                <a:r>
                  <a:rPr sz="1400" dirty="0" err="1"/>
                  <a:t>componentes</a:t>
                </a:r>
                <a:r>
                  <a:rPr sz="1400" dirty="0"/>
                  <a:t> de la </a:t>
                </a:r>
                <a:r>
                  <a:rPr sz="1400" dirty="0" err="1"/>
                  <a:t>función</a:t>
                </a:r>
                <a:r>
                  <a:rPr sz="1400" dirty="0"/>
                  <a:t> de </a:t>
                </a:r>
                <a:r>
                  <a:rPr sz="1400" dirty="0" err="1"/>
                  <a:t>emparejamiento</a:t>
                </a:r>
                <a:r>
                  <a:rPr sz="1400" dirty="0"/>
                  <a:t> </a:t>
                </a:r>
                <a:r>
                  <a:rPr sz="1400" dirty="0" err="1"/>
                  <a:t>actuarías</a:t>
                </a:r>
                <a:r>
                  <a:rPr sz="1400" dirty="0"/>
                  <a:t>?</a:t>
                </a:r>
              </a:p>
              <a:p>
                <a:pPr>
                  <a:spcBef>
                    <a:spcPts val="1200"/>
                  </a:spcBef>
                  <a:defRPr sz="1500" b="1">
                    <a:solidFill>
                      <a:srgbClr val="E98F71"/>
                    </a:solidFill>
                    <a:latin typeface="Calibri"/>
                  </a:defRPr>
                </a:pPr>
                <a:r>
                  <a:rPr sz="1400" dirty="0"/>
                  <a:t>⚠️ Regla de Oro: </a:t>
                </a:r>
                <a:r>
                  <a:rPr sz="1400" dirty="0" err="1"/>
                  <a:t>Redacción</a:t>
                </a:r>
                <a:r>
                  <a:rPr sz="1400" dirty="0"/>
                  <a:t> </a:t>
                </a:r>
                <a:r>
                  <a:rPr sz="1400" dirty="0" err="1"/>
                  <a:t>exclusiva</a:t>
                </a:r>
                <a:r>
                  <a:rPr sz="1400" dirty="0"/>
                  <a:t> a mano </a:t>
                </a:r>
                <a:r>
                  <a:rPr sz="1400" dirty="0" err="1"/>
                  <a:t>en</a:t>
                </a:r>
                <a:r>
                  <a:rPr sz="1400" dirty="0"/>
                  <a:t> </a:t>
                </a:r>
                <a:r>
                  <a:rPr sz="1400" dirty="0" err="1"/>
                  <a:t>papel</a:t>
                </a:r>
                <a:r>
                  <a:rPr sz="1400" dirty="0"/>
                  <a:t> (10 min). Sin </a:t>
                </a:r>
                <a:r>
                  <a:rPr sz="1400" dirty="0" err="1"/>
                  <a:t>pantallas</a:t>
                </a:r>
                <a:r>
                  <a:rPr sz="1400" dirty="0"/>
                  <a:t>. Máximo rigor </a:t>
                </a:r>
                <a:r>
                  <a:rPr sz="1400" dirty="0" err="1"/>
                  <a:t>analítico</a:t>
                </a:r>
                <a:r>
                  <a:rPr sz="1400" dirty="0"/>
                  <a:t>.</a:t>
                </a:r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1" y="1645920"/>
                <a:ext cx="7571232" cy="46634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rgbClr val="E98F71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 descr="Código QR">
            <a:extLst>
              <a:ext uri="{FF2B5EF4-FFF2-40B4-BE49-F238E27FC236}">
                <a16:creationId xmlns:a16="http://schemas.microsoft.com/office/drawing/2014/main" id="{6A09246E-4C1F-F41A-89D3-312F8FBEC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638" y="2286000"/>
            <a:ext cx="3531870" cy="35318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POLÍTICAS SOCIOLABORALES Y DE EMPLEO · TEMA 2 (I)</a:t>
            </a:r>
          </a:p>
          <a:p>
            <a:pPr>
              <a:spcBef>
                <a:spcPts val="300"/>
              </a:spcBef>
              <a:defRPr sz="2600" b="1">
                <a:solidFill>
                  <a:srgbClr val="113927"/>
                </a:solidFill>
                <a:latin typeface="Outfit"/>
              </a:defRPr>
            </a:pPr>
            <a:r>
              <a:t>Subida Fotográfica Instantánea y Rúbrica Oficial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840480" cy="466344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800" b="1">
                <a:solidFill>
                  <a:srgbClr val="E98F71"/>
                </a:solidFill>
                <a:latin typeface="Outfit"/>
              </a:defRPr>
            </a:pPr>
            <a:r>
              <a:t>Subida Instantánea (2 min)</a:t>
            </a:r>
          </a:p>
        </p:txBody>
      </p:sp>
      <p:pic>
        <p:nvPicPr>
          <p:cNvPr id="5" name="Picture 4" descr="qr_reto_sesio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7744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113927"/>
                </a:solidFill>
                <a:latin typeface="Calibri"/>
              </a:defRPr>
            </a:pPr>
            <a:r>
              <a:t>Microsoft Forms Institucional UPO</a:t>
            </a:r>
            <a:br/>
            <a:r>
              <a:t>Foto nítida de la cuartilla manuscrita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6613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800" b="1">
                <a:solidFill>
                  <a:srgbClr val="113927"/>
                </a:solidFill>
                <a:latin typeface="Outfit"/>
              </a:defRPr>
            </a:pPr>
            <a:r>
              <a:t>Rúbrica de Corrección Ciega (0 – 1.000 pts)</a:t>
            </a:r>
          </a:p>
          <a:p>
            <a:pPr>
              <a:spcBef>
                <a:spcPts val="600"/>
              </a:spcBef>
              <a:defRPr sz="1600" b="1">
                <a:solidFill>
                  <a:srgbClr val="113927"/>
                </a:solidFill>
                <a:latin typeface="Outfit"/>
              </a:defRPr>
            </a:pPr>
            <a:r>
              <a:t>Apartado a) Efectos no deseados (0 - 500 pts):</a:t>
            </a:r>
          </a:p>
          <a:p>
            <a:pPr>
              <a:spcBef>
                <a:spcPts val="200"/>
              </a:spcBef>
              <a:defRPr sz="1500">
                <a:solidFill>
                  <a:srgbClr val="2F3A30"/>
                </a:solidFill>
                <a:latin typeface="Calibri"/>
              </a:defRPr>
            </a:pPr>
            <a:r>
              <a:t>• Definición y aplicación formal del Efecto Peso Muerto (Deadweight Loss) en subvenciones genéricas (60-80% no adicional).</a:t>
            </a:r>
          </a:p>
          <a:p>
            <a:pPr>
              <a:spcBef>
                <a:spcPts val="200"/>
              </a:spcBef>
              <a:defRPr sz="1500">
                <a:solidFill>
                  <a:srgbClr val="2F3A30"/>
                </a:solidFill>
                <a:latin typeface="Calibri"/>
              </a:defRPr>
            </a:pPr>
            <a:r>
              <a:t>• Efecto sustitución de trabajadores no bonificados y rotación en contratos temporales de ayuntamientos sin ganancia de capital humano.</a:t>
            </a:r>
          </a:p>
          <a:p>
            <a:pPr>
              <a:spcBef>
                <a:spcPts val="200"/>
              </a:spcBef>
              <a:defRPr sz="1500">
                <a:solidFill>
                  <a:srgbClr val="2F3A30"/>
                </a:solidFill>
                <a:latin typeface="Calibri"/>
              </a:defRPr>
            </a:pPr>
            <a:r>
              <a:t>• Conclusión rigurosa: Coste por empleo neto desorbitado con escasa creación de puestos reales.</a:t>
            </a:r>
          </a:p>
          <a:p>
            <a:pPr>
              <a:spcBef>
                <a:spcPts val="600"/>
              </a:spcBef>
              <a:defRPr sz="1600" b="1">
                <a:solidFill>
                  <a:srgbClr val="113927"/>
                </a:solidFill>
                <a:latin typeface="Outfit"/>
              </a:defRPr>
            </a:pPr>
            <a:r>
              <a:t>Apartado b) Beveridge y Rediseño Óptimo (0 - 500 pts):</a:t>
            </a:r>
          </a:p>
          <a:p>
            <a:pPr>
              <a:spcBef>
                <a:spcPts val="200"/>
              </a:spcBef>
              <a:defRPr sz="1500">
                <a:solidFill>
                  <a:srgbClr val="2F3A30"/>
                </a:solidFill>
                <a:latin typeface="Calibri"/>
              </a:defRPr>
            </a:pPr>
            <a:r>
              <a:t>• Demostración analítica con la función de matching: estas medidas no alteran el parámetro de eficiencia A y no desplazan Beveridge hacia el origen.</a:t>
            </a:r>
          </a:p>
          <a:p>
            <a:pPr>
              <a:spcBef>
                <a:spcPts val="200"/>
              </a:spcBef>
              <a:defRPr sz="1500">
                <a:solidFill>
                  <a:srgbClr val="2F3A30"/>
                </a:solidFill>
                <a:latin typeface="Calibri"/>
              </a:defRPr>
            </a:pPr>
            <a:r>
              <a:t>• Rediseño hacia políticas activas de oferta: Orientación con profiling (reduce paro friccional) y formación dual/reskilling (reduce desajuste estructural).</a:t>
            </a:r>
          </a:p>
          <a:p>
            <a:pPr>
              <a:spcBef>
                <a:spcPts val="200"/>
              </a:spcBef>
              <a:defRPr sz="1500">
                <a:solidFill>
                  <a:srgbClr val="2F3A30"/>
                </a:solidFill>
                <a:latin typeface="Calibri"/>
              </a:defRPr>
            </a:pPr>
            <a:r>
              <a:t>• Conclusión de política laboral: A ↑ desplaza la curva de Beveridge hacia el origen, reduciendo la NAIRU de forma permanente y sin inflación.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2042</Words>
  <Application>Microsoft Office PowerPoint</Application>
  <PresentationFormat>Panorámica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Manuel Alejandro Hidalgo Perez</cp:lastModifiedBy>
  <cp:revision>3</cp:revision>
  <dcterms:created xsi:type="dcterms:W3CDTF">2013-01-27T09:14:16Z</dcterms:created>
  <dcterms:modified xsi:type="dcterms:W3CDTF">2026-09-30T08:40:49Z</dcterms:modified>
  <cp:category/>
</cp:coreProperties>
</file>