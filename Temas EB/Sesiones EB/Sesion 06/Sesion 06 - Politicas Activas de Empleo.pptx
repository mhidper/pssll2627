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psll_u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744" y="502920"/>
            <a:ext cx="4389120" cy="2393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063240"/>
            <a:ext cx="10362895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Outfit"/>
              </a:defRPr>
            </a:pPr>
            <a:r>
              <a:t>POLÍTICAS SOCIOLABORALES Y DE EMPLEO</a:t>
            </a:r>
          </a:p>
          <a:p>
            <a:pPr algn="ctr">
              <a:spcBef>
                <a:spcPts val="600"/>
              </a:spcBef>
              <a:defRPr sz="1800" b="1">
                <a:solidFill>
                  <a:srgbClr val="E98F71"/>
                </a:solidFill>
                <a:latin typeface="Outfit"/>
              </a:defRPr>
            </a:pPr>
            <a:r>
              <a:t>Sesión 06 · Tema 2 (Sesión I): Políticas Activas de Empleo (PAE)</a:t>
            </a:r>
          </a:p>
          <a:p>
            <a:pPr algn="ctr">
              <a:spcBef>
                <a:spcPts val="400"/>
              </a:spcBef>
              <a:defRPr sz="1600">
                <a:solidFill>
                  <a:srgbClr val="F4F8F5"/>
                </a:solidFill>
                <a:latin typeface="Calibri"/>
              </a:defRPr>
            </a:pPr>
            <a:r>
              <a:t>Concepto, Delimitación Frente a las Pasivas y Tipología de Instrumentos</a:t>
            </a:r>
          </a:p>
          <a:p>
            <a:pPr algn="ctr">
              <a:spcBef>
                <a:spcPts val="1000"/>
              </a:spcBef>
              <a:defRPr sz="1300">
                <a:solidFill>
                  <a:srgbClr val="76927A"/>
                </a:solidFill>
                <a:latin typeface="Calibri"/>
              </a:defRPr>
            </a:pPr>
            <a:r>
              <a:t>Código 102023  ·  Universidad Pablo de Olavide  ·  Prof. Manuel A. Hidalgo Pérez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po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126480"/>
            <a:ext cx="452628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1C36"/>
                </a:solidFill>
                <a:latin typeface="Calibri"/>
              </a:defRPr>
            </a:pPr>
            <a:r>
              <a:t>Grado en Relaciones Laborales y Recursos Humanos  ·  Doble Grado en Derecho y RRLL-RRHH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POLÍTICAS SOCIOLABORALES Y DE EMPLEO · TEMA 2 (I)</a:t>
            </a:r>
          </a:p>
          <a:p>
            <a:pPr>
              <a:spcBef>
                <a:spcPts val="300"/>
              </a:spcBef>
              <a:defRPr sz="2600" b="1">
                <a:solidFill>
                  <a:srgbClr val="113927"/>
                </a:solidFill>
                <a:latin typeface="Outfit"/>
              </a:defRPr>
            </a:pPr>
            <a:r>
              <a:t>Fase 1 · La Paradoja del Gasto en Empleo en España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769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defRPr sz="1800" b="1">
                <a:solidFill>
                  <a:srgbClr val="113927"/>
                </a:solidFill>
                <a:latin typeface="Outfit"/>
              </a:defRPr>
            </a:pPr>
            <a:r>
              <a:rPr dirty="0"/>
              <a:t>El </a:t>
            </a:r>
            <a:r>
              <a:rPr dirty="0" err="1"/>
              <a:t>Disparador</a:t>
            </a:r>
            <a:r>
              <a:rPr dirty="0"/>
              <a:t> de la </a:t>
            </a:r>
            <a:r>
              <a:rPr dirty="0" err="1"/>
              <a:t>Realidad</a:t>
            </a:r>
            <a:r>
              <a:rPr dirty="0"/>
              <a:t> Laboral</a:t>
            </a:r>
          </a:p>
          <a:p>
            <a:pPr>
              <a:spcBef>
                <a:spcPts val="8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rPr dirty="0"/>
              <a:t>• España </a:t>
            </a:r>
            <a:r>
              <a:rPr dirty="0" err="1"/>
              <a:t>gasta</a:t>
            </a:r>
            <a:r>
              <a:rPr dirty="0"/>
              <a:t> </a:t>
            </a:r>
            <a:r>
              <a:rPr dirty="0" err="1"/>
              <a:t>anualmente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de 25.000 </a:t>
            </a:r>
            <a:r>
              <a:rPr dirty="0" err="1"/>
              <a:t>millones</a:t>
            </a:r>
            <a:r>
              <a:rPr dirty="0"/>
              <a:t> de euros (</a:t>
            </a:r>
            <a:r>
              <a:rPr dirty="0" err="1"/>
              <a:t>cerca</a:t>
            </a:r>
            <a:r>
              <a:rPr dirty="0"/>
              <a:t> del 2,0% del PIB)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políticas</a:t>
            </a:r>
            <a:r>
              <a:rPr dirty="0"/>
              <a:t> de </a:t>
            </a:r>
            <a:r>
              <a:rPr dirty="0" err="1"/>
              <a:t>protección</a:t>
            </a:r>
            <a:r>
              <a:rPr dirty="0"/>
              <a:t> </a:t>
            </a:r>
            <a:r>
              <a:rPr dirty="0" err="1"/>
              <a:t>frente</a:t>
            </a:r>
            <a:r>
              <a:rPr dirty="0"/>
              <a:t> al </a:t>
            </a:r>
            <a:r>
              <a:rPr dirty="0" err="1"/>
              <a:t>desempleo</a:t>
            </a:r>
            <a:r>
              <a:rPr dirty="0"/>
              <a:t>.</a:t>
            </a:r>
          </a:p>
          <a:p>
            <a:pPr>
              <a:spcBef>
                <a:spcPts val="8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rPr dirty="0"/>
              <a:t>• Sin embargo, </a:t>
            </a:r>
            <a:r>
              <a:rPr dirty="0" err="1"/>
              <a:t>tres</a:t>
            </a:r>
            <a:r>
              <a:rPr dirty="0"/>
              <a:t> de </a:t>
            </a:r>
            <a:r>
              <a:rPr dirty="0" err="1"/>
              <a:t>cada</a:t>
            </a:r>
            <a:r>
              <a:rPr dirty="0"/>
              <a:t> cuatro euros (75%) se </a:t>
            </a:r>
            <a:r>
              <a:rPr dirty="0" err="1"/>
              <a:t>destinan</a:t>
            </a:r>
            <a:r>
              <a:rPr dirty="0"/>
              <a:t> a </a:t>
            </a:r>
            <a:r>
              <a:rPr dirty="0" err="1"/>
              <a:t>políticas</a:t>
            </a:r>
            <a:r>
              <a:rPr dirty="0"/>
              <a:t> </a:t>
            </a:r>
            <a:r>
              <a:rPr dirty="0" err="1"/>
              <a:t>pasivas</a:t>
            </a:r>
            <a:r>
              <a:rPr dirty="0"/>
              <a:t>: </a:t>
            </a:r>
            <a:r>
              <a:rPr dirty="0" err="1"/>
              <a:t>pagar</a:t>
            </a:r>
            <a:r>
              <a:rPr dirty="0"/>
              <a:t> </a:t>
            </a:r>
            <a:r>
              <a:rPr dirty="0" err="1"/>
              <a:t>prestaciones</a:t>
            </a:r>
            <a:r>
              <a:rPr dirty="0"/>
              <a:t> para </a:t>
            </a:r>
            <a:r>
              <a:rPr dirty="0" err="1"/>
              <a:t>sostener</a:t>
            </a:r>
            <a:r>
              <a:rPr dirty="0"/>
              <a:t> </a:t>
            </a:r>
            <a:r>
              <a:rPr dirty="0" err="1"/>
              <a:t>rentas</a:t>
            </a:r>
            <a:r>
              <a:rPr dirty="0"/>
              <a:t> </a:t>
            </a:r>
            <a:r>
              <a:rPr dirty="0" err="1"/>
              <a:t>mientras</a:t>
            </a:r>
            <a:r>
              <a:rPr dirty="0"/>
              <a:t> dura el </a:t>
            </a:r>
            <a:r>
              <a:rPr dirty="0" err="1"/>
              <a:t>desempleo</a:t>
            </a:r>
            <a:r>
              <a:rPr dirty="0"/>
              <a:t>.</a:t>
            </a:r>
          </a:p>
          <a:p>
            <a:pPr>
              <a:spcBef>
                <a:spcPts val="8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Apenas</a:t>
            </a:r>
            <a:r>
              <a:rPr dirty="0"/>
              <a:t> el 25% restante se </a:t>
            </a:r>
            <a:r>
              <a:rPr dirty="0" err="1"/>
              <a:t>invierte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políticas</a:t>
            </a:r>
            <a:r>
              <a:rPr dirty="0"/>
              <a:t> </a:t>
            </a:r>
            <a:r>
              <a:rPr dirty="0" err="1"/>
              <a:t>activas</a:t>
            </a:r>
            <a:r>
              <a:rPr dirty="0"/>
              <a:t> (</a:t>
            </a:r>
            <a:r>
              <a:rPr dirty="0" err="1"/>
              <a:t>orientación</a:t>
            </a:r>
            <a:r>
              <a:rPr dirty="0"/>
              <a:t>, </a:t>
            </a:r>
            <a:r>
              <a:rPr dirty="0" err="1"/>
              <a:t>formación</a:t>
            </a:r>
            <a:r>
              <a:rPr dirty="0"/>
              <a:t> </a:t>
            </a:r>
            <a:r>
              <a:rPr dirty="0" err="1"/>
              <a:t>técnica</a:t>
            </a:r>
            <a:r>
              <a:rPr dirty="0"/>
              <a:t> e </a:t>
            </a:r>
            <a:r>
              <a:rPr dirty="0" err="1"/>
              <a:t>intermediación</a:t>
            </a:r>
            <a:r>
              <a:rPr dirty="0"/>
              <a:t>).</a:t>
            </a:r>
          </a:p>
          <a:p>
            <a:pPr>
              <a:spcBef>
                <a:spcPts val="8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Resultado</a:t>
            </a:r>
            <a:r>
              <a:rPr dirty="0"/>
              <a:t>: La ratio de </a:t>
            </a:r>
            <a:r>
              <a:rPr dirty="0" err="1"/>
              <a:t>desempleados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orientador</a:t>
            </a:r>
            <a:r>
              <a:rPr dirty="0"/>
              <a:t> </a:t>
            </a:r>
            <a:r>
              <a:rPr dirty="0" err="1"/>
              <a:t>público</a:t>
            </a:r>
            <a:r>
              <a:rPr dirty="0"/>
              <a:t> </a:t>
            </a:r>
            <a:r>
              <a:rPr dirty="0" err="1"/>
              <a:t>supera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1.500 parados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, y la </a:t>
            </a:r>
            <a:r>
              <a:rPr dirty="0" err="1"/>
              <a:t>tasa</a:t>
            </a:r>
            <a:r>
              <a:rPr dirty="0"/>
              <a:t> de </a:t>
            </a:r>
            <a:r>
              <a:rPr dirty="0" err="1"/>
              <a:t>desempleo</a:t>
            </a:r>
            <a:r>
              <a:rPr dirty="0"/>
              <a:t> (11,3%) </a:t>
            </a:r>
            <a:r>
              <a:rPr dirty="0" err="1"/>
              <a:t>dobla</a:t>
            </a:r>
            <a:r>
              <a:rPr dirty="0"/>
              <a:t> la media </a:t>
            </a:r>
            <a:r>
              <a:rPr dirty="0" err="1"/>
              <a:t>europea</a:t>
            </a:r>
            <a:r>
              <a:rPr dirty="0"/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645920"/>
            <a:ext cx="4937760" cy="466344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defRPr sz="1800" b="1">
                <a:solidFill>
                  <a:srgbClr val="113927"/>
                </a:solidFill>
                <a:latin typeface="Outfit"/>
              </a:defRPr>
            </a:pPr>
            <a:r>
              <a:rPr sz="1500" dirty="0"/>
              <a:t>El Enigma Económico </a:t>
            </a:r>
            <a:r>
              <a:rPr sz="1500" dirty="0" err="1"/>
              <a:t>Inicial</a:t>
            </a:r>
            <a:endParaRPr sz="1500" dirty="0"/>
          </a:p>
          <a:p>
            <a:pPr>
              <a:spcBef>
                <a:spcPts val="8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rPr sz="1500" dirty="0"/>
              <a:t>• ¿Por </a:t>
            </a:r>
            <a:r>
              <a:rPr sz="1500" dirty="0" err="1"/>
              <a:t>qué</a:t>
            </a:r>
            <a:r>
              <a:rPr sz="1500" dirty="0"/>
              <a:t> el Estado </a:t>
            </a:r>
            <a:r>
              <a:rPr sz="1500" dirty="0" err="1"/>
              <a:t>prefiere</a:t>
            </a:r>
            <a:r>
              <a:rPr sz="1500" dirty="0"/>
              <a:t> «</a:t>
            </a:r>
            <a:r>
              <a:rPr sz="1500" dirty="0" err="1"/>
              <a:t>pagar</a:t>
            </a:r>
            <a:r>
              <a:rPr sz="1500" dirty="0"/>
              <a:t> </a:t>
            </a:r>
            <a:r>
              <a:rPr sz="1500" dirty="0" err="1"/>
              <a:t>por</a:t>
            </a:r>
            <a:r>
              <a:rPr sz="1500" dirty="0"/>
              <a:t> </a:t>
            </a:r>
            <a:r>
              <a:rPr sz="1500" dirty="0" err="1"/>
              <a:t>estar</a:t>
            </a:r>
            <a:r>
              <a:rPr sz="1500" dirty="0"/>
              <a:t> </a:t>
            </a:r>
            <a:r>
              <a:rPr sz="1500" dirty="0" err="1"/>
              <a:t>parado</a:t>
            </a:r>
            <a:r>
              <a:rPr sz="1500" dirty="0"/>
              <a:t>» antes </a:t>
            </a:r>
            <a:r>
              <a:rPr sz="1500" dirty="0" err="1"/>
              <a:t>que</a:t>
            </a:r>
            <a:r>
              <a:rPr sz="1500" dirty="0"/>
              <a:t> «</a:t>
            </a:r>
            <a:r>
              <a:rPr sz="1500" dirty="0" err="1"/>
              <a:t>invertir</a:t>
            </a:r>
            <a:r>
              <a:rPr sz="1500" dirty="0"/>
              <a:t> </a:t>
            </a:r>
            <a:r>
              <a:rPr sz="1500" dirty="0" err="1"/>
              <a:t>en</a:t>
            </a:r>
            <a:r>
              <a:rPr sz="1500" dirty="0"/>
              <a:t> </a:t>
            </a:r>
            <a:r>
              <a:rPr sz="1500" dirty="0" err="1"/>
              <a:t>volver</a:t>
            </a:r>
            <a:r>
              <a:rPr sz="1500" dirty="0"/>
              <a:t> al </a:t>
            </a:r>
            <a:r>
              <a:rPr sz="1500" dirty="0" err="1"/>
              <a:t>empleo</a:t>
            </a:r>
            <a:r>
              <a:rPr sz="1500" dirty="0"/>
              <a:t>»?</a:t>
            </a:r>
          </a:p>
          <a:p>
            <a:pPr>
              <a:spcBef>
                <a:spcPts val="8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rPr sz="1500" dirty="0"/>
              <a:t>• ¿</a:t>
            </a:r>
            <a:r>
              <a:rPr sz="1500" dirty="0" err="1"/>
              <a:t>Qué</a:t>
            </a:r>
            <a:r>
              <a:rPr sz="1500" dirty="0"/>
              <a:t> </a:t>
            </a:r>
            <a:r>
              <a:rPr sz="1500" dirty="0" err="1"/>
              <a:t>ocurriría</a:t>
            </a:r>
            <a:r>
              <a:rPr sz="1500" dirty="0"/>
              <a:t> </a:t>
            </a:r>
            <a:r>
              <a:rPr sz="1500" dirty="0" err="1"/>
              <a:t>si</a:t>
            </a:r>
            <a:r>
              <a:rPr sz="1500" dirty="0"/>
              <a:t> </a:t>
            </a:r>
            <a:r>
              <a:rPr sz="1500" dirty="0" err="1"/>
              <a:t>trasladáramos</a:t>
            </a:r>
            <a:r>
              <a:rPr sz="1500" dirty="0"/>
              <a:t> 5.000 M€ de </a:t>
            </a:r>
            <a:r>
              <a:rPr sz="1500" dirty="0" err="1"/>
              <a:t>prestaciones</a:t>
            </a:r>
            <a:r>
              <a:rPr sz="1500" dirty="0"/>
              <a:t> </a:t>
            </a:r>
            <a:r>
              <a:rPr sz="1500" dirty="0" err="1"/>
              <a:t>pasivas</a:t>
            </a:r>
            <a:r>
              <a:rPr sz="1500" dirty="0"/>
              <a:t> a </a:t>
            </a:r>
            <a:r>
              <a:rPr sz="1500" dirty="0" err="1"/>
              <a:t>subvencionar</a:t>
            </a:r>
            <a:r>
              <a:rPr sz="1500" dirty="0"/>
              <a:t> </a:t>
            </a:r>
            <a:r>
              <a:rPr sz="1500" dirty="0" err="1"/>
              <a:t>contratos</a:t>
            </a:r>
            <a:r>
              <a:rPr sz="1500" dirty="0"/>
              <a:t> de </a:t>
            </a:r>
            <a:r>
              <a:rPr sz="1500" dirty="0" err="1"/>
              <a:t>empresas</a:t>
            </a:r>
            <a:r>
              <a:rPr sz="1500" dirty="0"/>
              <a:t>? ¿</a:t>
            </a:r>
            <a:r>
              <a:rPr sz="1500" dirty="0" err="1"/>
              <a:t>Generaría</a:t>
            </a:r>
            <a:r>
              <a:rPr sz="1500" dirty="0"/>
              <a:t> </a:t>
            </a:r>
            <a:r>
              <a:rPr sz="1500" dirty="0" err="1"/>
              <a:t>empleo</a:t>
            </a:r>
            <a:r>
              <a:rPr sz="1500" dirty="0"/>
              <a:t> </a:t>
            </a:r>
            <a:r>
              <a:rPr sz="1500" dirty="0" err="1"/>
              <a:t>neto</a:t>
            </a:r>
            <a:r>
              <a:rPr sz="1500" dirty="0"/>
              <a:t> o </a:t>
            </a:r>
            <a:r>
              <a:rPr sz="1500" dirty="0" err="1"/>
              <a:t>caería</a:t>
            </a:r>
            <a:r>
              <a:rPr sz="1500" dirty="0"/>
              <a:t> </a:t>
            </a:r>
            <a:r>
              <a:rPr sz="1500" dirty="0" err="1"/>
              <a:t>en</a:t>
            </a:r>
            <a:r>
              <a:rPr sz="1500" dirty="0"/>
              <a:t> la </a:t>
            </a:r>
            <a:r>
              <a:rPr sz="1500" dirty="0" err="1"/>
              <a:t>trampa</a:t>
            </a:r>
            <a:r>
              <a:rPr sz="1500" dirty="0"/>
              <a:t> del peso </a:t>
            </a:r>
            <a:r>
              <a:rPr sz="1500" dirty="0" err="1"/>
              <a:t>muerto</a:t>
            </a:r>
            <a:r>
              <a:rPr sz="1500" dirty="0"/>
              <a:t>?</a:t>
            </a:r>
          </a:p>
          <a:p>
            <a:pPr>
              <a:spcBef>
                <a:spcPts val="8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rPr sz="1500" dirty="0"/>
              <a:t>• En </a:t>
            </a:r>
            <a:r>
              <a:rPr sz="1500" dirty="0" err="1"/>
              <a:t>países</a:t>
            </a:r>
            <a:r>
              <a:rPr sz="1500" dirty="0"/>
              <a:t> </a:t>
            </a:r>
            <a:r>
              <a:rPr sz="1500" dirty="0" err="1"/>
              <a:t>como</a:t>
            </a:r>
            <a:r>
              <a:rPr sz="1500" dirty="0"/>
              <a:t> Dinamarca o </a:t>
            </a:r>
            <a:r>
              <a:rPr sz="1500" dirty="0" err="1"/>
              <a:t>Países</a:t>
            </a:r>
            <a:r>
              <a:rPr sz="1500" dirty="0"/>
              <a:t> Bajos, las </a:t>
            </a:r>
            <a:r>
              <a:rPr sz="1500" dirty="0" err="1"/>
              <a:t>políticas</a:t>
            </a:r>
            <a:r>
              <a:rPr sz="1500" dirty="0"/>
              <a:t> </a:t>
            </a:r>
            <a:r>
              <a:rPr sz="1500" dirty="0" err="1"/>
              <a:t>activas</a:t>
            </a:r>
            <a:r>
              <a:rPr sz="1500" dirty="0"/>
              <a:t> </a:t>
            </a:r>
            <a:r>
              <a:rPr sz="1500" dirty="0" err="1"/>
              <a:t>absorben</a:t>
            </a:r>
            <a:r>
              <a:rPr sz="1500" dirty="0"/>
              <a:t> </a:t>
            </a:r>
            <a:r>
              <a:rPr sz="1500" dirty="0" err="1"/>
              <a:t>más</a:t>
            </a:r>
            <a:r>
              <a:rPr sz="1500" dirty="0"/>
              <a:t> del 60% del </a:t>
            </a:r>
            <a:r>
              <a:rPr sz="1500" dirty="0" err="1"/>
              <a:t>gasto</a:t>
            </a:r>
            <a:r>
              <a:rPr sz="1500" dirty="0"/>
              <a:t> total, </a:t>
            </a:r>
            <a:r>
              <a:rPr sz="1500" dirty="0" err="1"/>
              <a:t>logrando</a:t>
            </a:r>
            <a:r>
              <a:rPr sz="1500" dirty="0"/>
              <a:t> </a:t>
            </a:r>
            <a:r>
              <a:rPr sz="1500" dirty="0" err="1"/>
              <a:t>tasas</a:t>
            </a:r>
            <a:r>
              <a:rPr sz="1500" dirty="0"/>
              <a:t> de </a:t>
            </a:r>
            <a:r>
              <a:rPr sz="1500" dirty="0" err="1"/>
              <a:t>paro</a:t>
            </a:r>
            <a:r>
              <a:rPr sz="1500" dirty="0"/>
              <a:t> </a:t>
            </a:r>
            <a:r>
              <a:rPr sz="1500" dirty="0" err="1"/>
              <a:t>estructural</a:t>
            </a:r>
            <a:r>
              <a:rPr sz="1500" dirty="0"/>
              <a:t> </a:t>
            </a:r>
            <a:r>
              <a:rPr sz="1500" dirty="0" err="1"/>
              <a:t>inferiores</a:t>
            </a:r>
            <a:r>
              <a:rPr sz="1500" dirty="0"/>
              <a:t> al 5%.</a:t>
            </a:r>
          </a:p>
          <a:p>
            <a:pPr>
              <a:spcBef>
                <a:spcPts val="8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rPr sz="1500" dirty="0"/>
              <a:t>• ¿</a:t>
            </a:r>
            <a:r>
              <a:rPr sz="1500" dirty="0" err="1"/>
              <a:t>Cómo</a:t>
            </a:r>
            <a:r>
              <a:rPr sz="1500" dirty="0"/>
              <a:t> </a:t>
            </a:r>
            <a:r>
              <a:rPr sz="1500" dirty="0" err="1"/>
              <a:t>actúa</a:t>
            </a:r>
            <a:r>
              <a:rPr sz="1500" dirty="0"/>
              <a:t> la </a:t>
            </a:r>
            <a:r>
              <a:rPr sz="1500" dirty="0" err="1"/>
              <a:t>inversión</a:t>
            </a:r>
            <a:r>
              <a:rPr sz="1500" dirty="0"/>
              <a:t> </a:t>
            </a:r>
            <a:r>
              <a:rPr sz="1500" dirty="0" err="1"/>
              <a:t>en</a:t>
            </a:r>
            <a:r>
              <a:rPr sz="1500" dirty="0"/>
              <a:t> </a:t>
            </a:r>
            <a:r>
              <a:rPr sz="1500" dirty="0" err="1"/>
              <a:t>intermediación</a:t>
            </a:r>
            <a:r>
              <a:rPr sz="1500" dirty="0"/>
              <a:t> </a:t>
            </a:r>
            <a:r>
              <a:rPr sz="1500" dirty="0" err="1"/>
              <a:t>sobre</a:t>
            </a:r>
            <a:r>
              <a:rPr sz="1500" dirty="0"/>
              <a:t> la Curva de Beveridge? ¿Por </a:t>
            </a:r>
            <a:r>
              <a:rPr sz="1500" dirty="0" err="1"/>
              <a:t>qué</a:t>
            </a:r>
            <a:r>
              <a:rPr sz="1500" dirty="0"/>
              <a:t> es la </a:t>
            </a:r>
            <a:r>
              <a:rPr sz="1500" dirty="0" err="1"/>
              <a:t>única</a:t>
            </a:r>
            <a:r>
              <a:rPr sz="1500" dirty="0"/>
              <a:t> </a:t>
            </a:r>
            <a:r>
              <a:rPr sz="1500" dirty="0" err="1"/>
              <a:t>vía</a:t>
            </a:r>
            <a:r>
              <a:rPr sz="1500" dirty="0"/>
              <a:t> para </a:t>
            </a:r>
            <a:r>
              <a:rPr sz="1500" dirty="0" err="1"/>
              <a:t>reducir</a:t>
            </a:r>
            <a:r>
              <a:rPr sz="1500" dirty="0"/>
              <a:t> la NAIRU de forma </a:t>
            </a:r>
            <a:r>
              <a:rPr sz="1500" dirty="0" err="1"/>
              <a:t>permanente</a:t>
            </a:r>
            <a:r>
              <a:rPr sz="1500" dirty="0"/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POLÍTICAS SOCIOLABORALES Y DE EMPLEO · TEMA 2 (I)</a:t>
            </a:r>
          </a:p>
          <a:p>
            <a:pPr>
              <a:spcBef>
                <a:spcPts val="300"/>
              </a:spcBef>
              <a:defRPr sz="2600" b="1">
                <a:solidFill>
                  <a:srgbClr val="113927"/>
                </a:solidFill>
                <a:latin typeface="Outfit"/>
              </a:defRPr>
            </a:pPr>
            <a:r>
              <a:t>Sondeo Previo en Directo: ¿Cómo Invertirías 2.000 M€?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769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7132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defRPr sz="1800" b="1">
                <a:solidFill>
                  <a:srgbClr val="113927"/>
                </a:solidFill>
                <a:latin typeface="Outfit"/>
              </a:defRPr>
            </a:pPr>
            <a:r>
              <a:t>El Dilema del Ministro/a de Trabajo</a:t>
            </a:r>
          </a:p>
          <a:p>
            <a:pPr>
              <a:spcBef>
                <a:spcPts val="600"/>
              </a:spcBef>
              <a:defRPr sz="1600" i="1">
                <a:solidFill>
                  <a:srgbClr val="2F3A30"/>
                </a:solidFill>
                <a:latin typeface="Calibri"/>
              </a:defRPr>
            </a:pPr>
            <a:r>
              <a:t>«Dispones de 2.000 M€ extraordinarios para reducir el paro juvenil y de larga duración. ¿Cuál de estas 4 medidas generará mayor empleo neto real?»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A) 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B) 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C) 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D)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645920"/>
            <a:ext cx="3291840" cy="466344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74320" rIns="182880" rtlCol="0" anchor="ctr"/>
          <a:lstStyle/>
          <a:p>
            <a:pPr algn="ctr">
              <a:defRPr sz="1800" b="1">
                <a:solidFill>
                  <a:srgbClr val="E98F71"/>
                </a:solidFill>
                <a:latin typeface="Outfit"/>
              </a:defRPr>
            </a:pPr>
            <a:r>
              <a:t>Vota desde tu móvil</a:t>
            </a:r>
          </a:p>
        </p:txBody>
      </p:sp>
      <p:pic>
        <p:nvPicPr>
          <p:cNvPr id="6" name="Picture 5" descr="qr_sondeo_sesion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377440"/>
            <a:ext cx="2560320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60" y="512064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113927"/>
                </a:solidFill>
                <a:latin typeface="Calibri"/>
              </a:defRPr>
            </a:pPr>
            <a:r>
              <a:t>Escanea el código QR</a:t>
            </a:r>
            <a:br/>
            <a:r>
              <a:t>Sondeo anónimo y formativo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POLÍTICAS SOCIOLABORALES Y DE EMPLEO · TEMA 2 (I)</a:t>
            </a:r>
          </a:p>
          <a:p>
            <a:pPr>
              <a:spcBef>
                <a:spcPts val="300"/>
              </a:spcBef>
              <a:defRPr sz="2600" b="1">
                <a:solidFill>
                  <a:srgbClr val="113927"/>
                </a:solidFill>
                <a:latin typeface="Outfit"/>
              </a:defRPr>
            </a:pPr>
            <a:r>
              <a:t>Fase 2 · ¿Qué son las Políticas Activas de Empleo? (§1.1)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769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164592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800" b="1">
                <a:solidFill>
                  <a:srgbClr val="113927"/>
                </a:solidFill>
                <a:latin typeface="Outfit"/>
              </a:defRPr>
            </a:pPr>
            <a:r>
              <a:t>Definición Formal de las Políticas Activas de Empleo (PAE)</a:t>
            </a:r>
          </a:p>
          <a:p>
            <a:pPr>
              <a:spcBef>
                <a:spcPts val="6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t>Conjunto articulado de intervenciones públicas en el mercado de trabajo destinadas a mejorar la empleabilidad de los trabajadores, facilitar la intermediación laboral, estimular la creación de puestos estables y corregir los desajustes estructurales entre la oferta y la demanda de mano de obra.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2542032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600" b="1">
                <a:solidFill>
                  <a:srgbClr val="113927"/>
                </a:solidFill>
                <a:latin typeface="Outfit"/>
              </a:defRPr>
            </a:pPr>
            <a:r>
              <a:t>1. Empleabilidad</a:t>
            </a:r>
          </a:p>
          <a:p>
            <a:pPr>
              <a:spcBef>
                <a:spcPts val="6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t>Formación y capacitación técnica para dotar a los trabajadores de cualificaciones demandadas por las empresas.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3474720"/>
            <a:ext cx="2542032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600" b="1">
                <a:solidFill>
                  <a:srgbClr val="113927"/>
                </a:solidFill>
                <a:latin typeface="Outfit"/>
              </a:defRPr>
            </a:pPr>
            <a:r>
              <a:t>2. Inserción Laboral</a:t>
            </a:r>
          </a:p>
          <a:p>
            <a:pPr>
              <a:spcBef>
                <a:spcPts val="6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t>Servicios de orientación, perfilado de demandantes y acompañamiento personalizado para reducir los tiempos de búsqueda.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3474720"/>
            <a:ext cx="2542032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600" b="1">
                <a:solidFill>
                  <a:srgbClr val="113927"/>
                </a:solidFill>
                <a:latin typeface="Outfit"/>
              </a:defRPr>
            </a:pPr>
            <a:r>
              <a:t>3. Creación de Empleo</a:t>
            </a:r>
          </a:p>
          <a:p>
            <a:pPr>
              <a:spcBef>
                <a:spcPts val="6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t>Incentivos selectivos a la contratación indefinida y apoyo técnico y financiero al autoempleo y emprendimiento.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3474720"/>
            <a:ext cx="2542032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600" b="1">
                <a:solidFill>
                  <a:srgbClr val="113927"/>
                </a:solidFill>
                <a:latin typeface="Outfit"/>
              </a:defRPr>
            </a:pPr>
            <a:r>
              <a:t>4. Equidad y Colectivos</a:t>
            </a:r>
          </a:p>
          <a:p>
            <a:pPr>
              <a:spcBef>
                <a:spcPts val="6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t>Atención prioritaria a grupos vulnerables con barreras estructurales (jóvenes, parados de larga duración, mayores de 45/52 años).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POLÍTICAS SOCIOLABORALES Y DE EMPLEO · TEMA 2 (I)</a:t>
            </a:r>
          </a:p>
          <a:p>
            <a:pPr>
              <a:spcBef>
                <a:spcPts val="300"/>
              </a:spcBef>
              <a:defRPr sz="2600" b="1">
                <a:solidFill>
                  <a:srgbClr val="113927"/>
                </a:solidFill>
                <a:latin typeface="Outfit"/>
              </a:defRPr>
            </a:pPr>
            <a:r>
              <a:t>Frontera Analítica: Políticas Activas vs. Pasivas (§1.2)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769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6205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Outfit"/>
                        </a:defRPr>
                      </a:pPr>
                      <a:r>
                        <a:t>Criterio de Comparación</a:t>
                      </a:r>
                    </a:p>
                  </a:txBody>
                  <a:tcPr>
                    <a:solidFill>
                      <a:srgbClr val="1139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Outfit"/>
                        </a:defRPr>
                      </a:pPr>
                      <a:r>
                        <a:t>Políticas Pasivas (Protección)</a:t>
                      </a:r>
                    </a:p>
                  </a:txBody>
                  <a:tcPr>
                    <a:solidFill>
                      <a:srgbClr val="1139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Outfit"/>
                        </a:defRPr>
                      </a:pPr>
                      <a:r>
                        <a:t>Políticas Activas (Activación)</a:t>
                      </a:r>
                    </a:p>
                  </a:txBody>
                  <a:tcPr>
                    <a:solidFill>
                      <a:srgbClr val="1139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205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13927"/>
                          </a:solidFill>
                          <a:latin typeface="Calibri"/>
                        </a:defRPr>
                      </a:pPr>
                      <a:r>
                        <a:t>1. Objetivo Principal</a:t>
                      </a:r>
                    </a:p>
                  </a:txBody>
                  <a:tcPr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F3A30"/>
                          </a:solidFill>
                          <a:latin typeface="Calibri"/>
                        </a:defRPr>
                      </a:pPr>
                      <a:r>
                        <a:t>Protección económica y sostenimiento temporal de la renta del desempleado.</a:t>
                      </a:r>
                    </a:p>
                  </a:txBody>
                  <a:tcPr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F3A30"/>
                          </a:solidFill>
                          <a:latin typeface="Calibri"/>
                        </a:defRPr>
                      </a:pPr>
                      <a:r>
                        <a:t>Aumento de la empleabilidad y retorno efectivo al puesto de trabajo.</a:t>
                      </a:r>
                    </a:p>
                  </a:txBody>
                  <a:tcPr>
                    <a:solidFill>
                      <a:srgbClr val="F4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205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13927"/>
                          </a:solidFill>
                          <a:latin typeface="Calibri"/>
                        </a:defRPr>
                      </a:pPr>
                      <a:r>
                        <a:t>2. Naturaleza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F3A30"/>
                          </a:solidFill>
                          <a:latin typeface="Calibri"/>
                        </a:defRPr>
                      </a:pPr>
                      <a:r>
                        <a:t>Compensatoria / asistencial ex-post tras perder el empleo.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F3A30"/>
                          </a:solidFill>
                          <a:latin typeface="Calibri"/>
                        </a:defRPr>
                      </a:pPr>
                      <a:r>
                        <a:t>Preventiva, capacitadora y estructural sobre la oferta de trabajo.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205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13927"/>
                          </a:solidFill>
                          <a:latin typeface="Calibri"/>
                        </a:defRPr>
                      </a:pPr>
                      <a:r>
                        <a:t>3. Condición de Cobro</a:t>
                      </a:r>
                    </a:p>
                  </a:txBody>
                  <a:tcPr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F3A30"/>
                          </a:solidFill>
                          <a:latin typeface="Calibri"/>
                        </a:defRPr>
                      </a:pPr>
                      <a:r>
                        <a:t>Estar en desempleo y acreditar cotizaciones previas o carencia de rentas.</a:t>
                      </a:r>
                    </a:p>
                  </a:txBody>
                  <a:tcPr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F3A30"/>
                          </a:solidFill>
                          <a:latin typeface="Calibri"/>
                        </a:defRPr>
                      </a:pPr>
                      <a:r>
                        <a:t>Participación obligatoria en itinerarios de inserción y formación.</a:t>
                      </a:r>
                    </a:p>
                  </a:txBody>
                  <a:tcPr>
                    <a:solidFill>
                      <a:srgbClr val="F4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205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13927"/>
                          </a:solidFill>
                          <a:latin typeface="Calibri"/>
                        </a:defRPr>
                      </a:pPr>
                      <a:r>
                        <a:t>4. Efecto en Incentivos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F3A30"/>
                          </a:solidFill>
                          <a:latin typeface="Calibri"/>
                        </a:defRPr>
                      </a:pPr>
                      <a:r>
                        <a:t>Posible riesgo moral o trampa de inactividad por desincentivo a la búsqueda.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F3A30"/>
                          </a:solidFill>
                          <a:latin typeface="Calibri"/>
                        </a:defRPr>
                      </a:pPr>
                      <a:r>
                        <a:t>Reducción activa de los tiempos de búsqueda y activación laboral.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6205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13927"/>
                          </a:solidFill>
                          <a:latin typeface="Calibri"/>
                        </a:defRPr>
                      </a:pPr>
                      <a:r>
                        <a:t>5. Impacto Presupuestario</a:t>
                      </a:r>
                    </a:p>
                  </a:txBody>
                  <a:tcPr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F3A30"/>
                          </a:solidFill>
                          <a:latin typeface="Calibri"/>
                        </a:defRPr>
                      </a:pPr>
                      <a:r>
                        <a:t>Gasto rígido procíclico (a más paro, mayor consumo presupuestario).</a:t>
                      </a:r>
                    </a:p>
                  </a:txBody>
                  <a:tcPr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F3A30"/>
                          </a:solidFill>
                          <a:latin typeface="Calibri"/>
                        </a:defRPr>
                      </a:pPr>
                      <a:r>
                        <a:t>Inversión social estratégica con retorno fiscal positivo a medio plazo.</a:t>
                      </a:r>
                    </a:p>
                  </a:txBody>
                  <a:tcPr>
                    <a:solidFill>
                      <a:srgbClr val="F4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621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13927"/>
                          </a:solidFill>
                          <a:latin typeface="Calibri"/>
                        </a:defRPr>
                      </a:pPr>
                      <a:r>
                        <a:t>6. Horizonte Temporal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F3A30"/>
                          </a:solidFill>
                          <a:latin typeface="Calibri"/>
                        </a:defRPr>
                      </a:pPr>
                      <a:r>
                        <a:t>Corto plazo (subsistencia mientras se busca empleo).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F3A30"/>
                          </a:solidFill>
                          <a:latin typeface="Calibri"/>
                        </a:defRPr>
                      </a:pPr>
                      <a:r>
                        <a:t>Medio y largo plazo (acumulación de capital humano y caída de la NAIRU).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POLÍTICAS SOCIOLABORALES Y DE EMPLEO · TEMA 2 (I)</a:t>
            </a:r>
          </a:p>
          <a:p>
            <a:pPr>
              <a:spcBef>
                <a:spcPts val="300"/>
              </a:spcBef>
              <a:defRPr sz="2600" b="1">
                <a:solidFill>
                  <a:srgbClr val="113927"/>
                </a:solidFill>
                <a:latin typeface="Outfit"/>
              </a:defRPr>
            </a:pPr>
            <a:r>
              <a:t>Las PAE Vistas desde la Curva de Beveridge (§1.4)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769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defRPr sz="1800" b="1">
                <a:solidFill>
                  <a:srgbClr val="113927"/>
                </a:solidFill>
                <a:latin typeface="Outfit"/>
              </a:defRPr>
            </a:pPr>
            <a:r>
              <a:t>La Función de Emparejamiento y el Parámetro A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E98F71"/>
                </a:solidFill>
                <a:latin typeface="Outfit"/>
              </a:defRPr>
            </a:pPr>
            <a:r>
              <a:t>m = A · U^α · V^(1-α)</a:t>
            </a:r>
          </a:p>
          <a:p>
            <a:pPr>
              <a:spcBef>
                <a:spcPts val="6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t>• A representa la eficiencia tecnológica e institucional del emparejamiento entre desempleados (U) y vacantes (V).</a:t>
            </a:r>
          </a:p>
          <a:p>
            <a:pPr>
              <a:spcBef>
                <a:spcPts val="6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t>• Las políticas de demanda (gasto público tradicional) solo provocan movimientos a lo largo de la curva: más vacantes pero a costa de inflación.</a:t>
            </a:r>
          </a:p>
          <a:p>
            <a:pPr>
              <a:spcBef>
                <a:spcPts val="6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t>• Las Políticas Activas de Oferta (orientación y formación) aumentan el parámetro de eficiencia: A ↑.</a:t>
            </a:r>
          </a:p>
          <a:p>
            <a:pPr>
              <a:spcBef>
                <a:spcPts val="6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t>• Consecuencia geométrica: La Curva de Beveridge se desplaza hacia el origen, logrando menor desempleo u para el mismo volumen de vacantes v.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45920"/>
            <a:ext cx="5150815" cy="466344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defRPr sz="1800" b="1">
                <a:solidFill>
                  <a:srgbClr val="113927"/>
                </a:solidFill>
                <a:latin typeface="Outfit"/>
              </a:defRPr>
            </a:pPr>
            <a:r>
              <a:t>¿Cómo Reducir la NAIRU sin Inflación?</a:t>
            </a:r>
          </a:p>
          <a:p>
            <a:pPr>
              <a:spcBef>
                <a:spcPts val="8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t>• Recordatorio de la Sesión 4: La tasa natural de desempleo viene dada por u_n = u_friccional + u_estructural.</a:t>
            </a:r>
          </a:p>
          <a:p>
            <a:pPr>
              <a:spcBef>
                <a:spcPts val="8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t>• 1. Orientación e Intermediación Laboral: Reduce las asimetrías de información y los costes de búsqueda → reduce el paro friccional.</a:t>
            </a:r>
          </a:p>
          <a:p>
            <a:pPr>
              <a:spcBef>
                <a:spcPts val="8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t>• 2. Formación Profesional y Reskilling: Corrige el desajuste de habilidades (skills mismatch) → reduce el paro estructural.</a:t>
            </a:r>
          </a:p>
          <a:p>
            <a:pPr>
              <a:spcBef>
                <a:spcPts val="8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t>• 3. Resultado macroeconómico formal: El desempleo de equilibrio u* cae de forma permanente sin generar tensiones salariales ni aceleración inflacionista.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POLÍTICAS SOCIOLABORALES Y DE EMPLEO · TEMA 2 (I)</a:t>
            </a:r>
          </a:p>
          <a:p>
            <a:pPr>
              <a:spcBef>
                <a:spcPts val="300"/>
              </a:spcBef>
              <a:defRPr sz="2600" b="1">
                <a:solidFill>
                  <a:srgbClr val="113927"/>
                </a:solidFill>
                <a:latin typeface="Outfit"/>
              </a:defRPr>
            </a:pPr>
            <a:r>
              <a:t>Fase 3 · Los 5 Grandes Pilares de las PAE (§3.1 – §3.5)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769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600" b="1">
                <a:solidFill>
                  <a:srgbClr val="113927"/>
                </a:solidFill>
                <a:latin typeface="Outfit"/>
              </a:defRPr>
            </a:pPr>
            <a:r>
              <a:t>1. Orientación e Intermediación (§3.1)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Servicios públicos y agencias de colocación. Entrevistas diagnósticas, perfilado algorítmico (profiling), prospección activa de vacantes y reducción del paro friccional.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78608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600" b="1">
                <a:solidFill>
                  <a:srgbClr val="113927"/>
                </a:solidFill>
                <a:latin typeface="Outfit"/>
              </a:defRPr>
            </a:pPr>
            <a:r>
              <a:t>2. Formación Profesional para el Empleo (§3.2)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Formación de oferta (certificados de profesionalidad) y de demanda en empresas. Clave para el reskilling (recualificación técnica) frente al desajuste estructural.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11296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600" b="1">
                <a:solidFill>
                  <a:srgbClr val="113927"/>
                </a:solidFill>
                <a:latin typeface="Outfit"/>
              </a:defRPr>
            </a:pPr>
            <a:r>
              <a:t>3. Incentivos a la Contratación (§3.3)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Bonificaciones en cotizaciones y subvenciones directas a contratos indefinidos. Estimulan la contratación pero generan elevado riesgo de peso muerto y sustitución.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443984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600" b="1">
                <a:solidFill>
                  <a:srgbClr val="113927"/>
                </a:solidFill>
                <a:latin typeface="Outfit"/>
              </a:defRPr>
            </a:pPr>
            <a:r>
              <a:t>4. Fomento del Autoempleo y Emprendimiento (§3.4)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Capitalización de la prestación por desempleo (pago único al 100%), tarifa plana de cotización y asesoramiento técnico a proyectos viables.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76672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600" b="1">
                <a:solidFill>
                  <a:srgbClr val="113927"/>
                </a:solidFill>
                <a:latin typeface="Outfit"/>
              </a:defRPr>
            </a:pPr>
            <a:r>
              <a:t>5. Creación Directa de Empleo Público (§3.5)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Planes de empleo municipal y obras comunitarias. Alivio temporal a corto plazo pero con nulo impacto en capital humano y riesgo de efecto estigma.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POLÍTICAS SOCIOLABORALES Y DE EMPLEO · TEMA 2 (I)</a:t>
            </a:r>
          </a:p>
          <a:p>
            <a:pPr>
              <a:spcBef>
                <a:spcPts val="300"/>
              </a:spcBef>
              <a:defRPr sz="2600" b="1">
                <a:solidFill>
                  <a:srgbClr val="113927"/>
                </a:solidFill>
                <a:latin typeface="Outfit"/>
              </a:defRPr>
            </a:pPr>
            <a:r>
              <a:t>Efectos No Deseados en los Incentivos a la Contratación (§4.4)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769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66344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700" b="1">
                <a:solidFill>
                  <a:srgbClr val="113927"/>
                </a:solidFill>
                <a:latin typeface="Outfit"/>
              </a:defRPr>
            </a:pPr>
            <a:r>
              <a:t>Efecto Peso Muerto (Deadweight Loss)</a:t>
            </a:r>
          </a:p>
          <a:p>
            <a:pPr>
              <a:spcBef>
                <a:spcPts val="10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t>Se produce cuando la subvención pública financia una contratación que la empresa habría formalizado exactamente igual sin la ayuda económica.</a:t>
            </a:r>
          </a:p>
          <a:p>
            <a:pPr>
              <a:spcBef>
                <a:spcPts val="1000"/>
              </a:spcBef>
              <a:defRPr sz="1600" b="1">
                <a:solidFill>
                  <a:srgbClr val="113927"/>
                </a:solidFill>
                <a:latin typeface="Calibri"/>
              </a:defRPr>
            </a:pPr>
            <a:r>
              <a:t>Evidencia empírica (AIReF y OCDE): Entre el 60% y el 80% del gasto en bonificaciones genéricas a contratos indefinidos es peso muerto puro.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79976" y="1645920"/>
            <a:ext cx="342900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700" b="1">
                <a:solidFill>
                  <a:srgbClr val="76927A"/>
                </a:solidFill>
                <a:latin typeface="Outfit"/>
              </a:defRPr>
            </a:pPr>
            <a:r>
              <a:t>Efecto Sustitución</a:t>
            </a:r>
          </a:p>
          <a:p>
            <a:pPr>
              <a:spcBef>
                <a:spcPts val="10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t>La empresa decide contratar a un trabajador que cumple los requisitos de la subvención despidiendo o no renovando a otro empleado que no genera bonificación.</a:t>
            </a:r>
          </a:p>
          <a:p>
            <a:pPr>
              <a:spcBef>
                <a:spcPts val="1000"/>
              </a:spcBef>
              <a:defRPr sz="1600" b="0">
                <a:solidFill>
                  <a:srgbClr val="2F3A30"/>
                </a:solidFill>
                <a:latin typeface="Calibri"/>
              </a:defRPr>
            </a:pPr>
            <a:r>
              <a:t>Resultado neto nulo: Se cambia el rostro del desempleado pero no se crea ningún puesto de trabajo adicional en la economía.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28432" y="1645920"/>
            <a:ext cx="342900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700" b="1">
                <a:solidFill>
                  <a:srgbClr val="E98F71"/>
                </a:solidFill>
                <a:latin typeface="Outfit"/>
              </a:defRPr>
            </a:pPr>
            <a:r>
              <a:t>Efecto Desplazamiento y Estigma</a:t>
            </a:r>
          </a:p>
          <a:p>
            <a:pPr>
              <a:spcBef>
                <a:spcPts val="1000"/>
              </a:spcBef>
              <a:defRPr sz="1600">
                <a:solidFill>
                  <a:srgbClr val="2F3A30"/>
                </a:solidFill>
                <a:latin typeface="Calibri"/>
              </a:defRPr>
            </a:pPr>
            <a:r>
              <a:t>Las empresas subvencionadas compiten con ventaja artificial frente a empresas eficientes no subvencionadas, destruyendo empleo en estas últimas.</a:t>
            </a:r>
          </a:p>
          <a:p>
            <a:pPr>
              <a:spcBef>
                <a:spcPts val="1000"/>
              </a:spcBef>
              <a:defRPr sz="1600" b="0">
                <a:solidFill>
                  <a:srgbClr val="2F3A30"/>
                </a:solidFill>
                <a:latin typeface="Calibri"/>
              </a:defRPr>
            </a:pPr>
            <a:r>
              <a:t>Efecto Estigma: El empleador percibe que el parado subvencionado es de menor productividad porque el Estado tiene que pagar para que lo contraten.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POLÍTICAS SOCIOLABORALES Y DE EMPLEO · TEMA 2 (I)</a:t>
            </a:r>
          </a:p>
          <a:p>
            <a:pPr>
              <a:spcBef>
                <a:spcPts val="300"/>
              </a:spcBef>
              <a:defRPr sz="2600" b="1">
                <a:solidFill>
                  <a:srgbClr val="113927"/>
                </a:solidFill>
                <a:latin typeface="Outfit"/>
              </a:defRPr>
            </a:pPr>
            <a:r>
              <a:t>Fase 4 · Taller Activo Móvil: Simulador de Políticas Activas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769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7132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defRPr sz="1800" b="1">
                <a:solidFill>
                  <a:srgbClr val="113927"/>
                </a:solidFill>
                <a:latin typeface="Outfit"/>
              </a:defRPr>
            </a:pPr>
            <a:r>
              <a:t>Rol: Consejero/a de Empleo (Presupuesto: 1.000 M€)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Paso 1: </a:t>
            </a:r>
            <a:r>
              <a:rPr sz="1600">
                <a:solidFill>
                  <a:srgbClr val="2F3A30"/>
                </a:solidFill>
                <a:latin typeface="Calibri"/>
              </a:rPr>
              <a:t>Accede a la micro-app escaneando el código QR o desde mhidper.github.io/micro_apps/.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Paso 2: </a:t>
            </a:r>
            <a:r>
              <a:rPr sz="1600">
                <a:solidFill>
                  <a:srgbClr val="2F3A30"/>
                </a:solidFill>
                <a:latin typeface="Calibri"/>
              </a:rPr>
              <a:t>Compara el 'Modelo Tradicional Español' (fuerte peso muerto en bonificaciones) frente al 'Modelo Nórdico'.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Paso 3: </a:t>
            </a:r>
            <a:r>
              <a:rPr sz="1600">
                <a:solidFill>
                  <a:srgbClr val="2F3A30"/>
                </a:solidFill>
                <a:latin typeface="Calibri"/>
              </a:rPr>
              <a:t>Observa cómo la inversión en Orientación y Formación desplaza la Curva de Beveridge hacia el origen (A sube de 100 a &gt;120).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Paso 4: </a:t>
            </a:r>
            <a:r>
              <a:rPr sz="1600">
                <a:solidFill>
                  <a:srgbClr val="2F3A30"/>
                </a:solidFill>
                <a:latin typeface="Calibri"/>
              </a:rPr>
              <a:t>Comprueba el Coste por Empleo Neto Real y audita qué porcentaje de tu presupuesto se disipa en contrataciones no adicionales.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Paso 5: </a:t>
            </a:r>
            <a:r>
              <a:rPr sz="1600">
                <a:solidFill>
                  <a:srgbClr val="2F3A30"/>
                </a:solidFill>
                <a:latin typeface="Calibri"/>
              </a:rPr>
              <a:t>Formula tu propuesta óptima de política activa para defenderla en el debate de aula.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645920"/>
            <a:ext cx="3291840" cy="466344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74320" rIns="182880" rtlCol="0" anchor="ctr"/>
          <a:lstStyle/>
          <a:p>
            <a:pPr algn="ctr">
              <a:defRPr sz="1800" b="1">
                <a:solidFill>
                  <a:srgbClr val="E98F71"/>
                </a:solidFill>
                <a:latin typeface="Outfit"/>
              </a:defRPr>
            </a:pPr>
            <a:r>
              <a:t>Abre la Micro-App</a:t>
            </a:r>
          </a:p>
        </p:txBody>
      </p:sp>
      <p:pic>
        <p:nvPicPr>
          <p:cNvPr id="6" name="Picture 5" descr="qr_app_sesion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377440"/>
            <a:ext cx="2560320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60" y="512064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113927"/>
                </a:solidFill>
                <a:latin typeface="Calibri"/>
              </a:defRPr>
            </a:pPr>
            <a:r>
              <a:t>Simulador PAE Lab</a:t>
            </a:r>
            <a:br/>
            <a:r>
              <a:t>Dispositivos móviles y tablets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POLÍTICAS SOCIOLABORALES Y DE EMPLEO · TEMA 2 (I)</a:t>
            </a:r>
          </a:p>
          <a:p>
            <a:pPr>
              <a:spcBef>
                <a:spcPts val="300"/>
              </a:spcBef>
              <a:defRPr sz="2600" b="1">
                <a:solidFill>
                  <a:srgbClr val="113927"/>
                </a:solidFill>
                <a:latin typeface="Outfit"/>
              </a:defRPr>
            </a:pPr>
            <a:r>
              <a:t>Fase 5 · Reto Manuscrito Individual en Papel (10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769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74320" rIns="365760" rtlCol="0" anchor="ctr"/>
          <a:lstStyle/>
          <a:p>
            <a:pPr algn="ctr">
              <a:defRPr sz="1900" b="1">
                <a:solidFill>
                  <a:srgbClr val="113927"/>
                </a:solidFill>
                <a:latin typeface="Outfit"/>
              </a:defRPr>
            </a:pPr>
            <a:r>
              <a:t>Caso de Aplicación: Plan de Choque Autonómico de 500 M€</a:t>
            </a:r>
          </a:p>
          <a:p>
            <a:pPr>
              <a:spcBef>
                <a:spcPts val="800"/>
              </a:spcBef>
              <a:defRPr sz="1600" i="1">
                <a:solidFill>
                  <a:srgbClr val="2F3A30"/>
                </a:solidFill>
                <a:latin typeface="Calibri"/>
              </a:defRPr>
            </a:pPr>
            <a:r>
              <a:t>«Una comunidad autónoma aprueba un presupuesto de 500 M€. Destina el 80% (400 M€) a subvencionar con 6.000 € a fondo perdido cada contrato indefinido formalizado por empresas privadas y el 20% restante (100 M€) a financiar contratos temporales de 6 meses en ayuntamientos para limpieza y jardinería. Los servicios de intermediación y los cursos de recualificación técnica reciben 0 €. Razona con rigor económico formal:»</a:t>
            </a:r>
          </a:p>
          <a:p>
            <a:pPr>
              <a:spcBef>
                <a:spcPts val="1200"/>
              </a:spcBef>
              <a:defRPr sz="1600" b="1">
                <a:solidFill>
                  <a:srgbClr val="113927"/>
                </a:solidFill>
                <a:latin typeface="Calibri"/>
              </a:defRPr>
            </a:pPr>
            <a:r>
              <a:t>a) Efectos no deseados y Eficiencia: ¿Qué ocurrirá con el empleo neto real generado por este plan? Define y aplica con rigor los conceptos de Efecto Peso Muerto (Deadweight Loss) y Efecto Sustitución.</a:t>
            </a:r>
          </a:p>
          <a:p>
            <a:pPr>
              <a:spcBef>
                <a:spcPts val="1000"/>
              </a:spcBef>
              <a:defRPr sz="1600" b="1">
                <a:solidFill>
                  <a:srgbClr val="113927"/>
                </a:solidFill>
                <a:latin typeface="Calibri"/>
              </a:defRPr>
            </a:pPr>
            <a:r>
              <a:t>b) Curva de Beveridge y Rediseño de Política Pública: ¿Logrará este plan desplazar la Curva de Beveridge hacia el origen? Si tuvieras que rediseñar el presupuesto para reducir la tasa natural de paro (u_n) de forma permanente y sin inflación, ¿qué combinación de instrumentos de políticas activas implementarías y sobre qué componentes de la función de emparejamiento actuarías?</a:t>
            </a:r>
          </a:p>
          <a:p>
            <a:pPr>
              <a:spcBef>
                <a:spcPts val="1200"/>
              </a:spcBef>
              <a:defRPr sz="1500" b="1">
                <a:solidFill>
                  <a:srgbClr val="E98F71"/>
                </a:solidFill>
                <a:latin typeface="Calibri"/>
              </a:defRPr>
            </a:pPr>
            <a:r>
              <a:t>⚠️ Regla de Oro: Redacción exclusiva a mano en papel (10 min). Sin pantallas. Máximo rigor analítico.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POLÍTICAS SOCIOLABORALES Y DE EMPLEO · TEMA 2 (I)</a:t>
            </a:r>
          </a:p>
          <a:p>
            <a:pPr>
              <a:spcBef>
                <a:spcPts val="300"/>
              </a:spcBef>
              <a:defRPr sz="2600" b="1">
                <a:solidFill>
                  <a:srgbClr val="113927"/>
                </a:solidFill>
                <a:latin typeface="Outfit"/>
              </a:defRPr>
            </a:pPr>
            <a:r>
              <a:t>Subida Fotográfica Instantánea y Rúbrica Oficial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769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840480" cy="466344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74320" rIns="182880" rtlCol="0" anchor="ctr"/>
          <a:lstStyle/>
          <a:p>
            <a:pPr algn="ctr">
              <a:defRPr sz="1800" b="1">
                <a:solidFill>
                  <a:srgbClr val="E98F71"/>
                </a:solidFill>
                <a:latin typeface="Outfit"/>
              </a:defRPr>
            </a:pPr>
            <a:r>
              <a:t>Subida Instantánea (2 min)</a:t>
            </a:r>
          </a:p>
        </p:txBody>
      </p:sp>
      <p:pic>
        <p:nvPicPr>
          <p:cNvPr id="5" name="Picture 4" descr="qr_reto_sesion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377440"/>
            <a:ext cx="274320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3035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113927"/>
                </a:solidFill>
                <a:latin typeface="Calibri"/>
              </a:defRPr>
            </a:pPr>
            <a:r>
              <a:t>Microsoft Forms Institucional UPO</a:t>
            </a:r>
            <a:br/>
            <a:r>
              <a:t>Foto nítida de la cuartilla manuscrita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645920"/>
            <a:ext cx="66138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800" b="1">
                <a:solidFill>
                  <a:srgbClr val="113927"/>
                </a:solidFill>
                <a:latin typeface="Outfit"/>
              </a:defRPr>
            </a:pPr>
            <a:r>
              <a:t>Rúbrica de Corrección Ciega (0 – 1.000 pts)</a:t>
            </a:r>
          </a:p>
          <a:p>
            <a:pPr>
              <a:spcBef>
                <a:spcPts val="600"/>
              </a:spcBef>
              <a:defRPr sz="1600" b="1">
                <a:solidFill>
                  <a:srgbClr val="113927"/>
                </a:solidFill>
                <a:latin typeface="Outfit"/>
              </a:defRPr>
            </a:pPr>
            <a:r>
              <a:t>Apartado a) Efectos no deseados (0 - 500 pts):</a:t>
            </a:r>
          </a:p>
          <a:p>
            <a:pPr>
              <a:spcBef>
                <a:spcPts val="200"/>
              </a:spcBef>
              <a:defRPr sz="1500">
                <a:solidFill>
                  <a:srgbClr val="2F3A30"/>
                </a:solidFill>
                <a:latin typeface="Calibri"/>
              </a:defRPr>
            </a:pPr>
            <a:r>
              <a:t>• Definición y aplicación formal del Efecto Peso Muerto (Deadweight Loss) en subvenciones genéricas (60-80% no adicional).</a:t>
            </a:r>
          </a:p>
          <a:p>
            <a:pPr>
              <a:spcBef>
                <a:spcPts val="200"/>
              </a:spcBef>
              <a:defRPr sz="1500">
                <a:solidFill>
                  <a:srgbClr val="2F3A30"/>
                </a:solidFill>
                <a:latin typeface="Calibri"/>
              </a:defRPr>
            </a:pPr>
            <a:r>
              <a:t>• Efecto sustitución de trabajadores no bonificados y rotación en contratos temporales de ayuntamientos sin ganancia de capital humano.</a:t>
            </a:r>
          </a:p>
          <a:p>
            <a:pPr>
              <a:spcBef>
                <a:spcPts val="200"/>
              </a:spcBef>
              <a:defRPr sz="1500">
                <a:solidFill>
                  <a:srgbClr val="2F3A30"/>
                </a:solidFill>
                <a:latin typeface="Calibri"/>
              </a:defRPr>
            </a:pPr>
            <a:r>
              <a:t>• Conclusión rigurosa: Coste por empleo neto desorbitado con escasa creación de puestos reales.</a:t>
            </a:r>
          </a:p>
          <a:p>
            <a:pPr>
              <a:spcBef>
                <a:spcPts val="600"/>
              </a:spcBef>
              <a:defRPr sz="1600" b="1">
                <a:solidFill>
                  <a:srgbClr val="113927"/>
                </a:solidFill>
                <a:latin typeface="Outfit"/>
              </a:defRPr>
            </a:pPr>
            <a:r>
              <a:t>Apartado b) Beveridge y Rediseño Óptimo (0 - 500 pts):</a:t>
            </a:r>
          </a:p>
          <a:p>
            <a:pPr>
              <a:spcBef>
                <a:spcPts val="200"/>
              </a:spcBef>
              <a:defRPr sz="1500">
                <a:solidFill>
                  <a:srgbClr val="2F3A30"/>
                </a:solidFill>
                <a:latin typeface="Calibri"/>
              </a:defRPr>
            </a:pPr>
            <a:r>
              <a:t>• Demostración analítica con la función de matching: estas medidas no alteran el parámetro de eficiencia A y no desplazan Beveridge hacia el origen.</a:t>
            </a:r>
          </a:p>
          <a:p>
            <a:pPr>
              <a:spcBef>
                <a:spcPts val="200"/>
              </a:spcBef>
              <a:defRPr sz="1500">
                <a:solidFill>
                  <a:srgbClr val="2F3A30"/>
                </a:solidFill>
                <a:latin typeface="Calibri"/>
              </a:defRPr>
            </a:pPr>
            <a:r>
              <a:t>• Rediseño hacia políticas activas de oferta: Orientación con profiling (reduce paro friccional) y formación dual/reskilling (reduce desajuste estructural).</a:t>
            </a:r>
          </a:p>
          <a:p>
            <a:pPr>
              <a:spcBef>
                <a:spcPts val="200"/>
              </a:spcBef>
              <a:defRPr sz="1500">
                <a:solidFill>
                  <a:srgbClr val="2F3A30"/>
                </a:solidFill>
                <a:latin typeface="Calibri"/>
              </a:defRPr>
            </a:pPr>
            <a:r>
              <a:t>• Conclusión de política laboral: A ↑ desplaza la curva de Beveridge hacia el origen, reduciendo la NAIRU de forma permanente y sin inflación.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POLÍTICAS SOCIOLABORALES Y DE EMPLEO · TEMA 2 (I)</a:t>
            </a:r>
          </a:p>
          <a:p>
            <a:pPr>
              <a:spcBef>
                <a:spcPts val="300"/>
              </a:spcBef>
              <a:defRPr sz="2600" b="1">
                <a:solidFill>
                  <a:srgbClr val="113927"/>
                </a:solidFill>
                <a:latin typeface="Outfit"/>
              </a:defRPr>
            </a:pPr>
            <a:r>
              <a:t>Pasaporte de Evaluación Continua y Próximos Pasos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769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114800" cy="466344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74320" rIns="182880" rtlCol="0" anchor="ctr"/>
          <a:lstStyle/>
          <a:p>
            <a:pPr algn="ctr">
              <a:defRPr sz="1800" b="1">
                <a:solidFill>
                  <a:srgbClr val="113927"/>
                </a:solidFill>
                <a:latin typeface="Outfit"/>
              </a:defRPr>
            </a:pPr>
            <a:r>
              <a:t>Pasaporte de Evaluación</a:t>
            </a:r>
          </a:p>
        </p:txBody>
      </p:sp>
      <p:pic>
        <p:nvPicPr>
          <p:cNvPr id="5" name="Picture 4" descr="qr_pasaporte_ps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2377440"/>
            <a:ext cx="274320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3035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113927"/>
                </a:solidFill>
                <a:latin typeface="Calibri"/>
              </a:defRPr>
            </a:pPr>
            <a:r>
              <a:t>Consulta tus calificaciones y feedback</a:t>
            </a:r>
            <a:br/>
            <a:r>
              <a:t>Cifrado Zero-Knowledge AES-GCM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645920"/>
            <a:ext cx="6339535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defRPr sz="1800" b="1">
                <a:solidFill>
                  <a:srgbClr val="E98F71"/>
                </a:solidFill>
                <a:latin typeface="Outfit"/>
              </a:defRPr>
            </a:pPr>
            <a:r>
              <a:t>Hoja de Ruta Inmediata: EB 7 y Lanzamiento EPD 1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Sesión EB 7: </a:t>
            </a:r>
            <a:r>
              <a:rPr sz="1600">
                <a:solidFill>
                  <a:srgbClr val="2F3A30"/>
                </a:solidFill>
                <a:latin typeface="Calibri"/>
              </a:rPr>
              <a:t>Profundización en el diseño de incentivos a la contratación (§4), instrumentos (subvención vs. bonificación), variables clave y auditoría empírica.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Lanzamiento del Caso 1 de EPD: </a:t>
            </a:r>
            <a:r>
              <a:rPr sz="1600">
                <a:solidFill>
                  <a:srgbClr val="2F3A30"/>
                </a:solidFill>
                <a:latin typeface="Calibri"/>
              </a:rPr>
              <a:t>Auditoría técnica del Programa Emplea-T de la Junta de Andalucía (Líneas 1, 2 y 4 de contratación indefinida).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Aplicación práctica del instrumental: </a:t>
            </a:r>
            <a:r>
              <a:rPr sz="1600">
                <a:solidFill>
                  <a:srgbClr val="2F3A30"/>
                </a:solidFill>
                <a:latin typeface="Calibri"/>
              </a:rPr>
              <a:t>Calcularás el coste por empleo neto adicional y evaluarás los filtros anti-peso muerto diseñados por la administración pública.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Estudio con Apuntes Oficiales: </a:t>
            </a:r>
            <a:r>
              <a:rPr sz="1600">
                <a:solidFill>
                  <a:srgbClr val="2F3A30"/>
                </a:solidFill>
                <a:latin typeface="Calibri"/>
              </a:rPr>
              <a:t>Revisa el Epígrafe 4 del Tema 2 para preparar el debate y el trabajo en equipo de la primera sesión práctica EPD.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2137</Words>
  <Application>Microsoft Office PowerPoint</Application>
  <PresentationFormat>Panorámica</PresentationFormat>
  <Paragraphs>137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Manuel Alejandro Hidalgo Perez</cp:lastModifiedBy>
  <cp:revision>2</cp:revision>
  <dcterms:created xsi:type="dcterms:W3CDTF">2013-01-27T09:14:16Z</dcterms:created>
  <dcterms:modified xsi:type="dcterms:W3CDTF">2026-09-30T07:24:08Z</dcterms:modified>
  <cp:category/>
</cp:coreProperties>
</file>