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39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psll_upo.png"/>
          <p:cNvPicPr>
            <a:picLocks noChangeAspect="1"/>
          </p:cNvPicPr>
          <p:nvPr/>
        </p:nvPicPr>
        <p:blipFill>
          <a:blip r:embed="rId2"/>
          <a:stretch>
            <a:fillRect/>
          </a:stretch>
        </p:blipFill>
        <p:spPr>
          <a:xfrm>
            <a:off x="3901744" y="502920"/>
            <a:ext cx="4389120" cy="2393899"/>
          </a:xfrm>
          <a:prstGeom prst="rect">
            <a:avLst/>
          </a:prstGeom>
        </p:spPr>
      </p:pic>
      <p:sp>
        <p:nvSpPr>
          <p:cNvPr id="4" name="TextBox 3"/>
          <p:cNvSpPr txBox="1"/>
          <p:nvPr/>
        </p:nvSpPr>
        <p:spPr>
          <a:xfrm>
            <a:off x="914400" y="3063240"/>
            <a:ext cx="10362895" cy="548640"/>
          </a:xfrm>
          <a:prstGeom prst="rect">
            <a:avLst/>
          </a:prstGeom>
          <a:noFill/>
        </p:spPr>
        <p:txBody>
          <a:bodyPr wrap="none">
            <a:spAutoFit/>
          </a:bodyPr>
          <a:lstStyle/>
          <a:p>
            <a:pPr algn="ctr">
              <a:defRPr sz="2600" b="1">
                <a:solidFill>
                  <a:srgbClr val="FFFFFF"/>
                </a:solidFill>
                <a:latin typeface="Outfit"/>
              </a:defRPr>
            </a:pPr>
            <a:r>
              <a:t>POLÍTICAS SOCIOLABORALES Y DE EMPLEO</a:t>
            </a:r>
          </a:p>
        </p:txBody>
      </p:sp>
      <p:sp>
        <p:nvSpPr>
          <p:cNvPr id="5" name="TextBox 4"/>
          <p:cNvSpPr txBox="1"/>
          <p:nvPr/>
        </p:nvSpPr>
        <p:spPr>
          <a:xfrm>
            <a:off x="914400" y="3657600"/>
            <a:ext cx="10362895" cy="457200"/>
          </a:xfrm>
          <a:prstGeom prst="rect">
            <a:avLst/>
          </a:prstGeom>
          <a:noFill/>
        </p:spPr>
        <p:txBody>
          <a:bodyPr wrap="none">
            <a:spAutoFit/>
          </a:bodyPr>
          <a:lstStyle/>
          <a:p>
            <a:pPr algn="ctr">
              <a:defRPr sz="1700" b="1">
                <a:solidFill>
                  <a:srgbClr val="EDB090"/>
                </a:solidFill>
                <a:latin typeface="Outfit"/>
              </a:defRPr>
            </a:pPr>
            <a:r>
              <a:t>Sesión 4 · Tipología del Desempleo, la NAIRU y la Curva de Phillips</a:t>
            </a:r>
          </a:p>
        </p:txBody>
      </p:sp>
      <p:sp>
        <p:nvSpPr>
          <p:cNvPr id="6" name="TextBox 5"/>
          <p:cNvSpPr txBox="1"/>
          <p:nvPr/>
        </p:nvSpPr>
        <p:spPr>
          <a:xfrm>
            <a:off x="914400" y="4160520"/>
            <a:ext cx="10362895" cy="365760"/>
          </a:xfrm>
          <a:prstGeom prst="rect">
            <a:avLst/>
          </a:prstGeom>
          <a:noFill/>
        </p:spPr>
        <p:txBody>
          <a:bodyPr wrap="none">
            <a:spAutoFit/>
          </a:bodyPr>
          <a:lstStyle/>
          <a:p>
            <a:pPr algn="ctr">
              <a:defRPr sz="1200">
                <a:solidFill>
                  <a:srgbClr val="F4F8F5"/>
                </a:solidFill>
                <a:latin typeface="Calibri"/>
              </a:defRPr>
            </a:pPr>
            <a:r>
              <a:t>Martes 22 / Viernes 25 de septiembre de 2026  ·  Código 102023  ·  Manuel A. Hidalgo Pérez</a:t>
            </a:r>
          </a:p>
        </p:txBody>
      </p:sp>
      <p:sp>
        <p:nvSpPr>
          <p:cNvPr id="7" name="Rectangle 6"/>
          <p:cNvSpPr/>
          <p:nvPr/>
        </p:nvSpPr>
        <p:spPr>
          <a:xfrm>
            <a:off x="0" y="6035040"/>
            <a:ext cx="12191695"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o_logo.jpg"/>
          <p:cNvPicPr>
            <a:picLocks noChangeAspect="1"/>
          </p:cNvPicPr>
          <p:nvPr/>
        </p:nvPicPr>
        <p:blipFill>
          <a:blip r:embed="rId3"/>
          <a:stretch>
            <a:fillRect/>
          </a:stretch>
        </p:blipFill>
        <p:spPr>
          <a:xfrm>
            <a:off x="457200" y="6126480"/>
            <a:ext cx="452628" cy="640080"/>
          </a:xfrm>
          <a:prstGeom prst="rect">
            <a:avLst/>
          </a:prstGeom>
        </p:spPr>
      </p:pic>
      <p:sp>
        <p:nvSpPr>
          <p:cNvPr id="9" name="TextBox 8"/>
          <p:cNvSpPr txBox="1"/>
          <p:nvPr/>
        </p:nvSpPr>
        <p:spPr>
          <a:xfrm>
            <a:off x="1188720" y="6263640"/>
            <a:ext cx="10332720" cy="365760"/>
          </a:xfrm>
          <a:prstGeom prst="rect">
            <a:avLst/>
          </a:prstGeom>
          <a:noFill/>
        </p:spPr>
        <p:txBody>
          <a:bodyPr wrap="none">
            <a:spAutoFit/>
          </a:bodyPr>
          <a:lstStyle/>
          <a:p>
            <a:pPr>
              <a:defRPr sz="1000">
                <a:solidFill>
                  <a:srgbClr val="2F3A30"/>
                </a:solidFill>
                <a:latin typeface="Calibri"/>
              </a:defRPr>
            </a:pPr>
            <a:r>
              <a:t>Grado en Relaciones Laborales y Recursos Humanos · Doble Grado en Derecho y RRLL-RRHH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ORGANIZACIÓN DOCENTE</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Estructura de la Sesión 4 (120 min)</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Modelo de Aula Invertida y Laboratorio Activo de Aprendizaje</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2 / 17</a:t>
            </a:r>
          </a:p>
        </p:txBody>
      </p:sp>
      <p:sp>
        <p:nvSpPr>
          <p:cNvPr id="8" name="Rounded Rectangle 7"/>
          <p:cNvSpPr/>
          <p:nvPr/>
        </p:nvSpPr>
        <p:spPr>
          <a:xfrm>
            <a:off x="548640" y="1645920"/>
            <a:ext cx="26517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300" b="1">
                <a:solidFill>
                  <a:srgbClr val="113927"/>
                </a:solidFill>
                <a:latin typeface="Outfit"/>
              </a:defRPr>
            </a:pPr>
            <a:r>
              <a:t>20 min</a:t>
            </a:r>
          </a:p>
          <a:p>
            <a:pPr algn="ctr">
              <a:spcBef>
                <a:spcPts val="800"/>
              </a:spcBef>
              <a:spcAft>
                <a:spcPts val="1200"/>
              </a:spcAft>
              <a:defRPr sz="1500" b="1">
                <a:solidFill>
                  <a:srgbClr val="113927"/>
                </a:solidFill>
                <a:latin typeface="Outfit"/>
              </a:defRPr>
            </a:pPr>
            <a:r>
              <a:t>1. Noticia, Sondeo y Choque</a:t>
            </a:r>
          </a:p>
          <a:p>
            <a:pPr>
              <a:defRPr sz="1400">
                <a:solidFill>
                  <a:srgbClr val="2F3A30"/>
                </a:solidFill>
                <a:latin typeface="Calibri"/>
              </a:defRPr>
            </a:pPr>
            <a:r>
              <a:t>La paradoja española: 2,6 millones de parados y 150.000 vacantes sin cubrir.</a:t>
            </a:r>
            <a:br/>
            <a:br/>
            <a:r>
              <a:t>Sondeo interactivo en vivo con el móvil para capturar prejuicios intuitivos.</a:t>
            </a:r>
            <a:br/>
            <a:br/>
            <a:r>
              <a:t>Choque empírico: por qué el desempleo no es un fenómeno homogéneo.</a:t>
            </a:r>
          </a:p>
        </p:txBody>
      </p:sp>
      <p:sp>
        <p:nvSpPr>
          <p:cNvPr id="9" name="Rounded Rectangle 8"/>
          <p:cNvSpPr/>
          <p:nvPr/>
        </p:nvSpPr>
        <p:spPr>
          <a:xfrm>
            <a:off x="3337560" y="1645920"/>
            <a:ext cx="26517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300" b="1">
                <a:solidFill>
                  <a:srgbClr val="76927A"/>
                </a:solidFill>
                <a:latin typeface="Outfit"/>
              </a:defRPr>
            </a:pPr>
            <a:r>
              <a:t>25 min</a:t>
            </a:r>
          </a:p>
          <a:p>
            <a:pPr algn="ctr">
              <a:spcBef>
                <a:spcPts val="800"/>
              </a:spcBef>
              <a:spcAft>
                <a:spcPts val="1200"/>
              </a:spcAft>
              <a:defRPr sz="1500" b="1">
                <a:solidFill>
                  <a:srgbClr val="113927"/>
                </a:solidFill>
                <a:latin typeface="Outfit"/>
              </a:defRPr>
            </a:pPr>
            <a:r>
              <a:t>2. Taxonomía del Desempleo</a:t>
            </a:r>
          </a:p>
          <a:p>
            <a:pPr>
              <a:defRPr sz="1400">
                <a:solidFill>
                  <a:srgbClr val="2F3A30"/>
                </a:solidFill>
                <a:latin typeface="Calibri"/>
              </a:defRPr>
            </a:pPr>
            <a:r>
              <a:t>Desempleo Friccional e Información imperfecta en el emparejamiento.</a:t>
            </a:r>
            <a:br/>
            <a:br/>
            <a:r>
              <a:t>Desempleo Estructural, desajuste de habilidades e histéresis.</a:t>
            </a:r>
            <a:br/>
            <a:br/>
            <a:r>
              <a:t>Desempleo Cíclico (Okun) y Estacional. Modelo neoclásico (Figura 1.6).</a:t>
            </a:r>
          </a:p>
        </p:txBody>
      </p:sp>
      <p:sp>
        <p:nvSpPr>
          <p:cNvPr id="10" name="Rounded Rectangle 9"/>
          <p:cNvSpPr/>
          <p:nvPr/>
        </p:nvSpPr>
        <p:spPr>
          <a:xfrm>
            <a:off x="6126479" y="1645920"/>
            <a:ext cx="26517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300" b="1">
                <a:solidFill>
                  <a:srgbClr val="113927"/>
                </a:solidFill>
                <a:latin typeface="Outfit"/>
              </a:defRPr>
            </a:pPr>
            <a:r>
              <a:t>30 min</a:t>
            </a:r>
          </a:p>
          <a:p>
            <a:pPr algn="ctr">
              <a:spcBef>
                <a:spcPts val="800"/>
              </a:spcBef>
              <a:spcAft>
                <a:spcPts val="1200"/>
              </a:spcAft>
              <a:defRPr sz="1500" b="1">
                <a:solidFill>
                  <a:srgbClr val="113927"/>
                </a:solidFill>
                <a:latin typeface="Outfit"/>
              </a:defRPr>
            </a:pPr>
            <a:r>
              <a:t>3. NAIRU y Curva de Phillips</a:t>
            </a:r>
          </a:p>
          <a:p>
            <a:pPr>
              <a:defRPr sz="1400">
                <a:solidFill>
                  <a:srgbClr val="2F3A30"/>
                </a:solidFill>
                <a:latin typeface="Calibri"/>
              </a:defRPr>
            </a:pPr>
            <a:r>
              <a:t>Tasa natural de desempleo (NAIRU) como ancla de inflación estable.</a:t>
            </a:r>
            <a:br/>
            <a:br/>
            <a:r>
              <a:t>Análisis de la Figura 1.7: España vs. Eurozona (1980–2024).</a:t>
            </a:r>
            <a:br/>
            <a:br/>
            <a:r>
              <a:t>Curva de Phillips dual (Figura 1.8): disyuntiva a corto vs. vertical a largo plazo.</a:t>
            </a:r>
          </a:p>
        </p:txBody>
      </p:sp>
      <p:sp>
        <p:nvSpPr>
          <p:cNvPr id="11" name="Rounded Rectangle 10"/>
          <p:cNvSpPr/>
          <p:nvPr/>
        </p:nvSpPr>
        <p:spPr>
          <a:xfrm>
            <a:off x="8915399" y="1645920"/>
            <a:ext cx="26517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82880"/>
          <a:lstStyle/>
          <a:p>
            <a:pPr algn="ctr">
              <a:defRPr sz="1300" b="1">
                <a:solidFill>
                  <a:srgbClr val="E98F71"/>
                </a:solidFill>
                <a:latin typeface="Outfit"/>
              </a:defRPr>
            </a:pPr>
            <a:r>
              <a:t>45 min</a:t>
            </a:r>
          </a:p>
          <a:p>
            <a:pPr algn="ctr">
              <a:spcBef>
                <a:spcPts val="800"/>
              </a:spcBef>
              <a:spcAft>
                <a:spcPts val="1200"/>
              </a:spcAft>
              <a:defRPr sz="1500" b="1">
                <a:solidFill>
                  <a:srgbClr val="113927"/>
                </a:solidFill>
                <a:latin typeface="Outfit"/>
              </a:defRPr>
            </a:pPr>
            <a:r>
              <a:t>4. Taller, Reto y Evaluación</a:t>
            </a:r>
          </a:p>
          <a:p>
            <a:pPr>
              <a:defRPr sz="1400">
                <a:solidFill>
                  <a:srgbClr val="2F3A30"/>
                </a:solidFill>
                <a:latin typeface="Calibri"/>
              </a:defRPr>
            </a:pPr>
            <a:r>
              <a:t>Laboratorio en parejas (30 min): Gabinete de Analistas de la Consejería.</a:t>
            </a:r>
            <a:br/>
            <a:br/>
            <a:r>
              <a:t>Reto Evaluativo Manuscrito Anti-IA en papel (10 min).</a:t>
            </a:r>
            <a:br/>
            <a:br/>
            <a:r>
              <a:t>Subida fotográfica con QR para el Pasaporte de Evaluación Continua.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1 · NOTICIA DEL DÍA Y SONDEO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 Paradoja Española: ¿Falta Empleo o Falta Ajuste?</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Vota con tu teléfono móvil antes de analizar los datos oficiales</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3 / 17</a:t>
            </a:r>
          </a:p>
        </p:txBody>
      </p:sp>
      <p:sp>
        <p:nvSpPr>
          <p:cNvPr id="8" name="Rounded Rectangle 7"/>
          <p:cNvSpPr/>
          <p:nvPr/>
        </p:nvSpPr>
        <p:spPr>
          <a:xfrm>
            <a:off x="548640" y="1645920"/>
            <a:ext cx="7498079"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E98F71"/>
                </a:solidFill>
                <a:latin typeface="Outfit"/>
              </a:defRPr>
            </a:pPr>
            <a:r>
              <a:t>NOTICIA DE PRENSA Y DISPARADOR DEL DEBATE</a:t>
            </a:r>
          </a:p>
          <a:p>
            <a:pPr>
              <a:spcBef>
                <a:spcPts val="600"/>
              </a:spcBef>
              <a:spcAft>
                <a:spcPts val="1000"/>
              </a:spcAft>
              <a:defRPr sz="1600" b="1">
                <a:solidFill>
                  <a:srgbClr val="113927"/>
                </a:solidFill>
                <a:latin typeface="Calibri"/>
              </a:defRPr>
            </a:pPr>
            <a:r>
              <a:t>«España supera los 2,6 millones de desempleados mientras hostelería, construcción y perfiles tecnológicos dejan 150.000 vacantes sin cubrir» (Expansión / Cinco Días).</a:t>
            </a:r>
          </a:p>
          <a:p>
            <a:pPr>
              <a:spcAft>
                <a:spcPts val="1200"/>
              </a:spcAft>
              <a:defRPr sz="1600">
                <a:solidFill>
                  <a:srgbClr val="2F3A30"/>
                </a:solidFill>
                <a:latin typeface="Calibri"/>
              </a:defRPr>
            </a:pPr>
            <a:r>
              <a:t>Pregunta Detonante: Si en el mismo país y momento coexisten personas que llevan dos años en paro con empresas que no encuentran trabajadores, ¿tiene sentido aplicar la misma política de empleo a todas las situaciones? ¿Por qué seguimos hablando de «la tasa de paro» como si fuera un fenómeno único?</a:t>
            </a:r>
          </a:p>
          <a:p>
            <a:pPr>
              <a:defRPr sz="1500">
                <a:solidFill>
                  <a:srgbClr val="2F3A30"/>
                </a:solidFill>
                <a:latin typeface="Calibri"/>
              </a:defRPr>
            </a:pPr>
            <a:r>
              <a:t>Opciones de Voto en Microsoft Forms:</a:t>
            </a:r>
            <a:br/>
            <a:r>
              <a:t>A) Es falta de demanda agregada: el Estado debe estimular el gasto para que las empresas contraten a todos los parados.</a:t>
            </a:r>
            <a:br/>
            <a:r>
              <a:t>B) Es desajuste de cualificaciones: los desempleados carecen de las competencias demandadas por los nuevos sectores.</a:t>
            </a:r>
            <a:br/>
            <a:r>
              <a:t>C) Es un problema de información e incentivos: subsidios mal diseñados y agencias de empleo ineficaces.</a:t>
            </a:r>
          </a:p>
        </p:txBody>
      </p:sp>
      <p:sp>
        <p:nvSpPr>
          <p:cNvPr id="9" name="Rounded Rectangle 8"/>
          <p:cNvSpPr/>
          <p:nvPr/>
        </p:nvSpPr>
        <p:spPr>
          <a:xfrm>
            <a:off x="8321040" y="1645920"/>
            <a:ext cx="329184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500" b="1">
                <a:solidFill>
                  <a:srgbClr val="E98F71"/>
                </a:solidFill>
                <a:latin typeface="Outfit"/>
              </a:defRPr>
            </a:pPr>
            <a:r>
              <a:t>ESCANEA PARA VOTAR</a:t>
            </a:r>
          </a:p>
          <a:p>
            <a:pPr algn="ctr">
              <a:spcAft>
                <a:spcPts val="800"/>
              </a:spcAft>
              <a:defRPr sz="1300">
                <a:solidFill>
                  <a:srgbClr val="2F3A30"/>
                </a:solidFill>
                <a:latin typeface="Calibri"/>
              </a:defRPr>
            </a:pPr>
            <a:r>
              <a:t>Acceso con cuenta UPO (@alu.upo.es)</a:t>
            </a:r>
            <a:br/>
            <a:r>
              <a:t>Votación en 30 s desde tu móvil</a:t>
            </a:r>
          </a:p>
        </p:txBody>
      </p:sp>
      <p:pic>
        <p:nvPicPr>
          <p:cNvPr id="10" name="Picture 9" descr="qr_sondeo_sesion04.png"/>
          <p:cNvPicPr>
            <a:picLocks noChangeAspect="1"/>
          </p:cNvPicPr>
          <p:nvPr/>
        </p:nvPicPr>
        <p:blipFill>
          <a:blip r:embed="rId3"/>
          <a:stretch>
            <a:fillRect/>
          </a:stretch>
        </p:blipFill>
        <p:spPr>
          <a:xfrm>
            <a:off x="8732520" y="2651760"/>
            <a:ext cx="2468880" cy="2468880"/>
          </a:xfrm>
          <a:prstGeom prst="rect">
            <a:avLst/>
          </a:prstGeom>
        </p:spPr>
      </p:pic>
      <p:sp>
        <p:nvSpPr>
          <p:cNvPr id="11" name="TextBox 10"/>
          <p:cNvSpPr txBox="1"/>
          <p:nvPr/>
        </p:nvSpPr>
        <p:spPr>
          <a:xfrm>
            <a:off x="8321040" y="5303520"/>
            <a:ext cx="3291840" cy="640080"/>
          </a:xfrm>
          <a:prstGeom prst="rect">
            <a:avLst/>
          </a:prstGeom>
          <a:noFill/>
        </p:spPr>
        <p:txBody>
          <a:bodyPr wrap="none">
            <a:spAutoFit/>
          </a:bodyPr>
          <a:lstStyle/>
          <a:p>
            <a:pPr algn="ctr">
              <a:defRPr sz="1100" b="1">
                <a:solidFill>
                  <a:srgbClr val="113927"/>
                </a:solidFill>
                <a:latin typeface="Calibri"/>
              </a:defRPr>
            </a:pPr>
            <a:r>
              <a:t>forms.office.com/e/PSLL_Sondeo_Sesion04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1 · CHOQUE EMPÍRICO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Tres Parados Reales, Tres Mecanismos Económicos Opuestos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Por qué aplicar la misma política a problemas distintos destruye el empleo o crea inflación</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4 / 17</a:t>
            </a:r>
          </a:p>
        </p:txBody>
      </p:sp>
      <p:sp>
        <p:nvSpPr>
          <p:cNvPr id="8" name="Rounded Rectangle 7"/>
          <p:cNvSpPr/>
          <p:nvPr/>
        </p:nvSpPr>
        <p:spPr>
          <a:xfrm>
            <a:off x="548640" y="1645920"/>
            <a:ext cx="35661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113927"/>
                </a:solidFill>
                <a:latin typeface="Outfit"/>
              </a:defRPr>
            </a:pPr>
            <a:r>
              <a:t>CASO 1: ANTONIO (54 AÑOS)</a:t>
            </a:r>
          </a:p>
          <a:p>
            <a:pPr>
              <a:spcAft>
                <a:spcPts val="800"/>
              </a:spcAft>
              <a:defRPr sz="1300" i="1">
                <a:solidFill>
                  <a:srgbClr val="2F3A30"/>
                </a:solidFill>
                <a:latin typeface="Calibri"/>
              </a:defRPr>
            </a:pPr>
            <a:r>
              <a:t>Oficial de planta de automoción cerrada hace 3 años en Jaén. Experiencia mecánica no digitalizada.</a:t>
            </a:r>
          </a:p>
          <a:p>
            <a:pPr>
              <a:spcAft>
                <a:spcPts val="800"/>
              </a:spcAft>
              <a:defRPr sz="1500" b="1">
                <a:solidFill>
                  <a:srgbClr val="113927"/>
                </a:solidFill>
                <a:latin typeface="Outfit"/>
              </a:defRPr>
            </a:pPr>
            <a:r>
              <a:t>Desempleo Estructural (u_e)</a:t>
            </a:r>
          </a:p>
          <a:p>
            <a:pPr>
              <a:defRPr sz="1350">
                <a:solidFill>
                  <a:srgbClr val="2F3A30"/>
                </a:solidFill>
                <a:latin typeface="Calibri"/>
              </a:defRPr>
            </a:pPr>
            <a:r>
              <a:t>La tecnología cambió; sus habilidades quedaron obsoletas. Sufre histéresis (pérdida de empleabilidad por inactividad).</a:t>
            </a:r>
            <a:br/>
            <a:br/>
            <a:r>
              <a:t>Política Inútil: Estimular el gasto público no reabrirá la fábrica.</a:t>
            </a:r>
            <a:br/>
            <a:br/>
            <a:r>
              <a:t>Política Correcta: Reciclaje formativo (reskilling) y apoyo a la movilidad.</a:t>
            </a:r>
          </a:p>
        </p:txBody>
      </p:sp>
      <p:sp>
        <p:nvSpPr>
          <p:cNvPr id="9" name="Rounded Rectangle 8"/>
          <p:cNvSpPr/>
          <p:nvPr/>
        </p:nvSpPr>
        <p:spPr>
          <a:xfrm>
            <a:off x="4297679" y="1645920"/>
            <a:ext cx="35661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76927A"/>
                </a:solidFill>
                <a:latin typeface="Outfit"/>
              </a:defRPr>
            </a:pPr>
            <a:r>
              <a:t>CASO 2: LUCÍA (26 AÑOS)</a:t>
            </a:r>
          </a:p>
          <a:p>
            <a:pPr>
              <a:spcAft>
                <a:spcPts val="800"/>
              </a:spcAft>
              <a:defRPr sz="1300" i="1">
                <a:solidFill>
                  <a:srgbClr val="2F3A30"/>
                </a:solidFill>
                <a:latin typeface="Calibri"/>
              </a:defRPr>
            </a:pPr>
            <a:r>
              <a:t>Graduada en RRLL que renunció voluntariamente hace 3 semanas para buscar mejor puesto en selección.</a:t>
            </a:r>
          </a:p>
          <a:p>
            <a:pPr>
              <a:spcAft>
                <a:spcPts val="800"/>
              </a:spcAft>
              <a:defRPr sz="1500" b="1">
                <a:solidFill>
                  <a:srgbClr val="113927"/>
                </a:solidFill>
                <a:latin typeface="Outfit"/>
              </a:defRPr>
            </a:pPr>
            <a:r>
              <a:t>Desempleo Friccional (u_f)</a:t>
            </a:r>
          </a:p>
          <a:p>
            <a:pPr>
              <a:defRPr sz="1350">
                <a:solidFill>
                  <a:srgbClr val="2F3A30"/>
                </a:solidFill>
                <a:latin typeface="Calibri"/>
              </a:defRPr>
            </a:pPr>
            <a:r>
              <a:t>Transición laboral voluntaria y búsqueda de empleo (job search). La información de vacantes no es instantánea.</a:t>
            </a:r>
            <a:br/>
            <a:br/>
            <a:r>
              <a:t>Política Inútil: Subsidios indefinidos que alarguen la búsqueda sin control.</a:t>
            </a:r>
            <a:br/>
            <a:br/>
            <a:r>
              <a:t>Política Correcta: Intermediación digital ágil (SEPE) y matching eficiente.</a:t>
            </a:r>
          </a:p>
        </p:txBody>
      </p:sp>
      <p:sp>
        <p:nvSpPr>
          <p:cNvPr id="10" name="Rounded Rectangle 9"/>
          <p:cNvSpPr/>
          <p:nvPr/>
        </p:nvSpPr>
        <p:spPr>
          <a:xfrm>
            <a:off x="8046719" y="1645920"/>
            <a:ext cx="35661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E98F71"/>
                </a:solidFill>
                <a:latin typeface="Outfit"/>
              </a:defRPr>
            </a:pPr>
            <a:r>
              <a:t>CASO 3: CARLOS (38 AÑOS)</a:t>
            </a:r>
          </a:p>
          <a:p>
            <a:pPr>
              <a:spcAft>
                <a:spcPts val="800"/>
              </a:spcAft>
              <a:defRPr sz="1300" i="1">
                <a:solidFill>
                  <a:srgbClr val="2F3A30"/>
                </a:solidFill>
                <a:latin typeface="Calibri"/>
              </a:defRPr>
            </a:pPr>
            <a:r>
              <a:t>Camarero en la Costa del Sol en verano y peón agrícola de aceituna en invierno. Paro en primavera.</a:t>
            </a:r>
          </a:p>
          <a:p>
            <a:pPr>
              <a:spcAft>
                <a:spcPts val="800"/>
              </a:spcAft>
              <a:defRPr sz="1500" b="1">
                <a:solidFill>
                  <a:srgbClr val="113927"/>
                </a:solidFill>
                <a:latin typeface="Outfit"/>
              </a:defRPr>
            </a:pPr>
            <a:r>
              <a:t>Desempleo Estacional (u_s)</a:t>
            </a:r>
          </a:p>
          <a:p>
            <a:pPr>
              <a:defRPr sz="1350">
                <a:solidFill>
                  <a:srgbClr val="2F3A30"/>
                </a:solidFill>
                <a:latin typeface="Calibri"/>
              </a:defRPr>
            </a:pPr>
            <a:r>
              <a:t>Variación regular, predecible y recurrente ligada a los ciclos productivos y climáticos del sector.</a:t>
            </a:r>
            <a:br/>
            <a:br/>
            <a:r>
              <a:t>Política Inútil: Intentar forzar contratos fijos continuos todo el año.</a:t>
            </a:r>
            <a:br/>
            <a:br/>
            <a:r>
              <a:t>Política Correcta: Contrato fijo-discontinuo y diversificación económica sectorial.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TAXONOMÍA DEL DESEMPLEO (PARTE I)</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Desempleo Friccional (u_f) y Desempleo Estacional (u_s)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Fricciones de información, búsqueda de empleo y estacionalidad productiva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5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113927"/>
                </a:solidFill>
                <a:latin typeface="Outfit"/>
              </a:defRPr>
            </a:pPr>
            <a:r>
              <a:t>1. DESEMPLEO FRICCIONAL (u_f)</a:t>
            </a:r>
          </a:p>
          <a:p>
            <a:pPr>
              <a:spcAft>
                <a:spcPts val="600"/>
              </a:spcAft>
              <a:defRPr sz="1600">
                <a:solidFill>
                  <a:srgbClr val="2F3A30"/>
                </a:solidFill>
                <a:latin typeface="Calibri"/>
              </a:defRPr>
            </a:pPr>
            <a:r>
              <a:t>• Naturaleza económica: Inevitable en una economía dinámica. Es el tiempo que media entre que un trabajador deja o pierde un empleo y encuentra otro acorde a sus preferencias.</a:t>
            </a:r>
          </a:p>
          <a:p>
            <a:pPr>
              <a:spcAft>
                <a:spcPts val="600"/>
              </a:spcAft>
              <a:defRPr sz="1600">
                <a:solidFill>
                  <a:srgbClr val="2F3A30"/>
                </a:solidFill>
                <a:latin typeface="Calibri"/>
              </a:defRPr>
            </a:pPr>
            <a:r>
              <a:t>• Causa fundamental: Información asimétrica e imperfecta. Ni las empresas conocen instantáneamente a los candidatos idóneos, ni los desempleados conocen todas las vacantes.</a:t>
            </a:r>
          </a:p>
          <a:p>
            <a:pPr>
              <a:defRPr sz="1600">
                <a:solidFill>
                  <a:srgbClr val="2F3A30"/>
                </a:solidFill>
                <a:latin typeface="Calibri"/>
              </a:defRPr>
            </a:pPr>
            <a:r>
              <a:t>• Políticas adecuadas: Modernización digital de los Servicios Públicos de Empleo (SEPE), agencias de colocación privadas y plataformas de matching inteligente.</a:t>
            </a:r>
          </a:p>
        </p:txBody>
      </p:sp>
      <p:sp>
        <p:nvSpPr>
          <p:cNvPr id="9" name="Rounded Rectangle 8"/>
          <p:cNvSpPr/>
          <p:nvPr/>
        </p:nvSpPr>
        <p:spPr>
          <a:xfrm>
            <a:off x="6217920" y="1645920"/>
            <a:ext cx="53949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76927A"/>
                </a:solidFill>
                <a:latin typeface="Outfit"/>
              </a:defRPr>
            </a:pPr>
            <a:r>
              <a:t>2. DESEMPLEO ESTACIONAL (u_s)</a:t>
            </a:r>
          </a:p>
          <a:p>
            <a:pPr>
              <a:spcAft>
                <a:spcPts val="600"/>
              </a:spcAft>
              <a:defRPr sz="1600">
                <a:solidFill>
                  <a:srgbClr val="2F3A30"/>
                </a:solidFill>
                <a:latin typeface="Calibri"/>
              </a:defRPr>
            </a:pPr>
            <a:r>
              <a:t>• Naturaleza económica: Fluctuaciones periódicas, anticipables y regulares de la demanda de trabajo a lo largo de las estaciones del año.</a:t>
            </a:r>
          </a:p>
          <a:p>
            <a:pPr>
              <a:spcAft>
                <a:spcPts val="600"/>
              </a:spcAft>
              <a:defRPr sz="1600">
                <a:solidFill>
                  <a:srgbClr val="2F3A30"/>
                </a:solidFill>
                <a:latin typeface="Calibri"/>
              </a:defRPr>
            </a:pPr>
            <a:r>
              <a:t>• Sectores críticos en España: Turismo de sol y playa (verano), campañas agrícolas (recogida de fruto/aceituna) y comercio minorista navideño.</a:t>
            </a:r>
          </a:p>
          <a:p>
            <a:pPr>
              <a:defRPr sz="1600">
                <a:solidFill>
                  <a:srgbClr val="2F3A30"/>
                </a:solidFill>
                <a:latin typeface="Calibri"/>
              </a:defRPr>
            </a:pPr>
            <a:r>
              <a:t>• Instrumentos sociolaborales: Contrato fijo-discontinuo (estabilidad jurídica y llamamiento ordenado), diversificación productiva y formación continua en temporada baja.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TAXONOMÍA DEL DESEMPLEO (PARTE II)</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Desempleo Estructural (u_e) e Histéresis vs. Desempleo Cíclico (u_c)</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Desajuste de competencias, degradación del capital humano y brecha de demanda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6 / 17</a:t>
            </a:r>
          </a:p>
        </p:txBody>
      </p:sp>
      <p:sp>
        <p:nvSpPr>
          <p:cNvPr id="8" name="Rounded Rectangle 7"/>
          <p:cNvSpPr/>
          <p:nvPr/>
        </p:nvSpPr>
        <p:spPr>
          <a:xfrm>
            <a:off x="548640" y="1645920"/>
            <a:ext cx="53949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E98F71"/>
                </a:solidFill>
                <a:latin typeface="Outfit"/>
              </a:defRPr>
            </a:pPr>
            <a:r>
              <a:t>1. DESEMPLEO ESTRUCTURAL (u_e) E HISTÉRESIS</a:t>
            </a:r>
          </a:p>
          <a:p>
            <a:pPr>
              <a:spcAft>
                <a:spcPts val="600"/>
              </a:spcAft>
              <a:defRPr sz="1600">
                <a:solidFill>
                  <a:srgbClr val="2F3A30"/>
                </a:solidFill>
                <a:latin typeface="Calibri"/>
              </a:defRPr>
            </a:pPr>
            <a:r>
              <a:t>• Desajuste estructural (mismatch): Discrepancia cualitativa y geográfica entre las habilidades que ofrecen los parados y las requeridas por los sectores en auge.</a:t>
            </a:r>
          </a:p>
          <a:p>
            <a:pPr>
              <a:spcAft>
                <a:spcPts val="600"/>
              </a:spcAft>
              <a:defRPr sz="1600">
                <a:solidFill>
                  <a:srgbClr val="2F3A30"/>
                </a:solidFill>
                <a:latin typeface="Calibri"/>
              </a:defRPr>
            </a:pPr>
            <a:r>
              <a:t>• El fenómeno de la Histéresis: Un paro cíclico prolongado se convierte en estructural. La inactividad degrada el capital humano, desanima la búsqueda y genera estigmatización laboral.</a:t>
            </a:r>
          </a:p>
          <a:p>
            <a:pPr>
              <a:defRPr sz="1600">
                <a:solidFill>
                  <a:srgbClr val="2F3A30"/>
                </a:solidFill>
                <a:latin typeface="Calibri"/>
              </a:defRPr>
            </a:pPr>
            <a:r>
              <a:t>• Políticas activas de largo plazo: Reciclaje formativo (reskilling), FP Dual, fomento de la movilidad geográfica y reformas institucionales de flexibilidad interna.</a:t>
            </a:r>
          </a:p>
        </p:txBody>
      </p:sp>
      <p:sp>
        <p:nvSpPr>
          <p:cNvPr id="9" name="Rounded Rectangle 8"/>
          <p:cNvSpPr/>
          <p:nvPr/>
        </p:nvSpPr>
        <p:spPr>
          <a:xfrm>
            <a:off x="621792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113927"/>
                </a:solidFill>
                <a:latin typeface="Outfit"/>
              </a:defRPr>
            </a:pPr>
            <a:r>
              <a:t>2. DESEMPLEO CÍCLICO O KEYNESIANO (u_c)</a:t>
            </a:r>
          </a:p>
          <a:p>
            <a:pPr>
              <a:spcAft>
                <a:spcPts val="600"/>
              </a:spcAft>
              <a:defRPr sz="1600">
                <a:solidFill>
                  <a:srgbClr val="2F3A30"/>
                </a:solidFill>
                <a:latin typeface="Calibri"/>
              </a:defRPr>
            </a:pPr>
            <a:r>
              <a:t>• Origen macroeconómico: Surge cuando la demanda agregada de bienes y servicios es insuficiente para emplear a toda la fuerza laboral (recesión económica, Y &lt; Y*).</a:t>
            </a:r>
          </a:p>
          <a:p>
            <a:pPr>
              <a:spcAft>
                <a:spcPts val="600"/>
              </a:spcAft>
              <a:defRPr sz="1600">
                <a:solidFill>
                  <a:srgbClr val="2F3A30"/>
                </a:solidFill>
                <a:latin typeface="Calibri"/>
              </a:defRPr>
            </a:pPr>
            <a:r>
              <a:t>• Ley de Okun: Relación empírica inversa entre el crecimiento del PIB y la variación de la tasa de paro. En España se requiere crecer más del 1,5% para generar empleo neto.</a:t>
            </a:r>
          </a:p>
          <a:p>
            <a:pPr>
              <a:defRPr sz="1600">
                <a:solidFill>
                  <a:srgbClr val="2F3A30"/>
                </a:solidFill>
                <a:latin typeface="Calibri"/>
              </a:defRPr>
            </a:pPr>
            <a:r>
              <a:t>• Políticas de estabilización: Política fiscal expansiva y política monetaria acomodaticia. ¡Alerta! El estímulo macro fracasa si el problema de fondo es estructural.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2 · SÍNTESIS GRÁFICA DEL MERCADO</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El Desempleo en el Modelo Neoclásico: Rigideces Institucionales</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1.6 oficial de los apuntes: equilibrio competitivo vs. exceso de oferta involuntario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7 / 17</a:t>
            </a:r>
          </a:p>
        </p:txBody>
      </p:sp>
      <p:pic>
        <p:nvPicPr>
          <p:cNvPr id="8" name="Picture 7" descr="modelo_desempleo_neoclasico.png"/>
          <p:cNvPicPr>
            <a:picLocks noChangeAspect="1"/>
          </p:cNvPicPr>
          <p:nvPr/>
        </p:nvPicPr>
        <p:blipFill>
          <a:blip r:embed="rId3"/>
          <a:stretch>
            <a:fillRect/>
          </a:stretch>
        </p:blipFill>
        <p:spPr>
          <a:xfrm>
            <a:off x="548640" y="1645920"/>
            <a:ext cx="6217920" cy="4389120"/>
          </a:xfrm>
          <a:prstGeom prst="rect">
            <a:avLst/>
          </a:prstGeom>
        </p:spPr>
      </p:pic>
      <p:sp>
        <p:nvSpPr>
          <p:cNvPr id="9" name="Rounded Rectangle 8"/>
          <p:cNvSpPr/>
          <p:nvPr/>
        </p:nvSpPr>
        <p:spPr>
          <a:xfrm>
            <a:off x="6949440" y="1645920"/>
            <a:ext cx="466344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600" b="1">
                <a:solidFill>
                  <a:srgbClr val="113927"/>
                </a:solidFill>
                <a:latin typeface="Outfit"/>
              </a:defRPr>
            </a:pPr>
            <a:r>
              <a:t>CLAVES ANALÍTICAS DE LA FIGURA 1.6</a:t>
            </a:r>
          </a:p>
          <a:p>
            <a:pPr>
              <a:spcAft>
                <a:spcPts val="600"/>
              </a:spcAft>
              <a:defRPr sz="1500">
                <a:solidFill>
                  <a:srgbClr val="2F3A30"/>
                </a:solidFill>
                <a:latin typeface="Calibri"/>
              </a:defRPr>
            </a:pPr>
            <a:r>
              <a:t>1. Equilibrio Competitivo (S*, N*): Con salarios perfectamente flexibles, la oferta iguala a la demanda. En este punto no existe desempleo involuntario; solo friccional voluntario.</a:t>
            </a:r>
          </a:p>
          <a:p>
            <a:pPr>
              <a:spcAft>
                <a:spcPts val="600"/>
              </a:spcAft>
              <a:defRPr sz="1500">
                <a:solidFill>
                  <a:srgbClr val="2F3A30"/>
                </a:solidFill>
                <a:latin typeface="Calibri"/>
              </a:defRPr>
            </a:pPr>
            <a:r>
              <a:t>2. Rigidez Salarial Institucional (S &gt; S*): Si el salario real queda fijado por encima del equilibrio (convenios colectivos rígidos o SMI superior a la productividad marginal).</a:t>
            </a:r>
          </a:p>
          <a:p>
            <a:pPr>
              <a:defRPr sz="1500">
                <a:solidFill>
                  <a:srgbClr val="2F3A30"/>
                </a:solidFill>
                <a:latin typeface="Calibri"/>
              </a:defRPr>
            </a:pPr>
            <a:r>
              <a:t>3. Paro Involuntario (N_O - N_D): Al salario rígido S, la oferta laboral de personas dispuestas a trabajar supera a las contrataciones de las empresas, creando una brecha persistente.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LA TASA NATURAL DE DESEMPLEO (NAIRU) (15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El Ancla Estructural del Mercado de Trabajo: Concepto y Descomposición</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Non-Accelerating Inflation Rate of Unemployment: equilibrio dinámico, no óptimo social</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8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113927"/>
                </a:solidFill>
                <a:latin typeface="Outfit"/>
              </a:defRPr>
            </a:pPr>
            <a:r>
              <a:t>1. CONCEPTO Y DESCOMPOSICIÓN FORMAL</a:t>
            </a:r>
          </a:p>
          <a:p>
            <a:pPr>
              <a:spcAft>
                <a:spcPts val="400"/>
              </a:spcAft>
              <a:defRPr sz="1600">
                <a:solidFill>
                  <a:srgbClr val="2F3A30"/>
                </a:solidFill>
                <a:latin typeface="Calibri"/>
              </a:defRPr>
            </a:pPr>
            <a:r>
              <a:t>• Definición de NAIRU (u_n): Nivel de desempleo compatible con una tasa de inflación constante y estable. Es la suma del desempleo friccional y el estructural:</a:t>
            </a:r>
          </a:p>
          <a:p>
            <a:pPr algn="ctr">
              <a:spcAft>
                <a:spcPts val="600"/>
              </a:spcAft>
              <a:defRPr sz="1800" b="1">
                <a:solidFill>
                  <a:srgbClr val="E98F71"/>
                </a:solidFill>
                <a:latin typeface="Outfit"/>
              </a:defRPr>
            </a:pPr>
            <a:r>
              <a:t>u_n = u_f + u_e</a:t>
            </a:r>
          </a:p>
          <a:p>
            <a:pPr>
              <a:defRPr sz="1600">
                <a:solidFill>
                  <a:srgbClr val="2F3A30"/>
                </a:solidFill>
                <a:latin typeface="Calibri"/>
              </a:defRPr>
            </a:pPr>
            <a:r>
              <a:t>• Descomposición del Desempleo Observado:</a:t>
            </a:r>
          </a:p>
          <a:p>
            <a:pPr algn="ctr">
              <a:spcAft>
                <a:spcPts val="600"/>
              </a:spcAft>
              <a:defRPr sz="1700" b="1">
                <a:solidFill>
                  <a:srgbClr val="113927"/>
                </a:solidFill>
                <a:latin typeface="Outfit"/>
              </a:defRPr>
            </a:pPr>
            <a:r>
              <a:t>u_t = u_n + u_{c,t} = (u_f + u_e) + u_{c,t}</a:t>
            </a:r>
          </a:p>
          <a:p>
            <a:pPr>
              <a:defRPr sz="1550">
                <a:solidFill>
                  <a:srgbClr val="2F3A30"/>
                </a:solidFill>
                <a:latin typeface="Calibri"/>
              </a:defRPr>
            </a:pPr>
            <a:r>
              <a:t>• Brecha Cíclica (u_t - u_n): Si u_t &gt; u_n, hay holgura y desempleo cíclico (recesión). Si u_t &lt; u_n, sobrecalentamiento y tensiones salariales inflacionistas.</a:t>
            </a:r>
          </a:p>
        </p:txBody>
      </p:sp>
      <p:sp>
        <p:nvSpPr>
          <p:cNvPr id="9" name="Rounded Rectangle 8"/>
          <p:cNvSpPr/>
          <p:nvPr/>
        </p:nvSpPr>
        <p:spPr>
          <a:xfrm>
            <a:off x="6217920" y="1645920"/>
            <a:ext cx="53949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76927A"/>
                </a:solidFill>
                <a:latin typeface="Outfit"/>
              </a:defRPr>
            </a:pPr>
            <a:r>
              <a:t>2. DETERMINANTES Y POLÍTICAS DE LA NAIRU</a:t>
            </a:r>
          </a:p>
          <a:p>
            <a:pPr>
              <a:spcAft>
                <a:spcPts val="600"/>
              </a:spcAft>
              <a:defRPr sz="1600">
                <a:solidFill>
                  <a:srgbClr val="2F3A30"/>
                </a:solidFill>
                <a:latin typeface="Calibri"/>
              </a:defRPr>
            </a:pPr>
            <a:r>
              <a:t>• No es fija ni óptima: Varía en el tiempo según la demografía, la innovación tecnológica y el marco regulatorio del mercado laboral.</a:t>
            </a:r>
          </a:p>
          <a:p>
            <a:pPr>
              <a:spcAft>
                <a:spcPts val="400"/>
              </a:spcAft>
              <a:defRPr sz="1600" b="1">
                <a:solidFill>
                  <a:srgbClr val="113927"/>
                </a:solidFill>
                <a:latin typeface="Calibri"/>
              </a:defRPr>
            </a:pPr>
            <a:r>
              <a:t>• Causas del alto suelo español (~14-15%):</a:t>
            </a:r>
          </a:p>
          <a:p>
            <a:pPr>
              <a:spcAft>
                <a:spcPts val="600"/>
              </a:spcAft>
              <a:defRPr sz="1500">
                <a:solidFill>
                  <a:srgbClr val="2F3A30"/>
                </a:solidFill>
                <a:latin typeface="Calibri"/>
              </a:defRPr>
            </a:pPr>
            <a:r>
              <a:t>1. Dualidad contractual histórica (insiders indefinidos vs. outsiders temporales rotatorios).</a:t>
            </a:r>
            <a:br/>
            <a:r>
              <a:t>2. Negociación colectiva provincial/sectorial desvinculada de la productividad real de la empresa.</a:t>
            </a:r>
            <a:br/>
            <a:r>
              <a:t>3. Histórica baja eficacia de la intermediación pública en la colocación laboral efectiva.</a:t>
            </a:r>
          </a:p>
          <a:p>
            <a:pPr>
              <a:defRPr sz="1500" b="1">
                <a:solidFill>
                  <a:srgbClr val="E98F71"/>
                </a:solidFill>
                <a:latin typeface="Calibri"/>
              </a:defRPr>
            </a:pPr>
            <a:r>
              <a:t>• Conclusión: La NAIRU solo se reduce con reformas estructurales y políticas activas, nunca con inyecciones de gasto público.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EVIDENCIA EMPÍRICA (1980–2024)</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Tasa Observada y NAIRU: España frente a la Zona Euro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1.7 oficial de los apuntes: análisis de la brecha cíclica y el suelo estructural persistente</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9 / 17</a:t>
            </a:r>
          </a:p>
        </p:txBody>
      </p:sp>
      <p:pic>
        <p:nvPicPr>
          <p:cNvPr id="8" name="Picture 7" descr="tasa_natural_nairu.png"/>
          <p:cNvPicPr>
            <a:picLocks noChangeAspect="1"/>
          </p:cNvPicPr>
          <p:nvPr/>
        </p:nvPicPr>
        <p:blipFill>
          <a:blip r:embed="rId3"/>
          <a:stretch>
            <a:fillRect/>
          </a:stretch>
        </p:blipFill>
        <p:spPr>
          <a:xfrm>
            <a:off x="548640" y="1645920"/>
            <a:ext cx="6309360" cy="4389120"/>
          </a:xfrm>
          <a:prstGeom prst="rect">
            <a:avLst/>
          </a:prstGeom>
        </p:spPr>
      </p:pic>
      <p:sp>
        <p:nvSpPr>
          <p:cNvPr id="9" name="Rounded Rectangle 8"/>
          <p:cNvSpPr/>
          <p:nvPr/>
        </p:nvSpPr>
        <p:spPr>
          <a:xfrm>
            <a:off x="7040880" y="1645920"/>
            <a:ext cx="457200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800"/>
              </a:spcAft>
              <a:defRPr sz="1600" b="1">
                <a:solidFill>
                  <a:srgbClr val="113927"/>
                </a:solidFill>
                <a:latin typeface="Outfit"/>
              </a:defRPr>
            </a:pPr>
            <a:r>
              <a:t>LECCIONES DE LA SERIE HISTÓRICA</a:t>
            </a:r>
          </a:p>
          <a:p>
            <a:pPr>
              <a:spcAft>
                <a:spcPts val="600"/>
              </a:spcAft>
              <a:defRPr sz="1500">
                <a:solidFill>
                  <a:srgbClr val="2F3A30"/>
                </a:solidFill>
                <a:latin typeface="Calibri"/>
              </a:defRPr>
            </a:pPr>
            <a:r>
              <a:t>• Suelo Estructural Elevado (Panel B): La NAIRU española promedia un 15,0%, prácticamente el doble que la media de la Eurozona (~7-9%, Panel A).</a:t>
            </a:r>
          </a:p>
          <a:p>
            <a:pPr>
              <a:spcAft>
                <a:spcPts val="600"/>
              </a:spcAft>
              <a:defRPr sz="1500">
                <a:solidFill>
                  <a:srgbClr val="2F3A30"/>
                </a:solidFill>
                <a:latin typeface="Calibri"/>
              </a:defRPr>
            </a:pPr>
            <a:r>
              <a:t>• Gran Recesión (2008–2013): El paro observado trepa al 26,1%, abriendo una brecha cíclica récord de +9,2 p.p. respecto a la NAIRU por el colapso del ladrillo.</a:t>
            </a:r>
          </a:p>
          <a:p>
            <a:pPr>
              <a:spcAft>
                <a:spcPts val="600"/>
              </a:spcAft>
              <a:defRPr sz="1500">
                <a:solidFill>
                  <a:srgbClr val="2F3A30"/>
                </a:solidFill>
                <a:latin typeface="Calibri"/>
              </a:defRPr>
            </a:pPr>
            <a:r>
              <a:t>• Burbuja y Sobrecalentamiento (2007): El paro cae al 8,2%, muy por debajo de la NAIRU (13,6%), generando déficit exterior y fuerte inflación salarial.</a:t>
            </a:r>
          </a:p>
          <a:p>
            <a:pPr>
              <a:defRPr sz="1500">
                <a:solidFill>
                  <a:srgbClr val="2F3A30"/>
                </a:solidFill>
                <a:latin typeface="Calibri"/>
              </a:defRPr>
            </a:pPr>
            <a:r>
              <a:t>• Mínimo de 16 años (2024: 11,4%): La tasa se sitúa cerca de su NAIRU estimada (12,8%), agotando el margen de estímulo puramente cíclico.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MODELO DE LA CURVA DE PHILLIPS</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 Disyuntiva Desempleo-Inflación: Corto vs. Largo Plazo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Modelo aceleracionista de Friedman-Phelps: ajuste de expectativas y verticalidad a largo plazo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10 / 17</a:t>
            </a:r>
          </a:p>
        </p:txBody>
      </p:sp>
      <p:pic>
        <p:nvPicPr>
          <p:cNvPr id="8" name="Picture 7" descr="curva_phillips_dual.png"/>
          <p:cNvPicPr>
            <a:picLocks noChangeAspect="1"/>
          </p:cNvPicPr>
          <p:nvPr/>
        </p:nvPicPr>
        <p:blipFill>
          <a:blip r:embed="rId3"/>
          <a:stretch>
            <a:fillRect/>
          </a:stretch>
        </p:blipFill>
        <p:spPr>
          <a:xfrm>
            <a:off x="548640" y="1645920"/>
            <a:ext cx="6309360" cy="4389120"/>
          </a:xfrm>
          <a:prstGeom prst="rect">
            <a:avLst/>
          </a:prstGeom>
        </p:spPr>
      </p:pic>
      <p:sp>
        <p:nvSpPr>
          <p:cNvPr id="9" name="Rounded Rectangle 8"/>
          <p:cNvSpPr/>
          <p:nvPr/>
        </p:nvSpPr>
        <p:spPr>
          <a:xfrm>
            <a:off x="7040880" y="1645920"/>
            <a:ext cx="457200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600" b="1">
                <a:solidFill>
                  <a:srgbClr val="E98F71"/>
                </a:solidFill>
                <a:latin typeface="Outfit"/>
              </a:defRPr>
            </a:pPr>
            <a:r>
              <a:t>MECANISMO DE EXPECTATIVAS (PANEL A)</a:t>
            </a:r>
          </a:p>
          <a:p>
            <a:pPr>
              <a:defRPr sz="1500">
                <a:solidFill>
                  <a:srgbClr val="2F3A30"/>
                </a:solidFill>
                <a:latin typeface="Calibri"/>
              </a:defRPr>
            </a:pPr>
            <a:r>
              <a:t>Fórmula Aceleracionista de Phillips:</a:t>
            </a:r>
          </a:p>
          <a:p>
            <a:pPr algn="ctr">
              <a:spcAft>
                <a:spcPts val="600"/>
              </a:spcAft>
              <a:defRPr sz="1700" b="1">
                <a:solidFill>
                  <a:srgbClr val="113927"/>
                </a:solidFill>
                <a:latin typeface="Outfit"/>
              </a:defRPr>
            </a:pPr>
            <a:r>
              <a:t>π_t = π_t^e - β(u_t - u_n) + ν_t</a:t>
            </a:r>
          </a:p>
          <a:p>
            <a:pPr>
              <a:spcAft>
                <a:spcPts val="500"/>
              </a:spcAft>
              <a:defRPr sz="1500">
                <a:solidFill>
                  <a:srgbClr val="2F3A30"/>
                </a:solidFill>
                <a:latin typeface="Calibri"/>
              </a:defRPr>
            </a:pPr>
            <a:r>
              <a:t>1. Choque Inicial (A ➔ B): El estímulo sitúa u_1 &lt; u_n. A corto plazo el desempleo baja, pero la inflación se dispara a π_2 = 5%.</a:t>
            </a:r>
          </a:p>
          <a:p>
            <a:pPr>
              <a:spcAft>
                <a:spcPts val="500"/>
              </a:spcAft>
              <a:defRPr sz="1500">
                <a:solidFill>
                  <a:srgbClr val="2F3A30"/>
                </a:solidFill>
                <a:latin typeface="Calibri"/>
              </a:defRPr>
            </a:pPr>
            <a:r>
              <a:t>2. Ajuste de Expectativas (B ➔ C): Los trabajadores exigen alzas salariales según π_2^e = 5%. La curva de corto plazo se desplaza arriba.</a:t>
            </a:r>
          </a:p>
          <a:p>
            <a:pPr>
              <a:defRPr sz="1500">
                <a:solidFill>
                  <a:srgbClr val="2F3A30"/>
                </a:solidFill>
                <a:latin typeface="Calibri"/>
              </a:defRPr>
            </a:pPr>
            <a:r>
              <a:t>3. Largo Plazo (Punto C): El paro regresa forzosamente a la NAIRU (u_n), pero con inflación permanente del 5%. La curva LP es vertical.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3 · EVIDENCIA EMPÍRICA EN ESPAÑA</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Comportamiento Salarial y Desempleo en España (2002–2024)</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Figura 1.8 Panel B oficial: correlación inversa, devaluación salarial y shocks de oferta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11 / 17</a:t>
            </a:r>
          </a:p>
        </p:txBody>
      </p:sp>
      <p:sp>
        <p:nvSpPr>
          <p:cNvPr id="8" name="Rounded Rectangle 7"/>
          <p:cNvSpPr/>
          <p:nvPr/>
        </p:nvSpPr>
        <p:spPr>
          <a:xfrm>
            <a:off x="548640" y="1645920"/>
            <a:ext cx="53949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113927"/>
                </a:solidFill>
                <a:latin typeface="Outfit"/>
              </a:defRPr>
            </a:pPr>
            <a:r>
              <a:t>1. TRES FASES CLAVE EN ESPAÑA (PANEL B)</a:t>
            </a:r>
          </a:p>
          <a:p>
            <a:pPr>
              <a:spcAft>
                <a:spcPts val="600"/>
              </a:spcAft>
              <a:defRPr sz="1600">
                <a:solidFill>
                  <a:srgbClr val="2F3A30"/>
                </a:solidFill>
                <a:latin typeface="Calibri"/>
              </a:defRPr>
            </a:pPr>
            <a:r>
              <a:t>• 2002–2007 (Burbuja y Salarios al +5%): Paro en mínimos (8,3%) y fuerte presión sobre costes salariales, confirmando la tensión del mercado laboral en auge.</a:t>
            </a:r>
          </a:p>
          <a:p>
            <a:pPr>
              <a:spcAft>
                <a:spcPts val="600"/>
              </a:spcAft>
              <a:defRPr sz="1600">
                <a:solidFill>
                  <a:srgbClr val="2F3A30"/>
                </a:solidFill>
                <a:latin typeface="Calibri"/>
              </a:defRPr>
            </a:pPr>
            <a:r>
              <a:t>• 2008–2013 (Crisis y Devaluación Salarial): Máximo histórico de paro (26,9% en 2013T1) y caída salarial récord (-3,6% en 2012T4) forzada por la reforma laboral y la recesión.</a:t>
            </a:r>
          </a:p>
          <a:p>
            <a:pPr>
              <a:defRPr sz="1600">
                <a:solidFill>
                  <a:srgbClr val="2F3A30"/>
                </a:solidFill>
                <a:latin typeface="Calibri"/>
              </a:defRPr>
            </a:pPr>
            <a:r>
              <a:t>• 2020–2024 (Shock Inflacionista): Repunte de costes salariales (+5,1% en 2023T2) con paro al 11,6%, reflejando el impacto de la energía y cláusulas de revisión.</a:t>
            </a:r>
          </a:p>
        </p:txBody>
      </p:sp>
      <p:sp>
        <p:nvSpPr>
          <p:cNvPr id="9" name="Rounded Rectangle 8"/>
          <p:cNvSpPr/>
          <p:nvPr/>
        </p:nvSpPr>
        <p:spPr>
          <a:xfrm>
            <a:off x="6217920" y="1645920"/>
            <a:ext cx="53949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800"/>
              </a:spcAft>
              <a:defRPr sz="1700" b="1">
                <a:solidFill>
                  <a:srgbClr val="E98F71"/>
                </a:solidFill>
                <a:latin typeface="Outfit"/>
              </a:defRPr>
            </a:pPr>
            <a:r>
              <a:t>2. LECCIÓN FUNDAMENTAL DE POLÍTICA</a:t>
            </a:r>
          </a:p>
          <a:p>
            <a:pPr>
              <a:spcAft>
                <a:spcPts val="600"/>
              </a:spcAft>
              <a:defRPr sz="1600">
                <a:solidFill>
                  <a:srgbClr val="2F3A30"/>
                </a:solidFill>
                <a:latin typeface="Calibri"/>
              </a:defRPr>
            </a:pPr>
            <a:r>
              <a:t>• La ilusión monetaria es efímera: No es posible 'comprar' de forma permanente un menor desempleo a cambio de tolerar más inflación.</a:t>
            </a:r>
          </a:p>
          <a:p>
            <a:pPr>
              <a:spcAft>
                <a:spcPts val="600"/>
              </a:spcAft>
              <a:defRPr sz="1600">
                <a:solidFill>
                  <a:srgbClr val="2F3A30"/>
                </a:solidFill>
                <a:latin typeface="Calibri"/>
              </a:defRPr>
            </a:pPr>
            <a:r>
              <a:t>• La trampa del gasto en la NAIRU: Si la economía está en su equilibrio estructural, cualquier intento de forzar más empleo mediante gasto público genera inflación acumulativa.</a:t>
            </a:r>
          </a:p>
          <a:p>
            <a:pPr>
              <a:defRPr sz="1600" b="1">
                <a:solidFill>
                  <a:srgbClr val="113927"/>
                </a:solidFill>
                <a:latin typeface="Calibri"/>
              </a:defRPr>
            </a:pPr>
            <a:r>
              <a:t>• La solución ortodoxa: Reducir la NAIRU desplazando la Curva de Phillips hacia la izquierda mediante productividad, formación y modernización laboral.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4 · LABORATORIO ACTIVO Y SIMULADOR (20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Simulador Interactivo: Curva de Phillips, NAIRU y Gabinete de Empleo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Rol: Analistas del Gabinete Técnico de la Consejería (Acceso interactivo desde el móvil)</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12 / 17</a:t>
            </a:r>
          </a:p>
        </p:txBody>
      </p:sp>
      <p:sp>
        <p:nvSpPr>
          <p:cNvPr id="8" name="Rounded Rectangle 7"/>
          <p:cNvSpPr/>
          <p:nvPr/>
        </p:nvSpPr>
        <p:spPr>
          <a:xfrm>
            <a:off x="731520" y="1691640"/>
            <a:ext cx="6858000" cy="4297680"/>
          </a:xfrm>
          <a:prstGeom prst="roundRect">
            <a:avLst/>
          </a:prstGeom>
          <a:solidFill>
            <a:srgbClr val="F4F8F5"/>
          </a:solidFill>
          <a:ln w="12700">
            <a:solidFill>
              <a:srgbClr val="DCE5D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1500" b="1">
                <a:solidFill>
                  <a:srgbClr val="113927"/>
                </a:solidFill>
                <a:latin typeface="Outfit"/>
              </a:defRPr>
            </a:pPr>
            <a:r>
              <a:t>MISIÓN TÉCNICA · GABINETE DE LA CONSEJERÍA DE EMPLEO</a:t>
            </a:r>
          </a:p>
          <a:p>
            <a:pPr>
              <a:spcAft>
                <a:spcPts val="1000"/>
              </a:spcAft>
            </a:pPr>
            <a:r>
              <a:rPr sz="1300" b="1">
                <a:solidFill>
                  <a:srgbClr val="113927"/>
                </a:solidFill>
                <a:latin typeface="Calibri"/>
              </a:rPr>
              <a:t>1. Apertura en el móvil:</a:t>
            </a:r>
            <a:r>
              <a:rPr sz="1300">
                <a:solidFill>
                  <a:srgbClr val="2F3A30"/>
                </a:solidFill>
                <a:latin typeface="Calibri"/>
              </a:rPr>
              <a:t> Escanear el código QR para cargar la micro-app oficial sin necesidad de registro ni descargas.</a:t>
            </a:r>
          </a:p>
          <a:p>
            <a:pPr>
              <a:spcAft>
                <a:spcPts val="1000"/>
              </a:spcAft>
            </a:pPr>
            <a:r>
              <a:rPr sz="1300" b="1">
                <a:solidFill>
                  <a:srgbClr val="113927"/>
                </a:solidFill>
                <a:latin typeface="Calibri"/>
              </a:rPr>
              <a:t>2. Experimento Macroeconómico (Simulador de Phillips):</a:t>
            </a:r>
            <a:r>
              <a:rPr sz="1300">
                <a:solidFill>
                  <a:srgbClr val="2F3A30"/>
                </a:solidFill>
                <a:latin typeface="Calibri"/>
              </a:rPr>
              <a:t> Inyectar un estímulo fiscal de demanda en el equilibrio de la NAIRU (14,5%) y analizar por qué a corto plazo baja el paro pero a largo plazo las expectativas de inflación anulan la ganancia de empleo (curva vertical).</a:t>
            </a:r>
          </a:p>
          <a:p>
            <a:pPr>
              <a:spcAft>
                <a:spcPts val="1000"/>
              </a:spcAft>
            </a:pPr>
            <a:r>
              <a:rPr sz="1300" b="1">
                <a:solidFill>
                  <a:srgbClr val="113927"/>
                </a:solidFill>
                <a:latin typeface="Calibri"/>
              </a:rPr>
              <a:t>3. Gabinete de Diagnóstico Comarcal:</a:t>
            </a:r>
            <a:r>
              <a:rPr sz="1300">
                <a:solidFill>
                  <a:srgbClr val="2F3A30"/>
                </a:solidFill>
                <a:latin typeface="Calibri"/>
              </a:rPr>
              <a:t> Diagnosticar las 4 comarcas andaluzas (Linares, Costa del Sol, Sevilla y Recesión Financiera) identificando el tipo de paro (friccional, estructural, cíclico o estacional) y la política óptima sin generar inflación.</a:t>
            </a:r>
          </a:p>
        </p:txBody>
      </p:sp>
      <p:sp>
        <p:nvSpPr>
          <p:cNvPr id="9" name="Rounded Rectangle 8"/>
          <p:cNvSpPr/>
          <p:nvPr/>
        </p:nvSpPr>
        <p:spPr>
          <a:xfrm>
            <a:off x="7863840" y="1691640"/>
            <a:ext cx="3566160" cy="4297680"/>
          </a:xfrm>
          <a:prstGeom prst="roundRect">
            <a:avLst/>
          </a:prstGeom>
          <a:solidFill>
            <a:srgbClr val="FFFFFF"/>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_app_sesion04.png"/>
          <p:cNvPicPr>
            <a:picLocks noChangeAspect="1"/>
          </p:cNvPicPr>
          <p:nvPr/>
        </p:nvPicPr>
        <p:blipFill>
          <a:blip r:embed="rId3"/>
          <a:stretch>
            <a:fillRect/>
          </a:stretch>
        </p:blipFill>
        <p:spPr>
          <a:xfrm>
            <a:off x="8366760" y="1874519"/>
            <a:ext cx="2560320" cy="2560320"/>
          </a:xfrm>
          <a:prstGeom prst="rect">
            <a:avLst/>
          </a:prstGeom>
        </p:spPr>
      </p:pic>
      <p:sp>
        <p:nvSpPr>
          <p:cNvPr id="11" name="TextBox 10"/>
          <p:cNvSpPr txBox="1"/>
          <p:nvPr/>
        </p:nvSpPr>
        <p:spPr>
          <a:xfrm>
            <a:off x="7955279" y="4526280"/>
            <a:ext cx="3383280" cy="1371600"/>
          </a:xfrm>
          <a:prstGeom prst="rect">
            <a:avLst/>
          </a:prstGeom>
          <a:noFill/>
        </p:spPr>
        <p:txBody>
          <a:bodyPr wrap="square">
            <a:spAutoFit/>
          </a:bodyPr>
          <a:lstStyle/>
          <a:p>
            <a:pPr algn="ctr">
              <a:spcAft>
                <a:spcPts val="400"/>
              </a:spcAft>
              <a:defRPr sz="1200" b="1">
                <a:solidFill>
                  <a:srgbClr val="113927"/>
                </a:solidFill>
                <a:latin typeface="Outfit"/>
              </a:defRPr>
            </a:pPr>
            <a:r>
              <a:t>ESCANEA PARA ABRIR LA APP</a:t>
            </a:r>
          </a:p>
          <a:p>
            <a:pPr algn="ctr">
              <a:spcAft>
                <a:spcPts val="400"/>
              </a:spcAft>
              <a:defRPr sz="1100" b="1">
                <a:solidFill>
                  <a:srgbClr val="E98F71"/>
                </a:solidFill>
                <a:latin typeface="Calibri"/>
              </a:defRPr>
            </a:pPr>
            <a:r>
              <a:t>mhidper.github.io/micro_apps</a:t>
            </a:r>
          </a:p>
          <a:p>
            <a:pPr algn="ctr">
              <a:defRPr sz="1000">
                <a:solidFill>
                  <a:srgbClr val="76927A"/>
                </a:solidFill>
                <a:latin typeface="Calibri"/>
              </a:defRPr>
            </a:pPr>
            <a:r>
              <a:t>(Módulo interactivo · Acceso libre desde el móvil)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4 · MATRIZ DE DECISIÓN DE POLÍTICAS</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Asignación Óptima de Instrumentos y Errores de Diagnóstico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La regla de oro: asignar el instrumento a la causa raíz del desempleo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13 / 17</a:t>
            </a:r>
          </a:p>
        </p:txBody>
      </p:sp>
      <p:sp>
        <p:nvSpPr>
          <p:cNvPr id="8" name="Rounded Rectangle 7"/>
          <p:cNvSpPr/>
          <p:nvPr/>
        </p:nvSpPr>
        <p:spPr>
          <a:xfrm>
            <a:off x="548640" y="1645920"/>
            <a:ext cx="11091672" cy="105156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400" b="1">
                <a:solidFill>
                  <a:srgbClr val="76927A"/>
                </a:solidFill>
                <a:latin typeface="Outfit"/>
              </a:defRPr>
            </a:pPr>
            <a:r>
              <a:t>FRICCIONAL (u_f)  ·  Causa: Información imperfecta y tiempo de búsqueda de empleo.</a:t>
            </a:r>
          </a:p>
          <a:p>
            <a:pPr>
              <a:defRPr sz="1300">
                <a:solidFill>
                  <a:srgbClr val="2F3A30"/>
                </a:solidFill>
                <a:latin typeface="Calibri"/>
              </a:defRPr>
            </a:pPr>
            <a:r>
              <a:t>✔ Política correcta: Intermediación ágil, SEPE digitalizado, agencias de colocación.</a:t>
            </a:r>
            <a:br/>
            <a:r>
              <a:t>✖ Error fatal: Subsidios indefinidos que alargan la búsqueda sin incentivar el empleo.</a:t>
            </a:r>
          </a:p>
        </p:txBody>
      </p:sp>
      <p:sp>
        <p:nvSpPr>
          <p:cNvPr id="9" name="Rounded Rectangle 8"/>
          <p:cNvSpPr/>
          <p:nvPr/>
        </p:nvSpPr>
        <p:spPr>
          <a:xfrm>
            <a:off x="548640" y="2788920"/>
            <a:ext cx="11091672" cy="105156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400" b="1">
                <a:solidFill>
                  <a:srgbClr val="E98F71"/>
                </a:solidFill>
                <a:latin typeface="Outfit"/>
              </a:defRPr>
            </a:pPr>
            <a:r>
              <a:t>ESTRUCTURAL (u_e)  ·  Causa: Desajuste de competencias (skills mismatch), geográfico o institucional.</a:t>
            </a:r>
          </a:p>
          <a:p>
            <a:pPr>
              <a:defRPr sz="1300">
                <a:solidFill>
                  <a:srgbClr val="2F3A30"/>
                </a:solidFill>
                <a:latin typeface="Calibri"/>
              </a:defRPr>
            </a:pPr>
            <a:r>
              <a:t>✔ Política correcta: Políticas activas: reskilling, FP Dual, movilidad y flexibilidad negociada.</a:t>
            </a:r>
            <a:br/>
            <a:r>
              <a:t>✖ Error fatal: Inyectar gasto de demanda agregada (crea inflación sin resolver el desajuste).</a:t>
            </a:r>
          </a:p>
        </p:txBody>
      </p:sp>
      <p:sp>
        <p:nvSpPr>
          <p:cNvPr id="10" name="Rounded Rectangle 9"/>
          <p:cNvSpPr/>
          <p:nvPr/>
        </p:nvSpPr>
        <p:spPr>
          <a:xfrm>
            <a:off x="548640" y="3931920"/>
            <a:ext cx="11091672" cy="105156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400" b="1">
                <a:solidFill>
                  <a:srgbClr val="113927"/>
                </a:solidFill>
                <a:latin typeface="Outfit"/>
              </a:defRPr>
            </a:pPr>
            <a:r>
              <a:t>CÍCLICO (u_c)  ·  Causa: Insuficiencia generalizada de demanda agregada en fases recesivas.</a:t>
            </a:r>
          </a:p>
          <a:p>
            <a:pPr>
              <a:defRPr sz="1300">
                <a:solidFill>
                  <a:srgbClr val="2F3A30"/>
                </a:solidFill>
                <a:latin typeface="Calibri"/>
              </a:defRPr>
            </a:pPr>
            <a:r>
              <a:t>✔ Política correcta: Estabilizadores automáticos, política fiscal y monetaria contracíclica.</a:t>
            </a:r>
            <a:br/>
            <a:r>
              <a:t>✖ Error fatal: Cursos formativos aislados cuando el problema es que las empresas no venden.</a:t>
            </a:r>
          </a:p>
        </p:txBody>
      </p:sp>
      <p:sp>
        <p:nvSpPr>
          <p:cNvPr id="11" name="Rounded Rectangle 10"/>
          <p:cNvSpPr/>
          <p:nvPr/>
        </p:nvSpPr>
        <p:spPr>
          <a:xfrm>
            <a:off x="548640" y="5074920"/>
            <a:ext cx="11091672" cy="1051560"/>
          </a:xfrm>
          <a:prstGeom prst="roundRect">
            <a:avLst/>
          </a:prstGeom>
          <a:solidFill>
            <a:srgbClr val="F4F8F5"/>
          </a:solidFill>
          <a:ln w="19050">
            <a:solidFill>
              <a:srgbClr val="5E7162"/>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a:lstStyle/>
          <a:p>
            <a:pPr algn="ctr">
              <a:defRPr sz="1400" b="1">
                <a:solidFill>
                  <a:srgbClr val="5E7162"/>
                </a:solidFill>
                <a:latin typeface="Outfit"/>
              </a:defRPr>
            </a:pPr>
            <a:r>
              <a:t>ESTACIONAL (u_s)  ·  Causa: Variación climática o de calendario productivo predecible y recurrente.</a:t>
            </a:r>
          </a:p>
          <a:p>
            <a:pPr>
              <a:defRPr sz="1300">
                <a:solidFill>
                  <a:srgbClr val="2F3A30"/>
                </a:solidFill>
                <a:latin typeface="Calibri"/>
              </a:defRPr>
            </a:pPr>
            <a:r>
              <a:t>✔ Política correcta: Contrato fijo-discontinuo, diversificación económica y formación en valle.</a:t>
            </a:r>
            <a:br/>
            <a:r>
              <a:t>✖ Error fatal: Obligar a contratos ordinarios continuos en actividades de temporada.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RETO INDIVIDUAL DE CIERRE (10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Reto de Aplicación Analítica: Estímulo Fiscal en la NAIRU</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Redacción individual de puño y letra en papel en entorno libre de pantallas</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14 / 17</a:t>
            </a:r>
          </a:p>
        </p:txBody>
      </p:sp>
      <p:sp>
        <p:nvSpPr>
          <p:cNvPr id="8" name="Rounded Rectangle 7"/>
          <p:cNvSpPr/>
          <p:nvPr/>
        </p:nvSpPr>
        <p:spPr>
          <a:xfrm>
            <a:off x="548640" y="1645920"/>
            <a:ext cx="11091672" cy="4389120"/>
          </a:xfrm>
          <a:prstGeom prst="roundRect">
            <a:avLst/>
          </a:prstGeom>
          <a:solidFill>
            <a:srgbClr val="F4F8F5"/>
          </a:solidFill>
          <a:ln w="2540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01168"/>
          <a:lstStyle/>
          <a:p>
            <a:pPr algn="ctr">
              <a:spcAft>
                <a:spcPts val="800"/>
              </a:spcAft>
              <a:defRPr sz="1400" b="1">
                <a:solidFill>
                  <a:srgbClr val="E98F71"/>
                </a:solidFill>
                <a:latin typeface="Outfit"/>
              </a:defRPr>
            </a:pPr>
            <a:r>
              <a:t>EN 10 MINUTOS · REDACTA A MANO EN UNA HOJA DE PAPEL</a:t>
            </a:r>
          </a:p>
          <a:p>
            <a:pPr>
              <a:spcAft>
                <a:spcPts val="1400"/>
              </a:spcAft>
              <a:defRPr sz="1700" b="1">
                <a:solidFill>
                  <a:srgbClr val="113927"/>
                </a:solidFill>
                <a:latin typeface="Calibri"/>
              </a:defRPr>
            </a:pPr>
            <a:r>
              <a:t>«Un gobierno aprueba un ambicioso plan de estímulo de gasto público para forzar una reducción del desempleo en un ejercicio en el que la economía ya se encuentra exactamente en su tasa natural (NAIRU, u_t = u_n)». Razona con rigor económico formal:</a:t>
            </a:r>
          </a:p>
          <a:p>
            <a:pPr>
              <a:spcAft>
                <a:spcPts val="1000"/>
              </a:spcAft>
              <a:defRPr sz="1600">
                <a:solidFill>
                  <a:srgbClr val="2F3A30"/>
                </a:solidFill>
                <a:latin typeface="Calibri"/>
              </a:defRPr>
            </a:pPr>
            <a:r>
              <a:t>a) Corto Plazo e Inflación: ¿Qué ocurre a corto plazo con el desempleo (u_t) y la tasa de inflación (π_t)? Apóyate formalmente en la ecuación de la Curva de Phillips vista en clase.</a:t>
            </a:r>
          </a:p>
          <a:p>
            <a:pPr>
              <a:spcAft>
                <a:spcPts val="1000"/>
              </a:spcAft>
              <a:defRPr sz="1600">
                <a:solidFill>
                  <a:srgbClr val="2F3A30"/>
                </a:solidFill>
                <a:latin typeface="Calibri"/>
              </a:defRPr>
            </a:pPr>
            <a:r>
              <a:t>b) Largo Plazo y Expectativas: ¿Qué ocurre a largo plazo cuando los trabajadores y empresas ajustan sus expectativas de inflación (π_t^e)? ¿Consigue el gobierno una ganancia neta duradera de empleo?</a:t>
            </a:r>
          </a:p>
          <a:p>
            <a:pPr>
              <a:defRPr sz="1600">
                <a:solidFill>
                  <a:srgbClr val="2F3A30"/>
                </a:solidFill>
                <a:latin typeface="Calibri"/>
              </a:defRPr>
            </a:pPr>
            <a:r>
              <a:t>c) Recomendación de Política Pública: Si el objetivo de la política sociolaboral es reducir la NAIRU (u_n) de forma permanente y sin inflación, ¿qué tipo de políticas debe implementar y sobre qué componentes del paro debe actuar?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SUBIDA FOTOGRÁFICA (2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Envío Digital Autenticado del Reto Manuscrito</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Fotografía y subida instantánea mediante código QR institucional UPO</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15 / 17</a:t>
            </a:r>
          </a:p>
        </p:txBody>
      </p:sp>
      <p:sp>
        <p:nvSpPr>
          <p:cNvPr id="8" name="Rounded Rectangle 7"/>
          <p:cNvSpPr/>
          <p:nvPr/>
        </p:nvSpPr>
        <p:spPr>
          <a:xfrm>
            <a:off x="548640" y="1645920"/>
            <a:ext cx="685800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600" b="1">
                <a:solidFill>
                  <a:srgbClr val="E98F71"/>
                </a:solidFill>
                <a:latin typeface="Outfit"/>
              </a:defRPr>
            </a:pPr>
            <a:r>
              <a:t>PASAPORTE DE EVALUACIÓN CONTINUA · PSLL</a:t>
            </a:r>
          </a:p>
          <a:p>
            <a:pPr>
              <a:spcAft>
                <a:spcPts val="800"/>
              </a:spcAft>
              <a:defRPr sz="1600" b="1">
                <a:solidFill>
                  <a:srgbClr val="113927"/>
                </a:solidFill>
                <a:latin typeface="Outfit"/>
              </a:defRPr>
            </a:pPr>
            <a:r>
              <a:t>Instrucciones de Entrega (2 minutos):</a:t>
            </a:r>
          </a:p>
          <a:p>
            <a:pPr>
              <a:spcAft>
                <a:spcPts val="600"/>
              </a:spcAft>
              <a:defRPr sz="1500">
                <a:solidFill>
                  <a:srgbClr val="2F3A30"/>
                </a:solidFill>
                <a:latin typeface="Calibri"/>
              </a:defRPr>
            </a:pPr>
            <a:r>
              <a:t>1. Identificación: Escribe tu Nombre, Apellidos y DNI bien legibles en la cabecera de la cuartilla manuscrita.</a:t>
            </a:r>
          </a:p>
          <a:p>
            <a:pPr>
              <a:spcAft>
                <a:spcPts val="600"/>
              </a:spcAft>
              <a:defRPr sz="1500">
                <a:solidFill>
                  <a:srgbClr val="2F3A30"/>
                </a:solidFill>
                <a:latin typeface="Calibri"/>
              </a:defRPr>
            </a:pPr>
            <a:r>
              <a:t>2. Fotografía: Captura una foto clara, enfocada y vertical de tu resolución.</a:t>
            </a:r>
          </a:p>
          <a:p>
            <a:pPr>
              <a:spcAft>
                <a:spcPts val="600"/>
              </a:spcAft>
              <a:defRPr sz="1500">
                <a:solidFill>
                  <a:srgbClr val="2F3A30"/>
                </a:solidFill>
                <a:latin typeface="Calibri"/>
              </a:defRPr>
            </a:pPr>
            <a:r>
              <a:t>3. Acceso: Escanea el código QR de la derecha o entra en Forms con tu cuenta institucional (@alu.upo.es).</a:t>
            </a:r>
          </a:p>
          <a:p>
            <a:pPr>
              <a:spcAft>
                <a:spcPts val="600"/>
              </a:spcAft>
              <a:defRPr sz="1500">
                <a:solidFill>
                  <a:srgbClr val="2F3A30"/>
                </a:solidFill>
                <a:latin typeface="Calibri"/>
              </a:defRPr>
            </a:pPr>
            <a:r>
              <a:t>4. Subida: Adjunta la imagen y pulsa Enviar antes de que venza el tiempo.</a:t>
            </a:r>
          </a:p>
          <a:p>
            <a:pPr>
              <a:spcAft>
                <a:spcPts val="600"/>
              </a:spcAft>
              <a:defRPr sz="1500">
                <a:solidFill>
                  <a:srgbClr val="2F3A30"/>
                </a:solidFill>
                <a:latin typeface="Calibri"/>
              </a:defRPr>
            </a:pPr>
            <a:r>
              <a:t>5. Beneficio: Las entregas válidas acumulan puntuación continua para el Pasaporte Digital y desbloquean ventajas para el examen final (70%).</a:t>
            </a:r>
          </a:p>
        </p:txBody>
      </p:sp>
      <p:sp>
        <p:nvSpPr>
          <p:cNvPr id="9" name="Rounded Rectangle 8"/>
          <p:cNvSpPr/>
          <p:nvPr/>
        </p:nvSpPr>
        <p:spPr>
          <a:xfrm>
            <a:off x="7680960" y="1645920"/>
            <a:ext cx="393192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500" b="1">
                <a:solidFill>
                  <a:srgbClr val="E98F71"/>
                </a:solidFill>
                <a:latin typeface="Outfit"/>
              </a:defRPr>
            </a:pPr>
            <a:r>
              <a:t>ESCANEA PARA SUBIR TU RETO</a:t>
            </a:r>
          </a:p>
          <a:p>
            <a:pPr algn="ctr">
              <a:spcAft>
                <a:spcPts val="800"/>
              </a:spcAft>
              <a:defRPr sz="1300">
                <a:solidFill>
                  <a:srgbClr val="2F3A30"/>
                </a:solidFill>
                <a:latin typeface="Calibri"/>
              </a:defRPr>
            </a:pPr>
            <a:r>
              <a:t>Microsoft Forms Oficial · Cuenta UPO</a:t>
            </a:r>
            <a:br/>
            <a:r>
              <a:t>Tiempo límite de subida: 2 minutos</a:t>
            </a:r>
          </a:p>
        </p:txBody>
      </p:sp>
      <p:pic>
        <p:nvPicPr>
          <p:cNvPr id="10" name="Picture 9" descr="qr_reto_sesion04.png"/>
          <p:cNvPicPr>
            <a:picLocks noChangeAspect="1"/>
          </p:cNvPicPr>
          <p:nvPr/>
        </p:nvPicPr>
        <p:blipFill>
          <a:blip r:embed="rId3"/>
          <a:stretch>
            <a:fillRect/>
          </a:stretch>
        </p:blipFill>
        <p:spPr>
          <a:xfrm>
            <a:off x="8275320" y="2697480"/>
            <a:ext cx="2743200" cy="2743200"/>
          </a:xfrm>
          <a:prstGeom prst="rect">
            <a:avLst/>
          </a:prstGeom>
        </p:spPr>
      </p:pic>
      <p:sp>
        <p:nvSpPr>
          <p:cNvPr id="11" name="TextBox 10"/>
          <p:cNvSpPr txBox="1"/>
          <p:nvPr/>
        </p:nvSpPr>
        <p:spPr>
          <a:xfrm>
            <a:off x="7680960" y="5532120"/>
            <a:ext cx="3931920" cy="457200"/>
          </a:xfrm>
          <a:prstGeom prst="rect">
            <a:avLst/>
          </a:prstGeom>
          <a:noFill/>
        </p:spPr>
        <p:txBody>
          <a:bodyPr wrap="none">
            <a:spAutoFit/>
          </a:bodyPr>
          <a:lstStyle/>
          <a:p>
            <a:pPr algn="ctr">
              <a:defRPr sz="1200" b="1">
                <a:solidFill>
                  <a:srgbClr val="113927"/>
                </a:solidFill>
                <a:latin typeface="Calibri"/>
              </a:defRPr>
            </a:pPr>
            <a:r>
              <a:t>forms.office.com/e/PSLL_Reto_Sesion04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BLOQUE 5 · RÚBRICA Y SOLUCIÓN MODELO (5 MIN)</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Criterios de Corrección y Feedback Formativo In Situ</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Comprueba tu razonamiento con la solución canónica oficial de la cátedra</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16 / 17</a:t>
            </a:r>
          </a:p>
        </p:txBody>
      </p:sp>
      <p:sp>
        <p:nvSpPr>
          <p:cNvPr id="8" name="Rounded Rectangle 7"/>
          <p:cNvSpPr/>
          <p:nvPr/>
        </p:nvSpPr>
        <p:spPr>
          <a:xfrm>
            <a:off x="548640" y="1645920"/>
            <a:ext cx="3566160" cy="43891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400" b="1">
                <a:solidFill>
                  <a:srgbClr val="113927"/>
                </a:solidFill>
                <a:latin typeface="Outfit"/>
              </a:defRPr>
            </a:pPr>
            <a:r>
              <a:t>a) CORTO PLAZO (0–350 PTS)</a:t>
            </a:r>
          </a:p>
          <a:p>
            <a:pPr>
              <a:spcAft>
                <a:spcPts val="800"/>
              </a:spcAft>
              <a:defRPr sz="1500" b="1">
                <a:solidFill>
                  <a:srgbClr val="113927"/>
                </a:solidFill>
                <a:latin typeface="Outfit"/>
              </a:defRPr>
            </a:pPr>
            <a:r>
              <a:t>Efecto sobre Empleo e Inflación</a:t>
            </a:r>
          </a:p>
          <a:p>
            <a:pPr>
              <a:defRPr sz="1400">
                <a:solidFill>
                  <a:srgbClr val="2F3A30"/>
                </a:solidFill>
                <a:latin typeface="Calibri"/>
              </a:defRPr>
            </a:pPr>
            <a:r>
              <a:t>• El estímulo desplaza la demanda agregada y sitúa transitoriamente u_t &lt; u_n.</a:t>
            </a:r>
            <a:br/>
            <a:r>
              <a:t>• Según la ecuación π_t = π_t^e - β(u_t - u_n), al ser (u_t - u_n) &lt; 0, la inflación se acelera por encima de la esperada (π_t &gt; π_t^e).</a:t>
            </a:r>
            <a:br/>
            <a:r>
              <a:t>• Hay una ganancia coyuntural de empleo a costa de mayor inflación (movimiento a lo largo de la curva de corto plazo).</a:t>
            </a:r>
          </a:p>
        </p:txBody>
      </p:sp>
      <p:sp>
        <p:nvSpPr>
          <p:cNvPr id="9" name="Rounded Rectangle 8"/>
          <p:cNvSpPr/>
          <p:nvPr/>
        </p:nvSpPr>
        <p:spPr>
          <a:xfrm>
            <a:off x="4297679" y="1645920"/>
            <a:ext cx="3566160" cy="43891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400" b="1">
                <a:solidFill>
                  <a:srgbClr val="76927A"/>
                </a:solidFill>
                <a:latin typeface="Outfit"/>
              </a:defRPr>
            </a:pPr>
            <a:r>
              <a:t>b) LARGO PLAZO (0–350 PTS)</a:t>
            </a:r>
          </a:p>
          <a:p>
            <a:pPr>
              <a:spcAft>
                <a:spcPts val="800"/>
              </a:spcAft>
              <a:defRPr sz="1500" b="1">
                <a:solidFill>
                  <a:srgbClr val="113927"/>
                </a:solidFill>
                <a:latin typeface="Outfit"/>
              </a:defRPr>
            </a:pPr>
            <a:r>
              <a:t>Ajuste de Expectativas de Inflación</a:t>
            </a:r>
          </a:p>
          <a:p>
            <a:pPr>
              <a:defRPr sz="1400">
                <a:solidFill>
                  <a:srgbClr val="2F3A30"/>
                </a:solidFill>
                <a:latin typeface="Calibri"/>
              </a:defRPr>
            </a:pPr>
            <a:r>
              <a:t>• Con el tiempo, trabajadores y empresas revisan al alza sus expectativas de inflación (π_t^e = π_t) al constatar la pérdida de poder adquisitivo.</a:t>
            </a:r>
            <a:br/>
            <a:r>
              <a:t>• La Curva de Phillips de corto plazo se desplaza hacia arriba hasta que el desempleo retorna exactamente a la NAIRU (u_n).</a:t>
            </a:r>
            <a:br/>
            <a:r>
              <a:t>• Conclusión: A largo plazo la curva es vertical; no hay ganancia permanente de empleo, solo mayor inflación.</a:t>
            </a:r>
          </a:p>
        </p:txBody>
      </p:sp>
      <p:sp>
        <p:nvSpPr>
          <p:cNvPr id="10" name="Rounded Rectangle 9"/>
          <p:cNvSpPr/>
          <p:nvPr/>
        </p:nvSpPr>
        <p:spPr>
          <a:xfrm>
            <a:off x="8046719" y="1645920"/>
            <a:ext cx="3566160" cy="43891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400" b="1">
                <a:solidFill>
                  <a:srgbClr val="E98F71"/>
                </a:solidFill>
                <a:latin typeface="Outfit"/>
              </a:defRPr>
            </a:pPr>
            <a:r>
              <a:t>c) POLÍTICA ÓPTIMA (0–300 PTS)</a:t>
            </a:r>
          </a:p>
          <a:p>
            <a:pPr>
              <a:spcAft>
                <a:spcPts val="800"/>
              </a:spcAft>
              <a:defRPr sz="1500" b="1">
                <a:solidFill>
                  <a:srgbClr val="113927"/>
                </a:solidFill>
                <a:latin typeface="Outfit"/>
              </a:defRPr>
            </a:pPr>
            <a:r>
              <a:t>Desplazamiento Permanente de NAIRU</a:t>
            </a:r>
          </a:p>
          <a:p>
            <a:pPr>
              <a:defRPr sz="1400">
                <a:solidFill>
                  <a:srgbClr val="2F3A30"/>
                </a:solidFill>
                <a:latin typeface="Calibri"/>
              </a:defRPr>
            </a:pPr>
            <a:r>
              <a:t>• Para reducir u_n = u_f + u_e hay que atacar las causas de fondo:</a:t>
            </a:r>
            <a:br/>
            <a:r>
              <a:t>  - Paro friccional (u_f): Mejor intermediación digital y emparejamiento ágil en el SEPE.</a:t>
            </a:r>
            <a:br/>
            <a:r>
              <a:t>  - Paro estructural (u_e): Políticas activas de formación (reskilling), FP Dual, movilidad geográfica y reformas contra la dualidad.</a:t>
            </a:r>
            <a:br/>
            <a:r>
              <a:t>• El estímulo de demanda es inútil para mover la NAIRU.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none">
            <a:spAutoFit/>
          </a:bodyPr>
          <a:lstStyle/>
          <a:p>
            <a:pPr>
              <a:defRPr sz="1100" b="1">
                <a:solidFill>
                  <a:srgbClr val="E98F71"/>
                </a:solidFill>
                <a:latin typeface="Outfit"/>
              </a:defRPr>
            </a:pPr>
            <a:r>
              <a:t>SÍNTESIS DE LA SESIÓN EB 4</a:t>
            </a:r>
          </a:p>
        </p:txBody>
      </p:sp>
      <p:sp>
        <p:nvSpPr>
          <p:cNvPr id="3" name="TextBox 2"/>
          <p:cNvSpPr txBox="1"/>
          <p:nvPr/>
        </p:nvSpPr>
        <p:spPr>
          <a:xfrm>
            <a:off x="548640" y="621792"/>
            <a:ext cx="9601200" cy="475488"/>
          </a:xfrm>
          <a:prstGeom prst="rect">
            <a:avLst/>
          </a:prstGeom>
          <a:noFill/>
        </p:spPr>
        <p:txBody>
          <a:bodyPr wrap="none">
            <a:spAutoFit/>
          </a:bodyPr>
          <a:lstStyle/>
          <a:p>
            <a:pPr>
              <a:defRPr sz="2200" b="1">
                <a:solidFill>
                  <a:srgbClr val="113927"/>
                </a:solidFill>
                <a:latin typeface="Outfit"/>
              </a:defRPr>
            </a:pPr>
            <a:r>
              <a:t>Las Tres Conclusiones Imborrables de Hoy</a:t>
            </a:r>
          </a:p>
        </p:txBody>
      </p:sp>
      <p:sp>
        <p:nvSpPr>
          <p:cNvPr id="4" name="TextBox 3"/>
          <p:cNvSpPr txBox="1"/>
          <p:nvPr/>
        </p:nvSpPr>
        <p:spPr>
          <a:xfrm>
            <a:off x="548640" y="1097280"/>
            <a:ext cx="9601200" cy="347472"/>
          </a:xfrm>
          <a:prstGeom prst="rect">
            <a:avLst/>
          </a:prstGeom>
          <a:noFill/>
        </p:spPr>
        <p:txBody>
          <a:bodyPr wrap="none">
            <a:spAutoFit/>
          </a:bodyPr>
          <a:lstStyle/>
          <a:p>
            <a:pPr>
              <a:defRPr sz="1300" i="1">
                <a:solidFill>
                  <a:srgbClr val="2F3A30"/>
                </a:solidFill>
                <a:latin typeface="Calibri"/>
              </a:defRPr>
            </a:pPr>
            <a:r>
              <a:t>Resumen conceptual y avance de la próxima sesión</a:t>
            </a:r>
          </a:p>
        </p:txBody>
      </p:sp>
      <p:pic>
        <p:nvPicPr>
          <p:cNvPr id="5" name="Picture 4" descr="psll_lockup.png"/>
          <p:cNvPicPr>
            <a:picLocks noChangeAspect="1"/>
          </p:cNvPicPr>
          <p:nvPr/>
        </p:nvPicPr>
        <p:blipFill>
          <a:blip r:embed="rId2"/>
          <a:stretch>
            <a:fillRect/>
          </a:stretch>
        </p:blipFill>
        <p:spPr>
          <a:xfrm>
            <a:off x="10515600" y="365760"/>
            <a:ext cx="1161288" cy="365760"/>
          </a:xfrm>
          <a:prstGeom prst="rect">
            <a:avLst/>
          </a:prstGeom>
        </p:spPr>
      </p:pic>
      <p:sp>
        <p:nvSpPr>
          <p:cNvPr id="6" name="TextBox 5"/>
          <p:cNvSpPr txBox="1"/>
          <p:nvPr/>
        </p:nvSpPr>
        <p:spPr>
          <a:xfrm>
            <a:off x="548640" y="6400800"/>
            <a:ext cx="9144000" cy="274320"/>
          </a:xfrm>
          <a:prstGeom prst="rect">
            <a:avLst/>
          </a:prstGeom>
          <a:noFill/>
        </p:spPr>
        <p:txBody>
          <a:bodyPr wrap="none">
            <a:spAutoFit/>
          </a:bodyPr>
          <a:lstStyle/>
          <a:p>
            <a:pPr>
              <a:defRPr sz="950">
                <a:solidFill>
                  <a:srgbClr val="5E7162"/>
                </a:solidFill>
                <a:latin typeface="Calibri"/>
              </a:defRPr>
            </a:pPr>
            <a:r>
              <a:t>Políticas Sociolaborales y de Empleo · Grado en RRLL y RRHH / Doble Grado DER-RRLL · UPO</a:t>
            </a:r>
          </a:p>
        </p:txBody>
      </p:sp>
      <p:sp>
        <p:nvSpPr>
          <p:cNvPr id="7" name="TextBox 6"/>
          <p:cNvSpPr txBox="1"/>
          <p:nvPr/>
        </p:nvSpPr>
        <p:spPr>
          <a:xfrm>
            <a:off x="10515600" y="6400800"/>
            <a:ext cx="1097280" cy="274320"/>
          </a:xfrm>
          <a:prstGeom prst="rect">
            <a:avLst/>
          </a:prstGeom>
          <a:noFill/>
        </p:spPr>
        <p:txBody>
          <a:bodyPr wrap="none">
            <a:spAutoFit/>
          </a:bodyPr>
          <a:lstStyle/>
          <a:p>
            <a:pPr algn="r">
              <a:defRPr sz="950">
                <a:solidFill>
                  <a:srgbClr val="5E7162"/>
                </a:solidFill>
                <a:latin typeface="Calibri"/>
              </a:defRPr>
            </a:pPr>
            <a:r>
              <a:t>17 / 17</a:t>
            </a:r>
          </a:p>
        </p:txBody>
      </p:sp>
      <p:sp>
        <p:nvSpPr>
          <p:cNvPr id="8" name="Rounded Rectangle 7"/>
          <p:cNvSpPr/>
          <p:nvPr/>
        </p:nvSpPr>
        <p:spPr>
          <a:xfrm>
            <a:off x="548640" y="1645920"/>
            <a:ext cx="11091672" cy="137160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37160"/>
          <a:lstStyle/>
          <a:p>
            <a:pPr algn="ctr">
              <a:spcAft>
                <a:spcPts val="400"/>
              </a:spcAft>
              <a:defRPr sz="1500" b="1">
                <a:solidFill>
                  <a:srgbClr val="113927"/>
                </a:solidFill>
                <a:latin typeface="Outfit"/>
              </a:defRPr>
            </a:pPr>
            <a:r>
              <a:t>1. EL DESEMPLEO NO ES UN FENÓMENO ÚNICO</a:t>
            </a:r>
          </a:p>
          <a:p>
            <a:pPr>
              <a:defRPr sz="1500">
                <a:solidFill>
                  <a:srgbClr val="2F3A30"/>
                </a:solidFill>
                <a:latin typeface="Calibri"/>
              </a:defRPr>
            </a:pPr>
            <a:r>
              <a:t>El desempleo friccional, estructural, cíclico y estacional responden a causas económicas completamente diferentes. Tratar el paro con una única receta indiscriminada garantiza el fracaso: aplicar gasto expansivo a un desajuste estructural genera inflación sin crear empleo duradero.</a:t>
            </a:r>
          </a:p>
        </p:txBody>
      </p:sp>
      <p:sp>
        <p:nvSpPr>
          <p:cNvPr id="9" name="Rounded Rectangle 8"/>
          <p:cNvSpPr/>
          <p:nvPr/>
        </p:nvSpPr>
        <p:spPr>
          <a:xfrm>
            <a:off x="548640" y="3154680"/>
            <a:ext cx="11091672" cy="137160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37160"/>
          <a:lstStyle/>
          <a:p>
            <a:pPr algn="ctr">
              <a:spcAft>
                <a:spcPts val="400"/>
              </a:spcAft>
              <a:defRPr sz="1500" b="1">
                <a:solidFill>
                  <a:srgbClr val="E98F71"/>
                </a:solidFill>
                <a:latin typeface="Outfit"/>
              </a:defRPr>
            </a:pPr>
            <a:r>
              <a:t>2. EL LÍMITE ESTRUCTURAL: LA NAIRU ES INEXORABLE</a:t>
            </a:r>
          </a:p>
          <a:p>
            <a:pPr>
              <a:defRPr sz="1500">
                <a:solidFill>
                  <a:srgbClr val="2F3A30"/>
                </a:solidFill>
                <a:latin typeface="Calibri"/>
              </a:defRPr>
            </a:pPr>
            <a:r>
              <a:t>La NAIRU (u_n) es el ancla que marca el equilibrio no inflacionario del mercado de trabajo. A largo plazo la Curva de Phillips es vertical: los agentes adaptan sus expectativas y el empleo regresa a su nivel natural. Solo las reformas estructurales y las políticas activas pueden desplazar la NAIRU.</a:t>
            </a:r>
          </a:p>
        </p:txBody>
      </p:sp>
      <p:sp>
        <p:nvSpPr>
          <p:cNvPr id="10" name="Rounded Rectangle 9"/>
          <p:cNvSpPr/>
          <p:nvPr/>
        </p:nvSpPr>
        <p:spPr>
          <a:xfrm>
            <a:off x="548640" y="4663440"/>
            <a:ext cx="11091672" cy="137160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37160"/>
          <a:lstStyle/>
          <a:p>
            <a:pPr algn="ctr">
              <a:spcAft>
                <a:spcPts val="400"/>
              </a:spcAft>
              <a:defRPr sz="1500" b="1">
                <a:solidFill>
                  <a:srgbClr val="76927A"/>
                </a:solidFill>
                <a:latin typeface="Outfit"/>
              </a:defRPr>
            </a:pPr>
            <a:r>
              <a:t>3. PRÓXIMA PARADA: LA CURVA DE BEVERIDGE Y EL CASO 1</a:t>
            </a:r>
          </a:p>
          <a:p>
            <a:pPr>
              <a:defRPr sz="1500">
                <a:solidFill>
                  <a:srgbClr val="2F3A30"/>
                </a:solidFill>
                <a:latin typeface="Calibri"/>
              </a:defRPr>
            </a:pPr>
            <a:r>
              <a:t>En la Sesión 5 uniremos vacantes (V) y desempleo (U) mediante la Curva de Beveridge y la función de emparejamiento de Pissarides. Descubriremos por qué el mercado no casa oferentes y demandantes y aplicaremos este modelo para auditar el Programa Emplea-T en el Caso 1 de EPD.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