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Outfit"/>
              </a:rPr>
              <a:t>POLÍTICAS SOCIOLABORALES Y DE EMPLEO</a:t>
            </a:r>
          </a:p>
          <a:p>
            <a:pPr algn="ctr"/>
            <a:r>
              <a:rPr sz="1700" b="1" i="0">
                <a:solidFill>
                  <a:srgbClr val="EDB090"/>
                </a:solidFill>
                <a:latin typeface="Outfit"/>
              </a:rPr>
              <a:t>Sesión 10 – Activación, Control de la Búsqueda y Efectos sobre el Empleo</a:t>
            </a:r>
          </a:p>
          <a:p>
            <a:pPr algn="ctr"/>
            <a:r>
              <a:rPr sz="1200" b="0" i="0">
                <a:solidFill>
                  <a:srgbClr val="F4F8F5"/>
                </a:solidFill>
                <a:latin typeface="Calibri"/>
              </a:rPr>
              <a:t>Semana 7 · Grado en RRLL y RRHH · Código 102023 · Manuel A. Hidalgo Pérez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2F3A30"/>
                </a:solidFill>
                <a:latin typeface="Calibri"/>
              </a:rPr>
              <a:t>Grado en Relaciones Laborales y Recursos Humanos · Doble Grado en Derecho y RRLL-RRHH · Universidad Pablo de Olavide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HOJA DE RUTA · 120 MINUTOS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Arquitectura Pedagógica de la Sesión 10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2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44805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1 (00–20 min)</a:t>
            </a:r>
          </a:p>
          <a:p>
            <a:r>
              <a:rPr sz="1400" b="1" i="0">
                <a:solidFill>
                  <a:srgbClr val="113927"/>
                </a:solidFill>
                <a:latin typeface="Outfit"/>
              </a:rPr>
              <a:t>Gancho y Debate Inicial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Noticia del CAE, sondeo Forms en directo y choque empírico de la trampa del paro a tiempo parcial.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2057400" cy="44805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2 (20–45 min)</a:t>
            </a:r>
          </a:p>
          <a:p>
            <a:r>
              <a:rPr sz="1400" b="1" i="0">
                <a:solidFill>
                  <a:srgbClr val="113927"/>
                </a:solidFill>
                <a:latin typeface="Outfit"/>
              </a:rPr>
              <a:t>Mini-Lección: Activación y CAE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Reforma RD-ley 2/2024 / 2026: compatibilidad salario-subsidio, colocación adecuada y régimen LISOS.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2057400" cy="44805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</a:t>
            </a:r>
          </a:p>
          <a:p>
            <a:r>
              <a:rPr sz="1400" b="1" i="0">
                <a:solidFill>
                  <a:srgbClr val="113927"/>
                </a:solidFill>
                <a:latin typeface="Outfit"/>
              </a:rPr>
              <a:t>Mini-Lección: Dinámica Temporal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Pico de salida al agotamiento (Spike at exhaustion), asfixia de liquidez y calidad del empleo.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1463040"/>
            <a:ext cx="2057400" cy="44805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59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4 (70–85 min)</a:t>
            </a:r>
          </a:p>
          <a:p>
            <a:r>
              <a:rPr sz="1400" b="1" i="0">
                <a:solidFill>
                  <a:srgbClr val="E98F71"/>
                </a:solidFill>
                <a:latin typeface="Outfit"/>
              </a:rPr>
              <a:t>Laboratorio Activo (App)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Taller interactivo individual desde el móvil con micro-app: simulación de casos de RRLL.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463040"/>
            <a:ext cx="2057400" cy="44805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(85–120 min)</a:t>
            </a:r>
          </a:p>
          <a:p>
            <a:r>
              <a:rPr sz="1400" b="1" i="0">
                <a:solidFill>
                  <a:srgbClr val="113927"/>
                </a:solidFill>
                <a:latin typeface="Outfit"/>
              </a:rPr>
              <a:t>Reto Manuscrito y Feedback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Cuartilla manuscrita individual (10 min), subida con QR a Forms y proyección de solución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1 (00–20 MIN) · APERTURA Y GANCHO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Noticia de Prensa: El Estreno del Complemento de Apoyo al Empleo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3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CINCO DÍAS / EXPANSIÓN · LEGISLACIÓN LABORAL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«El SEPE estrena la compatibilidad general entre subsidio y contrato: ¿Incentivo al empleo o subsidio a la parcialidad?»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• La reforma del sistema de protección asistencial (RD-ley 2/2024 / 2026) introduce en España el Complemento de Apoyo al Empleo (CAE).
• Por primera vez, un perceptor de subsidio asistencial puede empezar a trabajar a tiempo completo o parcial sin perder su ayuda pública durante 180 días.
• El objetivo institucional es derribar la histórica trampa del desempleo, donde aceptar un empleo parcial suponía perder dinero a final de 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38404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98F71"/>
                </a:solidFill>
                <a:latin typeface="Outfit"/>
              </a:rPr>
              <a:t>EL ENIGMA PARA RRLL</a:t>
            </a:r>
          </a:p>
          <a:p>
            <a:r>
              <a:rPr sz="1500" b="1" i="0">
                <a:solidFill>
                  <a:srgbClr val="113927"/>
                </a:solidFill>
                <a:latin typeface="Calibri"/>
              </a:rPr>
              <a:t>Durante 40 años, la regla de oro fue:
«O trabajas, o cobras paro».
Si una persona cobra 480 € de subsidio y le ofrecen 20 h/semana por 660 € netos:
¿Por qué antes de 2024 la inmensa mayoría rechazaba la oferta?
¿Cómo cambia el CAE las decisiones de contratación en las empresas?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1 (00–20 MIN) · CONCEPTO CLAVE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La «Trampa del Desempleo»: Cuando Trabajar Cuesta Dinero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4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Régimen Tradicional (Sin CAE)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• Subsidio por desempleo: 480 € / mes.
• Oferta laboral a tiempo parcial (20 h): 660 € / mes.
• Al firmar el contrato: Extinción del 100% del subsidio.
Ganancia neta líquida mensual:
660 € - 480 € = 180 € adicionales al mes.
• Por 80 horas de trabajo efectivo:
180 € / 80 h = 2,25 € netos por hora.
• Resultado: Descontando transporte y manutención, la ganancia real es negativa. El trabajador racional rechaza el empleo.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98F71"/>
                </a:solidFill>
                <a:latin typeface="Outfit"/>
              </a:rPr>
              <a:t>Nuevo Régimen con CAE (RD-ley 2/2024 / 2026)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• Oferta a tiempo parcial (ejemplo): 660 € netos / mes.
• Compatibilidad CAE: Mantiene el 70% del subsidio (336 €).
• Ingreso mensual conjunto: 660 € + 336 € = 996 € netos.
• Ganancia neta frente a estar parado: +516 € al mes.
Topes y Límites Máximos Legales (Art. 282 bis LGSS):
• Límite retributivo: El salario del empleo no puede superar el 375% del IPREM (2.250 € brutos/mes en 2026).
• Límite máximo del subsidio: El CAE no puede superar el 80% del IPREM (máx. 480 €/mes en jornada completa).
• Tope conjunto: La suma total de salario y complemento no puede exceder la retribución bruta previa al despido.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1 (00–20 MIN) · PARTICIPACIÓN EN DIRECTO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Sondeo de Aula: ¿Aceptaría Laura la Oferta Laboral?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5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13927"/>
                </a:solidFill>
                <a:latin typeface="Outfit"/>
              </a:rPr>
              <a:t>PREGUNTA DE SONDEO (1 MINUTO DESDE EL MÓVIL)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Un demandante cobra 480 € de subsidio y le ofrecen 20 h/semana por 660 € netos.
Si la normativa NO permitiera compatibilizar ayuda y sueldo, ¿cuál es la reacción esperada?
[A] Aceptará con entusiasmo, porque trabajar siempre es mejor que un subsidio.
[B] Rechazará la oferta: el esfuerzo y costes de transporte reducen la ganancia neta a solo 2,25 €/hora (Trampa del paro).
[C] El SEPE le retirará la prestación automáticamente antes de poder decidir.
[D] La empresa está legalmente obligada a duplicar el salario.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20040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sondeo_sesio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3927"/>
                </a:solidFill>
                <a:latin typeface="Outfit"/>
              </a:rPr>
              <a:t>ESCANEA PARA VOTAR
Microsoft Forms · UPO
Solo 1 minuto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1 (00–20 MIN) · CHOQUE EMPÍRICO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Desmontando el Prejuicio: Racionalidad de Incentivos en RRLL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6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Conclusión de Apertura: Las Conductas Responden al Diseño Institucional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2F3A30"/>
                </a:solidFill>
                <a:latin typeface="Calibri"/>
              </a:rPr>
              <a:t>1. El rechazo a empleos a tiempo parcial no es 'falta de ganas de trabajar', sino una respuesta racional ante un tipo marginal del 100% que penaliza el trabajo.
2. La activación laboral no se logra solo con sanciones policiales, sino diseñando incentivos compatibles con el empleo (in-work benefits).
3. A partir de este momento: ¿Cómo funciona exactamente el CAE? ¿Qué límites legales impone la colocación adecuada del SEPE? ¿Y qué ocurre al agotarse el paro?</a:t>
            </a:r>
          </a:p>
          <a:p>
            <a:pPr algn="ctr">
              <a:spcBef>
                <a:spcPts val="2000"/>
              </a:spcBef>
            </a:pPr>
            <a:r>
              <a:rPr sz="1500" b="1" i="0">
                <a:solidFill>
                  <a:srgbClr val="E98F71"/>
                </a:solidFill>
                <a:latin typeface="Outfit"/>
              </a:rPr>
              <a:t>🔒 POLÍTICA DE AULA: Portátiles cerrados y móviles guardados · Solo libreta y bolígrafo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2 (20–45 MIN) · MINI-LECCIÓN QUIRÚRGICA I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El Complemento de Apoyo al Empleo (RD-ley 2/2024 / 2026)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7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Modalidad Asistencial (Subsidios)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2F3A30"/>
                </a:solidFill>
                <a:latin typeface="Calibri"/>
              </a:rPr>
              <a:t>• Compatible desde el mes 1 con contrato a jornada completa o parcial (máx. 180 días).
• Escala decreciente por trimestres (IPREM 2026 = 600 €):
  - Meses 1 a 3 (Trimestre 1): 80% IPREM (480 €) a jornada completa o 60% IPREM (360 €) a tiempo parcial.
  - Meses 4 a 6 (Trimestre 2): 60% IPREM (360 €) a jornada completa o 40% IPREM (240 €) a tiempo parcial.
Ejemplo Cuantitativo (Sueldo de 1.200 € a jornada completa):
• Trimestre 1: 1.200 € salario + 480 € CAE = 1.680 €/mes.
• Trimestre 2: 1.200 € salario + 360 € CAE = 1.560 €/mes.
• Lógica: Acompaña la reinserción con un incentivo transitorio que se reduce gradualmente al consolidar el empleo.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76927A"/>
                </a:solidFill>
                <a:latin typeface="Outfit"/>
              </a:rPr>
              <a:t>Modalidad Contributiva (Paro Ordinario)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F3A30"/>
                </a:solidFill>
                <a:latin typeface="Calibri"/>
              </a:rPr>
              <a:t>• Gran novedad histórica (RD-ley 2/2024 · 2026):
  Compatibiliza el paro contributivo con empleo (¡incluso a tiempo completo!).
• Requisitos estrictos de acceso:
  1. Prestación inicial reconocida de al menos 12 meses.
  2. Haber consumido ya al menos 9 meses de cobro previo.
  3. Salario del nuevo empleo inferior al 375% IPREM (2.250 €/mes).
• ¿Cómo se cobra? El paro remanente se convierte en un complemento mensual decreciente (80% al 40% IPREM) sumado a la nómina.
• ¿Cuál es la lógica laboral y económica de esto?
  - A partir del mes 9 se dispara el riesgo de desánimo e histéresis.
  - Al no perder el paro restante de golpe, se modera el salario de reserva (w_R) y se incentiva colocarse sin esperar a agotar los 24 meses.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2 (20–45 MIN) · CONDICIONALIDAD ACTIVA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El Acuerdo de Actividad y la Vinculación con las PAE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8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Obligaciones del Demandante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• Búsqueda activa acreditada: Enviar currículums, entrevistas y registro de autocandidaturas.
• Participación preceptiva en acciones formativas y de reciclaje profesional organizadas por los Servicios Públicos de Empleo.
• Aceptación de la colocación adecuada que le sea ofrecida por el SEPE o agencias colaboradoras.
• Comparecer periódicamente ante la oficina de empleo a requerimiento.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Compromiso de los Servicios Públicos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• Perfilado individualizado mediante herramientas de diagnóstico de empleabilidad.
• Tutorización y diseño de un itinerario personalizado de inserción laboral.
• Oferta formativa adaptada a las cualificaciones requeridas por el tejido productivo comarcal.
• Intermediación laboral activa para casar vacantes empresariales con candidatos.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2 (20–45 MIN) · MARCO NORMATIVO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La «Colocación Adecuada» en la LGSS (Art. 301)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9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Criterio 1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Criterio Profesional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Durante el primer año, la oferta debe corresponder a la profesión habitual o titulación formativa previa. Protege el capital humano específico.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Criterio 2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Criterio Retributivo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El salario debe ajustarse al convenio colectivo del sector y puesto ofertado. En ningún caso puede ser inferior al Salario Mínimo Interprofesional (SMI).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Criterio 3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Criterio Geográfico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Distancia máxima habitual: 30 km desde el domicilio, o que el trayecto no supere el 25% de la jornada ni el coste de transporte el 20% del salario.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2 (20–45 MIN) · RÉGIMEN SANCIONADOR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Flexibilización Temporal y Sanciones de la LISOS (Art. 25.4)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10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98F71"/>
                </a:solidFill>
                <a:latin typeface="Outfit"/>
              </a:rPr>
              <a:t>Flexibilización tras 12 Meses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• Pasado el primer año en desempleo ininterrumpido, la exigencia legal cambia drásticamente.
• El SEPE amplía el abanico profesional: Se consideran colocaciones adecuadas ofertas de otros sectores o categorías profesionales inferiores afines.
• Justificación de RRLL: Evitar que el desempleado quede atrapado en una selectividad rígida mientras su empleabilidad se desploma.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Escala de Sanciones (LISOS)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Rechazar una colocación adecuada sin justificación legal es INFRACCIÓN GRAVE (art. 25.4 LISOS):
• 1ª Infracción: Pérdida de 3 meses de prestación.
• 2ª Infracción: Pérdida de 6 meses de prestación.
• 3ª Infracción: Extinción definitiva del derecho.
• Clave jurídica: La carga de la prueba de la inadecuación recae en el trabajador.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 · MINI-LECCIÓN QUIRÚRGICA II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Dinámica Temporal: La Conducta de Búsqueda a lo Largo del Paro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11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Evolución de las Decisiones Laborales del Desempleado en el Tiempo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113927"/>
                </a:solidFill>
                <a:latin typeface="Calibri"/>
              </a:rPr>
              <a:t>• Fase Inicial (Meses 1–4 · Protección alta): </a:t>
            </a:r>
            <a:r>
              <a:rPr sz="1500" b="0" i="0">
                <a:solidFill>
                  <a:srgbClr val="2F3A30"/>
                </a:solidFill>
                <a:latin typeface="Calibri"/>
              </a:rPr>
              <a:t>El demandante mantiene un salario de reserva elevado; busca con calma empleos acordes a su categoría anterior.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113927"/>
                </a:solidFill>
                <a:latin typeface="Calibri"/>
              </a:rPr>
              <a:t>• Fase Intermedia (Meses 5–9 · Primeros ajustes): </a:t>
            </a:r>
            <a:r>
              <a:rPr sz="1500" b="0" i="0">
                <a:solidFill>
                  <a:srgbClr val="2F3A30"/>
                </a:solidFill>
                <a:latin typeface="Calibri"/>
              </a:rPr>
              <a:t>La tasa de reemplazo contributiva cae del 70% al 60%. Aumenta la intensidad de envío de currículums.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113927"/>
                </a:solidFill>
                <a:latin typeface="Calibri"/>
              </a:rPr>
              <a:t>• Fase Pre-Agotamiento (Meses 10–12 · La cuenta atrás): </a:t>
            </a:r>
            <a:r>
              <a:rPr sz="1500" b="0" i="0">
                <a:solidFill>
                  <a:srgbClr val="2F3A30"/>
                </a:solidFill>
                <a:latin typeface="Calibri"/>
              </a:rPr>
              <a:t>Se aproxima la extinción de la prestación. La urgencia económica familiar empieza a dominar las decisiones.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113927"/>
                </a:solidFill>
                <a:latin typeface="Calibri"/>
              </a:rPr>
              <a:t>• Fase Post-Agotamiento (Mes 13+ · Salto al subsidio o vacío): </a:t>
            </a:r>
            <a:r>
              <a:rPr sz="1500" b="0" i="0">
                <a:solidFill>
                  <a:srgbClr val="2F3A30"/>
                </a:solidFill>
                <a:latin typeface="Calibri"/>
              </a:rPr>
              <a:t>Fuerte caída del nivel de vida si no se accede al subsidio asistencial. Disposición a aceptar cualquier oferta disponible.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 · EVIDENCIA EMPÍRICA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Figura 3.3 · El Repunte de Salidas al Agotarse la Prestación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12 / 24</a:t>
            </a:r>
          </a:p>
        </p:txBody>
      </p:sp>
      <p:pic>
        <p:nvPicPr>
          <p:cNvPr id="5" name="Picture 4" descr="figura_3_3_spike_agot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463040"/>
            <a:ext cx="3657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13927"/>
                </a:solidFill>
                <a:latin typeface="Outfit"/>
              </a:rPr>
              <a:t>Lectura Laboral del Gráfico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1. Estabilidad inicial:
La probabilidad mensual de colocación ronda el 5% durante los meses 1 a 8.
2. El repunte (Spike):
En los meses 11 y 12 salta al 17,5%, triplicando la media anterior.
3. El dilema de análisis:
¿Es oportunismo (picaresca) o es asfixia económica familiar que desploma las exigencias salariales?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 · ANÁLISIS MICROECONOMÉTRICO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¿Por Qué se Dispara la Salida? Las Tres Hipótesis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13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Canal Explicativo 1</a:t>
            </a:r>
          </a:p>
          <a:p>
            <a:r>
              <a:rPr sz="1500" b="1" i="0">
                <a:solidFill>
                  <a:srgbClr val="113927"/>
                </a:solidFill>
                <a:latin typeface="Outfit"/>
              </a:rPr>
              <a:t>Hipótesis 1 · Asfixia de Liquidez (Chetty)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Los hogares carecen de ahorros suficientes. Al terminarse el paro, la necesidad imperiosa de pagar comida y vivienda desploma el salario de reserva (w_R). El trabajador acepta empleos que antes rechazaba.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Canal Explicativo 2</a:t>
            </a:r>
          </a:p>
          <a:p>
            <a:r>
              <a:rPr sz="1500" b="1" i="0">
                <a:solidFill>
                  <a:srgbClr val="113927"/>
                </a:solidFill>
                <a:latin typeface="Outfit"/>
              </a:rPr>
              <a:t>Hipótesis 2 · Oportunismo Estratégico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Una minoría de trabajadores con ofertas previas o posibilidad de reenganche posterga intencionadamente la firma de contratos para maximizar el cobro del subsidio público acumulado.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Canal Explicativo 3</a:t>
            </a:r>
          </a:p>
          <a:p>
            <a:r>
              <a:rPr sz="1500" b="1" i="0">
                <a:solidFill>
                  <a:srgbClr val="113927"/>
                </a:solidFill>
                <a:latin typeface="Outfit"/>
              </a:rPr>
              <a:t>Hipótesis 3 · Acuerdos Informales con Empresas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Práctica de Relaciones Laborales: Empresas que acuerdan verbalmente esperar a que el candidato agote su prestación antes de formalizar la contratación laboral definitiva.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 · EFECTOS A LARGO PLAZO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Calidad del Emparejamiento Laboral (Nekoei y Weber, 2017)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14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98F71"/>
                </a:solidFill>
                <a:latin typeface="Outfit"/>
              </a:rPr>
              <a:t>La Visión Tradicional Cortoplacista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• Asume que cualquier semana adicional cobrando el paro es una pérdida económica neta.
• Solo mide la rapidez en salir de las listas del SEPE.
• Riesgo real en RRLL: Si se fuerza al parado a colocarse en 48 horas, se producen emparejamientos pésimos (subempleo, desajuste formativo y despidos rápidos).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Evidencia Empírica de Vanguardia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• Salarios de entrada más altos (+2% a +5%): Nekoei y Weber demuestran que tener cobertura permite buscar vacantes más afines a las competencias del trabajador.
• Mayor permanencia y estabilidad: Menor probabilidad de despido en los 2 años siguientes.
• Ganancia de productividad: La empresa contrata al perfil idóneo y reduce costes de rotación.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 · RIGOR METODOLÓGICO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Sesgo de Publicación y Meta-Análisis en Economía Laboral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15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¿Por Qué la Prensa Suele Exagerar los Efectos Negativos del Paro?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1. El 'Sesgo de Publicación' (Publication Bias):
Los estudios académicos que encuentran grandes efectos de desincentivo laboral o fraude tienen mayor probabilidad de ser aceptados en revistas de impacto y citados en los medios de comunicación que aquellos que encuentran efectos moderados o neutros.
2. Lo que dice el Meta-Análisis Riguroso:
Cuando se corrigen estos sesgos estadísticos, la elasticidad del desempleo frente a la cuantía de la prestación es MODERADA (alrededor de 0,3 a 0,5). Es decir, si el importe de la prestación aumenta un 10%, la duración media del desempleo apenas se alarga entre un 3% y un 5% (unos pocos días o una semana), demostrando que el desincentivo real sobre la búsqueda activa es muy reducido.
3. Lección para un profesional de RRLL:
Desconfiar de titulares catastrofistas: las políticas públicas deben basarse en evidencia causal contrastada y no en anécdotas sesgadas.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3 (45–70 MIN) · SÍNTESIS CONCEPTUAL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El Trípode del Sistema Moderno de Empleo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16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Pilar 1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1. Seguro de Búsqueda Suficiente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Garantiza un nivel de vida digno, protege el consumo familiar y financia el tiempo necesario para lograr un emparejamiento productivo eficiente.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Pilar 2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2. Incentivo Salarial (El CAE)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Derriba la trampa de inactividad, haciendo compatible subsidio y sueldo para fomentar la reinserción rápida incluso a jornada parcial.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Pilar 3</a:t>
            </a:r>
          </a:p>
          <a:p>
            <a:r>
              <a:rPr sz="1600" b="1" i="0">
                <a:solidFill>
                  <a:srgbClr val="113927"/>
                </a:solidFill>
                <a:latin typeface="Outfit"/>
              </a:rPr>
              <a:t>3. Condicionalidad y Control SEPE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A través del Acuerdo de Actividad, la colocación adecuada y la LISOS, evita el riesgo moral y la cronificación en el paro.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4 (70–85 MIN · 15 MIN) · LABORATORIO ACTIVO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Simulación Interactiva: Salario de Reserva y Colocación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17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13927"/>
                </a:solidFill>
                <a:latin typeface="Outfit"/>
              </a:rPr>
              <a:t>MISIÓN DE RELACIONES LABORALES (15 MINUTOS)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1. Desbloquea tu teléfono móvil y abre la micro-app.
2. Escenario Laura (El CAE):
Calcula sus ingresos sumando salario a tiempo parcial + complemento CAE frente a quedarse en casa cobrando solo el subsidio.
3. Escenario Carlos (Colocación Adecuada):
Analiza si la oferta de peón a 35 km cumple los requisitos legales del Art. 301 LGSS o si puede ser rechazada legítimamente.
4. Escenario Agotamiento:
Experimenta con la curva de búsqueda temporal y el repunte final.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20040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app_sesio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3927"/>
                </a:solidFill>
                <a:latin typeface="Outfit"/>
              </a:rPr>
              <a:t>MICRO-APP OFICIAL
Colocación Adecuada y CAE
mhidper.github.io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(85–120 MIN) · EVALUACIÓN DE CIERRE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Reto Individual en Papel · Regla de Oro (10 Minutos)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18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Instrucciones Obligatorias para la Evaluación Continua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2F3A30"/>
                </a:solidFill>
                <a:latin typeface="Calibri"/>
              </a:rPr>
              <a:t>• Dispositivos guardados: Móviles y portátiles cerrados durante los 10 minutos de redacción.
• Soporte: Cuartilla manuscrita a mano con bolígrafo (máximo 1 cara).
• Dos turnos diferenciados e independientes (Línea 1 Martes y Línea 2 Viernes) para garantizar equidad.
• Baremo oficial: 0 a 1.000 puntos (P1 Conceptual 500 pts + P2 Aplicada 500 pts) acumulables al Pasaporte Digital.
• Al cumplirse el minuto 10: Se proyectará el código QR para fotografiar y subir la entrega a Forms.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(95–105 MIN) · RETO MANUSCRITO (10 MIN)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Turno Martes · Línea 1 (27 de Octubre de 2026)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19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98F71"/>
                </a:solidFill>
                <a:latin typeface="Outfit"/>
              </a:rPr>
              <a:t>CUESTIONES DE EXAMEN · REDACTA A MANO EN TU CUARTILLA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1. (500 pts) El Complemento de Apoyo al Empleo (CAE) y los Incentivos de Contratación:
Explica por qué la regla tradicional de incompatibilidad total entre cobrar el paro y trabajar generaba la 'trampa del desempleo', especialmente en contratos a tiempo parcial. Describe cómo funciona la compatibilidad introducida por el CAE (RD-ley 2/2024 / 2026) y valora su impacto en la gestión de recursos humanos para cubrir vacantes.
2. (500 pts) El Fenómeno del 'Spike at Exhaustion' (Repunte al Agotamiento):
Las estadísticas muestran que las salidas del desempleo se disparan de forma notable en las semanas anteriores y posteriores a que el trabajador agote su prestación. Explica por qué este repunte no se debe solo a holgazanería o picaresca, analizando el papel de la asfixia de liquidez familiar y la caída del salario de reserva.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(95–105 MIN) · RETO MANUSCRITO (10 MIN)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Turno Viernes · Línea 2 (30 de Octubre de 2026)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20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98F71"/>
                </a:solidFill>
                <a:latin typeface="Outfit"/>
              </a:rPr>
              <a:t>CUESTIONES DE EXAMEN · REDACTA A MANO EN TU CUARTILLA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1. (500 pts) La 'Colocación Adecuada' y la Condicionalidad Activa (Art. 301 LGSS):
Un perceptor de prestaciones no puede rechazar cualquier oferta laboral sin ser sancionado. Detalla los tres requisitos objetivos que definen jurídicamente la 'colocación adecuada' (profesional, retributivo y geográfico). ¿Por qué la normativa flexibiliza estos criterios cuando el trabajador supera el año en desempleo y qué sanción prevé la LISOS ante una negativa injustificada?
2. (500 pts) Calidad del Emparejamiento Laboral (Job-Match Quality):
Un directivo sostiene: 'Las prestaciones solo sirven para retrasar la vuelta al trabajo; cuanto más duren, peor'. Apoyándote en la evidencia de Nekoei y Weber (2017), refuta esta postura explicando cómo un tiempo razonable de cobertura económica permite un mejor emparejamiento, salarios futuros más altos y mayor estabilidad.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(105–107 MIN) · SUBIDA FOTOGRÁFICA INSTANTÁNEA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Escanea y Sube tu Cuartilla a Microsoft Forms (2 Minutos)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21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13927"/>
                </a:solidFill>
                <a:latin typeface="Outfit"/>
              </a:rPr>
              <a:t>TIEMPO FINALIZADO · ABRE LA CÁMARA DEL MÓVIL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1. Escanea el código QR proyectado en la pantalla.
2. Accede con tu cuenta institucional de la Universidad Pablo de Olavide (@alu.upo.es).
3. Realiza una fotografía nítida y bien iluminada de tu cuartilla manuscrita.
4. Verifica que se aprecie tu nombre y DNI en la cabecera (serán anonimizados en la corrección ciega).
5. Pulsa 'Enviar'. ¡Entrega completada!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20040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reto_sesio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3927"/>
                </a:solidFill>
                <a:latin typeface="Outfit"/>
              </a:rPr>
              <a:t>FORMULARIO FORMS
Subida de Reto · Sesión 10
Cuenta @alu.upo.es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(107–115 MIN) · FEEDBACK FORMATIVO INMEDIATO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Solución Modelo · Turno Martes (Línea 1 · 0–1.000 pts)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22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13927"/>
                </a:solidFill>
                <a:latin typeface="Outfit"/>
              </a:rPr>
              <a:t>Cuestión 1: El CAE (500 pts)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• Trampa del paro (200 pts): Al perder el 100% de la ayuda, la ganancia neta horaria a tiempo parcial era de 2,25 €/h; trabajar costaba dinero.
• Mecánica del CAE (200 pts): Permite compatibilizar subsidio (desde mes 1) o contributiva (desde mes 9) con salario hasta 180 días con cuantía decreciente.
• Impacto en RRHH (100 pts): Facilita cubrir vacantes parciales y atrae demandantes cualificados.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98F71"/>
                </a:solidFill>
                <a:latin typeface="Outfit"/>
              </a:rPr>
              <a:t>Cuestión 2: Spike at Exhaustion (500 pts)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• Concepto (150 pts): Repunte abrupto de salidas del paro en las semanas inmediatas al fin del subsidio.
• Asfixia de liquidez (200 pts): No es solo oportunismo; al agotarse los ahorros, la urgencia de ingresos hunde el salario de reserva (w_R).
• Implicación (150 pts): El trabajador intensifica la búsqueda y acepta ofertas antes descartadas por necesidad vital.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FASE 5 (107–115 MIN) · FEEDBACK FORMATIVO INMEDIATO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Solución Modelo · Turno Viernes (Línea 2 · 0–1.000 pts)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23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76927A"/>
                </a:solidFill>
                <a:latin typeface="Outfit"/>
              </a:rPr>
              <a:t>Cuestión 1: Colocación y LISOS (500 pts)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• 3 Criterios Art. 301 (250 pts): Profesional (categoría/título previo), Retributivo (convenio &gt;= SMI) y Geográfico (&lt;30 km o 25% jornada).
• Flexibilización a los 12 meses (150 pts): Se amplía a puestos afines de otros sectores para evitar histéresis.
• Sanción LISOS (100 pts): Infracción grave: 3 meses de pérdida (1ª), 6 meses (2ª), extinción (3ª).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13927"/>
                </a:solidFill>
                <a:latin typeface="Outfit"/>
              </a:rPr>
              <a:t>Cuestión 2: Emparejamiento (500 pts)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• Crítica cortoplacista (150 pts): Forzar colocaciones exprés genera desajuste formativo y despidos rápidos.
• Evidencia Nekoei-Weber (200 pts): La protección financia la búsqueda productiva; salarios de entrada un 2%–5% más altos.
• Permanencia (150 pts): Menor probabilidad de volver al paro en 2 años; mayor productividad para la empresa.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98F71"/>
                </a:solidFill>
                <a:latin typeface="Outfit"/>
              </a:rPr>
              <a:t>CIERRE DE SESIÓN · EVALUACIÓN CONTINUA</a:t>
            </a:r>
          </a:p>
          <a:p>
            <a:r>
              <a:rPr sz="2000" b="1" i="0">
                <a:solidFill>
                  <a:srgbClr val="113927"/>
                </a:solidFill>
                <a:latin typeface="Outfit"/>
              </a:rPr>
              <a:t>Pasaporte Digital y Próxima Sesión EB 11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rIns="0" tIns="0" bIns="0">
            <a:spAutoFit/>
          </a:bodyPr>
          <a:lstStyle/>
          <a:p>
            <a:pPr algn="r"/>
            <a:r>
              <a:rPr sz="1000" b="1" i="0">
                <a:solidFill>
                  <a:srgbClr val="76927A"/>
                </a:solidFill>
                <a:latin typeface="Calibri"/>
              </a:rPr>
              <a:t>24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572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Pasaporte de Evaluación Continua · PSLL 2026-27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F3A30"/>
                </a:solidFill>
                <a:latin typeface="Calibri"/>
              </a:rPr>
              <a:t>• Tus retos de hoy serán corregidos bajo el protocolo de evaluación ciega con token numérico anónimo.
• Consulta tu puntuación (0–1.000 pts) y comodines acumulados en el portal digital seguro.
• Próxima Sesión EB 11:
«Los huecos de la protección y la garantía de rentas: del subsidio al Ingreso Mínimo Vital (IMV) y la trampa de la pobreza».
• Base directa para el Caso 2 de EPD.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200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pasaporte_ps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3927"/>
                </a:solidFill>
                <a:latin typeface="Outfit"/>
              </a:rPr>
              <a:t>PORTAL DEL PASAPORTE
Consulta tus Puntos
mhidper.github.io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