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utfit"/>
              </a:rP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>
                <a:solidFill>
                  <a:srgbClr val="EDB090"/>
                </a:solidFill>
                <a:latin typeface="Calibri"/>
              </a:rPr>
              <a:t>Sesión 2 – El PIB, la Productividad y el Mercado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F3EFDC"/>
                </a:solidFill>
                <a:latin typeface="Calibri"/>
              </a:rPr>
              <a:t>Martes 15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6263640"/>
            <a:ext cx="9448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2F3A30"/>
                </a:solidFill>
                <a:latin typeface="Calibri"/>
              </a:rP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Sondeo inicial Mentimeter (prejuicios populares) y choque con datos reales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por parejas como analistas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SONDEO PREVIO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Sondeo de Entrada: Pon a Prueba tu Intuición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Vota con tu teléfono móvil antes de ver los datos de la economía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LA PREGUNTA DE PARTIDA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t>«Si pactáramos por ley o convenio una subida general del 15% de todos los salarios en España para alcanzar a Europa, ¿qué ocurriría?»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A) Convergeríamos con Alemania y Francia porque el consumo familiar se dispararía y reactivaría el PIB.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B) Las empresas no podrían asumir el coste unitario y destruirían empleo o subirían precios perdiendo ventas.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C) Aumentaría la productividad porque los trabajadores estarían más motivados y rendirían mucho más.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SLL · Sondeo Previo Sesión 2 (Salarios y 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393192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sz="1300" b="1">
                <a:solidFill>
                  <a:srgbClr val="113927"/>
                </a:solidFill>
                <a:latin typeface="Outfit"/>
              </a:rPr>
              <a:t>DISTINCIÓN FUNDAMENTAL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PIB Nominal (Precios corrientes): </a:t>
            </a:r>
            <a:r>
              <a:rPr sz="1200">
                <a:solidFill>
                  <a:srgbClr val="2F3A30"/>
                </a:solidFill>
                <a:latin typeface="Calibri"/>
              </a:rPr>
              <a:t>Mide la producción con precios de cada año. Crece tanto si producimos más como si los precios suben (inflación).</a:t>
            </a:r>
          </a:p>
          <a:p>
            <a:r>
              <a:rPr sz="1200" b="1">
                <a:solidFill>
                  <a:srgbClr val="E98F71"/>
                </a:solidFill>
                <a:latin typeface="Calibri"/>
              </a:rPr>
              <a:t>• PIB Real (Precios constantes): </a:t>
            </a:r>
            <a:r>
              <a:rPr sz="1200">
                <a:solidFill>
                  <a:srgbClr val="2F3A30"/>
                </a:solidFill>
                <a:latin typeface="Calibri"/>
              </a:rPr>
              <a:t>Fija los precios del año base para aislar la inflación. Para sostener el empleo y salarios reales, necesitamos PIB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69080"/>
            <a:ext cx="4023360" cy="1874519"/>
          </a:xfrm>
          <a:prstGeom prst="roundRect">
            <a:avLst/>
          </a:prstGeom>
          <a:solidFill>
            <a:srgbClr val="FDF4F0"/>
          </a:solidFill>
          <a:ln w="1905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251960"/>
            <a:ext cx="1508760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416052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E98F71"/>
                </a:solidFill>
                <a:latin typeface="Outfit"/>
              </a:rPr>
              <a:t>SIMULADOR EN VIVO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13927"/>
                </a:solidFill>
                <a:latin typeface="Outfit"/>
              </a:rPr>
              <a:t>Experimenta con 2 Bienes</a:t>
            </a:r>
          </a:p>
          <a:p>
            <a:r>
              <a:rPr sz="1000">
                <a:solidFill>
                  <a:srgbClr val="2F3A30"/>
                </a:solidFill>
                <a:latin typeface="Calibri"/>
              </a:rPr>
              <a:t>Escanea con el móvil o entra en micro-apps para alternar precios constantes vs corrientes y calcular el deflactor.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6077" y="1783080"/>
            <a:ext cx="10644098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dirty="0"/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rPr dirty="0"/>
              <a:t>Coste Laboral </a:t>
            </a:r>
            <a:r>
              <a:rPr dirty="0" err="1"/>
              <a:t>Unitario</a:t>
            </a:r>
            <a:r>
              <a:rPr dirty="0"/>
              <a:t> (CLU) = Coste Laboral </a:t>
            </a:r>
            <a:r>
              <a:rPr dirty="0" err="1"/>
              <a:t>por</a:t>
            </a:r>
            <a:r>
              <a:rPr dirty="0"/>
              <a:t> Hora (W) / </a:t>
            </a:r>
            <a:r>
              <a:rPr dirty="0" err="1"/>
              <a:t>Productividad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Mide </a:t>
            </a:r>
            <a:r>
              <a:rPr dirty="0" err="1"/>
              <a:t>cuánto</a:t>
            </a:r>
            <a:r>
              <a:rPr dirty="0"/>
              <a:t> le cuesta a la </a:t>
            </a:r>
            <a:r>
              <a:rPr dirty="0" err="1"/>
              <a:t>empresa</a:t>
            </a:r>
            <a:r>
              <a:rPr dirty="0"/>
              <a:t> la mano de </a:t>
            </a:r>
            <a:r>
              <a:rPr dirty="0" err="1"/>
              <a:t>obra</a:t>
            </a:r>
            <a:r>
              <a:rPr dirty="0"/>
              <a:t> para </a:t>
            </a:r>
            <a:r>
              <a:rPr dirty="0" err="1"/>
              <a:t>generar</a:t>
            </a:r>
            <a:r>
              <a:rPr dirty="0"/>
              <a:t> 1 € de valor </a:t>
            </a:r>
            <a:r>
              <a:rPr dirty="0" err="1"/>
              <a:t>añadido</a:t>
            </a:r>
            <a:r>
              <a:rPr dirty="0"/>
              <a:t>. Es el </a:t>
            </a:r>
            <a:r>
              <a:rPr dirty="0" err="1"/>
              <a:t>termómetro</a:t>
            </a:r>
            <a:r>
              <a:rPr dirty="0"/>
              <a:t> de </a:t>
            </a:r>
            <a:r>
              <a:rPr dirty="0" err="1"/>
              <a:t>competitividad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Taller en Parejas: Simulador de Costes Laborales Unitarios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Analistas Técnicos del Gabinete de la Consejería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Vuestro objetivo en parejas como técnicos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1. Abrir la micro-app desde el móvil o portátil con el código QR.</a:t>
            </a:r>
            <a:br/>
            <a:r>
              <a:t>2. Calibrar los 3 sectores y contrastar sus CLU de partida.</a:t>
            </a:r>
            <a:br/>
            <a:r>
              <a:t>3. Aplicar el Shock Salarial (+8%) y registrar el impacto en empleo.</a:t>
            </a:r>
            <a:br/>
            <a:r>
              <a:t>4. Asignar los 100 M€: ¿Subvención temporal o productividad real?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⏱️ Tiempo de trabajo: 20 min en pareja + 10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3927"/>
                </a:solidFill>
                <a:latin typeface="Calibri"/>
              </a:defRPr>
            </a:pPr>
            <a:r>
              <a:t>ESCANEA PARA ABRIR LA APP</a:t>
            </a:r>
          </a:p>
          <a:p>
            <a:pPr>
              <a:defRPr sz="1100" b="1">
                <a:solidFill>
                  <a:srgbClr val="E98F71"/>
                </a:solidFill>
                <a:latin typeface="Calibri"/>
              </a:defRPr>
            </a:pPr>
            <a:r>
              <a:t>mhidper.github.io/micro_apps/psll</a:t>
            </a:r>
          </a:p>
          <a:p>
            <a:pPr>
              <a:defRPr sz="1000" i="1">
                <a:solidFill>
                  <a:srgbClr val="76927A"/>
                </a:solidFill>
                <a:latin typeface="Calibri"/>
              </a:defRPr>
            </a:pPr>
            <a:r>
              <a:t>(Acceso libre sin descargas)</a:t>
            </a:r>
          </a:p>
        </p:txBody>
      </p:sp>
      <p:pic>
        <p:nvPicPr>
          <p:cNvPr id="15" name="Picture 14" descr="qr_simulador_c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3: Dilema 100 M€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Elección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Opción A (Subvención):</a:t>
            </a:r>
            <a:br/>
            <a:r>
              <a:t>Alivio temporal sin tocar la productividad (peso muerto).</a:t>
            </a:r>
            <a:br/>
            <a:br/>
            <a:r>
              <a:t>Opción B (Productividad):</a:t>
            </a:r>
            <a:br/>
            <a:r>
              <a:t>+25% de VAB, retorno sostenible a zona verde.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36" y="1539732"/>
            <a:ext cx="5143500" cy="2783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3716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t>Las Tres Conclusiones Imborrables</a:t>
            </a:r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t>1. Solo se puede repartir lo que se crea: El PIB es Valor Añadido Bruto, no facturación agregada.</a:t>
            </a:r>
            <a:br/>
            <a:r>
              <a:t>2. La productividad manda: Es el techo infranqueable de los salarios reales a largo plazo.</a:t>
            </a:r>
            <a:br/>
            <a:r>
              <a:t>3. El Coste Laboral Unitario (CLU = W / Prod) es el termómetro que separa la prosperidad de la destrucción de empleo.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t>Próxima sesión: El Mercado de Trabajo y sus Instituciones (Epígrafe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2170</Words>
  <Application>Microsoft Office PowerPoint</Application>
  <PresentationFormat>Panorámica</PresentationFormat>
  <Paragraphs>175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Outfit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3</cp:revision>
  <dcterms:created xsi:type="dcterms:W3CDTF">2013-01-27T09:14:16Z</dcterms:created>
  <dcterms:modified xsi:type="dcterms:W3CDTF">2026-09-10T11:25:39Z</dcterms:modified>
  <cp:category/>
</cp:coreProperties>
</file>