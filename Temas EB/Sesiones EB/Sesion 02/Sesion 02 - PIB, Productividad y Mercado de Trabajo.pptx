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78" d="100"/>
          <a:sy n="78" d="100"/>
        </p:scale>
        <p:origin x="850" y="5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0.png"/><Relationship Id="rId4" Type="http://schemas.openxmlformats.org/officeDocument/2006/relationships/image" Target="../media/image1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566B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5943600"/>
            <a:ext cx="12191695" cy="914400"/>
          </a:xfrm>
          <a:prstGeom prst="rect">
            <a:avLst/>
          </a:prstGeom>
          <a:solidFill>
            <a:srgbClr val="F2FB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upo_lo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6080760"/>
            <a:ext cx="452323" cy="6400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6080760"/>
            <a:ext cx="8686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2F3A30"/>
                </a:solidFill>
                <a:latin typeface="Calibri"/>
              </a:defRPr>
            </a:pPr>
            <a:r>
              <a:t>Facultad de Derecho · Dpto. de Economía, Métodos Cuantitativos e Hª Económica</a:t>
            </a:r>
          </a:p>
          <a:p>
            <a:pPr>
              <a:defRPr sz="1200" b="1">
                <a:solidFill>
                  <a:srgbClr val="566B56"/>
                </a:solidFill>
                <a:latin typeface="Calibri"/>
              </a:defRPr>
            </a:pPr>
            <a:r>
              <a:t>Prof. Manuel A. Hidalgo Pérez · Curso Académico 2026-2027</a:t>
            </a:r>
          </a:p>
        </p:txBody>
      </p:sp>
      <p:pic>
        <p:nvPicPr>
          <p:cNvPr id="6" name="Picture 5" descr="psll_emble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9740" y="1328829"/>
            <a:ext cx="5388429" cy="292411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867258" y="1368158"/>
            <a:ext cx="64008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E99073"/>
                </a:solidFill>
                <a:latin typeface="Poppins"/>
              </a:defRPr>
            </a:pPr>
            <a:r>
              <a:rPr dirty="0"/>
              <a:t>POLÍTICAS SOCIOLABORALES Y DE EMPLEO</a:t>
            </a:r>
          </a:p>
          <a:p>
            <a:pPr>
              <a:spcBef>
                <a:spcPts val="1000"/>
              </a:spcBef>
              <a:spcAft>
                <a:spcPts val="1200"/>
              </a:spcAft>
              <a:defRPr sz="3200" b="1">
                <a:solidFill>
                  <a:srgbClr val="FFFFFF"/>
                </a:solidFill>
                <a:latin typeface="Poppins"/>
              </a:defRPr>
            </a:pPr>
            <a:r>
              <a:rPr dirty="0"/>
              <a:t>El PIB, la </a:t>
            </a:r>
            <a:r>
              <a:rPr dirty="0" err="1"/>
              <a:t>Productividad</a:t>
            </a:r>
            <a:r>
              <a:rPr dirty="0"/>
              <a:t> y el Mercado de </a:t>
            </a:r>
            <a:r>
              <a:rPr dirty="0" err="1"/>
              <a:t>Trabajo</a:t>
            </a:r>
            <a:endParaRPr dirty="0"/>
          </a:p>
          <a:p>
            <a:pPr>
              <a:defRPr sz="1700">
                <a:solidFill>
                  <a:srgbClr val="EDB090"/>
                </a:solidFill>
                <a:latin typeface="Poppins"/>
              </a:defRPr>
            </a:pPr>
            <a:r>
              <a:rPr dirty="0" err="1"/>
              <a:t>Sesión</a:t>
            </a:r>
            <a:r>
              <a:rPr dirty="0"/>
              <a:t> EB 2 · Semana 1 · Tema 1 (</a:t>
            </a:r>
            <a:r>
              <a:rPr dirty="0" err="1"/>
              <a:t>Epígrafe</a:t>
            </a:r>
            <a:r>
              <a:rPr dirty="0"/>
              <a:t> 2 </a:t>
            </a:r>
            <a:r>
              <a:rPr dirty="0" err="1"/>
              <a:t>completo</a:t>
            </a:r>
            <a:r>
              <a:rPr dirty="0"/>
              <a:t>)</a:t>
            </a:r>
          </a:p>
          <a:p>
            <a:pPr>
              <a:spcBef>
                <a:spcPts val="1600"/>
              </a:spcBef>
              <a:defRPr sz="1600">
                <a:solidFill>
                  <a:srgbClr val="E1F6EA"/>
                </a:solidFill>
                <a:latin typeface="Calibri"/>
              </a:defRPr>
            </a:pPr>
            <a:r>
              <a:rPr dirty="0"/>
              <a:t>Laboratorio Conceptual · </a:t>
            </a:r>
            <a:r>
              <a:rPr dirty="0" err="1"/>
              <a:t>Dinámica</a:t>
            </a:r>
            <a:r>
              <a:rPr dirty="0"/>
              <a:t> Activa de </a:t>
            </a:r>
            <a:r>
              <a:rPr dirty="0" err="1"/>
              <a:t>Simulación</a:t>
            </a:r>
            <a:r>
              <a:rPr dirty="0"/>
              <a:t> de Costes </a:t>
            </a:r>
            <a:r>
              <a:rPr dirty="0" err="1"/>
              <a:t>Laborales</a:t>
            </a:r>
            <a:r>
              <a:rPr dirty="0"/>
              <a:t> </a:t>
            </a:r>
            <a:r>
              <a:rPr dirty="0" err="1"/>
              <a:t>Unitarios</a:t>
            </a:r>
            <a:r>
              <a:rPr dirty="0"/>
              <a:t> (CLU)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B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E99073"/>
                </a:solidFill>
                <a:latin typeface="Poppins"/>
              </a:defRPr>
            </a:pPr>
            <a:r>
              <a:t>ORGANIZACIÓN DOCENTE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91440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566B56"/>
                </a:solidFill>
                <a:latin typeface="Poppins"/>
              </a:defRPr>
            </a:pPr>
            <a:r>
              <a:t>Estructura de la Sesión (120 min)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25296"/>
            <a:ext cx="91440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76927A"/>
                </a:solidFill>
                <a:latin typeface="Calibri"/>
              </a:defRPr>
            </a:pPr>
            <a:r>
              <a:t>Modelo de Aula Invertida y Laboratorio Activo de Aprendizaje</a:t>
            </a:r>
          </a:p>
        </p:txBody>
      </p:sp>
      <p:pic>
        <p:nvPicPr>
          <p:cNvPr id="6" name="Picture 5" descr="psll_lock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457200"/>
            <a:ext cx="1737360" cy="54864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731520" y="6400800"/>
            <a:ext cx="10728655" cy="12700"/>
          </a:xfrm>
          <a:prstGeom prst="rect">
            <a:avLst/>
          </a:prstGeom>
          <a:solidFill>
            <a:srgbClr val="D7E4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31520" y="644652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76927A"/>
                </a:solidFill>
                <a:latin typeface="Calibri"/>
              </a:defRPr>
            </a:pPr>
            <a:r>
              <a:t>Políticas Sociolaborales y de Empleo · Grado en RRLL y RRHH / Derecho · UPO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644652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76927A"/>
                </a:solidFill>
                <a:latin typeface="Poppins"/>
              </a:defRPr>
            </a:pPr>
            <a:r>
              <a:t>2 / 15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1691640"/>
            <a:ext cx="201168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7E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68680" y="1828800"/>
            <a:ext cx="17373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E99073"/>
                </a:solidFill>
                <a:latin typeface="Poppins"/>
              </a:defRPr>
            </a:pPr>
            <a:r>
              <a:t>20 min</a:t>
            </a:r>
          </a:p>
          <a:p>
            <a:pPr>
              <a:spcBef>
                <a:spcPts val="400"/>
              </a:spcBef>
              <a:spcAft>
                <a:spcPts val="1000"/>
              </a:spcAft>
              <a:defRPr sz="1400" b="1">
                <a:solidFill>
                  <a:srgbClr val="566B56"/>
                </a:solidFill>
                <a:latin typeface="Poppins"/>
              </a:defRPr>
            </a:pPr>
            <a:r>
              <a:t>1. Sondeo y Choque</a:t>
            </a:r>
          </a:p>
          <a:p>
            <a:pPr>
              <a:defRPr sz="1600">
                <a:solidFill>
                  <a:srgbClr val="2F3A30"/>
                </a:solidFill>
                <a:latin typeface="Calibri"/>
              </a:defRPr>
            </a:pPr>
            <a:r>
              <a:t>Sondeo inicial Mentimeter (prejuicios populares) y choque con datos reales (la gran tijera y el espejo europeo).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907792" y="1691640"/>
            <a:ext cx="201168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7E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044952" y="1828800"/>
            <a:ext cx="17373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E99073"/>
                </a:solidFill>
                <a:latin typeface="Poppins"/>
              </a:defRPr>
            </a:pPr>
            <a:r>
              <a:t>25 min</a:t>
            </a:r>
          </a:p>
          <a:p>
            <a:pPr>
              <a:spcBef>
                <a:spcPts val="400"/>
              </a:spcBef>
              <a:spcAft>
                <a:spcPts val="1000"/>
              </a:spcAft>
              <a:defRPr sz="1400" b="1">
                <a:solidFill>
                  <a:srgbClr val="566B56"/>
                </a:solidFill>
                <a:latin typeface="Poppins"/>
              </a:defRPr>
            </a:pPr>
            <a:r>
              <a:t>2. Mini-Lección: PIB y VAB</a:t>
            </a:r>
          </a:p>
          <a:p>
            <a:pPr>
              <a:defRPr sz="1600">
                <a:solidFill>
                  <a:srgbClr val="2F3A30"/>
                </a:solidFill>
                <a:latin typeface="Calibri"/>
              </a:defRPr>
            </a:pPr>
            <a:r>
              <a:t>El PIB como suma de Valor Añadido Bruto (cadena del pan) vs. transacciones brutas. PIB nominal vs. real.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84064" y="1691640"/>
            <a:ext cx="201168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7E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221224" y="1828800"/>
            <a:ext cx="17373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E99073"/>
                </a:solidFill>
                <a:latin typeface="Poppins"/>
              </a:defRPr>
            </a:pPr>
            <a:r>
              <a:t>30 min</a:t>
            </a:r>
          </a:p>
          <a:p>
            <a:pPr>
              <a:spcBef>
                <a:spcPts val="400"/>
              </a:spcBef>
              <a:spcAft>
                <a:spcPts val="1000"/>
              </a:spcAft>
              <a:defRPr sz="1400" b="1">
                <a:solidFill>
                  <a:srgbClr val="566B56"/>
                </a:solidFill>
                <a:latin typeface="Poppins"/>
              </a:defRPr>
            </a:pPr>
            <a:r>
              <a:t>3. Productividad y Salarios</a:t>
            </a:r>
          </a:p>
          <a:p>
            <a:pPr>
              <a:defRPr sz="1600">
                <a:solidFill>
                  <a:srgbClr val="2F3A30"/>
                </a:solidFill>
                <a:latin typeface="Calibri"/>
              </a:defRPr>
            </a:pPr>
            <a:r>
              <a:t>La productividad laboral como techo del salario. Formulación analítica de los Costes Laborales Unitarios (CLU).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260336" y="1691640"/>
            <a:ext cx="2011680" cy="4389120"/>
          </a:xfrm>
          <a:prstGeom prst="roundRect">
            <a:avLst/>
          </a:prstGeom>
          <a:solidFill>
            <a:srgbClr val="E1F6EA"/>
          </a:solidFill>
          <a:ln w="19050">
            <a:solidFill>
              <a:srgbClr val="566B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397496" y="1828800"/>
            <a:ext cx="17373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566B56"/>
                </a:solidFill>
                <a:latin typeface="Poppins"/>
              </a:defRPr>
            </a:pPr>
            <a:r>
              <a:t>30 min</a:t>
            </a:r>
          </a:p>
          <a:p>
            <a:pPr>
              <a:spcBef>
                <a:spcPts val="400"/>
              </a:spcBef>
              <a:spcAft>
                <a:spcPts val="1000"/>
              </a:spcAft>
              <a:defRPr sz="1400" b="1">
                <a:solidFill>
                  <a:srgbClr val="566B56"/>
                </a:solidFill>
                <a:latin typeface="Poppins"/>
              </a:defRPr>
            </a:pPr>
            <a:r>
              <a:t>4. Laboratorio Micro-App</a:t>
            </a:r>
          </a:p>
          <a:p>
            <a:pPr>
              <a:defRPr sz="1600">
                <a:solidFill>
                  <a:srgbClr val="2F3A30"/>
                </a:solidFill>
                <a:latin typeface="Calibri"/>
              </a:defRPr>
            </a:pPr>
            <a:r>
              <a:t>Simulación por parejas como analistas de la Consejería. Reto del shock salarial (+8%) y dilema de los 100 M€.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436608" y="1691640"/>
            <a:ext cx="201168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7E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573768" y="1828800"/>
            <a:ext cx="17373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E99073"/>
                </a:solidFill>
                <a:latin typeface="Poppins"/>
              </a:defRPr>
            </a:pPr>
            <a:r>
              <a:t>15 min</a:t>
            </a:r>
          </a:p>
          <a:p>
            <a:pPr>
              <a:spcBef>
                <a:spcPts val="400"/>
              </a:spcBef>
              <a:spcAft>
                <a:spcPts val="1000"/>
              </a:spcAft>
              <a:defRPr sz="1400" b="1">
                <a:solidFill>
                  <a:srgbClr val="566B56"/>
                </a:solidFill>
                <a:latin typeface="Poppins"/>
              </a:defRPr>
            </a:pPr>
            <a:r>
              <a:t>5. Cierre y Caso de Examen</a:t>
            </a:r>
          </a:p>
          <a:p>
            <a:pPr>
              <a:defRPr sz="1600">
                <a:solidFill>
                  <a:srgbClr val="2F3A30"/>
                </a:solidFill>
                <a:latin typeface="Calibri"/>
              </a:defRPr>
            </a:pPr>
            <a:r>
              <a:t>Ensayo en vivo de resolución de un caso análogo de examen final (70%) y balance metacognitivo.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B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E99073"/>
                </a:solidFill>
                <a:latin typeface="Poppins"/>
              </a:defRPr>
            </a:pPr>
            <a:r>
              <a:t>BLOQUE 1 · SONDEO PREVIO (5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91440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566B56"/>
                </a:solidFill>
                <a:latin typeface="Poppins"/>
              </a:defRPr>
            </a:pPr>
            <a:r>
              <a:t>Sondeo de Entrada: Pon a Prueba tu Intuición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25296"/>
            <a:ext cx="91440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76927A"/>
                </a:solidFill>
                <a:latin typeface="Calibri"/>
              </a:defRPr>
            </a:pPr>
            <a:r>
              <a:t>Vota con tu teléfono móvil antes de ver los datos de la economía</a:t>
            </a:r>
          </a:p>
        </p:txBody>
      </p:sp>
      <p:pic>
        <p:nvPicPr>
          <p:cNvPr id="6" name="Picture 5" descr="psll_lock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457200"/>
            <a:ext cx="1737360" cy="54864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731520" y="6400800"/>
            <a:ext cx="10728655" cy="12700"/>
          </a:xfrm>
          <a:prstGeom prst="rect">
            <a:avLst/>
          </a:prstGeom>
          <a:solidFill>
            <a:srgbClr val="D7E4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31520" y="644652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76927A"/>
                </a:solidFill>
                <a:latin typeface="Calibri"/>
              </a:defRPr>
            </a:pPr>
            <a:r>
              <a:t>Políticas Sociolaborales y de Empleo · Grado en RRLL y RRHH / Derecho · UPO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644652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76927A"/>
                </a:solidFill>
                <a:latin typeface="Poppins"/>
              </a:defRPr>
            </a:pPr>
            <a:r>
              <a:t>3 / 15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1691640"/>
            <a:ext cx="685800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566B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05840" y="1874519"/>
            <a:ext cx="63093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E99073"/>
                </a:solidFill>
                <a:latin typeface="Poppins"/>
              </a:defRPr>
            </a:pPr>
            <a:r>
              <a:t>LA PREGUNTA DE PARTIDA</a:t>
            </a:r>
          </a:p>
          <a:p>
            <a:pPr>
              <a:spcBef>
                <a:spcPts val="600"/>
              </a:spcBef>
              <a:spcAft>
                <a:spcPts val="1200"/>
              </a:spcAft>
              <a:defRPr sz="1800" b="1">
                <a:solidFill>
                  <a:srgbClr val="566B56"/>
                </a:solidFill>
                <a:latin typeface="Poppins"/>
              </a:defRPr>
            </a:pPr>
            <a:r>
              <a:t>«Si pactáramos por ley o convenio una subida general del 15% de todos los salarios en España para alcanzar a Europa, ¿qué ocurriría?»</a:t>
            </a:r>
          </a:p>
          <a:p>
            <a:pPr>
              <a:spcAft>
                <a:spcPts val="800"/>
              </a:spcAft>
              <a:defRPr sz="1600">
                <a:solidFill>
                  <a:srgbClr val="2F3A30"/>
                </a:solidFill>
                <a:latin typeface="Calibri"/>
              </a:defRPr>
            </a:pPr>
            <a:r>
              <a:t>A) Convergeríamos con Alemania y Francia porque el consumo familiar se dispararía y reactivaría el PIB.</a:t>
            </a:r>
          </a:p>
          <a:p>
            <a:pPr>
              <a:spcAft>
                <a:spcPts val="800"/>
              </a:spcAft>
              <a:defRPr sz="1600">
                <a:solidFill>
                  <a:srgbClr val="2F3A30"/>
                </a:solidFill>
                <a:latin typeface="Calibri"/>
              </a:defRPr>
            </a:pPr>
            <a:r>
              <a:t>B) Las empresas no podrían asumir el coste unitario y destruirían empleo o subirían precios perdiendo ventas.</a:t>
            </a:r>
          </a:p>
          <a:p>
            <a:pPr>
              <a:defRPr sz="1600">
                <a:solidFill>
                  <a:srgbClr val="2F3A30"/>
                </a:solidFill>
                <a:latin typeface="Calibri"/>
              </a:defRPr>
            </a:pPr>
            <a:r>
              <a:t>C) Aumentaría la productividad porque los trabajadores estarían más motivados y rendirían mucho más.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863840" y="1691640"/>
            <a:ext cx="356616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566B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3" name="Picture 12" descr="Código QR para PSLL · Sondeo Previo Sesión 2 (Salarios y Productivida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0" y="1920240"/>
            <a:ext cx="2468880" cy="246888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046720" y="4480560"/>
            <a:ext cx="32004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566B56"/>
                </a:solidFill>
                <a:latin typeface="Poppins"/>
              </a:defRPr>
            </a:pPr>
            <a:r>
              <a:t>ESCANEA PARA VOTAR</a:t>
            </a:r>
          </a:p>
          <a:p>
            <a:pPr algn="ctr">
              <a:spcBef>
                <a:spcPts val="400"/>
              </a:spcBef>
              <a:defRPr sz="1200">
                <a:solidFill>
                  <a:srgbClr val="76927A"/>
                </a:solidFill>
                <a:latin typeface="Calibri"/>
              </a:defRPr>
            </a:pPr>
            <a:r>
              <a:t>Acceso con cuenta UPO (@alu.upo.es)</a:t>
            </a:r>
            <a:br/>
            <a:r>
              <a:t>Votación en 30 segundos desde el móvil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B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E99073"/>
                </a:solidFill>
                <a:latin typeface="Poppins"/>
              </a:defRPr>
            </a:pPr>
            <a:r>
              <a:t>BLOQUE 1 · DESMONTANDO EL PREJUICIO (7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91440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566B56"/>
                </a:solidFill>
                <a:latin typeface="Poppins"/>
              </a:defRPr>
            </a:pPr>
            <a:r>
              <a:t>La Gran Tijera Española: ¿Más Empleo Significa Más Riqueza?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25296"/>
            <a:ext cx="91440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76927A"/>
                </a:solidFill>
                <a:latin typeface="Calibri"/>
              </a:defRPr>
            </a:pPr>
            <a:r>
              <a:t>Récord histórico de ocupados (EPA) vs. estancamiento secular de la productividad</a:t>
            </a:r>
          </a:p>
        </p:txBody>
      </p:sp>
      <p:pic>
        <p:nvPicPr>
          <p:cNvPr id="6" name="Picture 5" descr="psll_lock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457200"/>
            <a:ext cx="1737360" cy="54864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731520" y="6400800"/>
            <a:ext cx="10728655" cy="12700"/>
          </a:xfrm>
          <a:prstGeom prst="rect">
            <a:avLst/>
          </a:prstGeom>
          <a:solidFill>
            <a:srgbClr val="D7E4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31520" y="644652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76927A"/>
                </a:solidFill>
                <a:latin typeface="Calibri"/>
              </a:defRPr>
            </a:pPr>
            <a:r>
              <a:t>Políticas Sociolaborales y de Empleo · Grado en RRLL y RRHH / Derecho · UPO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644652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76927A"/>
                </a:solidFill>
                <a:latin typeface="Poppins"/>
              </a:defRPr>
            </a:pPr>
            <a:r>
              <a:t>4 / 15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1691640"/>
            <a:ext cx="621792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7E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1" name="Picture 10" descr="gancho_paradoja_empleo_productivida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1783080"/>
            <a:ext cx="5943600" cy="3434080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7132320" y="1691640"/>
            <a:ext cx="429768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7E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315200" y="1874519"/>
            <a:ext cx="39319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E99073"/>
                </a:solidFill>
                <a:latin typeface="Poppins"/>
              </a:defRPr>
            </a:pPr>
            <a:r>
              <a:t>LOS DATOS DEL ENIGMA</a:t>
            </a:r>
          </a:p>
          <a:p>
            <a:pPr>
              <a:spcBef>
                <a:spcPts val="400"/>
              </a:spcBef>
              <a:defRPr sz="1800" b="1">
                <a:solidFill>
                  <a:srgbClr val="566B56"/>
                </a:solidFill>
                <a:latin typeface="Poppins"/>
              </a:defRPr>
            </a:pPr>
            <a:r>
              <a:t>21,8 M de ocupados (EPA)</a:t>
            </a:r>
          </a:p>
          <a:p>
            <a:pPr>
              <a:spcAft>
                <a:spcPts val="800"/>
              </a:spcAft>
              <a:defRPr sz="1600">
                <a:solidFill>
                  <a:srgbClr val="2F3A30"/>
                </a:solidFill>
                <a:latin typeface="Calibri"/>
              </a:defRPr>
            </a:pPr>
            <a:r>
              <a:t>Máximo histórico absoluto en la EPA. Nunca antes tanta gente había trabajado a la vez en España (+36,5% desde el año 2000).</a:t>
            </a:r>
          </a:p>
          <a:p>
            <a:pPr>
              <a:defRPr sz="1800" b="1">
                <a:solidFill>
                  <a:srgbClr val="E99073"/>
                </a:solidFill>
                <a:latin typeface="Poppins"/>
              </a:defRPr>
            </a:pPr>
            <a:r>
              <a:t>Productividad por hora plana (+0,3% anual)</a:t>
            </a:r>
          </a:p>
          <a:p>
            <a:pPr>
              <a:defRPr sz="1600">
                <a:solidFill>
                  <a:srgbClr val="2F3A30"/>
                </a:solidFill>
                <a:latin typeface="Calibri"/>
              </a:defRPr>
            </a:pPr>
            <a:r>
              <a:t>Lleva 25 años estancada. El modelo crece sumando brazos, pero cada hora de trabajo rinde casi el mismo valor real.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B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E99073"/>
                </a:solidFill>
                <a:latin typeface="Poppins"/>
              </a:defRPr>
            </a:pPr>
            <a:r>
              <a:t>BLOQUE 1 · DESMONTANDO EL PREJUICIO (8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91440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566B56"/>
                </a:solidFill>
                <a:latin typeface="Poppins"/>
              </a:defRPr>
            </a:pPr>
            <a:r>
              <a:t>El Espejo Europeo: Por Qué No Cobramos Como en Alemania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25296"/>
            <a:ext cx="91440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76927A"/>
                </a:solidFill>
                <a:latin typeface="Calibri"/>
              </a:defRPr>
            </a:pPr>
            <a:r>
              <a:t>Comparativa UE-27: El salario es el reflejo del valor generado por cada hora</a:t>
            </a:r>
          </a:p>
        </p:txBody>
      </p:sp>
      <p:pic>
        <p:nvPicPr>
          <p:cNvPr id="6" name="Picture 5" descr="psll_lock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457200"/>
            <a:ext cx="1737360" cy="54864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731520" y="6400800"/>
            <a:ext cx="10728655" cy="12700"/>
          </a:xfrm>
          <a:prstGeom prst="rect">
            <a:avLst/>
          </a:prstGeom>
          <a:solidFill>
            <a:srgbClr val="D7E4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31520" y="644652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76927A"/>
                </a:solidFill>
                <a:latin typeface="Calibri"/>
              </a:defRPr>
            </a:pPr>
            <a:r>
              <a:t>Políticas Sociolaborales y de Empleo · Grado en RRLL y RRHH / Derecho · UPO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644652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76927A"/>
                </a:solidFill>
                <a:latin typeface="Poppins"/>
              </a:defRPr>
            </a:pPr>
            <a:r>
              <a:t>5 / 15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1691640"/>
            <a:ext cx="621792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7E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1" name="Picture 10" descr="gancho_brecha_productividad_salarios_u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1783080"/>
            <a:ext cx="5943600" cy="3434080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7132320" y="1691640"/>
            <a:ext cx="429768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566B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315200" y="1874519"/>
            <a:ext cx="39319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566B56"/>
                </a:solidFill>
                <a:latin typeface="Poppins"/>
              </a:defRPr>
            </a:pPr>
            <a:r>
              <a:t>LA CORRELACIÓN INELUDIBLE</a:t>
            </a:r>
          </a:p>
          <a:p>
            <a:pPr>
              <a:spcBef>
                <a:spcPts val="600"/>
              </a:spcBef>
              <a:spcAft>
                <a:spcPts val="1000"/>
              </a:spcAft>
              <a:defRPr sz="1700" b="1">
                <a:solidFill>
                  <a:srgbClr val="566B56"/>
                </a:solidFill>
                <a:latin typeface="Poppins"/>
              </a:defRPr>
            </a:pPr>
            <a:r>
              <a:t>España: 34 € VAB/h -&gt; 24 € salario medio</a:t>
            </a:r>
            <a:br/>
            <a:r>
              <a:t>Alemania: 62 € VAB/h -&gt; 41 € salario medio</a:t>
            </a:r>
          </a:p>
          <a:p>
            <a:pPr>
              <a:spcAft>
                <a:spcPts val="1000"/>
              </a:spcAft>
              <a:defRPr sz="1600">
                <a:solidFill>
                  <a:srgbClr val="2F3A30"/>
                </a:solidFill>
                <a:latin typeface="Calibri"/>
              </a:defRPr>
            </a:pPr>
            <a:r>
              <a:t>El salario medio refleja con precisión matemática el valor creado por hora de trabajo. No se pueden tener salarios daneses con productividad española.</a:t>
            </a:r>
          </a:p>
          <a:p>
            <a:pPr>
              <a:defRPr sz="1600" b="1">
                <a:solidFill>
                  <a:srgbClr val="E99073"/>
                </a:solidFill>
                <a:latin typeface="Calibri"/>
              </a:defRPr>
            </a:pPr>
            <a:r>
              <a:t>💡 La pregunta teórica: ¿Cómo se formaliza esto matemáticamente? Entramos en el modelo del PIB y del CLU.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B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E99073"/>
                </a:solidFill>
                <a:latin typeface="Poppins"/>
              </a:defRPr>
            </a:pPr>
            <a:r>
              <a:t>BLOQUE 2 · MINI-LECCIÓN 1 (EPÍGRAFE 2.1)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91440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566B56"/>
                </a:solidFill>
                <a:latin typeface="Poppins"/>
              </a:defRPr>
            </a:pPr>
            <a:r>
              <a:t>El PIB como Suma de Valor Añadido Bruto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25296"/>
            <a:ext cx="91440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76927A"/>
                </a:solidFill>
                <a:latin typeface="Calibri"/>
              </a:defRPr>
            </a:pPr>
            <a:r>
              <a:t>Evitar el error común de contabilizar el total de transacciones brutas</a:t>
            </a:r>
          </a:p>
        </p:txBody>
      </p:sp>
      <p:pic>
        <p:nvPicPr>
          <p:cNvPr id="6" name="Picture 5" descr="psll_lock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457200"/>
            <a:ext cx="1737360" cy="54864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731520" y="6400800"/>
            <a:ext cx="10728655" cy="12700"/>
          </a:xfrm>
          <a:prstGeom prst="rect">
            <a:avLst/>
          </a:prstGeom>
          <a:solidFill>
            <a:srgbClr val="D7E4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31520" y="644652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76927A"/>
                </a:solidFill>
                <a:latin typeface="Calibri"/>
              </a:defRPr>
            </a:pPr>
            <a:r>
              <a:t>Políticas Sociolaborales y de Empleo · Grado en RRLL y RRHH / Derecho · UPO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644652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76927A"/>
                </a:solidFill>
                <a:latin typeface="Poppins"/>
              </a:defRPr>
            </a:pPr>
            <a:r>
              <a:t>6 / 15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1691640"/>
            <a:ext cx="621792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7E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1" name="Picture 10" descr="vab_pa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1874519"/>
            <a:ext cx="5852160" cy="3329073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7132320" y="1691640"/>
            <a:ext cx="429768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7E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315200" y="1874519"/>
            <a:ext cx="39319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E99073"/>
                </a:solidFill>
                <a:latin typeface="Poppins"/>
              </a:defRPr>
            </a:pPr>
            <a:r>
              <a:t>CLAVES DEL MODELO (FIGURA 1.3)</a:t>
            </a:r>
          </a:p>
          <a:p>
            <a:pPr>
              <a:spcBef>
                <a:spcPts val="400"/>
              </a:spcBef>
              <a:defRPr sz="1600" b="1">
                <a:solidFill>
                  <a:srgbClr val="566B56"/>
                </a:solidFill>
                <a:latin typeface="Poppins"/>
              </a:defRPr>
            </a:pPr>
            <a:r>
              <a:t>1. El riesgo del doble cómputo:</a:t>
            </a:r>
          </a:p>
          <a:p>
            <a:pPr>
              <a:spcAft>
                <a:spcPts val="800"/>
              </a:spcAft>
              <a:defRPr sz="1600">
                <a:solidFill>
                  <a:srgbClr val="2F3A30"/>
                </a:solidFill>
                <a:latin typeface="Calibri"/>
              </a:defRPr>
            </a:pPr>
            <a:r>
              <a:t>Sumar ventas brutas (0,30 € trigo + 0,70 € harina + 2,00 € pan = 3,00 €) contaría el trigo tres veces.</a:t>
            </a:r>
          </a:p>
          <a:p>
            <a:pPr>
              <a:defRPr sz="1600" b="1">
                <a:solidFill>
                  <a:srgbClr val="566B56"/>
                </a:solidFill>
                <a:latin typeface="Poppins"/>
              </a:defRPr>
            </a:pPr>
            <a:r>
              <a:t>2. La solución: Valor Añadido (VAB):</a:t>
            </a:r>
          </a:p>
          <a:p>
            <a:pPr>
              <a:defRPr sz="1600">
                <a:solidFill>
                  <a:srgbClr val="2F3A30"/>
                </a:solidFill>
                <a:latin typeface="Calibri"/>
              </a:defRPr>
            </a:pPr>
            <a:r>
              <a:t>VAB = Ventas - Consumos intermedios.</a:t>
            </a:r>
            <a:br/>
            <a:r>
              <a:t>Total PIB real = 2,00 € (el bien final).</a:t>
            </a:r>
            <a:br/>
            <a:r>
              <a:t>Solo se puede repartir en salarios la riqueza genuinamente creada.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B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E99073"/>
                </a:solidFill>
                <a:latin typeface="Poppins"/>
              </a:defRPr>
            </a:pPr>
            <a:r>
              <a:t>BLOQUE 2 · MINI-LECCIÓN 1 (EPÍGRAFE 2.1)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91440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566B56"/>
                </a:solidFill>
                <a:latin typeface="Poppins"/>
              </a:defRPr>
            </a:pPr>
            <a:r>
              <a:t>PIB Nominal vs. PIB Real: El Espejismo de los Precios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25296"/>
            <a:ext cx="91440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76927A"/>
                </a:solidFill>
                <a:latin typeface="Calibri"/>
              </a:defRPr>
            </a:pPr>
            <a:r>
              <a:t>Por qué medimos el crecimiento económico en volumen y no en euros corrientes</a:t>
            </a:r>
          </a:p>
        </p:txBody>
      </p:sp>
      <p:pic>
        <p:nvPicPr>
          <p:cNvPr id="6" name="Picture 5" descr="psll_lock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457200"/>
            <a:ext cx="1737360" cy="54864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731520" y="6400800"/>
            <a:ext cx="10728655" cy="12700"/>
          </a:xfrm>
          <a:prstGeom prst="rect">
            <a:avLst/>
          </a:prstGeom>
          <a:solidFill>
            <a:srgbClr val="D7E4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31520" y="644652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76927A"/>
                </a:solidFill>
                <a:latin typeface="Calibri"/>
              </a:defRPr>
            </a:pPr>
            <a:r>
              <a:t>Políticas Sociolaborales y de Empleo · Grado en RRLL y RRHH / Derecho · UPO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644652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76927A"/>
                </a:solidFill>
                <a:latin typeface="Poppins"/>
              </a:defRPr>
            </a:pPr>
            <a:r>
              <a:t>7 / 15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1691640"/>
            <a:ext cx="621792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7E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1" name="Picture 10" descr="pib_interanu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1874519"/>
            <a:ext cx="5852160" cy="3789311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7132320" y="1691640"/>
            <a:ext cx="429768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7E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315200" y="1874519"/>
            <a:ext cx="39319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E99073"/>
                </a:solidFill>
                <a:latin typeface="Poppins"/>
              </a:defRPr>
            </a:pPr>
            <a:r>
              <a:t>DISTINCIÓN FUNDAMENTAL</a:t>
            </a:r>
          </a:p>
          <a:p>
            <a:pPr>
              <a:spcBef>
                <a:spcPts val="400"/>
              </a:spcBef>
              <a:defRPr sz="1600" b="1">
                <a:solidFill>
                  <a:srgbClr val="566B56"/>
                </a:solidFill>
                <a:latin typeface="Poppins"/>
              </a:defRPr>
            </a:pPr>
            <a:r>
              <a:t>• PIB Nominal (Precios corrientes):</a:t>
            </a:r>
          </a:p>
          <a:p>
            <a:pPr>
              <a:spcAft>
                <a:spcPts val="800"/>
              </a:spcAft>
              <a:defRPr sz="1600">
                <a:solidFill>
                  <a:srgbClr val="2F3A30"/>
                </a:solidFill>
                <a:latin typeface="Calibri"/>
              </a:defRPr>
            </a:pPr>
            <a:r>
              <a:t>Mide la producción con precios del año. Crece tanto si producimos más como si las cosas son más caras (inflación).</a:t>
            </a:r>
          </a:p>
          <a:p>
            <a:pPr>
              <a:defRPr sz="1600" b="1">
                <a:solidFill>
                  <a:srgbClr val="566B56"/>
                </a:solidFill>
                <a:latin typeface="Poppins"/>
              </a:defRPr>
            </a:pPr>
            <a:r>
              <a:t>• PIB Real (Precios constantes):</a:t>
            </a:r>
          </a:p>
          <a:p>
            <a:pPr>
              <a:defRPr sz="1600">
                <a:solidFill>
                  <a:srgbClr val="2F3A30"/>
                </a:solidFill>
                <a:latin typeface="Calibri"/>
              </a:defRPr>
            </a:pPr>
            <a:r>
              <a:t>Aísla la inflación con el deflactor. Para sostener el empleo y el poder de compra real, necesitamos PIB real, no espejismos nominales.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B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E99073"/>
                </a:solidFill>
                <a:latin typeface="Poppins"/>
              </a:defRPr>
            </a:pPr>
            <a:r>
              <a:t>BLOQUE 3 · MINI-LECCIÓN 2 (EPÍGRAFE 2.2)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91440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566B56"/>
                </a:solidFill>
                <a:latin typeface="Poppins"/>
              </a:defRPr>
            </a:pPr>
            <a:r>
              <a:t>La Productividad como Techo Real de los Salarios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25296"/>
            <a:ext cx="91440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76927A"/>
                </a:solidFill>
                <a:latin typeface="Calibri"/>
              </a:defRPr>
            </a:pPr>
            <a:r>
              <a:t>El mecanismo analítico de transmisión: Los Costes Laborales Unitarios (CLU)</a:t>
            </a:r>
          </a:p>
        </p:txBody>
      </p:sp>
      <p:pic>
        <p:nvPicPr>
          <p:cNvPr id="6" name="Picture 5" descr="psll_lock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457200"/>
            <a:ext cx="1737360" cy="54864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731520" y="6400800"/>
            <a:ext cx="10728655" cy="12700"/>
          </a:xfrm>
          <a:prstGeom prst="rect">
            <a:avLst/>
          </a:prstGeom>
          <a:solidFill>
            <a:srgbClr val="D7E4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31520" y="644652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76927A"/>
                </a:solidFill>
                <a:latin typeface="Calibri"/>
              </a:defRPr>
            </a:pPr>
            <a:r>
              <a:t>Políticas Sociolaborales y de Empleo · Grado en RRLL y RRHH / Derecho · UPO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644652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76927A"/>
                </a:solidFill>
                <a:latin typeface="Poppins"/>
              </a:defRPr>
            </a:pPr>
            <a:r>
              <a:t>8 / 15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1691640"/>
            <a:ext cx="10728655" cy="13716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566B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05840" y="1783080"/>
            <a:ext cx="101498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E99073"/>
                </a:solidFill>
                <a:latin typeface="Poppins"/>
              </a:defRPr>
            </a:pPr>
            <a:r>
              <a:t>EL MODELO ANALÍTICO CENTRAL</a:t>
            </a:r>
          </a:p>
          <a:p>
            <a:pPr>
              <a:spcBef>
                <a:spcPts val="400"/>
              </a:spcBef>
              <a:defRPr sz="2000" b="1">
                <a:solidFill>
                  <a:srgbClr val="566B56"/>
                </a:solidFill>
                <a:latin typeface="Poppins"/>
              </a:defRPr>
            </a:pPr>
            <a:r>
              <a:t>Coste Laboral Unitario (CLU) = Coste Laboral por Hora (W) / Productividad por Hora (VAB / H)</a:t>
            </a:r>
          </a:p>
          <a:p>
            <a:pPr>
              <a:defRPr sz="1600">
                <a:solidFill>
                  <a:srgbClr val="2F3A30"/>
                </a:solidFill>
                <a:latin typeface="Calibri"/>
              </a:defRPr>
            </a:pPr>
            <a:r>
              <a:t>Mide cuánto le cuesta a la empresa la mano de obra para generar 1 € de valor añadido. Es el termómetro de competitividad.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291840"/>
            <a:ext cx="3429000" cy="2743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7E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914400" y="3429000"/>
            <a:ext cx="30632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566B56"/>
                </a:solidFill>
                <a:latin typeface="Poppins"/>
              </a:defRPr>
            </a:pPr>
            <a:r>
              <a:t>Escenario A: Virtuoso</a:t>
            </a:r>
          </a:p>
          <a:p>
            <a:pPr>
              <a:spcBef>
                <a:spcPts val="400"/>
              </a:spcBef>
              <a:spcAft>
                <a:spcPts val="800"/>
              </a:spcAft>
              <a:defRPr sz="1300" b="1">
                <a:solidFill>
                  <a:srgbClr val="76927A"/>
                </a:solidFill>
                <a:latin typeface="Poppins"/>
              </a:defRPr>
            </a:pPr>
            <a:r>
              <a:t>Salario +3% | Prod +3%</a:t>
            </a:r>
          </a:p>
          <a:p>
            <a:pPr>
              <a:defRPr sz="1600">
                <a:solidFill>
                  <a:srgbClr val="2F3A30"/>
                </a:solidFill>
                <a:latin typeface="Calibri"/>
              </a:defRPr>
            </a:pPr>
            <a:r>
              <a:t>El CLU permanece estable. Los trabajadores ganan poder adquisitivo sin arriesgar el empleo.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79976" y="3291840"/>
            <a:ext cx="3429000" cy="2743200"/>
          </a:xfrm>
          <a:prstGeom prst="roundRect">
            <a:avLst/>
          </a:prstGeom>
          <a:solidFill>
            <a:srgbClr val="E1F6EA"/>
          </a:solidFill>
          <a:ln w="19050">
            <a:solidFill>
              <a:srgbClr val="E990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562856" y="3429000"/>
            <a:ext cx="30632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E99073"/>
                </a:solidFill>
                <a:latin typeface="Poppins"/>
              </a:defRPr>
            </a:pPr>
            <a:r>
              <a:t>Escenario B: Shock Crítico</a:t>
            </a:r>
          </a:p>
          <a:p>
            <a:pPr>
              <a:spcBef>
                <a:spcPts val="400"/>
              </a:spcBef>
              <a:spcAft>
                <a:spcPts val="800"/>
              </a:spcAft>
              <a:defRPr sz="1300" b="1">
                <a:solidFill>
                  <a:srgbClr val="76927A"/>
                </a:solidFill>
                <a:latin typeface="Poppins"/>
              </a:defRPr>
            </a:pPr>
            <a:r>
              <a:t>Salario +8% | Prod +2%</a:t>
            </a:r>
          </a:p>
          <a:p>
            <a:pPr>
              <a:defRPr sz="1600">
                <a:solidFill>
                  <a:srgbClr val="2F3A30"/>
                </a:solidFill>
                <a:latin typeface="Calibri"/>
              </a:defRPr>
            </a:pPr>
            <a:r>
              <a:t>El CLU se dispara un ~6%. El producto se encarece y la empresa ajusta despidiendo trabajadores.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28432" y="3291840"/>
            <a:ext cx="3429000" cy="2743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7E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211312" y="3429000"/>
            <a:ext cx="30632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566B56"/>
                </a:solidFill>
                <a:latin typeface="Poppins"/>
              </a:defRPr>
            </a:pPr>
            <a:r>
              <a:t>Escenario C: Ganancia Externa</a:t>
            </a:r>
          </a:p>
          <a:p>
            <a:pPr>
              <a:spcBef>
                <a:spcPts val="400"/>
              </a:spcBef>
              <a:spcAft>
                <a:spcPts val="800"/>
              </a:spcAft>
              <a:defRPr sz="1300" b="1">
                <a:solidFill>
                  <a:srgbClr val="76927A"/>
                </a:solidFill>
                <a:latin typeface="Poppins"/>
              </a:defRPr>
            </a:pPr>
            <a:r>
              <a:t>Salario +2% | Prod +5%</a:t>
            </a:r>
          </a:p>
          <a:p>
            <a:pPr>
              <a:defRPr sz="1600">
                <a:solidFill>
                  <a:srgbClr val="2F3A30"/>
                </a:solidFill>
                <a:latin typeface="Calibri"/>
              </a:defRPr>
            </a:pPr>
            <a:r>
              <a:t>El CLU baja. La empresa gana cuota exterior y acumula margen para futuras subidas salariales.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B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E99073"/>
                </a:solidFill>
                <a:latin typeface="Poppins"/>
              </a:defRPr>
            </a:pPr>
            <a:r>
              <a:t>BLOQUE 3 · EVIDENCIA EMPÍRICA (EPÍGRAFE 2.2)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91440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566B56"/>
                </a:solidFill>
                <a:latin typeface="Poppins"/>
              </a:defRPr>
            </a:pPr>
            <a:r>
              <a:t>La Evidencia Internacional: Productividad vs. Salarios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25296"/>
            <a:ext cx="91440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76927A"/>
                </a:solidFill>
                <a:latin typeface="Calibri"/>
              </a:defRPr>
            </a:pPr>
            <a:r>
              <a:t>Datos de la OCDE (2024): La correlación que ningún país puede esquivar</a:t>
            </a:r>
          </a:p>
        </p:txBody>
      </p:sp>
      <p:pic>
        <p:nvPicPr>
          <p:cNvPr id="6" name="Picture 5" descr="psll_lock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457200"/>
            <a:ext cx="1737360" cy="54864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731520" y="6400800"/>
            <a:ext cx="10728655" cy="12700"/>
          </a:xfrm>
          <a:prstGeom prst="rect">
            <a:avLst/>
          </a:prstGeom>
          <a:solidFill>
            <a:srgbClr val="D7E4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31520" y="644652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76927A"/>
                </a:solidFill>
                <a:latin typeface="Calibri"/>
              </a:defRPr>
            </a:pPr>
            <a:r>
              <a:t>Políticas Sociolaborales y de Empleo · Grado en RRLL y RRHH / Derecho · UPO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644652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76927A"/>
                </a:solidFill>
                <a:latin typeface="Poppins"/>
              </a:defRPr>
            </a:pPr>
            <a:r>
              <a:t>9 / 15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1691640"/>
            <a:ext cx="621792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7E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1" name="Picture 10" descr="productividad_salario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1874519"/>
            <a:ext cx="5852160" cy="3602264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7132320" y="1691640"/>
            <a:ext cx="429768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7E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315200" y="1874519"/>
            <a:ext cx="39319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E99073"/>
                </a:solidFill>
                <a:latin typeface="Poppins"/>
              </a:defRPr>
            </a:pPr>
            <a:r>
              <a:t>DIAGNÓSTICO EMPÍRICO (FIGURA 1.5)</a:t>
            </a:r>
          </a:p>
          <a:p>
            <a:pPr>
              <a:spcBef>
                <a:spcPts val="400"/>
              </a:spcBef>
              <a:defRPr sz="1600" b="1">
                <a:solidFill>
                  <a:srgbClr val="566B56"/>
                </a:solidFill>
                <a:latin typeface="Poppins"/>
              </a:defRPr>
            </a:pPr>
            <a:r>
              <a:t>1. Correlación directa y positiva:</a:t>
            </a:r>
          </a:p>
          <a:p>
            <a:pPr>
              <a:spcAft>
                <a:spcPts val="800"/>
              </a:spcAft>
              <a:defRPr sz="1600">
                <a:solidFill>
                  <a:srgbClr val="2F3A30"/>
                </a:solidFill>
                <a:latin typeface="Calibri"/>
              </a:defRPr>
            </a:pPr>
            <a:r>
              <a:t>Los países con mayor remuneración media (Dinamarca, Alemania) son aquellos cuya productividad supera los 60 € por hora.</a:t>
            </a:r>
          </a:p>
          <a:p>
            <a:pPr>
              <a:defRPr sz="1600" b="1">
                <a:solidFill>
                  <a:srgbClr val="E99073"/>
                </a:solidFill>
                <a:latin typeface="Poppins"/>
              </a:defRPr>
            </a:pPr>
            <a:r>
              <a:t>2. La posición de España:</a:t>
            </a:r>
          </a:p>
          <a:p>
            <a:pPr>
              <a:defRPr sz="1600">
                <a:solidFill>
                  <a:srgbClr val="2F3A30"/>
                </a:solidFill>
                <a:latin typeface="Calibri"/>
              </a:defRPr>
            </a:pPr>
            <a:r>
              <a:t>España está en el cuadrante intermedio: sus salarios reflejan un VAB por hora un 15% inferior a la media de la UE.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B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E99073"/>
                </a:solidFill>
                <a:latin typeface="Poppins"/>
              </a:defRPr>
            </a:pPr>
            <a:r>
              <a:t>BLOQUE 3 · ESTRUCTURA PRODUCTIVA (EPÍGRAFE 2.3)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91440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566B56"/>
                </a:solidFill>
                <a:latin typeface="Poppins"/>
              </a:defRPr>
            </a:pPr>
            <a:r>
              <a:t>Estructura Productiva y Calidad del Empleo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25296"/>
            <a:ext cx="91440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76927A"/>
                </a:solidFill>
                <a:latin typeface="Calibri"/>
              </a:defRPr>
            </a:pPr>
            <a:r>
              <a:t>Por qué la composición sectorial determina la precariedad y los salarios</a:t>
            </a:r>
          </a:p>
        </p:txBody>
      </p:sp>
      <p:pic>
        <p:nvPicPr>
          <p:cNvPr id="6" name="Picture 5" descr="psll_lock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457200"/>
            <a:ext cx="1737360" cy="54864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731520" y="6400800"/>
            <a:ext cx="10728655" cy="12700"/>
          </a:xfrm>
          <a:prstGeom prst="rect">
            <a:avLst/>
          </a:prstGeom>
          <a:solidFill>
            <a:srgbClr val="D7E4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31520" y="644652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76927A"/>
                </a:solidFill>
                <a:latin typeface="Calibri"/>
              </a:defRPr>
            </a:pPr>
            <a:r>
              <a:t>Políticas Sociolaborales y de Empleo · Grado en RRLL y RRHH / Derecho · UPO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644652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76927A"/>
                </a:solidFill>
                <a:latin typeface="Poppins"/>
              </a:defRPr>
            </a:pPr>
            <a:r>
              <a:t>10 / 15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1691640"/>
            <a:ext cx="521208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7E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05840" y="1874519"/>
            <a:ext cx="46634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E99073"/>
                </a:solidFill>
                <a:latin typeface="Poppins"/>
              </a:defRPr>
            </a:pPr>
            <a:r>
              <a:t>SECTORES DE BAJO VAB POR HORA</a:t>
            </a:r>
          </a:p>
          <a:p>
            <a:pPr>
              <a:spcBef>
                <a:spcPts val="400"/>
              </a:spcBef>
              <a:defRPr sz="1600" b="1">
                <a:solidFill>
                  <a:srgbClr val="566B56"/>
                </a:solidFill>
                <a:latin typeface="Poppins"/>
              </a:defRPr>
            </a:pPr>
            <a:r>
              <a:t>Hostelería, Comercio y Servicios Personales</a:t>
            </a:r>
          </a:p>
          <a:p>
            <a:pPr>
              <a:defRPr sz="1600">
                <a:solidFill>
                  <a:srgbClr val="2F3A30"/>
                </a:solidFill>
                <a:latin typeface="Calibri"/>
              </a:defRPr>
            </a:pPr>
            <a:r>
              <a:t>• VAB: 18 – 24 € por hora trabajada.</a:t>
            </a:r>
            <a:br/>
            <a:r>
              <a:t>• El salario absorbe el 65% del valor creado (margen muy estrecho).</a:t>
            </a:r>
            <a:br/>
            <a:r>
              <a:t>• Alta rotación y empleo vulnerable ante alzas de costes.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1691640"/>
            <a:ext cx="521208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566B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92240" y="1874519"/>
            <a:ext cx="46634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566B56"/>
                </a:solidFill>
                <a:latin typeface="Poppins"/>
              </a:defRPr>
            </a:pPr>
            <a:r>
              <a:t>SECTORES DE ALTO VAB POR HORA</a:t>
            </a:r>
          </a:p>
          <a:p>
            <a:pPr>
              <a:spcBef>
                <a:spcPts val="400"/>
              </a:spcBef>
              <a:defRPr sz="1600" b="1">
                <a:solidFill>
                  <a:srgbClr val="566B56"/>
                </a:solidFill>
                <a:latin typeface="Poppins"/>
              </a:defRPr>
            </a:pPr>
            <a:r>
              <a:t>Industria Avanzada, TIC y Biotecnología</a:t>
            </a:r>
          </a:p>
          <a:p>
            <a:pPr>
              <a:defRPr sz="1600">
                <a:solidFill>
                  <a:srgbClr val="2F3A30"/>
                </a:solidFill>
                <a:latin typeface="Calibri"/>
              </a:defRPr>
            </a:pPr>
            <a:r>
              <a:t>• VAB: 50 – 80 € por hora trabajada.</a:t>
            </a:r>
            <a:br/>
            <a:r>
              <a:t>• CLU al 45-50%: margen empresarial holgado.</a:t>
            </a:r>
            <a:br/>
            <a:r>
              <a:t>• Contratación estable y salarios elevados perfectamente sostenibles.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B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E99073"/>
                </a:solidFill>
                <a:latin typeface="Poppins"/>
              </a:defRPr>
            </a:pPr>
            <a:r>
              <a:t>BLOQUE 4 · LABORATORIO ACTIVO (30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91440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566B56"/>
                </a:solidFill>
                <a:latin typeface="Poppins"/>
              </a:defRPr>
            </a:pPr>
            <a:r>
              <a:t>Taller en Parejas: Simulador de Costes Laborales Unitarios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25296"/>
            <a:ext cx="91440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76927A"/>
                </a:solidFill>
                <a:latin typeface="Calibri"/>
              </a:defRPr>
            </a:pPr>
            <a:r>
              <a:t>Rol: Analistas Técnicos del Gabinete de la Consejería de Empleo</a:t>
            </a:r>
          </a:p>
        </p:txBody>
      </p:sp>
      <p:pic>
        <p:nvPicPr>
          <p:cNvPr id="6" name="Picture 5" descr="psll_lock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457200"/>
            <a:ext cx="1737360" cy="54864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731520" y="6400800"/>
            <a:ext cx="10728655" cy="12700"/>
          </a:xfrm>
          <a:prstGeom prst="rect">
            <a:avLst/>
          </a:prstGeom>
          <a:solidFill>
            <a:srgbClr val="D7E4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31520" y="644652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76927A"/>
                </a:solidFill>
                <a:latin typeface="Calibri"/>
              </a:defRPr>
            </a:pPr>
            <a:r>
              <a:t>Políticas Sociolaborales y de Empleo · Grado en RRLL y RRHH / Derecho · UPO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644652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76927A"/>
                </a:solidFill>
                <a:latin typeface="Poppins"/>
              </a:defRPr>
            </a:pPr>
            <a:r>
              <a:t>11 / 15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1691640"/>
            <a:ext cx="685800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7E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05840" y="1874519"/>
            <a:ext cx="63093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E99073"/>
                </a:solidFill>
                <a:latin typeface="Poppins"/>
              </a:defRPr>
            </a:pPr>
            <a:r>
              <a:t>MISIÓN TÉCNICA DEL EQUIPO</a:t>
            </a:r>
          </a:p>
          <a:p>
            <a:pPr>
              <a:spcBef>
                <a:spcPts val="400"/>
              </a:spcBef>
              <a:defRPr sz="1600" b="1">
                <a:solidFill>
                  <a:srgbClr val="566B56"/>
                </a:solidFill>
                <a:latin typeface="Poppins"/>
              </a:defRPr>
            </a:pPr>
            <a:r>
              <a:t>Vuestro objetivo en parejas como técnicos de Empleo:</a:t>
            </a:r>
          </a:p>
          <a:p>
            <a:pPr>
              <a:spcAft>
                <a:spcPts val="1000"/>
              </a:spcAft>
              <a:defRPr sz="1600">
                <a:solidFill>
                  <a:srgbClr val="2F3A30"/>
                </a:solidFill>
                <a:latin typeface="Calibri"/>
              </a:defRPr>
            </a:pPr>
            <a:r>
              <a:t>1. Abrir la micro-app desde el móvil o portátil con el código QR.</a:t>
            </a:r>
            <a:br/>
            <a:r>
              <a:t>2. Calibrar los 3 sectores y contrastar sus CLU de partida.</a:t>
            </a:r>
            <a:br/>
            <a:r>
              <a:t>3. Aplicar el Shock Salarial (+8%) y registrar el impacto en empleo.</a:t>
            </a:r>
            <a:br/>
            <a:r>
              <a:t>4. Asignar los 100 M€: ¿Subvención temporal o productividad real?</a:t>
            </a:r>
          </a:p>
          <a:p>
            <a:pPr>
              <a:defRPr sz="1600" b="1">
                <a:solidFill>
                  <a:srgbClr val="E99073"/>
                </a:solidFill>
                <a:latin typeface="Calibri"/>
              </a:defRPr>
            </a:pPr>
            <a:r>
              <a:t>⏱️ Tiempo de trabajo: 20 min en pareja + 10 min de puesta en común.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863840" y="1691640"/>
            <a:ext cx="356616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566B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046720" y="4480560"/>
            <a:ext cx="3200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113927"/>
                </a:solidFill>
                <a:latin typeface="Calibri"/>
              </a:defRPr>
            </a:pPr>
            <a:r>
              <a:t>ESCANEA PARA ABRIR LA APP</a:t>
            </a:r>
          </a:p>
          <a:p>
            <a:pPr>
              <a:defRPr sz="1100" b="1">
                <a:solidFill>
                  <a:srgbClr val="E98F71"/>
                </a:solidFill>
                <a:latin typeface="Calibri"/>
              </a:defRPr>
            </a:pPr>
            <a:r>
              <a:t>mhidper.github.io/micro_apps/psll</a:t>
            </a:r>
          </a:p>
          <a:p>
            <a:pPr>
              <a:defRPr sz="1000" i="1">
                <a:solidFill>
                  <a:srgbClr val="76927A"/>
                </a:solidFill>
                <a:latin typeface="Calibri"/>
              </a:defRPr>
            </a:pPr>
            <a:r>
              <a:t>(Acceso libre sin descargas)</a:t>
            </a:r>
          </a:p>
        </p:txBody>
      </p:sp>
      <p:pic>
        <p:nvPicPr>
          <p:cNvPr id="15" name="Picture 14" descr="qr_simulador_clu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2480" y="1920240"/>
            <a:ext cx="2468880" cy="246888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B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E99073"/>
                </a:solidFill>
                <a:latin typeface="Poppins"/>
              </a:defRPr>
            </a:pPr>
            <a:r>
              <a:t>BLOQUE 4 · DINÁMICA DE SIMULACIÓN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91440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566B56"/>
                </a:solidFill>
                <a:latin typeface="Poppins"/>
              </a:defRPr>
            </a:pPr>
            <a:r>
              <a:t>Las Tres Fases de Experimentación en la App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25296"/>
            <a:ext cx="91440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76927A"/>
                </a:solidFill>
                <a:latin typeface="Calibri"/>
              </a:defRPr>
            </a:pPr>
            <a:r>
              <a:t>Del cálculo analítico al diseño de políticas públicas de empleo</a:t>
            </a:r>
          </a:p>
        </p:txBody>
      </p:sp>
      <p:pic>
        <p:nvPicPr>
          <p:cNvPr id="6" name="Picture 5" descr="psll_lock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457200"/>
            <a:ext cx="1737360" cy="54864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731520" y="6400800"/>
            <a:ext cx="10728655" cy="12700"/>
          </a:xfrm>
          <a:prstGeom prst="rect">
            <a:avLst/>
          </a:prstGeom>
          <a:solidFill>
            <a:srgbClr val="D7E4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31520" y="644652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76927A"/>
                </a:solidFill>
                <a:latin typeface="Calibri"/>
              </a:defRPr>
            </a:pPr>
            <a:r>
              <a:t>Políticas Sociolaborales y de Empleo · Grado en RRLL y RRHH / Derecho · UPO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644652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76927A"/>
                </a:solidFill>
                <a:latin typeface="Poppins"/>
              </a:defRPr>
            </a:pPr>
            <a:r>
              <a:t>12 / 15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1691640"/>
            <a:ext cx="342900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7E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14400" y="1874519"/>
            <a:ext cx="30632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566B56"/>
                </a:solidFill>
                <a:latin typeface="Poppins"/>
              </a:defRPr>
            </a:pPr>
            <a:r>
              <a:t>Fase 1: Calibración Base</a:t>
            </a:r>
          </a:p>
          <a:p>
            <a:pPr>
              <a:spcBef>
                <a:spcPts val="400"/>
              </a:spcBef>
              <a:spcAft>
                <a:spcPts val="800"/>
              </a:spcAft>
              <a:defRPr sz="1300" b="1">
                <a:solidFill>
                  <a:srgbClr val="76927A"/>
                </a:solidFill>
                <a:latin typeface="Poppins"/>
              </a:defRPr>
            </a:pPr>
            <a:r>
              <a:t>Margen Inicial</a:t>
            </a:r>
          </a:p>
          <a:p>
            <a:pPr>
              <a:defRPr sz="1600">
                <a:solidFill>
                  <a:srgbClr val="2F3A30"/>
                </a:solidFill>
                <a:latin typeface="Calibri"/>
              </a:defRPr>
            </a:pPr>
            <a:r>
              <a:t>Hostelería: CLU 63,6% (Ámbar).</a:t>
            </a:r>
            <a:br/>
            <a:r>
              <a:t>Industria: CLU 57,1% (Equilibrado).</a:t>
            </a:r>
            <a:br/>
            <a:r>
              <a:t>TIC: CLU 50,0% (Holgado).</a:t>
            </a:r>
            <a:br/>
            <a:br/>
            <a:r>
              <a:t>¿Por qué las TIC pagan 35 €/h sin pérdidas?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79976" y="1691640"/>
            <a:ext cx="3429000" cy="4389120"/>
          </a:xfrm>
          <a:prstGeom prst="roundRect">
            <a:avLst/>
          </a:prstGeom>
          <a:solidFill>
            <a:srgbClr val="E1F6EA"/>
          </a:solidFill>
          <a:ln w="19050">
            <a:solidFill>
              <a:srgbClr val="E990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62856" y="1874519"/>
            <a:ext cx="30632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E99073"/>
                </a:solidFill>
                <a:latin typeface="Poppins"/>
              </a:defRPr>
            </a:pPr>
            <a:r>
              <a:t>Fase 2: Shock Salarial (+8%)</a:t>
            </a:r>
          </a:p>
          <a:p>
            <a:pPr>
              <a:spcBef>
                <a:spcPts val="400"/>
              </a:spcBef>
              <a:spcAft>
                <a:spcPts val="800"/>
              </a:spcAft>
              <a:defRPr sz="1300" b="1">
                <a:solidFill>
                  <a:srgbClr val="76927A"/>
                </a:solidFill>
                <a:latin typeface="Poppins"/>
              </a:defRPr>
            </a:pPr>
            <a:r>
              <a:t>Exigencia Sindical</a:t>
            </a:r>
          </a:p>
          <a:p>
            <a:pPr>
              <a:defRPr sz="1600">
                <a:solidFill>
                  <a:srgbClr val="2F3A30"/>
                </a:solidFill>
                <a:latin typeface="Calibri"/>
              </a:defRPr>
            </a:pPr>
            <a:r>
              <a:t>Subida salarial lineal sin más productividad.</a:t>
            </a:r>
            <a:br/>
            <a:r>
              <a:t>Hostelería salta al 68,2% (ROJO) y destruye -18.000 empleos.</a:t>
            </a:r>
            <a:br/>
            <a:br/>
            <a:r>
              <a:t>El sector TIC absorbe el alza en zona verde.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28432" y="1691640"/>
            <a:ext cx="342900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7E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211312" y="1874519"/>
            <a:ext cx="30632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566B56"/>
                </a:solidFill>
                <a:latin typeface="Poppins"/>
              </a:defRPr>
            </a:pPr>
            <a:r>
              <a:t>Fase 3: Dilema 100 M€</a:t>
            </a:r>
          </a:p>
          <a:p>
            <a:pPr>
              <a:spcBef>
                <a:spcPts val="400"/>
              </a:spcBef>
              <a:spcAft>
                <a:spcPts val="800"/>
              </a:spcAft>
              <a:defRPr sz="1300" b="1">
                <a:solidFill>
                  <a:srgbClr val="76927A"/>
                </a:solidFill>
                <a:latin typeface="Poppins"/>
              </a:defRPr>
            </a:pPr>
            <a:r>
              <a:t>Elección de Política</a:t>
            </a:r>
          </a:p>
          <a:p>
            <a:pPr>
              <a:defRPr sz="1600">
                <a:solidFill>
                  <a:srgbClr val="2F3A30"/>
                </a:solidFill>
                <a:latin typeface="Calibri"/>
              </a:defRPr>
            </a:pPr>
            <a:r>
              <a:t>Opción A (Subvención):</a:t>
            </a:r>
            <a:br/>
            <a:r>
              <a:t>Alivio temporal sin tocar la productividad (peso muerto).</a:t>
            </a:r>
            <a:br/>
            <a:br/>
            <a:r>
              <a:t>Opción B (Productividad):</a:t>
            </a:r>
            <a:br/>
            <a:r>
              <a:t>+25% de VAB, retorno sostenible a zona verde.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B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E99073"/>
                </a:solidFill>
                <a:latin typeface="Poppins"/>
              </a:defRPr>
            </a:pPr>
            <a:r>
              <a:t>BLOQUE 5 · RETO INDIVIDUAL DE CIERRE (10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91440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566B56"/>
                </a:solidFill>
                <a:latin typeface="Poppins"/>
              </a:defRPr>
            </a:pPr>
            <a:r>
              <a:t>Reto de Aplicación: Shock Salarial y Competitividad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25296"/>
            <a:ext cx="91440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76927A"/>
                </a:solidFill>
                <a:latin typeface="Calibri"/>
              </a:defRPr>
            </a:pPr>
            <a:r>
              <a:t>Redacción individual a mano en papel · Comprueba tu atención a los mecanismos de hoy</a:t>
            </a:r>
          </a:p>
        </p:txBody>
      </p:sp>
      <p:pic>
        <p:nvPicPr>
          <p:cNvPr id="6" name="Picture 5" descr="psll_lock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457200"/>
            <a:ext cx="1737360" cy="54864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731520" y="6400800"/>
            <a:ext cx="10728655" cy="12700"/>
          </a:xfrm>
          <a:prstGeom prst="rect">
            <a:avLst/>
          </a:prstGeom>
          <a:solidFill>
            <a:srgbClr val="D7E4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31520" y="644652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76927A"/>
                </a:solidFill>
                <a:latin typeface="Calibri"/>
              </a:defRPr>
            </a:pPr>
            <a:r>
              <a:t>Políticas Sociolaborales y de Empleo · Grado en RRLL y RRHH / Derecho · UPO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644652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76927A"/>
                </a:solidFill>
                <a:latin typeface="Poppins"/>
              </a:defRPr>
            </a:pPr>
            <a:r>
              <a:t>13 / 15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1691640"/>
            <a:ext cx="685800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566B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05840" y="1874519"/>
            <a:ext cx="63093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E99073"/>
                </a:solidFill>
                <a:latin typeface="Poppins"/>
              </a:defRPr>
            </a:pPr>
            <a:r>
              <a:t>EN 10 MINUTOS · REDACTA A MANO EN UNA HOJA DE PAPEL</a:t>
            </a:r>
          </a:p>
          <a:p>
            <a:pPr>
              <a:spcBef>
                <a:spcPts val="400"/>
              </a:spcBef>
              <a:spcAft>
                <a:spcPts val="800"/>
              </a:spcAft>
              <a:defRPr sz="1600" b="1">
                <a:solidFill>
                  <a:srgbClr val="566B56"/>
                </a:solidFill>
                <a:latin typeface="Calibri"/>
              </a:defRPr>
            </a:pPr>
            <a:r>
              <a:t>«Un sector económico incrementa sus salarios un 8% en un ejercicio en el que su productividad por hora solo creció un 2%». Razona con rigor económico:</a:t>
            </a:r>
          </a:p>
          <a:p>
            <a:pPr>
              <a:defRPr sz="1500" b="1">
                <a:solidFill>
                  <a:srgbClr val="566B56"/>
                </a:solidFill>
                <a:latin typeface="Poppins"/>
              </a:defRPr>
            </a:pPr>
            <a:r>
              <a:t>a) Costes Laborales Unitarios (CLU):</a:t>
            </a:r>
          </a:p>
          <a:p>
            <a:pPr>
              <a:spcAft>
                <a:spcPts val="600"/>
              </a:spcAft>
              <a:defRPr sz="1600">
                <a:solidFill>
                  <a:srgbClr val="2F3A30"/>
                </a:solidFill>
                <a:latin typeface="Calibri"/>
              </a:defRPr>
            </a:pPr>
            <a:r>
              <a:t>¿Qué ocurre numéricamente con el CLU del sector? Aplica la fórmula vista en clase.</a:t>
            </a:r>
          </a:p>
          <a:p>
            <a:pPr>
              <a:defRPr sz="1500" b="1">
                <a:solidFill>
                  <a:srgbClr val="566B56"/>
                </a:solidFill>
                <a:latin typeface="Poppins"/>
              </a:defRPr>
            </a:pPr>
            <a:r>
              <a:t>b) Competitividad y Empleo:</a:t>
            </a:r>
          </a:p>
          <a:p>
            <a:pPr>
              <a:spcAft>
                <a:spcPts val="600"/>
              </a:spcAft>
              <a:defRPr sz="1600">
                <a:solidFill>
                  <a:srgbClr val="2F3A30"/>
                </a:solidFill>
                <a:latin typeface="Calibri"/>
              </a:defRPr>
            </a:pPr>
            <a:r>
              <a:t>¿Pueden trasladar el sobrecoste a precios sin consecuencias? ¿Cómo ajustará la empresa?</a:t>
            </a:r>
          </a:p>
          <a:p>
            <a:pPr>
              <a:defRPr sz="1500" b="1">
                <a:solidFill>
                  <a:srgbClr val="566B56"/>
                </a:solidFill>
                <a:latin typeface="Poppins"/>
              </a:defRPr>
            </a:pPr>
            <a:r>
              <a:t>c) Negociación Colectiva:</a:t>
            </a:r>
          </a:p>
          <a:p>
            <a:pPr>
              <a:defRPr sz="1600">
                <a:solidFill>
                  <a:srgbClr val="2F3A30"/>
                </a:solidFill>
                <a:latin typeface="Calibri"/>
              </a:defRPr>
            </a:pPr>
            <a:r>
              <a:t>¿Por qué el pacto salarial debe sincronizarse con la productividad real para proteger a los trabajadores?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863840" y="1691640"/>
            <a:ext cx="356616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566B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3" name="Picture 12" descr="Código QR para Pregunta final sesión 2 - PS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0" y="1874519"/>
            <a:ext cx="2834640" cy="283464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046720" y="4754880"/>
            <a:ext cx="32004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566B56"/>
                </a:solidFill>
                <a:latin typeface="Poppins"/>
              </a:defRPr>
            </a:pPr>
            <a:r>
              <a:t>SUBE LA FOTO DE TU HOJA</a:t>
            </a:r>
          </a:p>
          <a:p>
            <a:pPr algn="ctr">
              <a:spcBef>
                <a:spcPts val="400"/>
              </a:spcBef>
              <a:defRPr sz="1200">
                <a:solidFill>
                  <a:srgbClr val="76927A"/>
                </a:solidFill>
                <a:latin typeface="Calibri"/>
              </a:defRPr>
            </a:pPr>
            <a:r>
              <a:t>A la orden del profesor, escanea y sube tu foto con cuenta UPO (@alu.upo.es). Tiempo: 2 min.</a:t>
            </a:r>
          </a:p>
          <a:p>
            <a:pPr algn="ctr">
              <a:spcBef>
                <a:spcPts val="400"/>
              </a:spcBef>
              <a:defRPr sz="1100" b="1">
                <a:solidFill>
                  <a:srgbClr val="E99073"/>
                </a:solidFill>
                <a:latin typeface="Calibri"/>
              </a:defRPr>
            </a:pPr>
            <a:r>
              <a:t>⭐ Entrega válida = Puntos acumulables para el comodín del examen final (70%).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B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E99073"/>
                </a:solidFill>
                <a:latin typeface="Poppins"/>
              </a:defRPr>
            </a:pPr>
            <a:r>
              <a:t>BLOQUE 5 · CORRECCIÓN INMEDIATA (3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91440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566B56"/>
                </a:solidFill>
                <a:latin typeface="Poppins"/>
              </a:defRPr>
            </a:pPr>
            <a:r>
              <a:t>Solución Modelo y Rúbrica de Corrección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25296"/>
            <a:ext cx="91440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76927A"/>
                </a:solidFill>
                <a:latin typeface="Calibri"/>
              </a:defRPr>
            </a:pPr>
            <a:r>
              <a:t>Comprobación inmediata de los mecanismos causales evaluados hoy</a:t>
            </a:r>
          </a:p>
        </p:txBody>
      </p:sp>
      <p:pic>
        <p:nvPicPr>
          <p:cNvPr id="6" name="Picture 5" descr="psll_lock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457200"/>
            <a:ext cx="1737360" cy="54864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731520" y="6400800"/>
            <a:ext cx="10728655" cy="12700"/>
          </a:xfrm>
          <a:prstGeom prst="rect">
            <a:avLst/>
          </a:prstGeom>
          <a:solidFill>
            <a:srgbClr val="D7E4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31520" y="644652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76927A"/>
                </a:solidFill>
                <a:latin typeface="Calibri"/>
              </a:defRPr>
            </a:pPr>
            <a:r>
              <a:t>Políticas Sociolaborales y de Empleo · Grado en RRLL y RRHH / Derecho · UPO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644652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76927A"/>
                </a:solidFill>
                <a:latin typeface="Poppins"/>
              </a:defRPr>
            </a:pPr>
            <a:r>
              <a:t>14 / 15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1691640"/>
            <a:ext cx="342900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7E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14400" y="1874519"/>
            <a:ext cx="30632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566B56"/>
                </a:solidFill>
                <a:latin typeface="Poppins"/>
              </a:defRPr>
            </a:pPr>
            <a:r>
              <a:t>a) Costes Laborales (CLU)</a:t>
            </a:r>
          </a:p>
          <a:p>
            <a:pPr>
              <a:spcBef>
                <a:spcPts val="400"/>
              </a:spcBef>
              <a:spcAft>
                <a:spcPts val="800"/>
              </a:spcAft>
              <a:defRPr sz="1300" b="1">
                <a:solidFill>
                  <a:srgbClr val="E99073"/>
                </a:solidFill>
                <a:latin typeface="Poppins"/>
              </a:defRPr>
            </a:pPr>
            <a:r>
              <a:t>Aumento del ~6%</a:t>
            </a:r>
          </a:p>
          <a:p>
            <a:pPr>
              <a:defRPr sz="1600">
                <a:solidFill>
                  <a:srgbClr val="2F3A30"/>
                </a:solidFill>
                <a:latin typeface="Calibri"/>
              </a:defRPr>
            </a:pPr>
            <a:r>
              <a:t>El coste de la mano de obra por unidad producida se encarece un 6% (CLU = W / Prod ≈ +8% - 2%). Las empresas asumen un sobrecoste que no está respaldado por más producto.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79976" y="1691640"/>
            <a:ext cx="342900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7E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62856" y="1874519"/>
            <a:ext cx="30632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566B56"/>
                </a:solidFill>
                <a:latin typeface="Poppins"/>
              </a:defRPr>
            </a:pPr>
            <a:r>
              <a:t>b) Competitividad y Empleo</a:t>
            </a:r>
          </a:p>
          <a:p>
            <a:pPr>
              <a:spcBef>
                <a:spcPts val="400"/>
              </a:spcBef>
              <a:spcAft>
                <a:spcPts val="800"/>
              </a:spcAft>
              <a:defRPr sz="1300" b="1">
                <a:solidFill>
                  <a:srgbClr val="E99073"/>
                </a:solidFill>
                <a:latin typeface="Poppins"/>
              </a:defRPr>
            </a:pPr>
            <a:r>
              <a:t>Pérdida de ventas y ajuste</a:t>
            </a:r>
          </a:p>
          <a:p>
            <a:pPr>
              <a:defRPr sz="1600">
                <a:solidFill>
                  <a:srgbClr val="2F3A30"/>
                </a:solidFill>
                <a:latin typeface="Calibri"/>
              </a:defRPr>
            </a:pPr>
            <a:r>
              <a:t>No pueden trasladar el sobrecoste a precios sin perder cuota frente a rivales con costes estables. Si los márgenes se agotan, el ajuste inevitable se produce destruyendo empleo.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28432" y="1691640"/>
            <a:ext cx="342900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7E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211312" y="1874519"/>
            <a:ext cx="30632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566B56"/>
                </a:solidFill>
                <a:latin typeface="Poppins"/>
              </a:defRPr>
            </a:pPr>
            <a:r>
              <a:t>c) Negociación Colectiva</a:t>
            </a:r>
          </a:p>
          <a:p>
            <a:pPr>
              <a:spcBef>
                <a:spcPts val="400"/>
              </a:spcBef>
              <a:spcAft>
                <a:spcPts val="800"/>
              </a:spcAft>
              <a:defRPr sz="1300" b="1">
                <a:solidFill>
                  <a:srgbClr val="E99073"/>
                </a:solidFill>
                <a:latin typeface="Poppins"/>
              </a:defRPr>
            </a:pPr>
            <a:r>
              <a:t>Sincronización sostenible</a:t>
            </a:r>
          </a:p>
          <a:p>
            <a:pPr>
              <a:defRPr sz="1600">
                <a:solidFill>
                  <a:srgbClr val="2F3A30"/>
                </a:solidFill>
                <a:latin typeface="Calibri"/>
              </a:defRPr>
            </a:pPr>
            <a:r>
              <a:t>La negociación debe ligar las subidas salariales al crecimiento de la productividad real. No para frenar sueldos, sino para asegurar que el aumento del poder de compra no destruye las empresas.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566B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psll_emble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9236" y="1539732"/>
            <a:ext cx="5143500" cy="278351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937760" y="1371600"/>
            <a:ext cx="65836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E99073"/>
                </a:solidFill>
                <a:latin typeface="Poppins"/>
              </a:defRPr>
            </a:pPr>
            <a:r>
              <a:t>SÍNTESIS DE LA SESIÓN EB 2</a:t>
            </a:r>
          </a:p>
          <a:p>
            <a:pPr>
              <a:spcBef>
                <a:spcPts val="600"/>
              </a:spcBef>
              <a:spcAft>
                <a:spcPts val="1400"/>
              </a:spcAft>
              <a:defRPr sz="2800" b="1">
                <a:solidFill>
                  <a:srgbClr val="FFFFFF"/>
                </a:solidFill>
                <a:latin typeface="Poppins"/>
              </a:defRPr>
            </a:pPr>
            <a:r>
              <a:t>Las Tres Conclusiones Imborrables</a:t>
            </a:r>
          </a:p>
          <a:p>
            <a:pPr>
              <a:spcAft>
                <a:spcPts val="1600"/>
              </a:spcAft>
              <a:defRPr sz="1600">
                <a:solidFill>
                  <a:srgbClr val="E1F6EA"/>
                </a:solidFill>
                <a:latin typeface="Calibri"/>
              </a:defRPr>
            </a:pPr>
            <a:r>
              <a:t>1. Solo se puede repartir lo que se crea: El PIB es Valor Añadido Bruto, no facturación agregada.</a:t>
            </a:r>
            <a:br/>
            <a:r>
              <a:t>2. La productividad manda: Es el techo infranqueable de los salarios reales a largo plazo.</a:t>
            </a:r>
            <a:br/>
            <a:r>
              <a:t>3. El Coste Laboral Unitario (CLU = W / Prod) es el termómetro que separa la prosperidad de la destrucción de empleo.</a:t>
            </a:r>
          </a:p>
          <a:p>
            <a:pPr>
              <a:defRPr sz="1600" b="1">
                <a:solidFill>
                  <a:srgbClr val="EDB090"/>
                </a:solidFill>
                <a:latin typeface="Calibri"/>
              </a:defRPr>
            </a:pPr>
            <a:r>
              <a:t>Próxima sesión: El Mercado de Trabajo y sus Instituciones (Epígrafe 3).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5943600"/>
            <a:ext cx="12191695" cy="914400"/>
          </a:xfrm>
          <a:prstGeom prst="rect">
            <a:avLst/>
          </a:prstGeom>
          <a:solidFill>
            <a:srgbClr val="F2FB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upo_logo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41280" y="6080760"/>
            <a:ext cx="452323" cy="6400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1520" y="6080760"/>
            <a:ext cx="8686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2F3A30"/>
                </a:solidFill>
                <a:latin typeface="Calibri"/>
              </a:defRPr>
            </a:pPr>
            <a:r>
              <a:t>Universidad Pablo de Olavide · Políticas Sociolaborales y de Empleo (2026-2027)</a:t>
            </a:r>
          </a:p>
          <a:p>
            <a:pPr>
              <a:defRPr sz="1200" b="1">
                <a:solidFill>
                  <a:srgbClr val="566B56"/>
                </a:solidFill>
                <a:latin typeface="Calibri"/>
              </a:defRPr>
            </a:pPr>
            <a:r>
              <a:t>Prof. Manuel A. Hidalgo Pérez · mhidper@upo.es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40</TotalTime>
  <Words>2186</Words>
  <Application>Microsoft Office PowerPoint</Application>
  <PresentationFormat>Panorámica</PresentationFormat>
  <Paragraphs>176</Paragraphs>
  <Slides>15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Manuel Alejandro Hidalgo Perez</cp:lastModifiedBy>
  <cp:revision>2</cp:revision>
  <dcterms:created xsi:type="dcterms:W3CDTF">2013-01-27T09:14:16Z</dcterms:created>
  <dcterms:modified xsi:type="dcterms:W3CDTF">2026-09-09T16:26:49Z</dcterms:modified>
  <cp:category/>
</cp:coreProperties>
</file>