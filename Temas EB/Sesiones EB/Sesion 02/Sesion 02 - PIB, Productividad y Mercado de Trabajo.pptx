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744" y="502920"/>
            <a:ext cx="4389120" cy="2393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06324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utfit"/>
              </a:rPr>
              <a:t>POLÍTICAS SOCIOLABORALES Y DE EMPLEO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>
                <a:solidFill>
                  <a:srgbClr val="EDB090"/>
                </a:solidFill>
                <a:latin typeface="Calibri"/>
              </a:rPr>
              <a:t>Sesión 2 – El PIB, la Productividad y el Mercado de Trabajo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>
                <a:solidFill>
                  <a:srgbClr val="F3EFDC"/>
                </a:solidFill>
                <a:latin typeface="Calibri"/>
              </a:rPr>
              <a:t>Martes 15 de septiembre de 2026  ·  Código 102023  ·  Manuel A. Hidalgo Pérez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126480"/>
            <a:ext cx="452628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6263640"/>
            <a:ext cx="94484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2F3A30"/>
                </a:solidFill>
                <a:latin typeface="Calibri"/>
              </a:rPr>
              <a:t>Grado en Relaciones Laborales y Recursos Humanos · Doble Grado en Derecho y RRLL-RRHH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ORGANIZACIÓN DOCENTE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Estructura de la Sesión (120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Modelo de Aula Invertida y Laboratorio Activo de Aprendizaje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2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2011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99073"/>
                </a:solidFill>
                <a:latin typeface="Poppins"/>
              </a:defRPr>
            </a:pPr>
            <a:r>
              <a:t>20 min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400" b="1">
                <a:solidFill>
                  <a:srgbClr val="566B56"/>
                </a:solidFill>
                <a:latin typeface="Poppins"/>
              </a:defRPr>
            </a:pPr>
            <a:r>
              <a:t>1. Sondeo y Choque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Sondeo inicial Mentimeter (prejuicios populares) y choque con datos reales (la gran tijera y el espejo europeo).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2" y="1691640"/>
            <a:ext cx="2011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44952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99073"/>
                </a:solidFill>
                <a:latin typeface="Poppins"/>
              </a:defRPr>
            </a:pPr>
            <a:r>
              <a:t>25 min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400" b="1">
                <a:solidFill>
                  <a:srgbClr val="566B56"/>
                </a:solidFill>
                <a:latin typeface="Poppins"/>
              </a:defRPr>
            </a:pPr>
            <a:r>
              <a:t>2. Mini-Lección: PIB y VAB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El PIB como suma de Valor Añadido Bruto (cadena del pan) vs. transacciones brutas. PIB nominal vs. real.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691640"/>
            <a:ext cx="2011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21224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99073"/>
                </a:solidFill>
                <a:latin typeface="Poppins"/>
              </a:defRPr>
            </a:pPr>
            <a:r>
              <a:t>30 min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400" b="1">
                <a:solidFill>
                  <a:srgbClr val="566B56"/>
                </a:solidFill>
                <a:latin typeface="Poppins"/>
              </a:defRPr>
            </a:pPr>
            <a:r>
              <a:t>3. Productividad y Salarios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La productividad laboral como techo del salario. Formulación analítica de los Costes Laborales Unitarios (CLU).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6" y="1691640"/>
            <a:ext cx="2011680" cy="4389120"/>
          </a:xfrm>
          <a:prstGeom prst="roundRect">
            <a:avLst/>
          </a:prstGeom>
          <a:solidFill>
            <a:srgbClr val="E1F6EA"/>
          </a:solidFill>
          <a:ln w="19050">
            <a:solidFill>
              <a:srgbClr val="56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97496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66B56"/>
                </a:solidFill>
                <a:latin typeface="Poppins"/>
              </a:defRPr>
            </a:pPr>
            <a:r>
              <a:t>30 min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400" b="1">
                <a:solidFill>
                  <a:srgbClr val="566B56"/>
                </a:solidFill>
                <a:latin typeface="Poppins"/>
              </a:defRPr>
            </a:pPr>
            <a:r>
              <a:t>4. Laboratorio Micro-App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Simulación por parejas como analistas de la Consejería. Reto del shock salarial (+8%) y dilema de los 100 M€.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1691640"/>
            <a:ext cx="2011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73768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99073"/>
                </a:solidFill>
                <a:latin typeface="Poppins"/>
              </a:defRPr>
            </a:pPr>
            <a:r>
              <a:t>15 min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400" b="1">
                <a:solidFill>
                  <a:srgbClr val="566B56"/>
                </a:solidFill>
                <a:latin typeface="Poppins"/>
              </a:defRPr>
            </a:pPr>
            <a:r>
              <a:t>5. Cierre y Caso de Examen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Ensayo en vivo de resolución de un caso análogo de examen final (70%) y balance metacognitivo.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1 · SONDEO PREVIO 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Sondeo de Entrada: Pon a Prueba tu Intuición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Vota con tu teléfono móvil antes de ver los datos de la economía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3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6858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6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19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LA PREGUNTA DE PARTIDA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 b="1">
                <a:solidFill>
                  <a:srgbClr val="566B56"/>
                </a:solidFill>
                <a:latin typeface="Poppins"/>
              </a:defRPr>
            </a:pPr>
            <a:r>
              <a:t>«Si pactáramos por ley o convenio una subida general del 15% de todos los salarios en España para alcanzar a Europa, ¿qué ocurriría?»</a:t>
            </a:r>
          </a:p>
          <a:p>
            <a:pPr>
              <a:spcAft>
                <a:spcPts val="8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A) Convergeríamos con Alemania y Francia porque el consumo familiar se dispararía y reactivaría el PIB.</a:t>
            </a:r>
          </a:p>
          <a:p>
            <a:pPr>
              <a:spcAft>
                <a:spcPts val="8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B) Las empresas no podrían asumir el coste unitario y destruirían empleo o subirían precios perdiendo ventas.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C) Aumentaría la productividad porque los trabajadores estarían más motivados y rendirían mucho más.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9164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6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ódigo QR para PSLL · Sondeo Previo Sesión 2 (Salarios y Productiv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920240"/>
            <a:ext cx="2468880" cy="2468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46720" y="44805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66B56"/>
                </a:solidFill>
                <a:latin typeface="Poppins"/>
              </a:defRPr>
            </a:pPr>
            <a:r>
              <a:t>ESCANEA PARA VOTAR</a:t>
            </a:r>
          </a:p>
          <a:p>
            <a:pPr algn="ctr">
              <a:spcBef>
                <a:spcPts val="400"/>
              </a:spcBef>
              <a:defRPr sz="1200">
                <a:solidFill>
                  <a:srgbClr val="76927A"/>
                </a:solidFill>
                <a:latin typeface="Calibri"/>
              </a:defRPr>
            </a:pPr>
            <a:r>
              <a:t>Acceso con cuenta UPO (@alu.upo.es)</a:t>
            </a:r>
            <a:br/>
            <a:r>
              <a:t>Votación en 30 segundos desde el móvil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1 · DESMONTANDO EL PREJUICIO (7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La Gran Tijera Española: ¿Más Empleo Significa Más Riqueza?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Récord histórico de ocupados (EPA) vs. estancamiento secular de la productividad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4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62179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gancho_paradoja_empleo_productiv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5943600" cy="3434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0" y="1691640"/>
            <a:ext cx="4297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1874519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LOS DATOS DEL ENIGMA</a:t>
            </a:r>
          </a:p>
          <a:p>
            <a:pPr>
              <a:spcBef>
                <a:spcPts val="400"/>
              </a:spcBef>
              <a:defRPr sz="1800" b="1">
                <a:solidFill>
                  <a:srgbClr val="566B56"/>
                </a:solidFill>
                <a:latin typeface="Poppins"/>
              </a:defRPr>
            </a:pPr>
            <a:r>
              <a:t>21,8 M de ocupados (EPA)</a:t>
            </a:r>
          </a:p>
          <a:p>
            <a:pPr>
              <a:spcAft>
                <a:spcPts val="8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Máximo histórico absoluto en la EPA. Nunca antes tanta gente había trabajado a la vez en España (+36,5% desde el año 2000).</a:t>
            </a:r>
          </a:p>
          <a:p>
            <a:pPr>
              <a:defRPr sz="1800" b="1">
                <a:solidFill>
                  <a:srgbClr val="E99073"/>
                </a:solidFill>
                <a:latin typeface="Poppins"/>
              </a:defRPr>
            </a:pPr>
            <a:r>
              <a:t>Productividad por hora plana (+0,3% anual)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Lleva 25 años estancada. El modelo crece sumando brazos, pero cada hora de trabajo rinde casi el mismo valor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1 · DESMONTANDO EL PREJUICIO (8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El Espejo Europeo: Por Qué No Cobramos Como en Alemania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Comparativa UE-27: El salario es el reflejo del valor generado por cada hora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5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62179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gancho_brecha_productividad_salarios_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5943600" cy="3434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0" y="1691640"/>
            <a:ext cx="4297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6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1874519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66B56"/>
                </a:solidFill>
                <a:latin typeface="Poppins"/>
              </a:defRPr>
            </a:pPr>
            <a:r>
              <a:t>LA CORRELACIÓN INELUDIBLE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700" b="1">
                <a:solidFill>
                  <a:srgbClr val="566B56"/>
                </a:solidFill>
                <a:latin typeface="Poppins"/>
              </a:defRPr>
            </a:pPr>
            <a:r>
              <a:t>España: 34 € VAB/h -&gt; 24 € salario medio</a:t>
            </a:r>
            <a:br/>
            <a:r>
              <a:t>Alemania: 62 € VAB/h -&gt; 41 € salario medio</a:t>
            </a:r>
          </a:p>
          <a:p>
            <a:pPr>
              <a:spcAft>
                <a:spcPts val="10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El salario medio refleja con precisión matemática el valor creado por hora de trabajo. No se pueden tener salarios daneses con productividad española.</a:t>
            </a:r>
          </a:p>
          <a:p>
            <a:pPr>
              <a:defRPr sz="1600" b="1">
                <a:solidFill>
                  <a:srgbClr val="E99073"/>
                </a:solidFill>
                <a:latin typeface="Calibri"/>
              </a:defRPr>
            </a:pPr>
            <a:r>
              <a:t>💡 La pregunta teórica: ¿Cómo se formaliza esto matemáticamente? Entramos en el modelo del PIB y del CLU.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2 · MINI-LECCIÓN 1 (EPÍGRAFE 2.1)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El PIB como Suma de Valor Añadido Bruto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Evitar el error común de contabilizar el total de transacciones brutas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6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62179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vab_p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19"/>
            <a:ext cx="5852160" cy="332907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0" y="1691640"/>
            <a:ext cx="4297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1874519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CLAVES DEL MODELO (FIGURA 1.3)</a:t>
            </a:r>
          </a:p>
          <a:p>
            <a:pPr>
              <a:spcBef>
                <a:spcPts val="400"/>
              </a:spcBef>
              <a:defRPr sz="1600" b="1">
                <a:solidFill>
                  <a:srgbClr val="566B56"/>
                </a:solidFill>
                <a:latin typeface="Poppins"/>
              </a:defRPr>
            </a:pPr>
            <a:r>
              <a:t>1. El riesgo del doble cómputo:</a:t>
            </a:r>
          </a:p>
          <a:p>
            <a:pPr>
              <a:spcAft>
                <a:spcPts val="8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Sumar ventas brutas (0,30 € trigo + 0,70 € harina + 2,00 € pan = 3,00 €) contaría el trigo tres veces.</a:t>
            </a:r>
          </a:p>
          <a:p>
            <a:pPr>
              <a:defRPr sz="1600" b="1">
                <a:solidFill>
                  <a:srgbClr val="566B56"/>
                </a:solidFill>
                <a:latin typeface="Poppins"/>
              </a:defRPr>
            </a:pPr>
            <a:r>
              <a:t>2. La solución: Valor Añadido (VAB):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VAB = Ventas - Consumos intermedios.</a:t>
            </a:r>
            <a:br/>
            <a:r>
              <a:t>Total PIB real = 2,00 € (el bien final).</a:t>
            </a:r>
            <a:br/>
            <a:r>
              <a:t>Solo se puede repartir en salarios la riqueza genuinamente creada.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2 · MINI-LECCIÓN 1 (EPÍGRAFE 2.1)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PIB Nominal vs. PIB Real: El Espejismo de los Precios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Por qué medimos el crecimiento económico en volumen y no en euros corrientes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7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62179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pib_interan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19"/>
            <a:ext cx="5852160" cy="378931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0" y="1691640"/>
            <a:ext cx="4297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1874519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DISTINCIÓN FUNDAMENTAL</a:t>
            </a:r>
          </a:p>
          <a:p>
            <a:pPr>
              <a:spcBef>
                <a:spcPts val="400"/>
              </a:spcBef>
              <a:defRPr sz="1600" b="1">
                <a:solidFill>
                  <a:srgbClr val="566B56"/>
                </a:solidFill>
                <a:latin typeface="Poppins"/>
              </a:defRPr>
            </a:pPr>
            <a:r>
              <a:t>• PIB Nominal (Precios corrientes):</a:t>
            </a:r>
          </a:p>
          <a:p>
            <a:pPr>
              <a:spcAft>
                <a:spcPts val="8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Mide la producción con precios del año. Crece tanto si producimos más como si las cosas son más caras (inflación).</a:t>
            </a:r>
          </a:p>
          <a:p>
            <a:pPr>
              <a:defRPr sz="1600" b="1">
                <a:solidFill>
                  <a:srgbClr val="566B56"/>
                </a:solidFill>
                <a:latin typeface="Poppins"/>
              </a:defRPr>
            </a:pPr>
            <a:r>
              <a:t>• PIB Real (Precios constantes):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Aísla la inflación con el deflactor. Para sostener el empleo y el poder de compra real, necesitamos PIB real, no espejismos nominales.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3 · MINI-LECCIÓN 2 (EPÍGRAFE 2.2)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La Productividad como Techo Real de los Salarios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El mecanismo analítico de transmisión: Los Costes Laborales Unitarios (CLU)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8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1072865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6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78308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EL MODELO ANALÍTICO CENTRAL</a:t>
            </a:r>
          </a:p>
          <a:p>
            <a:pPr>
              <a:spcBef>
                <a:spcPts val="400"/>
              </a:spcBef>
              <a:defRPr sz="2000" b="1">
                <a:solidFill>
                  <a:srgbClr val="566B56"/>
                </a:solidFill>
                <a:latin typeface="Poppins"/>
              </a:defRPr>
            </a:pPr>
            <a:r>
              <a:t>Coste Laboral Unitario (CLU) = Coste Laboral por Hora (W) / Productividad por Hora (VAB / H)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Mide cuánto le cuesta a la empresa la mano de obra para generar 1 € de valor añadido. Es el termómetro de competitividad.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34290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Escenario A: Virtuoso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76927A"/>
                </a:solidFill>
                <a:latin typeface="Poppins"/>
              </a:defRPr>
            </a:pPr>
            <a:r>
              <a:t>Salario +3% | Prod +3%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El CLU permanece estable. Los trabajadores ganan poder adquisitivo sin arriesgar el empleo.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3291840"/>
            <a:ext cx="3429000" cy="2743200"/>
          </a:xfrm>
          <a:prstGeom prst="roundRect">
            <a:avLst/>
          </a:prstGeom>
          <a:solidFill>
            <a:srgbClr val="E1F6EA"/>
          </a:solidFill>
          <a:ln w="19050">
            <a:solidFill>
              <a:srgbClr val="E99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62856" y="342900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99073"/>
                </a:solidFill>
                <a:latin typeface="Poppins"/>
              </a:defRPr>
            </a:pPr>
            <a:r>
              <a:t>Escenario B: Shock Crítico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76927A"/>
                </a:solidFill>
                <a:latin typeface="Poppins"/>
              </a:defRPr>
            </a:pPr>
            <a:r>
              <a:t>Salario +8% | Prod +2%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El CLU se dispara un ~6%. El producto se encarece y la empresa ajusta despidiendo trabajadores.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3291840"/>
            <a:ext cx="34290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2" y="342900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Escenario C: Ganancia Externa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76927A"/>
                </a:solidFill>
                <a:latin typeface="Poppins"/>
              </a:defRPr>
            </a:pPr>
            <a:r>
              <a:t>Salario +2% | Prod +5%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El CLU baja. La empresa gana cuota exterior y acumula margen para futuras subidas salariales.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3 · EVIDENCIA EMPÍRICA (EPÍGRAFE 2.2)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La Evidencia Internacional: Productividad vs. Salarios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Datos de la OCDE (2024): La correlación que ningún país puede esquivar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9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62179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productividad_sal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19"/>
            <a:ext cx="5852160" cy="360226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0" y="1691640"/>
            <a:ext cx="4297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1874519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DIAGNÓSTICO EMPÍRICO (FIGURA 1.5)</a:t>
            </a:r>
          </a:p>
          <a:p>
            <a:pPr>
              <a:spcBef>
                <a:spcPts val="400"/>
              </a:spcBef>
              <a:defRPr sz="1600" b="1">
                <a:solidFill>
                  <a:srgbClr val="566B56"/>
                </a:solidFill>
                <a:latin typeface="Poppins"/>
              </a:defRPr>
            </a:pPr>
            <a:r>
              <a:t>1. Correlación directa y positiva:</a:t>
            </a:r>
          </a:p>
          <a:p>
            <a:pPr>
              <a:spcAft>
                <a:spcPts val="8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Los países con mayor remuneración media (Dinamarca, Alemania) son aquellos cuya productividad supera los 60 € por hora.</a:t>
            </a:r>
          </a:p>
          <a:p>
            <a:pPr>
              <a:defRPr sz="1600" b="1">
                <a:solidFill>
                  <a:srgbClr val="E99073"/>
                </a:solidFill>
                <a:latin typeface="Poppins"/>
              </a:defRPr>
            </a:pPr>
            <a:r>
              <a:t>2. La posición de España: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España está en el cuadrante intermedio: sus salarios reflejan un VAB por hora un 15% inferior a la media de la 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3 · ESTRUCTURA PRODUCTIVA (EPÍGRAFE 2.3)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Estructura Productiva y Calidad del Empleo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Por qué la composición sectorial determina la precariedad y los salarios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10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19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SECTORES DE BAJO VAB POR HORA</a:t>
            </a:r>
          </a:p>
          <a:p>
            <a:pPr>
              <a:spcBef>
                <a:spcPts val="400"/>
              </a:spcBef>
              <a:defRPr sz="1600" b="1">
                <a:solidFill>
                  <a:srgbClr val="566B56"/>
                </a:solidFill>
                <a:latin typeface="Poppins"/>
              </a:defRPr>
            </a:pPr>
            <a:r>
              <a:t>Hostelería, Comercio y Servicios Personales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• VAB: 18 – 24 € por hora trabajada.</a:t>
            </a:r>
            <a:br/>
            <a:r>
              <a:t>• El salario absorbe el 65% del valor creado (margen muy estrecho).</a:t>
            </a:r>
            <a:br/>
            <a:r>
              <a:t>• Alta rotación y empleo vulnerable ante alzas de costes.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6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19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66B56"/>
                </a:solidFill>
                <a:latin typeface="Poppins"/>
              </a:defRPr>
            </a:pPr>
            <a:r>
              <a:t>SECTORES DE ALTO VAB POR HORA</a:t>
            </a:r>
          </a:p>
          <a:p>
            <a:pPr>
              <a:spcBef>
                <a:spcPts val="400"/>
              </a:spcBef>
              <a:defRPr sz="1600" b="1">
                <a:solidFill>
                  <a:srgbClr val="566B56"/>
                </a:solidFill>
                <a:latin typeface="Poppins"/>
              </a:defRPr>
            </a:pPr>
            <a:r>
              <a:t>Industria Avanzada, TIC y Biotecnología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• VAB: 50 – 80 € por hora trabajada.</a:t>
            </a:r>
            <a:br/>
            <a:r>
              <a:t>• CLU al 45-50%: margen empresarial holgado.</a:t>
            </a:r>
            <a:br/>
            <a:r>
              <a:t>• Contratación estable y salarios elevados perfectamente sostenibles.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4 · LABORATORIO ACTIVO (30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Taller en Parejas: Simulador de Costes Laborales Unitarios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Rol: Analistas Técnicos del Gabinete de la Consejería de Empleo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11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6858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19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MISIÓN TÉCNICA DEL EQUIPO</a:t>
            </a:r>
          </a:p>
          <a:p>
            <a:pPr>
              <a:spcBef>
                <a:spcPts val="400"/>
              </a:spcBef>
              <a:defRPr sz="1600" b="1">
                <a:solidFill>
                  <a:srgbClr val="566B56"/>
                </a:solidFill>
                <a:latin typeface="Poppins"/>
              </a:defRPr>
            </a:pPr>
            <a:r>
              <a:t>Vuestro objetivo en parejas como técnicos de Empleo:</a:t>
            </a:r>
          </a:p>
          <a:p>
            <a:pPr>
              <a:spcAft>
                <a:spcPts val="10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1. Abrir la micro-app desde el móvil o portátil con el código QR.</a:t>
            </a:r>
            <a:br/>
            <a:r>
              <a:t>2. Calibrar los 3 sectores y contrastar sus CLU de partida.</a:t>
            </a:r>
            <a:br/>
            <a:r>
              <a:t>3. Aplicar el Shock Salarial (+8%) y registrar el impacto en empleo.</a:t>
            </a:r>
            <a:br/>
            <a:r>
              <a:t>4. Asignar los 100 M€: ¿Subvención temporal o productividad real?</a:t>
            </a:r>
          </a:p>
          <a:p>
            <a:pPr>
              <a:defRPr sz="1600" b="1">
                <a:solidFill>
                  <a:srgbClr val="E99073"/>
                </a:solidFill>
                <a:latin typeface="Calibri"/>
              </a:defRPr>
            </a:pPr>
            <a:r>
              <a:t>⏱️ Tiempo de trabajo: 20 min en pareja + 10 min de puesta en común.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9164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6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0" y="44805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13927"/>
                </a:solidFill>
                <a:latin typeface="Calibri"/>
              </a:defRPr>
            </a:pPr>
            <a:r>
              <a:t>ESCANEA PARA ABRIR LA APP</a:t>
            </a:r>
          </a:p>
          <a:p>
            <a:pPr>
              <a:defRPr sz="1100" b="1">
                <a:solidFill>
                  <a:srgbClr val="E98F71"/>
                </a:solidFill>
                <a:latin typeface="Calibri"/>
              </a:defRPr>
            </a:pPr>
            <a:r>
              <a:t>mhidper.github.io/micro_apps/psll</a:t>
            </a:r>
          </a:p>
          <a:p>
            <a:pPr>
              <a:defRPr sz="1000" i="1">
                <a:solidFill>
                  <a:srgbClr val="76927A"/>
                </a:solidFill>
                <a:latin typeface="Calibri"/>
              </a:defRPr>
            </a:pPr>
            <a:r>
              <a:t>(Acceso libre sin descargas)</a:t>
            </a:r>
          </a:p>
        </p:txBody>
      </p:sp>
      <p:pic>
        <p:nvPicPr>
          <p:cNvPr id="15" name="Picture 14" descr="qr_simulador_cl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920240"/>
            <a:ext cx="246888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4 · DINÁMICA DE SIMULACIÓN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Las Tres Fases de Experimentación en la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Del cálculo analítico al diseño de políticas públicas de empleo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12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874519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Fase 1: Calibración Base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76927A"/>
                </a:solidFill>
                <a:latin typeface="Poppins"/>
              </a:defRPr>
            </a:pPr>
            <a:r>
              <a:t>Margen Inicial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Hostelería: CLU 63,6% (Ámbar).</a:t>
            </a:r>
            <a:br/>
            <a:r>
              <a:t>Industria: CLU 57,1% (Equilibrado).</a:t>
            </a:r>
            <a:br/>
            <a:r>
              <a:t>TIC: CLU 50,0% (Holgado).</a:t>
            </a:r>
            <a:br/>
            <a:br/>
            <a:r>
              <a:t>¿Por qué las TIC pagan 35 €/h sin pérdidas?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691640"/>
            <a:ext cx="3429000" cy="4389120"/>
          </a:xfrm>
          <a:prstGeom prst="roundRect">
            <a:avLst/>
          </a:prstGeom>
          <a:solidFill>
            <a:srgbClr val="E1F6EA"/>
          </a:solidFill>
          <a:ln w="19050">
            <a:solidFill>
              <a:srgbClr val="E99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2856" y="1874519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99073"/>
                </a:solidFill>
                <a:latin typeface="Poppins"/>
              </a:defRPr>
            </a:pPr>
            <a:r>
              <a:t>Fase 2: Shock Salarial (+8%)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76927A"/>
                </a:solidFill>
                <a:latin typeface="Poppins"/>
              </a:defRPr>
            </a:pPr>
            <a:r>
              <a:t>Exigencia Sindical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Subida salarial lineal sin más productividad.</a:t>
            </a:r>
            <a:br/>
            <a:r>
              <a:t>Hostelería salta al 68,2% (ROJO) y destruye -18.000 empleos.</a:t>
            </a:r>
            <a:br/>
            <a:br/>
            <a:r>
              <a:t>El sector TIC absorbe el alza en zona verde.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6916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874519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Fase 3: Dilema 100 M€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76927A"/>
                </a:solidFill>
                <a:latin typeface="Poppins"/>
              </a:defRPr>
            </a:pPr>
            <a:r>
              <a:t>Elección de Política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Opción A (Subvención):</a:t>
            </a:r>
            <a:br/>
            <a:r>
              <a:t>Alivio temporal sin tocar la productividad (peso muerto).</a:t>
            </a:r>
            <a:br/>
            <a:br/>
            <a:r>
              <a:t>Opción B (Productividad):</a:t>
            </a:r>
            <a:br/>
            <a:r>
              <a:t>+25% de VAB, retorno sostenible a zona verde.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5 · RETO INDIVIDUAL DE CIERRE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Reto de Aplicación: Shock Salarial y Competitividad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Redacción individual a mano en papel · Comprueba tu atención a los mecanismos de hoy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13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6858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6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19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EN 10 MINUTOS · REDACTA A MANO EN UNA HOJA DE PAPEL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600" b="1">
                <a:solidFill>
                  <a:srgbClr val="566B56"/>
                </a:solidFill>
                <a:latin typeface="Calibri"/>
              </a:defRPr>
            </a:pPr>
            <a:r>
              <a:t>«Un sector económico incrementa sus salarios un 8% en un ejercicio en el que su productividad por hora solo creció un 2%». Razona con rigor económico:</a:t>
            </a:r>
          </a:p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a) Costes Laborales Unitarios (CLU):</a:t>
            </a:r>
          </a:p>
          <a:p>
            <a:pPr>
              <a:spcAft>
                <a:spcPts val="6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¿Qué ocurre numéricamente con el CLU del sector? Aplica la fórmula vista en clase.</a:t>
            </a:r>
          </a:p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b) Competitividad y Empleo:</a:t>
            </a:r>
          </a:p>
          <a:p>
            <a:pPr>
              <a:spcAft>
                <a:spcPts val="6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¿Pueden trasladar el sobrecoste a precios sin consecuencias? ¿Cómo ajustará la empresa?</a:t>
            </a:r>
          </a:p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c) Negociación Colectiva: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¿Por qué el pacto salarial debe sincronizarse con la productividad real para proteger a los trabajadores?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9164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6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ódigo QR para Pregunta final sesión 2 - PS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74519"/>
            <a:ext cx="2834640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46720" y="4754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66B56"/>
                </a:solidFill>
                <a:latin typeface="Poppins"/>
              </a:defRPr>
            </a:pPr>
            <a:r>
              <a:t>SUBE LA FOTO DE TU HOJA</a:t>
            </a:r>
          </a:p>
          <a:p>
            <a:pPr algn="ctr">
              <a:spcBef>
                <a:spcPts val="400"/>
              </a:spcBef>
              <a:defRPr sz="1200">
                <a:solidFill>
                  <a:srgbClr val="76927A"/>
                </a:solidFill>
                <a:latin typeface="Calibri"/>
              </a:defRPr>
            </a:pPr>
            <a:r>
              <a:t>A la orden del profesor, escanea y sube tu foto con cuenta UPO (@alu.upo.es). Tiempo: 2 min.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E99073"/>
                </a:solidFill>
                <a:latin typeface="Calibri"/>
              </a:defRPr>
            </a:pPr>
            <a:r>
              <a:t>⭐ Entrega válida = Puntos acumulables para el comodín del examen final (70%).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5 · CORRECCIÓN INMEDIATA (3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Solución Modelo y Rúbrica de Corrección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Comprobación inmediata de los mecanismos causales evaluados hoy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14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874519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a) Costes Laborales (CLU)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E99073"/>
                </a:solidFill>
                <a:latin typeface="Poppins"/>
              </a:defRPr>
            </a:pPr>
            <a:r>
              <a:t>Aumento del ~6%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El coste de la mano de obra por unidad producida se encarece un 6% (CLU = W / Prod ≈ +8% - 2%). Las empresas asumen un sobrecoste que no está respaldado por más producto.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6916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2856" y="1874519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b) Competitividad y Empleo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E99073"/>
                </a:solidFill>
                <a:latin typeface="Poppins"/>
              </a:defRPr>
            </a:pPr>
            <a:r>
              <a:t>Pérdida de ventas y ajuste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No pueden trasladar el sobrecoste a precios sin perder cuota frente a rivales con costes estables. Si los márgenes se agotan, el ajuste inevitable se produce destruyendo empleo.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6916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874519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c) Negociación Colectiva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E99073"/>
                </a:solidFill>
                <a:latin typeface="Poppins"/>
              </a:defRPr>
            </a:pPr>
            <a:r>
              <a:t>Sincronización sostenible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La negociación debe ligar las subidas salariales al crecimiento de la productividad real. No para frenar sueldos, sino para asegurar que el aumento del poder de compra no destruye las empresas.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66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sll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36" y="1539732"/>
            <a:ext cx="5143500" cy="27835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37760" y="137160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99073"/>
                </a:solidFill>
                <a:latin typeface="Poppins"/>
              </a:defRPr>
            </a:pPr>
            <a:r>
              <a:t>SÍNTESIS DE LA SESIÓN EB 2</a:t>
            </a:r>
          </a:p>
          <a:p>
            <a:pPr>
              <a:spcBef>
                <a:spcPts val="600"/>
              </a:spcBef>
              <a:spcAft>
                <a:spcPts val="1400"/>
              </a:spcAft>
              <a:defRPr sz="2800" b="1">
                <a:solidFill>
                  <a:srgbClr val="FFFFFF"/>
                </a:solidFill>
                <a:latin typeface="Poppins"/>
              </a:defRPr>
            </a:pPr>
            <a:r>
              <a:t>Las Tres Conclusiones Imborrables</a:t>
            </a:r>
          </a:p>
          <a:p>
            <a:pPr>
              <a:spcAft>
                <a:spcPts val="1600"/>
              </a:spcAft>
              <a:defRPr sz="1600">
                <a:solidFill>
                  <a:srgbClr val="E1F6EA"/>
                </a:solidFill>
                <a:latin typeface="Calibri"/>
              </a:defRPr>
            </a:pPr>
            <a:r>
              <a:t>1. Solo se puede repartir lo que se crea: El PIB es Valor Añadido Bruto, no facturación agregada.</a:t>
            </a:r>
            <a:br/>
            <a:r>
              <a:t>2. La productividad manda: Es el techo infranqueable de los salarios reales a largo plazo.</a:t>
            </a:r>
            <a:br/>
            <a:r>
              <a:t>3. El Coste Laboral Unitario (CLU = W / Prod) es el termómetro que separa la prosperidad de la destrucción de empleo.</a:t>
            </a:r>
          </a:p>
          <a:p>
            <a:pPr>
              <a:defRPr sz="1600" b="1">
                <a:solidFill>
                  <a:srgbClr val="EDB090"/>
                </a:solidFill>
                <a:latin typeface="Calibri"/>
              </a:defRPr>
            </a:pPr>
            <a:r>
              <a:t>Próxima sesión: El Mercado de Trabajo y sus Instituciones (Epígrafe 3).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po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6080760"/>
            <a:ext cx="452323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8076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F3A30"/>
                </a:solidFill>
                <a:latin typeface="Calibri"/>
              </a:defRPr>
            </a:pPr>
            <a:r>
              <a:t>Universidad Pablo de Olavide · Políticas Sociolaborales y de Empleo (2026-2027)</a:t>
            </a:r>
          </a:p>
          <a:p>
            <a:pPr>
              <a:defRPr sz="1200" b="1">
                <a:solidFill>
                  <a:srgbClr val="566B56"/>
                </a:solidFill>
                <a:latin typeface="Calibri"/>
              </a:defRPr>
            </a:pPr>
            <a:r>
              <a:t>Prof. Manuel A. Hidalgo Pérez · mhidper@upo.es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2186</Words>
  <Application>Microsoft Office PowerPoint</Application>
  <PresentationFormat>Panorámica</PresentationFormat>
  <Paragraphs>176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Manuel Alejandro Hidalgo Perez</cp:lastModifiedBy>
  <cp:revision>2</cp:revision>
  <dcterms:created xsi:type="dcterms:W3CDTF">2013-01-27T09:14:16Z</dcterms:created>
  <dcterms:modified xsi:type="dcterms:W3CDTF">2026-09-09T16:26:49Z</dcterms:modified>
  <cp:category/>
</cp:coreProperties>
</file>