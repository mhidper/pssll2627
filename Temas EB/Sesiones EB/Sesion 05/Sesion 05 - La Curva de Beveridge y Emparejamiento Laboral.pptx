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2" r:id="rId9"/>
    <p:sldId id="267" r:id="rId10"/>
    <p:sldId id="265" r:id="rId11"/>
    <p:sldId id="263" r:id="rId12"/>
    <p:sldId id="264" r:id="rId13"/>
    <p:sldId id="273" r:id="rId14"/>
    <p:sldId id="266" r:id="rId15"/>
    <p:sldId id="268" r:id="rId16"/>
    <p:sldId id="269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3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_psll_u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1744" y="502920"/>
            <a:ext cx="4389120" cy="23938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06324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Outfit"/>
              </a:defRPr>
            </a:pPr>
            <a:r>
              <a:t>POLÍTICAS SOCIOLABORALES Y DE EMPLEO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EDB090"/>
                </a:solidFill>
                <a:latin typeface="Outfit"/>
              </a:defRPr>
            </a:pPr>
            <a:r>
              <a:t>Sesión 5 – La Curva de Beveridge: Flujos, Emparejamiento y Cierre de Tema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6052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3EFDC"/>
                </a:solidFill>
                <a:latin typeface="Calibri"/>
              </a:defRPr>
            </a:pPr>
            <a:r>
              <a:t>Lunes 28 / Martes 29 de septiembre de 2026  ·  Código 102023  ·  Manuel A. Hidalgo Pérez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upo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126480"/>
            <a:ext cx="452628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88720" y="626364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F3A30"/>
                </a:solidFill>
                <a:latin typeface="Calibri"/>
              </a:defRPr>
            </a:pPr>
            <a:r>
              <a:t>Grado en Relaciones Laborales y Recursos Humanos · Doble Grado en Derecho y RRLL-RRHH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98F71"/>
                </a:solidFill>
                <a:latin typeface="Outfit"/>
              </a:defRPr>
            </a:pPr>
            <a:r>
              <a:t>ORGANIZACIÓN DOCENTE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96012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3927"/>
                </a:solidFill>
                <a:latin typeface="Outfit"/>
              </a:defRPr>
            </a:pPr>
            <a:r>
              <a:t>Estructura de la Sesión 5 (90 min / 120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601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76927A"/>
                </a:solidFill>
                <a:latin typeface="Calibri"/>
              </a:defRPr>
            </a:pPr>
            <a:r>
              <a:t>Modelo Pedagógico de Innovación en 5 Fases y Cierre Definitivo de Tema 1</a:t>
            </a:r>
          </a:p>
        </p:txBody>
      </p:sp>
      <p:pic>
        <p:nvPicPr>
          <p:cNvPr id="5" name="Picture 4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365760"/>
            <a:ext cx="1158544" cy="365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6927A"/>
                </a:solidFill>
                <a:latin typeface="Calibri"/>
              </a:defRPr>
            </a:pPr>
            <a:r>
              <a:t>Políticas Sociolaborales y de Empleo · Grado en RRLL y RRHH / Doble Grado DER-RRLL · UPO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76927A"/>
                </a:solidFill>
                <a:latin typeface="Calibri"/>
              </a:defRPr>
            </a:pPr>
            <a:r>
              <a:t>2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2651760" cy="438912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DC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28600" rIns="182880" rtlCol="0" anchor="ctr"/>
          <a:lstStyle/>
          <a:p>
            <a:pPr algn="ctr">
              <a:spcAft>
                <a:spcPts val="800"/>
              </a:spcAft>
              <a:defRPr sz="1300" b="1">
                <a:solidFill>
                  <a:srgbClr val="E98F71"/>
                </a:solidFill>
                <a:latin typeface="Outfit"/>
              </a:defRPr>
            </a:pPr>
            <a:r>
              <a:t>15 MIN</a:t>
            </a:r>
          </a:p>
          <a:p>
            <a:pPr>
              <a:spcAft>
                <a:spcPts val="1400"/>
              </a:spcAft>
              <a:defRPr sz="1800" b="1">
                <a:solidFill>
                  <a:srgbClr val="113927"/>
                </a:solidFill>
                <a:latin typeface="Outfit"/>
              </a:defRPr>
            </a:pPr>
            <a:r>
              <a:t>1. Noticia y Sondeo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Récord histórico de 155.000 vacantes y 2,6 M de parados en España.</a:t>
            </a:r>
            <a:br/>
            <a:br/>
            <a:r>
              <a:t>Microdatos EPA sobre la anatomía del desajuste: edad y nivel educativo en parados de larga duración.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4992" y="1645920"/>
            <a:ext cx="2651760" cy="438912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DC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28600" rIns="182880" rtlCol="0" anchor="ctr"/>
          <a:lstStyle/>
          <a:p>
            <a:pPr algn="ctr">
              <a:spcAft>
                <a:spcPts val="800"/>
              </a:spcAft>
              <a:defRPr sz="1300" b="1">
                <a:solidFill>
                  <a:srgbClr val="E98F71"/>
                </a:solidFill>
                <a:latin typeface="Outfit"/>
              </a:defRPr>
            </a:pPr>
            <a:r>
              <a:t>25 MIN</a:t>
            </a:r>
          </a:p>
          <a:p>
            <a:pPr>
              <a:spcAft>
                <a:spcPts val="1400"/>
              </a:spcAft>
              <a:defRPr sz="1800" b="1">
                <a:solidFill>
                  <a:srgbClr val="113927"/>
                </a:solidFill>
                <a:latin typeface="Outfit"/>
              </a:defRPr>
            </a:pPr>
            <a:r>
              <a:t>2. Dinámica de Flujos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El desempleo como balance dinámico: entradas (s) vs salidas (f).</a:t>
            </a:r>
            <a:br/>
            <a:br/>
            <a:r>
              <a:t>Formalización matemática de u* = s/(s+f) y la función de emparejamiento m = A·U^α·V^(1-α).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645920"/>
            <a:ext cx="2651760" cy="438912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DC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28600" rIns="182880" rtlCol="0" anchor="ctr"/>
          <a:lstStyle/>
          <a:p>
            <a:pPr algn="ctr">
              <a:spcAft>
                <a:spcPts val="800"/>
              </a:spcAft>
              <a:defRPr sz="1300" b="1">
                <a:solidFill>
                  <a:srgbClr val="E98F71"/>
                </a:solidFill>
                <a:latin typeface="Outfit"/>
              </a:defRPr>
            </a:pPr>
            <a:r>
              <a:t>30/60 MIN</a:t>
            </a:r>
          </a:p>
          <a:p>
            <a:pPr>
              <a:spcAft>
                <a:spcPts val="1400"/>
              </a:spcAft>
              <a:defRPr sz="1800" b="1">
                <a:solidFill>
                  <a:srgbClr val="113927"/>
                </a:solidFill>
                <a:latin typeface="Outfit"/>
              </a:defRPr>
            </a:pPr>
            <a:r>
              <a:t>3. Curva de Beveridge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Geometría UV: movimientos a lo largo (ciclo) vs desplazamientos de la curva (mismatch).</a:t>
            </a:r>
            <a:br/>
            <a:br/>
            <a:r>
              <a:t>Evidencia España 1980-2024: por qué la ineficiencia explicó 31% del empleo y 55% del PIB.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97696" y="1645920"/>
            <a:ext cx="2651760" cy="438912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DC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28600" rIns="182880" rtlCol="0" anchor="ctr"/>
          <a:lstStyle/>
          <a:p>
            <a:pPr algn="ctr">
              <a:spcAft>
                <a:spcPts val="800"/>
              </a:spcAft>
              <a:defRPr sz="1300" b="1">
                <a:solidFill>
                  <a:srgbClr val="E98F71"/>
                </a:solidFill>
                <a:latin typeface="Outfit"/>
              </a:defRPr>
            </a:pPr>
            <a:r>
              <a:t>20 MIN</a:t>
            </a:r>
          </a:p>
          <a:p>
            <a:pPr>
              <a:spcAft>
                <a:spcPts val="1400"/>
              </a:spcAft>
              <a:defRPr sz="1800" b="1">
                <a:solidFill>
                  <a:srgbClr val="113927"/>
                </a:solidFill>
                <a:latin typeface="Outfit"/>
              </a:defRPr>
            </a:pPr>
            <a:r>
              <a:t>4. Taller, Reto y EPD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Simulación interactiva con la micro-app móvil en rol de Analistas.</a:t>
            </a:r>
            <a:br/>
            <a:br/>
            <a:r>
              <a:t>Reto individual manuscrito en papel (10 min), subida con QR y lanzamiento del Caso 1 de EPD (Emplea-T).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98F71"/>
                </a:solidFill>
                <a:latin typeface="Outfit"/>
              </a:defRPr>
            </a:pPr>
            <a:r>
              <a:t>BLOQUE 1 · NOTICIA DEL DÍA Y SONDEO (15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96012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3927"/>
                </a:solidFill>
                <a:latin typeface="Outfit"/>
              </a:defRPr>
            </a:pPr>
            <a:r>
              <a:t>La Paradoja de las 155.000 Vacantes sin Cubrir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601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76927A"/>
                </a:solidFill>
                <a:latin typeface="Calibri"/>
              </a:defRPr>
            </a:pPr>
            <a:r>
              <a:t>Choque empírico de apertura y diagnóstico interactivo de prejuicios en Microsoft Forms</a:t>
            </a:r>
          </a:p>
        </p:txBody>
      </p:sp>
      <p:pic>
        <p:nvPicPr>
          <p:cNvPr id="5" name="Picture 4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365760"/>
            <a:ext cx="1158544" cy="365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6927A"/>
                </a:solidFill>
                <a:latin typeface="Calibri"/>
              </a:defRPr>
            </a:pPr>
            <a:r>
              <a:t>Políticas Sociolaborales y de Empleo · Grado en RRLL y RRHH / Doble Grado DER-RRLL · UPO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76927A"/>
                </a:solidFill>
                <a:latin typeface="Calibri"/>
              </a:defRPr>
            </a:pPr>
            <a:r>
              <a:t>3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6858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69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28600" rIns="256032" rtlCol="0" anchor="ctr"/>
          <a:lstStyle/>
          <a:p>
            <a:pPr algn="ctr">
              <a:spcAft>
                <a:spcPts val="800"/>
              </a:spcAft>
              <a:defRPr sz="1100" b="1">
                <a:solidFill>
                  <a:srgbClr val="E98F71"/>
                </a:solidFill>
                <a:latin typeface="Outfit"/>
              </a:defRPr>
            </a:pPr>
            <a:r>
              <a:rPr dirty="0"/>
              <a:t>TITULAR ECONÓMICO REAL · EXPANSIÓN / CINCO DÍAS</a:t>
            </a:r>
          </a:p>
          <a:p>
            <a:pPr>
              <a:spcAft>
                <a:spcPts val="1400"/>
              </a:spcAft>
              <a:defRPr sz="1800" b="1">
                <a:solidFill>
                  <a:srgbClr val="113927"/>
                </a:solidFill>
                <a:latin typeface="Outfit"/>
              </a:defRPr>
            </a:pPr>
            <a:r>
              <a:rPr dirty="0"/>
              <a:t>«Las </a:t>
            </a:r>
            <a:r>
              <a:rPr dirty="0" err="1"/>
              <a:t>empresas</a:t>
            </a:r>
            <a:r>
              <a:rPr dirty="0"/>
              <a:t> </a:t>
            </a:r>
            <a:r>
              <a:rPr dirty="0" err="1"/>
              <a:t>declaran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de 155.000 </a:t>
            </a:r>
            <a:r>
              <a:rPr dirty="0" err="1"/>
              <a:t>vacantes</a:t>
            </a:r>
            <a:r>
              <a:rPr dirty="0"/>
              <a:t> sin </a:t>
            </a:r>
            <a:r>
              <a:rPr dirty="0" err="1"/>
              <a:t>cubrir</a:t>
            </a:r>
            <a:r>
              <a:rPr dirty="0"/>
              <a:t> </a:t>
            </a:r>
            <a:r>
              <a:rPr dirty="0" err="1"/>
              <a:t>mientras</a:t>
            </a:r>
            <a:r>
              <a:rPr dirty="0"/>
              <a:t> el </a:t>
            </a:r>
            <a:r>
              <a:rPr dirty="0" err="1"/>
              <a:t>desempleo</a:t>
            </a:r>
            <a:r>
              <a:rPr dirty="0"/>
              <a:t> </a:t>
            </a:r>
            <a:r>
              <a:rPr dirty="0" err="1"/>
              <a:t>supera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2,6 </a:t>
            </a:r>
            <a:r>
              <a:rPr dirty="0" err="1"/>
              <a:t>millones</a:t>
            </a:r>
            <a:r>
              <a:rPr dirty="0"/>
              <a:t>: </a:t>
            </a:r>
            <a:r>
              <a:rPr dirty="0" err="1"/>
              <a:t>hostelería</a:t>
            </a:r>
            <a:r>
              <a:rPr dirty="0"/>
              <a:t>, </a:t>
            </a:r>
            <a:r>
              <a:rPr dirty="0" err="1"/>
              <a:t>construcción</a:t>
            </a:r>
            <a:r>
              <a:rPr dirty="0"/>
              <a:t>, </a:t>
            </a:r>
            <a:r>
              <a:rPr dirty="0" err="1"/>
              <a:t>transporte</a:t>
            </a:r>
            <a:r>
              <a:rPr dirty="0"/>
              <a:t> y </a:t>
            </a:r>
            <a:r>
              <a:rPr dirty="0" err="1"/>
              <a:t>tecnología</a:t>
            </a:r>
            <a:r>
              <a:rPr dirty="0"/>
              <a:t> </a:t>
            </a:r>
            <a:r>
              <a:rPr dirty="0" err="1"/>
              <a:t>alertan</a:t>
            </a:r>
            <a:r>
              <a:rPr dirty="0"/>
              <a:t> de un </a:t>
            </a:r>
            <a:r>
              <a:rPr dirty="0" err="1"/>
              <a:t>bloqueo</a:t>
            </a:r>
            <a:r>
              <a:rPr dirty="0"/>
              <a:t> </a:t>
            </a:r>
            <a:r>
              <a:rPr dirty="0" err="1"/>
              <a:t>estructural</a:t>
            </a:r>
            <a:r>
              <a:rPr dirty="0"/>
              <a:t>»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rPr dirty="0"/>
              <a:t>• Choque </a:t>
            </a:r>
            <a:r>
              <a:rPr dirty="0" err="1"/>
              <a:t>Empírico</a:t>
            </a:r>
            <a:r>
              <a:rPr dirty="0"/>
              <a:t>: España </a:t>
            </a:r>
            <a:r>
              <a:rPr dirty="0" err="1"/>
              <a:t>encabeza</a:t>
            </a:r>
            <a:r>
              <a:rPr dirty="0"/>
              <a:t> el </a:t>
            </a:r>
            <a:r>
              <a:rPr dirty="0" err="1"/>
              <a:t>desempleo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 Unión Europea (11,3% </a:t>
            </a:r>
            <a:r>
              <a:rPr dirty="0" err="1"/>
              <a:t>frente</a:t>
            </a:r>
            <a:r>
              <a:rPr dirty="0"/>
              <a:t> al 6,0% de media </a:t>
            </a:r>
            <a:r>
              <a:rPr dirty="0" err="1"/>
              <a:t>comunitaria</a:t>
            </a:r>
            <a:r>
              <a:rPr dirty="0"/>
              <a:t>), </a:t>
            </a:r>
            <a:r>
              <a:rPr dirty="0" err="1"/>
              <a:t>pero</a:t>
            </a:r>
            <a:r>
              <a:rPr dirty="0"/>
              <a:t> </a:t>
            </a:r>
            <a:r>
              <a:rPr dirty="0" err="1"/>
              <a:t>paralelamente</a:t>
            </a:r>
            <a:r>
              <a:rPr dirty="0"/>
              <a:t> </a:t>
            </a:r>
            <a:r>
              <a:rPr dirty="0" err="1"/>
              <a:t>registra</a:t>
            </a:r>
            <a:r>
              <a:rPr dirty="0"/>
              <a:t> el </a:t>
            </a:r>
            <a:r>
              <a:rPr dirty="0" err="1"/>
              <a:t>récord</a:t>
            </a:r>
            <a:r>
              <a:rPr dirty="0"/>
              <a:t> histórico de </a:t>
            </a:r>
            <a:r>
              <a:rPr dirty="0" err="1"/>
              <a:t>puestos</a:t>
            </a:r>
            <a:r>
              <a:rPr dirty="0"/>
              <a:t> de </a:t>
            </a:r>
            <a:r>
              <a:rPr dirty="0" err="1"/>
              <a:t>trabajo</a:t>
            </a:r>
            <a:r>
              <a:rPr dirty="0"/>
              <a:t> </a:t>
            </a:r>
            <a:r>
              <a:rPr dirty="0" err="1"/>
              <a:t>vacantes</a:t>
            </a:r>
            <a:r>
              <a:rPr dirty="0"/>
              <a:t> (INE-ETCL).</a:t>
            </a:r>
            <a:br>
              <a:rPr dirty="0"/>
            </a:br>
            <a:br>
              <a:rPr dirty="0"/>
            </a:br>
            <a:r>
              <a:rPr dirty="0"/>
              <a:t>• El Enigma Técnico: Si el </a:t>
            </a:r>
            <a:r>
              <a:rPr dirty="0" err="1"/>
              <a:t>modelo</a:t>
            </a:r>
            <a:r>
              <a:rPr dirty="0"/>
              <a:t> </a:t>
            </a:r>
            <a:r>
              <a:rPr dirty="0" err="1"/>
              <a:t>competitivo</a:t>
            </a:r>
            <a:r>
              <a:rPr dirty="0"/>
              <a:t> </a:t>
            </a:r>
            <a:r>
              <a:rPr dirty="0" err="1"/>
              <a:t>básico</a:t>
            </a:r>
            <a:r>
              <a:rPr dirty="0"/>
              <a:t> </a:t>
            </a:r>
            <a:r>
              <a:rPr dirty="0" err="1"/>
              <a:t>asume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el mercado se </a:t>
            </a:r>
            <a:r>
              <a:rPr dirty="0" err="1"/>
              <a:t>vacía</a:t>
            </a:r>
            <a:r>
              <a:rPr dirty="0"/>
              <a:t> con el </a:t>
            </a:r>
            <a:r>
              <a:rPr dirty="0" err="1"/>
              <a:t>salario</a:t>
            </a:r>
            <a:r>
              <a:rPr dirty="0"/>
              <a:t>, ¿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qué</a:t>
            </a:r>
            <a:r>
              <a:rPr dirty="0"/>
              <a:t> no se </a:t>
            </a:r>
            <a:r>
              <a:rPr dirty="0" err="1"/>
              <a:t>cubren</a:t>
            </a:r>
            <a:r>
              <a:rPr dirty="0"/>
              <a:t> las </a:t>
            </a:r>
            <a:r>
              <a:rPr dirty="0" err="1"/>
              <a:t>vacantes</a:t>
            </a:r>
            <a:r>
              <a:rPr dirty="0"/>
              <a:t>? ¿Falta </a:t>
            </a:r>
            <a:r>
              <a:rPr dirty="0" err="1"/>
              <a:t>demanda</a:t>
            </a:r>
            <a:r>
              <a:rPr dirty="0"/>
              <a:t> o </a:t>
            </a:r>
            <a:r>
              <a:rPr dirty="0" err="1"/>
              <a:t>falla</a:t>
            </a:r>
            <a:r>
              <a:rPr dirty="0"/>
              <a:t> el </a:t>
            </a:r>
            <a:r>
              <a:rPr dirty="0" err="1"/>
              <a:t>emparejamiento</a:t>
            </a:r>
            <a:r>
              <a:rPr dirty="0"/>
              <a:t>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645920"/>
            <a:ext cx="3931920" cy="438912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E9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01168" rIns="182880" rtlCol="0" anchor="ctr"/>
          <a:lstStyle/>
          <a:p>
            <a:pPr algn="ctr">
              <a:spcAft>
                <a:spcPts val="600"/>
              </a:spcAft>
              <a:defRPr sz="1100" b="1">
                <a:solidFill>
                  <a:srgbClr val="113927"/>
                </a:solidFill>
                <a:latin typeface="Outfit"/>
              </a:defRPr>
            </a:pP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7772400" y="5166360"/>
            <a:ext cx="37490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F3A30"/>
                </a:solidFill>
                <a:latin typeface="Calibri"/>
              </a:defRPr>
            </a:pPr>
            <a:r>
              <a:t>Escanea con tu móvil (@alu.upo.es)</a:t>
            </a:r>
            <a:br/>
            <a:r>
              <a:t>4 hipótesis a debate en clase</a:t>
            </a:r>
          </a:p>
        </p:txBody>
      </p:sp>
      <p:pic>
        <p:nvPicPr>
          <p:cNvPr id="12" name="Imagen 11" descr="Código QR">
            <a:extLst>
              <a:ext uri="{FF2B5EF4-FFF2-40B4-BE49-F238E27FC236}">
                <a16:creationId xmlns:a16="http://schemas.microsoft.com/office/drawing/2014/main" id="{94E4042F-AD31-C0B7-6E1A-DD42A06CA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0748" y="2052828"/>
            <a:ext cx="2843784" cy="28437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98F71"/>
                </a:solidFill>
                <a:latin typeface="Outfit"/>
              </a:defRPr>
            </a:pPr>
            <a:r>
              <a:t>BLOQUE 1 · CHOQUE EMPÍRICO Y DIAGNÓSTICO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96012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3927"/>
                </a:solidFill>
                <a:latin typeface="Outfit"/>
              </a:defRPr>
            </a:pPr>
            <a:r>
              <a:t>Las Dos Caras de la Paradoja Laboral Española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601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76927A"/>
                </a:solidFill>
                <a:latin typeface="Calibri"/>
              </a:defRPr>
            </a:pPr>
            <a:r>
              <a:t>Microdatos oficiales: por qué las vacantes y los desempleados no se encuentran</a:t>
            </a:r>
          </a:p>
        </p:txBody>
      </p:sp>
      <p:pic>
        <p:nvPicPr>
          <p:cNvPr id="5" name="Picture 4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365760"/>
            <a:ext cx="1158544" cy="365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6927A"/>
                </a:solidFill>
                <a:latin typeface="Calibri"/>
              </a:defRPr>
            </a:pPr>
            <a:r>
              <a:t>Políticas Sociolaborales y de Empleo · Grado en RRLL y RRHH / Doble Grado DER-RRLL · UPO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76927A"/>
                </a:solidFill>
                <a:latin typeface="Calibri"/>
              </a:defRPr>
            </a:pPr>
            <a:r>
              <a:t>4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539496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113927"/>
                </a:solidFill>
                <a:latin typeface="Outfit"/>
              </a:defRPr>
            </a:pPr>
            <a:r>
              <a:t>1. EL LADO DEL DESEMPLEO (2,6 M)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• Paro Estructural y Duración: El 36% de los desempleados lleva más de 12 meses en búsqueda activa (Parados de Larga Duración · PLD).</a:t>
            </a:r>
            <a:br/>
            <a:br/>
            <a:r>
              <a:t>• Concentración por Perfiles: Fuerte concentración en mayores de 45 años y personas con baja cualificación (máximo ESO o primaria).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39496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113927"/>
                </a:solidFill>
                <a:latin typeface="Outfit"/>
              </a:defRPr>
            </a:pPr>
            <a:r>
              <a:t>2. EL LADO DE LAS VACANTES (155.000)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• Sectores en Tensión Crítica: Hostelería y restauración, transporte y logística, construcción técnica, sanidad/cuidados y desarrollo TIC.</a:t>
            </a:r>
            <a:br/>
            <a:br/>
            <a:r>
              <a:t>• Desajuste de Requisitos: Las empresas exigen perfiles específicos (carnés profesionales, idiomas, competencias digitales o turnos rotativos).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120640"/>
            <a:ext cx="11064240" cy="91440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E9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rtlCol="0" anchor="ctr"/>
          <a:lstStyle/>
          <a:p>
            <a:pPr algn="ctr">
              <a:defRPr sz="1200" b="1">
                <a:solidFill>
                  <a:srgbClr val="E98F71"/>
                </a:solidFill>
                <a:latin typeface="Outfit"/>
              </a:defRPr>
            </a:pPr>
            <a:r>
              <a:t>💡 INSIGHT FUNDAMENTAL (EPÍGRAFE 6):</a:t>
            </a:r>
          </a:p>
          <a:p>
            <a:pPr>
              <a:defRPr sz="1500" b="1">
                <a:solidFill>
                  <a:srgbClr val="113927"/>
                </a:solidFill>
                <a:latin typeface="Calibri"/>
              </a:defRPr>
            </a:pPr>
            <a:r>
              <a:t>El desempleo no es homogéneo ni se resuelve con gasto generalizado: si el problema es de desajuste formativo o intermediación ineficiente, inyectar demanda agregada creará inflación sin cubrir las vacantes.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98F71"/>
                </a:solidFill>
                <a:latin typeface="Outfit"/>
              </a:defRPr>
            </a:pPr>
            <a:r>
              <a:t>BLOQUE 1 · EVIDENCIA EMPÍRICA Y MICRODATOS EPA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96012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3927"/>
                </a:solidFill>
                <a:latin typeface="Outfit"/>
              </a:defRPr>
            </a:pPr>
            <a:r>
              <a:t>Radiografía del Desajuste: El Perfil del Paro de Larga Duración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601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76927A"/>
                </a:solidFill>
                <a:latin typeface="Calibri"/>
              </a:defRPr>
            </a:pPr>
            <a:r>
              <a:t>Microdatos de la EPA (INE, 2025T4): la concentración senior y formativa en el desempleo de larga duración (PLD)</a:t>
            </a:r>
          </a:p>
        </p:txBody>
      </p:sp>
      <p:pic>
        <p:nvPicPr>
          <p:cNvPr id="5" name="Picture 4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365760"/>
            <a:ext cx="1158544" cy="365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6927A"/>
                </a:solidFill>
                <a:latin typeface="Calibri"/>
              </a:defRPr>
            </a:pPr>
            <a:r>
              <a:t>Políticas Sociolaborales y de Empleo · Grado en RRLL y RRHH / Doble Grado DER-RRLL · UPO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76927A"/>
                </a:solidFill>
                <a:latin typeface="Calibri"/>
              </a:defRPr>
            </a:pPr>
            <a:r>
              <a:t>5 / 17</a:t>
            </a:r>
          </a:p>
        </p:txBody>
      </p:sp>
      <p:pic>
        <p:nvPicPr>
          <p:cNvPr id="8" name="Picture 7" descr="desajuste_pld_ep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7772400" cy="43891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503920" y="1645920"/>
            <a:ext cx="3136392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800"/>
              </a:spcAft>
              <a:defRPr sz="1300" b="1">
                <a:solidFill>
                  <a:srgbClr val="E98F71"/>
                </a:solidFill>
                <a:latin typeface="Outfit"/>
              </a:defRPr>
            </a:pPr>
            <a:r>
              <a:rPr sz="1200" dirty="0"/>
              <a:t>CLAVES DEL DESAJUSTE (EPA)</a:t>
            </a:r>
          </a:p>
          <a:p>
            <a:pPr>
              <a:defRPr sz="1350">
                <a:solidFill>
                  <a:srgbClr val="2F3A30"/>
                </a:solidFill>
                <a:latin typeface="Calibri"/>
              </a:defRPr>
            </a:pPr>
            <a:r>
              <a:rPr sz="1200" dirty="0"/>
              <a:t>• 1 </a:t>
            </a:r>
            <a:r>
              <a:rPr sz="1200" dirty="0" err="1"/>
              <a:t>Millón</a:t>
            </a:r>
            <a:r>
              <a:rPr sz="1200" dirty="0"/>
              <a:t> de PLD (36,0%):</a:t>
            </a:r>
            <a:br>
              <a:rPr sz="1200" dirty="0"/>
            </a:br>
            <a:r>
              <a:rPr sz="1200" dirty="0"/>
              <a:t>Casi 1 </a:t>
            </a:r>
            <a:r>
              <a:rPr sz="1200" dirty="0" err="1"/>
              <a:t>millón</a:t>
            </a:r>
            <a:r>
              <a:rPr sz="1200" dirty="0"/>
              <a:t> de </a:t>
            </a:r>
            <a:r>
              <a:rPr sz="1200" dirty="0" err="1"/>
              <a:t>desempleados</a:t>
            </a:r>
            <a:r>
              <a:rPr sz="1200" dirty="0"/>
              <a:t> </a:t>
            </a:r>
            <a:r>
              <a:rPr sz="1200" dirty="0" err="1"/>
              <a:t>lleva</a:t>
            </a:r>
            <a:r>
              <a:rPr sz="1200" dirty="0"/>
              <a:t> </a:t>
            </a:r>
            <a:r>
              <a:rPr sz="1200" dirty="0" err="1"/>
              <a:t>más</a:t>
            </a:r>
            <a:r>
              <a:rPr sz="1200" dirty="0"/>
              <a:t> de 12 meses </a:t>
            </a:r>
            <a:r>
              <a:rPr sz="1200" dirty="0" err="1"/>
              <a:t>buscando</a:t>
            </a:r>
            <a:r>
              <a:rPr sz="1200" dirty="0"/>
              <a:t> </a:t>
            </a:r>
            <a:r>
              <a:rPr sz="1200" dirty="0" err="1"/>
              <a:t>empleo</a:t>
            </a:r>
            <a:r>
              <a:rPr sz="1200" dirty="0"/>
              <a:t> (y 583.000 </a:t>
            </a:r>
            <a:r>
              <a:rPr sz="1200" dirty="0" err="1"/>
              <a:t>llevan</a:t>
            </a:r>
            <a:r>
              <a:rPr sz="1200" dirty="0"/>
              <a:t> </a:t>
            </a:r>
            <a:r>
              <a:rPr sz="1200" dirty="0" err="1"/>
              <a:t>más</a:t>
            </a:r>
            <a:r>
              <a:rPr sz="1200" dirty="0"/>
              <a:t> de 2 </a:t>
            </a:r>
            <a:r>
              <a:rPr sz="1200" dirty="0" err="1"/>
              <a:t>años</a:t>
            </a:r>
            <a:r>
              <a:rPr sz="1200" dirty="0"/>
              <a:t> </a:t>
            </a:r>
            <a:r>
              <a:rPr sz="1200" dirty="0" err="1"/>
              <a:t>atrapados</a:t>
            </a:r>
            <a:r>
              <a:rPr sz="1200" dirty="0"/>
              <a:t> </a:t>
            </a:r>
            <a:r>
              <a:rPr sz="1200" dirty="0" err="1"/>
              <a:t>en</a:t>
            </a:r>
            <a:r>
              <a:rPr sz="1200" dirty="0"/>
              <a:t> </a:t>
            </a:r>
            <a:r>
              <a:rPr sz="1200" dirty="0" err="1"/>
              <a:t>histéresis</a:t>
            </a:r>
            <a:r>
              <a:rPr sz="1200" dirty="0"/>
              <a:t>).</a:t>
            </a:r>
            <a:br>
              <a:rPr sz="1200" dirty="0"/>
            </a:br>
            <a:br>
              <a:rPr sz="1200" dirty="0"/>
            </a:br>
            <a:r>
              <a:rPr sz="1200" dirty="0"/>
              <a:t>• </a:t>
            </a:r>
            <a:r>
              <a:rPr sz="1200" dirty="0" err="1"/>
              <a:t>Concentración</a:t>
            </a:r>
            <a:r>
              <a:rPr sz="1200" dirty="0"/>
              <a:t> Senior (57,1%):</a:t>
            </a:r>
            <a:br>
              <a:rPr sz="1200" dirty="0"/>
            </a:br>
            <a:r>
              <a:rPr sz="1200" dirty="0"/>
              <a:t>El 57,1% de </a:t>
            </a:r>
            <a:r>
              <a:rPr sz="1200" dirty="0" err="1"/>
              <a:t>los</a:t>
            </a:r>
            <a:r>
              <a:rPr sz="1200" dirty="0"/>
              <a:t> parados de </a:t>
            </a:r>
            <a:r>
              <a:rPr sz="1200" dirty="0" err="1"/>
              <a:t>larga</a:t>
            </a:r>
            <a:r>
              <a:rPr sz="1200" dirty="0"/>
              <a:t> </a:t>
            </a:r>
            <a:r>
              <a:rPr sz="1200" dirty="0" err="1"/>
              <a:t>duración</a:t>
            </a:r>
            <a:r>
              <a:rPr sz="1200" dirty="0"/>
              <a:t> </a:t>
            </a:r>
            <a:r>
              <a:rPr sz="1200" dirty="0" err="1"/>
              <a:t>tiene</a:t>
            </a:r>
            <a:r>
              <a:rPr sz="1200" dirty="0"/>
              <a:t> 45 o </a:t>
            </a:r>
            <a:r>
              <a:rPr sz="1200" dirty="0" err="1"/>
              <a:t>más</a:t>
            </a:r>
            <a:r>
              <a:rPr sz="1200" dirty="0"/>
              <a:t> </a:t>
            </a:r>
            <a:r>
              <a:rPr sz="1200" dirty="0" err="1"/>
              <a:t>años</a:t>
            </a:r>
            <a:r>
              <a:rPr sz="1200" dirty="0"/>
              <a:t> (</a:t>
            </a:r>
            <a:r>
              <a:rPr sz="1200" dirty="0" err="1"/>
              <a:t>frente</a:t>
            </a:r>
            <a:r>
              <a:rPr sz="1200" dirty="0"/>
              <a:t> a solo el 33,8% </a:t>
            </a:r>
            <a:r>
              <a:rPr sz="1200" dirty="0" err="1"/>
              <a:t>en</a:t>
            </a:r>
            <a:r>
              <a:rPr sz="1200" dirty="0"/>
              <a:t> el </a:t>
            </a:r>
            <a:r>
              <a:rPr sz="1200" dirty="0" err="1"/>
              <a:t>paro</a:t>
            </a:r>
            <a:r>
              <a:rPr sz="1200" dirty="0"/>
              <a:t> de </a:t>
            </a:r>
            <a:r>
              <a:rPr sz="1200" dirty="0" err="1"/>
              <a:t>corta</a:t>
            </a:r>
            <a:r>
              <a:rPr sz="1200" dirty="0"/>
              <a:t> </a:t>
            </a:r>
            <a:r>
              <a:rPr sz="1200" dirty="0" err="1"/>
              <a:t>duración</a:t>
            </a:r>
            <a:r>
              <a:rPr sz="1200" dirty="0"/>
              <a:t>).</a:t>
            </a:r>
            <a:br>
              <a:rPr sz="1200" dirty="0"/>
            </a:br>
            <a:br>
              <a:rPr sz="1200" dirty="0"/>
            </a:br>
            <a:r>
              <a:rPr sz="1200" dirty="0"/>
              <a:t>• Barrera </a:t>
            </a:r>
            <a:r>
              <a:rPr sz="1200" dirty="0" err="1"/>
              <a:t>Formativa</a:t>
            </a:r>
            <a:r>
              <a:rPr sz="1200" dirty="0"/>
              <a:t> (50,9%):</a:t>
            </a:r>
            <a:br>
              <a:rPr sz="1200" dirty="0"/>
            </a:br>
            <a:r>
              <a:rPr sz="1200" dirty="0"/>
              <a:t>El 50,9% de </a:t>
            </a:r>
            <a:r>
              <a:rPr sz="1200" dirty="0" err="1"/>
              <a:t>los</a:t>
            </a:r>
            <a:r>
              <a:rPr sz="1200" dirty="0"/>
              <a:t> PLD </a:t>
            </a:r>
            <a:r>
              <a:rPr sz="1200" dirty="0" err="1"/>
              <a:t>tiene</a:t>
            </a:r>
            <a:r>
              <a:rPr sz="1200" dirty="0"/>
              <a:t> </a:t>
            </a:r>
            <a:r>
              <a:rPr sz="1200" dirty="0" err="1"/>
              <a:t>como</a:t>
            </a:r>
            <a:r>
              <a:rPr sz="1200" dirty="0"/>
              <a:t> </a:t>
            </a:r>
            <a:r>
              <a:rPr sz="1200" dirty="0" err="1"/>
              <a:t>nivel</a:t>
            </a:r>
            <a:r>
              <a:rPr sz="1200" dirty="0"/>
              <a:t> </a:t>
            </a:r>
            <a:r>
              <a:rPr sz="1200" dirty="0" err="1"/>
              <a:t>máximo</a:t>
            </a:r>
            <a:r>
              <a:rPr sz="1200" dirty="0"/>
              <a:t> la ESO o </a:t>
            </a:r>
            <a:r>
              <a:rPr sz="1200" dirty="0" err="1"/>
              <a:t>estudios</a:t>
            </a:r>
            <a:r>
              <a:rPr sz="1200" dirty="0"/>
              <a:t> </a:t>
            </a:r>
            <a:r>
              <a:rPr sz="1200" dirty="0" err="1"/>
              <a:t>primarios</a:t>
            </a:r>
            <a:r>
              <a:rPr sz="1200" dirty="0"/>
              <a:t> </a:t>
            </a:r>
            <a:r>
              <a:rPr sz="1200" dirty="0" err="1"/>
              <a:t>incompletos</a:t>
            </a:r>
            <a:r>
              <a:rPr sz="1200" dirty="0"/>
              <a:t>.</a:t>
            </a:r>
            <a:br>
              <a:rPr sz="1200" dirty="0"/>
            </a:br>
            <a:br>
              <a:rPr sz="1200" dirty="0"/>
            </a:br>
            <a:r>
              <a:rPr sz="1200" dirty="0"/>
              <a:t>• Doble </a:t>
            </a:r>
            <a:r>
              <a:rPr sz="1200" dirty="0" err="1"/>
              <a:t>Cerrojo</a:t>
            </a:r>
            <a:r>
              <a:rPr sz="1200" dirty="0"/>
              <a:t>: El 29,1% </a:t>
            </a:r>
            <a:r>
              <a:rPr sz="1200" dirty="0" err="1"/>
              <a:t>reúne</a:t>
            </a:r>
            <a:r>
              <a:rPr sz="1200" dirty="0"/>
              <a:t> </a:t>
            </a:r>
            <a:r>
              <a:rPr sz="1200" dirty="0" err="1"/>
              <a:t>simultáneamente</a:t>
            </a:r>
            <a:r>
              <a:rPr sz="1200" dirty="0"/>
              <a:t> </a:t>
            </a:r>
            <a:r>
              <a:rPr sz="1200" dirty="0" err="1"/>
              <a:t>edad</a:t>
            </a:r>
            <a:r>
              <a:rPr sz="1200" dirty="0"/>
              <a:t> senior y baja </a:t>
            </a:r>
            <a:r>
              <a:rPr sz="1200" dirty="0" err="1"/>
              <a:t>formación</a:t>
            </a:r>
            <a:r>
              <a:rPr sz="1200" dirty="0"/>
              <a:t>, </a:t>
            </a:r>
            <a:r>
              <a:rPr sz="1200" dirty="0" err="1"/>
              <a:t>impidiendo</a:t>
            </a:r>
            <a:r>
              <a:rPr sz="1200" dirty="0"/>
              <a:t> el </a:t>
            </a:r>
            <a:r>
              <a:rPr sz="1200" dirty="0" err="1"/>
              <a:t>encaje</a:t>
            </a:r>
            <a:r>
              <a:rPr sz="1200" dirty="0"/>
              <a:t> con las </a:t>
            </a:r>
            <a:r>
              <a:rPr sz="1200" dirty="0" err="1"/>
              <a:t>vacantes</a:t>
            </a:r>
            <a:r>
              <a:rPr sz="1200" dirty="0"/>
              <a:t> </a:t>
            </a:r>
            <a:r>
              <a:rPr sz="1200" dirty="0" err="1"/>
              <a:t>técnicas</a:t>
            </a:r>
            <a:r>
              <a:rPr sz="1200"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98F71"/>
                </a:solidFill>
                <a:latin typeface="Outfit"/>
              </a:defRPr>
            </a:pPr>
            <a:r>
              <a:t>BLOQUE 2 · MINI-LECCIÓN CONCEPTUAL (25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96012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3927"/>
                </a:solidFill>
                <a:latin typeface="Outfit"/>
              </a:defRPr>
            </a:pPr>
            <a:r>
              <a:t>Dinámica de Flujos y Tasa Natural Estacionaria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601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76927A"/>
                </a:solidFill>
                <a:latin typeface="Calibri"/>
              </a:defRPr>
            </a:pPr>
            <a:r>
              <a:t>Epígrafe 6.0 oficial: el mercado laboral como un balance continuo de entradas y salidas</a:t>
            </a:r>
          </a:p>
        </p:txBody>
      </p:sp>
      <p:pic>
        <p:nvPicPr>
          <p:cNvPr id="5" name="Picture 4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365760"/>
            <a:ext cx="1158544" cy="365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6927A"/>
                </a:solidFill>
                <a:latin typeface="Calibri"/>
              </a:defRPr>
            </a:pPr>
            <a:r>
              <a:t>Políticas Sociolaborales y de Empleo · Grado en RRLL y RRHH / Doble Grado DER-RRLL · UPO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76927A"/>
                </a:solidFill>
                <a:latin typeface="Calibri"/>
              </a:defRPr>
            </a:pPr>
            <a:r>
              <a:t>6 / 17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7"/>
              <p:cNvSpPr/>
              <p:nvPr/>
            </p:nvSpPr>
            <p:spPr>
              <a:xfrm>
                <a:off x="548640" y="1645920"/>
                <a:ext cx="5394960" cy="4389120"/>
              </a:xfrm>
              <a:prstGeom prst="roundRect">
                <a:avLst/>
              </a:prstGeom>
              <a:solidFill>
                <a:srgbClr val="FFFFFF"/>
              </a:solidFill>
              <a:ln w="19050">
                <a:solidFill>
                  <a:srgbClr val="DCE5D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228600" tIns="201168" rIns="228600" rtlCol="0" anchor="ctr"/>
              <a:lstStyle/>
              <a:p>
                <a:pPr algn="ctr">
                  <a:spcAft>
                    <a:spcPts val="1000"/>
                  </a:spcAft>
                  <a:defRPr sz="1600" b="1">
                    <a:solidFill>
                      <a:srgbClr val="113927"/>
                    </a:solidFill>
                    <a:latin typeface="Outfit"/>
                  </a:defRPr>
                </a:pPr>
                <a:r>
                  <a:rPr dirty="0"/>
                  <a:t>1. EL MERCADO COMO SISTEMA DE FLUJOS</a:t>
                </a:r>
              </a:p>
              <a:p>
                <a:pPr>
                  <a:defRPr sz="1600">
                    <a:solidFill>
                      <a:srgbClr val="2F3A30"/>
                    </a:solidFill>
                    <a:latin typeface="Calibri"/>
                  </a:defRPr>
                </a:pPr>
                <a:r>
                  <a:rPr dirty="0"/>
                  <a:t>• </a:t>
                </a:r>
                <a:r>
                  <a:rPr dirty="0" err="1"/>
                  <a:t>Desempleo</a:t>
                </a:r>
                <a:r>
                  <a:rPr dirty="0"/>
                  <a:t> </a:t>
                </a:r>
                <a:r>
                  <a:rPr dirty="0" err="1"/>
                  <a:t>como</a:t>
                </a:r>
                <a:r>
                  <a:rPr dirty="0"/>
                  <a:t> Variable de Fondo (Stock): El </a:t>
                </a:r>
                <a:r>
                  <a:rPr dirty="0" err="1"/>
                  <a:t>volumen</a:t>
                </a:r>
                <a:r>
                  <a:rPr dirty="0"/>
                  <a:t> de </a:t>
                </a:r>
                <a:r>
                  <a:rPr dirty="0" err="1"/>
                  <a:t>desempleados</a:t>
                </a:r>
                <a:r>
                  <a:rPr dirty="0"/>
                  <a:t> (U) </a:t>
                </a:r>
                <a:r>
                  <a:rPr dirty="0" err="1"/>
                  <a:t>varía</a:t>
                </a:r>
                <a:r>
                  <a:rPr dirty="0"/>
                  <a:t> </a:t>
                </a:r>
                <a:r>
                  <a:rPr dirty="0" err="1"/>
                  <a:t>cada</a:t>
                </a:r>
                <a:r>
                  <a:rPr dirty="0"/>
                  <a:t> </a:t>
                </a:r>
                <a:r>
                  <a:rPr dirty="0" err="1"/>
                  <a:t>período</a:t>
                </a:r>
                <a:r>
                  <a:rPr dirty="0"/>
                  <a:t> </a:t>
                </a:r>
                <a:r>
                  <a:rPr dirty="0" err="1"/>
                  <a:t>en</a:t>
                </a:r>
                <a:r>
                  <a:rPr dirty="0"/>
                  <a:t> </a:t>
                </a:r>
                <a:r>
                  <a:rPr dirty="0" err="1"/>
                  <a:t>función</a:t>
                </a:r>
                <a:r>
                  <a:rPr dirty="0"/>
                  <a:t> de dos </a:t>
                </a:r>
                <a:r>
                  <a:rPr dirty="0" err="1"/>
                  <a:t>flujos</a:t>
                </a:r>
                <a:r>
                  <a:rPr dirty="0"/>
                  <a:t> </a:t>
                </a:r>
                <a:r>
                  <a:rPr dirty="0" err="1"/>
                  <a:t>opuestos</a:t>
                </a:r>
                <a:r>
                  <a:rPr dirty="0"/>
                  <a:t>:</a:t>
                </a:r>
                <a:br>
                  <a:rPr dirty="0"/>
                </a:br>
                <a:br>
                  <a:rPr dirty="0"/>
                </a:br>
                <a:r>
                  <a:rPr dirty="0"/>
                  <a:t>• </a:t>
                </a:r>
                <a:r>
                  <a:rPr dirty="0" err="1"/>
                  <a:t>Flujo</a:t>
                </a:r>
                <a:r>
                  <a:rPr dirty="0"/>
                  <a:t> de Entrada (</a:t>
                </a:r>
                <a:r>
                  <a:rPr dirty="0" err="1"/>
                  <a:t>Separación</a:t>
                </a:r>
                <a:r>
                  <a:rPr dirty="0"/>
                  <a:t> · s): </a:t>
                </a:r>
                <a:r>
                  <a:rPr dirty="0" err="1"/>
                  <a:t>Ocupados</a:t>
                </a:r>
                <a:r>
                  <a:rPr dirty="0"/>
                  <a:t> (N) </a:t>
                </a:r>
                <a:r>
                  <a:rPr dirty="0" err="1"/>
                  <a:t>que</a:t>
                </a:r>
                <a:r>
                  <a:rPr dirty="0"/>
                  <a:t> </a:t>
                </a:r>
                <a:r>
                  <a:rPr dirty="0" err="1"/>
                  <a:t>pierden</a:t>
                </a:r>
                <a:r>
                  <a:rPr dirty="0"/>
                  <a:t> </a:t>
                </a:r>
                <a:r>
                  <a:rPr dirty="0" err="1"/>
                  <a:t>su</a:t>
                </a:r>
                <a:r>
                  <a:rPr dirty="0"/>
                  <a:t> </a:t>
                </a:r>
                <a:r>
                  <a:rPr dirty="0" err="1"/>
                  <a:t>empleo</a:t>
                </a:r>
                <a:r>
                  <a:rPr dirty="0"/>
                  <a:t> o </a:t>
                </a:r>
                <a:r>
                  <a:rPr dirty="0" err="1"/>
                  <a:t>finalizan</a:t>
                </a:r>
                <a:r>
                  <a:rPr dirty="0"/>
                  <a:t> </a:t>
                </a:r>
                <a:r>
                  <a:rPr dirty="0" err="1"/>
                  <a:t>contrato</a:t>
                </a:r>
                <a:r>
                  <a:rPr dirty="0"/>
                  <a:t>: Entradas = s · N.</a:t>
                </a:r>
                <a:br>
                  <a:rPr dirty="0"/>
                </a:br>
                <a:br>
                  <a:rPr dirty="0"/>
                </a:br>
                <a:r>
                  <a:rPr dirty="0"/>
                  <a:t>• </a:t>
                </a:r>
                <a:r>
                  <a:rPr dirty="0" err="1"/>
                  <a:t>Flujo</a:t>
                </a:r>
                <a:r>
                  <a:rPr dirty="0"/>
                  <a:t> de Salida (</a:t>
                </a:r>
                <a:r>
                  <a:rPr dirty="0" err="1"/>
                  <a:t>Colocación</a:t>
                </a:r>
                <a:r>
                  <a:rPr dirty="0"/>
                  <a:t> · f): </a:t>
                </a:r>
                <a:r>
                  <a:rPr dirty="0" err="1"/>
                  <a:t>Desempleados</a:t>
                </a:r>
                <a:r>
                  <a:rPr dirty="0"/>
                  <a:t> (U) </a:t>
                </a:r>
                <a:r>
                  <a:rPr dirty="0" err="1"/>
                  <a:t>que</a:t>
                </a:r>
                <a:r>
                  <a:rPr dirty="0"/>
                  <a:t> </a:t>
                </a:r>
                <a:r>
                  <a:rPr dirty="0" err="1"/>
                  <a:t>encuentran</a:t>
                </a:r>
                <a:r>
                  <a:rPr dirty="0"/>
                  <a:t> </a:t>
                </a:r>
                <a:r>
                  <a:rPr dirty="0" err="1"/>
                  <a:t>empleo</a:t>
                </a:r>
                <a:r>
                  <a:rPr dirty="0"/>
                  <a:t> o se </a:t>
                </a:r>
                <a:r>
                  <a:rPr dirty="0" err="1"/>
                  <a:t>reinsertan</a:t>
                </a:r>
                <a:r>
                  <a:rPr dirty="0"/>
                  <a:t>: </a:t>
                </a:r>
                <a:r>
                  <a:rPr dirty="0" err="1"/>
                  <a:t>Salidas</a:t>
                </a:r>
                <a:r>
                  <a:rPr dirty="0"/>
                  <a:t> = f · U.</a:t>
                </a:r>
                <a:br>
                  <a:rPr dirty="0"/>
                </a:br>
                <a:br>
                  <a:rPr dirty="0"/>
                </a:br>
                <a:r>
                  <a:rPr dirty="0"/>
                  <a:t>• </a:t>
                </a:r>
                <a:r>
                  <a:rPr dirty="0" err="1"/>
                  <a:t>Ecuación</a:t>
                </a:r>
                <a:r>
                  <a:rPr dirty="0"/>
                  <a:t> </a:t>
                </a:r>
                <a:r>
                  <a:rPr dirty="0" err="1"/>
                  <a:t>en</a:t>
                </a:r>
                <a:r>
                  <a:rPr dirty="0"/>
                  <a:t> </a:t>
                </a:r>
                <a:r>
                  <a:rPr dirty="0" err="1"/>
                  <a:t>Diferencias</a:t>
                </a:r>
                <a:r>
                  <a:rPr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l-G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l-GR" i="1" dirty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 · </m:t>
                    </m:r>
                    <m:sSub>
                      <m:sSubPr>
                        <m:ctrlPr>
                          <a:rPr lang="el-GR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i="1" dirty="0" err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l-GR" i="1" dirty="0" err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l-GR" i="1" dirty="0">
                        <a:latin typeface="Cambria Math" panose="02040503050406030204" pitchFamily="18" charset="0"/>
                      </a:rPr>
                      <m:t>− 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 · </m:t>
                    </m:r>
                    <m:sSub>
                      <m:sSubPr>
                        <m:ctrlPr>
                          <a:rPr lang="el-GR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i="1" dirty="0" err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l-GR" i="1" dirty="0" err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l-GR" i="1" dirty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8" name="Rounded 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1645920"/>
                <a:ext cx="5394960" cy="438912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DCE5DF"/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8"/>
          <p:cNvSpPr/>
          <p:nvPr/>
        </p:nvSpPr>
        <p:spPr>
          <a:xfrm>
            <a:off x="6217920" y="1645920"/>
            <a:ext cx="5394960" cy="438912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769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113927"/>
                </a:solidFill>
                <a:latin typeface="Outfit"/>
              </a:defRPr>
            </a:pPr>
            <a:r>
              <a:t>2. DERIVACIÓN DEL EQUILIBRIO ESTACIONARIO</a:t>
            </a:r>
          </a:p>
          <a:p>
            <a:pPr>
              <a:spcAft>
                <a:spcPts val="1000"/>
              </a:spcAft>
              <a:defRPr sz="1600">
                <a:solidFill>
                  <a:srgbClr val="2F3A30"/>
                </a:solidFill>
                <a:latin typeface="Calibri"/>
              </a:defRPr>
            </a:pPr>
            <a:r>
              <a:t>• Condición de Estado Estacionario (ΔU = 0): Las entradas igualan a las salidas: s · N = f · U.</a:t>
            </a:r>
            <a:br/>
            <a:br/>
            <a:r>
              <a:t>• Población Activa Total: L = N + U  ➔  N = L - U.</a:t>
            </a:r>
            <a:br/>
            <a:br/>
            <a:r>
              <a:t>• Sustituyendo: s · (L - U) = f · U  ➔  s·L - s·U = f·U.</a:t>
            </a:r>
            <a:br/>
            <a:br/>
            <a:r>
              <a:t>• Despejando la Tasa Natural u* = U / L:</a:t>
            </a:r>
          </a:p>
          <a:p>
            <a:pPr algn="ctr">
              <a:spcAft>
                <a:spcPts val="1000"/>
              </a:spcAft>
              <a:defRPr sz="2200" b="1">
                <a:solidFill>
                  <a:srgbClr val="113927"/>
                </a:solidFill>
                <a:latin typeface="Outfit"/>
              </a:defRPr>
            </a:pPr>
            <a:r>
              <a:t>u* = s / (s + f)</a:t>
            </a:r>
          </a:p>
          <a:p>
            <a:pPr>
              <a:defRPr sz="1500" b="1">
                <a:solidFill>
                  <a:srgbClr val="2F3A30"/>
                </a:solidFill>
                <a:latin typeface="Calibri"/>
              </a:defRPr>
            </a:pPr>
            <a:r>
              <a:t>• Las Dos Únicas Palancas de Política:</a:t>
            </a:r>
            <a:br/>
            <a:r>
              <a:t>  1. Reducir s: reducir la rotación laboral injustificada.</a:t>
            </a:r>
            <a:br/>
            <a:r>
              <a:t>  2. Aumentar f: modernizar intermediación y formación.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98F71"/>
                </a:solidFill>
                <a:latin typeface="Outfit"/>
              </a:defRPr>
            </a:pPr>
            <a:r>
              <a:t>BLOQUE 2 · MINI-LECCIÓN CONCEPTUAL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96012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3927"/>
                </a:solidFill>
                <a:latin typeface="Outfit"/>
              </a:defRPr>
            </a:pPr>
            <a:r>
              <a:t>La Función de Emparejamiento (Matching Function)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601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76927A"/>
                </a:solidFill>
                <a:latin typeface="Calibri"/>
              </a:defRPr>
            </a:pPr>
            <a:r>
              <a:t>Epígrafe 6.1 oficial: modelización microeconómica de las contrataciones laborales</a:t>
            </a:r>
          </a:p>
        </p:txBody>
      </p:sp>
      <p:pic>
        <p:nvPicPr>
          <p:cNvPr id="5" name="Picture 4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365760"/>
            <a:ext cx="1158544" cy="365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6927A"/>
                </a:solidFill>
                <a:latin typeface="Calibri"/>
              </a:defRPr>
            </a:pPr>
            <a:r>
              <a:t>Políticas Sociolaborales y de Empleo · Grado en RRLL y RRHH / Doble Grado DER-RRLL · UPO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76927A"/>
                </a:solidFill>
                <a:latin typeface="Calibri"/>
              </a:defRPr>
            </a:pPr>
            <a:r>
              <a:t>7 / 17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7"/>
              <p:cNvSpPr/>
              <p:nvPr/>
            </p:nvSpPr>
            <p:spPr>
              <a:xfrm>
                <a:off x="548640" y="1645920"/>
                <a:ext cx="5943600" cy="4389120"/>
              </a:xfrm>
              <a:prstGeom prst="roundRect">
                <a:avLst/>
              </a:prstGeom>
              <a:solidFill>
                <a:srgbClr val="FFFFFF"/>
              </a:solidFill>
              <a:ln w="19050">
                <a:solidFill>
                  <a:srgbClr val="DCE5D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228600" tIns="201168" rIns="228600" rtlCol="0" anchor="ctr"/>
              <a:lstStyle/>
              <a:p>
                <a:pPr algn="ctr">
                  <a:spcAft>
                    <a:spcPts val="1000"/>
                  </a:spcAft>
                  <a:defRPr sz="1600" b="1">
                    <a:solidFill>
                      <a:srgbClr val="113927"/>
                    </a:solidFill>
                    <a:latin typeface="Outfit"/>
                  </a:defRPr>
                </a:pPr>
                <a:r>
                  <a:rPr dirty="0"/>
                  <a:t>1. FORMALIZACIÓN COBB-DOUGLAS CANÓNICA</a:t>
                </a:r>
              </a:p>
              <a:p>
                <a:pPr algn="ctr">
                  <a:spcAft>
                    <a:spcPts val="1000"/>
                  </a:spcAft>
                  <a:defRPr sz="2000" b="1">
                    <a:solidFill>
                      <a:srgbClr val="E98F71"/>
                    </a:solidFill>
                    <a:latin typeface="Outfit"/>
                  </a:defRPr>
                </a:pPr>
                <a14:m>
                  <m:oMathPara xmlns:m="http://schemas.openxmlformats.org/officeDocument/2006/math">
                    <m:oMath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E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i="1" dirty="0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s-ES" i="1" dirty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s-ES" i="1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s-ES" i="1" dirty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s-ES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 · </m:t>
                      </m:r>
                      <m:sSup>
                        <m:sSupPr>
                          <m:ctrlPr>
                            <a:rPr lang="es-ES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i="1" dirty="0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r>
                            <a:rPr lang="es-ES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sup>
                      </m:sSup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· </m:t>
                      </m:r>
                      <m:sSup>
                        <m:sSupPr>
                          <m:ctrlPr>
                            <a:rPr lang="es-ES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i="1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s-ES" i="1" dirty="0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s-ES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sup>
                      </m:sSup>
                    </m:oMath>
                  </m:oMathPara>
                </a14:m>
                <a:endParaRPr dirty="0"/>
              </a:p>
              <a:p>
                <a:pPr>
                  <a:defRPr sz="1500">
                    <a:solidFill>
                      <a:srgbClr val="2F3A30"/>
                    </a:solidFill>
                    <a:latin typeface="Calibri"/>
                  </a:defRPr>
                </a:pPr>
                <a:r>
                  <a:rPr dirty="0"/>
                  <a:t>• m: Nuevas </a:t>
                </a:r>
                <a:r>
                  <a:rPr dirty="0" err="1"/>
                  <a:t>contrataciones</a:t>
                </a:r>
                <a:r>
                  <a:rPr dirty="0"/>
                  <a:t> </a:t>
                </a:r>
                <a:r>
                  <a:rPr dirty="0" err="1"/>
                  <a:t>netas</a:t>
                </a:r>
                <a:r>
                  <a:rPr dirty="0"/>
                  <a:t> </a:t>
                </a:r>
                <a:r>
                  <a:rPr dirty="0" err="1"/>
                  <a:t>generadas</a:t>
                </a:r>
                <a:r>
                  <a:rPr dirty="0"/>
                  <a:t> </a:t>
                </a:r>
                <a:r>
                  <a:rPr dirty="0" err="1"/>
                  <a:t>por</a:t>
                </a:r>
                <a:r>
                  <a:rPr dirty="0"/>
                  <a:t> </a:t>
                </a:r>
                <a:r>
                  <a:rPr dirty="0" err="1"/>
                  <a:t>período</a:t>
                </a:r>
                <a:r>
                  <a:rPr dirty="0"/>
                  <a:t>.</a:t>
                </a:r>
                <a:br>
                  <a:rPr dirty="0"/>
                </a:br>
                <a:r>
                  <a:rPr dirty="0"/>
                  <a:t>• U: Masa de personas </a:t>
                </a:r>
                <a:r>
                  <a:rPr dirty="0" err="1"/>
                  <a:t>desempleadas</a:t>
                </a:r>
                <a:r>
                  <a:rPr dirty="0"/>
                  <a:t> </a:t>
                </a:r>
                <a:r>
                  <a:rPr dirty="0" err="1"/>
                  <a:t>activas</a:t>
                </a:r>
                <a:r>
                  <a:rPr dirty="0"/>
                  <a:t> </a:t>
                </a:r>
                <a:r>
                  <a:rPr dirty="0" err="1"/>
                  <a:t>en</a:t>
                </a:r>
                <a:r>
                  <a:rPr dirty="0"/>
                  <a:t> </a:t>
                </a:r>
                <a:r>
                  <a:rPr dirty="0" err="1"/>
                  <a:t>búsqueda</a:t>
                </a:r>
                <a:r>
                  <a:rPr dirty="0"/>
                  <a:t>.</a:t>
                </a:r>
                <a:br>
                  <a:rPr dirty="0"/>
                </a:br>
                <a:r>
                  <a:rPr dirty="0"/>
                  <a:t>• V: Masa de </a:t>
                </a:r>
                <a:r>
                  <a:rPr dirty="0" err="1"/>
                  <a:t>vacantes</a:t>
                </a:r>
                <a:r>
                  <a:rPr dirty="0"/>
                  <a:t> </a:t>
                </a:r>
                <a:r>
                  <a:rPr dirty="0" err="1"/>
                  <a:t>laborales</a:t>
                </a:r>
                <a:r>
                  <a:rPr dirty="0"/>
                  <a:t> </a:t>
                </a:r>
                <a:r>
                  <a:rPr dirty="0" err="1"/>
                  <a:t>abiertas</a:t>
                </a:r>
                <a:r>
                  <a:rPr dirty="0"/>
                  <a:t> </a:t>
                </a:r>
                <a:r>
                  <a:rPr dirty="0" err="1"/>
                  <a:t>por</a:t>
                </a:r>
                <a:r>
                  <a:rPr dirty="0"/>
                  <a:t> las </a:t>
                </a:r>
                <a:r>
                  <a:rPr dirty="0" err="1"/>
                  <a:t>empresas</a:t>
                </a:r>
                <a:r>
                  <a:rPr dirty="0"/>
                  <a:t>.</a:t>
                </a:r>
                <a:br>
                  <a:rPr dirty="0"/>
                </a:br>
                <a:r>
                  <a:rPr dirty="0"/>
                  <a:t>• A: </a:t>
                </a:r>
                <a:r>
                  <a:rPr dirty="0" err="1"/>
                  <a:t>Parámetro</a:t>
                </a:r>
                <a:r>
                  <a:rPr dirty="0"/>
                  <a:t> de </a:t>
                </a:r>
                <a:r>
                  <a:rPr dirty="0" err="1"/>
                  <a:t>eficiencia</a:t>
                </a:r>
                <a:r>
                  <a:rPr dirty="0"/>
                  <a:t> </a:t>
                </a:r>
                <a:r>
                  <a:rPr dirty="0" err="1"/>
                  <a:t>tecnológica</a:t>
                </a:r>
                <a:r>
                  <a:rPr dirty="0"/>
                  <a:t> e </a:t>
                </a:r>
                <a:r>
                  <a:rPr dirty="0" err="1"/>
                  <a:t>institucional</a:t>
                </a:r>
                <a:r>
                  <a:rPr dirty="0"/>
                  <a:t>. </a:t>
                </a:r>
                <a:r>
                  <a:rPr dirty="0" err="1"/>
                  <a:t>Refleja</a:t>
                </a:r>
                <a:r>
                  <a:rPr dirty="0"/>
                  <a:t> la </a:t>
                </a:r>
                <a:r>
                  <a:rPr dirty="0" err="1"/>
                  <a:t>calidad</a:t>
                </a:r>
                <a:r>
                  <a:rPr dirty="0"/>
                  <a:t> de </a:t>
                </a:r>
                <a:r>
                  <a:rPr dirty="0" err="1"/>
                  <a:t>los</a:t>
                </a:r>
                <a:r>
                  <a:rPr dirty="0"/>
                  <a:t> </a:t>
                </a:r>
                <a:r>
                  <a:rPr dirty="0" err="1"/>
                  <a:t>servicios</a:t>
                </a:r>
                <a:r>
                  <a:rPr dirty="0"/>
                  <a:t> de </a:t>
                </a:r>
                <a:r>
                  <a:rPr dirty="0" err="1"/>
                  <a:t>empleo</a:t>
                </a:r>
                <a:r>
                  <a:rPr dirty="0"/>
                  <a:t>, la </a:t>
                </a:r>
                <a:r>
                  <a:rPr dirty="0" err="1"/>
                  <a:t>transparencia</a:t>
                </a:r>
                <a:r>
                  <a:rPr dirty="0"/>
                  <a:t> </a:t>
                </a:r>
                <a:r>
                  <a:rPr dirty="0" err="1"/>
                  <a:t>informativa</a:t>
                </a:r>
                <a:r>
                  <a:rPr dirty="0"/>
                  <a:t> y la </a:t>
                </a:r>
                <a:r>
                  <a:rPr dirty="0" err="1"/>
                  <a:t>adecuación</a:t>
                </a:r>
                <a:r>
                  <a:rPr dirty="0"/>
                  <a:t> de </a:t>
                </a:r>
                <a:r>
                  <a:rPr dirty="0" err="1"/>
                  <a:t>cualificaciones</a:t>
                </a:r>
                <a:r>
                  <a:rPr dirty="0"/>
                  <a:t>.</a:t>
                </a:r>
                <a:br>
                  <a:rPr dirty="0"/>
                </a:br>
                <a:r>
                  <a:rPr dirty="0"/>
                  <a:t>• </a:t>
                </a:r>
                <a:r>
                  <a:rPr dirty="0" err="1"/>
                  <a:t>Tensión</a:t>
                </a:r>
                <a:r>
                  <a:rPr dirty="0"/>
                  <a:t> Laboral (θ = V/U): Mide la </a:t>
                </a:r>
                <a:r>
                  <a:rPr dirty="0" err="1"/>
                  <a:t>holgura</a:t>
                </a:r>
                <a:r>
                  <a:rPr dirty="0"/>
                  <a:t> o </a:t>
                </a:r>
                <a:r>
                  <a:rPr dirty="0" err="1"/>
                  <a:t>presión</a:t>
                </a:r>
                <a:r>
                  <a:rPr dirty="0"/>
                  <a:t> del mercado. Si θ </a:t>
                </a:r>
                <a:r>
                  <a:rPr dirty="0" err="1"/>
                  <a:t>sube</a:t>
                </a:r>
                <a:r>
                  <a:rPr dirty="0"/>
                  <a:t>, encontrar </a:t>
                </a:r>
                <a:r>
                  <a:rPr dirty="0" err="1"/>
                  <a:t>empleo</a:t>
                </a:r>
                <a:r>
                  <a:rPr dirty="0"/>
                  <a:t> (f) es </a:t>
                </a:r>
                <a:r>
                  <a:rPr dirty="0" err="1"/>
                  <a:t>más</a:t>
                </a:r>
                <a:r>
                  <a:rPr dirty="0"/>
                  <a:t> </a:t>
                </a:r>
                <a:r>
                  <a:rPr dirty="0" err="1"/>
                  <a:t>rápido</a:t>
                </a:r>
                <a:r>
                  <a:rPr dirty="0"/>
                  <a:t>.</a:t>
                </a:r>
              </a:p>
            </p:txBody>
          </p:sp>
        </mc:Choice>
        <mc:Fallback xmlns="">
          <p:sp>
            <p:nvSpPr>
              <p:cNvPr id="8" name="Rounded 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1645920"/>
                <a:ext cx="5943600" cy="438912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DCE5DF"/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8"/>
          <p:cNvSpPr/>
          <p:nvPr/>
        </p:nvSpPr>
        <p:spPr>
          <a:xfrm>
            <a:off x="6766560" y="1645920"/>
            <a:ext cx="4846320" cy="438912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769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113927"/>
                </a:solidFill>
                <a:latin typeface="Outfit"/>
              </a:defRPr>
            </a:pPr>
            <a:r>
              <a:t>2. LA METÁFORA DE LA PISTA DE BAILE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• Las Personas en la Barra: Desempleados buscando pareja de baile adecuada.</a:t>
            </a:r>
            <a:br/>
            <a:br/>
            <a:r>
              <a:t>• Los Huecos Libres en la Pista: Vacantes de empleo disponibles esperando ocuparse.</a:t>
            </a:r>
            <a:br/>
            <a:br/>
            <a:r>
              <a:t>• ¿Por qué no bailan? Si la música no encaja con los pasos que dominan (skills mismatch), si no hay luz para verse (asimetría de información) o si el coste de moverse es alto (barreras geográficas), la pista seguirá llena de huecos y la barra llena de personas solas.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98F71"/>
                </a:solidFill>
                <a:latin typeface="Outfit"/>
              </a:defRPr>
            </a:pPr>
            <a:r>
              <a:t>BLOQUE 2 · MODELIZACIÓN Y ESPACIO UV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96012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3927"/>
                </a:solidFill>
                <a:latin typeface="Outfit"/>
              </a:defRPr>
            </a:pPr>
            <a:r>
              <a:t>De la Pista de Baile a la Curva de Beveridge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601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6927A"/>
                </a:solidFill>
                <a:latin typeface="Calibri"/>
              </a:defRPr>
            </a:pPr>
            <a:r>
              <a:t>Epígrafe 6.1–6.2 oficial: cómo las micro-interacciones de la pista trazan la curva macroeconómica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365760"/>
            <a:ext cx="1161288" cy="365760"/>
          </a:xfrm>
          <a:prstGeom prst="rect">
            <a:avLst/>
          </a:prstGeom>
        </p:spPr>
      </p:pic>
      <p:pic>
        <p:nvPicPr>
          <p:cNvPr id="6" name="Picture 5" descr="curva_beveridge_pista_ba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7954" y="1536192"/>
            <a:ext cx="7772400" cy="36118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137954" y="5230368"/>
            <a:ext cx="7772400" cy="1005840"/>
          </a:xfrm>
          <a:prstGeom prst="roundRect">
            <a:avLst/>
          </a:prstGeom>
          <a:solidFill>
            <a:srgbClr val="F4F8F5"/>
          </a:solidFill>
          <a:ln w="12700">
            <a:solidFill>
              <a:srgbClr val="DC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>
              <a:defRPr sz="1300" b="1">
                <a:solidFill>
                  <a:srgbClr val="113927"/>
                </a:solidFill>
                <a:latin typeface="Outfit"/>
              </a:defRPr>
            </a:pPr>
            <a:r>
              <a:t>Mecanismo Causal de Agregación (De la Micro a la Macro):</a:t>
            </a:r>
          </a:p>
          <a:p>
            <a:pPr>
              <a:defRPr sz="1500">
                <a:solidFill>
                  <a:srgbClr val="2F3A30"/>
                </a:solidFill>
                <a:latin typeface="Calibri"/>
              </a:defRPr>
            </a:pPr>
            <a:r>
              <a:t>• En </a:t>
            </a:r>
            <a:r>
              <a:rPr b="1"/>
              <a:t>Recesión</a:t>
            </a:r>
            <a:r>
              <a:t>, las empresas retiran vacantes y los parados quedan solos en la sala (movimiento a lo largo, u ↑, v ↓). Con </a:t>
            </a:r>
            <a:r>
              <a:rPr b="1"/>
              <a:t>desajuste formativo (A ↓)</a:t>
            </a:r>
            <a:r>
              <a:t>, la pista se llena de puntos que chocan y rebotan sin emparejarse (desplazamiento hacia fuera).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6927A"/>
                </a:solidFill>
                <a:latin typeface="Calibri"/>
              </a:defRPr>
            </a:pPr>
            <a:r>
              <a:t>Políticas Sociolaborales y de Empleo · Grado en RRLL y RRHH / Doble Grado DER-RRLL · UPO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6927A"/>
                </a:solidFill>
                <a:latin typeface="Calibri"/>
              </a:defRPr>
            </a:pPr>
            <a: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98F71"/>
                </a:solidFill>
                <a:latin typeface="Outfit"/>
              </a:defRPr>
            </a:pPr>
            <a:r>
              <a:t>BLOQUE 4 · LABORATORIO ACTIVO Y SIMULADOR (20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96012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3927"/>
                </a:solidFill>
                <a:latin typeface="Outfit"/>
              </a:defRPr>
            </a:pPr>
            <a:r>
              <a:t>Simulador Móvil: Curva de Beveridge y Emparejamiento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601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76927A"/>
                </a:solidFill>
                <a:latin typeface="Calibri"/>
              </a:defRPr>
            </a:pPr>
            <a:r>
              <a:t>Misión técnica interactiva: rol de Analistas de la Consejería de Empleo desde el smartphone</a:t>
            </a:r>
          </a:p>
        </p:txBody>
      </p:sp>
      <p:pic>
        <p:nvPicPr>
          <p:cNvPr id="5" name="Picture 4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365760"/>
            <a:ext cx="1158544" cy="365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6927A"/>
                </a:solidFill>
                <a:latin typeface="Calibri"/>
              </a:defRPr>
            </a:pPr>
            <a:r>
              <a:t>Políticas Sociolaborales y de Empleo · Grado en RRLL y RRHH / Doble Grado DER-RRLL · UPO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76927A"/>
                </a:solidFill>
                <a:latin typeface="Calibri"/>
              </a:defRPr>
            </a:pPr>
            <a:r>
              <a:t>13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6858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69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256032" rtlCol="0" anchor="ctr"/>
          <a:lstStyle/>
          <a:p>
            <a:pPr algn="ctr">
              <a:spcAft>
                <a:spcPts val="800"/>
              </a:spcAft>
              <a:defRPr sz="1200" b="1">
                <a:solidFill>
                  <a:srgbClr val="E98F71"/>
                </a:solidFill>
                <a:latin typeface="Outfit"/>
              </a:defRPr>
            </a:pPr>
            <a:r>
              <a:t>MISIÓN TÉCNICA · GABINETE DE LA CONSEJERÍA DE EMPLEO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1. Apertura de la App en el Móvil: Escanear el código QR contiguo para abrir el simulador interactivo en HTML5 Canvas.</a:t>
            </a:r>
            <a:br/>
            <a:br/>
            <a:r>
              <a:t>2. Experimento 1 (Ciclo vs Estructura): Mover el control de Demanda Agregada manteniendo A constante. Comprobar cómo la economía se desplaza a lo largo de la curva UV.</a:t>
            </a:r>
            <a:br/>
            <a:br/>
            <a:r>
              <a:t>3. Experimento 2 (Shock de Desajuste): Activar el escenario de Skills Mismatch y caída de A. Observar cómo la curva entera se desplaza hacia el exterior.</a:t>
            </a:r>
            <a:br/>
            <a:br/>
            <a:r>
              <a:t>4. Cumplimentar en parejas la Hoja de Laboratorio Activo.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645920"/>
            <a:ext cx="3931920" cy="438912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E9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01168" rIns="182880" rtlCol="0" anchor="ctr"/>
          <a:lstStyle/>
          <a:p>
            <a:pPr algn="ctr">
              <a:spcAft>
                <a:spcPts val="600"/>
              </a:spcAft>
              <a:defRPr sz="1100" b="1">
                <a:solidFill>
                  <a:srgbClr val="113927"/>
                </a:solidFill>
                <a:latin typeface="Outfit"/>
              </a:defRPr>
            </a:pPr>
            <a:r>
              <a:t>ACCESO DIRECTO A LA MICRO-APP</a:t>
            </a:r>
          </a:p>
          <a:p>
            <a:pPr algn="ctr">
              <a:spcAft>
                <a:spcPts val="1000"/>
              </a:spcAft>
              <a:defRPr sz="1500" b="1">
                <a:solidFill>
                  <a:srgbClr val="E98F71"/>
                </a:solidFill>
                <a:latin typeface="Outfit"/>
              </a:defRPr>
            </a:pPr>
            <a:r>
              <a:t>Simulador Beveridge &amp; DMP</a:t>
            </a:r>
          </a:p>
        </p:txBody>
      </p:sp>
      <p:pic>
        <p:nvPicPr>
          <p:cNvPr id="10" name="Picture 9" descr="qr_app_sesion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560320"/>
            <a:ext cx="2468880" cy="2468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0" y="5166360"/>
            <a:ext cx="37490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F3A30"/>
                </a:solidFill>
                <a:latin typeface="Calibri"/>
              </a:defRPr>
            </a:pPr>
            <a:r>
              <a:t>mhidper.github.io/micro_apps</a:t>
            </a:r>
            <a:br/>
            <a:r>
              <a:t>(Simulador interactivo · 15 min)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98F71"/>
                </a:solidFill>
                <a:latin typeface="Outfit"/>
              </a:defRPr>
            </a:pPr>
            <a:r>
              <a:rPr dirty="0"/>
              <a:t>BLOQUE 3 · EVIDENCIA EMPÍRICA (AMPLIACIÓN L1)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96012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3927"/>
                </a:solidFill>
                <a:latin typeface="Outfit"/>
              </a:defRPr>
            </a:pPr>
            <a:r>
              <a:rPr dirty="0"/>
              <a:t>La Curva de Beveridge </a:t>
            </a:r>
            <a:r>
              <a:rPr dirty="0" err="1"/>
              <a:t>en</a:t>
            </a:r>
            <a:r>
              <a:rPr dirty="0"/>
              <a:t> España (1980–2024)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601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76927A"/>
                </a:solidFill>
                <a:latin typeface="Calibri"/>
              </a:defRPr>
            </a:pPr>
            <a:r>
              <a:t>Figura 1.9 oficial de los apuntes: análisis de las tres fases históricas macroeconómicas</a:t>
            </a:r>
          </a:p>
        </p:txBody>
      </p:sp>
      <p:pic>
        <p:nvPicPr>
          <p:cNvPr id="5" name="Picture 4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365760"/>
            <a:ext cx="1158544" cy="365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6927A"/>
                </a:solidFill>
                <a:latin typeface="Calibri"/>
              </a:defRPr>
            </a:pPr>
            <a:r>
              <a:t>Políticas Sociolaborales y de Empleo · Grado en RRLL y RRHH / Doble Grado DER-RRLL · UPO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76927A"/>
                </a:solidFill>
                <a:latin typeface="Calibri"/>
              </a:defRPr>
            </a:pPr>
            <a:r>
              <a:t>11 / 17</a:t>
            </a:r>
          </a:p>
        </p:txBody>
      </p:sp>
      <p:pic>
        <p:nvPicPr>
          <p:cNvPr id="8" name="Picture 7" descr="curva_beveridge_d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6039" y="1353312"/>
            <a:ext cx="8671561" cy="473436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98F71"/>
                </a:solidFill>
                <a:latin typeface="Outfit"/>
              </a:defRPr>
            </a:pPr>
            <a:r>
              <a:t>BLOQUE 3 · TEORÍA Y DIAGNÓSTICO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96012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3927"/>
                </a:solidFill>
                <a:latin typeface="Outfit"/>
              </a:defRPr>
            </a:pPr>
            <a:r>
              <a:t>Geometría de Beveridge: Movimientos vs. Desplazamientos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601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76927A"/>
                </a:solidFill>
                <a:latin typeface="Calibri"/>
              </a:defRPr>
            </a:pPr>
            <a:r>
              <a:t>Epígrafe 6.2 oficial: la distinción analítica entre ciclo económico y desajuste estructural</a:t>
            </a:r>
          </a:p>
        </p:txBody>
      </p:sp>
      <p:pic>
        <p:nvPicPr>
          <p:cNvPr id="5" name="Picture 4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365760"/>
            <a:ext cx="1158544" cy="365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6927A"/>
                </a:solidFill>
                <a:latin typeface="Calibri"/>
              </a:defRPr>
            </a:pPr>
            <a:r>
              <a:t>Políticas Sociolaborales y de Empleo · Grado en RRLL y RRHH / Doble Grado DER-RRLL · UPO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76927A"/>
                </a:solidFill>
                <a:latin typeface="Calibri"/>
              </a:defRPr>
            </a:pPr>
            <a:r>
              <a:t>9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53949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113927"/>
                </a:solidFill>
                <a:latin typeface="Outfit"/>
              </a:defRPr>
            </a:pPr>
            <a:r>
              <a:t>1. MOVIMIENTOS A LO LARGO DE LA CURVA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• Causa Exclusiva: Shocks del Ciclo Económico (fluctuaciones de Demanda Agregada).</a:t>
            </a:r>
            <a:br/>
            <a:br/>
            <a:r>
              <a:t>• Fase de Recesión: La caída de ventas hace que las empresas congelen vacantes y destruyan empleo: movimiento hacia abajo y a la derecha (u ↑, v ↓).</a:t>
            </a:r>
            <a:br/>
            <a:br/>
            <a:r>
              <a:t>• Fase de Expansión: Aumenta la actividad, se publican más ofertas y se absorben parados: movimiento hacia arriba y a la izquierda (u ↓, v ↑).</a:t>
            </a:r>
            <a:br/>
            <a:br/>
            <a:r>
              <a:t>• Pendiente Negativa: Relación inversa natural.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3949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113927"/>
                </a:solidFill>
                <a:latin typeface="Outfit"/>
              </a:defRPr>
            </a:pPr>
            <a:r>
              <a:t>2. DESPLAZAMIENTOS DE LA CURVA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• Causa Exclusiva: Cambios Estructurales en la Eficiencia del Emparejamiento (A).</a:t>
            </a:r>
            <a:br/>
            <a:br/>
            <a:r>
              <a:t>• Desplazamiento Hacia el Exterior (BC1 ➔ BC2):</a:t>
            </a:r>
            <a:br/>
            <a:r>
              <a:t>  - Para una MISMA tasa de vacantes, hay MUCHO MÁS desempleo.</a:t>
            </a:r>
            <a:br/>
            <a:r>
              <a:t>  - Síntoma de desajuste formativo (skills mismatch), ineficiencia en el SAE/SEPE o histéresis.</a:t>
            </a:r>
            <a:br/>
            <a:br/>
            <a:r>
              <a:t>• Desplazamiento Hacia el Origen (BC2 ➔ BC1):</a:t>
            </a:r>
            <a:br/>
            <a:r>
              <a:t>  - Aumento de la eficiencia (A ↑): mejor orientación, formación dual y digitalización.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98F71"/>
                </a:solidFill>
                <a:latin typeface="Outfit"/>
              </a:defRPr>
            </a:pPr>
            <a:r>
              <a:t>BLOQUE 3 · INTERPRETACIÓN ECONÓMICA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96012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3927"/>
                </a:solidFill>
                <a:latin typeface="Outfit"/>
              </a:defRPr>
            </a:pPr>
            <a:r>
              <a:t>Puntos Notables en la Curva de Beveridge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601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76927A"/>
                </a:solidFill>
                <a:latin typeface="Calibri"/>
              </a:defRPr>
            </a:pPr>
            <a:r>
              <a:t>Epígrafe 6.3 oficial: equilibrio natural (Punto A) vs. desequilibrios macroeconómicos</a:t>
            </a:r>
          </a:p>
        </p:txBody>
      </p:sp>
      <p:pic>
        <p:nvPicPr>
          <p:cNvPr id="5" name="Picture 4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365760"/>
            <a:ext cx="1158544" cy="365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6927A"/>
                </a:solidFill>
                <a:latin typeface="Calibri"/>
              </a:defRPr>
            </a:pPr>
            <a:r>
              <a:t>Políticas Sociolaborales y de Empleo · Grado en RRLL y RRHH / Doble Grado DER-RRLL · UPO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76927A"/>
                </a:solidFill>
                <a:latin typeface="Calibri"/>
              </a:defRPr>
            </a:pPr>
            <a:r>
              <a:t>10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3611880" cy="438912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DC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rtlCol="0" anchor="ctr"/>
          <a:lstStyle/>
          <a:p>
            <a:pPr algn="ctr">
              <a:spcAft>
                <a:spcPts val="400"/>
              </a:spcAft>
              <a:defRPr sz="1500" b="1">
                <a:solidFill>
                  <a:srgbClr val="113927"/>
                </a:solidFill>
                <a:latin typeface="Outfit"/>
              </a:defRPr>
            </a:pPr>
            <a:r>
              <a:t>PUNTO A · TASA NATURAL</a:t>
            </a:r>
          </a:p>
          <a:p>
            <a:pPr>
              <a:spcAft>
                <a:spcPts val="1400"/>
              </a:spcAft>
              <a:defRPr sz="1200" b="1">
                <a:solidFill>
                  <a:srgbClr val="E98F71"/>
                </a:solidFill>
                <a:latin typeface="Outfit"/>
              </a:defRPr>
            </a:pPr>
            <a:r>
              <a:t>Sobre la Bisectriz (u = v)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La tasa de desempleo coincide con la de vacantes.</a:t>
            </a:r>
            <a:br/>
            <a:br/>
            <a:r>
              <a:t>Todo el desempleo observado es puramente friccional o de reasignación saludable; no hay componente cíclico.</a:t>
            </a:r>
            <a:br/>
            <a:br/>
            <a:r>
              <a:t>Es el punto de referencia de equilibrio ideal para los responsables de política.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611880" cy="438912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DC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rtlCol="0" anchor="ctr"/>
          <a:lstStyle/>
          <a:p>
            <a:pPr algn="ctr">
              <a:spcAft>
                <a:spcPts val="400"/>
              </a:spcAft>
              <a:defRPr sz="1500" b="1">
                <a:solidFill>
                  <a:srgbClr val="113927"/>
                </a:solidFill>
                <a:latin typeface="Outfit"/>
              </a:defRPr>
            </a:pPr>
            <a:r>
              <a:t>PUNTO B · RECESIÓN SEVERA</a:t>
            </a:r>
          </a:p>
          <a:p>
            <a:pPr>
              <a:spcAft>
                <a:spcPts val="1400"/>
              </a:spcAft>
              <a:defRPr sz="1200" b="1">
                <a:solidFill>
                  <a:srgbClr val="E98F71"/>
                </a:solidFill>
                <a:latin typeface="Outfit"/>
              </a:defRPr>
            </a:pPr>
            <a:r>
              <a:t>Bajo la Bisectriz (u &gt; v)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La tasa de desempleo supera ampliamente a la de vacantes ofertadas.</a:t>
            </a:r>
            <a:br/>
            <a:br/>
            <a:r>
              <a:t>Existe un fuerte componente de desempleo involuntario keynesiano por insuficiencia de demanda agregada.</a:t>
            </a:r>
            <a:br/>
            <a:br/>
            <a:r>
              <a:t>Requiere políticas macroeconómicas y estabilizadores.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645920"/>
            <a:ext cx="3611880" cy="438912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DC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rtlCol="0" anchor="ctr"/>
          <a:lstStyle/>
          <a:p>
            <a:pPr algn="ctr">
              <a:spcAft>
                <a:spcPts val="400"/>
              </a:spcAft>
              <a:defRPr sz="1500" b="1">
                <a:solidFill>
                  <a:srgbClr val="113927"/>
                </a:solidFill>
                <a:latin typeface="Outfit"/>
              </a:defRPr>
            </a:pPr>
            <a:r>
              <a:t>PUNTO C · SOBRECALENTAMIENTO</a:t>
            </a:r>
          </a:p>
          <a:p>
            <a:pPr>
              <a:spcAft>
                <a:spcPts val="1400"/>
              </a:spcAft>
              <a:defRPr sz="1200" b="1">
                <a:solidFill>
                  <a:srgbClr val="E98F71"/>
                </a:solidFill>
                <a:latin typeface="Outfit"/>
              </a:defRPr>
            </a:pPr>
            <a:r>
              <a:t>Sobre la Bisectriz (u &lt; v)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La tasa de vacantes supera al desempleo disponible en la economía.</a:t>
            </a:r>
            <a:br/>
            <a:br/>
            <a:r>
              <a:t>Tensión crítica (θ &gt;&gt; 1): las empresas no encuentran mano de obra.</a:t>
            </a:r>
            <a:br/>
            <a:br/>
            <a:r>
              <a:t>Riesgo de presiones salariales inflacionistas según la Curva de Phillips aceleracionista.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0D231-1922-E95E-EF0B-90A9AADB6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9DD111-46D1-34C2-D78D-B93F65FBBF94}"/>
              </a:ext>
            </a:extLst>
          </p:cNvPr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98F71"/>
                </a:solidFill>
                <a:latin typeface="Outfit"/>
              </a:defRPr>
            </a:pPr>
            <a:r>
              <a:t>BLOQUE 3.5 · EVIDENCIA EMPÍRICA (AMPLIACIÓN L1)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9FEF47-986B-EF7A-FE2A-55CD1796EC5E}"/>
              </a:ext>
            </a:extLst>
          </p:cNvPr>
          <p:cNvSpPr txBox="1"/>
          <p:nvPr/>
        </p:nvSpPr>
        <p:spPr>
          <a:xfrm>
            <a:off x="548640" y="621792"/>
            <a:ext cx="96012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3927"/>
                </a:solidFill>
                <a:latin typeface="Outfit"/>
              </a:defRPr>
            </a:pPr>
            <a:r>
              <a:t>La Curva de Beveridge en España (1980–2024)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082E67-CA71-AC8C-22A6-9C7407091F2F}"/>
              </a:ext>
            </a:extLst>
          </p:cNvPr>
          <p:cNvSpPr txBox="1"/>
          <p:nvPr/>
        </p:nvSpPr>
        <p:spPr>
          <a:xfrm>
            <a:off x="548640" y="1097280"/>
            <a:ext cx="9601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76927A"/>
                </a:solidFill>
                <a:latin typeface="Calibri"/>
              </a:defRPr>
            </a:pPr>
            <a:r>
              <a:t>Figura 1.9 oficial de los apuntes: análisis de las tres fases históricas macroeconómicas</a:t>
            </a:r>
          </a:p>
        </p:txBody>
      </p:sp>
      <p:pic>
        <p:nvPicPr>
          <p:cNvPr id="5" name="Picture 4" descr="psll_lockup.png">
            <a:extLst>
              <a:ext uri="{FF2B5EF4-FFF2-40B4-BE49-F238E27FC236}">
                <a16:creationId xmlns:a16="http://schemas.microsoft.com/office/drawing/2014/main" id="{15905136-84FC-0632-C482-ADDAB6C37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365760"/>
            <a:ext cx="1158544" cy="3657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0158CF-245D-A1B5-6D95-8F8BF787EE5C}"/>
              </a:ext>
            </a:extLst>
          </p:cNvPr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6927A"/>
                </a:solidFill>
                <a:latin typeface="Calibri"/>
              </a:defRPr>
            </a:pPr>
            <a:r>
              <a:t>Políticas Sociolaborales y de Empleo · Grado en RRLL y RRHH / Doble Grado DER-RRLL · UPO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C307A8-0AA8-FD96-2643-6DCD8503FB92}"/>
              </a:ext>
            </a:extLst>
          </p:cNvPr>
          <p:cNvSpPr txBox="1"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76927A"/>
                </a:solidFill>
                <a:latin typeface="Calibri"/>
              </a:defRPr>
            </a:pPr>
            <a:r>
              <a:t>11 / 17</a:t>
            </a:r>
          </a:p>
        </p:txBody>
      </p:sp>
      <p:pic>
        <p:nvPicPr>
          <p:cNvPr id="8" name="Picture 7" descr="curva_beveridge_dual.png">
            <a:extLst>
              <a:ext uri="{FF2B5EF4-FFF2-40B4-BE49-F238E27FC236}">
                <a16:creationId xmlns:a16="http://schemas.microsoft.com/office/drawing/2014/main" id="{B04A6A34-94D0-0637-4A09-5732DC8D2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6217920" cy="4389120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D1A21B5-1FD5-580B-93DB-3A3EDE87EDCD}"/>
              </a:ext>
            </a:extLst>
          </p:cNvPr>
          <p:cNvSpPr/>
          <p:nvPr/>
        </p:nvSpPr>
        <p:spPr>
          <a:xfrm>
            <a:off x="6949440" y="1645920"/>
            <a:ext cx="46634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69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spcAft>
                <a:spcPts val="1000"/>
              </a:spcAft>
              <a:defRPr sz="1500" b="1">
                <a:solidFill>
                  <a:srgbClr val="113927"/>
                </a:solidFill>
                <a:latin typeface="Outfit"/>
              </a:defRPr>
            </a:pPr>
            <a:r>
              <a:t>TRES FASES HISTÓRICAS (PANEL B)</a:t>
            </a:r>
          </a:p>
          <a:p>
            <a:pPr>
              <a:defRPr sz="1500">
                <a:solidFill>
                  <a:srgbClr val="2F3A30"/>
                </a:solidFill>
                <a:latin typeface="Calibri"/>
              </a:defRPr>
            </a:pPr>
            <a:r>
              <a:t>1. Fase 1 (1980–2007 · Pre-Crisis):</a:t>
            </a:r>
            <a:br/>
            <a:r>
              <a:t>Curva relativamente estable y próxima al origen, anclada en el Punto A. Funcionamiento eficiente.</a:t>
            </a:r>
            <a:br/>
            <a:br/>
            <a:r>
              <a:t>2. Fase 2 (2008–2013 · Gran Recesión):</a:t>
            </a:r>
            <a:br/>
            <a:r>
              <a:t>Desplazamiento masivo a la derecha (+5 p.p. de paro estructural). El shock del ladrillo dejó a cientos de miles de peones sin encaje directo en otros sectores.</a:t>
            </a:r>
            <a:br/>
            <a:br/>
            <a:r>
              <a:t>3. Fase 3 (2014–2024 · Recuperación Parcial):</a:t>
            </a:r>
            <a:br/>
            <a:r>
              <a:t>Retorno de ~3/4 del desplazamiento tras la reforma laboral de 2012. En 2024, récord histórico de vacantes (0,75%-0,90%) con paro rígido en 11,3%.</a:t>
            </a:r>
          </a:p>
        </p:txBody>
      </p:sp>
    </p:spTree>
    <p:extLst>
      <p:ext uri="{BB962C8B-B14F-4D97-AF65-F5344CB8AC3E}">
        <p14:creationId xmlns:p14="http://schemas.microsoft.com/office/powerpoint/2010/main" val="34554518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98F71"/>
                </a:solidFill>
                <a:latin typeface="Outfit"/>
              </a:defRPr>
            </a:pPr>
            <a:r>
              <a:t>BLOQUE 3.5 · CUANTIFICACIÓN ANALÍTICA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96012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3927"/>
                </a:solidFill>
                <a:latin typeface="Outfit"/>
              </a:defRPr>
            </a:pPr>
            <a:r>
              <a:t>El Coste Macroeconómico de la Ineficiencia Laboral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601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76927A"/>
                </a:solidFill>
                <a:latin typeface="Calibri"/>
              </a:defRPr>
            </a:pPr>
            <a:r>
              <a:t>Resultados del modelo dinámico de equilibrio general (DGEM) · FEDEA / Nada es Gratis</a:t>
            </a:r>
          </a:p>
        </p:txBody>
      </p:sp>
      <p:pic>
        <p:nvPicPr>
          <p:cNvPr id="5" name="Picture 4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365760"/>
            <a:ext cx="1158544" cy="365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6927A"/>
                </a:solidFill>
                <a:latin typeface="Calibri"/>
              </a:defRPr>
            </a:pPr>
            <a:r>
              <a:t>Políticas Sociolaborales y de Empleo · Grado en RRLL y RRHH / Doble Grado DER-RRLL · UPO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76927A"/>
                </a:solidFill>
                <a:latin typeface="Calibri"/>
              </a:defRPr>
            </a:pPr>
            <a:r>
              <a:t>12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5394960" cy="438912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DC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113927"/>
                </a:solidFill>
                <a:latin typeface="Outfit"/>
              </a:defRPr>
            </a:pPr>
            <a:r>
              <a:t>1. CUANTIFICACIÓN DEL IMPACTO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• Impacto sobre el Empleo:</a:t>
            </a:r>
            <a:br/>
            <a:r>
              <a:t>La caída en la eficiencia de emparejamiento (A) explica hasta el 31% de la destrucción total de puestos de trabajo durante la crisis.</a:t>
            </a:r>
            <a:br/>
            <a:br/>
            <a:r>
              <a:t>• Impacto sobre el PIB:</a:t>
            </a:r>
            <a:br/>
            <a:r>
              <a:t>El colapso en A explica el 55% de la disminución del Producto Interior Bruto en el punto más crítico de la recesión.</a:t>
            </a:r>
            <a:br/>
            <a:br/>
            <a:r>
              <a:t>• Horas Trabajadas: El modelo explica el aumento anómalo de horas medias trabajadas por empleado durante la crisis.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3949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69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113927"/>
                </a:solidFill>
                <a:latin typeface="Outfit"/>
              </a:defRPr>
            </a:pPr>
            <a:r>
              <a:rPr dirty="0"/>
              <a:t>2. LECCIÓN CLAVE DE POLÍTICA PÚBLICA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rPr dirty="0"/>
              <a:t>• El Error del </a:t>
            </a:r>
            <a:r>
              <a:rPr dirty="0" err="1"/>
              <a:t>Diagnóstico</a:t>
            </a:r>
            <a:r>
              <a:rPr dirty="0"/>
              <a:t> </a:t>
            </a:r>
            <a:r>
              <a:rPr dirty="0" err="1"/>
              <a:t>Exclusivo</a:t>
            </a:r>
            <a:r>
              <a:rPr dirty="0"/>
              <a:t>:</a:t>
            </a:r>
            <a:br>
              <a:rPr dirty="0"/>
            </a:br>
            <a:r>
              <a:rPr dirty="0" err="1"/>
              <a:t>Tradicionalmente</a:t>
            </a:r>
            <a:r>
              <a:rPr dirty="0"/>
              <a:t> se </a:t>
            </a:r>
            <a:r>
              <a:rPr dirty="0" err="1"/>
              <a:t>atribuyó</a:t>
            </a:r>
            <a:r>
              <a:rPr dirty="0"/>
              <a:t> la crisis </a:t>
            </a:r>
            <a:r>
              <a:rPr dirty="0" err="1"/>
              <a:t>laboral</a:t>
            </a:r>
            <a:r>
              <a:rPr dirty="0"/>
              <a:t> </a:t>
            </a:r>
            <a:r>
              <a:rPr dirty="0" err="1"/>
              <a:t>española</a:t>
            </a:r>
            <a:r>
              <a:rPr dirty="0"/>
              <a:t> solo a la </a:t>
            </a:r>
            <a:r>
              <a:rPr dirty="0" err="1"/>
              <a:t>rigidez</a:t>
            </a:r>
            <a:r>
              <a:rPr dirty="0"/>
              <a:t> de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costes</a:t>
            </a:r>
            <a:r>
              <a:rPr dirty="0"/>
              <a:t> de </a:t>
            </a:r>
            <a:r>
              <a:rPr dirty="0" err="1"/>
              <a:t>despido</a:t>
            </a:r>
            <a:r>
              <a:rPr dirty="0"/>
              <a:t> o a la </a:t>
            </a:r>
            <a:r>
              <a:rPr dirty="0" err="1"/>
              <a:t>negociación</a:t>
            </a:r>
            <a:r>
              <a:rPr dirty="0"/>
              <a:t> </a:t>
            </a:r>
            <a:r>
              <a:rPr dirty="0" err="1"/>
              <a:t>colectiva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dirty="0"/>
              <a:t>• La </a:t>
            </a:r>
            <a:r>
              <a:rPr dirty="0" err="1"/>
              <a:t>Importancia</a:t>
            </a:r>
            <a:r>
              <a:rPr dirty="0"/>
              <a:t> de la </a:t>
            </a:r>
            <a:r>
              <a:rPr dirty="0" err="1"/>
              <a:t>Intermediación</a:t>
            </a:r>
            <a:r>
              <a:rPr dirty="0"/>
              <a:t>:</a:t>
            </a:r>
            <a:br>
              <a:rPr dirty="0"/>
            </a:br>
            <a:r>
              <a:rPr lang="es-ES" dirty="0"/>
              <a:t>Un</a:t>
            </a:r>
            <a:r>
              <a:rPr dirty="0"/>
              <a:t> </a:t>
            </a:r>
            <a:r>
              <a:rPr dirty="0" err="1"/>
              <a:t>estudio</a:t>
            </a:r>
            <a:r>
              <a:rPr dirty="0"/>
              <a:t> </a:t>
            </a:r>
            <a:r>
              <a:rPr dirty="0" err="1"/>
              <a:t>demostró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la </a:t>
            </a:r>
            <a:r>
              <a:rPr dirty="0" err="1"/>
              <a:t>ineficiencia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las </a:t>
            </a:r>
            <a:r>
              <a:rPr dirty="0" err="1"/>
              <a:t>políticas</a:t>
            </a:r>
            <a:r>
              <a:rPr dirty="0"/>
              <a:t> </a:t>
            </a:r>
            <a:r>
              <a:rPr dirty="0" err="1"/>
              <a:t>activas</a:t>
            </a:r>
            <a:r>
              <a:rPr dirty="0"/>
              <a:t> y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servicios</a:t>
            </a:r>
            <a:r>
              <a:rPr dirty="0"/>
              <a:t> </a:t>
            </a:r>
            <a:r>
              <a:rPr dirty="0" err="1"/>
              <a:t>públicos</a:t>
            </a:r>
            <a:r>
              <a:rPr dirty="0"/>
              <a:t> de </a:t>
            </a:r>
            <a:r>
              <a:rPr dirty="0" err="1"/>
              <a:t>empleo</a:t>
            </a:r>
            <a:r>
              <a:rPr dirty="0"/>
              <a:t> (SAE/SEPE) </a:t>
            </a:r>
            <a:r>
              <a:rPr dirty="0" err="1"/>
              <a:t>multiplicó</a:t>
            </a:r>
            <a:r>
              <a:rPr dirty="0"/>
              <a:t> la </a:t>
            </a:r>
            <a:r>
              <a:rPr dirty="0" err="1"/>
              <a:t>recesión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dirty="0"/>
              <a:t>• </a:t>
            </a:r>
            <a:r>
              <a:rPr dirty="0" err="1"/>
              <a:t>Desafío</a:t>
            </a:r>
            <a:r>
              <a:rPr dirty="0"/>
              <a:t> </a:t>
            </a:r>
            <a:r>
              <a:rPr dirty="0" err="1"/>
              <a:t>Inmediato</a:t>
            </a:r>
            <a:r>
              <a:rPr dirty="0"/>
              <a:t>: </a:t>
            </a:r>
            <a:r>
              <a:rPr dirty="0" err="1"/>
              <a:t>Reducir</a:t>
            </a:r>
            <a:r>
              <a:rPr dirty="0"/>
              <a:t> la </a:t>
            </a:r>
            <a:r>
              <a:rPr dirty="0" err="1"/>
              <a:t>volatilidad</a:t>
            </a:r>
            <a:r>
              <a:rPr dirty="0"/>
              <a:t> </a:t>
            </a:r>
            <a:r>
              <a:rPr dirty="0" err="1"/>
              <a:t>estructural</a:t>
            </a:r>
            <a:r>
              <a:rPr dirty="0"/>
              <a:t> </a:t>
            </a:r>
            <a:r>
              <a:rPr dirty="0" err="1"/>
              <a:t>conectando</a:t>
            </a:r>
            <a:r>
              <a:rPr dirty="0"/>
              <a:t> </a:t>
            </a:r>
            <a:r>
              <a:rPr dirty="0" err="1"/>
              <a:t>educación</a:t>
            </a:r>
            <a:r>
              <a:rPr dirty="0"/>
              <a:t> y </a:t>
            </a:r>
            <a:r>
              <a:rPr dirty="0" err="1"/>
              <a:t>empresa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98F71"/>
                </a:solidFill>
                <a:latin typeface="Outfit"/>
              </a:defRPr>
            </a:pPr>
            <a:r>
              <a:t>BLOQUE 4 · AUDITORÍA DE POLÍTICAS PÚBLICAS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96012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3927"/>
                </a:solidFill>
                <a:latin typeface="Outfit"/>
              </a:defRPr>
            </a:pPr>
            <a:r>
              <a:t>El Programa Emplea-T y las Políticas Activas (PAE)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601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76927A"/>
                </a:solidFill>
                <a:latin typeface="Calibri"/>
              </a:defRPr>
            </a:pPr>
            <a:r>
              <a:t>Conexión directa con el Caso 1 de EPD: auditoría de la Orden de 3 de octubre de 2024</a:t>
            </a:r>
          </a:p>
        </p:txBody>
      </p:sp>
      <p:pic>
        <p:nvPicPr>
          <p:cNvPr id="5" name="Picture 4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365760"/>
            <a:ext cx="1158544" cy="365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6927A"/>
                </a:solidFill>
                <a:latin typeface="Calibri"/>
              </a:defRPr>
            </a:pPr>
            <a:r>
              <a:t>Políticas Sociolaborales y de Empleo · Grado en RRLL y RRHH / Doble Grado DER-RRLL · UPO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76927A"/>
                </a:solidFill>
                <a:latin typeface="Calibri"/>
              </a:defRPr>
            </a:pPr>
            <a:r>
              <a:t>14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53949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113927"/>
                </a:solidFill>
                <a:latin typeface="Outfit"/>
              </a:defRPr>
            </a:pPr>
            <a:r>
              <a:t>1. EL RETO DEL PESO MUERTO (DEADWEIGHT)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• Definición Económica: Subvencionar contrataciones que la empresa privada habría realizado de todos modos según su operativa habitual.</a:t>
            </a:r>
            <a:br/>
            <a:br/>
            <a:r>
              <a:t>• Impacto Presupuestario: El dinero público se transfiere como renta a la empresa sin generar empleo neto adicional, disparando el coste efectivo por parado rescatado.</a:t>
            </a:r>
            <a:br/>
            <a:br/>
            <a:r>
              <a:t>• En Beveridge: No desplaza la curva hacia el origen; simplemente financia contrataciones que ya estaban previstas.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394960" cy="438912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769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113927"/>
                </a:solidFill>
                <a:latin typeface="Outfit"/>
              </a:defRPr>
            </a:pPr>
            <a:r>
              <a:rPr dirty="0"/>
              <a:t>2. CLÁUSULA ANTI-SUSTITUCIÓN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rPr dirty="0"/>
              <a:t>• El Riesgo de </a:t>
            </a:r>
            <a:r>
              <a:rPr dirty="0" err="1"/>
              <a:t>Sustitución</a:t>
            </a:r>
            <a:r>
              <a:rPr dirty="0"/>
              <a:t>: </a:t>
            </a:r>
            <a:r>
              <a:rPr dirty="0" err="1"/>
              <a:t>Despedir</a:t>
            </a:r>
            <a:r>
              <a:rPr dirty="0"/>
              <a:t> o no </a:t>
            </a:r>
            <a:r>
              <a:rPr dirty="0" err="1"/>
              <a:t>renovar</a:t>
            </a:r>
            <a:r>
              <a:rPr dirty="0"/>
              <a:t> a un </a:t>
            </a:r>
            <a:r>
              <a:rPr dirty="0" err="1"/>
              <a:t>trabajador</a:t>
            </a:r>
            <a:r>
              <a:rPr dirty="0"/>
              <a:t> </a:t>
            </a:r>
            <a:r>
              <a:rPr dirty="0" err="1"/>
              <a:t>veterano</a:t>
            </a:r>
            <a:r>
              <a:rPr dirty="0"/>
              <a:t> para </a:t>
            </a:r>
            <a:r>
              <a:rPr dirty="0" err="1"/>
              <a:t>contratar</a:t>
            </a:r>
            <a:r>
              <a:rPr dirty="0"/>
              <a:t> a un </a:t>
            </a:r>
            <a:r>
              <a:rPr dirty="0" err="1"/>
              <a:t>parado</a:t>
            </a:r>
            <a:r>
              <a:rPr dirty="0"/>
              <a:t> </a:t>
            </a:r>
            <a:r>
              <a:rPr dirty="0" err="1"/>
              <a:t>subvencionado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la Junta.</a:t>
            </a:r>
            <a:br>
              <a:rPr dirty="0"/>
            </a:br>
            <a:br>
              <a:rPr dirty="0"/>
            </a:br>
            <a:r>
              <a:rPr dirty="0"/>
              <a:t>• </a:t>
            </a:r>
            <a:r>
              <a:rPr dirty="0" err="1"/>
              <a:t>Solución</a:t>
            </a:r>
            <a:r>
              <a:rPr dirty="0"/>
              <a:t> Técnica de la Orden </a:t>
            </a:r>
            <a:r>
              <a:rPr dirty="0" err="1"/>
              <a:t>Emplea</a:t>
            </a:r>
            <a:r>
              <a:rPr dirty="0"/>
              <a:t>-T:</a:t>
            </a:r>
            <a:br>
              <a:rPr dirty="0"/>
            </a:br>
            <a:r>
              <a:rPr dirty="0"/>
              <a:t>  - </a:t>
            </a:r>
            <a:r>
              <a:rPr dirty="0" err="1"/>
              <a:t>Exigir</a:t>
            </a:r>
            <a:r>
              <a:rPr dirty="0"/>
              <a:t> </a:t>
            </a:r>
            <a:r>
              <a:rPr dirty="0" err="1"/>
              <a:t>incremento</a:t>
            </a:r>
            <a:r>
              <a:rPr dirty="0"/>
              <a:t> </a:t>
            </a:r>
            <a:r>
              <a:rPr dirty="0" err="1"/>
              <a:t>neto</a:t>
            </a:r>
            <a:r>
              <a:rPr dirty="0"/>
              <a:t> de la </a:t>
            </a:r>
            <a:r>
              <a:rPr dirty="0" err="1"/>
              <a:t>plantilla</a:t>
            </a:r>
            <a:r>
              <a:rPr dirty="0"/>
              <a:t> media de </a:t>
            </a:r>
            <a:r>
              <a:rPr dirty="0" err="1"/>
              <a:t>los</a:t>
            </a:r>
            <a:r>
              <a:rPr dirty="0"/>
              <a:t> 12 meses </a:t>
            </a:r>
            <a:r>
              <a:rPr dirty="0" err="1"/>
              <a:t>anteriores</a:t>
            </a:r>
            <a:r>
              <a:rPr dirty="0"/>
              <a:t>.</a:t>
            </a:r>
            <a:br>
              <a:rPr dirty="0"/>
            </a:br>
            <a:r>
              <a:rPr dirty="0"/>
              <a:t>  - </a:t>
            </a:r>
            <a:r>
              <a:rPr dirty="0" err="1"/>
              <a:t>Compromiso</a:t>
            </a:r>
            <a:r>
              <a:rPr dirty="0"/>
              <a:t> de </a:t>
            </a:r>
            <a:r>
              <a:rPr dirty="0" err="1"/>
              <a:t>mantenimiento</a:t>
            </a:r>
            <a:r>
              <a:rPr dirty="0"/>
              <a:t> del </a:t>
            </a:r>
            <a:r>
              <a:rPr dirty="0" err="1"/>
              <a:t>puesto</a:t>
            </a:r>
            <a:r>
              <a:rPr dirty="0"/>
              <a:t> </a:t>
            </a:r>
            <a:r>
              <a:rPr dirty="0" err="1"/>
              <a:t>subvencionado</a:t>
            </a:r>
            <a:r>
              <a:rPr dirty="0"/>
              <a:t> </a:t>
            </a:r>
            <a:r>
              <a:rPr dirty="0" err="1"/>
              <a:t>durante</a:t>
            </a:r>
            <a:r>
              <a:rPr dirty="0"/>
              <a:t> al </a:t>
            </a:r>
            <a:r>
              <a:rPr dirty="0" err="1"/>
              <a:t>menos</a:t>
            </a:r>
            <a:r>
              <a:rPr dirty="0"/>
              <a:t> 12 o 24 meses.</a:t>
            </a:r>
            <a:br>
              <a:rPr dirty="0"/>
            </a:b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98F71"/>
                </a:solidFill>
                <a:latin typeface="Outfit"/>
              </a:defRPr>
            </a:pPr>
            <a:r>
              <a:t>SÍNTESIS Y CIERRE DE TEMA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96012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3927"/>
                </a:solidFill>
                <a:latin typeface="Outfit"/>
              </a:defRPr>
            </a:pPr>
            <a:r>
              <a:t>Las Tres Conclusiones Imborrables de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601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76927A"/>
                </a:solidFill>
                <a:latin typeface="Calibri"/>
              </a:defRPr>
            </a:pPr>
            <a:r>
              <a:t>Resumen macroeconómico y puente hacia las sesiones prácticas de EPD</a:t>
            </a:r>
          </a:p>
        </p:txBody>
      </p:sp>
      <p:pic>
        <p:nvPicPr>
          <p:cNvPr id="5" name="Picture 4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365760"/>
            <a:ext cx="1158544" cy="365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6927A"/>
                </a:solidFill>
                <a:latin typeface="Calibri"/>
              </a:defRPr>
            </a:pPr>
            <a:r>
              <a:t>Políticas Sociolaborales y de Empleo · Grado en RRLL y RRHH / Doble Grado DER-RRLL · UPO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76927A"/>
                </a:solidFill>
                <a:latin typeface="Calibri"/>
              </a:defRPr>
            </a:pPr>
            <a:r>
              <a:t>15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11091672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228600" rtlCol="0" anchor="ctr"/>
          <a:lstStyle/>
          <a:p>
            <a:pPr algn="ctr">
              <a:spcAft>
                <a:spcPts val="400"/>
              </a:spcAft>
              <a:defRPr sz="1500" b="1">
                <a:solidFill>
                  <a:srgbClr val="113927"/>
                </a:solidFill>
                <a:latin typeface="Outfit"/>
              </a:defRPr>
            </a:pPr>
            <a:r>
              <a:t>1. EL DESEMPLEO ES UN BALANCE DINÁMICO DE FLUJOS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La tasa natural estacionaria u* = s / (s + f) demuestra que el desempleo no es una masa estática. Las políticas públicas deben actuar simultáneamente sobre la estabilidad en el empleo (reducir s) y sobre la eficacia de la intermediación y recolocación (aumentar f).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54680"/>
            <a:ext cx="11091672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228600" rtlCol="0" anchor="ctr"/>
          <a:lstStyle/>
          <a:p>
            <a:pPr algn="ctr">
              <a:spcAft>
                <a:spcPts val="400"/>
              </a:spcAft>
              <a:defRPr sz="1500" b="1">
                <a:solidFill>
                  <a:srgbClr val="113927"/>
                </a:solidFill>
                <a:latin typeface="Outfit"/>
              </a:defRPr>
            </a:pPr>
            <a:r>
              <a:t>2. BEVERIDGE DIFERENCIA EL CICLO DE LA ESTRUCTURA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Un shock de demanda mueve la economía a lo largo de la curva de Beveridge (recesión keynesiana). Un desajuste de habilidades o ineficiencia institucional desplaza la curva entera hacia afuera. El gasto de demanda generalizado ante desajustes solo produce inflación.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663440"/>
            <a:ext cx="11091672" cy="132588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E9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228600" rtlCol="0" anchor="ctr"/>
          <a:lstStyle/>
          <a:p>
            <a:pPr algn="ctr">
              <a:spcAft>
                <a:spcPts val="400"/>
              </a:spcAft>
              <a:defRPr sz="1500" b="1">
                <a:solidFill>
                  <a:srgbClr val="113927"/>
                </a:solidFill>
                <a:latin typeface="Outfit"/>
              </a:defRPr>
            </a:pPr>
            <a:r>
              <a:t>3. PRÓXIMA PARADA: CASO 1 EN EPD Y TEMA 2 (POLÍTICAS ACTIVAS)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Concluimos formalmente el Tema 1. En la Semana 5 arrancan las prácticas EPD en el aula de informática, donde vuestro equipo auditará los microdatos reales del Programa Emplea-T aplicando todo el instrumental analítico aprendido.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98F71"/>
                </a:solidFill>
                <a:latin typeface="Outfit"/>
              </a:defRPr>
            </a:pPr>
            <a:r>
              <a:t>BLOQUE 5 · RETO INDIVIDUAL DE CIERRE (10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96012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3927"/>
                </a:solidFill>
                <a:latin typeface="Outfit"/>
              </a:defRPr>
            </a:pPr>
            <a:r>
              <a:t>Reto Manuscrito Anti-IA en Papel: Beveridge y Flujos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601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76927A"/>
                </a:solidFill>
                <a:latin typeface="Calibri"/>
              </a:defRPr>
            </a:pPr>
            <a:r>
              <a:t>Redacción individual de puño y letra en cuartilla de papel en entorno libre de pantallas</a:t>
            </a:r>
          </a:p>
        </p:txBody>
      </p:sp>
      <p:pic>
        <p:nvPicPr>
          <p:cNvPr id="5" name="Picture 4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365760"/>
            <a:ext cx="1158544" cy="365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6927A"/>
                </a:solidFill>
                <a:latin typeface="Calibri"/>
              </a:defRPr>
            </a:pPr>
            <a:r>
              <a:t>Políticas Sociolaborales y de Empleo · Grado en RRLL y RRHH / Doble Grado DER-RRLL · UPO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76927A"/>
                </a:solidFill>
                <a:latin typeface="Calibri"/>
              </a:defRPr>
            </a:pPr>
            <a:r>
              <a:t>16 / 17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7"/>
              <p:cNvSpPr/>
              <p:nvPr/>
            </p:nvSpPr>
            <p:spPr>
              <a:xfrm>
                <a:off x="548639" y="1645920"/>
                <a:ext cx="10761617" cy="4389120"/>
              </a:xfrm>
              <a:prstGeom prst="roundRect">
                <a:avLst/>
              </a:prstGeom>
              <a:solidFill>
                <a:srgbClr val="FFFFFF"/>
              </a:solidFill>
              <a:ln w="19050">
                <a:solidFill>
                  <a:srgbClr val="DCE5D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228600" tIns="201168" rIns="228600" rtlCol="0" anchor="ctr"/>
              <a:lstStyle/>
              <a:p>
                <a:pPr>
                  <a:defRPr sz="1600">
                    <a:solidFill>
                      <a:srgbClr val="2F3A30"/>
                    </a:solidFill>
                    <a:latin typeface="Calibri"/>
                  </a:defRPr>
                </a:pPr>
                <a:r>
                  <a:rPr sz="2400" dirty="0"/>
                  <a:t>A </a:t>
                </a:r>
                <a:r>
                  <a:rPr sz="2400" dirty="0" err="1"/>
                  <a:t>partir</a:t>
                </a:r>
                <a:r>
                  <a:rPr sz="2400" dirty="0"/>
                  <a:t> de la </a:t>
                </a:r>
                <a:r>
                  <a:rPr sz="2400" dirty="0" err="1"/>
                  <a:t>condición</a:t>
                </a:r>
                <a:r>
                  <a:rPr sz="2400" dirty="0"/>
                  <a:t> de </a:t>
                </a:r>
                <a:r>
                  <a:rPr sz="2400" dirty="0" err="1"/>
                  <a:t>flujo</a:t>
                </a:r>
                <a:r>
                  <a:rPr sz="2400" dirty="0"/>
                  <a:t> </a:t>
                </a:r>
                <a:r>
                  <a:rPr sz="2400" dirty="0" err="1"/>
                  <a:t>estacionario</a:t>
                </a:r>
                <a:r>
                  <a:rPr sz="2400" dirty="0"/>
                  <a:t> y la </a:t>
                </a:r>
                <a:r>
                  <a:rPr sz="2400" dirty="0" err="1"/>
                  <a:t>función</a:t>
                </a:r>
                <a:r>
                  <a:rPr sz="2400" dirty="0"/>
                  <a:t> de </a:t>
                </a:r>
                <a:r>
                  <a:rPr sz="2400" dirty="0" err="1"/>
                  <a:t>emparejamiento</a:t>
                </a:r>
                <a:r>
                  <a:rPr sz="2400" dirty="0"/>
                  <a:t> </a:t>
                </a:r>
                <a:br>
                  <a:rPr lang="es-ES" sz="2400" i="1" dirty="0">
                    <a:latin typeface="Cambria Math" panose="02040503050406030204" pitchFamily="18" charset="0"/>
                  </a:rPr>
                </a:br>
                <a:r>
                  <a:rPr sz="2400" dirty="0"/>
                  <a:t>a) </a:t>
                </a:r>
                <a:r>
                  <a:rPr lang="es-ES" sz="2400" dirty="0"/>
                  <a:t>Explique qué significa la expresión </a:t>
                </a:r>
                <a:r>
                  <a:rPr sz="2400" dirty="0"/>
                  <a:t>u* = s / (s + f) y </a:t>
                </a:r>
                <a:r>
                  <a:rPr sz="2400" dirty="0" err="1"/>
                  <a:t>defina</a:t>
                </a:r>
                <a:r>
                  <a:rPr sz="2400" dirty="0"/>
                  <a:t> con </a:t>
                </a:r>
                <a:r>
                  <a:rPr sz="2400" dirty="0" err="1"/>
                  <a:t>precisión</a:t>
                </a:r>
                <a:r>
                  <a:rPr sz="2400" dirty="0"/>
                  <a:t> </a:t>
                </a:r>
                <a:r>
                  <a:rPr lang="es-ES" sz="2400" dirty="0"/>
                  <a:t>qué nos cuentan</a:t>
                </a:r>
                <a:r>
                  <a:rPr sz="2400" dirty="0"/>
                  <a:t> s y f.</a:t>
                </a:r>
                <a:br>
                  <a:rPr sz="2400" dirty="0"/>
                </a:br>
                <a:br>
                  <a:rPr sz="2400" dirty="0"/>
                </a:br>
                <a:r>
                  <a:rPr sz="2400" dirty="0"/>
                  <a:t>b) </a:t>
                </a:r>
                <a:r>
                  <a:rPr sz="2400" dirty="0" err="1"/>
                  <a:t>Utilizando</a:t>
                </a:r>
                <a:r>
                  <a:rPr sz="2400" dirty="0"/>
                  <a:t> el </a:t>
                </a:r>
                <a:r>
                  <a:rPr sz="2400" dirty="0" err="1"/>
                  <a:t>marco</a:t>
                </a:r>
                <a:r>
                  <a:rPr sz="2400" dirty="0"/>
                  <a:t> de la Curva de Beveridge, </a:t>
                </a:r>
                <a:r>
                  <a:rPr sz="2400" dirty="0" err="1"/>
                  <a:t>distinga</a:t>
                </a:r>
                <a:r>
                  <a:rPr sz="2400" dirty="0"/>
                  <a:t> </a:t>
                </a:r>
                <a:r>
                  <a:rPr sz="2400" dirty="0" err="1"/>
                  <a:t>conceptualmente</a:t>
                </a:r>
                <a:r>
                  <a:rPr sz="2400" dirty="0"/>
                  <a:t> entre un </a:t>
                </a:r>
                <a:r>
                  <a:rPr sz="2400" dirty="0" err="1"/>
                  <a:t>movimiento</a:t>
                </a:r>
                <a:r>
                  <a:rPr sz="2400" dirty="0"/>
                  <a:t> a lo largo de la curva y un </a:t>
                </a:r>
                <a:r>
                  <a:rPr sz="2400" dirty="0" err="1"/>
                  <a:t>desplazamiento</a:t>
                </a:r>
                <a:r>
                  <a:rPr sz="2400" dirty="0"/>
                  <a:t> </a:t>
                </a:r>
                <a:r>
                  <a:rPr sz="2400" dirty="0" err="1"/>
                  <a:t>hacia</a:t>
                </a:r>
                <a:r>
                  <a:rPr sz="2400" dirty="0"/>
                  <a:t> el exterior, </a:t>
                </a:r>
                <a:r>
                  <a:rPr sz="2400" dirty="0" err="1"/>
                  <a:t>indicando</a:t>
                </a:r>
                <a:r>
                  <a:rPr sz="2400" dirty="0"/>
                  <a:t> </a:t>
                </a:r>
                <a:r>
                  <a:rPr sz="2400" dirty="0" err="1"/>
                  <a:t>qué</a:t>
                </a:r>
                <a:r>
                  <a:rPr sz="2400" dirty="0"/>
                  <a:t> variables </a:t>
                </a:r>
                <a:r>
                  <a:rPr sz="2400" dirty="0" err="1"/>
                  <a:t>provocan</a:t>
                </a:r>
                <a:r>
                  <a:rPr sz="2400" dirty="0"/>
                  <a:t> </a:t>
                </a:r>
                <a:r>
                  <a:rPr sz="2400" dirty="0" err="1"/>
                  <a:t>cada</a:t>
                </a:r>
                <a:r>
                  <a:rPr sz="2400" dirty="0"/>
                  <a:t> uno.</a:t>
                </a:r>
              </a:p>
            </p:txBody>
          </p:sp>
        </mc:Choice>
        <mc:Fallback xmlns="">
          <p:sp>
            <p:nvSpPr>
              <p:cNvPr id="8" name="Rounded 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39" y="1645920"/>
                <a:ext cx="10761617" cy="438912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DCE5DF"/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98F71"/>
                </a:solidFill>
                <a:latin typeface="Outfit"/>
              </a:defRPr>
            </a:pPr>
            <a:r>
              <a:t>BLOQUE 5 · SUBIDA FOTOGRÁFICA Y RÚBRICA (5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96012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3927"/>
                </a:solidFill>
                <a:latin typeface="Outfit"/>
              </a:defRPr>
            </a:pPr>
            <a:r>
              <a:t>Envío Digital Autenticado del Reto Manuscrito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601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76927A"/>
                </a:solidFill>
                <a:latin typeface="Calibri"/>
              </a:defRPr>
            </a:pPr>
            <a:r>
              <a:t>Fotografía y subida instantánea mediante código QR institucional UPO en Microsoft Forms</a:t>
            </a:r>
          </a:p>
        </p:txBody>
      </p:sp>
      <p:pic>
        <p:nvPicPr>
          <p:cNvPr id="5" name="Picture 4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365760"/>
            <a:ext cx="1158544" cy="365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6927A"/>
                </a:solidFill>
                <a:latin typeface="Calibri"/>
              </a:defRPr>
            </a:pPr>
            <a:r>
              <a:t>Políticas Sociolaborales y de Empleo · Grado en RRLL y RRHH / Doble Grado DER-RRLL · UPO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76927A"/>
                </a:solidFill>
                <a:latin typeface="Calibri"/>
              </a:defRPr>
            </a:pPr>
            <a:r>
              <a:t>17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6858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69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256032" rtlCol="0" anchor="ctr"/>
          <a:lstStyle/>
          <a:p>
            <a:pPr algn="ctr">
              <a:spcAft>
                <a:spcPts val="800"/>
              </a:spcAft>
              <a:defRPr sz="1200" b="1">
                <a:solidFill>
                  <a:srgbClr val="E98F71"/>
                </a:solidFill>
                <a:latin typeface="Outfit"/>
              </a:defRPr>
            </a:pPr>
            <a:r>
              <a:t>PASAPORTE DE EVALUACIÓN CONTINUA · PSLL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• Instrucciones de Entrega (2 minutos):</a:t>
            </a:r>
            <a:br/>
            <a:r>
              <a:t>  1. Desbloquea tu teléfono móvil y abre la cámara.</a:t>
            </a:r>
            <a:br/>
            <a:r>
              <a:t>  2. Escanea el código QR contiguo para acceder al formulario institucional.</a:t>
            </a:r>
            <a:br/>
            <a:r>
              <a:t>  3. Toma una fotografía nítida, iluminada y vertical de tu cuartilla manuscrita.</a:t>
            </a:r>
            <a:br/>
            <a:r>
              <a:t>  4. Sube la imagen autenticándote con tu cuenta oficial @alu.upo.es.</a:t>
            </a:r>
            <a:br/>
            <a:br/>
            <a:r>
              <a:t>• Gamificación / Beneficios de Evaluación:</a:t>
            </a:r>
            <a:br/>
            <a:r>
              <a:t>  - La entrega en tiempo y forma acumula puntos en tu Pasaporte Digital.</a:t>
            </a:r>
            <a:br/>
            <a:r>
              <a:t>  - Las calificaciones y soluciones canónicas estarán disponibles en el portal tras la corrección ciega.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645920"/>
            <a:ext cx="3931920" cy="438912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E9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01168" rIns="182880" rtlCol="0" anchor="ctr"/>
          <a:lstStyle/>
          <a:p>
            <a:pPr algn="ctr">
              <a:spcAft>
                <a:spcPts val="600"/>
              </a:spcAft>
              <a:defRPr sz="1100" b="1">
                <a:solidFill>
                  <a:srgbClr val="113927"/>
                </a:solidFill>
                <a:latin typeface="Outfit"/>
              </a:defRPr>
            </a:pPr>
            <a:r>
              <a:t>ESCANEA PARA SUBIR TU RETO</a:t>
            </a:r>
          </a:p>
          <a:p>
            <a:pPr algn="ctr">
              <a:spcAft>
                <a:spcPts val="1000"/>
              </a:spcAft>
              <a:defRPr sz="1500" b="1">
                <a:solidFill>
                  <a:srgbClr val="E98F71"/>
                </a:solidFill>
                <a:latin typeface="Outfit"/>
              </a:defRPr>
            </a:pPr>
            <a:r>
              <a:t>Microsoft Forms · Cuenta UPO</a:t>
            </a:r>
          </a:p>
        </p:txBody>
      </p:sp>
      <p:pic>
        <p:nvPicPr>
          <p:cNvPr id="10" name="Picture 9" descr="qr_reto_sesion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560320"/>
            <a:ext cx="2468880" cy="2468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0" y="5166360"/>
            <a:ext cx="37490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F3A30"/>
                </a:solidFill>
                <a:latin typeface="Calibri"/>
              </a:defRPr>
            </a:pPr>
            <a:r>
              <a:t>forms.office.com/e/PSLL-Reto-S05</a:t>
            </a:r>
            <a:br/>
            <a:r>
              <a:t>(Tiempo de subida: 2 min)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3392</Words>
  <Application>Microsoft Office PowerPoint</Application>
  <PresentationFormat>Panorámica</PresentationFormat>
  <Paragraphs>166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 Math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Manuel Alejandro Hidalgo Perez</cp:lastModifiedBy>
  <cp:revision>7</cp:revision>
  <dcterms:created xsi:type="dcterms:W3CDTF">2013-01-27T09:14:16Z</dcterms:created>
  <dcterms:modified xsi:type="dcterms:W3CDTF">2026-09-28T10:48:49Z</dcterms:modified>
  <cp:category/>
</cp:coreProperties>
</file>