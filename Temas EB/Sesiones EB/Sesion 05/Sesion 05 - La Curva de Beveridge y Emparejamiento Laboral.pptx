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2" r:id="rId22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39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go_psll_u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1744" y="502920"/>
            <a:ext cx="4389120" cy="23938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063240"/>
            <a:ext cx="103628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Outfit"/>
              </a:defRPr>
            </a:pPr>
            <a:r>
              <a:t>POLÍTICAS SOCIOLABORALES Y DE EMPLEO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57600"/>
            <a:ext cx="103628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700" b="1">
                <a:solidFill>
                  <a:srgbClr val="EDB090"/>
                </a:solidFill>
                <a:latin typeface="Outfit"/>
              </a:defRPr>
            </a:pPr>
            <a:r>
              <a:t>Sesión 5 – La Curva de Beveridge: Flujos, Emparejamiento y Cierre de Tema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6052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F3EFDC"/>
                </a:solidFill>
                <a:latin typeface="Calibri"/>
              </a:defRPr>
            </a:pPr>
            <a:r>
              <a:t>Lunes 28 / Martes 29 de septiembre de 2026  ·  Código 102023  ·  Manuel A. Hidalgo Pérez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upo_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126480"/>
            <a:ext cx="452628" cy="6400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88720" y="6263640"/>
            <a:ext cx="10332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F3A30"/>
                </a:solidFill>
                <a:latin typeface="Calibri"/>
              </a:defRPr>
            </a:pPr>
            <a:r>
              <a:t>Grado en Relaciones Laborales y Recursos Humanos · Doble Grado en Derecho y RRLL-RRHH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98F71"/>
                </a:solidFill>
                <a:latin typeface="Outfit"/>
              </a:defRPr>
            </a:pPr>
            <a:r>
              <a:t>ORGANIZACIÓN DOCENTE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960120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13927"/>
                </a:solidFill>
                <a:latin typeface="Outfit"/>
              </a:defRPr>
            </a:pPr>
            <a:r>
              <a:t>Estructura de la Sesión 5 (90 min / 120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96012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Modelo Pedagógico de Innovación en 5 Fases y Cierre Definitivo de Tema 1</a:t>
            </a:r>
          </a:p>
        </p:txBody>
      </p:sp>
      <p:pic>
        <p:nvPicPr>
          <p:cNvPr id="5" name="Picture 4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365760"/>
            <a:ext cx="1158544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Doble Grado DER-RRLL · UPO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76927A"/>
                </a:solidFill>
                <a:latin typeface="Calibri"/>
              </a:defRPr>
            </a:pPr>
            <a:r>
              <a:t>2 / 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45920"/>
            <a:ext cx="2651760" cy="4389120"/>
          </a:xfrm>
          <a:prstGeom prst="roundRect">
            <a:avLst/>
          </a:prstGeom>
          <a:solidFill>
            <a:srgbClr val="F4F8F5"/>
          </a:solidFill>
          <a:ln w="19050">
            <a:solidFill>
              <a:srgbClr val="DCE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28600" rIns="182880" rtlCol="0" anchor="ctr"/>
          <a:lstStyle/>
          <a:p>
            <a:pPr algn="ctr">
              <a:spcAft>
                <a:spcPts val="800"/>
              </a:spcAft>
              <a:defRPr sz="1300" b="1">
                <a:solidFill>
                  <a:srgbClr val="E98F71"/>
                </a:solidFill>
                <a:latin typeface="Outfit"/>
              </a:defRPr>
            </a:pPr>
            <a:r>
              <a:t>15 MIN</a:t>
            </a:r>
          </a:p>
          <a:p>
            <a:pPr>
              <a:spcAft>
                <a:spcPts val="1400"/>
              </a:spcAft>
              <a:defRPr sz="1800" b="1">
                <a:solidFill>
                  <a:srgbClr val="113927"/>
                </a:solidFill>
                <a:latin typeface="Outfit"/>
              </a:defRPr>
            </a:pPr>
            <a:r>
              <a:t>1. Noticia y Sondeo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Récord histórico de 155.000 vacantes y 2,6 M de parados en España.</a:t>
            </a:r>
            <a:br/>
            <a:br/>
            <a:r>
              <a:t>Microdatos EPA sobre la anatomía del desajuste: edad y nivel educativo en parados de larga duración.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64992" y="1645920"/>
            <a:ext cx="2651760" cy="4389120"/>
          </a:xfrm>
          <a:prstGeom prst="roundRect">
            <a:avLst/>
          </a:prstGeom>
          <a:solidFill>
            <a:srgbClr val="F4F8F5"/>
          </a:solidFill>
          <a:ln w="19050">
            <a:solidFill>
              <a:srgbClr val="DCE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28600" rIns="182880" rtlCol="0" anchor="ctr"/>
          <a:lstStyle/>
          <a:p>
            <a:pPr algn="ctr">
              <a:spcAft>
                <a:spcPts val="800"/>
              </a:spcAft>
              <a:defRPr sz="1300" b="1">
                <a:solidFill>
                  <a:srgbClr val="E98F71"/>
                </a:solidFill>
                <a:latin typeface="Outfit"/>
              </a:defRPr>
            </a:pPr>
            <a:r>
              <a:t>25 MIN</a:t>
            </a:r>
          </a:p>
          <a:p>
            <a:pPr>
              <a:spcAft>
                <a:spcPts val="1400"/>
              </a:spcAft>
              <a:defRPr sz="1800" b="1">
                <a:solidFill>
                  <a:srgbClr val="113927"/>
                </a:solidFill>
                <a:latin typeface="Outfit"/>
              </a:defRPr>
            </a:pPr>
            <a:r>
              <a:t>2. Dinámica de Flujos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El desempleo como balance dinámico: entradas (s) vs salidas (f).</a:t>
            </a:r>
            <a:br/>
            <a:br/>
            <a:r>
              <a:t>Formalización matemática de u* = s/(s+f) y la función de emparejamiento m = A·U^α·V^(1-α).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1344" y="1645920"/>
            <a:ext cx="2651760" cy="4389120"/>
          </a:xfrm>
          <a:prstGeom prst="roundRect">
            <a:avLst/>
          </a:prstGeom>
          <a:solidFill>
            <a:srgbClr val="F4F8F5"/>
          </a:solidFill>
          <a:ln w="19050">
            <a:solidFill>
              <a:srgbClr val="DCE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28600" rIns="182880" rtlCol="0" anchor="ctr"/>
          <a:lstStyle/>
          <a:p>
            <a:pPr algn="ctr">
              <a:spcAft>
                <a:spcPts val="800"/>
              </a:spcAft>
              <a:defRPr sz="1300" b="1">
                <a:solidFill>
                  <a:srgbClr val="E98F71"/>
                </a:solidFill>
                <a:latin typeface="Outfit"/>
              </a:defRPr>
            </a:pPr>
            <a:r>
              <a:t>30/60 MIN</a:t>
            </a:r>
          </a:p>
          <a:p>
            <a:pPr>
              <a:spcAft>
                <a:spcPts val="1400"/>
              </a:spcAft>
              <a:defRPr sz="1800" b="1">
                <a:solidFill>
                  <a:srgbClr val="113927"/>
                </a:solidFill>
                <a:latin typeface="Outfit"/>
              </a:defRPr>
            </a:pPr>
            <a:r>
              <a:t>3. Curva de Beveridge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Geometría UV: movimientos a lo largo (ciclo) vs desplazamientos de la curva (mismatch).</a:t>
            </a:r>
            <a:br/>
            <a:br/>
            <a:r>
              <a:t>Evidencia España 1980-2024: por qué la ineficiencia explicó 31% del empleo y 55% del PIB.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97696" y="1645920"/>
            <a:ext cx="2651760" cy="4389120"/>
          </a:xfrm>
          <a:prstGeom prst="roundRect">
            <a:avLst/>
          </a:prstGeom>
          <a:solidFill>
            <a:srgbClr val="F4F8F5"/>
          </a:solidFill>
          <a:ln w="19050">
            <a:solidFill>
              <a:srgbClr val="DCE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28600" rIns="182880" rtlCol="0" anchor="ctr"/>
          <a:lstStyle/>
          <a:p>
            <a:pPr algn="ctr">
              <a:spcAft>
                <a:spcPts val="800"/>
              </a:spcAft>
              <a:defRPr sz="1300" b="1">
                <a:solidFill>
                  <a:srgbClr val="E98F71"/>
                </a:solidFill>
                <a:latin typeface="Outfit"/>
              </a:defRPr>
            </a:pPr>
            <a:r>
              <a:t>20 MIN</a:t>
            </a:r>
          </a:p>
          <a:p>
            <a:pPr>
              <a:spcAft>
                <a:spcPts val="1400"/>
              </a:spcAft>
              <a:defRPr sz="1800" b="1">
                <a:solidFill>
                  <a:srgbClr val="113927"/>
                </a:solidFill>
                <a:latin typeface="Outfit"/>
              </a:defRPr>
            </a:pPr>
            <a:r>
              <a:t>4. Taller, Reto y EPD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Simulación interactiva con la micro-app móvil en rol de Analistas.</a:t>
            </a:r>
            <a:br/>
            <a:br/>
            <a:r>
              <a:t>Reto individual manuscrito en papel (10 min), subida con QR y lanzamiento del Caso 1 de EPD (Emplea-T).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98F71"/>
                </a:solidFill>
                <a:latin typeface="Outfit"/>
              </a:defRPr>
            </a:pPr>
            <a:r>
              <a:t>BLOQUE 1 · NOTICIA DEL DÍA Y SONDEO (15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960120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13927"/>
                </a:solidFill>
                <a:latin typeface="Outfit"/>
              </a:defRPr>
            </a:pPr>
            <a:r>
              <a:t>La Paradoja de las 155.000 Vacantes sin Cubrir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96012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Choque empírico de apertura y diagnóstico interactivo de prejuicios en Microsoft Forms</a:t>
            </a:r>
          </a:p>
        </p:txBody>
      </p:sp>
      <p:pic>
        <p:nvPicPr>
          <p:cNvPr id="5" name="Picture 4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365760"/>
            <a:ext cx="1158544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Doble Grado DER-RRLL · UPO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76927A"/>
                </a:solidFill>
                <a:latin typeface="Calibri"/>
              </a:defRPr>
            </a:pPr>
            <a:r>
              <a:t>3 / 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45920"/>
            <a:ext cx="68580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69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228600" rIns="256032" rtlCol="0" anchor="ctr"/>
          <a:lstStyle/>
          <a:p>
            <a:pPr algn="ctr">
              <a:spcAft>
                <a:spcPts val="800"/>
              </a:spcAft>
              <a:defRPr sz="1100" b="1">
                <a:solidFill>
                  <a:srgbClr val="E98F71"/>
                </a:solidFill>
                <a:latin typeface="Outfit"/>
              </a:defRPr>
            </a:pPr>
            <a:r>
              <a:t>TITULAR ECONÓMICO REAL · EXPANSIÓN / CINCO DÍAS</a:t>
            </a:r>
          </a:p>
          <a:p>
            <a:pPr>
              <a:spcAft>
                <a:spcPts val="1400"/>
              </a:spcAft>
              <a:defRPr sz="1800" b="1">
                <a:solidFill>
                  <a:srgbClr val="113927"/>
                </a:solidFill>
                <a:latin typeface="Outfit"/>
              </a:defRPr>
            </a:pPr>
            <a:r>
              <a:t>«Las empresas declaran más de 155.000 vacantes sin cubrir mientras el desempleo supera los 2,6 millones: hostelería, construcción, transporte y tecnología alertan de un bloqueo estructural»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• Choque Empírico: España encabeza el desempleo en la Unión Europea (11,3% frente al 6,0% de media comunitaria), pero paralelamente registra el récord histórico de puestos de trabajo vacantes (INE-ETCL).</a:t>
            </a:r>
            <a:br/>
            <a:br/>
            <a:r>
              <a:t>• El Enigma Técnico: Si el modelo competitivo básico asume que el mercado se vacía con el salario, ¿por qué no se cubren las vacantes? ¿Falta demanda o falla el emparejamiento?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80960" y="1645920"/>
            <a:ext cx="3931920" cy="4389120"/>
          </a:xfrm>
          <a:prstGeom prst="roundRect">
            <a:avLst/>
          </a:prstGeom>
          <a:solidFill>
            <a:srgbClr val="F4F8F5"/>
          </a:solidFill>
          <a:ln w="19050">
            <a:solidFill>
              <a:srgbClr val="E98F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01168" rIns="182880" rtlCol="0" anchor="ctr"/>
          <a:lstStyle/>
          <a:p>
            <a:pPr algn="ctr">
              <a:spcAft>
                <a:spcPts val="600"/>
              </a:spcAft>
              <a:defRPr sz="1100" b="1">
                <a:solidFill>
                  <a:srgbClr val="113927"/>
                </a:solidFill>
                <a:latin typeface="Outfit"/>
              </a:defRPr>
            </a:pPr>
            <a:r>
              <a:t>SONDEO EN VIVO · FORMS INSTITUCIONAL</a:t>
            </a:r>
          </a:p>
          <a:p>
            <a:pPr algn="ctr">
              <a:spcAft>
                <a:spcPts val="1000"/>
              </a:spcAft>
              <a:defRPr sz="1500" b="1">
                <a:solidFill>
                  <a:srgbClr val="E98F71"/>
                </a:solidFill>
                <a:latin typeface="Outfit"/>
              </a:defRPr>
            </a:pPr>
            <a:r>
              <a:t>¿Cuál es la causa principal del bloqueo?</a:t>
            </a:r>
          </a:p>
        </p:txBody>
      </p:sp>
      <p:pic>
        <p:nvPicPr>
          <p:cNvPr id="10" name="Picture 9" descr="qr_sondeo_sesion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2560320"/>
            <a:ext cx="2468880" cy="2468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0" y="5166360"/>
            <a:ext cx="3749039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2F3A30"/>
                </a:solidFill>
                <a:latin typeface="Calibri"/>
              </a:defRPr>
            </a:pPr>
            <a:r>
              <a:t>Escanea con tu móvil (@alu.upo.es)</a:t>
            </a:r>
            <a:br/>
            <a:r>
              <a:t>4 hipótesis a debate en clase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98F71"/>
                </a:solidFill>
                <a:latin typeface="Outfit"/>
              </a:defRPr>
            </a:pPr>
            <a:r>
              <a:t>BLOQUE 1 · CHOQUE EMPÍRICO Y DIAGNÓSTICO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960120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13927"/>
                </a:solidFill>
                <a:latin typeface="Outfit"/>
              </a:defRPr>
            </a:pPr>
            <a:r>
              <a:t>Las Dos Caras de la Paradoja Laboral Española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96012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Microdatos oficiales: por qué las vacantes y los desempleados no se encuentran</a:t>
            </a:r>
          </a:p>
        </p:txBody>
      </p:sp>
      <p:pic>
        <p:nvPicPr>
          <p:cNvPr id="5" name="Picture 4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365760"/>
            <a:ext cx="1158544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Doble Grado DER-RRLL · UPO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76927A"/>
                </a:solidFill>
                <a:latin typeface="Calibri"/>
              </a:defRPr>
            </a:pPr>
            <a:r>
              <a:t>4 / 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45920"/>
            <a:ext cx="539496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E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01168" rIns="228600" rtlCol="0" anchor="ctr"/>
          <a:lstStyle/>
          <a:p>
            <a:pPr algn="ctr">
              <a:spcAft>
                <a:spcPts val="1000"/>
              </a:spcAft>
              <a:defRPr sz="1600" b="1">
                <a:solidFill>
                  <a:srgbClr val="113927"/>
                </a:solidFill>
                <a:latin typeface="Outfit"/>
              </a:defRPr>
            </a:pPr>
            <a:r>
              <a:t>1. EL LADO DEL DESEMPLEO (2,6 M)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• Paro Estructural y Duración: El 36% de los desempleados lleva más de 12 meses en búsqueda activa (Parados de Larga Duración · PLD).</a:t>
            </a:r>
            <a:br/>
            <a:br/>
            <a:r>
              <a:t>• Concentración por Perfiles: Fuerte concentración en mayores de 45 años y personas con baja cualificación (máximo ESO o primaria).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539496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E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01168" rIns="228600" rtlCol="0" anchor="ctr"/>
          <a:lstStyle/>
          <a:p>
            <a:pPr algn="ctr">
              <a:spcAft>
                <a:spcPts val="1000"/>
              </a:spcAft>
              <a:defRPr sz="1600" b="1">
                <a:solidFill>
                  <a:srgbClr val="113927"/>
                </a:solidFill>
                <a:latin typeface="Outfit"/>
              </a:defRPr>
            </a:pPr>
            <a:r>
              <a:t>2. EL LADO DE LAS VACANTES (155.000)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• Sectores en Tensión Crítica: Hostelería y restauración, transporte y logística, construcción técnica, sanidad/cuidados y desarrollo TIC.</a:t>
            </a:r>
            <a:br/>
            <a:br/>
            <a:r>
              <a:t>• Desajuste de Requisitos: Las empresas exigen perfiles específicos (carnés profesionales, idiomas, competencias digitales o turnos rotativos).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120640"/>
            <a:ext cx="11064240" cy="914400"/>
          </a:xfrm>
          <a:prstGeom prst="roundRect">
            <a:avLst/>
          </a:prstGeom>
          <a:solidFill>
            <a:srgbClr val="F4F8F5"/>
          </a:solidFill>
          <a:ln w="19050">
            <a:solidFill>
              <a:srgbClr val="E98F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Ins="228600" rtlCol="0" anchor="ctr"/>
          <a:lstStyle/>
          <a:p>
            <a:pPr algn="ctr">
              <a:defRPr sz="1200" b="1">
                <a:solidFill>
                  <a:srgbClr val="E98F71"/>
                </a:solidFill>
                <a:latin typeface="Outfit"/>
              </a:defRPr>
            </a:pPr>
            <a:r>
              <a:t>💡 INSIGHT FUNDAMENTAL (EPÍGRAFE 6):</a:t>
            </a:r>
          </a:p>
          <a:p>
            <a:pPr>
              <a:defRPr sz="1500" b="1">
                <a:solidFill>
                  <a:srgbClr val="113927"/>
                </a:solidFill>
                <a:latin typeface="Calibri"/>
              </a:defRPr>
            </a:pPr>
            <a:r>
              <a:t>El desempleo no es homogéneo ni se resuelve con gasto generalizado: si el problema es de desajuste formativo o intermediación ineficiente, inyectar demanda agregada creará inflación sin cubrir las vacantes.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98F71"/>
                </a:solidFill>
                <a:latin typeface="Outfit"/>
              </a:defRPr>
            </a:pPr>
            <a:r>
              <a:t>BLOQUE 1 · EVIDENCIA EMPÍRICA Y MICRODATOS EPA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960120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13927"/>
                </a:solidFill>
                <a:latin typeface="Outfit"/>
              </a:defRPr>
            </a:pPr>
            <a:r>
              <a:t>Radiografía del Desajuste: El Perfil del Paro de Larga Duración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96012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Microdatos de la EPA (INE, 2025T4): la concentración senior y formativa en el desempleo de larga duración (PLD)</a:t>
            </a:r>
          </a:p>
        </p:txBody>
      </p:sp>
      <p:pic>
        <p:nvPicPr>
          <p:cNvPr id="5" name="Picture 4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365760"/>
            <a:ext cx="1158544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Doble Grado DER-RRLL · UPO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76927A"/>
                </a:solidFill>
                <a:latin typeface="Calibri"/>
              </a:defRPr>
            </a:pPr>
            <a:r>
              <a:t>5 / 17</a:t>
            </a:r>
          </a:p>
        </p:txBody>
      </p:sp>
      <p:pic>
        <p:nvPicPr>
          <p:cNvPr id="8" name="Picture 7" descr="desajuste_pld_ep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45920"/>
            <a:ext cx="7772400" cy="43891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503920" y="1645920"/>
            <a:ext cx="3136392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98F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>
              <a:spcAft>
                <a:spcPts val="800"/>
              </a:spcAft>
              <a:defRPr sz="1300" b="1">
                <a:solidFill>
                  <a:srgbClr val="E98F71"/>
                </a:solidFill>
                <a:latin typeface="Outfit"/>
              </a:defRPr>
            </a:pPr>
            <a:r>
              <a:rPr sz="1200" dirty="0"/>
              <a:t>CLAVES DEL DESAJUSTE (EPA)</a:t>
            </a:r>
          </a:p>
          <a:p>
            <a:pPr>
              <a:defRPr sz="1350">
                <a:solidFill>
                  <a:srgbClr val="2F3A30"/>
                </a:solidFill>
                <a:latin typeface="Calibri"/>
              </a:defRPr>
            </a:pPr>
            <a:r>
              <a:rPr sz="1200" dirty="0"/>
              <a:t>• 1 </a:t>
            </a:r>
            <a:r>
              <a:rPr sz="1200" dirty="0" err="1"/>
              <a:t>Millón</a:t>
            </a:r>
            <a:r>
              <a:rPr sz="1200" dirty="0"/>
              <a:t> de PLD (36,0%):</a:t>
            </a:r>
            <a:br>
              <a:rPr sz="1200" dirty="0"/>
            </a:br>
            <a:r>
              <a:rPr sz="1200" dirty="0"/>
              <a:t>Casi 1 </a:t>
            </a:r>
            <a:r>
              <a:rPr sz="1200" dirty="0" err="1"/>
              <a:t>millón</a:t>
            </a:r>
            <a:r>
              <a:rPr sz="1200" dirty="0"/>
              <a:t> de </a:t>
            </a:r>
            <a:r>
              <a:rPr sz="1200" dirty="0" err="1"/>
              <a:t>desempleados</a:t>
            </a:r>
            <a:r>
              <a:rPr sz="1200" dirty="0"/>
              <a:t> </a:t>
            </a:r>
            <a:r>
              <a:rPr sz="1200" dirty="0" err="1"/>
              <a:t>lleva</a:t>
            </a:r>
            <a:r>
              <a:rPr sz="1200" dirty="0"/>
              <a:t> </a:t>
            </a:r>
            <a:r>
              <a:rPr sz="1200" dirty="0" err="1"/>
              <a:t>más</a:t>
            </a:r>
            <a:r>
              <a:rPr sz="1200" dirty="0"/>
              <a:t> de 12 meses </a:t>
            </a:r>
            <a:r>
              <a:rPr sz="1200" dirty="0" err="1"/>
              <a:t>buscando</a:t>
            </a:r>
            <a:r>
              <a:rPr sz="1200" dirty="0"/>
              <a:t> </a:t>
            </a:r>
            <a:r>
              <a:rPr sz="1200" dirty="0" err="1"/>
              <a:t>empleo</a:t>
            </a:r>
            <a:r>
              <a:rPr sz="1200" dirty="0"/>
              <a:t> (y 583.000 </a:t>
            </a:r>
            <a:r>
              <a:rPr sz="1200" dirty="0" err="1"/>
              <a:t>llevan</a:t>
            </a:r>
            <a:r>
              <a:rPr sz="1200" dirty="0"/>
              <a:t> </a:t>
            </a:r>
            <a:r>
              <a:rPr sz="1200" dirty="0" err="1"/>
              <a:t>más</a:t>
            </a:r>
            <a:r>
              <a:rPr sz="1200" dirty="0"/>
              <a:t> de 2 </a:t>
            </a:r>
            <a:r>
              <a:rPr sz="1200" dirty="0" err="1"/>
              <a:t>años</a:t>
            </a:r>
            <a:r>
              <a:rPr sz="1200" dirty="0"/>
              <a:t> </a:t>
            </a:r>
            <a:r>
              <a:rPr sz="1200" dirty="0" err="1"/>
              <a:t>atrapados</a:t>
            </a:r>
            <a:r>
              <a:rPr sz="1200" dirty="0"/>
              <a:t> </a:t>
            </a:r>
            <a:r>
              <a:rPr sz="1200" dirty="0" err="1"/>
              <a:t>en</a:t>
            </a:r>
            <a:r>
              <a:rPr sz="1200" dirty="0"/>
              <a:t> </a:t>
            </a:r>
            <a:r>
              <a:rPr sz="1200" dirty="0" err="1"/>
              <a:t>histéresis</a:t>
            </a:r>
            <a:r>
              <a:rPr sz="1200" dirty="0"/>
              <a:t>).</a:t>
            </a:r>
            <a:br>
              <a:rPr sz="1200" dirty="0"/>
            </a:br>
            <a:br>
              <a:rPr sz="1200" dirty="0"/>
            </a:br>
            <a:r>
              <a:rPr sz="1200" dirty="0"/>
              <a:t>• </a:t>
            </a:r>
            <a:r>
              <a:rPr sz="1200" dirty="0" err="1"/>
              <a:t>Concentración</a:t>
            </a:r>
            <a:r>
              <a:rPr sz="1200" dirty="0"/>
              <a:t> Senior (57,1%):</a:t>
            </a:r>
            <a:br>
              <a:rPr sz="1200" dirty="0"/>
            </a:br>
            <a:r>
              <a:rPr sz="1200" dirty="0"/>
              <a:t>El 57,1% de </a:t>
            </a:r>
            <a:r>
              <a:rPr sz="1200" dirty="0" err="1"/>
              <a:t>los</a:t>
            </a:r>
            <a:r>
              <a:rPr sz="1200" dirty="0"/>
              <a:t> parados de </a:t>
            </a:r>
            <a:r>
              <a:rPr sz="1200" dirty="0" err="1"/>
              <a:t>larga</a:t>
            </a:r>
            <a:r>
              <a:rPr sz="1200" dirty="0"/>
              <a:t> </a:t>
            </a:r>
            <a:r>
              <a:rPr sz="1200" dirty="0" err="1"/>
              <a:t>duración</a:t>
            </a:r>
            <a:r>
              <a:rPr sz="1200" dirty="0"/>
              <a:t> </a:t>
            </a:r>
            <a:r>
              <a:rPr sz="1200" dirty="0" err="1"/>
              <a:t>tiene</a:t>
            </a:r>
            <a:r>
              <a:rPr sz="1200" dirty="0"/>
              <a:t> 45 o </a:t>
            </a:r>
            <a:r>
              <a:rPr sz="1200" dirty="0" err="1"/>
              <a:t>más</a:t>
            </a:r>
            <a:r>
              <a:rPr sz="1200" dirty="0"/>
              <a:t> </a:t>
            </a:r>
            <a:r>
              <a:rPr sz="1200" dirty="0" err="1"/>
              <a:t>años</a:t>
            </a:r>
            <a:r>
              <a:rPr sz="1200" dirty="0"/>
              <a:t> (</a:t>
            </a:r>
            <a:r>
              <a:rPr sz="1200" dirty="0" err="1"/>
              <a:t>frente</a:t>
            </a:r>
            <a:r>
              <a:rPr sz="1200" dirty="0"/>
              <a:t> a solo el 33,8% </a:t>
            </a:r>
            <a:r>
              <a:rPr sz="1200" dirty="0" err="1"/>
              <a:t>en</a:t>
            </a:r>
            <a:r>
              <a:rPr sz="1200" dirty="0"/>
              <a:t> el </a:t>
            </a:r>
            <a:r>
              <a:rPr sz="1200" dirty="0" err="1"/>
              <a:t>paro</a:t>
            </a:r>
            <a:r>
              <a:rPr sz="1200" dirty="0"/>
              <a:t> de </a:t>
            </a:r>
            <a:r>
              <a:rPr sz="1200" dirty="0" err="1"/>
              <a:t>corta</a:t>
            </a:r>
            <a:r>
              <a:rPr sz="1200" dirty="0"/>
              <a:t> </a:t>
            </a:r>
            <a:r>
              <a:rPr sz="1200" dirty="0" err="1"/>
              <a:t>duración</a:t>
            </a:r>
            <a:r>
              <a:rPr sz="1200" dirty="0"/>
              <a:t>).</a:t>
            </a:r>
            <a:br>
              <a:rPr sz="1200" dirty="0"/>
            </a:br>
            <a:br>
              <a:rPr sz="1200" dirty="0"/>
            </a:br>
            <a:r>
              <a:rPr sz="1200" dirty="0"/>
              <a:t>• Barrera </a:t>
            </a:r>
            <a:r>
              <a:rPr sz="1200" dirty="0" err="1"/>
              <a:t>Formativa</a:t>
            </a:r>
            <a:r>
              <a:rPr sz="1200" dirty="0"/>
              <a:t> (50,9%):</a:t>
            </a:r>
            <a:br>
              <a:rPr sz="1200" dirty="0"/>
            </a:br>
            <a:r>
              <a:rPr sz="1200" dirty="0"/>
              <a:t>El 50,9% de </a:t>
            </a:r>
            <a:r>
              <a:rPr sz="1200" dirty="0" err="1"/>
              <a:t>los</a:t>
            </a:r>
            <a:r>
              <a:rPr sz="1200" dirty="0"/>
              <a:t> PLD </a:t>
            </a:r>
            <a:r>
              <a:rPr sz="1200" dirty="0" err="1"/>
              <a:t>tiene</a:t>
            </a:r>
            <a:r>
              <a:rPr sz="1200" dirty="0"/>
              <a:t> </a:t>
            </a:r>
            <a:r>
              <a:rPr sz="1200" dirty="0" err="1"/>
              <a:t>como</a:t>
            </a:r>
            <a:r>
              <a:rPr sz="1200" dirty="0"/>
              <a:t> </a:t>
            </a:r>
            <a:r>
              <a:rPr sz="1200" dirty="0" err="1"/>
              <a:t>nivel</a:t>
            </a:r>
            <a:r>
              <a:rPr sz="1200" dirty="0"/>
              <a:t> </a:t>
            </a:r>
            <a:r>
              <a:rPr sz="1200" dirty="0" err="1"/>
              <a:t>máximo</a:t>
            </a:r>
            <a:r>
              <a:rPr sz="1200" dirty="0"/>
              <a:t> la ESO o </a:t>
            </a:r>
            <a:r>
              <a:rPr sz="1200" dirty="0" err="1"/>
              <a:t>estudios</a:t>
            </a:r>
            <a:r>
              <a:rPr sz="1200" dirty="0"/>
              <a:t> </a:t>
            </a:r>
            <a:r>
              <a:rPr sz="1200" dirty="0" err="1"/>
              <a:t>primarios</a:t>
            </a:r>
            <a:r>
              <a:rPr sz="1200" dirty="0"/>
              <a:t> </a:t>
            </a:r>
            <a:r>
              <a:rPr sz="1200" dirty="0" err="1"/>
              <a:t>incompletos</a:t>
            </a:r>
            <a:r>
              <a:rPr sz="1200" dirty="0"/>
              <a:t>.</a:t>
            </a:r>
            <a:br>
              <a:rPr sz="1200" dirty="0"/>
            </a:br>
            <a:br>
              <a:rPr sz="1200" dirty="0"/>
            </a:br>
            <a:r>
              <a:rPr sz="1200" dirty="0"/>
              <a:t>• Doble </a:t>
            </a:r>
            <a:r>
              <a:rPr sz="1200" dirty="0" err="1"/>
              <a:t>Cerrojo</a:t>
            </a:r>
            <a:r>
              <a:rPr sz="1200" dirty="0"/>
              <a:t>: El 29,1% </a:t>
            </a:r>
            <a:r>
              <a:rPr sz="1200" dirty="0" err="1"/>
              <a:t>reúne</a:t>
            </a:r>
            <a:r>
              <a:rPr sz="1200" dirty="0"/>
              <a:t> </a:t>
            </a:r>
            <a:r>
              <a:rPr sz="1200" dirty="0" err="1"/>
              <a:t>simultáneamente</a:t>
            </a:r>
            <a:r>
              <a:rPr sz="1200" dirty="0"/>
              <a:t> </a:t>
            </a:r>
            <a:r>
              <a:rPr sz="1200" dirty="0" err="1"/>
              <a:t>edad</a:t>
            </a:r>
            <a:r>
              <a:rPr sz="1200" dirty="0"/>
              <a:t> senior y baja </a:t>
            </a:r>
            <a:r>
              <a:rPr sz="1200" dirty="0" err="1"/>
              <a:t>formación</a:t>
            </a:r>
            <a:r>
              <a:rPr sz="1200" dirty="0"/>
              <a:t>, </a:t>
            </a:r>
            <a:r>
              <a:rPr sz="1200" dirty="0" err="1"/>
              <a:t>impidiendo</a:t>
            </a:r>
            <a:r>
              <a:rPr sz="1200" dirty="0"/>
              <a:t> el </a:t>
            </a:r>
            <a:r>
              <a:rPr sz="1200" dirty="0" err="1"/>
              <a:t>encaje</a:t>
            </a:r>
            <a:r>
              <a:rPr sz="1200" dirty="0"/>
              <a:t> con las </a:t>
            </a:r>
            <a:r>
              <a:rPr sz="1200" dirty="0" err="1"/>
              <a:t>vacantes</a:t>
            </a:r>
            <a:r>
              <a:rPr sz="1200" dirty="0"/>
              <a:t> </a:t>
            </a:r>
            <a:r>
              <a:rPr sz="1200" dirty="0" err="1"/>
              <a:t>técnicas</a:t>
            </a:r>
            <a:r>
              <a:rPr sz="1200" dirty="0"/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98F71"/>
                </a:solidFill>
                <a:latin typeface="Outfit"/>
              </a:defRPr>
            </a:pPr>
            <a:r>
              <a:t>BLOQUE 2 · MINI-LECCIÓN CONCEPTUAL (25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960120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13927"/>
                </a:solidFill>
                <a:latin typeface="Outfit"/>
              </a:defRPr>
            </a:pPr>
            <a:r>
              <a:t>Dinámica de Flujos y Tasa Natural Estacionaria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96012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Epígrafe 6.0 oficial: el mercado laboral como un balance continuo de entradas y salidas</a:t>
            </a:r>
          </a:p>
        </p:txBody>
      </p:sp>
      <p:pic>
        <p:nvPicPr>
          <p:cNvPr id="5" name="Picture 4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365760"/>
            <a:ext cx="1158544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Doble Grado DER-RRLL · UPO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76927A"/>
                </a:solidFill>
                <a:latin typeface="Calibri"/>
              </a:defRPr>
            </a:pPr>
            <a:r>
              <a:t>6 / 17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Rounded Rectangle 7"/>
              <p:cNvSpPr/>
              <p:nvPr/>
            </p:nvSpPr>
            <p:spPr>
              <a:xfrm>
                <a:off x="548640" y="1645920"/>
                <a:ext cx="5394960" cy="4389120"/>
              </a:xfrm>
              <a:prstGeom prst="roundRect">
                <a:avLst/>
              </a:prstGeom>
              <a:solidFill>
                <a:srgbClr val="FFFFFF"/>
              </a:solidFill>
              <a:ln w="19050">
                <a:solidFill>
                  <a:srgbClr val="DCE5DF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228600" tIns="201168" rIns="228600" rtlCol="0" anchor="ctr"/>
              <a:lstStyle/>
              <a:p>
                <a:pPr algn="ctr">
                  <a:spcAft>
                    <a:spcPts val="1000"/>
                  </a:spcAft>
                  <a:defRPr sz="1600" b="1">
                    <a:solidFill>
                      <a:srgbClr val="113927"/>
                    </a:solidFill>
                    <a:latin typeface="Outfit"/>
                  </a:defRPr>
                </a:pPr>
                <a:r>
                  <a:rPr dirty="0"/>
                  <a:t>1. EL MERCADO COMO SISTEMA DE FLUJOS</a:t>
                </a:r>
              </a:p>
              <a:p>
                <a:pPr>
                  <a:defRPr sz="1600">
                    <a:solidFill>
                      <a:srgbClr val="2F3A30"/>
                    </a:solidFill>
                    <a:latin typeface="Calibri"/>
                  </a:defRPr>
                </a:pPr>
                <a:r>
                  <a:rPr dirty="0"/>
                  <a:t>• </a:t>
                </a:r>
                <a:r>
                  <a:rPr dirty="0" err="1"/>
                  <a:t>Desempleo</a:t>
                </a:r>
                <a:r>
                  <a:rPr dirty="0"/>
                  <a:t> </a:t>
                </a:r>
                <a:r>
                  <a:rPr dirty="0" err="1"/>
                  <a:t>como</a:t>
                </a:r>
                <a:r>
                  <a:rPr dirty="0"/>
                  <a:t> Variable de Fondo (Stock): El </a:t>
                </a:r>
                <a:r>
                  <a:rPr dirty="0" err="1"/>
                  <a:t>volumen</a:t>
                </a:r>
                <a:r>
                  <a:rPr dirty="0"/>
                  <a:t> de </a:t>
                </a:r>
                <a:r>
                  <a:rPr dirty="0" err="1"/>
                  <a:t>desempleados</a:t>
                </a:r>
                <a:r>
                  <a:rPr dirty="0"/>
                  <a:t> (U) </a:t>
                </a:r>
                <a:r>
                  <a:rPr dirty="0" err="1"/>
                  <a:t>varía</a:t>
                </a:r>
                <a:r>
                  <a:rPr dirty="0"/>
                  <a:t> </a:t>
                </a:r>
                <a:r>
                  <a:rPr dirty="0" err="1"/>
                  <a:t>cada</a:t>
                </a:r>
                <a:r>
                  <a:rPr dirty="0"/>
                  <a:t> </a:t>
                </a:r>
                <a:r>
                  <a:rPr dirty="0" err="1"/>
                  <a:t>período</a:t>
                </a:r>
                <a:r>
                  <a:rPr dirty="0"/>
                  <a:t> </a:t>
                </a:r>
                <a:r>
                  <a:rPr dirty="0" err="1"/>
                  <a:t>en</a:t>
                </a:r>
                <a:r>
                  <a:rPr dirty="0"/>
                  <a:t> </a:t>
                </a:r>
                <a:r>
                  <a:rPr dirty="0" err="1"/>
                  <a:t>función</a:t>
                </a:r>
                <a:r>
                  <a:rPr dirty="0"/>
                  <a:t> de dos </a:t>
                </a:r>
                <a:r>
                  <a:rPr dirty="0" err="1"/>
                  <a:t>flujos</a:t>
                </a:r>
                <a:r>
                  <a:rPr dirty="0"/>
                  <a:t> </a:t>
                </a:r>
                <a:r>
                  <a:rPr dirty="0" err="1"/>
                  <a:t>opuestos</a:t>
                </a:r>
                <a:r>
                  <a:rPr dirty="0"/>
                  <a:t>:</a:t>
                </a:r>
                <a:br>
                  <a:rPr dirty="0"/>
                </a:br>
                <a:br>
                  <a:rPr dirty="0"/>
                </a:br>
                <a:r>
                  <a:rPr dirty="0"/>
                  <a:t>• </a:t>
                </a:r>
                <a:r>
                  <a:rPr dirty="0" err="1"/>
                  <a:t>Flujo</a:t>
                </a:r>
                <a:r>
                  <a:rPr dirty="0"/>
                  <a:t> de Entrada (</a:t>
                </a:r>
                <a:r>
                  <a:rPr dirty="0" err="1"/>
                  <a:t>Separación</a:t>
                </a:r>
                <a:r>
                  <a:rPr dirty="0"/>
                  <a:t> · s): </a:t>
                </a:r>
                <a:r>
                  <a:rPr dirty="0" err="1"/>
                  <a:t>Ocupados</a:t>
                </a:r>
                <a:r>
                  <a:rPr dirty="0"/>
                  <a:t> (N) </a:t>
                </a:r>
                <a:r>
                  <a:rPr dirty="0" err="1"/>
                  <a:t>que</a:t>
                </a:r>
                <a:r>
                  <a:rPr dirty="0"/>
                  <a:t> </a:t>
                </a:r>
                <a:r>
                  <a:rPr dirty="0" err="1"/>
                  <a:t>pierden</a:t>
                </a:r>
                <a:r>
                  <a:rPr dirty="0"/>
                  <a:t> </a:t>
                </a:r>
                <a:r>
                  <a:rPr dirty="0" err="1"/>
                  <a:t>su</a:t>
                </a:r>
                <a:r>
                  <a:rPr dirty="0"/>
                  <a:t> </a:t>
                </a:r>
                <a:r>
                  <a:rPr dirty="0" err="1"/>
                  <a:t>empleo</a:t>
                </a:r>
                <a:r>
                  <a:rPr dirty="0"/>
                  <a:t> o </a:t>
                </a:r>
                <a:r>
                  <a:rPr dirty="0" err="1"/>
                  <a:t>finalizan</a:t>
                </a:r>
                <a:r>
                  <a:rPr dirty="0"/>
                  <a:t> </a:t>
                </a:r>
                <a:r>
                  <a:rPr dirty="0" err="1"/>
                  <a:t>contrato</a:t>
                </a:r>
                <a:r>
                  <a:rPr dirty="0"/>
                  <a:t>: Entradas = s · N.</a:t>
                </a:r>
                <a:br>
                  <a:rPr dirty="0"/>
                </a:br>
                <a:br>
                  <a:rPr dirty="0"/>
                </a:br>
                <a:r>
                  <a:rPr dirty="0"/>
                  <a:t>• </a:t>
                </a:r>
                <a:r>
                  <a:rPr dirty="0" err="1"/>
                  <a:t>Flujo</a:t>
                </a:r>
                <a:r>
                  <a:rPr dirty="0"/>
                  <a:t> de Salida (</a:t>
                </a:r>
                <a:r>
                  <a:rPr dirty="0" err="1"/>
                  <a:t>Colocación</a:t>
                </a:r>
                <a:r>
                  <a:rPr dirty="0"/>
                  <a:t> · f): </a:t>
                </a:r>
                <a:r>
                  <a:rPr dirty="0" err="1"/>
                  <a:t>Desempleados</a:t>
                </a:r>
                <a:r>
                  <a:rPr dirty="0"/>
                  <a:t> (U) </a:t>
                </a:r>
                <a:r>
                  <a:rPr dirty="0" err="1"/>
                  <a:t>que</a:t>
                </a:r>
                <a:r>
                  <a:rPr dirty="0"/>
                  <a:t> </a:t>
                </a:r>
                <a:r>
                  <a:rPr dirty="0" err="1"/>
                  <a:t>encuentran</a:t>
                </a:r>
                <a:r>
                  <a:rPr dirty="0"/>
                  <a:t> </a:t>
                </a:r>
                <a:r>
                  <a:rPr dirty="0" err="1"/>
                  <a:t>empleo</a:t>
                </a:r>
                <a:r>
                  <a:rPr dirty="0"/>
                  <a:t> o se </a:t>
                </a:r>
                <a:r>
                  <a:rPr dirty="0" err="1"/>
                  <a:t>reinsertan</a:t>
                </a:r>
                <a:r>
                  <a:rPr dirty="0"/>
                  <a:t>: </a:t>
                </a:r>
                <a:r>
                  <a:rPr dirty="0" err="1"/>
                  <a:t>Salidas</a:t>
                </a:r>
                <a:r>
                  <a:rPr dirty="0"/>
                  <a:t> = f · U.</a:t>
                </a:r>
                <a:br>
                  <a:rPr dirty="0"/>
                </a:br>
                <a:br>
                  <a:rPr dirty="0"/>
                </a:br>
                <a:r>
                  <a:rPr dirty="0"/>
                  <a:t>• </a:t>
                </a:r>
                <a:r>
                  <a:rPr dirty="0" err="1"/>
                  <a:t>Ecuación</a:t>
                </a:r>
                <a:r>
                  <a:rPr dirty="0"/>
                  <a:t> </a:t>
                </a:r>
                <a:r>
                  <a:rPr dirty="0" err="1"/>
                  <a:t>en</a:t>
                </a:r>
                <a:r>
                  <a:rPr dirty="0"/>
                  <a:t> </a:t>
                </a:r>
                <a:r>
                  <a:rPr dirty="0" err="1"/>
                  <a:t>Diferencias</a:t>
                </a:r>
                <a:r>
                  <a:rPr dirty="0"/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0" dirty="0" smtClean="0">
                        <a:latin typeface="Cambria Math" panose="02040503050406030204" pitchFamily="18" charset="0"/>
                      </a:rPr>
                      <m:t>Δ</m:t>
                    </m:r>
                    <m:sSub>
                      <m:sSubPr>
                        <m:ctrlPr>
                          <a:rPr lang="el-GR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i="1" dirty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l-GR" i="1" dirty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l-GR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l-GR" i="1" dirty="0">
                        <a:latin typeface="Cambria Math" panose="02040503050406030204" pitchFamily="18" charset="0"/>
                      </a:rPr>
                      <m:t>= </m:t>
                    </m:r>
                    <m:r>
                      <a:rPr lang="el-GR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l-GR" i="1" dirty="0">
                        <a:latin typeface="Cambria Math" panose="02040503050406030204" pitchFamily="18" charset="0"/>
                      </a:rPr>
                      <m:t> · </m:t>
                    </m:r>
                    <m:sSub>
                      <m:sSubPr>
                        <m:ctrlPr>
                          <a:rPr lang="el-GR" i="1" dirty="0" err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i="1" dirty="0" err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l-GR" i="1" dirty="0" err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l-GR" i="1" dirty="0">
                        <a:latin typeface="Cambria Math" panose="02040503050406030204" pitchFamily="18" charset="0"/>
                      </a:rPr>
                      <m:t>− </m:t>
                    </m:r>
                    <m:r>
                      <a:rPr lang="el-GR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l-GR" i="1" dirty="0">
                        <a:latin typeface="Cambria Math" panose="02040503050406030204" pitchFamily="18" charset="0"/>
                      </a:rPr>
                      <m:t> · </m:t>
                    </m:r>
                    <m:sSub>
                      <m:sSubPr>
                        <m:ctrlPr>
                          <a:rPr lang="el-GR" i="1" dirty="0" err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i="1" dirty="0" err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l-GR" i="1" dirty="0" err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l-GR" i="1" dirty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dirty="0"/>
              </a:p>
            </p:txBody>
          </p:sp>
        </mc:Choice>
        <mc:Fallback>
          <p:sp>
            <p:nvSpPr>
              <p:cNvPr id="8" name="Rounded 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40" y="1645920"/>
                <a:ext cx="5394960" cy="438912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rgbClr val="DCE5DF"/>
                </a:solidFill>
              </a:ln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ounded Rectangle 8"/>
          <p:cNvSpPr/>
          <p:nvPr/>
        </p:nvSpPr>
        <p:spPr>
          <a:xfrm>
            <a:off x="6217920" y="1645920"/>
            <a:ext cx="5394960" cy="4389120"/>
          </a:xfrm>
          <a:prstGeom prst="roundRect">
            <a:avLst/>
          </a:prstGeom>
          <a:solidFill>
            <a:srgbClr val="F4F8F5"/>
          </a:solidFill>
          <a:ln w="19050">
            <a:solidFill>
              <a:srgbClr val="769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01168" rIns="228600" rtlCol="0" anchor="ctr"/>
          <a:lstStyle/>
          <a:p>
            <a:pPr algn="ctr">
              <a:spcAft>
                <a:spcPts val="1000"/>
              </a:spcAft>
              <a:defRPr sz="1600" b="1">
                <a:solidFill>
                  <a:srgbClr val="113927"/>
                </a:solidFill>
                <a:latin typeface="Outfit"/>
              </a:defRPr>
            </a:pPr>
            <a:r>
              <a:t>2. DERIVACIÓN DEL EQUILIBRIO ESTACIONARIO</a:t>
            </a:r>
          </a:p>
          <a:p>
            <a:pPr>
              <a:spcAft>
                <a:spcPts val="1000"/>
              </a:spcAft>
              <a:defRPr sz="1600">
                <a:solidFill>
                  <a:srgbClr val="2F3A30"/>
                </a:solidFill>
                <a:latin typeface="Calibri"/>
              </a:defRPr>
            </a:pPr>
            <a:r>
              <a:t>• Condición de Estado Estacionario (ΔU = 0): Las entradas igualan a las salidas: s · N = f · U.</a:t>
            </a:r>
            <a:br/>
            <a:br/>
            <a:r>
              <a:t>• Población Activa Total: L = N + U  ➔  N = L - U.</a:t>
            </a:r>
            <a:br/>
            <a:br/>
            <a:r>
              <a:t>• Sustituyendo: s · (L - U) = f · U  ➔  s·L - s·U = f·U.</a:t>
            </a:r>
            <a:br/>
            <a:br/>
            <a:r>
              <a:t>• Despejando la Tasa Natural u* = U / L:</a:t>
            </a:r>
          </a:p>
          <a:p>
            <a:pPr algn="ctr">
              <a:spcAft>
                <a:spcPts val="1000"/>
              </a:spcAft>
              <a:defRPr sz="2200" b="1">
                <a:solidFill>
                  <a:srgbClr val="113927"/>
                </a:solidFill>
                <a:latin typeface="Outfit"/>
              </a:defRPr>
            </a:pPr>
            <a:r>
              <a:t>u* = s / (s + f)</a:t>
            </a:r>
          </a:p>
          <a:p>
            <a:pPr>
              <a:defRPr sz="1500" b="1">
                <a:solidFill>
                  <a:srgbClr val="2F3A30"/>
                </a:solidFill>
                <a:latin typeface="Calibri"/>
              </a:defRPr>
            </a:pPr>
            <a:r>
              <a:t>• Las Dos Únicas Palancas de Política:</a:t>
            </a:r>
            <a:br/>
            <a:r>
              <a:t>  1. Reducir s: reducir la rotación laboral injustificada.</a:t>
            </a:r>
            <a:br/>
            <a:r>
              <a:t>  2. Aumentar f: modernizar intermediación y formación.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98F71"/>
                </a:solidFill>
                <a:latin typeface="Outfit"/>
              </a:defRPr>
            </a:pPr>
            <a:r>
              <a:t>BLOQUE 2 · MINI-LECCIÓN CONCEPTUAL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960120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13927"/>
                </a:solidFill>
                <a:latin typeface="Outfit"/>
              </a:defRPr>
            </a:pPr>
            <a:r>
              <a:t>La Función de Emparejamiento (Matching Function)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96012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Epígrafe 6.1 oficial: modelización microeconómica de las contrataciones laborales</a:t>
            </a:r>
          </a:p>
        </p:txBody>
      </p:sp>
      <p:pic>
        <p:nvPicPr>
          <p:cNvPr id="5" name="Picture 4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365760"/>
            <a:ext cx="1158544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Doble Grado DER-RRLL · UPO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76927A"/>
                </a:solidFill>
                <a:latin typeface="Calibri"/>
              </a:defRPr>
            </a:pPr>
            <a:r>
              <a:t>7 / 17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Rounded Rectangle 7"/>
              <p:cNvSpPr/>
              <p:nvPr/>
            </p:nvSpPr>
            <p:spPr>
              <a:xfrm>
                <a:off x="548640" y="1645920"/>
                <a:ext cx="5943600" cy="4389120"/>
              </a:xfrm>
              <a:prstGeom prst="roundRect">
                <a:avLst/>
              </a:prstGeom>
              <a:solidFill>
                <a:srgbClr val="FFFFFF"/>
              </a:solidFill>
              <a:ln w="19050">
                <a:solidFill>
                  <a:srgbClr val="DCE5DF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228600" tIns="201168" rIns="228600" rtlCol="0" anchor="ctr"/>
              <a:lstStyle/>
              <a:p>
                <a:pPr algn="ctr">
                  <a:spcAft>
                    <a:spcPts val="1000"/>
                  </a:spcAft>
                  <a:defRPr sz="1600" b="1">
                    <a:solidFill>
                      <a:srgbClr val="113927"/>
                    </a:solidFill>
                    <a:latin typeface="Outfit"/>
                  </a:defRPr>
                </a:pPr>
                <a:r>
                  <a:rPr dirty="0"/>
                  <a:t>1. FORMALIZACIÓN COBB-DOUGLAS CANÓNICA</a:t>
                </a:r>
              </a:p>
              <a:p>
                <a:pPr algn="ctr">
                  <a:spcAft>
                    <a:spcPts val="1000"/>
                  </a:spcAft>
                  <a:defRPr sz="2000" b="1">
                    <a:solidFill>
                      <a:srgbClr val="E98F71"/>
                    </a:solidFill>
                    <a:latin typeface="Outfit"/>
                  </a:defRPr>
                </a:pPr>
                <a14:m>
                  <m:oMathPara xmlns:m="http://schemas.openxmlformats.org/officeDocument/2006/math">
                    <m:oMath>
                      <m:r>
                        <a:rPr lang="es-ES" i="1" dirty="0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s-ES" i="1" dirty="0" smtClean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s-ES" i="1" dirty="0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s-ES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i="1" dirty="0" smtClean="0">
                              <a:latin typeface="Cambria Math" panose="02040503050406030204" pitchFamily="18" charset="0"/>
                            </a:rPr>
                            <m:t>𝑈</m:t>
                          </m:r>
                          <m:r>
                            <a:rPr lang="es-ES" i="1" dirty="0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s-ES" i="1" dirty="0" smtClean="0">
                              <a:latin typeface="Cambria Math" panose="02040503050406030204" pitchFamily="18" charset="0"/>
                            </a:rPr>
                            <m:t>𝑉</m:t>
                          </m:r>
                          <m:r>
                            <a:rPr lang="es-ES" i="1" dirty="0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s-ES" i="1" dirty="0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es-ES" i="1" dirty="0" smtClean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s-ES" i="1" dirty="0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s-ES" i="1" dirty="0" smtClean="0">
                          <a:latin typeface="Cambria Math" panose="02040503050406030204" pitchFamily="18" charset="0"/>
                        </a:rPr>
                        <m:t> · </m:t>
                      </m:r>
                      <m:sSup>
                        <m:sSupPr>
                          <m:ctrlPr>
                            <a:rPr lang="es-ES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s-ES" i="1" dirty="0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p>
                          <m:r>
                            <a:rPr lang="es-ES" i="1" dirty="0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sup>
                      </m:sSup>
                      <m:r>
                        <a:rPr lang="es-ES" i="1" dirty="0" smtClean="0">
                          <a:latin typeface="Cambria Math" panose="02040503050406030204" pitchFamily="18" charset="0"/>
                        </a:rPr>
                        <m:t>· </m:t>
                      </m:r>
                      <m:sSup>
                        <m:sSupPr>
                          <m:ctrlPr>
                            <a:rPr lang="es-ES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s-ES" i="1" dirty="0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p>
                          <m:r>
                            <a:rPr lang="es-ES" i="1" dirty="0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s-ES" i="1" dirty="0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sup>
                      </m:sSup>
                    </m:oMath>
                  </m:oMathPara>
                </a14:m>
                <a:endParaRPr dirty="0"/>
              </a:p>
              <a:p>
                <a:pPr>
                  <a:defRPr sz="1500">
                    <a:solidFill>
                      <a:srgbClr val="2F3A30"/>
                    </a:solidFill>
                    <a:latin typeface="Calibri"/>
                  </a:defRPr>
                </a:pPr>
                <a:r>
                  <a:rPr dirty="0"/>
                  <a:t>• m: Nuevas </a:t>
                </a:r>
                <a:r>
                  <a:rPr dirty="0" err="1"/>
                  <a:t>contrataciones</a:t>
                </a:r>
                <a:r>
                  <a:rPr dirty="0"/>
                  <a:t> </a:t>
                </a:r>
                <a:r>
                  <a:rPr dirty="0" err="1"/>
                  <a:t>netas</a:t>
                </a:r>
                <a:r>
                  <a:rPr dirty="0"/>
                  <a:t> </a:t>
                </a:r>
                <a:r>
                  <a:rPr dirty="0" err="1"/>
                  <a:t>generadas</a:t>
                </a:r>
                <a:r>
                  <a:rPr dirty="0"/>
                  <a:t> </a:t>
                </a:r>
                <a:r>
                  <a:rPr dirty="0" err="1"/>
                  <a:t>por</a:t>
                </a:r>
                <a:r>
                  <a:rPr dirty="0"/>
                  <a:t> </a:t>
                </a:r>
                <a:r>
                  <a:rPr dirty="0" err="1"/>
                  <a:t>período</a:t>
                </a:r>
                <a:r>
                  <a:rPr dirty="0"/>
                  <a:t>.</a:t>
                </a:r>
                <a:br>
                  <a:rPr dirty="0"/>
                </a:br>
                <a:r>
                  <a:rPr dirty="0"/>
                  <a:t>• U: Masa de personas </a:t>
                </a:r>
                <a:r>
                  <a:rPr dirty="0" err="1"/>
                  <a:t>desempleadas</a:t>
                </a:r>
                <a:r>
                  <a:rPr dirty="0"/>
                  <a:t> </a:t>
                </a:r>
                <a:r>
                  <a:rPr dirty="0" err="1"/>
                  <a:t>activas</a:t>
                </a:r>
                <a:r>
                  <a:rPr dirty="0"/>
                  <a:t> </a:t>
                </a:r>
                <a:r>
                  <a:rPr dirty="0" err="1"/>
                  <a:t>en</a:t>
                </a:r>
                <a:r>
                  <a:rPr dirty="0"/>
                  <a:t> </a:t>
                </a:r>
                <a:r>
                  <a:rPr dirty="0" err="1"/>
                  <a:t>búsqueda</a:t>
                </a:r>
                <a:r>
                  <a:rPr dirty="0"/>
                  <a:t>.</a:t>
                </a:r>
                <a:br>
                  <a:rPr dirty="0"/>
                </a:br>
                <a:r>
                  <a:rPr dirty="0"/>
                  <a:t>• V: Masa de </a:t>
                </a:r>
                <a:r>
                  <a:rPr dirty="0" err="1"/>
                  <a:t>vacantes</a:t>
                </a:r>
                <a:r>
                  <a:rPr dirty="0"/>
                  <a:t> </a:t>
                </a:r>
                <a:r>
                  <a:rPr dirty="0" err="1"/>
                  <a:t>laborales</a:t>
                </a:r>
                <a:r>
                  <a:rPr dirty="0"/>
                  <a:t> </a:t>
                </a:r>
                <a:r>
                  <a:rPr dirty="0" err="1"/>
                  <a:t>abiertas</a:t>
                </a:r>
                <a:r>
                  <a:rPr dirty="0"/>
                  <a:t> </a:t>
                </a:r>
                <a:r>
                  <a:rPr dirty="0" err="1"/>
                  <a:t>por</a:t>
                </a:r>
                <a:r>
                  <a:rPr dirty="0"/>
                  <a:t> las </a:t>
                </a:r>
                <a:r>
                  <a:rPr dirty="0" err="1"/>
                  <a:t>empresas</a:t>
                </a:r>
                <a:r>
                  <a:rPr dirty="0"/>
                  <a:t>.</a:t>
                </a:r>
                <a:br>
                  <a:rPr dirty="0"/>
                </a:br>
                <a:r>
                  <a:rPr dirty="0"/>
                  <a:t>• A: </a:t>
                </a:r>
                <a:r>
                  <a:rPr dirty="0" err="1"/>
                  <a:t>Parámetro</a:t>
                </a:r>
                <a:r>
                  <a:rPr dirty="0"/>
                  <a:t> de </a:t>
                </a:r>
                <a:r>
                  <a:rPr dirty="0" err="1"/>
                  <a:t>eficiencia</a:t>
                </a:r>
                <a:r>
                  <a:rPr dirty="0"/>
                  <a:t> </a:t>
                </a:r>
                <a:r>
                  <a:rPr dirty="0" err="1"/>
                  <a:t>tecnológica</a:t>
                </a:r>
                <a:r>
                  <a:rPr dirty="0"/>
                  <a:t> e </a:t>
                </a:r>
                <a:r>
                  <a:rPr dirty="0" err="1"/>
                  <a:t>institucional</a:t>
                </a:r>
                <a:r>
                  <a:rPr dirty="0"/>
                  <a:t>. </a:t>
                </a:r>
                <a:r>
                  <a:rPr dirty="0" err="1"/>
                  <a:t>Refleja</a:t>
                </a:r>
                <a:r>
                  <a:rPr dirty="0"/>
                  <a:t> la </a:t>
                </a:r>
                <a:r>
                  <a:rPr dirty="0" err="1"/>
                  <a:t>calidad</a:t>
                </a:r>
                <a:r>
                  <a:rPr dirty="0"/>
                  <a:t> de </a:t>
                </a:r>
                <a:r>
                  <a:rPr dirty="0" err="1"/>
                  <a:t>los</a:t>
                </a:r>
                <a:r>
                  <a:rPr dirty="0"/>
                  <a:t> </a:t>
                </a:r>
                <a:r>
                  <a:rPr dirty="0" err="1"/>
                  <a:t>servicios</a:t>
                </a:r>
                <a:r>
                  <a:rPr dirty="0"/>
                  <a:t> de </a:t>
                </a:r>
                <a:r>
                  <a:rPr dirty="0" err="1"/>
                  <a:t>empleo</a:t>
                </a:r>
                <a:r>
                  <a:rPr dirty="0"/>
                  <a:t>, la </a:t>
                </a:r>
                <a:r>
                  <a:rPr dirty="0" err="1"/>
                  <a:t>transparencia</a:t>
                </a:r>
                <a:r>
                  <a:rPr dirty="0"/>
                  <a:t> </a:t>
                </a:r>
                <a:r>
                  <a:rPr dirty="0" err="1"/>
                  <a:t>informativa</a:t>
                </a:r>
                <a:r>
                  <a:rPr dirty="0"/>
                  <a:t> y la </a:t>
                </a:r>
                <a:r>
                  <a:rPr dirty="0" err="1"/>
                  <a:t>adecuación</a:t>
                </a:r>
                <a:r>
                  <a:rPr dirty="0"/>
                  <a:t> de </a:t>
                </a:r>
                <a:r>
                  <a:rPr dirty="0" err="1"/>
                  <a:t>cualificaciones</a:t>
                </a:r>
                <a:r>
                  <a:rPr dirty="0"/>
                  <a:t>.</a:t>
                </a:r>
                <a:br>
                  <a:rPr dirty="0"/>
                </a:br>
                <a:r>
                  <a:rPr dirty="0"/>
                  <a:t>• </a:t>
                </a:r>
                <a:r>
                  <a:rPr dirty="0" err="1"/>
                  <a:t>Tensión</a:t>
                </a:r>
                <a:r>
                  <a:rPr dirty="0"/>
                  <a:t> Laboral (θ = V/U): Mide la </a:t>
                </a:r>
                <a:r>
                  <a:rPr dirty="0" err="1"/>
                  <a:t>holgura</a:t>
                </a:r>
                <a:r>
                  <a:rPr dirty="0"/>
                  <a:t> o </a:t>
                </a:r>
                <a:r>
                  <a:rPr dirty="0" err="1"/>
                  <a:t>presión</a:t>
                </a:r>
                <a:r>
                  <a:rPr dirty="0"/>
                  <a:t> del mercado. Si θ </a:t>
                </a:r>
                <a:r>
                  <a:rPr dirty="0" err="1"/>
                  <a:t>sube</a:t>
                </a:r>
                <a:r>
                  <a:rPr dirty="0"/>
                  <a:t>, encontrar </a:t>
                </a:r>
                <a:r>
                  <a:rPr dirty="0" err="1"/>
                  <a:t>empleo</a:t>
                </a:r>
                <a:r>
                  <a:rPr dirty="0"/>
                  <a:t> (f) es </a:t>
                </a:r>
                <a:r>
                  <a:rPr dirty="0" err="1"/>
                  <a:t>más</a:t>
                </a:r>
                <a:r>
                  <a:rPr dirty="0"/>
                  <a:t> </a:t>
                </a:r>
                <a:r>
                  <a:rPr dirty="0" err="1"/>
                  <a:t>rápido</a:t>
                </a:r>
                <a:r>
                  <a:rPr dirty="0"/>
                  <a:t>.</a:t>
                </a:r>
              </a:p>
            </p:txBody>
          </p:sp>
        </mc:Choice>
        <mc:Fallback>
          <p:sp>
            <p:nvSpPr>
              <p:cNvPr id="8" name="Rounded 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40" y="1645920"/>
                <a:ext cx="5943600" cy="438912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rgbClr val="DCE5DF"/>
                </a:solidFill>
              </a:ln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ounded Rectangle 8"/>
          <p:cNvSpPr/>
          <p:nvPr/>
        </p:nvSpPr>
        <p:spPr>
          <a:xfrm>
            <a:off x="6766560" y="1645920"/>
            <a:ext cx="4846320" cy="4389120"/>
          </a:xfrm>
          <a:prstGeom prst="roundRect">
            <a:avLst/>
          </a:prstGeom>
          <a:solidFill>
            <a:srgbClr val="F4F8F5"/>
          </a:solidFill>
          <a:ln w="19050">
            <a:solidFill>
              <a:srgbClr val="769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01168" rIns="228600" rtlCol="0" anchor="ctr"/>
          <a:lstStyle/>
          <a:p>
            <a:pPr algn="ctr">
              <a:spcAft>
                <a:spcPts val="1000"/>
              </a:spcAft>
              <a:defRPr sz="1600" b="1">
                <a:solidFill>
                  <a:srgbClr val="113927"/>
                </a:solidFill>
                <a:latin typeface="Outfit"/>
              </a:defRPr>
            </a:pPr>
            <a:r>
              <a:t>2. LA METÁFORA DE LA PISTA DE BAILE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• Las Personas en la Barra: Desempleados buscando pareja de baile adecuada.</a:t>
            </a:r>
            <a:br/>
            <a:br/>
            <a:r>
              <a:t>• Los Huecos Libres en la Pista: Vacantes de empleo disponibles esperando ocuparse.</a:t>
            </a:r>
            <a:br/>
            <a:br/>
            <a:r>
              <a:t>• ¿Por qué no bailan? Si la música no encaja con los pasos que dominan (skills mismatch), si no hay luz para verse (asimetría de información) o si el coste de moverse es alto (barreras geográficas), la pista seguirá llena de huecos y la barra llena de personas solas.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98F71"/>
                </a:solidFill>
                <a:latin typeface="Outfit"/>
              </a:defRPr>
            </a:pPr>
            <a:r>
              <a:t>BLOQUE 3 · TEORÍA Y DIAGNÓSTICO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960120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13927"/>
                </a:solidFill>
                <a:latin typeface="Outfit"/>
              </a:defRPr>
            </a:pPr>
            <a:r>
              <a:t>Geometría de Beveridge: Movimientos vs. Desplazamientos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96012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Epígrafe 6.2 oficial: la distinción analítica entre ciclo económico y desajuste estructural</a:t>
            </a:r>
          </a:p>
        </p:txBody>
      </p:sp>
      <p:pic>
        <p:nvPicPr>
          <p:cNvPr id="5" name="Picture 4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365760"/>
            <a:ext cx="1158544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Doble Grado DER-RRLL · UPO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76927A"/>
                </a:solidFill>
                <a:latin typeface="Calibri"/>
              </a:defRPr>
            </a:pPr>
            <a:r>
              <a:t>9 / 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45920"/>
            <a:ext cx="539496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E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01168" rIns="228600" rtlCol="0" anchor="ctr"/>
          <a:lstStyle/>
          <a:p>
            <a:pPr algn="ctr">
              <a:spcAft>
                <a:spcPts val="1000"/>
              </a:spcAft>
              <a:defRPr sz="1600" b="1">
                <a:solidFill>
                  <a:srgbClr val="113927"/>
                </a:solidFill>
                <a:latin typeface="Outfit"/>
              </a:defRPr>
            </a:pPr>
            <a:r>
              <a:t>1. MOVIMIENTOS A LO LARGO DE LA CURVA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• Causa Exclusiva: Shocks del Ciclo Económico (fluctuaciones de Demanda Agregada).</a:t>
            </a:r>
            <a:br/>
            <a:br/>
            <a:r>
              <a:t>• Fase de Recesión: La caída de ventas hace que las empresas congelen vacantes y destruyan empleo: movimiento hacia abajo y a la derecha (u ↑, v ↓).</a:t>
            </a:r>
            <a:br/>
            <a:br/>
            <a:r>
              <a:t>• Fase de Expansión: Aumenta la actividad, se publican más ofertas y se absorben parados: movimiento hacia arriba y a la izquierda (u ↓, v ↑).</a:t>
            </a:r>
            <a:br/>
            <a:br/>
            <a:r>
              <a:t>• Pendiente Negativa: Relación inversa natural.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539496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98F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01168" rIns="228600" rtlCol="0" anchor="ctr"/>
          <a:lstStyle/>
          <a:p>
            <a:pPr algn="ctr">
              <a:spcAft>
                <a:spcPts val="1000"/>
              </a:spcAft>
              <a:defRPr sz="1600" b="1">
                <a:solidFill>
                  <a:srgbClr val="113927"/>
                </a:solidFill>
                <a:latin typeface="Outfit"/>
              </a:defRPr>
            </a:pPr>
            <a:r>
              <a:t>2. DESPLAZAMIENTOS DE LA CURVA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• Causa Exclusiva: Cambios Estructurales en la Eficiencia del Emparejamiento (A).</a:t>
            </a:r>
            <a:br/>
            <a:br/>
            <a:r>
              <a:t>• Desplazamiento Hacia el Exterior (BC1 ➔ BC2):</a:t>
            </a:r>
            <a:br/>
            <a:r>
              <a:t>  - Para una MISMA tasa de vacantes, hay MUCHO MÁS desempleo.</a:t>
            </a:r>
            <a:br/>
            <a:r>
              <a:t>  - Síntoma de desajuste formativo (skills mismatch), ineficiencia en el SAE/SEPE o histéresis.</a:t>
            </a:r>
            <a:br/>
            <a:br/>
            <a:r>
              <a:t>• Desplazamiento Hacia el Origen (BC2 ➔ BC1):</a:t>
            </a:r>
            <a:br/>
            <a:r>
              <a:t>  - Aumento de la eficiencia (A ↑): mejor orientación, formación dual y digitalización.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98F71"/>
                </a:solidFill>
                <a:latin typeface="Outfit"/>
              </a:defRPr>
            </a:pPr>
            <a:r>
              <a:t>BLOQUE 3 · INTERPRETACIÓN ECONÓMICA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960120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13927"/>
                </a:solidFill>
                <a:latin typeface="Outfit"/>
              </a:defRPr>
            </a:pPr>
            <a:r>
              <a:t>Puntos Notables en la Curva de Beveridge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96012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Epígrafe 6.3 oficial: equilibrio natural (Punto A) vs. desequilibrios macroeconómicos</a:t>
            </a:r>
          </a:p>
        </p:txBody>
      </p:sp>
      <p:pic>
        <p:nvPicPr>
          <p:cNvPr id="5" name="Picture 4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365760"/>
            <a:ext cx="1158544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Doble Grado DER-RRLL · UPO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76927A"/>
                </a:solidFill>
                <a:latin typeface="Calibri"/>
              </a:defRPr>
            </a:pPr>
            <a:r>
              <a:t>10 / 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45920"/>
            <a:ext cx="3611880" cy="4389120"/>
          </a:xfrm>
          <a:prstGeom prst="roundRect">
            <a:avLst/>
          </a:prstGeom>
          <a:solidFill>
            <a:srgbClr val="F4F8F5"/>
          </a:solidFill>
          <a:ln w="19050">
            <a:solidFill>
              <a:srgbClr val="DCE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01168" rIns="201168" rtlCol="0" anchor="ctr"/>
          <a:lstStyle/>
          <a:p>
            <a:pPr algn="ctr">
              <a:spcAft>
                <a:spcPts val="400"/>
              </a:spcAft>
              <a:defRPr sz="1500" b="1">
                <a:solidFill>
                  <a:srgbClr val="113927"/>
                </a:solidFill>
                <a:latin typeface="Outfit"/>
              </a:defRPr>
            </a:pPr>
            <a:r>
              <a:t>PUNTO A · TASA NATURAL</a:t>
            </a:r>
          </a:p>
          <a:p>
            <a:pPr>
              <a:spcAft>
                <a:spcPts val="1400"/>
              </a:spcAft>
              <a:defRPr sz="1200" b="1">
                <a:solidFill>
                  <a:srgbClr val="E98F71"/>
                </a:solidFill>
                <a:latin typeface="Outfit"/>
              </a:defRPr>
            </a:pPr>
            <a:r>
              <a:t>Sobre la Bisectriz (u = v)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La tasa de desempleo coincide con la de vacantes.</a:t>
            </a:r>
            <a:br/>
            <a:br/>
            <a:r>
              <a:t>Todo el desempleo observado es puramente friccional o de reasignación saludable; no hay componente cíclico.</a:t>
            </a:r>
            <a:br/>
            <a:br/>
            <a:r>
              <a:t>Es el punto de referencia de equilibrio ideal para los responsables de política.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645920"/>
            <a:ext cx="3611880" cy="4389120"/>
          </a:xfrm>
          <a:prstGeom prst="roundRect">
            <a:avLst/>
          </a:prstGeom>
          <a:solidFill>
            <a:srgbClr val="F4F8F5"/>
          </a:solidFill>
          <a:ln w="19050">
            <a:solidFill>
              <a:srgbClr val="DCE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01168" rIns="201168" rtlCol="0" anchor="ctr"/>
          <a:lstStyle/>
          <a:p>
            <a:pPr algn="ctr">
              <a:spcAft>
                <a:spcPts val="400"/>
              </a:spcAft>
              <a:defRPr sz="1500" b="1">
                <a:solidFill>
                  <a:srgbClr val="113927"/>
                </a:solidFill>
                <a:latin typeface="Outfit"/>
              </a:defRPr>
            </a:pPr>
            <a:r>
              <a:t>PUNTO B · RECESIÓN SEVERA</a:t>
            </a:r>
          </a:p>
          <a:p>
            <a:pPr>
              <a:spcAft>
                <a:spcPts val="1400"/>
              </a:spcAft>
              <a:defRPr sz="1200" b="1">
                <a:solidFill>
                  <a:srgbClr val="E98F71"/>
                </a:solidFill>
                <a:latin typeface="Outfit"/>
              </a:defRPr>
            </a:pPr>
            <a:r>
              <a:t>Bajo la Bisectriz (u &gt; v)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La tasa de desempleo supera ampliamente a la de vacantes ofertadas.</a:t>
            </a:r>
            <a:br/>
            <a:br/>
            <a:r>
              <a:t>Existe un fuerte componente de desempleo involuntario keynesiano por insuficiencia de demanda agregada.</a:t>
            </a:r>
            <a:br/>
            <a:br/>
            <a:r>
              <a:t>Requiere políticas macroeconómicas y estabilizadores.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645920"/>
            <a:ext cx="3611880" cy="4389120"/>
          </a:xfrm>
          <a:prstGeom prst="roundRect">
            <a:avLst/>
          </a:prstGeom>
          <a:solidFill>
            <a:srgbClr val="F4F8F5"/>
          </a:solidFill>
          <a:ln w="19050">
            <a:solidFill>
              <a:srgbClr val="DCE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01168" rIns="201168" rtlCol="0" anchor="ctr"/>
          <a:lstStyle/>
          <a:p>
            <a:pPr algn="ctr">
              <a:spcAft>
                <a:spcPts val="400"/>
              </a:spcAft>
              <a:defRPr sz="1500" b="1">
                <a:solidFill>
                  <a:srgbClr val="113927"/>
                </a:solidFill>
                <a:latin typeface="Outfit"/>
              </a:defRPr>
            </a:pPr>
            <a:r>
              <a:t>PUNTO C · SOBRECALENTAMIENTO</a:t>
            </a:r>
          </a:p>
          <a:p>
            <a:pPr>
              <a:spcAft>
                <a:spcPts val="1400"/>
              </a:spcAft>
              <a:defRPr sz="1200" b="1">
                <a:solidFill>
                  <a:srgbClr val="E98F71"/>
                </a:solidFill>
                <a:latin typeface="Outfit"/>
              </a:defRPr>
            </a:pPr>
            <a:r>
              <a:t>Sobre la Bisectriz (u &lt; v)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La tasa de vacantes supera al desempleo disponible en la economía.</a:t>
            </a:r>
            <a:br/>
            <a:br/>
            <a:r>
              <a:t>Tensión crítica (θ &gt;&gt; 1): las empresas no encuentran mano de obra.</a:t>
            </a:r>
            <a:br/>
            <a:br/>
            <a:r>
              <a:t>Riesgo de presiones salariales inflacionistas según la Curva de Phillips aceleracionista.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98F71"/>
                </a:solidFill>
                <a:latin typeface="Outfit"/>
              </a:defRPr>
            </a:pPr>
            <a:r>
              <a:t>BLOQUE 3.5 · EVIDENCIA EMPÍRICA (AMPLIACIÓN L1)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960120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13927"/>
                </a:solidFill>
                <a:latin typeface="Outfit"/>
              </a:defRPr>
            </a:pPr>
            <a:r>
              <a:t>La Curva de Beveridge en España (1980–2024)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96012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Figura 1.9 oficial de los apuntes: análisis de las tres fases históricas macroeconómicas</a:t>
            </a:r>
          </a:p>
        </p:txBody>
      </p:sp>
      <p:pic>
        <p:nvPicPr>
          <p:cNvPr id="5" name="Picture 4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365760"/>
            <a:ext cx="1158544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Doble Grado DER-RRLL · UPO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76927A"/>
                </a:solidFill>
                <a:latin typeface="Calibri"/>
              </a:defRPr>
            </a:pPr>
            <a:r>
              <a:t>11 / 17</a:t>
            </a:r>
          </a:p>
        </p:txBody>
      </p:sp>
      <p:pic>
        <p:nvPicPr>
          <p:cNvPr id="8" name="Picture 7" descr="curva_beveridge_d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45920"/>
            <a:ext cx="6217920" cy="43891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949440" y="1645920"/>
            <a:ext cx="466344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69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rtlCol="0" anchor="ctr"/>
          <a:lstStyle/>
          <a:p>
            <a:pPr algn="ctr">
              <a:spcAft>
                <a:spcPts val="1000"/>
              </a:spcAft>
              <a:defRPr sz="1500" b="1">
                <a:solidFill>
                  <a:srgbClr val="113927"/>
                </a:solidFill>
                <a:latin typeface="Outfit"/>
              </a:defRPr>
            </a:pPr>
            <a:r>
              <a:t>TRES FASES HISTÓRICAS (PANEL B)</a:t>
            </a:r>
          </a:p>
          <a:p>
            <a:pPr>
              <a:defRPr sz="1500">
                <a:solidFill>
                  <a:srgbClr val="2F3A30"/>
                </a:solidFill>
                <a:latin typeface="Calibri"/>
              </a:defRPr>
            </a:pPr>
            <a:r>
              <a:t>1. Fase 1 (1980–2007 · Pre-Crisis):</a:t>
            </a:r>
            <a:br/>
            <a:r>
              <a:t>Curva relativamente estable y próxima al origen, anclada en el Punto A. Funcionamiento eficiente.</a:t>
            </a:r>
            <a:br/>
            <a:br/>
            <a:r>
              <a:t>2. Fase 2 (2008–2013 · Gran Recesión):</a:t>
            </a:r>
            <a:br/>
            <a:r>
              <a:t>Desplazamiento masivo a la derecha (+5 p.p. de paro estructural). El shock del ladrillo dejó a cientos de miles de peones sin encaje directo en otros sectores.</a:t>
            </a:r>
            <a:br/>
            <a:br/>
            <a:r>
              <a:t>3. Fase 3 (2014–2024 · Recuperación Parcial):</a:t>
            </a:r>
            <a:br/>
            <a:r>
              <a:t>Retorno de ~3/4 del desplazamiento tras la reforma laboral de 2012. En 2024, récord histórico de vacantes (0,75%-0,90%) con paro rígido en 11,3%.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98F71"/>
                </a:solidFill>
                <a:latin typeface="Outfit"/>
              </a:defRPr>
            </a:pPr>
            <a:r>
              <a:t>BLOQUE 3.5 · CUANTIFICACIÓN ANALÍTICA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960120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13927"/>
                </a:solidFill>
                <a:latin typeface="Outfit"/>
              </a:defRPr>
            </a:pPr>
            <a:r>
              <a:t>El Coste Macroeconómico de la Ineficiencia Laboral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96012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Resultados del modelo dinámico de equilibrio general (DGEM) · FEDEA / Nada es Gratis</a:t>
            </a:r>
          </a:p>
        </p:txBody>
      </p:sp>
      <p:pic>
        <p:nvPicPr>
          <p:cNvPr id="5" name="Picture 4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365760"/>
            <a:ext cx="1158544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Doble Grado DER-RRLL · UPO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76927A"/>
                </a:solidFill>
                <a:latin typeface="Calibri"/>
              </a:defRPr>
            </a:pPr>
            <a:r>
              <a:t>12 / 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45920"/>
            <a:ext cx="5394960" cy="4389120"/>
          </a:xfrm>
          <a:prstGeom prst="roundRect">
            <a:avLst/>
          </a:prstGeom>
          <a:solidFill>
            <a:srgbClr val="F4F8F5"/>
          </a:solidFill>
          <a:ln w="19050">
            <a:solidFill>
              <a:srgbClr val="DCE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01168" rIns="228600" rtlCol="0" anchor="ctr"/>
          <a:lstStyle/>
          <a:p>
            <a:pPr algn="ctr">
              <a:spcAft>
                <a:spcPts val="1000"/>
              </a:spcAft>
              <a:defRPr sz="1600" b="1">
                <a:solidFill>
                  <a:srgbClr val="113927"/>
                </a:solidFill>
                <a:latin typeface="Outfit"/>
              </a:defRPr>
            </a:pPr>
            <a:r>
              <a:t>1. CUANTIFICACIÓN DEL IMPACTO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• Impacto sobre el Empleo:</a:t>
            </a:r>
            <a:br/>
            <a:r>
              <a:t>La caída en la eficiencia de emparejamiento (A) explica hasta el 31% de la destrucción total de puestos de trabajo durante la crisis.</a:t>
            </a:r>
            <a:br/>
            <a:br/>
            <a:r>
              <a:t>• Impacto sobre el PIB:</a:t>
            </a:r>
            <a:br/>
            <a:r>
              <a:t>El colapso en A explica el 55% de la disminución del Producto Interior Bruto en el punto más crítico de la recesión.</a:t>
            </a:r>
            <a:br/>
            <a:br/>
            <a:r>
              <a:t>• Horas Trabajadas: El modelo explica el aumento anómalo de horas medias trabajadas por empleado durante la crisis.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539496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69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01168" rIns="228600" rtlCol="0" anchor="ctr"/>
          <a:lstStyle/>
          <a:p>
            <a:pPr algn="ctr">
              <a:spcAft>
                <a:spcPts val="1000"/>
              </a:spcAft>
              <a:defRPr sz="1600" b="1">
                <a:solidFill>
                  <a:srgbClr val="113927"/>
                </a:solidFill>
                <a:latin typeface="Outfit"/>
              </a:defRPr>
            </a:pPr>
            <a:r>
              <a:t>2. LECCIÓN CLAVE DE POLÍTICA PÚBLICA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• El Error del Diagnóstico Exclusivo:</a:t>
            </a:r>
            <a:br/>
            <a:r>
              <a:t>Tradicionalmente se atribuyó la crisis laboral española solo a la rigidez de los costes de despido o a la negociación colectiva.</a:t>
            </a:r>
            <a:br/>
            <a:br/>
            <a:r>
              <a:t>• La Importancia de la Intermediación:</a:t>
            </a:r>
            <a:br/>
            <a:r>
              <a:t>Este estudio demostró que la ineficiencia en las políticas activas y los servicios públicos de empleo (SAE/SEPE) multiplicó la recesión.</a:t>
            </a:r>
            <a:br/>
            <a:br/>
            <a:r>
              <a:t>• Desafío Inmediato: Reducir la volatilidad estructural conectando educación y empresa.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98F71"/>
                </a:solidFill>
                <a:latin typeface="Outfit"/>
              </a:defRPr>
            </a:pPr>
            <a:r>
              <a:t>BLOQUE 4 · LABORATORIO ACTIVO Y SIMULADOR (20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960120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13927"/>
                </a:solidFill>
                <a:latin typeface="Outfit"/>
              </a:defRPr>
            </a:pPr>
            <a:r>
              <a:t>Simulador Móvil: Curva de Beveridge y Emparejamiento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96012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Misión técnica interactiva: rol de Analistas de la Consejería de Empleo desde el smartphone</a:t>
            </a:r>
          </a:p>
        </p:txBody>
      </p:sp>
      <p:pic>
        <p:nvPicPr>
          <p:cNvPr id="5" name="Picture 4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365760"/>
            <a:ext cx="1158544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Doble Grado DER-RRLL · UPO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76927A"/>
                </a:solidFill>
                <a:latin typeface="Calibri"/>
              </a:defRPr>
            </a:pPr>
            <a:r>
              <a:t>13 / 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45920"/>
            <a:ext cx="68580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69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201168" rIns="256032" rtlCol="0" anchor="ctr"/>
          <a:lstStyle/>
          <a:p>
            <a:pPr algn="ctr">
              <a:spcAft>
                <a:spcPts val="800"/>
              </a:spcAft>
              <a:defRPr sz="1200" b="1">
                <a:solidFill>
                  <a:srgbClr val="E98F71"/>
                </a:solidFill>
                <a:latin typeface="Outfit"/>
              </a:defRPr>
            </a:pPr>
            <a:r>
              <a:t>MISIÓN TÉCNICA · GABINETE DE LA CONSEJERÍA DE EMPLEO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1. Apertura de la App en el Móvil: Escanear el código QR contiguo para abrir el simulador interactivo en HTML5 Canvas.</a:t>
            </a:r>
            <a:br/>
            <a:br/>
            <a:r>
              <a:t>2. Experimento 1 (Ciclo vs Estructura): Mover el control de Demanda Agregada manteniendo A constante. Comprobar cómo la economía se desplaza a lo largo de la curva UV.</a:t>
            </a:r>
            <a:br/>
            <a:br/>
            <a:r>
              <a:t>3. Experimento 2 (Shock de Desajuste): Activar el escenario de Skills Mismatch y caída de A. Observar cómo la curva entera se desplaza hacia el exterior.</a:t>
            </a:r>
            <a:br/>
            <a:br/>
            <a:r>
              <a:t>4. Cumplimentar en parejas la Hoja de Laboratorio Activo.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80960" y="1645920"/>
            <a:ext cx="3931920" cy="4389120"/>
          </a:xfrm>
          <a:prstGeom prst="roundRect">
            <a:avLst/>
          </a:prstGeom>
          <a:solidFill>
            <a:srgbClr val="F4F8F5"/>
          </a:solidFill>
          <a:ln w="19050">
            <a:solidFill>
              <a:srgbClr val="E98F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01168" rIns="182880" rtlCol="0" anchor="ctr"/>
          <a:lstStyle/>
          <a:p>
            <a:pPr algn="ctr">
              <a:spcAft>
                <a:spcPts val="600"/>
              </a:spcAft>
              <a:defRPr sz="1100" b="1">
                <a:solidFill>
                  <a:srgbClr val="113927"/>
                </a:solidFill>
                <a:latin typeface="Outfit"/>
              </a:defRPr>
            </a:pPr>
            <a:r>
              <a:t>ACCESO DIRECTO A LA MICRO-APP</a:t>
            </a:r>
          </a:p>
          <a:p>
            <a:pPr algn="ctr">
              <a:spcAft>
                <a:spcPts val="1000"/>
              </a:spcAft>
              <a:defRPr sz="1500" b="1">
                <a:solidFill>
                  <a:srgbClr val="E98F71"/>
                </a:solidFill>
                <a:latin typeface="Outfit"/>
              </a:defRPr>
            </a:pPr>
            <a:r>
              <a:t>Simulador Beveridge &amp; DMP</a:t>
            </a:r>
          </a:p>
        </p:txBody>
      </p:sp>
      <p:pic>
        <p:nvPicPr>
          <p:cNvPr id="10" name="Picture 9" descr="qr_app_sesion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2560320"/>
            <a:ext cx="2468880" cy="2468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0" y="5166360"/>
            <a:ext cx="3749039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2F3A30"/>
                </a:solidFill>
                <a:latin typeface="Calibri"/>
              </a:defRPr>
            </a:pPr>
            <a:r>
              <a:t>mhidper.github.io/micro_apps</a:t>
            </a:r>
            <a:br/>
            <a:r>
              <a:t>(Simulador interactivo · 15 min)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98F71"/>
                </a:solidFill>
                <a:latin typeface="Outfit"/>
              </a:defRPr>
            </a:pPr>
            <a:r>
              <a:t>BLOQUE 4 · AUDITORÍA DE POLÍTICAS PÚBLICAS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960120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13927"/>
                </a:solidFill>
                <a:latin typeface="Outfit"/>
              </a:defRPr>
            </a:pPr>
            <a:r>
              <a:t>El Programa Emplea-T y las Políticas Activas (PAE)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96012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Conexión directa con el Caso 1 de EPD: auditoría de la Orden de 3 de octubre de 2024</a:t>
            </a:r>
          </a:p>
        </p:txBody>
      </p:sp>
      <p:pic>
        <p:nvPicPr>
          <p:cNvPr id="5" name="Picture 4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365760"/>
            <a:ext cx="1158544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Doble Grado DER-RRLL · UPO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76927A"/>
                </a:solidFill>
                <a:latin typeface="Calibri"/>
              </a:defRPr>
            </a:pPr>
            <a:r>
              <a:t>14 / 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45920"/>
            <a:ext cx="539496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E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01168" rIns="228600" rtlCol="0" anchor="ctr"/>
          <a:lstStyle/>
          <a:p>
            <a:pPr algn="ctr">
              <a:spcAft>
                <a:spcPts val="1000"/>
              </a:spcAft>
              <a:defRPr sz="1600" b="1">
                <a:solidFill>
                  <a:srgbClr val="113927"/>
                </a:solidFill>
                <a:latin typeface="Outfit"/>
              </a:defRPr>
            </a:pPr>
            <a:r>
              <a:t>1. EL RETO DEL PESO MUERTO (DEADWEIGHT)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• Definición Económica: Subvencionar contrataciones que la empresa privada habría realizado de todos modos según su operativa habitual.</a:t>
            </a:r>
            <a:br/>
            <a:br/>
            <a:r>
              <a:t>• Impacto Presupuestario: El dinero público se transfiere como renta a la empresa sin generar empleo neto adicional, disparando el coste efectivo por parado rescatado.</a:t>
            </a:r>
            <a:br/>
            <a:br/>
            <a:r>
              <a:t>• En Beveridge: No desplaza la curva hacia el origen; simplemente financia contrataciones que ya estaban previstas.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5394960" cy="4389120"/>
          </a:xfrm>
          <a:prstGeom prst="roundRect">
            <a:avLst/>
          </a:prstGeom>
          <a:solidFill>
            <a:srgbClr val="F4F8F5"/>
          </a:solidFill>
          <a:ln w="19050">
            <a:solidFill>
              <a:srgbClr val="769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01168" rIns="228600" rtlCol="0" anchor="ctr"/>
          <a:lstStyle/>
          <a:p>
            <a:pPr algn="ctr">
              <a:spcAft>
                <a:spcPts val="1000"/>
              </a:spcAft>
              <a:defRPr sz="1600" b="1">
                <a:solidFill>
                  <a:srgbClr val="113927"/>
                </a:solidFill>
                <a:latin typeface="Outfit"/>
              </a:defRPr>
            </a:pPr>
            <a:r>
              <a:t>2. CLÁUSULA ANTI-SUSTITUCIÓN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• El Riesgo de Sustitución: Despedir o no renovar a un trabajador veterano para contratar a un parado subvencionado por la Junta.</a:t>
            </a:r>
            <a:br/>
            <a:br/>
            <a:r>
              <a:t>• Solución Técnica de la Orden Emplea-T:</a:t>
            </a:r>
            <a:br/>
            <a:r>
              <a:t>  - Exigir incremento neto de la plantilla media de los 12 meses anteriores.</a:t>
            </a:r>
            <a:br/>
            <a:r>
              <a:t>  - Compromiso de mantenimiento del puesto subvencionado durante al menos 12 o 24 meses.</a:t>
            </a:r>
            <a:br/>
            <a:br/>
            <a:r>
              <a:t>• Clave para EPD: Auditar el cumplimiento de estas cláusulas en los microdatos.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98F71"/>
                </a:solidFill>
                <a:latin typeface="Outfit"/>
              </a:defRPr>
            </a:pPr>
            <a:r>
              <a:t>SÍNTESIS Y CIERRE DE TEMA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960120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13927"/>
                </a:solidFill>
                <a:latin typeface="Outfit"/>
              </a:defRPr>
            </a:pPr>
            <a:r>
              <a:t>Las Tres Conclusiones Imborrables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96012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Resumen macroeconómico y puente hacia las sesiones prácticas de EPD</a:t>
            </a:r>
          </a:p>
        </p:txBody>
      </p:sp>
      <p:pic>
        <p:nvPicPr>
          <p:cNvPr id="5" name="Picture 4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365760"/>
            <a:ext cx="1158544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Doble Grado DER-RRLL · UPO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76927A"/>
                </a:solidFill>
                <a:latin typeface="Calibri"/>
              </a:defRPr>
            </a:pPr>
            <a:r>
              <a:t>15 / 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45920"/>
            <a:ext cx="11091672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E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64592" rIns="228600" rtlCol="0" anchor="ctr"/>
          <a:lstStyle/>
          <a:p>
            <a:pPr algn="ctr">
              <a:spcAft>
                <a:spcPts val="400"/>
              </a:spcAft>
              <a:defRPr sz="1500" b="1">
                <a:solidFill>
                  <a:srgbClr val="113927"/>
                </a:solidFill>
                <a:latin typeface="Outfit"/>
              </a:defRPr>
            </a:pPr>
            <a:r>
              <a:t>1. EL DESEMPLEO ES UN BALANCE DINÁMICO DE FLUJOS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La tasa natural estacionaria u* = s / (s + f) demuestra que el desempleo no es una masa estática. Las políticas públicas deben actuar simultáneamente sobre la estabilidad en el empleo (reducir s) y sobre la eficacia de la intermediación y recolocación (aumentar f).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154680"/>
            <a:ext cx="11091672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E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64592" rIns="228600" rtlCol="0" anchor="ctr"/>
          <a:lstStyle/>
          <a:p>
            <a:pPr algn="ctr">
              <a:spcAft>
                <a:spcPts val="400"/>
              </a:spcAft>
              <a:defRPr sz="1500" b="1">
                <a:solidFill>
                  <a:srgbClr val="113927"/>
                </a:solidFill>
                <a:latin typeface="Outfit"/>
              </a:defRPr>
            </a:pPr>
            <a:r>
              <a:t>2. BEVERIDGE DIFERENCIA EL CICLO DE LA ESTRUCTURA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Un shock de demanda mueve la economía a lo largo de la curva de Beveridge (recesión keynesiana). Un desajuste de habilidades o ineficiencia institucional desplaza la curva entera hacia afuera. El gasto de demanda generalizado ante desajustes solo produce inflación.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663440"/>
            <a:ext cx="11091672" cy="1325880"/>
          </a:xfrm>
          <a:prstGeom prst="roundRect">
            <a:avLst/>
          </a:prstGeom>
          <a:solidFill>
            <a:srgbClr val="F4F8F5"/>
          </a:solidFill>
          <a:ln w="19050">
            <a:solidFill>
              <a:srgbClr val="E98F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64592" rIns="228600" rtlCol="0" anchor="ctr"/>
          <a:lstStyle/>
          <a:p>
            <a:pPr algn="ctr">
              <a:spcAft>
                <a:spcPts val="400"/>
              </a:spcAft>
              <a:defRPr sz="1500" b="1">
                <a:solidFill>
                  <a:srgbClr val="113927"/>
                </a:solidFill>
                <a:latin typeface="Outfit"/>
              </a:defRPr>
            </a:pPr>
            <a:r>
              <a:t>3. PRÓXIMA PARADA: CASO 1 EN EPD Y TEMA 2 (POLÍTICAS ACTIVAS)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Concluimos formalmente el Tema 1. En la Semana 5 arrancan las prácticas EPD en el aula de informática, donde vuestro equipo auditará los microdatos reales del Programa Emplea-T aplicando todo el instrumental analítico aprendido.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98F71"/>
                </a:solidFill>
                <a:latin typeface="Outfit"/>
              </a:defRPr>
            </a:pPr>
            <a:r>
              <a:t>BLOQUE 5 · RETO INDIVIDUAL DE CIERRE (10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960120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13927"/>
                </a:solidFill>
                <a:latin typeface="Outfit"/>
              </a:defRPr>
            </a:pPr>
            <a:r>
              <a:t>Reto Manuscrito Anti-IA en Papel: Beveridge y Flujos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96012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Redacción individual de puño y letra en cuartilla de papel en entorno libre de pantallas</a:t>
            </a:r>
          </a:p>
        </p:txBody>
      </p:sp>
      <p:pic>
        <p:nvPicPr>
          <p:cNvPr id="5" name="Picture 4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365760"/>
            <a:ext cx="1158544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Doble Grado DER-RRLL · UPO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76927A"/>
                </a:solidFill>
                <a:latin typeface="Calibri"/>
              </a:defRPr>
            </a:pPr>
            <a:r>
              <a:t>16 / 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45920"/>
            <a:ext cx="539496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E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01168" rIns="228600" rtlCol="0" anchor="ctr"/>
          <a:lstStyle/>
          <a:p>
            <a:pPr algn="ctr">
              <a:spcAft>
                <a:spcPts val="1000"/>
              </a:spcAft>
              <a:defRPr sz="1500" b="1">
                <a:solidFill>
                  <a:srgbClr val="113927"/>
                </a:solidFill>
                <a:latin typeface="Outfit"/>
              </a:defRPr>
            </a:pPr>
            <a:r>
              <a:t>PREGUNTA 1 · CONCEPTUAL (500 PTS)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A partir de la condición de flujo estacionario y la función de emparejamiento m = A·U^α·V^(1-α):</a:t>
            </a:r>
            <a:br/>
            <a:br/>
            <a:r>
              <a:t>a) Demuestre analíticamente por qué la tasa natural de desempleo de equilibrio a largo plazo es u* = s / (s + f) y defina con precisión las variables s y f.</a:t>
            </a:r>
            <a:br/>
            <a:br/>
            <a:r>
              <a:t>b) Utilizando el marco de la Curva de Beveridge, distinga conceptualmente entre un movimiento a lo largo de la curva y un desplazamiento hacia el exterior, indicando qué variables provocan cada uno.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539496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98F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01168" rIns="228600" rtlCol="0" anchor="ctr"/>
          <a:lstStyle/>
          <a:p>
            <a:pPr algn="ctr">
              <a:spcAft>
                <a:spcPts val="1000"/>
              </a:spcAft>
              <a:defRPr sz="1500" b="1">
                <a:solidFill>
                  <a:srgbClr val="113927"/>
                </a:solidFill>
                <a:latin typeface="Outfit"/>
              </a:defRPr>
            </a:pPr>
            <a:r>
              <a:t>PREGUNTA 2 · APLICADA (500 PTS)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En España coexisten 155.000 vacantes sin cubrir (v ≈ 0,75%) y una tasa de paro del 11,3%:</a:t>
            </a:r>
            <a:br/>
            <a:br/>
            <a:r>
              <a:t>a) Represente gráficamente la situación en el plano (U,V), sitúe la posición respecto a la bisectriz y determine si el problema es cíclico o estructural.</a:t>
            </a:r>
            <a:br/>
            <a:br/>
            <a:r>
              <a:t>b) Si el gobierno inyecta 10.000 M€ en estímulos fiscales de consumo creyendo que el paro es puramente cíclico: ¿qué ocurrirá con vacantes, paro e inflación?</a:t>
            </a:r>
            <a:br/>
            <a:br/>
            <a:r>
              <a:t>c) En el Programa Emplea-T, proponga medidas que eleven A y explique cómo evitar el peso muerto (deadweight).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98F71"/>
                </a:solidFill>
                <a:latin typeface="Outfit"/>
              </a:defRPr>
            </a:pPr>
            <a:r>
              <a:t>BLOQUE 5 · SUBIDA FOTOGRÁFICA Y RÚBRICA (5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960120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13927"/>
                </a:solidFill>
                <a:latin typeface="Outfit"/>
              </a:defRPr>
            </a:pPr>
            <a:r>
              <a:t>Envío Digital Autenticado del Reto Manuscrito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96012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Fotografía y subida instantánea mediante código QR institucional UPO en Microsoft Forms</a:t>
            </a:r>
          </a:p>
        </p:txBody>
      </p:sp>
      <p:pic>
        <p:nvPicPr>
          <p:cNvPr id="5" name="Picture 4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365760"/>
            <a:ext cx="1158544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Doble Grado DER-RRLL · UPO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76927A"/>
                </a:solidFill>
                <a:latin typeface="Calibri"/>
              </a:defRPr>
            </a:pPr>
            <a:r>
              <a:t>17 / 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45920"/>
            <a:ext cx="68580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69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201168" rIns="256032" rtlCol="0" anchor="ctr"/>
          <a:lstStyle/>
          <a:p>
            <a:pPr algn="ctr">
              <a:spcAft>
                <a:spcPts val="800"/>
              </a:spcAft>
              <a:defRPr sz="1200" b="1">
                <a:solidFill>
                  <a:srgbClr val="E98F71"/>
                </a:solidFill>
                <a:latin typeface="Outfit"/>
              </a:defRPr>
            </a:pPr>
            <a:r>
              <a:t>PASAPORTE DE EVALUACIÓN CONTINUA · PSLL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• Instrucciones de Entrega (2 minutos):</a:t>
            </a:r>
            <a:br/>
            <a:r>
              <a:t>  1. Desbloquea tu teléfono móvil y abre la cámara.</a:t>
            </a:r>
            <a:br/>
            <a:r>
              <a:t>  2. Escanea el código QR contiguo para acceder al formulario institucional.</a:t>
            </a:r>
            <a:br/>
            <a:r>
              <a:t>  3. Toma una fotografía nítida, iluminada y vertical de tu cuartilla manuscrita.</a:t>
            </a:r>
            <a:br/>
            <a:r>
              <a:t>  4. Sube la imagen autenticándote con tu cuenta oficial @alu.upo.es.</a:t>
            </a:r>
            <a:br/>
            <a:br/>
            <a:r>
              <a:t>• Gamificación / Beneficios de Evaluación:</a:t>
            </a:r>
            <a:br/>
            <a:r>
              <a:t>  - La entrega en tiempo y forma acumula puntos en tu Pasaporte Digital.</a:t>
            </a:r>
            <a:br/>
            <a:r>
              <a:t>  - Las calificaciones y soluciones canónicas estarán disponibles en el portal tras la corrección ciega.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80960" y="1645920"/>
            <a:ext cx="3931920" cy="4389120"/>
          </a:xfrm>
          <a:prstGeom prst="roundRect">
            <a:avLst/>
          </a:prstGeom>
          <a:solidFill>
            <a:srgbClr val="F4F8F5"/>
          </a:solidFill>
          <a:ln w="19050">
            <a:solidFill>
              <a:srgbClr val="E98F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01168" rIns="182880" rtlCol="0" anchor="ctr"/>
          <a:lstStyle/>
          <a:p>
            <a:pPr algn="ctr">
              <a:spcAft>
                <a:spcPts val="600"/>
              </a:spcAft>
              <a:defRPr sz="1100" b="1">
                <a:solidFill>
                  <a:srgbClr val="113927"/>
                </a:solidFill>
                <a:latin typeface="Outfit"/>
              </a:defRPr>
            </a:pPr>
            <a:r>
              <a:t>ESCANEA PARA SUBIR TU RETO</a:t>
            </a:r>
          </a:p>
          <a:p>
            <a:pPr algn="ctr">
              <a:spcAft>
                <a:spcPts val="1000"/>
              </a:spcAft>
              <a:defRPr sz="1500" b="1">
                <a:solidFill>
                  <a:srgbClr val="E98F71"/>
                </a:solidFill>
                <a:latin typeface="Outfit"/>
              </a:defRPr>
            </a:pPr>
            <a:r>
              <a:t>Microsoft Forms · Cuenta UPO</a:t>
            </a:r>
          </a:p>
        </p:txBody>
      </p:sp>
      <p:pic>
        <p:nvPicPr>
          <p:cNvPr id="10" name="Picture 9" descr="qr_reto_sesion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2560320"/>
            <a:ext cx="2468880" cy="2468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0" y="5166360"/>
            <a:ext cx="3749039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2F3A30"/>
                </a:solidFill>
                <a:latin typeface="Calibri"/>
              </a:defRPr>
            </a:pPr>
            <a:r>
              <a:t>forms.office.com/e/PSLL-Reto-S05</a:t>
            </a:r>
            <a:br/>
            <a:r>
              <a:t>(Tiempo de subida: 2 min)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8F71"/>
                </a:solidFill>
                <a:latin typeface="Outfit"/>
              </a:defRPr>
            </a:pPr>
            <a:r>
              <a:t>BLOQUE 2 · MODELIZACIÓN Y ESPACIO UV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960120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13927"/>
                </a:solidFill>
                <a:latin typeface="Outfit"/>
              </a:defRPr>
            </a:pPr>
            <a:r>
              <a:t>De la Pista de Baile a la Curva de Beveridge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96012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Epígrafe 6.1–6.2 oficial: cómo las micro-interacciones de la pista trazan la curva macroeconómica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365760"/>
            <a:ext cx="1161288" cy="365760"/>
          </a:xfrm>
          <a:prstGeom prst="rect">
            <a:avLst/>
          </a:prstGeom>
        </p:spPr>
      </p:pic>
      <p:pic>
        <p:nvPicPr>
          <p:cNvPr id="6" name="Picture 5" descr="curva_beveridge_pista_ba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36192"/>
            <a:ext cx="7772400" cy="36118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8640" y="5230368"/>
            <a:ext cx="7772400" cy="1005840"/>
          </a:xfrm>
          <a:prstGeom prst="roundRect">
            <a:avLst/>
          </a:prstGeom>
          <a:solidFill>
            <a:srgbClr val="F4F8F5"/>
          </a:solidFill>
          <a:ln w="12700">
            <a:solidFill>
              <a:srgbClr val="DCE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ctr">
              <a:defRPr sz="1300" b="1">
                <a:solidFill>
                  <a:srgbClr val="113927"/>
                </a:solidFill>
                <a:latin typeface="Outfit"/>
              </a:defRPr>
            </a:pPr>
            <a:r>
              <a:t>Mecanismo Causal de Agregación (De la Micro a la Macro):</a:t>
            </a:r>
          </a:p>
          <a:p>
            <a:pPr>
              <a:defRPr sz="1500">
                <a:solidFill>
                  <a:srgbClr val="2F3A30"/>
                </a:solidFill>
                <a:latin typeface="Calibri"/>
              </a:defRPr>
            </a:pPr>
            <a:r>
              <a:t>• En </a:t>
            </a:r>
            <a:r>
              <a:rPr b="1"/>
              <a:t>Recesión</a:t>
            </a:r>
            <a:r>
              <a:t>, las empresas retiran vacantes y los parados quedan solos en la sala (movimiento a lo largo, u ↑, v ↓). Con </a:t>
            </a:r>
            <a:r>
              <a:rPr b="1"/>
              <a:t>desajuste formativo (A ↓)</a:t>
            </a:r>
            <a:r>
              <a:t>, la pista se llena de puntos que chocan y rebotan sin emparejarse (desplazamiento hacia fuera).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03920" y="1536192"/>
            <a:ext cx="3154680" cy="470001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139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91440"/>
          <a:lstStyle/>
          <a:p>
            <a:pPr algn="ctr">
              <a:defRPr sz="1400" b="1">
                <a:solidFill>
                  <a:srgbClr val="113927"/>
                </a:solidFill>
                <a:latin typeface="Outfit"/>
              </a:defRPr>
            </a:pPr>
            <a:r>
              <a:t>LABORATORIO EN VIVO</a:t>
            </a:r>
          </a:p>
          <a:p>
            <a:pPr algn="ctr">
              <a:defRPr sz="1200" b="1">
                <a:solidFill>
                  <a:srgbClr val="76927A"/>
                </a:solidFill>
                <a:latin typeface="Calibri"/>
              </a:defRPr>
            </a:pPr>
            <a:r>
              <a:t>Micro-App: Pista de Baile ABM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53728" y="2194560"/>
            <a:ext cx="1645920" cy="1645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595360" y="3931920"/>
            <a:ext cx="29718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1100">
                <a:latin typeface="Calibri"/>
              </a:defRPr>
            </a:pPr>
            <a:r>
              <a:rPr b="1">
                <a:solidFill>
                  <a:srgbClr val="113927"/>
                </a:solidFill>
              </a:rPr>
              <a:t>🔴 Puntos Rojos: </a:t>
            </a:r>
            <a:r>
              <a:rPr>
                <a:solidFill>
                  <a:srgbClr val="2F3A30"/>
                </a:solidFill>
              </a:rPr>
              <a:t>Trabajadores desempleados (U).</a:t>
            </a:r>
          </a:p>
          <a:p>
            <a:pPr>
              <a:spcAft>
                <a:spcPts val="200"/>
              </a:spcAft>
              <a:defRPr sz="1100">
                <a:latin typeface="Calibri"/>
              </a:defRPr>
            </a:pPr>
            <a:r>
              <a:rPr b="1">
                <a:solidFill>
                  <a:srgbClr val="113927"/>
                </a:solidFill>
              </a:rPr>
              <a:t>🔵 Puntos Azules: </a:t>
            </a:r>
            <a:r>
              <a:rPr>
                <a:solidFill>
                  <a:srgbClr val="2F3A30"/>
                </a:solidFill>
              </a:rPr>
              <a:t>Empresas con vacantes (V).</a:t>
            </a:r>
          </a:p>
          <a:p>
            <a:pPr>
              <a:spcAft>
                <a:spcPts val="200"/>
              </a:spcAft>
              <a:defRPr sz="1100">
                <a:latin typeface="Calibri"/>
              </a:defRPr>
            </a:pPr>
            <a:r>
              <a:rPr b="1">
                <a:solidFill>
                  <a:srgbClr val="113927"/>
                </a:solidFill>
              </a:rPr>
              <a:t>🟢 Pareja Enlazada: </a:t>
            </a:r>
            <a:r>
              <a:rPr>
                <a:solidFill>
                  <a:srgbClr val="2F3A30"/>
                </a:solidFill>
              </a:rPr>
              <a:t>Contratación exitosa (M).</a:t>
            </a:r>
          </a:p>
          <a:p>
            <a:pPr>
              <a:spcAft>
                <a:spcPts val="200"/>
              </a:spcAft>
              <a:defRPr sz="1100">
                <a:latin typeface="Calibri"/>
              </a:defRPr>
            </a:pPr>
            <a:r>
              <a:rPr b="1">
                <a:solidFill>
                  <a:srgbClr val="113927"/>
                </a:solidFill>
              </a:rPr>
              <a:t>🎯 Parámetro A: </a:t>
            </a:r>
            <a:r>
              <a:rPr>
                <a:solidFill>
                  <a:srgbClr val="2F3A30"/>
                </a:solidFill>
              </a:rPr>
              <a:t>Ajuste de habilidades y competencias.</a:t>
            </a:r>
          </a:p>
          <a:p>
            <a:pPr>
              <a:spcAft>
                <a:spcPts val="200"/>
              </a:spcAft>
              <a:defRPr sz="1100">
                <a:latin typeface="Calibri"/>
              </a:defRPr>
            </a:pPr>
            <a:r>
              <a:rPr b="1">
                <a:solidFill>
                  <a:srgbClr val="113927"/>
                </a:solidFill>
              </a:rPr>
              <a:t>💡 Prueba el shock: </a:t>
            </a:r>
            <a:r>
              <a:rPr>
                <a:solidFill>
                  <a:srgbClr val="2F3A30"/>
                </a:solidFill>
              </a:rPr>
              <a:t>Pulsa 'Recesión' y 'Mismatch' en tu móvil.</a:t>
            </a:r>
          </a:p>
          <a:p>
            <a:pPr algn="ctr">
              <a:spcBef>
                <a:spcPts val="400"/>
              </a:spcBef>
            </a:pPr>
            <a:r>
              <a:rPr sz="1100" b="1">
                <a:solidFill>
                  <a:srgbClr val="E98F71"/>
                </a:solidFill>
                <a:latin typeface="Calibri"/>
              </a:rPr>
              <a:t>mhidper.github.io/micro_apps/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Doble Grado DER-RRLL · UPO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6927A"/>
                </a:solidFill>
                <a:latin typeface="Calibri"/>
              </a:defRPr>
            </a:pPr>
            <a:r>
              <a:t>8 /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3404</Words>
  <Application>Microsoft Office PowerPoint</Application>
  <PresentationFormat>Panorámica</PresentationFormat>
  <Paragraphs>159</Paragraphs>
  <Slides>16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20" baseType="lpstr">
      <vt:lpstr>Arial</vt:lpstr>
      <vt:lpstr>Calibri</vt:lpstr>
      <vt:lpstr>Cambria Math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Manuel Alejandro Hidalgo Perez</cp:lastModifiedBy>
  <cp:revision>2</cp:revision>
  <dcterms:created xsi:type="dcterms:W3CDTF">2013-01-27T09:14:16Z</dcterms:created>
  <dcterms:modified xsi:type="dcterms:W3CDTF">2026-09-24T07:37:44Z</dcterms:modified>
  <cp:category/>
</cp:coreProperties>
</file>