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e inmersión en el rol profesional: «Bienvenidos al equipo de evaluación de políticas públicas sociolaborales. Aquí no se memoriza legislación; se aprende a tomar decisiones con datos para cambiar la vida de las personas». Presentar brevemente al docente y el hilo de la asignatura. (2-3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Proyectar esta diapositiva 30-45 segundos, sin leerla entera: solo situar que hoy es mitad presentación de la asignatura, mitad primer contacto con el contenido real de Tema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8-10 min. Proyectar el cronograma y la guía docente (enlace en el Aula Virtual). Explicar el sistema de evaluación con los pesos exactos y aclarar que los equipos se mantienen todo el semestre. Dejar 2-3 min para que se agrupen en equipos de 3-4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Conectar directamente con el caso de Emplea-T y el IMV que veremos en EPD: ambos son ejemplos de estas tres funciones en 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4-5 min. Pasar rápido — es un mapa mental para situar el resto del curso, no hay que profundizar hoy en cada área.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Cerrar el bloque de Tema 0 anunciando que estos 5 desafíos reaparecen literalmente en las preguntas para el debate del final de los apuntes de Tema 1 — es el hilo conductor de todo 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Noticia disparadora: «España lidera la tasa de paro de la UE pero alcanza récord histórico de ocupados rozando los 21,8 millones». Pregunta: «¿Cómo es posible que haya más gente trabajando que nunca y sigamos teniendo la mayor tasa de desempleo de Europa?». 5 min de exposición + engancha con el sondeo de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Sondeo Mentimeter (5 min): 1) ¿Cuál crees que es la tasa de desempleo estructural mínima a la que puede aspirar España hoy? (3% / 6% / 10% / 14%). 2) Si alguien deja de buscar trabajo por desánimo, ¿sigue contando como desempleado en las estadísticas oficiales? (Sí/No/No sabe). Después, explicar brevemente los tres indicadores (10 min) — la definición estricta EPA de desempleado (sin empleo, búsqueda activa, disponibilidad en 2 semanas) es la clave para responder la pregunta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(5 min): lanzar la Fase 0 de aula invertida para la Sesión 2 y recordar el Pasaporte de Evaluación Continua (registro de hitos desde hoy). Recordatorio: quien complete el cuestionario previo llega con ventaja al reto en parejas de la Sesión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66B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SSLL2627/.claude/skills/marca-psll/assets/psll_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7128" y="50292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0632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POLÍTICAS SOCIOLABORALES Y DE EMPLEO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D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· Bienvenida a la Asignatura y Fundamentos del Mercado de Trabajo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1605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14 de septiembre de 2026  ·  Código 102023  ·  Manuel A. Hidalgo Pérez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/home/user/PSSLL2627/.claude/skills/marca-psll/assets/upo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199632"/>
            <a:ext cx="137160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03120" y="62636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en Relaciones Laborales y Recursos Humanos · Doble Grado en Derecho y RRLL-RRHH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Hoja de Ruta de Hoy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69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minutos repartidos en dos bloques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1F6E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566B5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0 · 60 min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vamos a trabajar: método del caso, evaluación y equipos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son las políticas sociolaborales y por qué existen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áreas de las políticas sociolaborales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grandes desafíos actuales (digitalización, envejecimiento, transición ecológica...)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3EFDC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828800"/>
            <a:ext cx="457200" cy="457200"/>
          </a:xfrm>
          <a:prstGeom prst="ellipse">
            <a:avLst/>
          </a:prstGeom>
          <a:solidFill>
            <a:srgbClr val="E9907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30 min (arranque)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51460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de trabajo: por qué no es un mercado como los demás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Sondeo diagnóstico en vivo (Mentimeter)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indicadores clave: actividad, paro, empleo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hacia la Sesión 2: dinámica de innovación y Curva de Beveridge</a:t>
            </a:r>
            <a:endParaRPr lang="en-US" sz="1350" dirty="0"/>
          </a:p>
        </p:txBody>
      </p:sp>
      <p:pic>
        <p:nvPicPr>
          <p:cNvPr id="14" name="Image 0" descr="/home/user/PSSLL2627/.claude/skills/marca-psll/assets/psll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1188720" cy="29260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692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SSLL2627/.claude/skills/marca-psll/assets/psll_icon_transparent.svg">    </p:cNvPr>
          <p:cNvPicPr>
            <a:picLocks noChangeAspect="1"/>
          </p:cNvPicPr>
          <p:nvPr/>
        </p:nvPicPr>
        <p:blipFill>
          <a:blip r:embed="rId1">
            <a:alphaModFix amt="8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88575" y="475488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A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78892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TEMA 0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¿Qué son las Políticas Sociolaborales?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1F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minutos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Cómo Vamos a Trabajar Este Semestre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566B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00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del caso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842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casos reales de diseño y evaluación de políticas: Parados de Larga Duración/Emplea-T (Caso 1) e Ingreso Mínimo Vital (Caso 2). Cada caso produce un Dossier Técnico grupal.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566B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0175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continua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40156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Técnico 1 (30%) · Dossier Técnico 2 (30%) · Participación activa y retos semanales (10%) · Examen final (30%).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566B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434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 análisis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81888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Formaréis equipos estables para todo el semestre — sois la Unidad de Evaluación y Diseño de Políticas Sociolaborales. Hoy nos organizamos.</a:t>
            </a:r>
            <a:endParaRPr lang="en-US" sz="1300" dirty="0"/>
          </a:p>
        </p:txBody>
      </p:sp>
      <p:pic>
        <p:nvPicPr>
          <p:cNvPr id="15" name="Image 0" descr="/home/user/PSSLL2627/.claude/skills/marca-psll/assets/psll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1188720" cy="29260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¿Qué son las Políticas Sociolaborales?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E1F6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que regulan y mejoran las condiciones del mercado laboral — empleo, formación profesional y protección social — y que corrigen los fallos que el mercado, por sí solo, no resuelve: ni garantiza equidad, ni garantiza eficiencia.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754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99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por sí solo no garantiza equidad ni eficiencia.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funciones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103120"/>
            <a:ext cx="411480" cy="411480"/>
          </a:xfrm>
          <a:prstGeom prst="ellipse">
            <a:avLst/>
          </a:prstGeom>
          <a:solidFill>
            <a:srgbClr val="E990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2075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Estabilización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3957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Suavizar las fluctuaciones del ciclo económico.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3063240"/>
            <a:ext cx="411480" cy="411480"/>
          </a:xfrm>
          <a:prstGeom prst="ellipse">
            <a:avLst/>
          </a:prstGeom>
          <a:solidFill>
            <a:srgbClr val="E9907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Redistribución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la distribución de ingresos y riqueza del mercado.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4023360"/>
            <a:ext cx="411480" cy="411480"/>
          </a:xfrm>
          <a:prstGeom prst="ellipse">
            <a:avLst/>
          </a:prstGeom>
          <a:solidFill>
            <a:srgbClr val="E9907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995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43159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fallos de mercado y mejorar la asignación de recursos.</a:t>
            </a:r>
            <a:endParaRPr lang="en-US" sz="1200" dirty="0"/>
          </a:p>
        </p:txBody>
      </p:sp>
      <p:pic>
        <p:nvPicPr>
          <p:cNvPr id="20" name="Image 0" descr="/home/user/PSSLL2627/.claude/skills/marca-psll/assets/psll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1188720" cy="29260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Estructura y Áreas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3EFD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20240"/>
            <a:ext cx="384048" cy="384048"/>
          </a:xfrm>
          <a:prstGeom prst="ellipse">
            <a:avLst/>
          </a:prstGeom>
          <a:solidFill>
            <a:srgbClr val="7692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Empleo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 empleo y cohesión social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3EFD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920240"/>
            <a:ext cx="384048" cy="384048"/>
          </a:xfrm>
          <a:prstGeom prst="ellipse">
            <a:avLst/>
          </a:prstGeom>
          <a:solidFill>
            <a:srgbClr val="7692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68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Profesional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a los cambios del mercado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691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3EFDC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1920240"/>
            <a:ext cx="384048" cy="384048"/>
          </a:xfrm>
          <a:prstGeom prst="ellipse">
            <a:avLst/>
          </a:prstGeom>
          <a:solidFill>
            <a:srgbClr val="7692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468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y Conciliación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vida laboral / familiar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3EFDC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206240"/>
            <a:ext cx="384048" cy="384048"/>
          </a:xfrm>
          <a:prstGeom prst="ellipse">
            <a:avLst/>
          </a:prstGeom>
          <a:solidFill>
            <a:srgbClr val="76927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754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 Territorial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349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disparidades regionales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3977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3EFD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4206240"/>
            <a:ext cx="384048" cy="384048"/>
          </a:xfrm>
          <a:prstGeom prst="ellipse">
            <a:avLst/>
          </a:prstGeom>
          <a:solidFill>
            <a:srgbClr val="76927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4754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 y Colectivos Vulnerables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5349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laboral, no exclusión</a:t>
            </a:r>
            <a:endParaRPr lang="en-US" sz="1150" dirty="0"/>
          </a:p>
        </p:txBody>
      </p:sp>
      <p:pic>
        <p:nvPicPr>
          <p:cNvPr id="28" name="Image 0" descr="/home/user/PSSLL2627/.claude/skills/marca-psll/assets/psll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1188720" cy="292608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66B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Los Grandes Desafíos del Siglo XXI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D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ellos reaparecerán en la agenda de reforma de Tema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76927A"/>
          </a:solidFill>
          <a:ln/>
        </p:spPr>
      </p:sp>
      <p:sp>
        <p:nvSpPr>
          <p:cNvPr id="5" name="Shape 3"/>
          <p:cNvSpPr/>
          <p:nvPr/>
        </p:nvSpPr>
        <p:spPr>
          <a:xfrm>
            <a:off x="1348740" y="2057400"/>
            <a:ext cx="548640" cy="548640"/>
          </a:xfrm>
          <a:prstGeom prst="ellipse">
            <a:avLst/>
          </a:prstGeom>
          <a:solidFill>
            <a:srgbClr val="E990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487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digitalización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862072" y="173736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76927A"/>
          </a:solidFill>
          <a:ln/>
        </p:spPr>
      </p:sp>
      <p:sp>
        <p:nvSpPr>
          <p:cNvPr id="9" name="Shape 7"/>
          <p:cNvSpPr/>
          <p:nvPr/>
        </p:nvSpPr>
        <p:spPr>
          <a:xfrm>
            <a:off x="3662172" y="2057400"/>
            <a:ext cx="548640" cy="548640"/>
          </a:xfrm>
          <a:prstGeom prst="ellipse">
            <a:avLst/>
          </a:prstGeom>
          <a:solidFill>
            <a:srgbClr val="E990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62172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Envejecimiento poblacional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175504" y="173736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769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75604" y="2057400"/>
            <a:ext cx="548640" cy="548640"/>
          </a:xfrm>
          <a:prstGeom prst="ellipse">
            <a:avLst/>
          </a:prstGeom>
          <a:solidFill>
            <a:srgbClr val="E990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75604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12664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Globalización y deslocalización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88936" y="173736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76927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89036" y="2057400"/>
            <a:ext cx="548640" cy="548640"/>
          </a:xfrm>
          <a:prstGeom prst="ellipse">
            <a:avLst/>
          </a:prstGeom>
          <a:solidFill>
            <a:srgbClr val="E9907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89036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26096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ecológica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802368" y="1737360"/>
            <a:ext cx="2148840" cy="3108960"/>
          </a:xfrm>
          <a:prstGeom prst="roundRect">
            <a:avLst>
              <a:gd name="adj" fmla="val 4255"/>
            </a:avLst>
          </a:prstGeom>
          <a:solidFill>
            <a:srgbClr val="76927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02468" y="2057400"/>
            <a:ext cx="548640" cy="548640"/>
          </a:xfrm>
          <a:prstGeom prst="ellipse">
            <a:avLst/>
          </a:prstGeom>
          <a:solidFill>
            <a:srgbClr val="E9907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60246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939528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formas de empleo (gig economy)</a:t>
            </a:r>
            <a:endParaRPr lang="en-US" sz="1350" dirty="0"/>
          </a:p>
        </p:txBody>
      </p:sp>
      <p:pic>
        <p:nvPicPr>
          <p:cNvPr id="24" name="Image 0" descr="/home/user/PSSLL2627/.claude/skills/marca-psll/assets/psll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1188720" cy="29260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90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SSLL2627/.claude/skills/marca-psll/assets/psll_icon_transparent.svg">    </p:cNvPr>
          <p:cNvPicPr>
            <a:picLocks noChangeAspect="1"/>
          </p:cNvPicPr>
          <p:nvPr/>
        </p:nvPicPr>
        <p:blipFill>
          <a:blip r:embed="rId1">
            <a:alphaModFix amt="8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88575" y="475488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B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7889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TEMA 1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Fundamentos del Mercado de Trabajo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 · Arranque — sin dinámica de innovación todavía (llega en la Sesión 2)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 Mercado Distinto a los Demás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69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se ajusta como el mercado de manzanas?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384048" cy="384048"/>
          </a:xfrm>
          <a:prstGeom prst="ellipse">
            <a:avLst/>
          </a:prstGeom>
          <a:solidFill>
            <a:srgbClr val="566B5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Heterogeneidad:  </a:t>
            </a:r>
            <a:pPr indent="0" marL="0">
              <a:buNone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no es un bien homogéneo: varía en calidad, habilidades y especialización.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566B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871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imperfecta:  </a:t>
            </a:r>
            <a:pPr indent="0" marL="0">
              <a:buNone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Empleadores y trabajadores no conocen todas las oportunidades ni candidatos disponibles.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346704"/>
            <a:ext cx="384048" cy="384048"/>
          </a:xfrm>
          <a:prstGeom prst="ellipse">
            <a:avLst/>
          </a:prstGeom>
          <a:solidFill>
            <a:srgbClr val="566B5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2841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extensiva:  </a:t>
            </a:r>
            <a:pPr indent="0" marL="0">
              <a:buNone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mínimo, seguridad laboral, normas de contratación y despido.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87952"/>
            <a:ext cx="384048" cy="384048"/>
          </a:xfrm>
          <a:prstGeom prst="ellipse">
            <a:avLst/>
          </a:prstGeom>
          <a:solidFill>
            <a:srgbClr val="566B5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1696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no monetarios:  </a:t>
            </a:r>
            <a:pPr indent="0" marL="0">
              <a:buNone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Estabilidad, condiciones, desarrollo profesional pesan tanto como el salario.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566B5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01091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relativa:  </a:t>
            </a:r>
            <a:pPr indent="0" marL="0">
              <a:buNone/>
            </a:pPr>
            <a:r>
              <a:rPr lang="en-US" sz="1350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Salarios y empleo no se ajustan tan rápido como los precios de otros mercados.</a:t>
            </a:r>
            <a:endParaRPr lang="en-US" sz="1350" dirty="0"/>
          </a:p>
        </p:txBody>
      </p:sp>
      <p:pic>
        <p:nvPicPr>
          <p:cNvPr id="19" name="Image 0" descr="/home/user/PSSLL2627/.claude/skills/marca-psll/assets/psll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1188720" cy="29260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66B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Los Tres Indicadores Clave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3EF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3520440" cy="137160"/>
          </a:xfrm>
          <a:prstGeom prst="rect">
            <a:avLst/>
          </a:prstGeom>
          <a:solidFill>
            <a:srgbClr val="7692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Actividad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Activa / Población ≥16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3EFDC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1737360"/>
            <a:ext cx="3520440" cy="137160"/>
          </a:xfrm>
          <a:prstGeom prst="rect">
            <a:avLst/>
          </a:prstGeom>
          <a:solidFill>
            <a:srgbClr val="E990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2148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Paro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200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Desempleados / Población Activa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3EFDC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0" y="1737360"/>
            <a:ext cx="3520440" cy="137160"/>
          </a:xfrm>
          <a:prstGeom prst="rect">
            <a:avLst/>
          </a:prstGeom>
          <a:solidFill>
            <a:srgbClr val="EDB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2148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Empleo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200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Ocupados / Población ≥16</a:t>
            </a:r>
            <a:endParaRPr lang="en-US" sz="1400" dirty="0"/>
          </a:p>
        </p:txBody>
      </p:sp>
      <p:pic>
        <p:nvPicPr>
          <p:cNvPr id="15" name="Image 0" descr="/home/user/PSSLL2627/.claude/skills/marca-psll/assets/psll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1188720" cy="29260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66B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Antes de Iros...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728655" cy="1828800"/>
          </a:xfrm>
          <a:prstGeom prst="roundRect">
            <a:avLst>
              <a:gd name="adj" fmla="val 6000"/>
            </a:avLst>
          </a:prstGeom>
          <a:solidFill>
            <a:srgbClr val="E990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691640"/>
            <a:ext cx="99971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66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martes/viernes entraremos en la sala de máquinas del desempleo: ¿por qué los empresarios dicen que no encuentran trabajadores mientras hay 2,6 millones de personas en paro? La Curva de Beveridge os dará la respuesta.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B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Sesión 2 (Aula Invertida):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Vídeo-píldora (10 min) en el Aula Virtual: «La bañera del desempleo y la Curva de Beveridge»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previo de 3 preguntas en el Aula Virtual (autocalificable)</a:t>
            </a:r>
            <a:endParaRPr lang="en-US" sz="1350" dirty="0"/>
          </a:p>
        </p:txBody>
      </p:sp>
      <p:pic>
        <p:nvPicPr>
          <p:cNvPr id="7" name="Image 0" descr="/home/user/PSSLL2627/.claude/skills/marca-psll/assets/psll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355080"/>
            <a:ext cx="1188720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48095" y="6400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Sociolaborales y de Empleo (102023) · Sesión 1 · 14/09/2026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2026-09-06T15:27:33Z</dcterms:created>
  <dcterms:modified xsi:type="dcterms:W3CDTF">2026-09-06T15:27:33Z</dcterms:modified>
</cp:coreProperties>
</file>