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22"/>
    <p:sldId id="258" r:id="rId4"/>
    <p:sldId id="259" r:id="rId5"/>
    <p:sldId id="260" r:id="rId6"/>
    <p:sldId id="261" r:id="rId7"/>
    <p:sldId id="262" r:id="rId8"/>
    <p:sldId id="276" r:id="rId23"/>
    <p:sldId id="263" r:id="rId9"/>
    <p:sldId id="277" r:id="rId24"/>
    <p:sldId id="264" r:id="rId10"/>
    <p:sldId id="265" r:id="rId11"/>
    <p:sldId id="266" r:id="rId12"/>
    <p:sldId id="278" r:id="rId25"/>
    <p:sldId id="267" r:id="rId13"/>
    <p:sldId id="279" r:id="rId26"/>
    <p:sldId id="268" r:id="rId14"/>
    <p:sldId id="269" r:id="rId15"/>
    <p:sldId id="270" r:id="rId16"/>
    <p:sldId id="274" r:id="rId17"/>
    <p:sldId id="280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6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3.xml"/><Relationship Id="rId23" Type="http://schemas.openxmlformats.org/officeDocument/2006/relationships/slide" Target="slides/slide9.xml"/><Relationship Id="rId24" Type="http://schemas.openxmlformats.org/officeDocument/2006/relationships/slide" Target="slides/slide11.xml"/><Relationship Id="rId25" Type="http://schemas.openxmlformats.org/officeDocument/2006/relationships/slide" Target="slides/slide15.xml"/><Relationship Id="rId26" Type="http://schemas.openxmlformats.org/officeDocument/2006/relationships/slide" Target="slides/slide17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9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_psll_u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063240"/>
            <a:ext cx="103628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utfit"/>
              </a:rPr>
              <a:t>POLÍTICAS SOCIOLABORALES Y DE EMPLEO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EDB090"/>
                </a:solidFill>
                <a:latin typeface="Outfit"/>
              </a:rPr>
              <a:t>Sesión 9 – Por qué proteger al desempleado y cómo lo hace España</a:t>
            </a:r>
          </a:p>
          <a:p>
            <a:pPr algn="ctr">
              <a:spcBef>
                <a:spcPts val="1000"/>
              </a:spcBef>
            </a:pPr>
            <a:r>
              <a:rPr sz="1200">
                <a:solidFill>
                  <a:srgbClr val="F4F8F5"/>
                </a:solidFill>
                <a:latin typeface="Calibri"/>
              </a:rPr>
              <a:t>Semana 6 · Martes 20 / Viernes 23 de Octubre de 2026  ·  Código 102023  ·  Manuel A. Hidalgo Pérez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263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F3A30"/>
                </a:solidFill>
                <a:latin typeface="Calibri"/>
              </a:rPr>
              <a:t>Grado en Relaciones Laborales y Recursos Humanos · Doble Grado en Derecho y RRLL-RRHH · Universidad Pablo de Olavide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TEMA 3 · POLÍTICAS PASIVAS (I)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Arquitectura Pedagógica de la Sesión (120 min)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2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7772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09928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98F71"/>
                </a:solidFill>
                <a:latin typeface="Outfit"/>
              </a:rPr>
              <a:t>Fase 1 · 00–20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73352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3927"/>
                </a:solidFill>
                <a:latin typeface="Outfit"/>
              </a:rPr>
              <a:t>Gancho y Choque Empírico: </a:t>
            </a:r>
            <a:r>
              <a:rPr sz="1300">
                <a:solidFill>
                  <a:srgbClr val="2F3A30"/>
                </a:solidFill>
                <a:latin typeface="Calibri"/>
              </a:rPr>
              <a:t>Noticia de reforma, sondeo móvil en vivo (Forms) y la «Paradoja Española» (gasto PIB vs. punto de paro).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96312"/>
            <a:ext cx="10728655" cy="7772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13927"/>
                </a:solidFill>
                <a:latin typeface="Outfit"/>
              </a:rPr>
              <a:t>Fase 2 · 20–45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56946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3927"/>
                </a:solidFill>
                <a:latin typeface="Outfit"/>
              </a:rPr>
              <a:t>Justificación Económica: </a:t>
            </a:r>
            <a:r>
              <a:rPr sz="1300">
                <a:solidFill>
                  <a:srgbClr val="2F3A30"/>
                </a:solidFill>
                <a:latin typeface="Calibri"/>
              </a:rPr>
              <a:t>Por qué asegurar el paro: red de seguridad, seguro de búsqueda (search capital) y el dilema de Chetty.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92424"/>
            <a:ext cx="10728655" cy="7772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502152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6927A"/>
                </a:solidFill>
                <a:latin typeface="Outfit"/>
              </a:rPr>
              <a:t>Fase 3 · 45–70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465576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3927"/>
                </a:solidFill>
                <a:latin typeface="Outfit"/>
              </a:rPr>
              <a:t>Estructura Dual en España: </a:t>
            </a:r>
            <a:r>
              <a:rPr sz="1300">
                <a:solidFill>
                  <a:srgbClr val="2F3A30"/>
                </a:solidFill>
                <a:latin typeface="Calibri"/>
              </a:rPr>
              <a:t>Primer nivel contributivo (requisitos, escala art. 269 LGSS, 70%/60%, topes IPREM) y segundo nivel asistencial.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88536"/>
            <a:ext cx="10728655" cy="7772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398264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98F71"/>
                </a:solidFill>
                <a:latin typeface="Outfit"/>
              </a:rPr>
              <a:t>Fase 4 · 70–85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61688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3927"/>
                </a:solidFill>
                <a:latin typeface="Outfit"/>
              </a:rPr>
              <a:t>Laboratorio Activo Móvil: </a:t>
            </a:r>
            <a:r>
              <a:rPr sz="1300">
                <a:solidFill>
                  <a:srgbClr val="2F3A30"/>
                </a:solidFill>
                <a:latin typeface="Calibri"/>
              </a:rPr>
              <a:t>Taller individual de 15 min en rol de Analista del SEPE con la micro-app «La Balanza de Protección».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184648"/>
            <a:ext cx="10728655" cy="77724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294376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13927"/>
                </a:solidFill>
                <a:latin typeface="Outfit"/>
              </a:rPr>
              <a:t>Fase 5 · 85–120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52578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3927"/>
                </a:solidFill>
                <a:latin typeface="Outfit"/>
              </a:rPr>
              <a:t>Reto Manuscrito y Evaluación: </a:t>
            </a:r>
            <a:r>
              <a:rPr sz="1300">
                <a:solidFill>
                  <a:srgbClr val="2F3A30"/>
                </a:solidFill>
                <a:latin typeface="Calibri"/>
              </a:rPr>
              <a:t>Comparativa europea (Figura 3.2), reto en papel (10 min), subida con QR y solución modelo bimodal.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98F71"/>
                </a:solidFill>
                <a:latin typeface="Outfit"/>
              </a:defRPr>
            </a:pPr>
            <a:r>
              <a:t>FASE 1 (00–20 MIN) · DEBATE INICIAL DISPARADOR</a:t>
            </a:r>
          </a:p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¿Por qué «Faltan Trabajadores» con 2,6 Millones de Parados?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3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000" cy="31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1520" y="1825920"/>
            <a:ext cx="4710000" cy="28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98F71"/>
                </a:solidFill>
                <a:latin typeface="Outfit"/>
              </a:defRPr>
            </a:pPr>
            <a:r>
              <a:t>📢 Postura A: «La culpa es del subsidio»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E98F71"/>
                </a:solidFill>
              </a:rPr>
              <a:t>• Desincentivo al esfuerzo: </a:t>
            </a:r>
            <a:r>
              <a:rPr sz="1400">
                <a:solidFill>
                  <a:srgbClr val="2F3A30"/>
                </a:solidFill>
              </a:rPr>
              <a:t>Sectores como hostelería, agricultura y transporte denuncian vacantes sin cubrir. Argumentan que las ayudas desincentivan aceptar empleos exigentes.</a:t>
            </a:r>
          </a:p>
          <a:p>
            <a:r>
              <a:rPr b="1" sz="1400">
                <a:solidFill>
                  <a:srgbClr val="2F3A30"/>
                </a:solidFill>
              </a:rPr>
              <a:t>• Trampa de la inactividad: </a:t>
            </a:r>
            <a:r>
              <a:rPr sz="1400">
                <a:solidFill>
                  <a:srgbClr val="2F3A30"/>
                </a:solidFill>
              </a:rPr>
              <a:t>Si la ganancia neta entre trabajar y cobrar del Estado es pequeña, el parado prefiere el subsidio combinado con economía sumergida.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520" y="1645920"/>
            <a:ext cx="5150000" cy="31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1520" y="1825920"/>
            <a:ext cx="4710000" cy="28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6927A"/>
                </a:solidFill>
                <a:latin typeface="Outfit"/>
              </a:defRPr>
            </a:pPr>
            <a:r>
              <a:t>🛡️ Postura B: «La culpa es de las condiciones»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76927A"/>
                </a:solidFill>
              </a:rPr>
              <a:t>• Insuficiencia salarial: </a:t>
            </a:r>
            <a:r>
              <a:rPr sz="1400">
                <a:solidFill>
                  <a:srgbClr val="2F3A30"/>
                </a:solidFill>
              </a:rPr>
              <a:t>Los subsidios asistenciales son de 480 €/mes (80% IPREM). Nadie vive holgadamente con esa cuantía; lo que se rechaza es la precariedad y el fraude laboral.</a:t>
            </a:r>
          </a:p>
          <a:p>
            <a:r>
              <a:rPr b="1" sz="1400">
                <a:solidFill>
                  <a:srgbClr val="2F3A30"/>
                </a:solidFill>
              </a:rPr>
              <a:t>• El seguro de búsqueda: </a:t>
            </a:r>
            <a:r>
              <a:rPr sz="1400">
                <a:solidFill>
                  <a:srgbClr val="2F3A30"/>
                </a:solidFill>
              </a:rPr>
              <a:t>La prestación evita aceptar empleos no afines por asfixia financiera, protegiendo la cualificación profesional del trabajador.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728655" cy="100584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300" b="1">
                <a:solidFill>
                  <a:srgbClr val="113927"/>
                </a:solidFill>
                <a:latin typeface="Outfit"/>
              </a:defRPr>
            </a:pPr>
            <a:r>
              <a:t>🗳️ PREGUNTA PARA EL AULA (A mano alzada antes de ver los datos):</a:t>
            </a:r>
          </a:p>
          <a:p>
            <a:pPr>
              <a:defRPr sz="1400">
                <a:solidFill>
                  <a:srgbClr val="2F3A30"/>
                </a:solidFill>
                <a:latin typeface="Calibri"/>
              </a:defRPr>
            </a:pPr>
            <a:r>
              <a:t>¿Creéis que cobrar el paro desincentiva la búsqueda activa o que las vacantes vacías se deben a desajuste de cualificación y salarios bajos? Hoy lo analizaremos con datos y modelos.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1 (00–20 MIN) · APERTURA Y ENIGMA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El Debate Social: ¿Protección Indispensable o Desincentivo?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4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927"/>
                </a:solidFill>
                <a:latin typeface="Outfit"/>
              </a:rPr>
              <a:t>📰 El Titular en la Prensa Económica</a:t>
            </a:r>
          </a:p>
          <a:p>
            <a:pPr>
              <a:spcBef>
                <a:spcPts val="1400"/>
              </a:spcBef>
            </a:pPr>
            <a:r>
              <a:rPr sz="1600" i="1">
                <a:solidFill>
                  <a:srgbClr val="2F3A30"/>
                </a:solidFill>
                <a:latin typeface="Calibri"/>
              </a:rPr>
              <a:t>«La reforma de los subsidios reabre la batalla: la patronal alerta de que las ayudas frenan la cobertura de vacantes en hostelería, mientras los sindicatos denuncian que la mitad de los parados no cobra nada».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• Enigma central: ¿Por qué el Estado paga a personas por no trabajar en vez de forzarlas a colocarse de inmediato?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98F71"/>
                </a:solidFill>
                <a:latin typeface="Outfit"/>
              </a:rPr>
              <a:t>💡 Las Tres Grandes Preguntas de Aula</a:t>
            </a:r>
          </a:p>
          <a:p>
            <a:pPr>
              <a:spcBef>
                <a:spcPts val="1400"/>
              </a:spcBef>
            </a:pPr>
            <a:r>
              <a:rPr sz="1600">
                <a:solidFill>
                  <a:srgbClr val="2F3A30"/>
                </a:solidFill>
                <a:latin typeface="Calibri"/>
              </a:rPr>
              <a:t>1. ¿Gasto Social o Inversión Económica?
Si no hubiera subsidios, ¿aumentaría el empleo o se multiplicaría la pobreza sobrevenida y la caída del consumo?</a:t>
            </a:r>
          </a:p>
          <a:p>
            <a:pPr>
              <a:spcBef>
                <a:spcPts val="1400"/>
              </a:spcBef>
            </a:pPr>
            <a:r>
              <a:rPr sz="1600">
                <a:solidFill>
                  <a:srgbClr val="2F3A30"/>
                </a:solidFill>
                <a:latin typeface="Calibri"/>
              </a:rPr>
              <a:t>2. La Paradoja de los Grandes Números:
España gasta un 1,6% de su PIB en desempleo (el doble que otros países). ¿Significa eso que nuestros subsidios son de oro?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3. El Rol del Graduado en RRLL:
Calcular derechos reales, asesorar a empresas y demandantes, y diseñar incentivos para acelerar la reinserción.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1 (00–20 MIN) · PARTICIPACIÓN EN DIRECTO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Sondeo Previo · Diagnóstico del Aula desde el Móvil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5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6309360" cy="2872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113927"/>
                </a:solidFill>
                <a:latin typeface="Outfit"/>
              </a:rPr>
              <a:t>📊 </a:t>
            </a:r>
            <a:r>
              <a:rPr sz="1800" b="1" dirty="0" err="1">
                <a:solidFill>
                  <a:srgbClr val="113927"/>
                </a:solidFill>
                <a:latin typeface="Outfit"/>
              </a:rPr>
              <a:t>Pregunta</a:t>
            </a:r>
            <a:r>
              <a:rPr sz="1800" b="1" dirty="0">
                <a:solidFill>
                  <a:srgbClr val="113927"/>
                </a:solidFill>
                <a:latin typeface="Outfit"/>
              </a:rPr>
              <a:t> Trampa de </a:t>
            </a:r>
            <a:r>
              <a:rPr sz="1800" b="1" dirty="0" err="1">
                <a:solidFill>
                  <a:srgbClr val="113927"/>
                </a:solidFill>
                <a:latin typeface="Outfit"/>
              </a:rPr>
              <a:t>Percepción</a:t>
            </a:r>
            <a:r>
              <a:rPr sz="1800" b="1" dirty="0">
                <a:solidFill>
                  <a:srgbClr val="113927"/>
                </a:solidFill>
                <a:latin typeface="Outfit"/>
              </a:rPr>
              <a:t> Social</a:t>
            </a:r>
          </a:p>
          <a:p>
            <a:pPr>
              <a:spcBef>
                <a:spcPts val="1200"/>
              </a:spcBef>
            </a:pPr>
            <a:r>
              <a:rPr sz="1600" b="1" dirty="0">
                <a:solidFill>
                  <a:srgbClr val="2F3A30"/>
                </a:solidFill>
                <a:latin typeface="Calibri"/>
              </a:rPr>
              <a:t>«En </a:t>
            </a:r>
            <a:r>
              <a:rPr sz="1600" b="1" dirty="0" err="1">
                <a:solidFill>
                  <a:srgbClr val="2F3A30"/>
                </a:solidFill>
                <a:latin typeface="Calibri"/>
              </a:rPr>
              <a:t>comparación</a:t>
            </a:r>
            <a:r>
              <a:rPr sz="1600" b="1" dirty="0">
                <a:solidFill>
                  <a:srgbClr val="2F3A30"/>
                </a:solidFill>
                <a:latin typeface="Calibri"/>
              </a:rPr>
              <a:t> con Alemania, Francia o Dinamarca, el </a:t>
            </a:r>
            <a:r>
              <a:rPr sz="1600" b="1" dirty="0" err="1">
                <a:solidFill>
                  <a:srgbClr val="2F3A30"/>
                </a:solidFill>
                <a:latin typeface="Calibri"/>
              </a:rPr>
              <a:t>gasto</a:t>
            </a:r>
            <a:r>
              <a:rPr sz="1600" b="1" dirty="0">
                <a:solidFill>
                  <a:srgbClr val="2F3A3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2F3A30"/>
                </a:solidFill>
                <a:latin typeface="Calibri"/>
              </a:rPr>
              <a:t>público</a:t>
            </a:r>
            <a:r>
              <a:rPr sz="1600" b="1" dirty="0">
                <a:solidFill>
                  <a:srgbClr val="2F3A30"/>
                </a:solidFill>
                <a:latin typeface="Calibri"/>
              </a:rPr>
              <a:t> de España </a:t>
            </a:r>
            <a:r>
              <a:rPr sz="1600" b="1" dirty="0" err="1">
                <a:solidFill>
                  <a:srgbClr val="2F3A30"/>
                </a:solidFill>
                <a:latin typeface="Calibri"/>
              </a:rPr>
              <a:t>en</a:t>
            </a:r>
            <a:r>
              <a:rPr sz="1600" b="1" dirty="0">
                <a:solidFill>
                  <a:srgbClr val="2F3A3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2F3A30"/>
                </a:solidFill>
                <a:latin typeface="Calibri"/>
              </a:rPr>
              <a:t>prestaciones</a:t>
            </a:r>
            <a:r>
              <a:rPr sz="1600" b="1" dirty="0">
                <a:solidFill>
                  <a:srgbClr val="2F3A3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2F3A30"/>
                </a:solidFill>
                <a:latin typeface="Calibri"/>
              </a:rPr>
              <a:t>por</a:t>
            </a:r>
            <a:r>
              <a:rPr sz="1600" b="1" dirty="0">
                <a:solidFill>
                  <a:srgbClr val="2F3A3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2F3A30"/>
                </a:solidFill>
                <a:latin typeface="Calibri"/>
              </a:rPr>
              <a:t>desempleo</a:t>
            </a:r>
            <a:r>
              <a:rPr sz="1600" b="1" dirty="0">
                <a:solidFill>
                  <a:srgbClr val="2F3A30"/>
                </a:solidFill>
                <a:latin typeface="Calibri"/>
              </a:rPr>
              <a:t>...»</a:t>
            </a:r>
          </a:p>
          <a:p>
            <a:pPr>
              <a:spcBef>
                <a:spcPts val="800"/>
              </a:spcBef>
            </a:pPr>
            <a:r>
              <a:rPr sz="1600" b="1" dirty="0">
                <a:latin typeface="Outfit"/>
              </a:rPr>
              <a:t>[A] </a:t>
            </a:r>
            <a:r>
              <a:rPr sz="1500" dirty="0">
                <a:latin typeface="Calibri"/>
              </a:rPr>
              <a:t>Es </a:t>
            </a:r>
            <a:r>
              <a:rPr sz="1500" dirty="0" err="1">
                <a:latin typeface="Calibri"/>
              </a:rPr>
              <a:t>muy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elevado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porque</a:t>
            </a:r>
            <a:r>
              <a:rPr sz="1500" dirty="0">
                <a:latin typeface="Calibri"/>
              </a:rPr>
              <a:t> el </a:t>
            </a:r>
            <a:r>
              <a:rPr sz="1500" dirty="0" err="1">
                <a:latin typeface="Calibri"/>
              </a:rPr>
              <a:t>sistema</a:t>
            </a:r>
            <a:r>
              <a:rPr sz="1500" dirty="0">
                <a:latin typeface="Calibri"/>
              </a:rPr>
              <a:t> es </a:t>
            </a:r>
            <a:r>
              <a:rPr sz="1500" dirty="0" err="1">
                <a:latin typeface="Calibri"/>
              </a:rPr>
              <a:t>hiper-generoso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en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cuantía</a:t>
            </a:r>
            <a:r>
              <a:rPr sz="1500" dirty="0">
                <a:latin typeface="Calibri"/>
              </a:rPr>
              <a:t> y </a:t>
            </a:r>
            <a:r>
              <a:rPr sz="1500" dirty="0" err="1">
                <a:latin typeface="Calibri"/>
              </a:rPr>
              <a:t>duración</a:t>
            </a:r>
            <a:r>
              <a:rPr sz="1500" dirty="0"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600" b="1" dirty="0">
                <a:latin typeface="Outfit"/>
              </a:rPr>
              <a:t>[B] </a:t>
            </a:r>
            <a:r>
              <a:rPr sz="1500" dirty="0">
                <a:latin typeface="Calibri"/>
              </a:rPr>
              <a:t>Es </a:t>
            </a:r>
            <a:r>
              <a:rPr sz="1500" dirty="0" err="1">
                <a:latin typeface="Calibri"/>
              </a:rPr>
              <a:t>bajísimo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porque</a:t>
            </a:r>
            <a:r>
              <a:rPr sz="1500" dirty="0">
                <a:latin typeface="Calibri"/>
              </a:rPr>
              <a:t> el Estado </a:t>
            </a:r>
            <a:r>
              <a:rPr sz="1500" dirty="0" err="1">
                <a:latin typeface="Calibri"/>
              </a:rPr>
              <a:t>dedica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pocos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fondos</a:t>
            </a:r>
            <a:r>
              <a:rPr sz="1500" dirty="0">
                <a:latin typeface="Calibri"/>
              </a:rPr>
              <a:t> y </a:t>
            </a:r>
            <a:r>
              <a:rPr sz="1500" dirty="0" err="1">
                <a:latin typeface="Calibri"/>
              </a:rPr>
              <a:t>paga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subsidios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míseros</a:t>
            </a:r>
            <a:r>
              <a:rPr sz="1500" dirty="0"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600" b="1" dirty="0">
                <a:latin typeface="Outfit"/>
              </a:rPr>
              <a:t>[C] </a:t>
            </a:r>
            <a:r>
              <a:rPr sz="1500" dirty="0">
                <a:latin typeface="Calibri"/>
              </a:rPr>
              <a:t>Es </a:t>
            </a:r>
            <a:r>
              <a:rPr sz="1500" dirty="0" err="1">
                <a:latin typeface="Calibri"/>
              </a:rPr>
              <a:t>elevado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sobre</a:t>
            </a:r>
            <a:r>
              <a:rPr sz="1500" dirty="0">
                <a:latin typeface="Calibri"/>
              </a:rPr>
              <a:t> el PIB total, </a:t>
            </a:r>
            <a:r>
              <a:rPr sz="1500" dirty="0" err="1">
                <a:latin typeface="Calibri"/>
              </a:rPr>
              <a:t>pero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muy</a:t>
            </a:r>
            <a:r>
              <a:rPr sz="1500" dirty="0">
                <a:latin typeface="Calibri"/>
              </a:rPr>
              <a:t> bajo </a:t>
            </a:r>
            <a:r>
              <a:rPr sz="1500" dirty="0" err="1">
                <a:latin typeface="Calibri"/>
              </a:rPr>
              <a:t>por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cada</a:t>
            </a:r>
            <a:r>
              <a:rPr sz="1500" dirty="0">
                <a:latin typeface="Calibri"/>
              </a:rPr>
              <a:t> persona </a:t>
            </a:r>
            <a:r>
              <a:rPr sz="1500" dirty="0" err="1">
                <a:latin typeface="Calibri"/>
              </a:rPr>
              <a:t>desempleada</a:t>
            </a:r>
            <a:r>
              <a:rPr sz="1500" dirty="0"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600" b="1" dirty="0">
                <a:latin typeface="Outfit"/>
              </a:rPr>
              <a:t>[D] </a:t>
            </a:r>
            <a:r>
              <a:rPr sz="1500" dirty="0" err="1">
                <a:latin typeface="Calibri"/>
              </a:rPr>
              <a:t>Depende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exclusivamente</a:t>
            </a:r>
            <a:r>
              <a:rPr sz="1500" dirty="0">
                <a:latin typeface="Calibri"/>
              </a:rPr>
              <a:t> de las </a:t>
            </a:r>
            <a:r>
              <a:rPr sz="1500" dirty="0" err="1">
                <a:latin typeface="Calibri"/>
              </a:rPr>
              <a:t>subidas</a:t>
            </a:r>
            <a:r>
              <a:rPr sz="1500" dirty="0">
                <a:latin typeface="Calibri"/>
              </a:rPr>
              <a:t> del SMI.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0" y="1828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98F71"/>
                </a:solidFill>
                <a:latin typeface="Outfit"/>
              </a:rPr>
              <a:t>¡VOTA DESDE TU MÓVIL!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292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76927A"/>
                </a:solidFill>
                <a:latin typeface="Calibri"/>
              </a:rPr>
              <a:t>forms.office.com/e/PSLL-Sondeo-Sesion09
Cuenta institucional UPO</a:t>
            </a:r>
          </a:p>
        </p:txBody>
      </p:sp>
      <p:pic>
        <p:nvPicPr>
          <p:cNvPr id="11" name="Imagen 10" descr="Código QR">
            <a:extLst>
              <a:ext uri="{FF2B5EF4-FFF2-40B4-BE49-F238E27FC236}">
                <a16:creationId xmlns:a16="http://schemas.microsoft.com/office/drawing/2014/main" id="{BA307899-1000-9F3F-3A3A-38E95D3AE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3598" y="2407158"/>
            <a:ext cx="3033522" cy="30335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1 (00–20 MIN) · CHOQUE EMPÍRICO INMEDIATO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La «Paradoja Española» del Gasto en Políticas Pasivas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6 / 25</a:t>
            </a:r>
          </a:p>
        </p:txBody>
      </p:sp>
      <p:pic>
        <p:nvPicPr>
          <p:cNvPr id="5" name="Picture 4" descr="figura_3_1_gasto_pasivas_pi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14" y="2137533"/>
            <a:ext cx="6217920" cy="318368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13927"/>
                </a:solidFill>
                <a:latin typeface="Outfit"/>
              </a:rPr>
              <a:t>📊 Interpretación Oficial (Figura 3.1)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13927"/>
                </a:solidFill>
                <a:latin typeface="Outfit"/>
              </a:rPr>
              <a:t>Gasto sobre PIB: 1,6%
</a:t>
            </a:r>
            <a:r>
              <a:rPr sz="1300">
                <a:solidFill>
                  <a:srgbClr val="2F3A30"/>
                </a:solidFill>
                <a:latin typeface="Calibri"/>
              </a:rPr>
              <a:t>España se sitúa en los primeros puestos europeos por gasto agregado sobre el PIB, superando a Alemania (1,0%) y Dinamarca (1,3%).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E98F71"/>
                </a:solidFill>
                <a:latin typeface="Outfit"/>
              </a:rPr>
              <a:t>Gasto por punto de paro: 0,12%
</a:t>
            </a:r>
            <a:r>
              <a:rPr sz="1300">
                <a:solidFill>
                  <a:srgbClr val="2F3A30"/>
                </a:solidFill>
                <a:latin typeface="Calibri"/>
              </a:rPr>
              <a:t>Al dividir entre la tasa de desempleo (11,5%), el gasto por punto de paro cae a menos de la mitad que en Dinamarca (0,27%) o Alemania (0,31%).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13927"/>
                </a:solidFill>
                <a:latin typeface="Outfit"/>
              </a:rPr>
              <a:t>La causa real de la paradoja:
</a:t>
            </a:r>
            <a:r>
              <a:rPr sz="1300">
                <a:solidFill>
                  <a:srgbClr val="2F3A30"/>
                </a:solidFill>
                <a:latin typeface="Calibri"/>
              </a:rPr>
              <a:t>El sistema es costoso para las cuentas públicas por el enorme volumen de desempleados, pero moderado en la protección unitaria por 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2 (20–45 MIN) · JUSTIFICACIÓN ECONÓMICA (§1.1–1.2)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¿Por qué Debe el Estado Asegurar el Desempleo?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7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00000"/>
            <a:ext cx="2926080" cy="4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6927A"/>
                </a:solidFill>
                <a:latin typeface="Outfit"/>
              </a:defRPr>
            </a:pPr>
            <a:r>
              <a:t>1. Fallo del Mercado Privado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F3A30"/>
                </a:solidFill>
                <a:latin typeface="Calibri"/>
              </a:rPr>
              <a:t>• Selección adversa: </a:t>
            </a:r>
            <a:r>
              <a:rPr sz="1500">
                <a:solidFill>
                  <a:srgbClr val="2F3A30"/>
                </a:solidFill>
                <a:latin typeface="Calibri"/>
              </a:rPr>
              <a:t>Solo se asegurarían los perfiles con alto riesgo de despido, encareciendo las primas y expulsando a los trabajadores estables.</a:t>
            </a:r>
          </a:p>
          <a:p>
            <a:pPr>
              <a:spcAft>
                <a:spcPts val="0"/>
              </a:spcAft>
            </a:pPr>
            <a:r>
              <a:rPr sz="1500" b="1">
                <a:solidFill>
                  <a:srgbClr val="2F3A30"/>
                </a:solidFill>
                <a:latin typeface="Calibri"/>
              </a:rPr>
              <a:t>• Riesgo covariante sistémico: </a:t>
            </a:r>
            <a:r>
              <a:rPr sz="1500">
                <a:solidFill>
                  <a:srgbClr val="2F3A30"/>
                </a:solidFill>
                <a:latin typeface="Calibri"/>
              </a:rPr>
              <a:t>Un seguro privado exige riesgos independientes (como incendios). En una recesión, millones pierden su empleo a la vez: los siniestros covarían simultáneamente y las aseguradoras quebrarían por falta de reservas para un shock agregado tan masivo.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13927"/>
                </a:solidFill>
                <a:latin typeface="Outfit"/>
              </a:rPr>
              <a:t>2. Red de Seguridad y Consumo</a:t>
            </a:r>
          </a:p>
          <a:p>
            <a:pPr>
              <a:spcBef>
                <a:spcPts val="1400"/>
              </a:spcBef>
            </a:pPr>
            <a:r>
              <a:rPr sz="1600">
                <a:solidFill>
                  <a:srgbClr val="2F3A30"/>
                </a:solidFill>
                <a:latin typeface="Calibri"/>
              </a:rPr>
              <a:t>El desempleo provoca una caída drástica de rentas familiares. Sin prestaciones, se desploma el consumo agregado, alimentando la espiral recesiva keynesiana.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98F71"/>
                </a:solidFill>
                <a:latin typeface="Outfit"/>
              </a:rPr>
              <a:t>3. Estabilizador Automático</a:t>
            </a:r>
          </a:p>
          <a:p>
            <a:pPr>
              <a:spcBef>
                <a:spcPts val="1400"/>
              </a:spcBef>
            </a:pPr>
            <a:r>
              <a:rPr sz="1600">
                <a:solidFill>
                  <a:srgbClr val="2F3A30"/>
                </a:solidFill>
                <a:latin typeface="Calibri"/>
              </a:rPr>
              <a:t>El gasto pasivo inyecta liquidez inmediatamente cuando arrecia la crisis, sin necesidad de trámites parlamentarios ni retrasos legislativos.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2 (20–45 MIN) · JUSTIFICACIÓN ECONÓMICA (§1.2.3)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El «Seguro de Búsqueda»: Productividad del Emparejamiento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8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927"/>
                </a:solidFill>
                <a:latin typeface="Outfit"/>
              </a:rPr>
              <a:t>🎯 La Prestación como Inversión Productiva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2F3A30"/>
                </a:solidFill>
                <a:latin typeface="Calibri"/>
              </a:rPr>
              <a:t>• Búsqueda eficiente de empleo:
Permite al trabajador dedicar tiempo y recursos a localizar un puesto que encaje con su cualificación previa (Search Capital).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2F3A30"/>
                </a:solidFill>
                <a:latin typeface="Calibri"/>
              </a:rPr>
              <a:t>• Evita la descapitalización del talento:
Sin subsidio, un ingeniero o especialista aceptaría el primer puesto de repartidor para subsistir, destruyendo capital humano acumulado.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98F71"/>
                </a:solidFill>
                <a:latin typeface="Outfit"/>
              </a:rPr>
              <a:t>⚠️ El Límite: Riesgo Moral y Salario de Reserva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2F3A30"/>
                </a:solidFill>
                <a:latin typeface="Calibri"/>
              </a:rPr>
              <a:t>• Aumento del salario de reserva (w_R):
Cuanto mayor es la prestación, más alto es el sueldo exigido para volver a trabajar.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2F3A30"/>
                </a:solidFill>
                <a:latin typeface="Calibri"/>
              </a:rPr>
              <a:t>• Desincentivo al esfuerzo de búsqueda:
El trabajador puede postergar la colocación activa hacia el final del periodo de cobro (Efecto pico o Spike al agotamiento).</a:t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➔ El reto regulatorio: Ofrecer liquidez suficiente sin destruir el incentivo a la búsqueda.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98F71"/>
                </a:solidFill>
                <a:latin typeface="Outfit"/>
              </a:defRPr>
            </a:pPr>
            <a:r>
              <a:t>FASE 2 (20–45 MIN) · CASO ILUSTRATIVO (§1.2.3)</a:t>
            </a:r>
          </a:p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El Seguro de Búsqueda en Acción: El Caso de Laura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9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98F71"/>
                </a:solidFill>
                <a:latin typeface="Outfit"/>
              </a:defRPr>
            </a:pPr>
            <a:r>
              <a:t>⚠️ Escenario A: Sin Prestación (Urgencia)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2F3A30"/>
                </a:solidFill>
              </a:rPr>
              <a:t>• El punto de partida: </a:t>
            </a:r>
            <a:r>
              <a:rPr sz="1400">
                <a:solidFill>
                  <a:srgbClr val="2F3A30"/>
                </a:solidFill>
              </a:rPr>
              <a:t>Laura (30 años, graduada en informática) es despedida. Tiene 0 € de ahorros y debe pagar alquiler de 750 € en 15 días.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E98F71"/>
                </a:solidFill>
              </a:rPr>
              <a:t>• Decisión forzada por asfixia: </a:t>
            </a:r>
            <a:r>
              <a:rPr sz="1400">
                <a:solidFill>
                  <a:srgbClr val="2F3A30"/>
                </a:solidFill>
              </a:rPr>
              <a:t>No puede esperar. En 10 días acepta el primer trabajo que encuentra: cajera a media jornada por 650 €/mes.</a:t>
            </a:r>
          </a:p>
          <a:p>
            <a:r>
              <a:rPr b="1" sz="1400">
                <a:solidFill>
                  <a:srgbClr val="2F3A30"/>
                </a:solidFill>
              </a:rPr>
              <a:t>• Pérdida social agregada: </a:t>
            </a:r>
            <a:r>
              <a:rPr sz="1400">
                <a:solidFill>
                  <a:srgbClr val="2F3A30"/>
                </a:solidFill>
              </a:rPr>
              <a:t>Descapitalización humana (subempleo), menor productividad para el país y menor recaudación fiscal futura.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520" y="1645920"/>
            <a:ext cx="515000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13927"/>
                </a:solidFill>
                <a:latin typeface="Outfit"/>
              </a:defRPr>
            </a:pPr>
            <a:r>
              <a:t>✅ Escenario B: Con Prestación (Búsqueda Óptima)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13927"/>
                </a:solidFill>
              </a:rPr>
              <a:t>• Seguro de rentas activo: </a:t>
            </a:r>
            <a:r>
              <a:rPr sz="1400">
                <a:solidFill>
                  <a:srgbClr val="2F3A30"/>
                </a:solidFill>
              </a:rPr>
              <a:t>Con una prestación del 70% (1.400 €/mes), Laura cubre su vivienda y alimentación sin angustia extrema.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76927A"/>
                </a:solidFill>
              </a:rPr>
              <a:t>• Inversión en búsqueda productiva: </a:t>
            </a:r>
            <a:r>
              <a:rPr sz="1400">
                <a:solidFill>
                  <a:srgbClr val="2F3A30"/>
                </a:solidFill>
              </a:rPr>
              <a:t>Dedica 8 semanas a procesos de selección acordes a su perfil. Es contratada como analista de datos por 2.800 €/mes.</a:t>
            </a:r>
          </a:p>
          <a:p>
            <a:r>
              <a:rPr b="1" sz="1400">
                <a:solidFill>
                  <a:srgbClr val="113927"/>
                </a:solidFill>
              </a:rPr>
              <a:t>• Ganancia de bienestar global: </a:t>
            </a:r>
            <a:r>
              <a:rPr sz="1400">
                <a:solidFill>
                  <a:srgbClr val="2F3A30"/>
                </a:solidFill>
              </a:rPr>
              <a:t>Excelente emparejamiento (job-match quality). El Estado recupera con creces el gasto en prestaciones vía cotizaciones e IRPF.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2 (20–45 MIN) · EVIDENCIA TEÓRICA DE FRONTERA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El Dilema de Chetty: Alivio de Liquidez vs. Riesgo Moral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10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00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51520" y="1845920"/>
            <a:ext cx="4710000" cy="40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13927"/>
                </a:solidFill>
                <a:latin typeface="Outfit"/>
              </a:defRPr>
            </a:pPr>
            <a:r>
              <a:t>1. El Mecanismo: Chetty (JPE, 2008)</a:t>
            </a:r>
          </a:p>
          <a:p>
            <a:pPr>
              <a:spcAft>
                <a:spcPts val="800"/>
              </a:spcAft>
              <a:defRPr sz="1400">
                <a:solidFill>
                  <a:srgbClr val="2F3A30"/>
                </a:solidFill>
                <a:latin typeface="Calibri"/>
              </a:defRPr>
            </a:pPr>
            <a:r>
              <a:t>Las prestaciones alargan el desempleo por dos canales con implicaciones de bienestar radicalmente opuestas: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76927A"/>
                </a:solidFill>
                <a:latin typeface="Calibri"/>
              </a:rPr>
              <a:t>• Efecto Liquidez (~60% · Eficiente): </a:t>
            </a:r>
            <a:r>
              <a:rPr sz="1400">
                <a:solidFill>
                  <a:srgbClr val="2F3A30"/>
                </a:solidFill>
                <a:latin typeface="Calibri"/>
              </a:rPr>
              <a:t>El parado prolonga la búsqueda porque no tiene ahorros para pagar comida o hipoteca. La prestación alivia la restricción crediticia y evita empleos precarios forzados.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98F71"/>
                </a:solidFill>
                <a:latin typeface="Calibri"/>
              </a:rPr>
              <a:t>• Efecto Riesgo Moral (~40% · Distorsión): </a:t>
            </a:r>
            <a:r>
              <a:rPr sz="1400">
                <a:solidFill>
                  <a:srgbClr val="2F3A30"/>
                </a:solidFill>
                <a:latin typeface="Calibri"/>
              </a:rPr>
              <a:t>El subsidio reduce la ganancia neta de trabajar frente a cobrar del Estado. El parado reduce la intensidad de envío de currículos (subvención del ocio).</a:t>
            </a:r>
          </a:p>
          <a:p>
            <a:r>
              <a:rPr sz="1400" b="1">
                <a:solidFill>
                  <a:srgbClr val="113927"/>
                </a:solidFill>
                <a:latin typeface="Calibri"/>
              </a:rPr>
              <a:t>• Clave de Política Pública: </a:t>
            </a:r>
            <a:r>
              <a:rPr sz="1400">
                <a:solidFill>
                  <a:srgbClr val="2F3A30"/>
                </a:solidFill>
                <a:latin typeface="Calibri"/>
              </a:rPr>
              <a:t>Como domina la liquidez, una tasa intermedia (60-70%) eleva el bienestar social global.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51520" y="1845920"/>
            <a:ext cx="4710000" cy="40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98F71"/>
                </a:solidFill>
                <a:latin typeface="Outfit"/>
              </a:defRPr>
            </a:pPr>
            <a:r>
              <a:t>2. El Ejemplo Intuitivo: ¿Por qué tardan más?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F3A30"/>
                </a:solidFill>
                <a:latin typeface="Calibri"/>
              </a:rPr>
              <a:t>• María (15.000 € de ahorros): </a:t>
            </a:r>
            <a:r>
              <a:rPr sz="1400">
                <a:solidFill>
                  <a:srgbClr val="2F3A30"/>
                </a:solidFill>
                <a:latin typeface="Calibri"/>
              </a:rPr>
              <a:t>No tiene asfixia financiera. Si con prestación tarda 3 semanas más en buscar empleo, es puro </a:t>
            </a:r>
            <a:r>
              <a:rPr sz="1400" b="1">
                <a:solidFill>
                  <a:srgbClr val="E98F71"/>
                </a:solidFill>
                <a:latin typeface="Calibri"/>
              </a:rPr>
              <a:t>riesgo moral </a:t>
            </a:r>
            <a:r>
              <a:rPr sz="1400">
                <a:solidFill>
                  <a:srgbClr val="2F3A30"/>
                </a:solidFill>
                <a:latin typeface="Calibri"/>
              </a:rPr>
              <a:t>(subvención del ocio).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F3A30"/>
                </a:solidFill>
                <a:latin typeface="Calibri"/>
              </a:rPr>
              <a:t>• Carlos (0 € en cuenta): </a:t>
            </a:r>
            <a:r>
              <a:rPr sz="1400">
                <a:solidFill>
                  <a:srgbClr val="2F3A30"/>
                </a:solidFill>
                <a:latin typeface="Calibri"/>
              </a:rPr>
              <a:t>Sin prestación, aceptaría cualquier empleo en 48 h para comer y no ser desahuciado. Con prestación, busca 6 semanas un trabajo afín a su cualificación (</a:t>
            </a:r>
            <a:r>
              <a:rPr sz="1400" b="1">
                <a:solidFill>
                  <a:srgbClr val="76927A"/>
                </a:solidFill>
                <a:latin typeface="Calibri"/>
              </a:rPr>
              <a:t>efecto liquidez</a:t>
            </a:r>
            <a:r>
              <a:rPr sz="1400">
                <a:solidFill>
                  <a:srgbClr val="2F3A30"/>
                </a:solidFill>
                <a:latin typeface="Calibri"/>
              </a:rPr>
              <a:t>).</a:t>
            </a:r>
          </a:p>
          <a:p>
            <a:r>
              <a:rPr sz="1400" b="1">
                <a:solidFill>
                  <a:srgbClr val="113927"/>
                </a:solidFill>
                <a:latin typeface="Calibri"/>
              </a:rPr>
              <a:t>• La Prueba de Chetty (Indemnización en pago único): </a:t>
            </a:r>
            <a:r>
              <a:rPr sz="1400">
                <a:solidFill>
                  <a:srgbClr val="2F3A30"/>
                </a:solidFill>
                <a:latin typeface="Calibri"/>
              </a:rPr>
              <a:t>Un cheque único de despido no se pierde al encontrar empleo mañana (cero riesgo moral). Aun así, ¡alargó la búsqueda de parados sin ahorros! Demostró que el 60% del retraso es alivio de liquidez.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98F71"/>
                </a:solidFill>
                <a:latin typeface="Outfit"/>
              </a:defRPr>
            </a:pPr>
            <a:r>
              <a:t>FASE 2 (20–45 MIN) · EVIDENCIA EXPERIMENTAL (§1.2.4)</a:t>
            </a:r>
          </a:p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¿Cómo Demostró Chetty la Liquidez? El Experimento del Cheque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11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6927A"/>
                </a:solidFill>
                <a:latin typeface="Outfit"/>
              </a:defRPr>
            </a:pPr>
            <a:r>
              <a:t>💡 El Enigma del «Cheque Único»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2F3A30"/>
                </a:solidFill>
              </a:rPr>
              <a:t>• Seguro tradicional vs. Pago único: </a:t>
            </a:r>
            <a:r>
              <a:rPr sz="1400">
                <a:solidFill>
                  <a:srgbClr val="2F3A30"/>
                </a:solidFill>
              </a:rPr>
              <a:t>El subsidio mensual se retira si encuentras trabajo (tiene riesgo moral). Pero una indemnización por despido a tanto alzado (severance pay) se cobra en un solo cheque.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76927A"/>
                </a:solidFill>
              </a:rPr>
              <a:t>• Cero riesgo moral por diseño: </a:t>
            </a:r>
            <a:r>
              <a:rPr sz="1400">
                <a:solidFill>
                  <a:srgbClr val="2F3A30"/>
                </a:solidFill>
              </a:rPr>
              <a:t>El trabajador se queda con los 6.000 € del cheque encuentre empleo mañana por la mañana o dentro de seis meses. No hay penalización por volver a trabajar.</a:t>
            </a:r>
          </a:p>
          <a:p>
            <a:r>
              <a:rPr b="1" sz="1400">
                <a:solidFill>
                  <a:srgbClr val="2F3A30"/>
                </a:solidFill>
              </a:rPr>
              <a:t>• La predicción clásica: </a:t>
            </a:r>
            <a:r>
              <a:rPr sz="1400">
                <a:solidFill>
                  <a:srgbClr val="2F3A30"/>
                </a:solidFill>
              </a:rPr>
              <a:t>Si el retraso en el paro fuera solo 'pereza', el cheque no debería alterar la velocidad para colocarse.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520" y="1645920"/>
            <a:ext cx="515000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13927"/>
                </a:solidFill>
                <a:latin typeface="Outfit"/>
              </a:defRPr>
            </a:pPr>
            <a:r>
              <a:t>📊 El Resultado Empírico de Chetty (2008)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13927"/>
                </a:solidFill>
              </a:rPr>
              <a:t>• El hallazgo experimental: </a:t>
            </a:r>
            <a:r>
              <a:rPr sz="1400">
                <a:solidFill>
                  <a:srgbClr val="2F3A30"/>
                </a:solidFill>
              </a:rPr>
              <a:t>Los trabajadores que recibieron el cheque tardaron bastante más tiempo en aceptar empleo... ¡pero únicamente los que tenían cuentas bancarias casi a cero!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E98F71"/>
                </a:solidFill>
              </a:rPr>
              <a:t>• La prueba del mecanismo: </a:t>
            </a:r>
            <a:r>
              <a:rPr sz="1400">
                <a:solidFill>
                  <a:srgbClr val="2F3A30"/>
                </a:solidFill>
              </a:rPr>
              <a:t>Al tener dinero para pagar el alquiler, rechazaron puestos precarios y buscaron empleos acordes a su perfil. No fue holgazanería: fue alivio de liquidez.</a:t>
            </a:r>
          </a:p>
          <a:p>
            <a:r>
              <a:rPr b="1" sz="1400">
                <a:solidFill>
                  <a:srgbClr val="113927"/>
                </a:solidFill>
              </a:rPr>
              <a:t>• Conclusión científica: </a:t>
            </a:r>
            <a:r>
              <a:rPr sz="1400">
                <a:solidFill>
                  <a:srgbClr val="2F3A30"/>
                </a:solidFill>
              </a:rPr>
              <a:t>El 60% del alargamiento del paro es deseable y eficiente socialmente. Solo el 40% es distorsión por riesgo moral.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3 (45–70 MIN) · ESTRUCTURA DUAL DEL SISTEMA (§2.2)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La Arquitectura de Protección Española: Dos Niveles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12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927"/>
                </a:solidFill>
                <a:latin typeface="Outfit"/>
              </a:rPr>
              <a:t>🏛️ 1. Nivel Contributivo</a:t>
            </a:r>
          </a:p>
          <a:p>
            <a:pPr>
              <a:spcBef>
                <a:spcPts val="1000"/>
              </a:spcBef>
            </a:pPr>
            <a:r>
              <a:rPr sz="1500" b="1" i="1">
                <a:solidFill>
                  <a:srgbClr val="76927A"/>
                </a:solidFill>
                <a:latin typeface="Calibri"/>
              </a:rPr>
              <a:t>«Seguro profesional de ingresos»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113927"/>
                </a:solidFill>
                <a:latin typeface="Calibri"/>
              </a:rPr>
              <a:t>• Requisito de acceso: </a:t>
            </a:r>
            <a:r>
              <a:rPr sz="1500">
                <a:solidFill>
                  <a:srgbClr val="2F3A30"/>
                </a:solidFill>
                <a:latin typeface="Calibri"/>
              </a:rPr>
              <a:t>Mínimo de 360 días cotizados en los 6 años previos.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113927"/>
                </a:solidFill>
                <a:latin typeface="Calibri"/>
              </a:rPr>
              <a:t>• Financiación: </a:t>
            </a:r>
            <a:r>
              <a:rPr sz="1500">
                <a:solidFill>
                  <a:srgbClr val="2F3A30"/>
                </a:solidFill>
                <a:latin typeface="Calibri"/>
              </a:rPr>
              <a:t>Cuotas obligatorias por desempleo sobre la nómina.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113927"/>
                </a:solidFill>
                <a:latin typeface="Calibri"/>
              </a:rPr>
              <a:t>• Cuantía: </a:t>
            </a:r>
            <a:r>
              <a:rPr sz="1500">
                <a:solidFill>
                  <a:srgbClr val="2F3A30"/>
                </a:solidFill>
                <a:latin typeface="Calibri"/>
              </a:rPr>
              <a:t>Porcentaje directo de las bases de cotización previas (70% inicial, 60% después).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113927"/>
                </a:solidFill>
                <a:latin typeface="Calibri"/>
              </a:rPr>
              <a:t>• Duración: </a:t>
            </a:r>
            <a:r>
              <a:rPr sz="1500">
                <a:solidFill>
                  <a:srgbClr val="2F3A30"/>
                </a:solidFill>
                <a:latin typeface="Calibri"/>
              </a:rPr>
              <a:t>Regulada por escala fija (de 4 a 24 meses).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98F71"/>
                </a:solidFill>
                <a:latin typeface="Outfit"/>
              </a:rPr>
              <a:t>🤝 2. Nivel Asistencial</a:t>
            </a:r>
          </a:p>
          <a:p>
            <a:pPr>
              <a:spcBef>
                <a:spcPts val="1000"/>
              </a:spcBef>
            </a:pPr>
            <a:r>
              <a:rPr sz="1500" b="1" i="1">
                <a:solidFill>
                  <a:srgbClr val="76927A"/>
                </a:solidFill>
                <a:latin typeface="Calibri"/>
              </a:rPr>
              <a:t>«Red solidaria de subsistencia»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E98F71"/>
                </a:solidFill>
                <a:latin typeface="Calibri"/>
              </a:rPr>
              <a:t>• Requisito de acceso: </a:t>
            </a:r>
            <a:r>
              <a:rPr sz="1500">
                <a:solidFill>
                  <a:srgbClr val="2F3A30"/>
                </a:solidFill>
                <a:latin typeface="Calibri"/>
              </a:rPr>
              <a:t>Carencia de rentas individuales (&lt; 75% del SMI) y responsabilidades familiares o edad.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E98F71"/>
                </a:solidFill>
                <a:latin typeface="Calibri"/>
              </a:rPr>
              <a:t>• Financiación: </a:t>
            </a:r>
            <a:r>
              <a:rPr sz="1500">
                <a:solidFill>
                  <a:srgbClr val="2F3A30"/>
                </a:solidFill>
                <a:latin typeface="Calibri"/>
              </a:rPr>
              <a:t>Aportaciones del Estado con impuestos generales.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E98F71"/>
                </a:solidFill>
                <a:latin typeface="Calibri"/>
              </a:rPr>
              <a:t>• Cuantía: </a:t>
            </a:r>
            <a:r>
              <a:rPr sz="1500">
                <a:solidFill>
                  <a:srgbClr val="2F3A30"/>
                </a:solidFill>
                <a:latin typeface="Calibri"/>
              </a:rPr>
              <a:t>Porcentaje fijado sobre el IPREM (tramos decrecientes: 95%–90%–80%).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E98F71"/>
                </a:solidFill>
                <a:latin typeface="Calibri"/>
              </a:rPr>
              <a:t>• Duración: </a:t>
            </a:r>
            <a:r>
              <a:rPr sz="1500">
                <a:solidFill>
                  <a:srgbClr val="2F3A30"/>
                </a:solidFill>
                <a:latin typeface="Calibri"/>
              </a:rPr>
              <a:t>Periodos semestrales renovables (salvo &gt; 52 años, indefinido hasta jubilación).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3 (45–70 MIN) · PRESTACIÓN CONTRIBUTIVA (§2.2.1)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Acceso y Escala de Duración (Art. 269 LGSS)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13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927"/>
                </a:solidFill>
                <a:latin typeface="Outfit"/>
              </a:rPr>
              <a:t>📋 Requisitos Legales Obligatorios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F3A30"/>
                </a:solidFill>
                <a:latin typeface="Calibri"/>
              </a:rPr>
              <a:t>• Estar afiliado y en alta en la Seguridad Social.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F3A30"/>
                </a:solidFill>
                <a:latin typeface="Calibri"/>
              </a:rPr>
              <a:t>• Encontrarse en situación legal de desempleo (despido, fin de contrato o ERTE; nunca baja voluntaria).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F3A30"/>
                </a:solidFill>
                <a:latin typeface="Calibri"/>
              </a:rPr>
              <a:t>• Acreditar disponibilidad para buscar activamente empleo y suscribir el compromiso de actividad.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F3A30"/>
                </a:solidFill>
                <a:latin typeface="Calibri"/>
              </a:rPr>
              <a:t>• Tener cotizados al menos 360 días en los 6 años previos a la situación legal de desempleo.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F3A30"/>
                </a:solidFill>
                <a:latin typeface="Calibri"/>
              </a:rPr>
              <a:t>• No haber cumplido la edad ordinaria de jubilación.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927"/>
                </a:solidFill>
                <a:latin typeface="Outfit"/>
              </a:rPr>
              <a:t>⏱️ Escala de Duración (Regla 3 a 1)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76927A"/>
                </a:solidFill>
                <a:latin typeface="Calibri"/>
              </a:rPr>
              <a:t>Se genera 1 mes de prestación por cada 3 meses cotizados: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360 a 539 días cotizados ➔ </a:t>
            </a:r>
            <a:r>
              <a:rPr sz="1400" b="1">
                <a:solidFill>
                  <a:srgbClr val="113927"/>
                </a:solidFill>
                <a:latin typeface="Calibri"/>
              </a:rPr>
              <a:t>120 días (4 meses)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540 a 719 días cotizados ➔ </a:t>
            </a:r>
            <a:r>
              <a:rPr sz="1400" b="1">
                <a:solidFill>
                  <a:srgbClr val="113927"/>
                </a:solidFill>
                <a:latin typeface="Calibri"/>
              </a:rPr>
              <a:t>180 días (6 meses)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720 a 899 días cotizados ➔ </a:t>
            </a:r>
            <a:r>
              <a:rPr sz="1400" b="1">
                <a:solidFill>
                  <a:srgbClr val="113927"/>
                </a:solidFill>
                <a:latin typeface="Calibri"/>
              </a:rPr>
              <a:t>240 días (8 meses)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900 a 1.079 días cotizados ➔ </a:t>
            </a:r>
            <a:r>
              <a:rPr sz="1400" b="1">
                <a:solidFill>
                  <a:srgbClr val="113927"/>
                </a:solidFill>
                <a:latin typeface="Calibri"/>
              </a:rPr>
              <a:t>300 días (10 meses)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1.080 a 1.259 días cotizados ➔ </a:t>
            </a:r>
            <a:r>
              <a:rPr sz="1400" b="1">
                <a:solidFill>
                  <a:srgbClr val="113927"/>
                </a:solidFill>
                <a:latin typeface="Calibri"/>
              </a:rPr>
              <a:t>360 días (12 meses)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1.440 a 1.619 días cotizados ➔ </a:t>
            </a:r>
            <a:r>
              <a:rPr sz="1400" b="1">
                <a:solidFill>
                  <a:srgbClr val="113927"/>
                </a:solidFill>
                <a:latin typeface="Calibri"/>
              </a:rPr>
              <a:t>480 días (16 meses)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≥ 2.160 días (6 años) ➔ </a:t>
            </a:r>
            <a:r>
              <a:rPr sz="1400" b="1">
                <a:solidFill>
                  <a:srgbClr val="E98F71"/>
                </a:solidFill>
                <a:latin typeface="Calibri"/>
              </a:rPr>
              <a:t>720 días (24 meses · Máximo)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3 (45–70 MIN) · CUANTÍA Y TOPES LEGALES (§2.2.1)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Base Reguladora, Perfil Temporal y Topes con IPREM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14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927"/>
                </a:solidFill>
                <a:latin typeface="Outfit"/>
              </a:rPr>
              <a:t>💰 Cálculo de la Base y Porcentajes</a:t>
            </a:r>
          </a:p>
          <a:p>
            <a:pPr>
              <a:spcBef>
                <a:spcPts val="1000"/>
              </a:spcBef>
            </a:pPr>
            <a:r>
              <a:rPr sz="1600">
                <a:solidFill>
                  <a:srgbClr val="2F3A30"/>
                </a:solidFill>
                <a:latin typeface="Calibri"/>
              </a:rPr>
              <a:t>• Base Reguladora (BR):
Promedio de las bases de cotización por desempleo de los últimos 180 días cotizados (excluidas horas extras).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113927"/>
                </a:solidFill>
                <a:latin typeface="Calibri"/>
              </a:rPr>
              <a:t>• Cuantía mensual (Perfil decreciente):
- Primeros 180 días (meses 1 a 6): 70% de la BR.
- A partir del día 181 (mes 7 en adelante): 60% de la BR.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2F3A30"/>
                </a:solidFill>
                <a:latin typeface="Calibri"/>
              </a:rPr>
              <a:t>• Descuentos en nómina del SEPE:
Se descuenta el 4,70% por cotización a la Seguridad Social (contingencias comunes) y la retención del IRPF que corresponda.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98F71"/>
                </a:solidFill>
                <a:latin typeface="Outfit"/>
              </a:rPr>
              <a:t>⚖️ Los Topes Legales (IPREM 2026 = 600 €)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113927"/>
                </a:solidFill>
                <a:latin typeface="Outfit"/>
              </a:rPr>
              <a:t>Topes Mínimos: </a:t>
            </a:r>
            <a:r>
              <a:rPr sz="1400" i="1">
                <a:solidFill>
                  <a:srgbClr val="76927A"/>
                </a:solidFill>
                <a:latin typeface="Calibri"/>
              </a:rPr>
              <a:t>El suelo de protección social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Sin hijos a cargo (80% IPREM + 1/6): </a:t>
            </a:r>
            <a:r>
              <a:rPr sz="1400" b="1">
                <a:solidFill>
                  <a:srgbClr val="E98F71"/>
                </a:solidFill>
                <a:latin typeface="Calibri"/>
              </a:rPr>
              <a:t>560,00 € / mes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Con 1 o más hijos (107% IPREM + 1/6): </a:t>
            </a:r>
            <a:r>
              <a:rPr sz="1400" b="1">
                <a:solidFill>
                  <a:srgbClr val="E98F71"/>
                </a:solidFill>
                <a:latin typeface="Calibri"/>
              </a:rPr>
              <a:t>749,00 € / mes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113927"/>
                </a:solidFill>
                <a:latin typeface="Outfit"/>
              </a:rPr>
              <a:t>Topes Máximos: </a:t>
            </a:r>
            <a:r>
              <a:rPr sz="1400" i="1">
                <a:solidFill>
                  <a:srgbClr val="76927A"/>
                </a:solidFill>
                <a:latin typeface="Calibri"/>
              </a:rPr>
              <a:t>El techo presupuestario del SEPE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Sin hijos a cargo (175% IPREM + 1/6): </a:t>
            </a:r>
            <a:r>
              <a:rPr sz="1400" b="1">
                <a:solidFill>
                  <a:srgbClr val="E98F71"/>
                </a:solidFill>
                <a:latin typeface="Calibri"/>
              </a:rPr>
              <a:t>1.225,00 € / mes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Con 1 hijo a cargo (200% IPREM + 1/6): </a:t>
            </a:r>
            <a:r>
              <a:rPr sz="1400" b="1">
                <a:solidFill>
                  <a:srgbClr val="E98F71"/>
                </a:solidFill>
                <a:latin typeface="Calibri"/>
              </a:rPr>
              <a:t>1.400,00 € / mes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F3A30"/>
                </a:solidFill>
                <a:latin typeface="Calibri"/>
              </a:rPr>
              <a:t>• Con 2 o más hijos (225% IPREM + 1/6): </a:t>
            </a:r>
            <a:r>
              <a:rPr sz="1400" b="1">
                <a:solidFill>
                  <a:srgbClr val="E98F71"/>
                </a:solidFill>
                <a:latin typeface="Calibri"/>
              </a:rPr>
              <a:t>1.575,00 € / mes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98F71"/>
                </a:solidFill>
                <a:latin typeface="Outfit"/>
              </a:defRPr>
            </a:pPr>
            <a:r>
              <a:t>FASE 3 (45–70 MIN) · CASO PRÁCTICO CUANTITATIVO (§2.2.1)</a:t>
            </a:r>
          </a:p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De la Nómina al SEPE: El Impacto de los Topes (David vs. Elena)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15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98F71"/>
                </a:solidFill>
                <a:latin typeface="Outfit"/>
              </a:defRPr>
            </a:pPr>
            <a:r>
              <a:t>💼 Caso 1: David (Sueldo Alto · 2 Hijos)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F3A30"/>
                </a:solidFill>
              </a:rPr>
              <a:t>• Perfil salarial: </a:t>
            </a:r>
            <a:r>
              <a:rPr sz="1400">
                <a:solidFill>
                  <a:srgbClr val="2F3A30"/>
                </a:solidFill>
              </a:rPr>
              <a:t>Base reguladora previa = 3.500 €/mes (cotizaba en el tramo alto de la Seguridad Social).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F3A30"/>
                </a:solidFill>
              </a:rPr>
              <a:t>• Cálculo teórico (70%): </a:t>
            </a:r>
            <a:r>
              <a:rPr sz="1400">
                <a:solidFill>
                  <a:srgbClr val="2F3A30"/>
                </a:solidFill>
              </a:rPr>
              <a:t>0,70 × 3.500 € = 2.450,00 €/mes.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E98F71"/>
                </a:solidFill>
              </a:rPr>
              <a:t>• Aplicación del Tope Máximo (IPREM 2026): </a:t>
            </a:r>
            <a:r>
              <a:rPr sz="1400">
                <a:solidFill>
                  <a:srgbClr val="E98F71"/>
                </a:solidFill>
              </a:rPr>
              <a:t>Tope legal con 2 hijos (225% IPREM + 1/6) = 1.575,00 €/mes.</a:t>
            </a:r>
          </a:p>
          <a:p>
            <a:r>
              <a:rPr b="1" sz="1400">
                <a:solidFill>
                  <a:srgbClr val="2F3A30"/>
                </a:solidFill>
              </a:rPr>
              <a:t>• Efecto real: </a:t>
            </a:r>
            <a:r>
              <a:rPr sz="1400">
                <a:solidFill>
                  <a:srgbClr val="2F3A30"/>
                </a:solidFill>
              </a:rPr>
              <a:t>Pierde 875 €/mes respecto a la fórmula. Su tasa de reemplazo efectiva cae al 45%. Sufre una fuerte desprotección relativa.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6927A"/>
                </a:solidFill>
                <a:latin typeface="Outfit"/>
              </a:defRPr>
            </a:pPr>
            <a:r>
              <a:t>💼 Caso 2: Elena (Sueldo Medio · Sin Hijos)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F3A30"/>
                </a:solidFill>
              </a:rPr>
              <a:t>• Perfil salarial: </a:t>
            </a:r>
            <a:r>
              <a:rPr sz="1400">
                <a:solidFill>
                  <a:srgbClr val="2F3A30"/>
                </a:solidFill>
              </a:rPr>
              <a:t>Base reguladora previa = 1.400 €/mes (salario representativo en servicios).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76927A"/>
                </a:solidFill>
              </a:rPr>
              <a:t>• Meses 1 a 6 (70%): </a:t>
            </a:r>
            <a:r>
              <a:rPr sz="1400">
                <a:solidFill>
                  <a:srgbClr val="2F3A30"/>
                </a:solidFill>
              </a:rPr>
              <a:t>0,70 × 1.400 € = 980,00 €/mes. (Está dentro del mínimo de 560 € y el máximo de 1.225 €).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113927"/>
                </a:solidFill>
              </a:rPr>
              <a:t>• Meses 7 en adelante (60%): </a:t>
            </a:r>
            <a:r>
              <a:rPr sz="1400">
                <a:solidFill>
                  <a:srgbClr val="2F3A30"/>
                </a:solidFill>
              </a:rPr>
              <a:t>0,60 × 1.400 € = 840,00 €/mes (perfil decreciente para incentivar la reinserción).</a:t>
            </a:r>
          </a:p>
          <a:p>
            <a:r>
              <a:rPr b="1" sz="1400">
                <a:solidFill>
                  <a:srgbClr val="2F3A30"/>
                </a:solidFill>
              </a:rPr>
              <a:t>• Efecto real: </a:t>
            </a:r>
            <a:r>
              <a:rPr sz="1400">
                <a:solidFill>
                  <a:srgbClr val="2F3A30"/>
                </a:solidFill>
              </a:rPr>
              <a:t>Cobra la cuantía calculada íntegra. La tasa de reemplazo neta funciona según el diseño del legislador.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3 (45–70 MIN) · RED ASISTENCIAL Y FINANCIACIÓN (§2.2.2–2.3)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Los Subsidios Reformados y las Fuentes de Financiación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16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927"/>
                </a:solidFill>
                <a:latin typeface="Outfit"/>
              </a:rPr>
              <a:t>🛡️ La Reforma de Subsidios (2024 / 2026)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F3A30"/>
                </a:solidFill>
                <a:latin typeface="Calibri"/>
              </a:rPr>
              <a:t>• Carencia de rentas: Ingresos individuales &lt; 75% SMI (sin contar pagas extras).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F3A30"/>
                </a:solidFill>
                <a:latin typeface="Calibri"/>
              </a:rPr>
              <a:t>• Escala decreciente ordinaria:
- Primeros 6 meses: 95% del IPREM (570 €).
- Siguientes 6 meses: 90% del IPREM (540 €).
- Resto del periodo: 80% del IPREM (480 €).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E98F71"/>
                </a:solidFill>
                <a:latin typeface="Calibri"/>
              </a:rPr>
              <a:t>• Subsidio Mayores de 52 años:
Cuantía fija del 80% del IPREM (480 €) indefinida y cotización para jubilación sobre el 125% de la base mínima.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927"/>
                </a:solidFill>
                <a:latin typeface="Outfit"/>
              </a:rPr>
              <a:t>💳 Financiación y Cotizaciones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2F3A30"/>
                </a:solidFill>
                <a:latin typeface="Calibri"/>
              </a:rPr>
              <a:t>• Contrato Indefinido (Tipo general = 7,05%):
- A cargo de la empresa: 5,50%
- A cargo del trabajador: 1,55%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2F3A30"/>
                </a:solidFill>
                <a:latin typeface="Calibri"/>
              </a:rPr>
              <a:t>• Contrato Temporal (Tipo general = 8,30%):
- A cargo de la empresa: 6,70%
- A cargo del trabajador: 1,60%
(Sobre-cotización para penalizar la rotación).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76927A"/>
                </a:solidFill>
                <a:latin typeface="Calibri"/>
              </a:rPr>
              <a:t>• Aportaciones del Estado:
Financian el nivel asistencial cuando las cuotas son insuficientes para cubrir ambos niveles.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98F71"/>
                </a:solidFill>
                <a:latin typeface="Outfit"/>
              </a:defRPr>
            </a:pPr>
            <a:r>
              <a:t>FASE 3 (45–70 MIN) · ACTIVACIÓN E INCENTIVOS (§2.2.2)</a:t>
            </a:r>
          </a:p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La «Trampa de la Pobreza» y el Complemento de Empleo (CAE)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17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98F71"/>
                </a:solidFill>
                <a:latin typeface="Outfit"/>
              </a:defRPr>
            </a:pPr>
            <a:r>
              <a:t>🛑 El Viejo Sistema: Trampa de Inactividad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2F3A30"/>
                </a:solidFill>
              </a:rPr>
              <a:t>• El dilema del desempleado: </a:t>
            </a:r>
            <a:r>
              <a:rPr sz="1400">
                <a:solidFill>
                  <a:srgbClr val="2F3A30"/>
                </a:solidFill>
              </a:rPr>
              <a:t>Un parado cobra el subsidio asistencial de 480 €/mes. Le ofrecen un contrato a tiempo parcial (20 h/semana) por 550 € netos.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E98F71"/>
                </a:solidFill>
              </a:rPr>
              <a:t>• La incompatibilidad total: </a:t>
            </a:r>
            <a:r>
              <a:rPr sz="1400">
                <a:solidFill>
                  <a:srgbClr val="2F3A30"/>
                </a:solidFill>
              </a:rPr>
              <a:t>Si aceptaba el empleo formal, perdía automáticamente el subsidio de 480 €. Trabajaba 80 horas al mes para ganar ¡solo 70 € más!</a:t>
            </a:r>
          </a:p>
          <a:p>
            <a:r>
              <a:rPr b="1" sz="1400">
                <a:solidFill>
                  <a:srgbClr val="2F3A30"/>
                </a:solidFill>
              </a:rPr>
              <a:t>• Incentivo perverso: </a:t>
            </a:r>
            <a:r>
              <a:rPr sz="1400">
                <a:solidFill>
                  <a:srgbClr val="2F3A30"/>
                </a:solidFill>
              </a:rPr>
              <a:t>Rechazar ofertas formales a tiempo parcial o aceptar el empleo en 'negro' para no perder los 480 € del SEPE.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520" y="1645920"/>
            <a:ext cx="515000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13927"/>
                </a:solidFill>
                <a:latin typeface="Outfit"/>
              </a:defRPr>
            </a:pPr>
            <a:r>
              <a:t>🚀 Reforma 2024/2026: El Mecanismo del CAE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13927"/>
                </a:solidFill>
              </a:rPr>
              <a:t>• Compatibilidad directa: </a:t>
            </a:r>
            <a:r>
              <a:rPr sz="1400">
                <a:solidFill>
                  <a:srgbClr val="2F3A30"/>
                </a:solidFill>
              </a:rPr>
              <a:t>El nuevo Complemento de Apoyo al Empleo (CAE) permite compatibilizar el salario y el subsidio hasta 180 días de forma decreciente.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76927A"/>
                </a:solidFill>
              </a:rPr>
              <a:t>• La nueva ecuación de ingresos: </a:t>
            </a:r>
            <a:r>
              <a:rPr sz="1400">
                <a:solidFill>
                  <a:srgbClr val="2F3A30"/>
                </a:solidFill>
              </a:rPr>
              <a:t>El trabajador cobra sus 550 € de nómina + el subsidio compatibilizado (ej. 380 €). Ingreso mensual total = 930 €.</a:t>
            </a:r>
          </a:p>
          <a:p>
            <a:r>
              <a:rPr b="1" sz="1400">
                <a:solidFill>
                  <a:srgbClr val="113927"/>
                </a:solidFill>
              </a:rPr>
              <a:t>• Resultado de política activa: </a:t>
            </a:r>
            <a:r>
              <a:rPr sz="1400">
                <a:solidFill>
                  <a:srgbClr val="2F3A30"/>
                </a:solidFill>
              </a:rPr>
              <a:t>Trabajar siempre genera una ganancia económica neta tangible, facilitando la transición hacia la jornada completa.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4 (70–85 MIN) · LABORATORIO ACTIVO Y SIMULACIÓN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Taller Individual Móvil: La Balanza de Protección Social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18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927"/>
                </a:solidFill>
                <a:latin typeface="Outfit"/>
              </a:rPr>
              <a:t>📱 Rol: Analista del SEPE (Casos de Carmen y Antonio)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E98F71"/>
                </a:solidFill>
                <a:latin typeface="Calibri"/>
              </a:rPr>
              <a:t>• Reto 1: Carmen (Contributiva con 4 años cotizados):
</a:t>
            </a:r>
            <a:r>
              <a:rPr sz="1400">
                <a:solidFill>
                  <a:srgbClr val="2F3A30"/>
                </a:solidFill>
                <a:latin typeface="Calibri"/>
              </a:rPr>
              <a:t>Calcula en la app cuántos días de prestación genera con 1.440 días cotizados. ¿Cobrará el 70% íntegro de su sueldo de 2.200 € o topará con el límite de 1 hijo (1.400 €)?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113927"/>
                </a:solidFill>
                <a:latin typeface="Calibri"/>
              </a:rPr>
              <a:t>• Reto 2: Antonio (Mayores de 52 años):
</a:t>
            </a:r>
            <a:r>
              <a:rPr sz="1400">
                <a:solidFill>
                  <a:srgbClr val="2F3A30"/>
                </a:solidFill>
                <a:latin typeface="Calibri"/>
              </a:rPr>
              <a:t>Averigua si cumple el requisito de carencia de rentas y qué ventaja crítica de cotización para jubilación le otorga este subsidio frente al subsidio ordinario.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113927"/>
                </a:solidFill>
                <a:latin typeface="Calibri"/>
              </a:rPr>
              <a:t>• Reto 3: La Balanza Macroeconómica:
</a:t>
            </a:r>
            <a:r>
              <a:rPr sz="1400">
                <a:solidFill>
                  <a:srgbClr val="2F3A30"/>
                </a:solidFill>
                <a:latin typeface="Calibri"/>
              </a:rPr>
              <a:t>Mueve el control de tasa de reemplazo del 40% al 90%. ¿Qué ocurre con el tiempo de búsqueda y el déficit del sistema?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0" y="1828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98F71"/>
                </a:solidFill>
                <a:latin typeface="Outfit"/>
              </a:rPr>
              <a:t>¡ABRE LA MICRO-APP!</a:t>
            </a:r>
          </a:p>
        </p:txBody>
      </p:sp>
      <p:pic>
        <p:nvPicPr>
          <p:cNvPr id="9" name="Picture 8" descr="qr_app_sesion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560320"/>
            <a:ext cx="22860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50292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76927A"/>
                </a:solidFill>
                <a:latin typeface="Calibri"/>
              </a:rPr>
              <a:t>mhidper.github.io/micro_apps/
balanza_proteccion.html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98F71"/>
                </a:solidFill>
                <a:latin typeface="Outfit"/>
              </a:rPr>
              <a:t>FASE 5 (85–95 MIN) · GENEROSIDAD Y COMPARATIVA (§3.1–3.4)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113927"/>
                </a:solidFill>
                <a:latin typeface="Outfit"/>
              </a:rPr>
              <a:t>Tasas de Reemplazo Netas: España en el Contexto de la OCDE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19 / 25</a:t>
            </a:r>
          </a:p>
        </p:txBody>
      </p:sp>
      <p:pic>
        <p:nvPicPr>
          <p:cNvPr id="5" name="Picture 4" descr="figura_3_2_tasas_reemplaz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69" y="2023970"/>
            <a:ext cx="6217920" cy="281005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13927"/>
                </a:solidFill>
                <a:latin typeface="Outfit"/>
              </a:rPr>
              <a:t>📈 Conclusiones Clave (Figura 3.2)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E98F71"/>
                </a:solidFill>
                <a:latin typeface="Outfit"/>
              </a:rPr>
              <a:t>Tasa de reemplazo neta inicial:
</a:t>
            </a:r>
            <a:r>
              <a:rPr sz="1300">
                <a:solidFill>
                  <a:srgbClr val="2F3A30"/>
                </a:solidFill>
                <a:latin typeface="Calibri"/>
              </a:rPr>
              <a:t>En España se sitúa en torno al 65%–70%, en línea con la media de la OCDE, pero por debajo de Dinamarca (&gt; 80%) o Francia (~75%).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13927"/>
                </a:solidFill>
                <a:latin typeface="Outfit"/>
              </a:rPr>
              <a:t>Perfil familiar:
</a:t>
            </a:r>
            <a:r>
              <a:rPr sz="1300">
                <a:solidFill>
                  <a:srgbClr val="2F3A30"/>
                </a:solidFill>
                <a:latin typeface="Calibri"/>
              </a:rPr>
              <a:t>Los topes por hijos mejoran la generosidad relativa en familias con cargas (hasta el 225% IPREM).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13927"/>
                </a:solidFill>
                <a:latin typeface="Outfit"/>
              </a:rPr>
              <a:t>Caída temporal acusada:
</a:t>
            </a:r>
            <a:r>
              <a:rPr sz="1300">
                <a:solidFill>
                  <a:srgbClr val="2F3A30"/>
                </a:solidFill>
                <a:latin typeface="Calibri"/>
              </a:rPr>
              <a:t>A diferencia de países continentales con subsidios prolongados, en España la generosidad cae fuertemente al pasar del nivel contributivo al asistencial.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FASE 5 (95–105 MIN) · RETO INDIVIDUAL EN PAPEL (10 MIN)</a:t>
            </a:r>
          </a:p>
          <a:p>
            <a:pPr>
              <a:spcBef>
                <a:spcPts val="300"/>
              </a:spcBef>
            </a:pPr>
            <a:r>
              <a:t>Caso Teórico · Sesión Martes (Línea 1 · 20 de Octubre)</a:t>
            </a:r>
          </a:p>
        </p:txBody>
      </p:sp>
      <p:pic>
        <p:nvPicPr>
          <p:cNvPr id="3" name="Picture 2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20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1" y="1226126"/>
            <a:ext cx="5935210" cy="489121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399032"/>
            <a:ext cx="5513832" cy="4521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98F71"/>
                </a:solidFill>
                <a:latin typeface="Outfit"/>
              </a:defRPr>
            </a:pPr>
            <a:r>
              <a:rPr dirty="0"/>
              <a:t>📝 POLÍTICA DE AULA: </a:t>
            </a:r>
            <a:r>
              <a:rPr dirty="0" err="1"/>
              <a:t>Portátiles</a:t>
            </a:r>
            <a:r>
              <a:rPr dirty="0"/>
              <a:t> </a:t>
            </a:r>
            <a:r>
              <a:rPr dirty="0" err="1"/>
              <a:t>cerrados</a:t>
            </a:r>
            <a:r>
              <a:rPr dirty="0"/>
              <a:t> y </a:t>
            </a:r>
            <a:r>
              <a:rPr dirty="0" err="1"/>
              <a:t>móviles</a:t>
            </a:r>
            <a:r>
              <a:rPr dirty="0"/>
              <a:t> </a:t>
            </a:r>
            <a:r>
              <a:rPr dirty="0" err="1"/>
              <a:t>guardados</a:t>
            </a:r>
            <a:r>
              <a:rPr dirty="0"/>
              <a:t> · Solo </a:t>
            </a:r>
            <a:r>
              <a:rPr dirty="0" err="1"/>
              <a:t>lápiz</a:t>
            </a:r>
            <a:r>
              <a:rPr dirty="0"/>
              <a:t> y </a:t>
            </a:r>
            <a:r>
              <a:rPr dirty="0" err="1"/>
              <a:t>papel</a:t>
            </a:r>
            <a:r>
              <a:rPr dirty="0"/>
              <a:t> (10 </a:t>
            </a:r>
            <a:r>
              <a:rPr dirty="0" err="1"/>
              <a:t>minutos</a:t>
            </a:r>
            <a:r>
              <a:rPr dirty="0"/>
              <a:t>)</a:t>
            </a:r>
          </a:p>
          <a:p>
            <a:pPr>
              <a:spcAft>
                <a:spcPts val="12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rPr dirty="0" err="1"/>
              <a:t>Responde</a:t>
            </a:r>
            <a:r>
              <a:rPr dirty="0"/>
              <a:t> a mano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tu</a:t>
            </a:r>
            <a:r>
              <a:rPr dirty="0"/>
              <a:t> cuartilla a </a:t>
            </a:r>
            <a:r>
              <a:rPr dirty="0" err="1"/>
              <a:t>estas</a:t>
            </a:r>
            <a:r>
              <a:rPr dirty="0"/>
              <a:t> dos </a:t>
            </a:r>
            <a:r>
              <a:rPr dirty="0" err="1"/>
              <a:t>cuestiones</a:t>
            </a:r>
            <a:r>
              <a:rPr dirty="0"/>
              <a:t> </a:t>
            </a:r>
            <a:r>
              <a:rPr dirty="0" err="1"/>
              <a:t>teóricas</a:t>
            </a:r>
            <a:r>
              <a:rPr dirty="0"/>
              <a:t> </a:t>
            </a:r>
            <a:r>
              <a:rPr dirty="0" err="1"/>
              <a:t>fundamentales</a:t>
            </a:r>
            <a:r>
              <a:rPr dirty="0"/>
              <a:t> de la </a:t>
            </a:r>
            <a:r>
              <a:rPr dirty="0" err="1"/>
              <a:t>materia</a:t>
            </a:r>
            <a:r>
              <a:rPr dirty="0"/>
              <a:t>:</a:t>
            </a:r>
          </a:p>
          <a:p>
            <a:pPr>
              <a:spcAft>
                <a:spcPts val="1200"/>
              </a:spcAft>
            </a:pPr>
            <a:r>
              <a:rPr sz="1550" b="1" dirty="0">
                <a:solidFill>
                  <a:srgbClr val="113927"/>
                </a:solidFill>
                <a:latin typeface="Calibri"/>
              </a:rPr>
              <a:t>1. (500 pts) Fallo del Mercado Privado de </a:t>
            </a:r>
            <a:r>
              <a:rPr sz="1550" b="1" dirty="0" err="1">
                <a:solidFill>
                  <a:srgbClr val="113927"/>
                </a:solidFill>
                <a:latin typeface="Calibri"/>
              </a:rPr>
              <a:t>Seguros</a:t>
            </a:r>
            <a:r>
              <a:rPr sz="1550" b="1" dirty="0">
                <a:solidFill>
                  <a:srgbClr val="113927"/>
                </a:solidFill>
                <a:latin typeface="Calibri"/>
              </a:rPr>
              <a:t>: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Explica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por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qué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las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compañías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privadas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seguros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no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ofrecen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pólizas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contra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desempleo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. En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tu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respuesta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,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diferencia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con rigor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concepto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selección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adversa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del de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riesgo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covariante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sistémico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una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recesión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macroeconómica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, y argumenta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por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qué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solo el Estado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puede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mutualizar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este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riesgo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50" b="1" dirty="0">
                <a:solidFill>
                  <a:srgbClr val="113927"/>
                </a:solidFill>
                <a:latin typeface="Calibri"/>
              </a:rPr>
              <a:t>2. (500 pts) El </a:t>
            </a:r>
            <a:r>
              <a:rPr sz="1550" b="1" dirty="0" err="1">
                <a:solidFill>
                  <a:srgbClr val="113927"/>
                </a:solidFill>
                <a:latin typeface="Calibri"/>
              </a:rPr>
              <a:t>Dilema</a:t>
            </a:r>
            <a:r>
              <a:rPr sz="1550" b="1" dirty="0">
                <a:solidFill>
                  <a:srgbClr val="113927"/>
                </a:solidFill>
                <a:latin typeface="Calibri"/>
              </a:rPr>
              <a:t> de Raj Chetty (2008): </a:t>
            </a:r>
            <a:r>
              <a:rPr sz="1550" dirty="0">
                <a:solidFill>
                  <a:srgbClr val="2F3A30"/>
                </a:solidFill>
                <a:latin typeface="Calibri"/>
              </a:rPr>
              <a:t>Un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analista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afirma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: «Si el Estado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paga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una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prestación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,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desempleado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tarda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más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semanas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colocarse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;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por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tanto, las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prestaciones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son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ineficientes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y solo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fomentan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holgazanería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».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Utilizando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los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hallazgos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de Chetty,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refuta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esta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afirmación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distinguiendo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efecto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liquidez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riesgo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moral. ¿Por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qué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retraso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observado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es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su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mayor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parte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deseable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para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bienestar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social?</a:t>
            </a: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429BF378-D875-380A-AE46-33713D88B3C3}"/>
              </a:ext>
            </a:extLst>
          </p:cNvPr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BA940F39-C0D2-5481-BFAD-E1005DB0086B}"/>
              </a:ext>
            </a:extLst>
          </p:cNvPr>
          <p:cNvSpPr txBox="1"/>
          <p:nvPr/>
        </p:nvSpPr>
        <p:spPr>
          <a:xfrm>
            <a:off x="8046720" y="1828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98F71"/>
                </a:solidFill>
                <a:latin typeface="Outfit"/>
              </a:rPr>
              <a:t>¡SUBE TU CUARTILLA AQUÍ!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07C528D4-EE1C-F572-8B3D-5823F3B746E2}"/>
              </a:ext>
            </a:extLst>
          </p:cNvPr>
          <p:cNvSpPr txBox="1"/>
          <p:nvPr/>
        </p:nvSpPr>
        <p:spPr>
          <a:xfrm>
            <a:off x="8046720" y="50292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76927A"/>
                </a:solidFill>
                <a:latin typeface="Calibri"/>
              </a:rPr>
              <a:t>forms.office.com/e/PSLL-Reto-Sesion09
Tiempo límite: 2 minutos</a:t>
            </a:r>
          </a:p>
        </p:txBody>
      </p:sp>
      <p:pic>
        <p:nvPicPr>
          <p:cNvPr id="15" name="Imagen 14" descr="Código QR">
            <a:extLst>
              <a:ext uri="{FF2B5EF4-FFF2-40B4-BE49-F238E27FC236}">
                <a16:creationId xmlns:a16="http://schemas.microsoft.com/office/drawing/2014/main" id="{1FF402DA-FC91-1A0B-45DF-D153F94CAF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7230" y="2282986"/>
            <a:ext cx="2777490" cy="277749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FASE 5 (95–105 MIN) · RETO INDIVIDUAL EN PAPEL (10 MIN)</a:t>
            </a:r>
          </a:p>
          <a:p>
            <a:pPr>
              <a:spcBef>
                <a:spcPts val="300"/>
              </a:spcBef>
            </a:pPr>
            <a:r>
              <a:t>Caso Teórico · Sesión Viernes (Línea 2 · 23 de Octubre)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6927A"/>
                </a:solidFill>
                <a:latin typeface="Calibri"/>
              </a:defRPr>
            </a:pPr>
            <a:r>
              <a:t>21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1" y="1307592"/>
            <a:ext cx="6537960" cy="5084064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490472"/>
            <a:ext cx="5669280" cy="4760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98F71"/>
                </a:solidFill>
                <a:latin typeface="Outfit"/>
              </a:defRPr>
            </a:pPr>
            <a:r>
              <a:rPr dirty="0"/>
              <a:t>📝 POLÍTICA DE AULA: </a:t>
            </a:r>
            <a:r>
              <a:rPr dirty="0" err="1"/>
              <a:t>Portátiles</a:t>
            </a:r>
            <a:r>
              <a:rPr dirty="0"/>
              <a:t> </a:t>
            </a:r>
            <a:r>
              <a:rPr dirty="0" err="1"/>
              <a:t>cerrados</a:t>
            </a:r>
            <a:r>
              <a:rPr dirty="0"/>
              <a:t> y </a:t>
            </a:r>
            <a:r>
              <a:rPr dirty="0" err="1"/>
              <a:t>móviles</a:t>
            </a:r>
            <a:r>
              <a:rPr dirty="0"/>
              <a:t> </a:t>
            </a:r>
            <a:r>
              <a:rPr dirty="0" err="1"/>
              <a:t>guardados</a:t>
            </a:r>
            <a:r>
              <a:rPr dirty="0"/>
              <a:t> · Solo </a:t>
            </a:r>
            <a:r>
              <a:rPr dirty="0" err="1"/>
              <a:t>lápiz</a:t>
            </a:r>
            <a:r>
              <a:rPr dirty="0"/>
              <a:t> y </a:t>
            </a:r>
            <a:r>
              <a:rPr dirty="0" err="1"/>
              <a:t>papel</a:t>
            </a:r>
            <a:r>
              <a:rPr dirty="0"/>
              <a:t> (10 </a:t>
            </a:r>
            <a:r>
              <a:rPr dirty="0" err="1"/>
              <a:t>minutos</a:t>
            </a:r>
            <a:r>
              <a:rPr dirty="0"/>
              <a:t>)</a:t>
            </a:r>
          </a:p>
          <a:p>
            <a:pPr>
              <a:spcAft>
                <a:spcPts val="1200"/>
              </a:spcAft>
              <a:defRPr sz="1500">
                <a:solidFill>
                  <a:srgbClr val="2F3A30"/>
                </a:solidFill>
                <a:latin typeface="Calibri"/>
              </a:defRPr>
            </a:pPr>
            <a:r>
              <a:rPr dirty="0" err="1"/>
              <a:t>Responde</a:t>
            </a:r>
            <a:r>
              <a:rPr dirty="0"/>
              <a:t> a mano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tu</a:t>
            </a:r>
            <a:r>
              <a:rPr dirty="0"/>
              <a:t> cuartilla a </a:t>
            </a:r>
            <a:r>
              <a:rPr dirty="0" err="1"/>
              <a:t>estas</a:t>
            </a:r>
            <a:r>
              <a:rPr dirty="0"/>
              <a:t> dos </a:t>
            </a:r>
            <a:r>
              <a:rPr dirty="0" err="1"/>
              <a:t>cuestiones</a:t>
            </a:r>
            <a:r>
              <a:rPr dirty="0"/>
              <a:t> </a:t>
            </a:r>
            <a:r>
              <a:rPr dirty="0" err="1"/>
              <a:t>teóricas</a:t>
            </a:r>
            <a:r>
              <a:rPr dirty="0"/>
              <a:t> </a:t>
            </a:r>
            <a:r>
              <a:rPr dirty="0" err="1"/>
              <a:t>fundamentales</a:t>
            </a:r>
            <a:r>
              <a:rPr dirty="0"/>
              <a:t> de la </a:t>
            </a:r>
            <a:r>
              <a:rPr dirty="0" err="1"/>
              <a:t>materia</a:t>
            </a:r>
            <a:r>
              <a:rPr dirty="0"/>
              <a:t>:</a:t>
            </a:r>
          </a:p>
          <a:p>
            <a:pPr>
              <a:spcAft>
                <a:spcPts val="1200"/>
              </a:spcAft>
            </a:pPr>
            <a:r>
              <a:rPr sz="1550" b="1" dirty="0">
                <a:solidFill>
                  <a:srgbClr val="113927"/>
                </a:solidFill>
                <a:latin typeface="Calibri"/>
              </a:rPr>
              <a:t>1. (500 pts) La «</a:t>
            </a:r>
            <a:r>
              <a:rPr sz="1550" b="1" dirty="0" err="1">
                <a:solidFill>
                  <a:srgbClr val="113927"/>
                </a:solidFill>
                <a:latin typeface="Calibri"/>
              </a:rPr>
              <a:t>Paradoja</a:t>
            </a:r>
            <a:r>
              <a:rPr sz="1550" b="1" dirty="0">
                <a:solidFill>
                  <a:srgbClr val="113927"/>
                </a:solidFill>
                <a:latin typeface="Calibri"/>
              </a:rPr>
              <a:t> Española» del Gasto </a:t>
            </a:r>
            <a:r>
              <a:rPr sz="1550" b="1" dirty="0" err="1">
                <a:solidFill>
                  <a:srgbClr val="113927"/>
                </a:solidFill>
                <a:latin typeface="Calibri"/>
              </a:rPr>
              <a:t>en</a:t>
            </a:r>
            <a:r>
              <a:rPr sz="1550" b="1" dirty="0">
                <a:solidFill>
                  <a:srgbClr val="113927"/>
                </a:solidFill>
                <a:latin typeface="Calibri"/>
              </a:rPr>
              <a:t> </a:t>
            </a:r>
            <a:r>
              <a:rPr sz="1550" b="1" dirty="0" err="1">
                <a:solidFill>
                  <a:srgbClr val="113927"/>
                </a:solidFill>
                <a:latin typeface="Calibri"/>
              </a:rPr>
              <a:t>Pasivas</a:t>
            </a:r>
            <a:r>
              <a:rPr sz="1550" b="1" dirty="0">
                <a:solidFill>
                  <a:srgbClr val="113927"/>
                </a:solidFill>
                <a:latin typeface="Calibri"/>
              </a:rPr>
              <a:t>: </a:t>
            </a:r>
            <a:r>
              <a:rPr sz="1550" dirty="0">
                <a:solidFill>
                  <a:srgbClr val="2F3A30"/>
                </a:solidFill>
                <a:latin typeface="Calibri"/>
              </a:rPr>
              <a:t>En un debate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televisivo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se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afirma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: «España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gasta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un 1,6% de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su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PIB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desempleo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,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muy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por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encima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de la media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europea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;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esto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demuestra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que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nuestros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parados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están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sobreprotegidos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».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Desmonta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este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argumento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resolviendo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Paradoja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Española y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explicando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con rigor la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diferencia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entre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gasto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agregado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sobre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PIB y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gasto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por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punto de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desempleo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50" b="1" dirty="0">
                <a:solidFill>
                  <a:srgbClr val="113927"/>
                </a:solidFill>
                <a:latin typeface="Calibri"/>
              </a:rPr>
              <a:t>2. (500 pts) </a:t>
            </a:r>
            <a:r>
              <a:rPr sz="1550" b="1" dirty="0" err="1">
                <a:solidFill>
                  <a:srgbClr val="113927"/>
                </a:solidFill>
                <a:latin typeface="Calibri"/>
              </a:rPr>
              <a:t>Lógica</a:t>
            </a:r>
            <a:r>
              <a:rPr sz="1550" b="1" dirty="0">
                <a:solidFill>
                  <a:srgbClr val="113927"/>
                </a:solidFill>
                <a:latin typeface="Calibri"/>
              </a:rPr>
              <a:t> de la </a:t>
            </a:r>
            <a:r>
              <a:rPr sz="1550" b="1" dirty="0" err="1">
                <a:solidFill>
                  <a:srgbClr val="113927"/>
                </a:solidFill>
                <a:latin typeface="Calibri"/>
              </a:rPr>
              <a:t>Estructura</a:t>
            </a:r>
            <a:r>
              <a:rPr sz="1550" b="1" dirty="0">
                <a:solidFill>
                  <a:srgbClr val="113927"/>
                </a:solidFill>
                <a:latin typeface="Calibri"/>
              </a:rPr>
              <a:t> Dual del Sistema: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Explica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justificación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económica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que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fundamenta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división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de la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protección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dos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niveles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(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contributivo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asistencial</a:t>
            </a:r>
            <a:r>
              <a:rPr sz="1550" dirty="0">
                <a:solidFill>
                  <a:srgbClr val="2F3A30"/>
                </a:solidFill>
                <a:latin typeface="Calibri"/>
              </a:rPr>
              <a:t>). ¿Por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qué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prestación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contributiva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busca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preservar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nivel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vida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previo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y se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financia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mediante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cotizaciones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salariales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,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mientras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que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el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subsidio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asistencial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persigue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evitar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pobreza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severa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exige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una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estricta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carencia</a:t>
            </a:r>
            <a:r>
              <a:rPr sz="1550" dirty="0">
                <a:solidFill>
                  <a:srgbClr val="2F3A30"/>
                </a:solidFill>
                <a:latin typeface="Calibri"/>
              </a:rPr>
              <a:t> de </a:t>
            </a:r>
            <a:r>
              <a:rPr sz="1550" dirty="0" err="1">
                <a:solidFill>
                  <a:srgbClr val="2F3A30"/>
                </a:solidFill>
                <a:latin typeface="Calibri"/>
              </a:rPr>
              <a:t>rentas</a:t>
            </a:r>
            <a:r>
              <a:rPr sz="1550" dirty="0">
                <a:solidFill>
                  <a:srgbClr val="2F3A30"/>
                </a:solidFill>
                <a:latin typeface="Calibri"/>
              </a:rPr>
              <a:t>?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93BD9B11-84B0-91D5-3F19-DDBFD655FD9C}"/>
              </a:ext>
            </a:extLst>
          </p:cNvPr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F4F8F5"/>
          </a:solidFill>
          <a:ln w="2540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295DD14F-A02F-97EC-90F9-80568C7F0431}"/>
              </a:ext>
            </a:extLst>
          </p:cNvPr>
          <p:cNvSpPr txBox="1"/>
          <p:nvPr/>
        </p:nvSpPr>
        <p:spPr>
          <a:xfrm>
            <a:off x="8046720" y="1828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98F71"/>
                </a:solidFill>
                <a:latin typeface="Outfit"/>
              </a:rPr>
              <a:t>¡SUBE TU CUARTILLA AQUÍ!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EAEA4E55-4098-C369-5482-FAAC68322C17}"/>
              </a:ext>
            </a:extLst>
          </p:cNvPr>
          <p:cNvSpPr txBox="1"/>
          <p:nvPr/>
        </p:nvSpPr>
        <p:spPr>
          <a:xfrm>
            <a:off x="8046720" y="50292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76927A"/>
                </a:solidFill>
                <a:latin typeface="Calibri"/>
              </a:rPr>
              <a:t>forms.office.com/e/PSLL-Reto-Sesion09
Tiempo límite: 2 minutos</a:t>
            </a:r>
          </a:p>
        </p:txBody>
      </p:sp>
      <p:pic>
        <p:nvPicPr>
          <p:cNvPr id="15" name="Imagen 14" descr="Código QR">
            <a:extLst>
              <a:ext uri="{FF2B5EF4-FFF2-40B4-BE49-F238E27FC236}">
                <a16:creationId xmlns:a16="http://schemas.microsoft.com/office/drawing/2014/main" id="{58ACA2EC-92F6-B5B3-FF1B-0D64189FB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231136"/>
            <a:ext cx="2615184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98F71"/>
                </a:solidFill>
                <a:latin typeface="Outfit"/>
              </a:defRPr>
            </a:pPr>
            <a:r>
              <a:t>FASE 5 (105–107 MIN) · SUBIDA FOTOGRÁFICA INSTANTÁNEA (2 MIN)</a:t>
            </a:r>
          </a:p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Captura y Envío de la Cuartilla Manuscrita (Turnos Martes y Viernes)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22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📸 Instrucciones de Envío Oficial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2F3A30"/>
                </a:solidFill>
              </a:rPr>
              <a:t>Paso 1: Foto nítida y vertical
</a:t>
            </a:r>
            <a:r>
              <a:rPr sz="1400">
                <a:solidFill>
                  <a:srgbClr val="2F3A30"/>
                </a:solidFill>
              </a:rPr>
              <a:t>Coloca tu cuartilla sobre la mesa. Toma la foto asegurando iluminación clara y enfoque directo sobre tu caligrafía manuscrita.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2F3A30"/>
                </a:solidFill>
              </a:rPr>
              <a:t>Paso 2: Subida al Formulario Institucional
</a:t>
            </a:r>
            <a:r>
              <a:rPr sz="1400">
                <a:solidFill>
                  <a:srgbClr val="2F3A30"/>
                </a:solidFill>
              </a:rPr>
              <a:t>Escanea el código QR de la derecha o accede con tu cuenta institucional UPO a Microsoft Forms.</a:t>
            </a:r>
          </a:p>
          <a:p>
            <a:r>
              <a:rPr b="1" sz="1400">
                <a:solidFill>
                  <a:srgbClr val="113927"/>
                </a:solidFill>
              </a:rPr>
              <a:t>Paso 3: Protocolo Ciego y Pasaporte Digital
</a:t>
            </a:r>
            <a:r>
              <a:rPr sz="1400">
                <a:solidFill>
                  <a:srgbClr val="2F3A30"/>
                </a:solidFill>
              </a:rPr>
              <a:t>Tu entrega será anonimizada visualmente y calificada a ciegas con el baremo oficial (0–1.000 pts). Los puntos acumulados desbloquean beneficios y comodines para el examen final.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828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98F71"/>
                </a:solidFill>
                <a:latin typeface="Outfit"/>
              </a:defRPr>
            </a:pPr>
            <a:r>
              <a:t>¡SUBE TU CUARTILLA AQUÍ!</a:t>
            </a:r>
          </a:p>
        </p:txBody>
      </p:sp>
      <p:pic>
        <p:nvPicPr>
          <p:cNvPr id="9" name="Picture 8" descr="qr_reto_sesion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560320"/>
            <a:ext cx="22860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50292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F3A30"/>
                </a:solidFill>
                <a:latin typeface="Calibri"/>
              </a:defRPr>
            </a:pPr>
            <a:r>
              <a:t>forms.office.com/e/PSLL-Reto-Sesion09</a:t>
            </a:r>
          </a:p>
          <a:p>
            <a:pPr>
              <a:defRPr sz="1300" b="1">
                <a:solidFill>
                  <a:srgbClr val="E98F71"/>
                </a:solidFill>
                <a:latin typeface="Outfit"/>
              </a:defRPr>
            </a:pPr>
            <a:r>
              <a:t>Tiempo límite: 2 minutos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98F71"/>
                </a:solidFill>
                <a:latin typeface="Outfit"/>
              </a:defRPr>
            </a:pPr>
            <a:r>
              <a:t>FASE 5 (107–115 MIN) · FEEDBACK FORMATIVO INMEDIATO</a:t>
            </a:r>
          </a:p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Solución Modelo y Criterios · Sesión Martes (Línea 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23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13927"/>
                </a:solidFill>
                <a:latin typeface="Outfit"/>
              </a:defRPr>
            </a:pPr>
            <a:r>
              <a:t>🎯 Cuestión 1: Fallo de Mercado (500 pts)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2F3A30"/>
                </a:solidFill>
              </a:rPr>
              <a:t>• Selección Adversa (200 pts): </a:t>
            </a:r>
            <a:r>
              <a:rPr sz="1350">
                <a:solidFill>
                  <a:srgbClr val="2F3A30"/>
                </a:solidFill>
              </a:rPr>
              <a:t>Asimetría informativa. Solo se asegurarían quienes anticipan alto riesgo de despido, elevando la prima hasta expulsar a los trabajadores estables y colapsando el mercado privado.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2F3A30"/>
                </a:solidFill>
              </a:rPr>
              <a:t>• Riesgo Covariante Sistémico (200 pts): </a:t>
            </a:r>
            <a:r>
              <a:rPr sz="1350">
                <a:solidFill>
                  <a:srgbClr val="2F3A30"/>
                </a:solidFill>
              </a:rPr>
              <a:t>El seguro privado exige siniestros independientes. En recesión, millones van al paro simultáneamente (shock correlacionado); la aseguradora quebraría sin reservas para pagos masivos.</a:t>
            </a:r>
          </a:p>
          <a:p>
            <a:r>
              <a:rPr b="1" sz="1350">
                <a:solidFill>
                  <a:srgbClr val="113927"/>
                </a:solidFill>
              </a:rPr>
              <a:t>• Solución Pública (100 pts): </a:t>
            </a:r>
            <a:r>
              <a:rPr sz="1350">
                <a:solidFill>
                  <a:srgbClr val="2F3A30"/>
                </a:solidFill>
              </a:rPr>
              <a:t>Solo el Estado tiene solvencia intertemporal, capacidad de emitir deuda y afiliación obligatoria universal para mutualizar el shock.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13927"/>
                </a:solidFill>
                <a:latin typeface="Outfit"/>
              </a:defRPr>
            </a:pPr>
            <a:r>
              <a:t>🎯 Cuestión 2: Dilema de Chetty (500 pts)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76927A"/>
                </a:solidFill>
              </a:rPr>
              <a:t>• Efecto Liquidez (200 pts): </a:t>
            </a:r>
            <a:r>
              <a:rPr sz="1350">
                <a:solidFill>
                  <a:srgbClr val="2F3A30"/>
                </a:solidFill>
              </a:rPr>
              <a:t>El 60% del aumento de duración del paro refleja falta de ahorros y acceso al crédito. La prestación alivia la asfixia financiera y permite buscar un empleo adecuado.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E98F71"/>
                </a:solidFill>
              </a:rPr>
              <a:t>• Riesgo Moral (150 pts): </a:t>
            </a:r>
            <a:r>
              <a:rPr sz="1350">
                <a:solidFill>
                  <a:srgbClr val="2F3A30"/>
                </a:solidFill>
              </a:rPr>
              <a:t>Solo el 40% es desincentivo al esfuerzo por reducción de la ganancia neta de trabajar (subvención del ocio relativo).</a:t>
            </a:r>
          </a:p>
          <a:p>
            <a:r>
              <a:rPr b="1" sz="1350">
                <a:solidFill>
                  <a:srgbClr val="113927"/>
                </a:solidFill>
              </a:rPr>
              <a:t>• Bienestar Social (150 pts): </a:t>
            </a:r>
            <a:r>
              <a:rPr sz="1350">
                <a:solidFill>
                  <a:srgbClr val="2F3A30"/>
                </a:solidFill>
              </a:rPr>
              <a:t>Al dominar la liquidez, la búsqueda más pausada mejora el emparejamiento laboral y evita la pobreza severa; no es mera holgazanería.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98F71"/>
                </a:solidFill>
                <a:latin typeface="Outfit"/>
              </a:defRPr>
            </a:pPr>
            <a:r>
              <a:t>FASE 5 (107–115 MIN) · FEEDBACK FORMATIVO INMEDIATO</a:t>
            </a:r>
          </a:p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Solución Modelo y Criterios · Sesión Viernes (Línea 2)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24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13927"/>
                </a:solidFill>
                <a:latin typeface="Outfit"/>
              </a:defRPr>
            </a:pPr>
            <a:r>
              <a:t>🎯 Cuestión 1: Paradoja Española (500 pts)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2F3A30"/>
                </a:solidFill>
              </a:rPr>
              <a:t>• Distinción Conceptual (200 pts): </a:t>
            </a:r>
            <a:r>
              <a:rPr sz="1350">
                <a:solidFill>
                  <a:srgbClr val="2F3A30"/>
                </a:solidFill>
              </a:rPr>
              <a:t>El gasto en % del PIB mide la carga macroeconómica agregada sobre la riqueza nacional; el gasto por punto de paro mide la protección real por desempleado.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E98F71"/>
                </a:solidFill>
              </a:rPr>
              <a:t>• Desmontar la Falacia (200 pts): </a:t>
            </a:r>
            <a:r>
              <a:rPr sz="1350">
                <a:solidFill>
                  <a:srgbClr val="2F3A30"/>
                </a:solidFill>
              </a:rPr>
              <a:t>España gasta mucho (1,6% del PIB) no por sobreproteger a cada parado, sino porque su tasa de desempleo duplica la europea (11,5% vs 6%).</a:t>
            </a:r>
          </a:p>
          <a:p>
            <a:r>
              <a:rPr b="1" sz="1350">
                <a:solidFill>
                  <a:srgbClr val="113927"/>
                </a:solidFill>
              </a:rPr>
              <a:t>• Ratio Real (100 pts): </a:t>
            </a:r>
            <a:r>
              <a:rPr sz="1350">
                <a:solidFill>
                  <a:srgbClr val="2F3A30"/>
                </a:solidFill>
              </a:rPr>
              <a:t>El gasto por punto de paro en España es de solo 0,12% del PIB, muy por debajo de Dinamarca (0,27%) o Alemania (0,31%). Cada desempleado español recibe menos recursos.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520" y="1645920"/>
            <a:ext cx="5150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1520" y="1825920"/>
            <a:ext cx="4710000" cy="406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13927"/>
                </a:solidFill>
                <a:latin typeface="Outfit"/>
              </a:defRPr>
            </a:pPr>
            <a:r>
              <a:t>🎯 Cuestión 2: Estructura Dual (500 pts)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76927A"/>
                </a:solidFill>
              </a:rPr>
              <a:t>• Nivel Contributivo (250 pts): </a:t>
            </a:r>
            <a:r>
              <a:rPr sz="1350">
                <a:solidFill>
                  <a:srgbClr val="2F3A30"/>
                </a:solidFill>
              </a:rPr>
              <a:t>Objetivo: seguro de rentas (smoothing de consumo) para mantener el nivel de vida previo. Se financia con cotizaciones salariales proporcionales y exige 360 días cotizados.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E98F71"/>
                </a:solidFill>
              </a:rPr>
              <a:t>• Nivel Asistencial (200 pts): </a:t>
            </a:r>
            <a:r>
              <a:rPr sz="1350">
                <a:solidFill>
                  <a:srgbClr val="2F3A30"/>
                </a:solidFill>
              </a:rPr>
              <a:t>Objetivo: red de seguridad contra la exclusión social y la pobreza. Se financia con transferencias del Estado y exige estricta carencia de rentas (&lt; 75% SMI).</a:t>
            </a:r>
          </a:p>
          <a:p>
            <a:r>
              <a:rPr b="1" sz="1350">
                <a:solidFill>
                  <a:srgbClr val="113927"/>
                </a:solidFill>
              </a:rPr>
              <a:t>• Complementariedad (50 pts): </a:t>
            </a:r>
            <a:r>
              <a:rPr sz="1350">
                <a:solidFill>
                  <a:srgbClr val="2F3A30"/>
                </a:solidFill>
              </a:rPr>
              <a:t>El sistema protege primero la trayectoria laboral y, al agotarse, actúa la red no contributiva de rescate.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98F71"/>
                </a:solidFill>
                <a:latin typeface="Outfit"/>
              </a:defRPr>
            </a:pPr>
            <a:r>
              <a:t>CIERRE DE SESIÓN Y PASAPORTE DIGITAL</a:t>
            </a:r>
          </a:p>
          <a:p>
            <a:pPr>
              <a:defRPr sz="2200" b="1">
                <a:solidFill>
                  <a:srgbClr val="113927"/>
                </a:solidFill>
                <a:latin typeface="Outfit"/>
              </a:defRPr>
            </a:pPr>
            <a:r>
              <a:t>Próximos Pasos · Enlace con Sesión 10 y Pasaporte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26287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25 /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13927"/>
                </a:solidFill>
                <a:latin typeface="Outfit"/>
              </a:defRPr>
            </a:pPr>
            <a:r>
              <a:t>🚀 Síntesis de Hoy y Enlace con Sesión 10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2F3A30"/>
                </a:solidFill>
              </a:rPr>
              <a:t>Conclusiones clave de hoy:
</a:t>
            </a:r>
            <a:r>
              <a:rPr sz="1400">
                <a:solidFill>
                  <a:srgbClr val="2F3A30"/>
                </a:solidFill>
              </a:rPr>
              <a:t>Hemos consolidado la lógica del seguro de búsqueda, la estructura dual española (contributiva vs asistencial) y resuelto la Paradoja Española de las pasivas.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76927A"/>
                </a:solidFill>
              </a:rPr>
              <a:t>Próxima sesión (Sesión 10):
</a:t>
            </a:r>
            <a:r>
              <a:rPr sz="1400">
                <a:solidFill>
                  <a:srgbClr val="2F3A30"/>
                </a:solidFill>
              </a:rPr>
              <a:t>Políticas Pasivas (II): La activación para el empleo, el control de la búsqueda, el Complemento de Apoyo al Empleo (CAE) y las reformas pendientes.</a:t>
            </a:r>
          </a:p>
          <a:p>
            <a:r>
              <a:rPr b="1" sz="1400">
                <a:solidFill>
                  <a:srgbClr val="113927"/>
                </a:solidFill>
              </a:rPr>
              <a:t>Material de estudio disponible en el Aula Virtual:
</a:t>
            </a:r>
            <a:r>
              <a:rPr sz="1400">
                <a:solidFill>
                  <a:srgbClr val="2F3A30"/>
                </a:solidFill>
              </a:rPr>
              <a:t>Apuntes completos maquetados del Tema 3 con el marco regulatorio 2026 y lecturas empíricas complementarias.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828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76927A"/>
                </a:solidFill>
                <a:latin typeface="Outfit"/>
              </a:defRPr>
            </a:pPr>
            <a:r>
              <a:t>PASAPORTE DIGITAL PSLL</a:t>
            </a:r>
          </a:p>
        </p:txBody>
      </p:sp>
      <p:pic>
        <p:nvPicPr>
          <p:cNvPr id="9" name="Picture 8" descr="qr_pasaporte_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560320"/>
            <a:ext cx="22860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50292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Consulta tus calificaciones</a:t>
            </a:r>
            <a:br/>
            <a:r>
              <a:t>y soluciones de la cátedra</a:t>
            </a:r>
          </a:p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mhidper.github.io/pasaporte_psll.html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2947</Words>
  <Application>Microsoft Office PowerPoint</Application>
  <PresentationFormat>Panorámica</PresentationFormat>
  <Paragraphs>170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Outfit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5</cp:revision>
  <dcterms:created xsi:type="dcterms:W3CDTF">2013-01-27T09:14:16Z</dcterms:created>
  <dcterms:modified xsi:type="dcterms:W3CDTF">2026-10-20T07:15:44Z</dcterms:modified>
  <cp:category/>
</cp:coreProperties>
</file>