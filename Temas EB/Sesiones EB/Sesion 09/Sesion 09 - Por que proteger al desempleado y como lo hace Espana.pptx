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632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  <a:p>
            <a:pPr algn="ctr">
              <a:spcBef>
                <a:spcPts val="800"/>
              </a:spcBef>
            </a:pPr>
            <a:r>
              <a:rPr sz="1800" b="1">
                <a:solidFill>
                  <a:srgbClr val="EDB090"/>
                </a:solidFill>
                <a:latin typeface="Outfit"/>
              </a:rPr>
              <a:t>Sesión 9 – Por qué proteger al desempleado y cómo lo hace España</a:t>
            </a:r>
          </a:p>
          <a:p>
            <a:pPr algn="ctr">
              <a:spcBef>
                <a:spcPts val="1000"/>
              </a:spcBef>
            </a:pPr>
            <a:r>
              <a:rPr sz="1200">
                <a:solidFill>
                  <a:srgbClr val="F4F8F5"/>
                </a:solidFill>
                <a:latin typeface="Calibri"/>
              </a:rPr>
              <a:t>Semana 6 · Martes 20 / Viernes 23 de Octubre de 2026  ·  Código 102023  ·  Manuel A. Hidalgo Pérez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F3A30"/>
                </a:solidFill>
                <a:latin typeface="Calibri"/>
              </a:rPr>
              <a:t>Grado en Relaciones Laborales y Recursos Humanos · Doble Grado en Derecho y RRLL-RRHH · Universidad Pablo de Olavide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TEMA 3 · POLÍTICAS PASIVAS (I)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Arquitectura Pedagógica de la Sesión (120 min)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2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98F71"/>
                </a:solidFill>
                <a:latin typeface="Outfit"/>
              </a:rPr>
              <a:t>Fase 1 · 00–20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7335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3927"/>
                </a:solidFill>
                <a:latin typeface="Outfit"/>
              </a:rPr>
              <a:t>Gancho y Choque Empírico: </a:t>
            </a:r>
            <a:r>
              <a:rPr sz="1300">
                <a:solidFill>
                  <a:srgbClr val="2F3A30"/>
                </a:solidFill>
                <a:latin typeface="Calibri"/>
              </a:rPr>
              <a:t>Noticia de reforma, sondeo móvil en vivo (Forms) y la «Paradoja Española» (gasto PIB vs. punto de paro).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10728655" cy="7772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3927"/>
                </a:solidFill>
                <a:latin typeface="Outfit"/>
              </a:rPr>
              <a:t>Fase 2 · 20–45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9464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3927"/>
                </a:solidFill>
                <a:latin typeface="Outfit"/>
              </a:rPr>
              <a:t>Justificación Económica: </a:t>
            </a:r>
            <a:r>
              <a:rPr sz="1300">
                <a:solidFill>
                  <a:srgbClr val="2F3A30"/>
                </a:solidFill>
                <a:latin typeface="Calibri"/>
              </a:rPr>
              <a:t>Por qué asegurar el paro: red de seguridad, seguro de búsqueda (search capital) y el dilema de Chetty.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92424"/>
            <a:ext cx="10728655" cy="7772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02152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6927A"/>
                </a:solidFill>
                <a:latin typeface="Outfit"/>
              </a:rPr>
              <a:t>Fase 3 · 45–70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65576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3927"/>
                </a:solidFill>
                <a:latin typeface="Outfit"/>
              </a:rPr>
              <a:t>Estructura Dual en España: </a:t>
            </a:r>
            <a:r>
              <a:rPr sz="1300">
                <a:solidFill>
                  <a:srgbClr val="2F3A30"/>
                </a:solidFill>
                <a:latin typeface="Calibri"/>
              </a:rPr>
              <a:t>Primer nivel contributivo (requisitos, escala art. 269 LGSS, 70%/60%, topes IPREM) y segundo nivel asistencial.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88536"/>
            <a:ext cx="10728655" cy="7772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98264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98F71"/>
                </a:solidFill>
                <a:latin typeface="Outfit"/>
              </a:rPr>
              <a:t>Fase 4 · 70–85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36168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3927"/>
                </a:solidFill>
                <a:latin typeface="Outfit"/>
              </a:rPr>
              <a:t>Laboratorio Activo Móvil: </a:t>
            </a:r>
            <a:r>
              <a:rPr sz="1300">
                <a:solidFill>
                  <a:srgbClr val="2F3A30"/>
                </a:solidFill>
                <a:latin typeface="Calibri"/>
              </a:rPr>
              <a:t>Taller individual de 15 min en rol de Analista del SEPE con la micro-app «La Balanza de Protección».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84648"/>
            <a:ext cx="10728655" cy="77724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94376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13927"/>
                </a:solidFill>
                <a:latin typeface="Outfit"/>
              </a:rPr>
              <a:t>Fase 5 · 85–120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2578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3927"/>
                </a:solidFill>
                <a:latin typeface="Outfit"/>
              </a:rPr>
              <a:t>Reto Manuscrito y Evaluación: </a:t>
            </a:r>
            <a:r>
              <a:rPr sz="1300">
                <a:solidFill>
                  <a:srgbClr val="2F3A30"/>
                </a:solidFill>
                <a:latin typeface="Calibri"/>
              </a:rPr>
              <a:t>Comparativa europea (Figura 3.2), reto en papel (10 min), subida con QR y solución modelo bimodal.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1 (00–20 MIN) · APERTURA Y ENIGMA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El Debate Social: ¿Protección Indispensable o Desincentivo?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3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📰 El Titular en la Prensa Económica</a:t>
            </a:r>
          </a:p>
          <a:p>
            <a:pPr>
              <a:spcBef>
                <a:spcPts val="1400"/>
              </a:spcBef>
            </a:pPr>
            <a:r>
              <a:rPr sz="1600" i="1">
                <a:solidFill>
                  <a:srgbClr val="2F3A30"/>
                </a:solidFill>
                <a:latin typeface="Calibri"/>
              </a:rPr>
              <a:t>«La reforma de los subsidios reabre la batalla: la patronal alerta de que las ayudas frenan la cobertura de vacantes en hostelería, mientras los sindicatos denuncian que la mitad de los parados no cobra nada».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• Enigma central: ¿Por qué el Estado paga a personas por no trabajar en vez de forzarlas a colocarse de inmediato?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98F71"/>
                </a:solidFill>
                <a:latin typeface="Outfit"/>
              </a:rPr>
              <a:t>💡 Las Tres Grandes Preguntas de Aula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1. ¿Gasto Social o Inversión Económica?
Si no hubiera subsidios, ¿aumentaría el empleo o se multiplicaría la pobreza sobrevenida y la caída del consumo?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2. La Paradoja de los Grandes Números:
España gasta un 1,6% de su PIB en desempleo (el doble que otros países). ¿Significa eso que nuestros subsidios son de oro?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3. El Rol del Graduado en RRLL:
Calcular derechos reales, asesorar a empresas y demandantes, y diseñar incentivos para acelerar la reinserción.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1 (00–20 MIN) · PARTICIPACIÓN EN DIRECTO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Sondeo Previo · Diagnóstico del Aula desde el Móvil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4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📊 Pregunta Trampa de Percepción Social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2F3A30"/>
                </a:solidFill>
                <a:latin typeface="Calibri"/>
              </a:rPr>
              <a:t>«En comparación con Alemania, Francia o Dinamarca, el gasto público de España en prestaciones por desempleo...»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76927A"/>
                </a:solidFill>
                <a:latin typeface="Outfit"/>
              </a:rPr>
              <a:t>[A] </a:t>
            </a:r>
            <a:r>
              <a:rPr sz="1500">
                <a:solidFill>
                  <a:srgbClr val="2F3A30"/>
                </a:solidFill>
                <a:latin typeface="Calibri"/>
              </a:rPr>
              <a:t>Es muy elevado porque el sistema es hiper-generoso en cuantía y duración.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76927A"/>
                </a:solidFill>
                <a:latin typeface="Outfit"/>
              </a:rPr>
              <a:t>[B] </a:t>
            </a:r>
            <a:r>
              <a:rPr sz="1500">
                <a:solidFill>
                  <a:srgbClr val="2F3A30"/>
                </a:solidFill>
                <a:latin typeface="Calibri"/>
              </a:rPr>
              <a:t>Es bajísimo porque el Estado dedica pocos fondos y paga subsidios míseros.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E98F71"/>
                </a:solidFill>
                <a:latin typeface="Outfit"/>
              </a:rPr>
              <a:t>[C] </a:t>
            </a:r>
            <a:r>
              <a:rPr sz="1500">
                <a:solidFill>
                  <a:srgbClr val="2F3A30"/>
                </a:solidFill>
                <a:latin typeface="Calibri"/>
              </a:rPr>
              <a:t>Es elevado sobre el PIB total, pero muy bajo por cada persona desempleada.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76927A"/>
                </a:solidFill>
                <a:latin typeface="Outfit"/>
              </a:rPr>
              <a:t>[D] </a:t>
            </a:r>
            <a:r>
              <a:rPr sz="1500">
                <a:solidFill>
                  <a:srgbClr val="2F3A30"/>
                </a:solidFill>
                <a:latin typeface="Calibri"/>
              </a:rPr>
              <a:t>Depende exclusivamente de las subidas del 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8F71"/>
                </a:solidFill>
                <a:latin typeface="Outfit"/>
              </a:rPr>
              <a:t>¡VOTA DESDE TU MÓVIL!</a:t>
            </a:r>
          </a:p>
        </p:txBody>
      </p:sp>
      <p:pic>
        <p:nvPicPr>
          <p:cNvPr id="9" name="Picture 8" descr="qr_sondeo_sesion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603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029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927A"/>
                </a:solidFill>
                <a:latin typeface="Calibri"/>
              </a:rPr>
              <a:t>forms.office.com/e/PSLL-Sondeo-Sesion09
Cuenta institucional UPO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1 (00–20 MIN) · CHOQUE EMPÍRICO INMEDIATO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La «Paradoja Española» del Gasto en Políticas Pasivas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5 / 18</a:t>
            </a:r>
          </a:p>
        </p:txBody>
      </p:sp>
      <p:pic>
        <p:nvPicPr>
          <p:cNvPr id="5" name="Picture 4" descr="figura_3_1_gasto_pasivas_p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88" y="1645920"/>
            <a:ext cx="6217920" cy="31836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3927"/>
                </a:solidFill>
                <a:latin typeface="Outfit"/>
              </a:rPr>
              <a:t>📊 Interpretación Oficial (Figura 3.1)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13927"/>
                </a:solidFill>
                <a:latin typeface="Outfit"/>
              </a:rPr>
              <a:t>Gasto sobre PIB: 1,6%
</a:t>
            </a:r>
            <a:r>
              <a:rPr sz="1300">
                <a:solidFill>
                  <a:srgbClr val="2F3A30"/>
                </a:solidFill>
                <a:latin typeface="Calibri"/>
              </a:rPr>
              <a:t>España se sitúa en los primeros puestos europeos por gasto agregado sobre el PIB, superando a Alemania (1,0%) y Dinamarca (1,3%).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E98F71"/>
                </a:solidFill>
                <a:latin typeface="Outfit"/>
              </a:rPr>
              <a:t>Gasto por punto de paro: 0,12%
</a:t>
            </a:r>
            <a:r>
              <a:rPr sz="1300">
                <a:solidFill>
                  <a:srgbClr val="2F3A30"/>
                </a:solidFill>
                <a:latin typeface="Calibri"/>
              </a:rPr>
              <a:t>Al dividir entre la tasa de desempleo (11,5%), el gasto por punto de paro cae a menos de la mitad que en Dinamarca (0,27%) o Alemania (0,31%).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13927"/>
                </a:solidFill>
                <a:latin typeface="Outfit"/>
              </a:rPr>
              <a:t>La causa real de la paradoja:
</a:t>
            </a:r>
            <a:r>
              <a:rPr sz="1300">
                <a:solidFill>
                  <a:srgbClr val="2F3A30"/>
                </a:solidFill>
                <a:latin typeface="Calibri"/>
              </a:rPr>
              <a:t>El sistema es costoso para las cuentas públicas por el enorme volumen de desempleados, pero moderado en la protección unitaria por parado.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2 (20–45 MIN) · JUSTIFICACIÓN ECONÓMICA (§1.1–1.2)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¿Por qué Debe el Estado Asegurar el Desempleo?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6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76927A"/>
                </a:solidFill>
                <a:latin typeface="Outfit"/>
              </a:rPr>
              <a:t>1. Fallo del Mercado Privado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Las aseguradoras privadas no ofrecen seguros de desempleo por dos razones: selección adversa (solo se asegurarían quienes esperan ser despedidos) y riesgo covariante sistémico en recesiones.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3927"/>
                </a:solidFill>
                <a:latin typeface="Outfit"/>
              </a:rPr>
              <a:t>2. Red de Seguridad y Consumo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El desempleo provoca una caída drástica de rentas familiares. Sin prestaciones, se desploma el consumo agregado, alimentando la espiral recesiva keynesiana.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98F71"/>
                </a:solidFill>
                <a:latin typeface="Outfit"/>
              </a:rPr>
              <a:t>3. Estabilizador Automático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El gasto pasivo inyecta liquidez inmediatamente cuando arrecia la crisis, sin necesidad de trámites parlamentarios ni retrasos legislativos.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2 (20–45 MIN) · JUSTIFICACIÓN ECONÓMICA (§1.2.3)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El «Seguro de Búsqueda»: Productividad del Emparejamiento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7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🎯 La Prestación como Inversión Productiva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• Búsqueda eficiente de empleo:
Permite al trabajador dedicar tiempo y recursos a localizar un puesto que encaje con su cualificación previa (Search Capital).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• Evita la descapitalización del talento:
Sin subsidio, un ingeniero o especialista aceptaría el primer puesto de repartidor para subsistir, destruyendo capital humano acumulado.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98F71"/>
                </a:solidFill>
                <a:latin typeface="Outfit"/>
              </a:rPr>
              <a:t>⚠️ El Límite: Riesgo Moral y Salario de Reserva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• Aumento del salario de reserva (w_R):
Cuanto mayor es la prestación, más alto es el sueldo exigido para volver a trabajar.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• Desincentivo al esfuerzo de búsqueda:
El trabajador puede postergar la colocación activa hacia el final del periodo de cobro (Efecto pico o Spike al agotamiento).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➔ El reto regulatorio: Ofrecer liquidez suficiente sin destruir el incentivo a la búsqueda.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2 (20–45 MIN) · EVIDENCIA TEÓRICA DE FRONTERA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El Dilema de Chetty: Alivio de Liquidez vs. Riesgo Moral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8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Raj Chetty (Journal of Political Economy, 2008) revoluciona la evaluación de las prestaciones: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E98F71"/>
                </a:solidFill>
                <a:latin typeface="Outfit"/>
              </a:rPr>
              <a:t>• Efecto Liquidez (Deseable socialmente · ~60% del retraso): </a:t>
            </a:r>
            <a:r>
              <a:rPr sz="1500">
                <a:solidFill>
                  <a:srgbClr val="2F3A30"/>
                </a:solidFill>
                <a:latin typeface="Calibri"/>
              </a:rPr>
              <a:t>El parado prolonga la búsqueda no por holgazanería, sino porque no tiene ahorros para pagar el alquiler o la hipoteca. La prestación evita ventas forzosas de bienes familiares y créditos abusivos.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76927A"/>
                </a:solidFill>
                <a:latin typeface="Outfit"/>
              </a:rPr>
              <a:t>• Efecto Riesgo Moral (Coste de eficiencia · ~40% del retraso): </a:t>
            </a:r>
            <a:r>
              <a:rPr sz="1500">
                <a:solidFill>
                  <a:srgbClr val="2F3A30"/>
                </a:solidFill>
                <a:latin typeface="Calibri"/>
              </a:rPr>
              <a:t>El subsidio subvenciona el tiempo de ocio relativo. El individuo reduce su intensidad de envío de currículos porque el coste de estar desempleado se atenúa.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113927"/>
                </a:solidFill>
                <a:latin typeface="Outfit"/>
              </a:rPr>
              <a:t>• Conclusión de Política Pública: </a:t>
            </a:r>
            <a:r>
              <a:rPr sz="1500">
                <a:solidFill>
                  <a:srgbClr val="2F3A30"/>
                </a:solidFill>
                <a:latin typeface="Calibri"/>
              </a:rPr>
              <a:t>El diseño óptimo debe concentrar la liquidez en hogares sin patrimonio financiero mediante tasas de reemplazo intermedias (60%–70%) y duración decreciente.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3 (45–70 MIN) · ESTRUCTURA DUAL DEL SISTEMA (§2.2)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La Arquitectura de Protección Española: Dos Niveles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9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🏛️ 1. Nivel Contributivo</a:t>
            </a:r>
          </a:p>
          <a:p>
            <a:pPr>
              <a:spcBef>
                <a:spcPts val="1000"/>
              </a:spcBef>
            </a:pPr>
            <a:r>
              <a:rPr sz="1500" b="1" i="1">
                <a:solidFill>
                  <a:srgbClr val="76927A"/>
                </a:solidFill>
                <a:latin typeface="Calibri"/>
              </a:rPr>
              <a:t>«Seguro profesional de ingresos»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Requisito de acceso: </a:t>
            </a:r>
            <a:r>
              <a:rPr sz="1500">
                <a:solidFill>
                  <a:srgbClr val="2F3A30"/>
                </a:solidFill>
                <a:latin typeface="Calibri"/>
              </a:rPr>
              <a:t>Mínimo de 360 días cotizados en los 6 años previos.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Financiación: </a:t>
            </a:r>
            <a:r>
              <a:rPr sz="1500">
                <a:solidFill>
                  <a:srgbClr val="2F3A30"/>
                </a:solidFill>
                <a:latin typeface="Calibri"/>
              </a:rPr>
              <a:t>Cuotas obligatorias por desempleo sobre la nómina.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Cuantía: </a:t>
            </a:r>
            <a:r>
              <a:rPr sz="1500">
                <a:solidFill>
                  <a:srgbClr val="2F3A30"/>
                </a:solidFill>
                <a:latin typeface="Calibri"/>
              </a:rPr>
              <a:t>Porcentaje directo de las bases de cotización previas (70% inicial, 60% después).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Duración: </a:t>
            </a:r>
            <a:r>
              <a:rPr sz="1500">
                <a:solidFill>
                  <a:srgbClr val="2F3A30"/>
                </a:solidFill>
                <a:latin typeface="Calibri"/>
              </a:rPr>
              <a:t>Regulada por escala fija (de 4 a 24 meses).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98F71"/>
                </a:solidFill>
                <a:latin typeface="Outfit"/>
              </a:rPr>
              <a:t>🤝 2. Nivel Asistencial</a:t>
            </a:r>
          </a:p>
          <a:p>
            <a:pPr>
              <a:spcBef>
                <a:spcPts val="1000"/>
              </a:spcBef>
            </a:pPr>
            <a:r>
              <a:rPr sz="1500" b="1" i="1">
                <a:solidFill>
                  <a:srgbClr val="76927A"/>
                </a:solidFill>
                <a:latin typeface="Calibri"/>
              </a:rPr>
              <a:t>«Red solidaria de subsistencia»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Requisito de acceso: </a:t>
            </a:r>
            <a:r>
              <a:rPr sz="1500">
                <a:solidFill>
                  <a:srgbClr val="2F3A30"/>
                </a:solidFill>
                <a:latin typeface="Calibri"/>
              </a:rPr>
              <a:t>Carencia de rentas individuales (&lt; 75% del SMI) y responsabilidades familiares o edad.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Financiación: </a:t>
            </a:r>
            <a:r>
              <a:rPr sz="1500">
                <a:solidFill>
                  <a:srgbClr val="2F3A30"/>
                </a:solidFill>
                <a:latin typeface="Calibri"/>
              </a:rPr>
              <a:t>Aportaciones del Estado con impuestos generales.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Cuantía: </a:t>
            </a:r>
            <a:r>
              <a:rPr sz="1500">
                <a:solidFill>
                  <a:srgbClr val="2F3A30"/>
                </a:solidFill>
                <a:latin typeface="Calibri"/>
              </a:rPr>
              <a:t>Porcentaje fijado sobre el IPREM (tramos decrecientes: 95%–90%–80%).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Duración: </a:t>
            </a:r>
            <a:r>
              <a:rPr sz="1500">
                <a:solidFill>
                  <a:srgbClr val="2F3A30"/>
                </a:solidFill>
                <a:latin typeface="Calibri"/>
              </a:rPr>
              <a:t>Periodos semestrales renovables (salvo &gt; 52 años, indefinido hasta jubilación).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3 (45–70 MIN) · PRESTACIÓN CONTRIBUTIVA (§2.2.1)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Acceso y Escala de Duración (Art. 269 LGSS)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10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📋 Requisitos Legales Obligatorios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Estar afiliado y en alta en la Seguridad Social.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Encontrarse en situación legal de desempleo (despido, fin de contrato o ERTE; nunca baja voluntaria).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Acreditar disponibilidad para buscar activamente empleo y suscribir el compromiso de actividad.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Tener cotizados al menos 360 días en los 6 años previos a la situación legal de desempleo.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No haber cumplido la edad ordinaria de jubilación.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⏱️ Escala de Duración (Regla 3 a 1)</a:t>
            </a:r>
          </a:p>
          <a:p>
            <a:pPr>
              <a:spcBef>
                <a:spcPts val="600"/>
              </a:spcBef>
            </a:pPr>
            <a:r>
              <a:rPr sz="1400" i="1">
                <a:solidFill>
                  <a:srgbClr val="76927A"/>
                </a:solidFill>
                <a:latin typeface="Calibri"/>
              </a:rPr>
              <a:t>Se genera 1 mes de prestación por cada 3 meses cotizados: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360 a 539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120 días (4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540 a 719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180 días (6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720 a 899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240 días (8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900 a 1.079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300 días (10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1.080 a 1.259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360 días (12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1.440 a 1.619 días cotizados ➔ </a:t>
            </a:r>
            <a:r>
              <a:rPr sz="1400" b="1">
                <a:solidFill>
                  <a:srgbClr val="113927"/>
                </a:solidFill>
                <a:latin typeface="Calibri"/>
              </a:rPr>
              <a:t>480 días (16 meses)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≥ 2.160 días (6 años) ➔ </a:t>
            </a:r>
            <a:r>
              <a:rPr sz="1400" b="1">
                <a:solidFill>
                  <a:srgbClr val="E98F71"/>
                </a:solidFill>
                <a:latin typeface="Calibri"/>
              </a:rPr>
              <a:t>720 días (24 meses · Máximo)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3 (45–70 MIN) · CUANTÍA Y TOPES LEGALES (§2.2.1)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Base Reguladora, Perfil Temporal y Topes con IPREM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11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💰 Cálculo de la Base y Porcentajes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• Base Reguladora (BR):
Promedio de las bases de cotización por desempleo de los últimos 180 días cotizados (excluidas horas extras).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• Cuantía mensual (Perfil decreciente):
- Primeros 180 días (meses 1 a 6): 70% de la BR.
- A partir del día 181 (mes 7 en adelante): 60% de la BR.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Descuentos en nómina del SEPE:
Se descuenta el 4,70% por cotización a la Seguridad Social (contingencias comunes) y la retención del IRPF que corresponda.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98F71"/>
                </a:solidFill>
                <a:latin typeface="Outfit"/>
              </a:rPr>
              <a:t>⚖️ Los Topes Legales (IPREM 2026 = 600 €)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Outfit"/>
              </a:rPr>
              <a:t>Topes Mínimos: </a:t>
            </a:r>
            <a:r>
              <a:rPr sz="1400" i="1">
                <a:solidFill>
                  <a:srgbClr val="76927A"/>
                </a:solidFill>
                <a:latin typeface="Calibri"/>
              </a:rPr>
              <a:t>El suelo de protección social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Sin hijos a cargo (80% IPREM + 1/6): </a:t>
            </a:r>
            <a:r>
              <a:rPr sz="1400" b="1">
                <a:solidFill>
                  <a:srgbClr val="E98F71"/>
                </a:solidFill>
                <a:latin typeface="Calibri"/>
              </a:rPr>
              <a:t>560,00 € / 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Con 1 o más hijos (107% IPREM + 1/6): </a:t>
            </a:r>
            <a:r>
              <a:rPr sz="1400" b="1">
                <a:solidFill>
                  <a:srgbClr val="E98F71"/>
                </a:solidFill>
                <a:latin typeface="Calibri"/>
              </a:rPr>
              <a:t>749,00 € / mes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Outfit"/>
              </a:rPr>
              <a:t>Topes Máximos: </a:t>
            </a:r>
            <a:r>
              <a:rPr sz="1400" i="1">
                <a:solidFill>
                  <a:srgbClr val="76927A"/>
                </a:solidFill>
                <a:latin typeface="Calibri"/>
              </a:rPr>
              <a:t>El techo presupuestario del SEPE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Sin hijos a cargo (175% IPREM + 1/6): </a:t>
            </a:r>
            <a:r>
              <a:rPr sz="1400" b="1">
                <a:solidFill>
                  <a:srgbClr val="E98F71"/>
                </a:solidFill>
                <a:latin typeface="Calibri"/>
              </a:rPr>
              <a:t>1.225,00 € / 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Con 1 hijo a cargo (200% IPREM + 1/6): </a:t>
            </a:r>
            <a:r>
              <a:rPr sz="1400" b="1">
                <a:solidFill>
                  <a:srgbClr val="E98F71"/>
                </a:solidFill>
                <a:latin typeface="Calibri"/>
              </a:rPr>
              <a:t>1.400,00 € / mes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Con 2 o más hijos (225% IPREM + 1/6): </a:t>
            </a:r>
            <a:r>
              <a:rPr sz="1400" b="1">
                <a:solidFill>
                  <a:srgbClr val="E98F71"/>
                </a:solidFill>
                <a:latin typeface="Calibri"/>
              </a:rPr>
              <a:t>1.575,00 € / 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3 (45–70 MIN) · RED ASISTENCIAL Y FINANCIACIÓN (§2.2.2–2.3)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Los Subsidios Reformados y las Fuentes de Financiación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12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🛡️ La Reforma de Subsidios (2024 / 2026)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Carencia de rentas: Ingresos individuales &lt; 75% SMI (sin contar pagas extras).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Escala decreciente ordinaria:
- Primeros 6 meses: 95% del IPREM (570 €).
- Siguientes 6 meses: 90% del IPREM (540 €).
- Resto del periodo: 80% del IPREM (480 €).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Subsidio Mayores de 52 años:
Cuantía fija del 80% del IPREM (480 €) indefinida y cotización para jubilación sobre el 125% de la base mínima.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💳 Financiación y Cotizaciones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2F3A30"/>
                </a:solidFill>
                <a:latin typeface="Calibri"/>
              </a:rPr>
              <a:t>• Contrato Indefinido (Tipo general = 7,05%):
- A cargo de la empresa: 5,50%
- A cargo del trabajador: 1,55%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Contrato Temporal (Tipo general = 8,30%):
- A cargo de la empresa: 6,70%
- A cargo del trabajador: 1,60%
(Sobre-cotización para penalizar la rotación).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76927A"/>
                </a:solidFill>
                <a:latin typeface="Calibri"/>
              </a:rPr>
              <a:t>• Aportaciones del Estado:
Financian el nivel asistencial cuando las cuotas son insuficientes para cubrir ambos niveles.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4 (70–85 MIN) · LABORATORIO ACTIVO Y SIMULACIÓN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Taller Individual Móvil: La Balanza de Protección Social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13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📱 Rol: Analista del SEPE (Casos de Carmen y Antonio)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E98F71"/>
                </a:solidFill>
                <a:latin typeface="Calibri"/>
              </a:rPr>
              <a:t>• Reto 1: Carmen (Contributiva con 4 años cotizados):
</a:t>
            </a:r>
            <a:r>
              <a:rPr sz="1400">
                <a:solidFill>
                  <a:srgbClr val="2F3A30"/>
                </a:solidFill>
                <a:latin typeface="Calibri"/>
              </a:rPr>
              <a:t>Calcula en la app cuántos días de prestación genera con 1.440 días cotizados. ¿Cobrará el 70% íntegro de su sueldo de 2.200 € o topará con el límite de 1 hijo (1.400 €)?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Reto 2: Antonio (Mayores de 52 años):
</a:t>
            </a:r>
            <a:r>
              <a:rPr sz="1400">
                <a:solidFill>
                  <a:srgbClr val="2F3A30"/>
                </a:solidFill>
                <a:latin typeface="Calibri"/>
              </a:rPr>
              <a:t>Averigua si cumple el requisito de carencia de rentas y qué ventaja crítica de cotización para jubilación le otorga este subsidio frente al subsidio ordinario.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Reto 3: La Balanza Macroeconómica:
</a:t>
            </a:r>
            <a:r>
              <a:rPr sz="1400">
                <a:solidFill>
                  <a:srgbClr val="2F3A30"/>
                </a:solidFill>
                <a:latin typeface="Calibri"/>
              </a:rPr>
              <a:t>Mueve el control de tasa de reemplazo del 40% al 90%. ¿Qué ocurre con el tiempo de búsqueda y el déficit del sistema?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8F71"/>
                </a:solidFill>
                <a:latin typeface="Outfit"/>
              </a:rPr>
              <a:t>¡ABRE LA MICRO-APP!</a:t>
            </a:r>
          </a:p>
        </p:txBody>
      </p:sp>
      <p:pic>
        <p:nvPicPr>
          <p:cNvPr id="9" name="Picture 8" descr="qr_app_sesion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603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029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927A"/>
                </a:solidFill>
                <a:latin typeface="Calibri"/>
              </a:rPr>
              <a:t>mhidper.github.io/micro_apps/
balanza_proteccion.html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5 (85–95 MIN) · GENEROSIDAD Y COMPARATIVA (§3.1–3.4)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Tasas de Reemplazo Netas: España en el Contexto de la OCDE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14 / 18</a:t>
            </a:r>
          </a:p>
        </p:txBody>
      </p:sp>
      <p:pic>
        <p:nvPicPr>
          <p:cNvPr id="5" name="Picture 4" descr="figura_3_2_tasas_reemplaz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21792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3927"/>
                </a:solidFill>
                <a:latin typeface="Outfit"/>
              </a:rPr>
              <a:t>📈 Conclusiones Clave (Figura 3.2)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E98F71"/>
                </a:solidFill>
                <a:latin typeface="Outfit"/>
              </a:rPr>
              <a:t>Tasa de reemplazo neta inicial:
</a:t>
            </a:r>
            <a:r>
              <a:rPr sz="1300">
                <a:solidFill>
                  <a:srgbClr val="2F3A30"/>
                </a:solidFill>
                <a:latin typeface="Calibri"/>
              </a:rPr>
              <a:t>En España se sitúa en torno al 65%–70%, en línea con la media de la OCDE, pero por debajo de Dinamarca (&gt; 80%) o Francia (~75%).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13927"/>
                </a:solidFill>
                <a:latin typeface="Outfit"/>
              </a:rPr>
              <a:t>Perfil familiar:
</a:t>
            </a:r>
            <a:r>
              <a:rPr sz="1300">
                <a:solidFill>
                  <a:srgbClr val="2F3A30"/>
                </a:solidFill>
                <a:latin typeface="Calibri"/>
              </a:rPr>
              <a:t>Los topes por hijos mejoran la generosidad relativa en familias con cargas (hasta el 225% IPREM).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13927"/>
                </a:solidFill>
                <a:latin typeface="Outfit"/>
              </a:rPr>
              <a:t>Caída temporal acusada:
</a:t>
            </a:r>
            <a:r>
              <a:rPr sz="1300">
                <a:solidFill>
                  <a:srgbClr val="2F3A30"/>
                </a:solidFill>
                <a:latin typeface="Calibri"/>
              </a:rPr>
              <a:t>A diferencia de países continentales con subsidios prolongados, en España la generosidad cae fuertemente al pasar del nivel contributivo al asistencial.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5 (95–105 MIN) · RETO INDIVIDUAL EN PAPEL (10 MIN)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Caso Práctico Manuscrito: Asesoría Sociolaboral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15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98F71"/>
                </a:solidFill>
                <a:latin typeface="Outfit"/>
              </a:rPr>
              <a:t>📝 POLÍTICA DE AULA: Portátiles cerrados y móviles guardados · Solo lápiz y papel (10 minutos)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2F3A30"/>
                </a:solidFill>
                <a:latin typeface="Calibri"/>
              </a:rPr>
              <a:t>En el departamento de asesoría sociolaboral de un sindicato atiendes a dos trabajadores despedidos:
• Trabajador A (30 años): 900 días ininterrumpidos cotizados en 2,5 años. Base reguladora: 1.800 €/mes. Sin hijos.
• Trabajador B (48 años): 240 días cotizados en los últimos 6 años por empleos precarios. Carece de rentas.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113927"/>
                </a:solidFill>
                <a:latin typeface="Outfit"/>
              </a:rPr>
              <a:t>Responde a mano en tu cuartilla a estas dos cuestiones de examen: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1. (500 pts) ¿A qué nivel de protección (contributivo o asistencial) accede cada uno y por qué? Para el Trabajador A, calcula con exactitud los meses de prestación reconocidos y su cuantía bruta mensual en los primeros 6 meses frente al resto.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2. (500 pts) El director afirma: «España gasta un 1,6% de su PIB en pasivas pero nuestros parados están peor protegidos que los alemanes». Resuelve la «Paradoja Española» distinguiendo gasto agregado sobre PIB y gasto por punto de paro.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5 (105–107 MIN) · SUBIDA FOTOGRÁFICA INSTANTÁNEA (2 MIN)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Captura y Envío de la Cuartilla Manuscrita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16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📸 Instrucciones de Envío Oficial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E98F71"/>
                </a:solidFill>
                <a:latin typeface="Calibri"/>
              </a:rPr>
              <a:t>Paso 1: Foto nítida y vertical
</a:t>
            </a:r>
            <a:r>
              <a:rPr sz="1500">
                <a:solidFill>
                  <a:srgbClr val="2F3A30"/>
                </a:solidFill>
                <a:latin typeface="Calibri"/>
              </a:rPr>
              <a:t>Coloca tu cuartilla sobre la mesa. Toma la foto asegurando iluminación clara y enfoque directo sobre tu caligrafía.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2: Subida al Formulario Institucional
</a:t>
            </a:r>
            <a:r>
              <a:rPr sz="1500">
                <a:solidFill>
                  <a:srgbClr val="2F3A30"/>
                </a:solidFill>
                <a:latin typeface="Calibri"/>
              </a:rPr>
              <a:t>Escanea el código QR de la derecha o accede con tu cuenta UPO a Microsoft Forms.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113927"/>
                </a:solidFill>
                <a:latin typeface="Calibri"/>
              </a:rPr>
              <a:t>Paso 3: Protocolo Ciego y Pasaporte
</a:t>
            </a:r>
            <a:r>
              <a:rPr sz="1500">
                <a:solidFill>
                  <a:srgbClr val="2F3A30"/>
                </a:solidFill>
                <a:latin typeface="Calibri"/>
              </a:rPr>
              <a:t>Tu entrega será anonimizada visualmente y calificada a ciegas con el baremo aditivo oficial (0–1.000 pts). Los puntos acumulados desbloquean comodines para el examen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98F71"/>
                </a:solidFill>
                <a:latin typeface="Outfit"/>
              </a:rPr>
              <a:t>¡SUBE TU CUARTILLA AQUÍ!</a:t>
            </a:r>
          </a:p>
        </p:txBody>
      </p:sp>
      <p:pic>
        <p:nvPicPr>
          <p:cNvPr id="9" name="Picture 8" descr="qr_reto_sesion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603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029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927A"/>
                </a:solidFill>
                <a:latin typeface="Calibri"/>
              </a:rPr>
              <a:t>forms.office.com/e/PSLL-Reto-Sesion09
Tiempo límite: 2 minutos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FASE 5 (107–115 MIN) · FEEDBACK FORMATIVO INMEDIATO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Solución Modelo y Criterios de Corrección (0–1.000 pts)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17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3927"/>
                </a:solidFill>
                <a:latin typeface="Outfit"/>
              </a:rPr>
              <a:t>🎯 Solución Pregunta 1 (500 pts)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Trabajador A (Contributiva): Acredita &gt; 360 días cotizados. Con 900 días (tramo 900-1.079) le corresponden exactamente 300 días (10 meses).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113927"/>
                </a:solidFill>
                <a:latin typeface="Calibri"/>
              </a:rPr>
              <a:t>• Cuantías Trabajador A:
- Meses 1 a 6 (70%): 0,70 × 1.800 = 1.260 €/mes.
- Meses 7 a 10 (60%): 0,60 × 1.800 = 1.080 €/mes.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2F3A30"/>
                </a:solidFill>
                <a:latin typeface="Calibri"/>
              </a:rPr>
              <a:t>• Trabajador B (Asistencial): Al tener 240 días no llega a 360; pero tiene &gt; 180 días cotizados y carece de rentas (&lt; 75% SMI) ➔ Subsidio por cotización insuficiente.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98F71"/>
                </a:solidFill>
                <a:latin typeface="Outfit"/>
              </a:rPr>
              <a:t>🎯 Solución Pregunta 2 (500 pts)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Distinción Conceptual Clave:
El gasto en % del PIB mide la carga macroeconómica agregada; el gasto por punto de paro mide la protección real por desempleado.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2F3A30"/>
                </a:solidFill>
                <a:latin typeface="Calibri"/>
              </a:rPr>
              <a:t>• Desmontar la paradoja:
España gasta mucho (1,6% del PIB) porque su tasa de paro duplica la europea (11,5% vs 6%).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13927"/>
                </a:solidFill>
                <a:latin typeface="Calibri"/>
              </a:rPr>
              <a:t>• Conclusión técnica:
El gasto por punto de paro es de apenas 0,12% (frente al 0,27% de Dinamarca o 0,31% de Alemania). La factura es abultada por el número de desempleados, no por sobreprotección individual.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98F71"/>
                </a:solidFill>
                <a:latin typeface="Outfit"/>
              </a:rPr>
              <a:t>CIERRE DE SESIÓN Y PASAPORTE DIGITAL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113927"/>
                </a:solidFill>
                <a:latin typeface="Outfit"/>
              </a:rPr>
              <a:t>Próximos Pasos · Enlace con Sesión 10 y Pasaporte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6576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6927A"/>
                </a:solidFill>
                <a:latin typeface="Calibri"/>
              </a:rPr>
              <a:t>18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13927"/>
                </a:solidFill>
                <a:latin typeface="Outfit"/>
              </a:rPr>
              <a:t>🚀 Síntesis de Hoy y Enlace con Sesión 10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13927"/>
                </a:solidFill>
                <a:latin typeface="Outfit"/>
              </a:rPr>
              <a:t>Conclusiones clave de hoy:
</a:t>
            </a:r>
            <a:r>
              <a:rPr sz="1400">
                <a:solidFill>
                  <a:srgbClr val="2F3A30"/>
                </a:solidFill>
                <a:latin typeface="Calibri"/>
              </a:rPr>
              <a:t>Hemos consolidado la lógica del seguro de búsqueda, la estructura dual española (contributiva vs asistencial) y resuelto la Paradoja Española de las pasivas.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13927"/>
                </a:solidFill>
                <a:latin typeface="Outfit"/>
              </a:rPr>
              <a:t>Lectura de apoyo:
</a:t>
            </a:r>
            <a:r>
              <a:rPr sz="1400">
                <a:solidFill>
                  <a:srgbClr val="2F3A30"/>
                </a:solidFill>
                <a:latin typeface="Calibri"/>
              </a:rPr>
              <a:t>Epígrafe 1.3 de los apuntes oficiales maquetados.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E98F71"/>
                </a:solidFill>
                <a:latin typeface="Outfit"/>
              </a:rPr>
              <a:t>Próxima Sesión (Sesión 10 · Semana 7):
</a:t>
            </a:r>
            <a:r>
              <a:rPr sz="1400">
                <a:solidFill>
                  <a:srgbClr val="2F3A30"/>
                </a:solidFill>
                <a:latin typeface="Calibri"/>
              </a:rPr>
              <a:t>Activación, control de la búsqueda, el nuevo Complemento de Apoyo al Empleo (CAE) para compatibilizar paro y trabajo, el concepto de colocación adecuada y la evidencia empírica de Chetty.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3927"/>
                </a:solidFill>
                <a:latin typeface="Outfit"/>
              </a:rPr>
              <a:t>PASAPORTE DIGITAL PSLL</a:t>
            </a:r>
          </a:p>
        </p:txBody>
      </p:sp>
      <p:pic>
        <p:nvPicPr>
          <p:cNvPr id="9" name="Picture 8" descr="qr_pasaporte_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56032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5029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76927A"/>
                </a:solidFill>
                <a:latin typeface="Calibri"/>
              </a:rPr>
              <a:t>Consulta tus calificaciones
y soluciones de la cátedra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3057</Words>
  <Application>Microsoft Office PowerPoint</Application>
  <PresentationFormat>Panorámica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Outfit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Alejandro Hidalgo Perez</cp:lastModifiedBy>
  <cp:revision>2</cp:revision>
  <dcterms:created xsi:type="dcterms:W3CDTF">2013-01-27T09:14:16Z</dcterms:created>
  <dcterms:modified xsi:type="dcterms:W3CDTF">2026-10-19T07:40:50Z</dcterms:modified>
  <cp:category/>
</cp:coreProperties>
</file>