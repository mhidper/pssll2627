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72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psll_u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744" y="502920"/>
            <a:ext cx="4389120" cy="2393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06324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Outfit"/>
              </a:defRPr>
            </a:pPr>
            <a:r>
              <a:t>POLÍTICAS SOCIOLABORALES Y DE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EDB090"/>
                </a:solidFill>
                <a:latin typeface="Outfit"/>
              </a:defRPr>
            </a:pPr>
            <a:r>
              <a:t>Sesión 4 · Tipología del Desempleo, la NAIRU y la Curva de Phillips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6052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4F8F5"/>
                </a:solidFill>
                <a:latin typeface="Calibri"/>
              </a:defRPr>
            </a:pPr>
            <a:r>
              <a:t>Martes 22 / Viernes 25 de septiembre de 2026  ·  Código 102023  ·  Manuel A. Hidalgo Pérez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upo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126480"/>
            <a:ext cx="452628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626364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F3A30"/>
                </a:solidFill>
                <a:latin typeface="Calibri"/>
              </a:defRPr>
            </a:pPr>
            <a:r>
              <a:t>Grado en Relaciones Laborales y Recursos Humanos · Doble Grado en Derecho y RRLL-RRHH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ORGANIZACIÓN DOCENTE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Estructura de la Sesión 4 (120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F3A30"/>
                </a:solidFill>
                <a:latin typeface="Calibri"/>
              </a:defRPr>
            </a:pPr>
            <a:r>
              <a:t>Modelo de Aula Invertida y Laboratorio Activo de Aprendizaje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61288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E7162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E7162"/>
                </a:solidFill>
                <a:latin typeface="Calibri"/>
              </a:defRPr>
            </a:pPr>
            <a:r>
              <a:t>2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26517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rtlCol="0" anchor="ctr"/>
          <a:lstStyle/>
          <a:p>
            <a:pPr algn="ctr">
              <a:defRPr sz="1300" b="1">
                <a:solidFill>
                  <a:srgbClr val="113927"/>
                </a:solidFill>
                <a:latin typeface="Outfit"/>
              </a:defRPr>
            </a:pPr>
            <a:r>
              <a:t>20 min</a:t>
            </a:r>
          </a:p>
          <a:p>
            <a:pPr algn="ctr">
              <a:spcBef>
                <a:spcPts val="800"/>
              </a:spcBef>
              <a:spcAft>
                <a:spcPts val="12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1. Noticia, Sondeo y Choque</a:t>
            </a:r>
          </a:p>
          <a:p>
            <a:pPr>
              <a:defRPr sz="1400">
                <a:solidFill>
                  <a:srgbClr val="2F3A30"/>
                </a:solidFill>
                <a:latin typeface="Calibri"/>
              </a:defRPr>
            </a:pPr>
            <a:r>
              <a:t>La paradoja española: 2,6 millones de parados y 150.000 vacantes sin cubrir.</a:t>
            </a:r>
            <a:br/>
            <a:br/>
            <a:r>
              <a:t>Sondeo interactivo en vivo con el móvil para capturar prejuicios intuitivos.</a:t>
            </a:r>
            <a:br/>
            <a:br/>
            <a:r>
              <a:t>Choque empírico: por qué el desempleo no es un fenómeno homogéneo.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645920"/>
            <a:ext cx="26517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rtlCol="0" anchor="ctr"/>
          <a:lstStyle/>
          <a:p>
            <a:pPr algn="ctr">
              <a:defRPr sz="1300" b="1">
                <a:solidFill>
                  <a:srgbClr val="76927A"/>
                </a:solidFill>
                <a:latin typeface="Outfit"/>
              </a:defRPr>
            </a:pPr>
            <a:r>
              <a:t>25 min</a:t>
            </a:r>
          </a:p>
          <a:p>
            <a:pPr algn="ctr">
              <a:spcBef>
                <a:spcPts val="800"/>
              </a:spcBef>
              <a:spcAft>
                <a:spcPts val="12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2. Taxonomía del Desempleo</a:t>
            </a:r>
          </a:p>
          <a:p>
            <a:pPr>
              <a:defRPr sz="1400">
                <a:solidFill>
                  <a:srgbClr val="2F3A30"/>
                </a:solidFill>
                <a:latin typeface="Calibri"/>
              </a:defRPr>
            </a:pPr>
            <a:r>
              <a:t>Desempleo Friccional e Información imperfecta en el emparejamiento.</a:t>
            </a:r>
            <a:br/>
            <a:br/>
            <a:r>
              <a:t>Desempleo Estructural, desajuste de habilidades e histéresis.</a:t>
            </a:r>
            <a:br/>
            <a:br/>
            <a:r>
              <a:t>Desempleo Cíclico (Okun) y Estacional. Modelo neoclásico (Figura 1.6).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79" y="1645920"/>
            <a:ext cx="26517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rtlCol="0" anchor="ctr"/>
          <a:lstStyle/>
          <a:p>
            <a:pPr algn="ctr">
              <a:defRPr sz="1300" b="1">
                <a:solidFill>
                  <a:srgbClr val="113927"/>
                </a:solidFill>
                <a:latin typeface="Outfit"/>
              </a:defRPr>
            </a:pPr>
            <a:r>
              <a:t>30 min</a:t>
            </a:r>
          </a:p>
          <a:p>
            <a:pPr algn="ctr">
              <a:spcBef>
                <a:spcPts val="800"/>
              </a:spcBef>
              <a:spcAft>
                <a:spcPts val="12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3. NAIRU y Curva de Phillips</a:t>
            </a:r>
          </a:p>
          <a:p>
            <a:pPr>
              <a:defRPr sz="1400">
                <a:solidFill>
                  <a:srgbClr val="2F3A30"/>
                </a:solidFill>
                <a:latin typeface="Calibri"/>
              </a:defRPr>
            </a:pPr>
            <a:r>
              <a:t>Tasa natural de desempleo (NAIRU) como ancla de inflación estable.</a:t>
            </a:r>
            <a:br/>
            <a:br/>
            <a:r>
              <a:t>Análisis de la Figura 1.7: España vs. Eurozona (1980–2024).</a:t>
            </a:r>
            <a:br/>
            <a:br/>
            <a:r>
              <a:t>Curva de Phillips dual (Figura 1.8): disyuntiva a corto vs. vertical a largo plazo.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399" y="1645920"/>
            <a:ext cx="26517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rtlCol="0" anchor="ctr"/>
          <a:lstStyle/>
          <a:p>
            <a:pPr algn="ctr">
              <a:defRPr sz="1300" b="1">
                <a:solidFill>
                  <a:srgbClr val="E98F71"/>
                </a:solidFill>
                <a:latin typeface="Outfit"/>
              </a:defRPr>
            </a:pPr>
            <a:r>
              <a:t>45 min</a:t>
            </a:r>
          </a:p>
          <a:p>
            <a:pPr algn="ctr">
              <a:spcBef>
                <a:spcPts val="800"/>
              </a:spcBef>
              <a:spcAft>
                <a:spcPts val="12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4. Taller, Reto y Evaluación</a:t>
            </a:r>
          </a:p>
          <a:p>
            <a:pPr>
              <a:defRPr sz="1400">
                <a:solidFill>
                  <a:srgbClr val="2F3A30"/>
                </a:solidFill>
                <a:latin typeface="Calibri"/>
              </a:defRPr>
            </a:pPr>
            <a:r>
              <a:t>Laboratorio en parejas (30 min): Gabinete de Analistas de la Consejería.</a:t>
            </a:r>
            <a:br/>
            <a:br/>
            <a:r>
              <a:t>Reto Evaluativo Manuscrito Anti-IA en papel (10 min).</a:t>
            </a:r>
            <a:br/>
            <a:br/>
            <a:r>
              <a:t>Subida fotográfica con QR para el Pasaporte de Evaluación Continua.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1 · NOTICIA DEL DÍA Y SONDEO (10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La Paradoja Española: ¿Falta Empleo o Falta Ajuste?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F3A30"/>
                </a:solidFill>
                <a:latin typeface="Calibri"/>
              </a:defRPr>
            </a:pPr>
            <a:r>
              <a:t>Vota con tu teléfono móvil antes de analizar los datos oficiales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61288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E7162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E7162"/>
                </a:solidFill>
                <a:latin typeface="Calibri"/>
              </a:defRPr>
            </a:pPr>
            <a:r>
              <a:t>3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7498079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400" b="1">
                <a:solidFill>
                  <a:srgbClr val="E98F71"/>
                </a:solidFill>
                <a:latin typeface="Outfit"/>
              </a:defRPr>
            </a:pPr>
            <a:r>
              <a:rPr dirty="0"/>
              <a:t>NOTICIA DE PRENSA Y DISPARADOR DEL DEBATE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600" b="1">
                <a:solidFill>
                  <a:srgbClr val="113927"/>
                </a:solidFill>
                <a:latin typeface="Calibri"/>
              </a:defRPr>
            </a:pPr>
            <a:r>
              <a:rPr dirty="0"/>
              <a:t>«España </a:t>
            </a:r>
            <a:r>
              <a:rPr dirty="0" err="1"/>
              <a:t>supera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2,6 </a:t>
            </a:r>
            <a:r>
              <a:rPr dirty="0" err="1"/>
              <a:t>millones</a:t>
            </a:r>
            <a:r>
              <a:rPr dirty="0"/>
              <a:t> de </a:t>
            </a:r>
            <a:r>
              <a:rPr dirty="0" err="1"/>
              <a:t>desempleados</a:t>
            </a:r>
            <a:r>
              <a:rPr dirty="0"/>
              <a:t> </a:t>
            </a:r>
            <a:r>
              <a:rPr dirty="0" err="1"/>
              <a:t>mientras</a:t>
            </a:r>
            <a:r>
              <a:rPr dirty="0"/>
              <a:t> </a:t>
            </a:r>
            <a:r>
              <a:rPr dirty="0" err="1"/>
              <a:t>hostelería</a:t>
            </a:r>
            <a:r>
              <a:rPr dirty="0"/>
              <a:t>, </a:t>
            </a:r>
            <a:r>
              <a:rPr dirty="0" err="1"/>
              <a:t>construcción</a:t>
            </a:r>
            <a:r>
              <a:rPr dirty="0"/>
              <a:t> y </a:t>
            </a:r>
            <a:r>
              <a:rPr dirty="0" err="1"/>
              <a:t>perfiles</a:t>
            </a:r>
            <a:r>
              <a:rPr dirty="0"/>
              <a:t> </a:t>
            </a:r>
            <a:r>
              <a:rPr dirty="0" err="1"/>
              <a:t>tecnológicos</a:t>
            </a:r>
            <a:r>
              <a:rPr dirty="0"/>
              <a:t> </a:t>
            </a:r>
            <a:r>
              <a:rPr dirty="0" err="1"/>
              <a:t>dejan</a:t>
            </a:r>
            <a:r>
              <a:rPr dirty="0"/>
              <a:t> 150.000 </a:t>
            </a:r>
            <a:r>
              <a:rPr dirty="0" err="1"/>
              <a:t>vacantes</a:t>
            </a:r>
            <a:r>
              <a:rPr dirty="0"/>
              <a:t> sin </a:t>
            </a:r>
            <a:r>
              <a:rPr dirty="0" err="1"/>
              <a:t>cubrir</a:t>
            </a:r>
            <a:r>
              <a:rPr dirty="0"/>
              <a:t>» (</a:t>
            </a:r>
            <a:r>
              <a:rPr dirty="0" err="1"/>
              <a:t>Expansión</a:t>
            </a:r>
            <a:r>
              <a:rPr dirty="0"/>
              <a:t> / Cinco Días).</a:t>
            </a:r>
          </a:p>
          <a:p>
            <a:pPr>
              <a:spcAft>
                <a:spcPts val="12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rPr dirty="0" err="1"/>
              <a:t>Pregunta</a:t>
            </a:r>
            <a:r>
              <a:rPr dirty="0"/>
              <a:t> </a:t>
            </a:r>
            <a:r>
              <a:rPr dirty="0" err="1"/>
              <a:t>Detonante</a:t>
            </a:r>
            <a:r>
              <a:rPr dirty="0"/>
              <a:t>: Si </a:t>
            </a:r>
            <a:r>
              <a:rPr dirty="0" err="1"/>
              <a:t>en</a:t>
            </a:r>
            <a:r>
              <a:rPr dirty="0"/>
              <a:t> el </a:t>
            </a:r>
            <a:r>
              <a:rPr dirty="0" err="1"/>
              <a:t>mismo</a:t>
            </a:r>
            <a:r>
              <a:rPr dirty="0"/>
              <a:t> </a:t>
            </a:r>
            <a:r>
              <a:rPr dirty="0" err="1"/>
              <a:t>país</a:t>
            </a:r>
            <a:r>
              <a:rPr dirty="0"/>
              <a:t> y </a:t>
            </a:r>
            <a:r>
              <a:rPr dirty="0" err="1"/>
              <a:t>momento</a:t>
            </a:r>
            <a:r>
              <a:rPr dirty="0"/>
              <a:t> </a:t>
            </a:r>
            <a:r>
              <a:rPr dirty="0" err="1"/>
              <a:t>coexisten</a:t>
            </a:r>
            <a:r>
              <a:rPr dirty="0"/>
              <a:t> personas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llevan</a:t>
            </a:r>
            <a:r>
              <a:rPr dirty="0"/>
              <a:t> dos </a:t>
            </a:r>
            <a:r>
              <a:rPr dirty="0" err="1"/>
              <a:t>años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paro</a:t>
            </a:r>
            <a:r>
              <a:rPr dirty="0"/>
              <a:t> con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no </a:t>
            </a:r>
            <a:r>
              <a:rPr dirty="0" err="1"/>
              <a:t>encuentran</a:t>
            </a:r>
            <a:r>
              <a:rPr dirty="0"/>
              <a:t> </a:t>
            </a:r>
            <a:r>
              <a:rPr dirty="0" err="1"/>
              <a:t>trabajadores</a:t>
            </a:r>
            <a:r>
              <a:rPr dirty="0"/>
              <a:t>, ¿</a:t>
            </a:r>
            <a:r>
              <a:rPr dirty="0" err="1"/>
              <a:t>tiene</a:t>
            </a:r>
            <a:r>
              <a:rPr dirty="0"/>
              <a:t> </a:t>
            </a:r>
            <a:r>
              <a:rPr dirty="0" err="1"/>
              <a:t>sentido</a:t>
            </a:r>
            <a:r>
              <a:rPr dirty="0"/>
              <a:t> </a:t>
            </a:r>
            <a:r>
              <a:rPr dirty="0" err="1"/>
              <a:t>aplicar</a:t>
            </a:r>
            <a:r>
              <a:rPr dirty="0"/>
              <a:t> la </a:t>
            </a:r>
            <a:r>
              <a:rPr dirty="0" err="1"/>
              <a:t>misma</a:t>
            </a:r>
            <a:r>
              <a:rPr dirty="0"/>
              <a:t> </a:t>
            </a:r>
            <a:r>
              <a:rPr dirty="0" err="1"/>
              <a:t>política</a:t>
            </a:r>
            <a:r>
              <a:rPr dirty="0"/>
              <a:t> de </a:t>
            </a:r>
            <a:r>
              <a:rPr dirty="0" err="1"/>
              <a:t>empleo</a:t>
            </a:r>
            <a:r>
              <a:rPr dirty="0"/>
              <a:t> a </a:t>
            </a:r>
            <a:r>
              <a:rPr dirty="0" err="1"/>
              <a:t>todas</a:t>
            </a:r>
            <a:r>
              <a:rPr dirty="0"/>
              <a:t> las </a:t>
            </a:r>
            <a:r>
              <a:rPr dirty="0" err="1"/>
              <a:t>situaciones</a:t>
            </a:r>
            <a:r>
              <a:rPr dirty="0"/>
              <a:t>? ¿Por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seguimos</a:t>
            </a:r>
            <a:r>
              <a:rPr dirty="0"/>
              <a:t> </a:t>
            </a:r>
            <a:r>
              <a:rPr dirty="0" err="1"/>
              <a:t>hablando</a:t>
            </a:r>
            <a:r>
              <a:rPr dirty="0"/>
              <a:t> de «la </a:t>
            </a:r>
            <a:r>
              <a:rPr dirty="0" err="1"/>
              <a:t>tasa</a:t>
            </a:r>
            <a:r>
              <a:rPr dirty="0"/>
              <a:t> de </a:t>
            </a:r>
            <a:r>
              <a:rPr dirty="0" err="1"/>
              <a:t>paro</a:t>
            </a:r>
            <a:r>
              <a:rPr dirty="0"/>
              <a:t>»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fuera un </a:t>
            </a:r>
            <a:r>
              <a:rPr dirty="0" err="1"/>
              <a:t>fenómeno</a:t>
            </a:r>
            <a:r>
              <a:rPr dirty="0"/>
              <a:t> </a:t>
            </a:r>
            <a:r>
              <a:rPr dirty="0" err="1"/>
              <a:t>único</a:t>
            </a:r>
            <a:r>
              <a:rPr dirty="0"/>
              <a:t>?</a:t>
            </a:r>
          </a:p>
          <a:p>
            <a:pPr>
              <a:defRPr sz="1500">
                <a:solidFill>
                  <a:srgbClr val="2F3A30"/>
                </a:solidFill>
                <a:latin typeface="Calibri"/>
              </a:defRPr>
            </a:pPr>
            <a:r>
              <a:rPr dirty="0" err="1"/>
              <a:t>Opciones</a:t>
            </a:r>
            <a:r>
              <a:rPr dirty="0"/>
              <a:t> de Voto </a:t>
            </a:r>
            <a:r>
              <a:rPr dirty="0" err="1"/>
              <a:t>en</a:t>
            </a:r>
            <a:r>
              <a:rPr dirty="0"/>
              <a:t> Microsoft Forms:</a:t>
            </a:r>
            <a:br>
              <a:rPr dirty="0"/>
            </a:br>
            <a:r>
              <a:rPr dirty="0"/>
              <a:t>A) Es </a:t>
            </a:r>
            <a:r>
              <a:rPr dirty="0" err="1"/>
              <a:t>falta</a:t>
            </a:r>
            <a:r>
              <a:rPr dirty="0"/>
              <a:t> de </a:t>
            </a:r>
            <a:r>
              <a:rPr dirty="0" err="1"/>
              <a:t>demanda</a:t>
            </a:r>
            <a:r>
              <a:rPr dirty="0"/>
              <a:t> </a:t>
            </a:r>
            <a:r>
              <a:rPr dirty="0" err="1"/>
              <a:t>agregada</a:t>
            </a:r>
            <a:r>
              <a:rPr dirty="0"/>
              <a:t>: el Estado </a:t>
            </a:r>
            <a:r>
              <a:rPr dirty="0" err="1"/>
              <a:t>debe</a:t>
            </a:r>
            <a:r>
              <a:rPr dirty="0"/>
              <a:t> </a:t>
            </a:r>
            <a:r>
              <a:rPr dirty="0" err="1"/>
              <a:t>estimular</a:t>
            </a:r>
            <a:r>
              <a:rPr dirty="0"/>
              <a:t> el </a:t>
            </a:r>
            <a:r>
              <a:rPr dirty="0" err="1"/>
              <a:t>gasto</a:t>
            </a:r>
            <a:r>
              <a:rPr dirty="0"/>
              <a:t> para </a:t>
            </a:r>
            <a:r>
              <a:rPr dirty="0" err="1"/>
              <a:t>que</a:t>
            </a:r>
            <a:r>
              <a:rPr dirty="0"/>
              <a:t> las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contraten</a:t>
            </a:r>
            <a:r>
              <a:rPr dirty="0"/>
              <a:t> a </a:t>
            </a:r>
            <a:r>
              <a:rPr dirty="0" err="1"/>
              <a:t>todos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parados.</a:t>
            </a:r>
            <a:br>
              <a:rPr dirty="0"/>
            </a:br>
            <a:r>
              <a:rPr dirty="0"/>
              <a:t>B) Es </a:t>
            </a:r>
            <a:r>
              <a:rPr dirty="0" err="1"/>
              <a:t>desajuste</a:t>
            </a:r>
            <a:r>
              <a:rPr dirty="0"/>
              <a:t> de </a:t>
            </a:r>
            <a:r>
              <a:rPr dirty="0" err="1"/>
              <a:t>cualificaciones</a:t>
            </a:r>
            <a:r>
              <a:rPr dirty="0"/>
              <a:t>: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desempleados</a:t>
            </a:r>
            <a:r>
              <a:rPr dirty="0"/>
              <a:t> </a:t>
            </a:r>
            <a:r>
              <a:rPr dirty="0" err="1"/>
              <a:t>carecen</a:t>
            </a:r>
            <a:r>
              <a:rPr dirty="0"/>
              <a:t> de las </a:t>
            </a:r>
            <a:r>
              <a:rPr dirty="0" err="1"/>
              <a:t>competencias</a:t>
            </a:r>
            <a:r>
              <a:rPr dirty="0"/>
              <a:t> </a:t>
            </a:r>
            <a:r>
              <a:rPr dirty="0" err="1"/>
              <a:t>demandadas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nuevos</a:t>
            </a:r>
            <a:r>
              <a:rPr dirty="0"/>
              <a:t> </a:t>
            </a:r>
            <a:r>
              <a:rPr dirty="0" err="1"/>
              <a:t>sectores</a:t>
            </a:r>
            <a:r>
              <a:rPr dirty="0"/>
              <a:t>.</a:t>
            </a:r>
            <a:br>
              <a:rPr dirty="0"/>
            </a:br>
            <a:r>
              <a:rPr dirty="0"/>
              <a:t>C) Es un </a:t>
            </a:r>
            <a:r>
              <a:rPr dirty="0" err="1"/>
              <a:t>problema</a:t>
            </a:r>
            <a:r>
              <a:rPr dirty="0"/>
              <a:t> de </a:t>
            </a:r>
            <a:r>
              <a:rPr dirty="0" err="1"/>
              <a:t>información</a:t>
            </a:r>
            <a:r>
              <a:rPr dirty="0"/>
              <a:t> e </a:t>
            </a:r>
            <a:r>
              <a:rPr dirty="0" err="1"/>
              <a:t>incentivos</a:t>
            </a:r>
            <a:r>
              <a:rPr dirty="0"/>
              <a:t>: </a:t>
            </a:r>
            <a:r>
              <a:rPr dirty="0" err="1"/>
              <a:t>subsidios</a:t>
            </a:r>
            <a:r>
              <a:rPr dirty="0"/>
              <a:t> mal </a:t>
            </a:r>
            <a:r>
              <a:rPr dirty="0" err="1"/>
              <a:t>diseñados</a:t>
            </a:r>
            <a:r>
              <a:rPr dirty="0"/>
              <a:t> y </a:t>
            </a:r>
            <a:r>
              <a:rPr dirty="0" err="1"/>
              <a:t>agencias</a:t>
            </a:r>
            <a:r>
              <a:rPr dirty="0"/>
              <a:t> de </a:t>
            </a:r>
            <a:r>
              <a:rPr dirty="0" err="1"/>
              <a:t>empleo</a:t>
            </a:r>
            <a:r>
              <a:rPr dirty="0"/>
              <a:t> </a:t>
            </a:r>
            <a:r>
              <a:rPr dirty="0" err="1"/>
              <a:t>ineficaces</a:t>
            </a:r>
            <a:r>
              <a:rPr dirty="0"/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1645920"/>
            <a:ext cx="329184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500" b="1">
                <a:solidFill>
                  <a:srgbClr val="E98F71"/>
                </a:solidFill>
                <a:latin typeface="Outfit"/>
              </a:defRPr>
            </a:pPr>
            <a:r>
              <a:t>ESCANEA PARA VOTAR</a:t>
            </a:r>
          </a:p>
          <a:p>
            <a:pPr algn="ctr">
              <a:spcAft>
                <a:spcPts val="800"/>
              </a:spcAft>
              <a:defRPr sz="1300">
                <a:solidFill>
                  <a:srgbClr val="2F3A30"/>
                </a:solidFill>
                <a:latin typeface="Calibri"/>
              </a:defRPr>
            </a:pPr>
            <a:r>
              <a:t>Acceso con cuenta UPO (@alu.upo.es)</a:t>
            </a:r>
            <a:br/>
            <a:r>
              <a:t>Votación en 30 s desde tu móvil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530352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13927"/>
                </a:solidFill>
                <a:latin typeface="Calibri"/>
              </a:defRPr>
            </a:pPr>
            <a:r>
              <a:t>forms.office.com/e/PSLL_Sondeo_Sesion04</a:t>
            </a:r>
          </a:p>
        </p:txBody>
      </p:sp>
      <p:pic>
        <p:nvPicPr>
          <p:cNvPr id="12" name="Imagen 11" descr="Código QR">
            <a:extLst>
              <a:ext uri="{FF2B5EF4-FFF2-40B4-BE49-F238E27FC236}">
                <a16:creationId xmlns:a16="http://schemas.microsoft.com/office/drawing/2014/main" id="{6E3212D8-AEB6-C35A-1D25-2A7BDDBEC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5899" y="2041398"/>
            <a:ext cx="3262122" cy="32621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1 · CHOQUE EMPÍRICO (10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0936"/>
            <a:ext cx="96012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Tres Parados Reales, Tres Mecanismos Económicos Opuestos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F3A30"/>
                </a:solidFill>
                <a:latin typeface="Calibri"/>
              </a:defRPr>
            </a:pPr>
            <a:r>
              <a:t>Por qué aplicar la misma política a problemas distintos destruye el empleo o crea inflación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61288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E7162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E7162"/>
                </a:solidFill>
                <a:latin typeface="Calibri"/>
              </a:defRPr>
            </a:pPr>
            <a:r>
              <a:t>4 /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/>
              <p:cNvSpPr/>
              <p:nvPr/>
            </p:nvSpPr>
            <p:spPr>
              <a:xfrm>
                <a:off x="548640" y="1645920"/>
                <a:ext cx="3566160" cy="4389120"/>
              </a:xfrm>
              <a:prstGeom prst="roundRect">
                <a:avLst/>
              </a:prstGeom>
              <a:solidFill>
                <a:srgbClr val="F4F8F5"/>
              </a:solidFill>
              <a:ln w="19050">
                <a:solidFill>
                  <a:srgbClr val="113927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82880" tIns="164592" rIns="182880" rtlCol="0" anchor="ctr"/>
              <a:lstStyle/>
              <a:p>
                <a:pPr algn="ctr">
                  <a:defRPr sz="1400" b="1">
                    <a:solidFill>
                      <a:srgbClr val="113927"/>
                    </a:solidFill>
                    <a:latin typeface="Outfit"/>
                  </a:defRPr>
                </a:pPr>
                <a:r>
                  <a:rPr dirty="0"/>
                  <a:t>CASO 1: ANTONIO (54 AÑOS)</a:t>
                </a:r>
              </a:p>
              <a:p>
                <a:pPr>
                  <a:spcAft>
                    <a:spcPts val="800"/>
                  </a:spcAft>
                  <a:defRPr sz="1300" i="1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 err="1"/>
                  <a:t>Oficial</a:t>
                </a:r>
                <a:r>
                  <a:rPr dirty="0"/>
                  <a:t> de planta de </a:t>
                </a:r>
                <a:r>
                  <a:rPr dirty="0" err="1"/>
                  <a:t>automoción</a:t>
                </a:r>
                <a:r>
                  <a:rPr dirty="0"/>
                  <a:t> </a:t>
                </a:r>
                <a:r>
                  <a:rPr dirty="0" err="1"/>
                  <a:t>cerrada</a:t>
                </a:r>
                <a:r>
                  <a:rPr dirty="0"/>
                  <a:t> </a:t>
                </a:r>
                <a:r>
                  <a:rPr dirty="0" err="1"/>
                  <a:t>hace</a:t>
                </a:r>
                <a:r>
                  <a:rPr dirty="0"/>
                  <a:t> 3 </a:t>
                </a:r>
                <a:r>
                  <a:rPr dirty="0" err="1"/>
                  <a:t>años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Jaén. </a:t>
                </a:r>
                <a:r>
                  <a:rPr dirty="0" err="1"/>
                  <a:t>Experiencia</a:t>
                </a:r>
                <a:r>
                  <a:rPr dirty="0"/>
                  <a:t> </a:t>
                </a:r>
                <a:r>
                  <a:rPr dirty="0" err="1"/>
                  <a:t>mecánica</a:t>
                </a:r>
                <a:r>
                  <a:rPr dirty="0"/>
                  <a:t> no </a:t>
                </a:r>
                <a:r>
                  <a:rPr dirty="0" err="1"/>
                  <a:t>digitalizada</a:t>
                </a:r>
                <a:r>
                  <a:rPr dirty="0"/>
                  <a:t>.</a:t>
                </a:r>
              </a:p>
              <a:p>
                <a:pPr>
                  <a:spcAft>
                    <a:spcPts val="800"/>
                  </a:spcAft>
                  <a:defRPr sz="1500" b="1">
                    <a:solidFill>
                      <a:srgbClr val="113927"/>
                    </a:solidFill>
                    <a:latin typeface="Outfit"/>
                  </a:defRPr>
                </a:pPr>
                <a:r>
                  <a:rPr dirty="0" err="1"/>
                  <a:t>Desempleo</a:t>
                </a:r>
                <a:r>
                  <a:rPr dirty="0"/>
                  <a:t> </a:t>
                </a:r>
                <a:r>
                  <a:rPr dirty="0" err="1"/>
                  <a:t>Estructural</a:t>
                </a:r>
                <a:r>
                  <a:rPr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dirty="0"/>
                  <a:t>)</a:t>
                </a:r>
              </a:p>
              <a:p>
                <a:pPr>
                  <a:defRPr sz="135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La </a:t>
                </a:r>
                <a:r>
                  <a:rPr dirty="0" err="1"/>
                  <a:t>tecnología</a:t>
                </a:r>
                <a:r>
                  <a:rPr dirty="0"/>
                  <a:t> </a:t>
                </a:r>
                <a:r>
                  <a:rPr dirty="0" err="1"/>
                  <a:t>cambió</a:t>
                </a:r>
                <a:r>
                  <a:rPr dirty="0"/>
                  <a:t>; sus </a:t>
                </a:r>
                <a:r>
                  <a:rPr dirty="0" err="1"/>
                  <a:t>habilidades</a:t>
                </a:r>
                <a:r>
                  <a:rPr dirty="0"/>
                  <a:t> </a:t>
                </a:r>
                <a:r>
                  <a:rPr dirty="0" err="1"/>
                  <a:t>quedaron</a:t>
                </a:r>
                <a:r>
                  <a:rPr dirty="0"/>
                  <a:t> </a:t>
                </a:r>
                <a:r>
                  <a:rPr dirty="0" err="1"/>
                  <a:t>obsoletas</a:t>
                </a:r>
                <a:r>
                  <a:rPr dirty="0"/>
                  <a:t>. </a:t>
                </a:r>
                <a:r>
                  <a:rPr dirty="0" err="1"/>
                  <a:t>Sufre</a:t>
                </a:r>
                <a:r>
                  <a:rPr dirty="0"/>
                  <a:t> </a:t>
                </a:r>
                <a:r>
                  <a:rPr dirty="0" err="1"/>
                  <a:t>histéresis</a:t>
                </a:r>
                <a:r>
                  <a:rPr dirty="0"/>
                  <a:t> (</a:t>
                </a:r>
                <a:r>
                  <a:rPr dirty="0" err="1"/>
                  <a:t>pérdida</a:t>
                </a:r>
                <a:r>
                  <a:rPr dirty="0"/>
                  <a:t> de </a:t>
                </a:r>
                <a:r>
                  <a:rPr dirty="0" err="1"/>
                  <a:t>empleabilidad</a:t>
                </a:r>
                <a:r>
                  <a:rPr dirty="0"/>
                  <a:t> </a:t>
                </a:r>
                <a:r>
                  <a:rPr dirty="0" err="1"/>
                  <a:t>por</a:t>
                </a:r>
                <a:r>
                  <a:rPr dirty="0"/>
                  <a:t> </a:t>
                </a:r>
                <a:r>
                  <a:rPr dirty="0" err="1"/>
                  <a:t>inactividad</a:t>
                </a:r>
                <a:r>
                  <a:rPr dirty="0"/>
                  <a:t>).</a:t>
                </a:r>
                <a:br>
                  <a:rPr dirty="0"/>
                </a:br>
                <a:br>
                  <a:rPr dirty="0"/>
                </a:br>
                <a:r>
                  <a:rPr dirty="0"/>
                  <a:t>Política </a:t>
                </a:r>
                <a:r>
                  <a:rPr dirty="0" err="1"/>
                  <a:t>Inútil</a:t>
                </a:r>
                <a:r>
                  <a:rPr dirty="0"/>
                  <a:t>: </a:t>
                </a:r>
                <a:r>
                  <a:rPr dirty="0" err="1"/>
                  <a:t>Estimular</a:t>
                </a:r>
                <a:r>
                  <a:rPr dirty="0"/>
                  <a:t> el </a:t>
                </a:r>
                <a:r>
                  <a:rPr dirty="0" err="1"/>
                  <a:t>gasto</a:t>
                </a:r>
                <a:r>
                  <a:rPr dirty="0"/>
                  <a:t> </a:t>
                </a:r>
                <a:r>
                  <a:rPr dirty="0" err="1"/>
                  <a:t>público</a:t>
                </a:r>
                <a:r>
                  <a:rPr dirty="0"/>
                  <a:t> no </a:t>
                </a:r>
                <a:r>
                  <a:rPr dirty="0" err="1"/>
                  <a:t>reabrirá</a:t>
                </a:r>
                <a:r>
                  <a:rPr dirty="0"/>
                  <a:t> la </a:t>
                </a:r>
                <a:r>
                  <a:rPr dirty="0" err="1"/>
                  <a:t>fábrica</a:t>
                </a:r>
                <a:r>
                  <a:rPr dirty="0"/>
                  <a:t>.</a:t>
                </a:r>
                <a:br>
                  <a:rPr dirty="0"/>
                </a:br>
                <a:br>
                  <a:rPr dirty="0"/>
                </a:br>
                <a:r>
                  <a:rPr dirty="0"/>
                  <a:t>Política </a:t>
                </a:r>
                <a:r>
                  <a:rPr dirty="0" err="1"/>
                  <a:t>Correcta</a:t>
                </a:r>
                <a:r>
                  <a:rPr dirty="0"/>
                  <a:t>: </a:t>
                </a:r>
                <a:r>
                  <a:rPr dirty="0" err="1"/>
                  <a:t>Reciclaje</a:t>
                </a:r>
                <a:r>
                  <a:rPr dirty="0"/>
                  <a:t> </a:t>
                </a:r>
                <a:r>
                  <a:rPr dirty="0" err="1"/>
                  <a:t>formativo</a:t>
                </a:r>
                <a:r>
                  <a:rPr dirty="0"/>
                  <a:t> (reskilling) y </a:t>
                </a:r>
                <a:r>
                  <a:rPr dirty="0" err="1"/>
                  <a:t>apoyo</a:t>
                </a:r>
                <a:r>
                  <a:rPr dirty="0"/>
                  <a:t> a la </a:t>
                </a:r>
                <a:r>
                  <a:rPr dirty="0" err="1"/>
                  <a:t>movilidad</a:t>
                </a:r>
                <a:r>
                  <a:rPr dirty="0"/>
                  <a:t>.</a:t>
                </a:r>
              </a:p>
            </p:txBody>
          </p:sp>
        </mc:Choice>
        <mc:Fallback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645920"/>
                <a:ext cx="3566160" cy="43891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113927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4297679" y="1645920"/>
                <a:ext cx="3566160" cy="4389120"/>
              </a:xfrm>
              <a:prstGeom prst="roundRect">
                <a:avLst/>
              </a:prstGeom>
              <a:solidFill>
                <a:srgbClr val="F4F8F5"/>
              </a:solidFill>
              <a:ln w="19050">
                <a:solidFill>
                  <a:srgbClr val="76927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82880" tIns="164592" rIns="182880" rtlCol="0" anchor="ctr"/>
              <a:lstStyle/>
              <a:p>
                <a:pPr algn="ctr">
                  <a:defRPr sz="1400" b="1">
                    <a:solidFill>
                      <a:srgbClr val="76927A"/>
                    </a:solidFill>
                    <a:latin typeface="Outfit"/>
                  </a:defRPr>
                </a:pPr>
                <a:r>
                  <a:rPr dirty="0"/>
                  <a:t>CASO 2: LUCÍA (26 AÑOS)</a:t>
                </a:r>
              </a:p>
              <a:p>
                <a:pPr>
                  <a:spcAft>
                    <a:spcPts val="800"/>
                  </a:spcAft>
                  <a:defRPr sz="1300" i="1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 err="1"/>
                  <a:t>Graduada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RRLL </a:t>
                </a:r>
                <a:r>
                  <a:rPr dirty="0" err="1"/>
                  <a:t>que</a:t>
                </a:r>
                <a:r>
                  <a:rPr dirty="0"/>
                  <a:t> </a:t>
                </a:r>
                <a:r>
                  <a:rPr dirty="0" err="1"/>
                  <a:t>renunció</a:t>
                </a:r>
                <a:r>
                  <a:rPr dirty="0"/>
                  <a:t> </a:t>
                </a:r>
                <a:r>
                  <a:rPr dirty="0" err="1"/>
                  <a:t>voluntariamente</a:t>
                </a:r>
                <a:r>
                  <a:rPr dirty="0"/>
                  <a:t> </a:t>
                </a:r>
                <a:r>
                  <a:rPr dirty="0" err="1"/>
                  <a:t>hace</a:t>
                </a:r>
                <a:r>
                  <a:rPr dirty="0"/>
                  <a:t> 3 </a:t>
                </a:r>
                <a:r>
                  <a:rPr dirty="0" err="1"/>
                  <a:t>semanas</a:t>
                </a:r>
                <a:r>
                  <a:rPr dirty="0"/>
                  <a:t> para </a:t>
                </a:r>
                <a:r>
                  <a:rPr dirty="0" err="1"/>
                  <a:t>buscar</a:t>
                </a:r>
                <a:r>
                  <a:rPr dirty="0"/>
                  <a:t> </a:t>
                </a:r>
                <a:r>
                  <a:rPr dirty="0" err="1"/>
                  <a:t>mejor</a:t>
                </a:r>
                <a:r>
                  <a:rPr dirty="0"/>
                  <a:t> </a:t>
                </a:r>
                <a:r>
                  <a:rPr dirty="0" err="1"/>
                  <a:t>puesto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</a:t>
                </a:r>
                <a:r>
                  <a:rPr dirty="0" err="1"/>
                  <a:t>selección</a:t>
                </a:r>
                <a:r>
                  <a:rPr dirty="0"/>
                  <a:t>.</a:t>
                </a:r>
              </a:p>
              <a:p>
                <a:pPr>
                  <a:spcAft>
                    <a:spcPts val="800"/>
                  </a:spcAft>
                  <a:defRPr sz="1500" b="1">
                    <a:solidFill>
                      <a:srgbClr val="113927"/>
                    </a:solidFill>
                    <a:latin typeface="Outfit"/>
                  </a:defRPr>
                </a:pPr>
                <a:r>
                  <a:rPr dirty="0" err="1"/>
                  <a:t>Desempleo</a:t>
                </a:r>
                <a:r>
                  <a:rPr dirty="0"/>
                  <a:t> </a:t>
                </a:r>
                <a:r>
                  <a:rPr dirty="0" err="1"/>
                  <a:t>Friccional</a:t>
                </a:r>
                <a:r>
                  <a:rPr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dirty="0"/>
                  <a:t>)</a:t>
                </a:r>
              </a:p>
              <a:p>
                <a:pPr>
                  <a:defRPr sz="135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 err="1"/>
                  <a:t>Transición</a:t>
                </a:r>
                <a:r>
                  <a:rPr dirty="0"/>
                  <a:t> </a:t>
                </a:r>
                <a:r>
                  <a:rPr dirty="0" err="1"/>
                  <a:t>laboral</a:t>
                </a:r>
                <a:r>
                  <a:rPr dirty="0"/>
                  <a:t> </a:t>
                </a:r>
                <a:r>
                  <a:rPr dirty="0" err="1"/>
                  <a:t>voluntaria</a:t>
                </a:r>
                <a:r>
                  <a:rPr dirty="0"/>
                  <a:t> y </a:t>
                </a:r>
                <a:r>
                  <a:rPr dirty="0" err="1"/>
                  <a:t>búsqueda</a:t>
                </a:r>
                <a:r>
                  <a:rPr dirty="0"/>
                  <a:t> de </a:t>
                </a:r>
                <a:r>
                  <a:rPr dirty="0" err="1"/>
                  <a:t>empleo</a:t>
                </a:r>
                <a:r>
                  <a:rPr dirty="0"/>
                  <a:t> (job search). La </a:t>
                </a:r>
                <a:r>
                  <a:rPr dirty="0" err="1"/>
                  <a:t>información</a:t>
                </a:r>
                <a:r>
                  <a:rPr dirty="0"/>
                  <a:t> de </a:t>
                </a:r>
                <a:r>
                  <a:rPr dirty="0" err="1"/>
                  <a:t>vacantes</a:t>
                </a:r>
                <a:r>
                  <a:rPr dirty="0"/>
                  <a:t> no es </a:t>
                </a:r>
                <a:r>
                  <a:rPr dirty="0" err="1"/>
                  <a:t>instantánea</a:t>
                </a:r>
                <a:r>
                  <a:rPr dirty="0"/>
                  <a:t>.</a:t>
                </a:r>
                <a:br>
                  <a:rPr dirty="0"/>
                </a:br>
                <a:br>
                  <a:rPr dirty="0"/>
                </a:br>
                <a:r>
                  <a:rPr dirty="0"/>
                  <a:t>Política </a:t>
                </a:r>
                <a:r>
                  <a:rPr dirty="0" err="1"/>
                  <a:t>Inútil</a:t>
                </a:r>
                <a:r>
                  <a:rPr dirty="0"/>
                  <a:t>: </a:t>
                </a:r>
                <a:r>
                  <a:rPr dirty="0" err="1"/>
                  <a:t>Subsidios</a:t>
                </a:r>
                <a:r>
                  <a:rPr dirty="0"/>
                  <a:t> </a:t>
                </a:r>
                <a:r>
                  <a:rPr dirty="0" err="1"/>
                  <a:t>indefinidos</a:t>
                </a:r>
                <a:r>
                  <a:rPr dirty="0"/>
                  <a:t> </a:t>
                </a:r>
                <a:r>
                  <a:rPr dirty="0" err="1"/>
                  <a:t>que</a:t>
                </a:r>
                <a:r>
                  <a:rPr dirty="0"/>
                  <a:t> </a:t>
                </a:r>
                <a:r>
                  <a:rPr dirty="0" err="1"/>
                  <a:t>alarguen</a:t>
                </a:r>
                <a:r>
                  <a:rPr dirty="0"/>
                  <a:t> la </a:t>
                </a:r>
                <a:r>
                  <a:rPr dirty="0" err="1"/>
                  <a:t>búsqueda</a:t>
                </a:r>
                <a:r>
                  <a:rPr dirty="0"/>
                  <a:t> sin control.</a:t>
                </a:r>
                <a:br>
                  <a:rPr dirty="0"/>
                </a:br>
                <a:br>
                  <a:rPr dirty="0"/>
                </a:br>
                <a:r>
                  <a:rPr dirty="0"/>
                  <a:t>Política </a:t>
                </a:r>
                <a:r>
                  <a:rPr dirty="0" err="1"/>
                  <a:t>Correcta</a:t>
                </a:r>
                <a:r>
                  <a:rPr dirty="0"/>
                  <a:t>: </a:t>
                </a:r>
                <a:r>
                  <a:rPr dirty="0" err="1"/>
                  <a:t>Intermediación</a:t>
                </a:r>
                <a:r>
                  <a:rPr dirty="0"/>
                  <a:t> digital </a:t>
                </a:r>
                <a:r>
                  <a:rPr dirty="0" err="1"/>
                  <a:t>ágil</a:t>
                </a:r>
                <a:r>
                  <a:rPr dirty="0"/>
                  <a:t> (SEPE) y matching </a:t>
                </a:r>
                <a:r>
                  <a:rPr dirty="0" err="1"/>
                  <a:t>eficiente</a:t>
                </a:r>
                <a:r>
                  <a:rPr dirty="0"/>
                  <a:t>.</a:t>
                </a: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1645920"/>
                <a:ext cx="3566160" cy="43891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76927A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/>
              <p:cNvSpPr/>
              <p:nvPr/>
            </p:nvSpPr>
            <p:spPr>
              <a:xfrm>
                <a:off x="8046719" y="1645920"/>
                <a:ext cx="3566160" cy="4389120"/>
              </a:xfrm>
              <a:prstGeom prst="roundRect">
                <a:avLst/>
              </a:prstGeom>
              <a:solidFill>
                <a:srgbClr val="F4F8F5"/>
              </a:solidFill>
              <a:ln w="19050">
                <a:solidFill>
                  <a:srgbClr val="E98F7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82880" tIns="164592" rIns="182880" rtlCol="0" anchor="ctr"/>
              <a:lstStyle/>
              <a:p>
                <a:pPr algn="ctr">
                  <a:defRPr sz="1400" b="1">
                    <a:solidFill>
                      <a:srgbClr val="E98F71"/>
                    </a:solidFill>
                    <a:latin typeface="Outfit"/>
                  </a:defRPr>
                </a:pPr>
                <a:r>
                  <a:rPr dirty="0"/>
                  <a:t>CASO 3: CARLOS (38 AÑOS)</a:t>
                </a:r>
              </a:p>
              <a:p>
                <a:pPr>
                  <a:spcAft>
                    <a:spcPts val="800"/>
                  </a:spcAft>
                  <a:defRPr sz="1300" i="1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Camarero </a:t>
                </a:r>
                <a:r>
                  <a:rPr dirty="0" err="1"/>
                  <a:t>en</a:t>
                </a:r>
                <a:r>
                  <a:rPr dirty="0"/>
                  <a:t> la Costa del Sol </a:t>
                </a:r>
                <a:r>
                  <a:rPr dirty="0" err="1"/>
                  <a:t>en</a:t>
                </a:r>
                <a:r>
                  <a:rPr dirty="0"/>
                  <a:t> </a:t>
                </a:r>
                <a:r>
                  <a:rPr dirty="0" err="1"/>
                  <a:t>verano</a:t>
                </a:r>
                <a:r>
                  <a:rPr dirty="0"/>
                  <a:t> y </a:t>
                </a:r>
                <a:r>
                  <a:rPr dirty="0" err="1"/>
                  <a:t>peón</a:t>
                </a:r>
                <a:r>
                  <a:rPr dirty="0"/>
                  <a:t> </a:t>
                </a:r>
                <a:r>
                  <a:rPr dirty="0" err="1"/>
                  <a:t>agrícola</a:t>
                </a:r>
                <a:r>
                  <a:rPr dirty="0"/>
                  <a:t> de aceituna </a:t>
                </a:r>
                <a:r>
                  <a:rPr dirty="0" err="1"/>
                  <a:t>en</a:t>
                </a:r>
                <a:r>
                  <a:rPr dirty="0"/>
                  <a:t> </a:t>
                </a:r>
                <a:r>
                  <a:rPr dirty="0" err="1"/>
                  <a:t>invierno</a:t>
                </a:r>
                <a:r>
                  <a:rPr dirty="0"/>
                  <a:t>. Paro </a:t>
                </a:r>
                <a:r>
                  <a:rPr dirty="0" err="1"/>
                  <a:t>en</a:t>
                </a:r>
                <a:r>
                  <a:rPr dirty="0"/>
                  <a:t> primavera.</a:t>
                </a:r>
              </a:p>
              <a:p>
                <a:pPr>
                  <a:spcAft>
                    <a:spcPts val="800"/>
                  </a:spcAft>
                  <a:defRPr sz="1500" b="1">
                    <a:solidFill>
                      <a:srgbClr val="113927"/>
                    </a:solidFill>
                    <a:latin typeface="Outfit"/>
                  </a:defRPr>
                </a:pPr>
                <a:r>
                  <a:rPr dirty="0" err="1"/>
                  <a:t>Desempleo</a:t>
                </a:r>
                <a:r>
                  <a:rPr dirty="0"/>
                  <a:t> </a:t>
                </a:r>
                <a:r>
                  <a:rPr dirty="0" err="1"/>
                  <a:t>Estacional</a:t>
                </a:r>
                <a:r>
                  <a:rPr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dirty="0"/>
                  <a:t>)</a:t>
                </a:r>
              </a:p>
              <a:p>
                <a:pPr>
                  <a:defRPr sz="135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 err="1"/>
                  <a:t>Variación</a:t>
                </a:r>
                <a:r>
                  <a:rPr dirty="0"/>
                  <a:t> regular, </a:t>
                </a:r>
                <a:r>
                  <a:rPr dirty="0" err="1"/>
                  <a:t>predecible</a:t>
                </a:r>
                <a:r>
                  <a:rPr dirty="0"/>
                  <a:t> y </a:t>
                </a:r>
                <a:r>
                  <a:rPr dirty="0" err="1"/>
                  <a:t>recurrente</a:t>
                </a:r>
                <a:r>
                  <a:rPr dirty="0"/>
                  <a:t> </a:t>
                </a:r>
                <a:r>
                  <a:rPr dirty="0" err="1"/>
                  <a:t>ligada</a:t>
                </a:r>
                <a:r>
                  <a:rPr dirty="0"/>
                  <a:t> a </a:t>
                </a:r>
                <a:r>
                  <a:rPr dirty="0" err="1"/>
                  <a:t>los</a:t>
                </a:r>
                <a:r>
                  <a:rPr dirty="0"/>
                  <a:t> </a:t>
                </a:r>
                <a:r>
                  <a:rPr dirty="0" err="1"/>
                  <a:t>ciclos</a:t>
                </a:r>
                <a:r>
                  <a:rPr dirty="0"/>
                  <a:t> </a:t>
                </a:r>
                <a:r>
                  <a:rPr dirty="0" err="1"/>
                  <a:t>productivos</a:t>
                </a:r>
                <a:r>
                  <a:rPr dirty="0"/>
                  <a:t> y </a:t>
                </a:r>
                <a:r>
                  <a:rPr dirty="0" err="1"/>
                  <a:t>climáticos</a:t>
                </a:r>
                <a:r>
                  <a:rPr dirty="0"/>
                  <a:t> del sector.</a:t>
                </a:r>
                <a:br>
                  <a:rPr dirty="0"/>
                </a:br>
                <a:br>
                  <a:rPr dirty="0"/>
                </a:br>
                <a:r>
                  <a:rPr dirty="0"/>
                  <a:t>Política </a:t>
                </a:r>
                <a:r>
                  <a:rPr dirty="0" err="1"/>
                  <a:t>Inútil</a:t>
                </a:r>
                <a:r>
                  <a:rPr dirty="0"/>
                  <a:t>: </a:t>
                </a:r>
                <a:r>
                  <a:rPr dirty="0" err="1"/>
                  <a:t>Intentar</a:t>
                </a:r>
                <a:r>
                  <a:rPr dirty="0"/>
                  <a:t> </a:t>
                </a:r>
                <a:r>
                  <a:rPr dirty="0" err="1"/>
                  <a:t>forzar</a:t>
                </a:r>
                <a:r>
                  <a:rPr dirty="0"/>
                  <a:t> </a:t>
                </a:r>
                <a:r>
                  <a:rPr dirty="0" err="1"/>
                  <a:t>contratos</a:t>
                </a:r>
                <a:r>
                  <a:rPr dirty="0"/>
                  <a:t> </a:t>
                </a:r>
                <a:r>
                  <a:rPr dirty="0" err="1"/>
                  <a:t>fijos</a:t>
                </a:r>
                <a:r>
                  <a:rPr dirty="0"/>
                  <a:t> </a:t>
                </a:r>
                <a:r>
                  <a:rPr dirty="0" err="1"/>
                  <a:t>continuos</a:t>
                </a:r>
                <a:r>
                  <a:rPr dirty="0"/>
                  <a:t> </a:t>
                </a:r>
                <a:r>
                  <a:rPr dirty="0" err="1"/>
                  <a:t>todo</a:t>
                </a:r>
                <a:r>
                  <a:rPr dirty="0"/>
                  <a:t> el </a:t>
                </a:r>
                <a:r>
                  <a:rPr dirty="0" err="1"/>
                  <a:t>año</a:t>
                </a:r>
                <a:r>
                  <a:rPr dirty="0"/>
                  <a:t>.</a:t>
                </a:r>
                <a:br>
                  <a:rPr dirty="0"/>
                </a:br>
                <a:br>
                  <a:rPr dirty="0"/>
                </a:br>
                <a:r>
                  <a:rPr dirty="0"/>
                  <a:t>Política </a:t>
                </a:r>
                <a:r>
                  <a:rPr dirty="0" err="1"/>
                  <a:t>Correcta</a:t>
                </a:r>
                <a:r>
                  <a:rPr dirty="0"/>
                  <a:t>: </a:t>
                </a:r>
                <a:r>
                  <a:rPr dirty="0" err="1"/>
                  <a:t>Contrato</a:t>
                </a:r>
                <a:r>
                  <a:rPr dirty="0"/>
                  <a:t> </a:t>
                </a:r>
                <a:r>
                  <a:rPr dirty="0" err="1"/>
                  <a:t>fijo-discontinuo</a:t>
                </a:r>
                <a:r>
                  <a:rPr dirty="0"/>
                  <a:t> y </a:t>
                </a:r>
                <a:r>
                  <a:rPr dirty="0" err="1"/>
                  <a:t>diversificación</a:t>
                </a:r>
                <a:r>
                  <a:rPr dirty="0"/>
                  <a:t> </a:t>
                </a:r>
                <a:r>
                  <a:rPr dirty="0" err="1"/>
                  <a:t>económica</a:t>
                </a:r>
                <a:r>
                  <a:rPr dirty="0"/>
                  <a:t> sectorial.</a:t>
                </a:r>
              </a:p>
            </p:txBody>
          </p:sp>
        </mc:Choice>
        <mc:Fallback>
          <p:sp>
            <p:nvSpPr>
              <p:cNvPr id="10" name="Rounded 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19" y="1645920"/>
                <a:ext cx="3566160" cy="438912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E98F71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2 · TAXONOMÍA DEL DESEMPLEO (PARTE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548640" y="621792"/>
                <a:ext cx="6680740" cy="457946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sz="2200" b="1">
                    <a:solidFill>
                      <a:srgbClr val="113927"/>
                    </a:solidFill>
                    <a:latin typeface="Outfit"/>
                  </a:defRPr>
                </a:pPr>
                <a:r>
                  <a:rPr dirty="0" err="1"/>
                  <a:t>Desempleo</a:t>
                </a:r>
                <a:r>
                  <a:rPr dirty="0"/>
                  <a:t> </a:t>
                </a:r>
                <a:r>
                  <a:rPr dirty="0" err="1"/>
                  <a:t>Friccional</a:t>
                </a:r>
                <a:r>
                  <a:rPr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dirty="0"/>
                  <a:t>) y </a:t>
                </a:r>
                <a:r>
                  <a:rPr dirty="0" err="1"/>
                  <a:t>Desempleo</a:t>
                </a:r>
                <a:r>
                  <a:rPr dirty="0"/>
                  <a:t> </a:t>
                </a:r>
                <a:r>
                  <a:rPr dirty="0" err="1"/>
                  <a:t>Estacional</a:t>
                </a:r>
                <a:r>
                  <a:rPr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dirty="0"/>
                  <a:t>)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621792"/>
                <a:ext cx="6680740" cy="457946"/>
              </a:xfrm>
              <a:prstGeom prst="rect">
                <a:avLst/>
              </a:prstGeom>
              <a:blipFill>
                <a:blip r:embed="rId2"/>
                <a:stretch>
                  <a:fillRect l="-1186" t="-8000" b="-21333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F3A30"/>
                </a:solidFill>
                <a:latin typeface="Calibri"/>
              </a:defRPr>
            </a:pPr>
            <a:r>
              <a:t>Fricciones de información, búsqueda de empleo y estacionalidad productiva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365760"/>
            <a:ext cx="1161288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E7162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E7162"/>
                </a:solidFill>
                <a:latin typeface="Calibri"/>
              </a:defRPr>
            </a:pPr>
            <a:r>
              <a:t>5 /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/>
              <p:cNvSpPr/>
              <p:nvPr/>
            </p:nvSpPr>
            <p:spPr>
              <a:xfrm>
                <a:off x="548640" y="1645920"/>
                <a:ext cx="5394960" cy="4389120"/>
              </a:xfrm>
              <a:prstGeom prst="roundRect">
                <a:avLst/>
              </a:prstGeom>
              <a:solidFill>
                <a:srgbClr val="F4F8F5"/>
              </a:solidFill>
              <a:ln w="19050">
                <a:solidFill>
                  <a:srgbClr val="113927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201168" tIns="182880" rIns="201168" rtlCol="0" anchor="ctr"/>
              <a:lstStyle/>
              <a:p>
                <a:pPr algn="ctr">
                  <a:spcAft>
                    <a:spcPts val="800"/>
                  </a:spcAft>
                  <a:defRPr sz="1700" b="1">
                    <a:solidFill>
                      <a:srgbClr val="113927"/>
                    </a:solidFill>
                    <a:latin typeface="Outfit"/>
                  </a:defRPr>
                </a:pPr>
                <a:r>
                  <a:rPr dirty="0"/>
                  <a:t>1. DESEMPLEO FRICCIONAL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dirty="0"/>
                  <a:t>)</a:t>
                </a:r>
              </a:p>
              <a:p>
                <a:pPr>
                  <a:spcAft>
                    <a:spcPts val="600"/>
                  </a:spcAft>
                  <a:defRPr sz="16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• </a:t>
                </a:r>
                <a:r>
                  <a:rPr dirty="0" err="1"/>
                  <a:t>Naturaleza</a:t>
                </a:r>
                <a:r>
                  <a:rPr dirty="0"/>
                  <a:t> </a:t>
                </a:r>
                <a:r>
                  <a:rPr dirty="0" err="1"/>
                  <a:t>económica</a:t>
                </a:r>
                <a:r>
                  <a:rPr dirty="0"/>
                  <a:t>: Inevitable </a:t>
                </a:r>
                <a:r>
                  <a:rPr dirty="0" err="1"/>
                  <a:t>en</a:t>
                </a:r>
                <a:r>
                  <a:rPr dirty="0"/>
                  <a:t> </a:t>
                </a:r>
                <a:r>
                  <a:rPr dirty="0" err="1"/>
                  <a:t>una</a:t>
                </a:r>
                <a:r>
                  <a:rPr dirty="0"/>
                  <a:t> </a:t>
                </a:r>
                <a:r>
                  <a:rPr dirty="0" err="1"/>
                  <a:t>economía</a:t>
                </a:r>
                <a:r>
                  <a:rPr dirty="0"/>
                  <a:t> </a:t>
                </a:r>
                <a:r>
                  <a:rPr dirty="0" err="1"/>
                  <a:t>dinámica</a:t>
                </a:r>
                <a:r>
                  <a:rPr dirty="0"/>
                  <a:t>. Es el </a:t>
                </a:r>
                <a:r>
                  <a:rPr dirty="0" err="1"/>
                  <a:t>tiempo</a:t>
                </a:r>
                <a:r>
                  <a:rPr dirty="0"/>
                  <a:t> </a:t>
                </a:r>
                <a:r>
                  <a:rPr dirty="0" err="1"/>
                  <a:t>que</a:t>
                </a:r>
                <a:r>
                  <a:rPr dirty="0"/>
                  <a:t> media entre </a:t>
                </a:r>
                <a:r>
                  <a:rPr dirty="0" err="1"/>
                  <a:t>que</a:t>
                </a:r>
                <a:r>
                  <a:rPr dirty="0"/>
                  <a:t> un </a:t>
                </a:r>
                <a:r>
                  <a:rPr dirty="0" err="1"/>
                  <a:t>trabajador</a:t>
                </a:r>
                <a:r>
                  <a:rPr dirty="0"/>
                  <a:t> </a:t>
                </a:r>
                <a:r>
                  <a:rPr dirty="0" err="1"/>
                  <a:t>deja</a:t>
                </a:r>
                <a:r>
                  <a:rPr dirty="0"/>
                  <a:t> o </a:t>
                </a:r>
                <a:r>
                  <a:rPr dirty="0" err="1"/>
                  <a:t>pierde</a:t>
                </a:r>
                <a:r>
                  <a:rPr dirty="0"/>
                  <a:t> un </a:t>
                </a:r>
                <a:r>
                  <a:rPr dirty="0" err="1"/>
                  <a:t>empleo</a:t>
                </a:r>
                <a:r>
                  <a:rPr dirty="0"/>
                  <a:t> y </a:t>
                </a:r>
                <a:r>
                  <a:rPr dirty="0" err="1"/>
                  <a:t>encuentra</a:t>
                </a:r>
                <a:r>
                  <a:rPr dirty="0"/>
                  <a:t> </a:t>
                </a:r>
                <a:r>
                  <a:rPr dirty="0" err="1"/>
                  <a:t>otro</a:t>
                </a:r>
                <a:r>
                  <a:rPr dirty="0"/>
                  <a:t> </a:t>
                </a:r>
                <a:r>
                  <a:rPr dirty="0" err="1"/>
                  <a:t>acorde</a:t>
                </a:r>
                <a:r>
                  <a:rPr dirty="0"/>
                  <a:t> a sus </a:t>
                </a:r>
                <a:r>
                  <a:rPr dirty="0" err="1"/>
                  <a:t>preferencias</a:t>
                </a:r>
                <a:r>
                  <a:rPr dirty="0"/>
                  <a:t>.</a:t>
                </a:r>
              </a:p>
              <a:p>
                <a:pPr>
                  <a:spcAft>
                    <a:spcPts val="600"/>
                  </a:spcAft>
                  <a:defRPr sz="16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• Causa fundamental: </a:t>
                </a:r>
                <a:r>
                  <a:rPr dirty="0" err="1"/>
                  <a:t>Información</a:t>
                </a:r>
                <a:r>
                  <a:rPr dirty="0"/>
                  <a:t> </a:t>
                </a:r>
                <a:r>
                  <a:rPr dirty="0" err="1"/>
                  <a:t>asimétrica</a:t>
                </a:r>
                <a:r>
                  <a:rPr dirty="0"/>
                  <a:t> e imperfecta. Ni las </a:t>
                </a:r>
                <a:r>
                  <a:rPr dirty="0" err="1"/>
                  <a:t>empresas</a:t>
                </a:r>
                <a:r>
                  <a:rPr dirty="0"/>
                  <a:t> </a:t>
                </a:r>
                <a:r>
                  <a:rPr dirty="0" err="1"/>
                  <a:t>conocen</a:t>
                </a:r>
                <a:r>
                  <a:rPr dirty="0"/>
                  <a:t> </a:t>
                </a:r>
                <a:r>
                  <a:rPr dirty="0" err="1"/>
                  <a:t>instantáneamente</a:t>
                </a:r>
                <a:r>
                  <a:rPr dirty="0"/>
                  <a:t> a </a:t>
                </a:r>
                <a:r>
                  <a:rPr dirty="0" err="1"/>
                  <a:t>los</a:t>
                </a:r>
                <a:r>
                  <a:rPr dirty="0"/>
                  <a:t> </a:t>
                </a:r>
                <a:r>
                  <a:rPr dirty="0" err="1"/>
                  <a:t>candidatos</a:t>
                </a:r>
                <a:r>
                  <a:rPr dirty="0"/>
                  <a:t> </a:t>
                </a:r>
                <a:r>
                  <a:rPr dirty="0" err="1"/>
                  <a:t>idóneos</a:t>
                </a:r>
                <a:r>
                  <a:rPr dirty="0"/>
                  <a:t>, </a:t>
                </a:r>
                <a:r>
                  <a:rPr dirty="0" err="1"/>
                  <a:t>ni</a:t>
                </a:r>
                <a:r>
                  <a:rPr dirty="0"/>
                  <a:t> </a:t>
                </a:r>
                <a:r>
                  <a:rPr dirty="0" err="1"/>
                  <a:t>los</a:t>
                </a:r>
                <a:r>
                  <a:rPr dirty="0"/>
                  <a:t> </a:t>
                </a:r>
                <a:r>
                  <a:rPr dirty="0" err="1"/>
                  <a:t>desempleados</a:t>
                </a:r>
                <a:r>
                  <a:rPr dirty="0"/>
                  <a:t> </a:t>
                </a:r>
                <a:r>
                  <a:rPr dirty="0" err="1"/>
                  <a:t>conocen</a:t>
                </a:r>
                <a:r>
                  <a:rPr dirty="0"/>
                  <a:t> </a:t>
                </a:r>
                <a:r>
                  <a:rPr dirty="0" err="1"/>
                  <a:t>todas</a:t>
                </a:r>
                <a:r>
                  <a:rPr dirty="0"/>
                  <a:t> las </a:t>
                </a:r>
                <a:r>
                  <a:rPr dirty="0" err="1"/>
                  <a:t>vacantes</a:t>
                </a:r>
                <a:r>
                  <a:rPr dirty="0"/>
                  <a:t>.</a:t>
                </a:r>
              </a:p>
              <a:p>
                <a:pPr>
                  <a:defRPr sz="16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• </a:t>
                </a:r>
                <a:r>
                  <a:rPr dirty="0" err="1"/>
                  <a:t>Políticas</a:t>
                </a:r>
                <a:r>
                  <a:rPr dirty="0"/>
                  <a:t> </a:t>
                </a:r>
                <a:r>
                  <a:rPr dirty="0" err="1"/>
                  <a:t>adecuadas</a:t>
                </a:r>
                <a:r>
                  <a:rPr dirty="0"/>
                  <a:t>: </a:t>
                </a:r>
                <a:r>
                  <a:rPr dirty="0" err="1"/>
                  <a:t>Modernización</a:t>
                </a:r>
                <a:r>
                  <a:rPr dirty="0"/>
                  <a:t> digital de </a:t>
                </a:r>
                <a:r>
                  <a:rPr dirty="0" err="1"/>
                  <a:t>los</a:t>
                </a:r>
                <a:r>
                  <a:rPr dirty="0"/>
                  <a:t> </a:t>
                </a:r>
                <a:r>
                  <a:rPr dirty="0" err="1"/>
                  <a:t>Servicios</a:t>
                </a:r>
                <a:r>
                  <a:rPr dirty="0"/>
                  <a:t> </a:t>
                </a:r>
                <a:r>
                  <a:rPr dirty="0" err="1"/>
                  <a:t>Públicos</a:t>
                </a:r>
                <a:r>
                  <a:rPr dirty="0"/>
                  <a:t> de Empleo (SEPE), </a:t>
                </a:r>
                <a:r>
                  <a:rPr dirty="0" err="1"/>
                  <a:t>agencias</a:t>
                </a:r>
                <a:r>
                  <a:rPr dirty="0"/>
                  <a:t> de </a:t>
                </a:r>
                <a:r>
                  <a:rPr dirty="0" err="1"/>
                  <a:t>colocación</a:t>
                </a:r>
                <a:r>
                  <a:rPr dirty="0"/>
                  <a:t> </a:t>
                </a:r>
                <a:r>
                  <a:rPr dirty="0" err="1"/>
                  <a:t>privadas</a:t>
                </a:r>
                <a:r>
                  <a:rPr dirty="0"/>
                  <a:t> y </a:t>
                </a:r>
                <a:r>
                  <a:rPr dirty="0" err="1"/>
                  <a:t>plataformas</a:t>
                </a:r>
                <a:r>
                  <a:rPr dirty="0"/>
                  <a:t> de matching </a:t>
                </a:r>
                <a:r>
                  <a:rPr dirty="0" err="1"/>
                  <a:t>inteligente</a:t>
                </a:r>
                <a:r>
                  <a:rPr dirty="0"/>
                  <a:t>.</a:t>
                </a:r>
              </a:p>
            </p:txBody>
          </p:sp>
        </mc:Choice>
        <mc:Fallback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645920"/>
                <a:ext cx="5394960" cy="43891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113927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6217920" y="1645920"/>
                <a:ext cx="5394960" cy="4389120"/>
              </a:xfrm>
              <a:prstGeom prst="roundRect">
                <a:avLst/>
              </a:prstGeom>
              <a:solidFill>
                <a:srgbClr val="F4F8F5"/>
              </a:solidFill>
              <a:ln w="19050">
                <a:solidFill>
                  <a:srgbClr val="76927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201168" tIns="182880" rIns="201168" rtlCol="0" anchor="ctr"/>
              <a:lstStyle/>
              <a:p>
                <a:pPr algn="ctr">
                  <a:spcAft>
                    <a:spcPts val="800"/>
                  </a:spcAft>
                  <a:defRPr sz="1700" b="1">
                    <a:solidFill>
                      <a:srgbClr val="76927A"/>
                    </a:solidFill>
                    <a:latin typeface="Outfit"/>
                  </a:defRPr>
                </a:pPr>
                <a:r>
                  <a:rPr dirty="0"/>
                  <a:t>2. DESEMPLEO ESTACIONAL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dirty="0"/>
                  <a:t>)</a:t>
                </a:r>
              </a:p>
              <a:p>
                <a:pPr>
                  <a:spcAft>
                    <a:spcPts val="600"/>
                  </a:spcAft>
                  <a:defRPr sz="16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• </a:t>
                </a:r>
                <a:r>
                  <a:rPr dirty="0" err="1"/>
                  <a:t>Naturaleza</a:t>
                </a:r>
                <a:r>
                  <a:rPr dirty="0"/>
                  <a:t> </a:t>
                </a:r>
                <a:r>
                  <a:rPr dirty="0" err="1"/>
                  <a:t>económica</a:t>
                </a:r>
                <a:r>
                  <a:rPr dirty="0"/>
                  <a:t>: </a:t>
                </a:r>
                <a:r>
                  <a:rPr dirty="0" err="1"/>
                  <a:t>Fluctuaciones</a:t>
                </a:r>
                <a:r>
                  <a:rPr dirty="0"/>
                  <a:t> </a:t>
                </a:r>
                <a:r>
                  <a:rPr dirty="0" err="1"/>
                  <a:t>periódicas</a:t>
                </a:r>
                <a:r>
                  <a:rPr dirty="0"/>
                  <a:t>, </a:t>
                </a:r>
                <a:r>
                  <a:rPr dirty="0" err="1"/>
                  <a:t>anticipables</a:t>
                </a:r>
                <a:r>
                  <a:rPr dirty="0"/>
                  <a:t> y </a:t>
                </a:r>
                <a:r>
                  <a:rPr dirty="0" err="1"/>
                  <a:t>regulares</a:t>
                </a:r>
                <a:r>
                  <a:rPr dirty="0"/>
                  <a:t> de la </a:t>
                </a:r>
                <a:r>
                  <a:rPr dirty="0" err="1"/>
                  <a:t>demanda</a:t>
                </a:r>
                <a:r>
                  <a:rPr dirty="0"/>
                  <a:t> de </a:t>
                </a:r>
                <a:r>
                  <a:rPr dirty="0" err="1"/>
                  <a:t>trabajo</a:t>
                </a:r>
                <a:r>
                  <a:rPr dirty="0"/>
                  <a:t> a lo largo de las </a:t>
                </a:r>
                <a:r>
                  <a:rPr dirty="0" err="1"/>
                  <a:t>estaciones</a:t>
                </a:r>
                <a:r>
                  <a:rPr dirty="0"/>
                  <a:t> del </a:t>
                </a:r>
                <a:r>
                  <a:rPr dirty="0" err="1"/>
                  <a:t>año</a:t>
                </a:r>
                <a:r>
                  <a:rPr dirty="0"/>
                  <a:t>.</a:t>
                </a:r>
              </a:p>
              <a:p>
                <a:pPr>
                  <a:spcAft>
                    <a:spcPts val="600"/>
                  </a:spcAft>
                  <a:defRPr sz="16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• </a:t>
                </a:r>
                <a:r>
                  <a:rPr dirty="0" err="1"/>
                  <a:t>Sectores</a:t>
                </a:r>
                <a:r>
                  <a:rPr dirty="0"/>
                  <a:t> </a:t>
                </a:r>
                <a:r>
                  <a:rPr dirty="0" err="1"/>
                  <a:t>críticos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España: Turismo de sol y playa (</a:t>
                </a:r>
                <a:r>
                  <a:rPr dirty="0" err="1"/>
                  <a:t>verano</a:t>
                </a:r>
                <a:r>
                  <a:rPr dirty="0"/>
                  <a:t>), </a:t>
                </a:r>
                <a:r>
                  <a:rPr dirty="0" err="1"/>
                  <a:t>campañas</a:t>
                </a:r>
                <a:r>
                  <a:rPr dirty="0"/>
                  <a:t> </a:t>
                </a:r>
                <a:r>
                  <a:rPr dirty="0" err="1"/>
                  <a:t>agrícolas</a:t>
                </a:r>
                <a:r>
                  <a:rPr dirty="0"/>
                  <a:t> (</a:t>
                </a:r>
                <a:r>
                  <a:rPr dirty="0" err="1"/>
                  <a:t>recogida</a:t>
                </a:r>
                <a:r>
                  <a:rPr dirty="0"/>
                  <a:t> de </a:t>
                </a:r>
                <a:r>
                  <a:rPr dirty="0" err="1"/>
                  <a:t>fruto</a:t>
                </a:r>
                <a:r>
                  <a:rPr dirty="0"/>
                  <a:t>/aceituna) y </a:t>
                </a:r>
                <a:r>
                  <a:rPr dirty="0" err="1"/>
                  <a:t>comercio</a:t>
                </a:r>
                <a:r>
                  <a:rPr dirty="0"/>
                  <a:t> </a:t>
                </a:r>
                <a:r>
                  <a:rPr dirty="0" err="1"/>
                  <a:t>minorista</a:t>
                </a:r>
                <a:r>
                  <a:rPr dirty="0"/>
                  <a:t> </a:t>
                </a:r>
                <a:r>
                  <a:rPr dirty="0" err="1"/>
                  <a:t>navideño</a:t>
                </a:r>
                <a:r>
                  <a:rPr dirty="0"/>
                  <a:t>.</a:t>
                </a:r>
              </a:p>
              <a:p>
                <a:pPr>
                  <a:defRPr sz="16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• </a:t>
                </a:r>
                <a:r>
                  <a:rPr dirty="0" err="1"/>
                  <a:t>Instrumentos</a:t>
                </a:r>
                <a:r>
                  <a:rPr dirty="0"/>
                  <a:t> </a:t>
                </a:r>
                <a:r>
                  <a:rPr dirty="0" err="1"/>
                  <a:t>sociolaborales</a:t>
                </a:r>
                <a:r>
                  <a:rPr dirty="0"/>
                  <a:t>: </a:t>
                </a:r>
                <a:r>
                  <a:rPr dirty="0" err="1"/>
                  <a:t>Contrato</a:t>
                </a:r>
                <a:r>
                  <a:rPr dirty="0"/>
                  <a:t> </a:t>
                </a:r>
                <a:r>
                  <a:rPr dirty="0" err="1"/>
                  <a:t>fijo-discontinuo</a:t>
                </a:r>
                <a:r>
                  <a:rPr dirty="0"/>
                  <a:t> (</a:t>
                </a:r>
                <a:r>
                  <a:rPr dirty="0" err="1"/>
                  <a:t>estabilidad</a:t>
                </a:r>
                <a:r>
                  <a:rPr dirty="0"/>
                  <a:t> </a:t>
                </a:r>
                <a:r>
                  <a:rPr dirty="0" err="1"/>
                  <a:t>jurídica</a:t>
                </a:r>
                <a:r>
                  <a:rPr dirty="0"/>
                  <a:t> y </a:t>
                </a:r>
                <a:r>
                  <a:rPr dirty="0" err="1"/>
                  <a:t>llamamiento</a:t>
                </a:r>
                <a:r>
                  <a:rPr dirty="0"/>
                  <a:t> </a:t>
                </a:r>
                <a:r>
                  <a:rPr dirty="0" err="1"/>
                  <a:t>ordenado</a:t>
                </a:r>
                <a:r>
                  <a:rPr dirty="0"/>
                  <a:t>), </a:t>
                </a:r>
                <a:r>
                  <a:rPr dirty="0" err="1"/>
                  <a:t>diversificación</a:t>
                </a:r>
                <a:r>
                  <a:rPr dirty="0"/>
                  <a:t> </a:t>
                </a:r>
                <a:r>
                  <a:rPr dirty="0" err="1"/>
                  <a:t>productiva</a:t>
                </a:r>
                <a:r>
                  <a:rPr dirty="0"/>
                  <a:t> y </a:t>
                </a:r>
                <a:r>
                  <a:rPr dirty="0" err="1"/>
                  <a:t>formación</a:t>
                </a:r>
                <a:r>
                  <a:rPr dirty="0"/>
                  <a:t> continua </a:t>
                </a:r>
                <a:r>
                  <a:rPr dirty="0" err="1"/>
                  <a:t>en</a:t>
                </a:r>
                <a:r>
                  <a:rPr dirty="0"/>
                  <a:t> </a:t>
                </a:r>
                <a:r>
                  <a:rPr dirty="0" err="1"/>
                  <a:t>temporada</a:t>
                </a:r>
                <a:r>
                  <a:rPr dirty="0"/>
                  <a:t> baja.</a:t>
                </a: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7920" y="1645920"/>
                <a:ext cx="5394960" cy="438912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76927A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2 · TAXONOMÍA DEL DESEMPLEO (PARTE II)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548640" y="621792"/>
                <a:ext cx="8118056" cy="43088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sz="2200" b="1">
                    <a:solidFill>
                      <a:srgbClr val="113927"/>
                    </a:solidFill>
                    <a:latin typeface="Outfit"/>
                  </a:defRPr>
                </a:pPr>
                <a:r>
                  <a:rPr dirty="0" err="1"/>
                  <a:t>Desempleo</a:t>
                </a:r>
                <a:r>
                  <a:rPr dirty="0"/>
                  <a:t> </a:t>
                </a:r>
                <a:r>
                  <a:rPr dirty="0" err="1"/>
                  <a:t>Estructural</a:t>
                </a:r>
                <a:r>
                  <a:rPr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dirty="0"/>
                  <a:t>) e </a:t>
                </a:r>
                <a:r>
                  <a:rPr dirty="0" err="1"/>
                  <a:t>Histéresis</a:t>
                </a:r>
                <a:r>
                  <a:rPr dirty="0"/>
                  <a:t> vs. </a:t>
                </a:r>
                <a:r>
                  <a:rPr dirty="0" err="1"/>
                  <a:t>Desempleo</a:t>
                </a:r>
                <a:r>
                  <a:rPr dirty="0"/>
                  <a:t> </a:t>
                </a:r>
                <a:r>
                  <a:rPr dirty="0" err="1"/>
                  <a:t>Cíclico</a:t>
                </a:r>
                <a:r>
                  <a:rPr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dirty="0"/>
                  <a:t>)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621792"/>
                <a:ext cx="8118056" cy="430887"/>
              </a:xfrm>
              <a:prstGeom prst="rect">
                <a:avLst/>
              </a:prstGeom>
              <a:blipFill>
                <a:blip r:embed="rId2"/>
                <a:stretch>
                  <a:fillRect l="-976" t="-9859" b="-2676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F3A30"/>
                </a:solidFill>
                <a:latin typeface="Calibri"/>
              </a:defRPr>
            </a:pPr>
            <a:r>
              <a:t>Desajuste de competencias, degradación del capital humano y brecha de demanda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365760"/>
            <a:ext cx="1161288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E7162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E7162"/>
                </a:solidFill>
                <a:latin typeface="Calibri"/>
              </a:defRPr>
            </a:pPr>
            <a:r>
              <a:t>6 / 17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ounded Rectangle 7"/>
              <p:cNvSpPr/>
              <p:nvPr/>
            </p:nvSpPr>
            <p:spPr>
              <a:xfrm>
                <a:off x="548640" y="1645920"/>
                <a:ext cx="5394960" cy="4389120"/>
              </a:xfrm>
              <a:prstGeom prst="roundRect">
                <a:avLst/>
              </a:prstGeom>
              <a:solidFill>
                <a:srgbClr val="F4F8F5"/>
              </a:solidFill>
              <a:ln w="19050">
                <a:solidFill>
                  <a:srgbClr val="E98F7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201168" tIns="182880" rIns="201168" rtlCol="0" anchor="ctr"/>
              <a:lstStyle/>
              <a:p>
                <a:pPr algn="ctr">
                  <a:spcAft>
                    <a:spcPts val="800"/>
                  </a:spcAft>
                  <a:defRPr sz="1700" b="1">
                    <a:solidFill>
                      <a:srgbClr val="E98F71"/>
                    </a:solidFill>
                    <a:latin typeface="Outfit"/>
                  </a:defRPr>
                </a:pPr>
                <a:r>
                  <a:rPr dirty="0"/>
                  <a:t>1. DESEMPLEO ESTRUCTURAL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dirty="0"/>
                  <a:t>) E HISTÉRESIS</a:t>
                </a:r>
              </a:p>
              <a:p>
                <a:pPr>
                  <a:spcAft>
                    <a:spcPts val="600"/>
                  </a:spcAft>
                  <a:defRPr sz="16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• </a:t>
                </a:r>
                <a:r>
                  <a:rPr dirty="0" err="1"/>
                  <a:t>Desajuste</a:t>
                </a:r>
                <a:r>
                  <a:rPr dirty="0"/>
                  <a:t> </a:t>
                </a:r>
                <a:r>
                  <a:rPr dirty="0" err="1"/>
                  <a:t>estructural</a:t>
                </a:r>
                <a:r>
                  <a:rPr dirty="0"/>
                  <a:t> (mismatch): Discrepancia </a:t>
                </a:r>
                <a:r>
                  <a:rPr dirty="0" err="1"/>
                  <a:t>cualitativa</a:t>
                </a:r>
                <a:r>
                  <a:rPr dirty="0"/>
                  <a:t> y </a:t>
                </a:r>
                <a:r>
                  <a:rPr dirty="0" err="1"/>
                  <a:t>geográfica</a:t>
                </a:r>
                <a:r>
                  <a:rPr dirty="0"/>
                  <a:t> entre las </a:t>
                </a:r>
                <a:r>
                  <a:rPr dirty="0" err="1"/>
                  <a:t>habilidades</a:t>
                </a:r>
                <a:r>
                  <a:rPr dirty="0"/>
                  <a:t> </a:t>
                </a:r>
                <a:r>
                  <a:rPr dirty="0" err="1"/>
                  <a:t>que</a:t>
                </a:r>
                <a:r>
                  <a:rPr dirty="0"/>
                  <a:t> </a:t>
                </a:r>
                <a:r>
                  <a:rPr dirty="0" err="1"/>
                  <a:t>ofrecen</a:t>
                </a:r>
                <a:r>
                  <a:rPr dirty="0"/>
                  <a:t> </a:t>
                </a:r>
                <a:r>
                  <a:rPr dirty="0" err="1"/>
                  <a:t>los</a:t>
                </a:r>
                <a:r>
                  <a:rPr dirty="0"/>
                  <a:t> parados y las </a:t>
                </a:r>
                <a:r>
                  <a:rPr dirty="0" err="1"/>
                  <a:t>requeridas</a:t>
                </a:r>
                <a:r>
                  <a:rPr dirty="0"/>
                  <a:t> </a:t>
                </a:r>
                <a:r>
                  <a:rPr dirty="0" err="1"/>
                  <a:t>por</a:t>
                </a:r>
                <a:r>
                  <a:rPr dirty="0"/>
                  <a:t> </a:t>
                </a:r>
                <a:r>
                  <a:rPr dirty="0" err="1"/>
                  <a:t>los</a:t>
                </a:r>
                <a:r>
                  <a:rPr dirty="0"/>
                  <a:t> </a:t>
                </a:r>
                <a:r>
                  <a:rPr dirty="0" err="1"/>
                  <a:t>sectores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auge.</a:t>
                </a:r>
              </a:p>
              <a:p>
                <a:pPr>
                  <a:spcAft>
                    <a:spcPts val="600"/>
                  </a:spcAft>
                  <a:defRPr sz="16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• El </a:t>
                </a:r>
                <a:r>
                  <a:rPr dirty="0" err="1"/>
                  <a:t>fenómeno</a:t>
                </a:r>
                <a:r>
                  <a:rPr dirty="0"/>
                  <a:t> de la </a:t>
                </a:r>
                <a:r>
                  <a:rPr dirty="0" err="1"/>
                  <a:t>Histéresis</a:t>
                </a:r>
                <a:r>
                  <a:rPr dirty="0"/>
                  <a:t>: Un </a:t>
                </a:r>
                <a:r>
                  <a:rPr dirty="0" err="1"/>
                  <a:t>paro</a:t>
                </a:r>
                <a:r>
                  <a:rPr dirty="0"/>
                  <a:t> </a:t>
                </a:r>
                <a:r>
                  <a:rPr dirty="0" err="1"/>
                  <a:t>cíclico</a:t>
                </a:r>
                <a:r>
                  <a:rPr dirty="0"/>
                  <a:t> </a:t>
                </a:r>
                <a:r>
                  <a:rPr dirty="0" err="1"/>
                  <a:t>prolongado</a:t>
                </a:r>
                <a:r>
                  <a:rPr dirty="0"/>
                  <a:t> se </a:t>
                </a:r>
                <a:r>
                  <a:rPr dirty="0" err="1"/>
                  <a:t>convierte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</a:t>
                </a:r>
                <a:r>
                  <a:rPr dirty="0" err="1"/>
                  <a:t>estructural</a:t>
                </a:r>
                <a:r>
                  <a:rPr dirty="0"/>
                  <a:t>. La </a:t>
                </a:r>
                <a:r>
                  <a:rPr dirty="0" err="1"/>
                  <a:t>inactividad</a:t>
                </a:r>
                <a:r>
                  <a:rPr dirty="0"/>
                  <a:t> </a:t>
                </a:r>
                <a:r>
                  <a:rPr dirty="0" err="1"/>
                  <a:t>degrada</a:t>
                </a:r>
                <a:r>
                  <a:rPr dirty="0"/>
                  <a:t> el capital </a:t>
                </a:r>
                <a:r>
                  <a:rPr dirty="0" err="1"/>
                  <a:t>humano</a:t>
                </a:r>
                <a:r>
                  <a:rPr dirty="0"/>
                  <a:t>, </a:t>
                </a:r>
                <a:r>
                  <a:rPr dirty="0" err="1"/>
                  <a:t>desanima</a:t>
                </a:r>
                <a:r>
                  <a:rPr dirty="0"/>
                  <a:t> la </a:t>
                </a:r>
                <a:r>
                  <a:rPr dirty="0" err="1"/>
                  <a:t>búsqueda</a:t>
                </a:r>
                <a:r>
                  <a:rPr dirty="0"/>
                  <a:t> y genera </a:t>
                </a:r>
                <a:r>
                  <a:rPr dirty="0" err="1"/>
                  <a:t>estigmatización</a:t>
                </a:r>
                <a:r>
                  <a:rPr dirty="0"/>
                  <a:t> </a:t>
                </a:r>
                <a:r>
                  <a:rPr dirty="0" err="1"/>
                  <a:t>laboral</a:t>
                </a:r>
                <a:r>
                  <a:rPr dirty="0"/>
                  <a:t>.</a:t>
                </a:r>
              </a:p>
              <a:p>
                <a:pPr>
                  <a:defRPr sz="16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• </a:t>
                </a:r>
                <a:r>
                  <a:rPr dirty="0" err="1"/>
                  <a:t>Políticas</a:t>
                </a:r>
                <a:r>
                  <a:rPr dirty="0"/>
                  <a:t> </a:t>
                </a:r>
                <a:r>
                  <a:rPr dirty="0" err="1"/>
                  <a:t>activas</a:t>
                </a:r>
                <a:r>
                  <a:rPr dirty="0"/>
                  <a:t> de largo </a:t>
                </a:r>
                <a:r>
                  <a:rPr dirty="0" err="1"/>
                  <a:t>plazo</a:t>
                </a:r>
                <a:r>
                  <a:rPr dirty="0"/>
                  <a:t>: </a:t>
                </a:r>
                <a:r>
                  <a:rPr dirty="0" err="1"/>
                  <a:t>Reciclaje</a:t>
                </a:r>
                <a:r>
                  <a:rPr dirty="0"/>
                  <a:t> </a:t>
                </a:r>
                <a:r>
                  <a:rPr dirty="0" err="1"/>
                  <a:t>formativo</a:t>
                </a:r>
                <a:r>
                  <a:rPr dirty="0"/>
                  <a:t> (reskilling), FP Dual, </a:t>
                </a:r>
                <a:r>
                  <a:rPr dirty="0" err="1"/>
                  <a:t>fomento</a:t>
                </a:r>
                <a:r>
                  <a:rPr dirty="0"/>
                  <a:t> de la </a:t>
                </a:r>
                <a:r>
                  <a:rPr dirty="0" err="1"/>
                  <a:t>movilidad</a:t>
                </a:r>
                <a:r>
                  <a:rPr dirty="0"/>
                  <a:t> </a:t>
                </a:r>
                <a:r>
                  <a:rPr dirty="0" err="1"/>
                  <a:t>geográfica</a:t>
                </a:r>
                <a:r>
                  <a:rPr dirty="0"/>
                  <a:t> y </a:t>
                </a:r>
                <a:r>
                  <a:rPr dirty="0" err="1"/>
                  <a:t>reformas</a:t>
                </a:r>
                <a:r>
                  <a:rPr dirty="0"/>
                  <a:t> </a:t>
                </a:r>
                <a:r>
                  <a:rPr dirty="0" err="1"/>
                  <a:t>institucionales</a:t>
                </a:r>
                <a:r>
                  <a:rPr dirty="0"/>
                  <a:t> de </a:t>
                </a:r>
                <a:r>
                  <a:rPr dirty="0" err="1"/>
                  <a:t>flexibilidad</a:t>
                </a:r>
                <a:r>
                  <a:rPr dirty="0"/>
                  <a:t> interna.</a:t>
                </a:r>
              </a:p>
            </p:txBody>
          </p:sp>
        </mc:Choice>
        <mc:Fallback xmlns=""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645920"/>
                <a:ext cx="5394960" cy="43891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E98F71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6217920" y="1645920"/>
                <a:ext cx="5394960" cy="4389120"/>
              </a:xfrm>
              <a:prstGeom prst="roundRect">
                <a:avLst/>
              </a:prstGeom>
              <a:solidFill>
                <a:srgbClr val="F4F8F5"/>
              </a:solidFill>
              <a:ln w="19050">
                <a:solidFill>
                  <a:srgbClr val="113927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201168" tIns="182880" rIns="201168" rtlCol="0" anchor="ctr"/>
              <a:lstStyle/>
              <a:p>
                <a:pPr algn="ctr">
                  <a:spcAft>
                    <a:spcPts val="800"/>
                  </a:spcAft>
                  <a:defRPr sz="1700" b="1">
                    <a:solidFill>
                      <a:srgbClr val="113927"/>
                    </a:solidFill>
                    <a:latin typeface="Outfit"/>
                  </a:defRPr>
                </a:pPr>
                <a:r>
                  <a:rPr dirty="0"/>
                  <a:t>2. DESEMPLEO CÍCLICO O KEYNESIANO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dirty="0"/>
                  <a:t>)</a:t>
                </a:r>
              </a:p>
              <a:p>
                <a:pPr>
                  <a:spcAft>
                    <a:spcPts val="600"/>
                  </a:spcAft>
                  <a:defRPr sz="16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• Origen </a:t>
                </a:r>
                <a:r>
                  <a:rPr dirty="0" err="1"/>
                  <a:t>macroeconómico</a:t>
                </a:r>
                <a:r>
                  <a:rPr dirty="0"/>
                  <a:t>: Surge </a:t>
                </a:r>
                <a:r>
                  <a:rPr dirty="0" err="1"/>
                  <a:t>cuando</a:t>
                </a:r>
                <a:r>
                  <a:rPr dirty="0"/>
                  <a:t> la </a:t>
                </a:r>
                <a:r>
                  <a:rPr dirty="0" err="1"/>
                  <a:t>demanda</a:t>
                </a:r>
                <a:r>
                  <a:rPr dirty="0"/>
                  <a:t> </a:t>
                </a:r>
                <a:r>
                  <a:rPr dirty="0" err="1"/>
                  <a:t>agregada</a:t>
                </a:r>
                <a:r>
                  <a:rPr dirty="0"/>
                  <a:t> de </a:t>
                </a:r>
                <a:r>
                  <a:rPr dirty="0" err="1"/>
                  <a:t>bienes</a:t>
                </a:r>
                <a:r>
                  <a:rPr dirty="0"/>
                  <a:t> y </a:t>
                </a:r>
                <a:r>
                  <a:rPr dirty="0" err="1"/>
                  <a:t>servicios</a:t>
                </a:r>
                <a:r>
                  <a:rPr dirty="0"/>
                  <a:t> es </a:t>
                </a:r>
                <a:r>
                  <a:rPr dirty="0" err="1"/>
                  <a:t>insuficiente</a:t>
                </a:r>
                <a:r>
                  <a:rPr dirty="0"/>
                  <a:t> para </a:t>
                </a:r>
                <a:r>
                  <a:rPr dirty="0" err="1"/>
                  <a:t>emplear</a:t>
                </a:r>
                <a:r>
                  <a:rPr dirty="0"/>
                  <a:t> a </a:t>
                </a:r>
                <a:r>
                  <a:rPr dirty="0" err="1"/>
                  <a:t>toda</a:t>
                </a:r>
                <a:r>
                  <a:rPr dirty="0"/>
                  <a:t> la </a:t>
                </a:r>
                <a:r>
                  <a:rPr dirty="0" err="1"/>
                  <a:t>fuerza</a:t>
                </a:r>
                <a:r>
                  <a:rPr dirty="0"/>
                  <a:t> </a:t>
                </a:r>
                <a:r>
                  <a:rPr dirty="0" err="1"/>
                  <a:t>laboral</a:t>
                </a:r>
                <a:r>
                  <a:rPr dirty="0"/>
                  <a:t> (</a:t>
                </a:r>
                <a:r>
                  <a:rPr dirty="0" err="1"/>
                  <a:t>recesión</a:t>
                </a:r>
                <a:r>
                  <a:rPr dirty="0"/>
                  <a:t> </a:t>
                </a:r>
                <a:r>
                  <a:rPr dirty="0" err="1"/>
                  <a:t>económica</a:t>
                </a:r>
                <a:r>
                  <a:rPr dirty="0"/>
                  <a:t>, Y &lt; Y*).</a:t>
                </a:r>
              </a:p>
              <a:p>
                <a:pPr>
                  <a:spcAft>
                    <a:spcPts val="600"/>
                  </a:spcAft>
                  <a:defRPr sz="16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• Ley de Okun: </a:t>
                </a:r>
                <a:r>
                  <a:rPr dirty="0" err="1"/>
                  <a:t>Relación</a:t>
                </a:r>
                <a:r>
                  <a:rPr dirty="0"/>
                  <a:t> </a:t>
                </a:r>
                <a:r>
                  <a:rPr dirty="0" err="1"/>
                  <a:t>empírica</a:t>
                </a:r>
                <a:r>
                  <a:rPr dirty="0"/>
                  <a:t> </a:t>
                </a:r>
                <a:r>
                  <a:rPr dirty="0" err="1"/>
                  <a:t>inversa</a:t>
                </a:r>
                <a:r>
                  <a:rPr dirty="0"/>
                  <a:t> entre el </a:t>
                </a:r>
                <a:r>
                  <a:rPr dirty="0" err="1"/>
                  <a:t>crecimiento</a:t>
                </a:r>
                <a:r>
                  <a:rPr dirty="0"/>
                  <a:t> del PIB y la </a:t>
                </a:r>
                <a:r>
                  <a:rPr dirty="0" err="1"/>
                  <a:t>variación</a:t>
                </a:r>
                <a:r>
                  <a:rPr dirty="0"/>
                  <a:t> de la </a:t>
                </a:r>
                <a:r>
                  <a:rPr dirty="0" err="1"/>
                  <a:t>tasa</a:t>
                </a:r>
                <a:r>
                  <a:rPr dirty="0"/>
                  <a:t> de </a:t>
                </a:r>
                <a:r>
                  <a:rPr dirty="0" err="1"/>
                  <a:t>paro</a:t>
                </a:r>
                <a:r>
                  <a:rPr dirty="0"/>
                  <a:t>. En España se </a:t>
                </a:r>
                <a:r>
                  <a:rPr dirty="0" err="1"/>
                  <a:t>requiere</a:t>
                </a:r>
                <a:r>
                  <a:rPr dirty="0"/>
                  <a:t> </a:t>
                </a:r>
                <a:r>
                  <a:rPr dirty="0" err="1"/>
                  <a:t>crecer</a:t>
                </a:r>
                <a:r>
                  <a:rPr dirty="0"/>
                  <a:t> </a:t>
                </a:r>
                <a:r>
                  <a:rPr dirty="0" err="1"/>
                  <a:t>más</a:t>
                </a:r>
                <a:r>
                  <a:rPr dirty="0"/>
                  <a:t> del 1,5% para </a:t>
                </a:r>
                <a:r>
                  <a:rPr dirty="0" err="1"/>
                  <a:t>generar</a:t>
                </a:r>
                <a:r>
                  <a:rPr dirty="0"/>
                  <a:t> </a:t>
                </a:r>
                <a:r>
                  <a:rPr dirty="0" err="1"/>
                  <a:t>empleo</a:t>
                </a:r>
                <a:r>
                  <a:rPr dirty="0"/>
                  <a:t> </a:t>
                </a:r>
                <a:r>
                  <a:rPr dirty="0" err="1"/>
                  <a:t>neto</a:t>
                </a:r>
                <a:r>
                  <a:rPr dirty="0"/>
                  <a:t>.</a:t>
                </a:r>
              </a:p>
              <a:p>
                <a:pPr>
                  <a:defRPr sz="16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• </a:t>
                </a:r>
                <a:r>
                  <a:rPr dirty="0" err="1"/>
                  <a:t>Políticas</a:t>
                </a:r>
                <a:r>
                  <a:rPr dirty="0"/>
                  <a:t> de </a:t>
                </a:r>
                <a:r>
                  <a:rPr dirty="0" err="1"/>
                  <a:t>estabilización</a:t>
                </a:r>
                <a:r>
                  <a:rPr dirty="0"/>
                  <a:t>: Política fiscal </a:t>
                </a:r>
                <a:r>
                  <a:rPr dirty="0" err="1"/>
                  <a:t>expansiva</a:t>
                </a:r>
                <a:r>
                  <a:rPr dirty="0"/>
                  <a:t> y </a:t>
                </a:r>
                <a:r>
                  <a:rPr dirty="0" err="1"/>
                  <a:t>política</a:t>
                </a:r>
                <a:r>
                  <a:rPr dirty="0"/>
                  <a:t> </a:t>
                </a:r>
                <a:r>
                  <a:rPr dirty="0" err="1"/>
                  <a:t>monetaria</a:t>
                </a:r>
                <a:r>
                  <a:rPr dirty="0"/>
                  <a:t> </a:t>
                </a:r>
                <a:r>
                  <a:rPr dirty="0" err="1"/>
                  <a:t>acomodaticia</a:t>
                </a:r>
                <a:r>
                  <a:rPr dirty="0"/>
                  <a:t>. ¡</a:t>
                </a:r>
                <a:r>
                  <a:rPr dirty="0" err="1"/>
                  <a:t>Alerta</a:t>
                </a:r>
                <a:r>
                  <a:rPr dirty="0"/>
                  <a:t>! El </a:t>
                </a:r>
                <a:r>
                  <a:rPr dirty="0" err="1"/>
                  <a:t>estímulo</a:t>
                </a:r>
                <a:r>
                  <a:rPr dirty="0"/>
                  <a:t> macro </a:t>
                </a:r>
                <a:r>
                  <a:rPr dirty="0" err="1"/>
                  <a:t>fracasa</a:t>
                </a:r>
                <a:r>
                  <a:rPr dirty="0"/>
                  <a:t> </a:t>
                </a:r>
                <a:r>
                  <a:rPr dirty="0" err="1"/>
                  <a:t>si</a:t>
                </a:r>
                <a:r>
                  <a:rPr dirty="0"/>
                  <a:t> el </a:t>
                </a:r>
                <a:r>
                  <a:rPr dirty="0" err="1"/>
                  <a:t>problema</a:t>
                </a:r>
                <a:r>
                  <a:rPr dirty="0"/>
                  <a:t> de </a:t>
                </a:r>
                <a:r>
                  <a:rPr dirty="0" err="1"/>
                  <a:t>fondo</a:t>
                </a:r>
                <a:r>
                  <a:rPr dirty="0"/>
                  <a:t> es </a:t>
                </a:r>
                <a:r>
                  <a:rPr dirty="0" err="1"/>
                  <a:t>estructural</a:t>
                </a:r>
                <a:r>
                  <a:rPr dirty="0"/>
                  <a:t>.</a:t>
                </a: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7920" y="1645920"/>
                <a:ext cx="5394960" cy="438912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113927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3 · LA TASA NATURAL DE DESEMPLEO (NAIRU)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El Ancla Estructural del Mercado de Trabajo: Concepto y Descomposición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6639125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F3A30"/>
                </a:solidFill>
                <a:latin typeface="Calibri"/>
              </a:defRPr>
            </a:pPr>
            <a:r>
              <a:rPr dirty="0"/>
              <a:t>Non-Accelerating Inflation Rate of Unemployment</a:t>
            </a:r>
            <a:r>
              <a:rPr lang="es-ES" dirty="0"/>
              <a:t> (NAIRU)</a:t>
            </a:r>
            <a:r>
              <a:rPr dirty="0"/>
              <a:t>: </a:t>
            </a:r>
            <a:r>
              <a:rPr dirty="0" err="1"/>
              <a:t>equilibrio</a:t>
            </a:r>
            <a:r>
              <a:rPr dirty="0"/>
              <a:t> </a:t>
            </a:r>
            <a:r>
              <a:rPr dirty="0" err="1"/>
              <a:t>dinámico</a:t>
            </a:r>
            <a:r>
              <a:rPr dirty="0"/>
              <a:t>, no </a:t>
            </a:r>
            <a:r>
              <a:rPr dirty="0" err="1"/>
              <a:t>óptimo</a:t>
            </a:r>
            <a:r>
              <a:rPr dirty="0"/>
              <a:t> social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61288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E7162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E7162"/>
                </a:solidFill>
                <a:latin typeface="Calibri"/>
              </a:defRPr>
            </a:pPr>
            <a:r>
              <a:t>8 /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/>
              <p:cNvSpPr/>
              <p:nvPr/>
            </p:nvSpPr>
            <p:spPr>
              <a:xfrm>
                <a:off x="548640" y="1645920"/>
                <a:ext cx="5394960" cy="4389120"/>
              </a:xfrm>
              <a:prstGeom prst="roundRect">
                <a:avLst/>
              </a:prstGeom>
              <a:solidFill>
                <a:srgbClr val="F4F8F5"/>
              </a:solidFill>
              <a:ln w="19050">
                <a:solidFill>
                  <a:srgbClr val="113927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201168" tIns="182880" rIns="201168" rtlCol="0" anchor="ctr"/>
              <a:lstStyle/>
              <a:p>
                <a:pPr algn="ctr">
                  <a:spcAft>
                    <a:spcPts val="800"/>
                  </a:spcAft>
                  <a:defRPr sz="1700" b="1">
                    <a:solidFill>
                      <a:srgbClr val="113927"/>
                    </a:solidFill>
                    <a:latin typeface="Outfit"/>
                  </a:defRPr>
                </a:pPr>
                <a:r>
                  <a:rPr lang="es-ES" dirty="0"/>
                  <a:t>1. CONCEPTO Y DESCOMPOSICIÓN FORMAL</a:t>
                </a:r>
              </a:p>
              <a:p>
                <a:pPr>
                  <a:spcAft>
                    <a:spcPts val="400"/>
                  </a:spcAft>
                  <a:defRPr sz="1600">
                    <a:solidFill>
                      <a:srgbClr val="2F3A30"/>
                    </a:solidFill>
                    <a:latin typeface="Calibri"/>
                  </a:defRPr>
                </a:pPr>
                <a:r>
                  <a:rPr lang="es-ES" dirty="0"/>
                  <a:t>• </a:t>
                </a:r>
                <a:r>
                  <a:rPr lang="es-ES" dirty="0" err="1"/>
                  <a:t>Definición</a:t>
                </a:r>
                <a:r>
                  <a:rPr lang="es-ES" dirty="0"/>
                  <a:t> de NAIRU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ar-AE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ar-AE" dirty="0"/>
                  <a:t>): </a:t>
                </a:r>
                <a:r>
                  <a:rPr lang="es-ES" dirty="0"/>
                  <a:t>Nivel de </a:t>
                </a:r>
                <a:r>
                  <a:rPr lang="es-ES" dirty="0" err="1"/>
                  <a:t>desempleo</a:t>
                </a:r>
                <a:r>
                  <a:rPr lang="es-ES" dirty="0"/>
                  <a:t> compatible con </a:t>
                </a:r>
                <a:r>
                  <a:rPr lang="es-ES" dirty="0" err="1"/>
                  <a:t>una</a:t>
                </a:r>
                <a:r>
                  <a:rPr lang="es-ES" dirty="0"/>
                  <a:t> </a:t>
                </a:r>
                <a:r>
                  <a:rPr lang="es-ES" dirty="0" err="1"/>
                  <a:t>tasa</a:t>
                </a:r>
                <a:r>
                  <a:rPr lang="es-ES" dirty="0"/>
                  <a:t> de </a:t>
                </a:r>
                <a:r>
                  <a:rPr lang="es-ES" dirty="0" err="1"/>
                  <a:t>inflación</a:t>
                </a:r>
                <a:r>
                  <a:rPr lang="es-ES" dirty="0"/>
                  <a:t> </a:t>
                </a:r>
                <a:r>
                  <a:rPr lang="es-ES" dirty="0" err="1"/>
                  <a:t>constante</a:t>
                </a:r>
                <a:r>
                  <a:rPr lang="es-ES" dirty="0"/>
                  <a:t> y </a:t>
                </a:r>
                <a:r>
                  <a:rPr lang="es-ES" dirty="0" err="1"/>
                  <a:t>estable</a:t>
                </a:r>
                <a:r>
                  <a:rPr lang="es-ES" dirty="0"/>
                  <a:t>. Es la </a:t>
                </a:r>
                <a:r>
                  <a:rPr lang="es-ES" dirty="0" err="1"/>
                  <a:t>suma</a:t>
                </a:r>
                <a:r>
                  <a:rPr lang="es-ES" dirty="0"/>
                  <a:t> del </a:t>
                </a:r>
                <a:r>
                  <a:rPr lang="es-ES" dirty="0" err="1"/>
                  <a:t>desempleo</a:t>
                </a:r>
                <a:r>
                  <a:rPr lang="es-ES" dirty="0"/>
                  <a:t> </a:t>
                </a:r>
                <a:r>
                  <a:rPr lang="es-ES" dirty="0" err="1"/>
                  <a:t>friccional</a:t>
                </a:r>
                <a:r>
                  <a:rPr lang="es-ES" dirty="0"/>
                  <a:t> y el </a:t>
                </a:r>
                <a:r>
                  <a:rPr lang="es-ES" dirty="0" err="1"/>
                  <a:t>estructural</a:t>
                </a:r>
                <a:r>
                  <a:rPr lang="es-ES" dirty="0"/>
                  <a:t>:</a:t>
                </a:r>
              </a:p>
              <a:p>
                <a:pPr algn="ctr">
                  <a:spcAft>
                    <a:spcPts val="600"/>
                  </a:spcAft>
                  <a:defRPr sz="1800" b="1">
                    <a:solidFill>
                      <a:srgbClr val="E98F71"/>
                    </a:solidFill>
                    <a:latin typeface="Outfit"/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 dirty="0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ar-AE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ar-AE" i="1" dirty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ar-AE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 dirty="0" err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ar-AE" i="1" dirty="0" err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ar-AE" i="1" dirty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ar-AE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 dirty="0" err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ar-AE" i="1" dirty="0" err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>
                  <a:defRPr sz="1600">
                    <a:solidFill>
                      <a:srgbClr val="2F3A30"/>
                    </a:solidFill>
                    <a:latin typeface="Calibri"/>
                  </a:defRPr>
                </a:pPr>
                <a:r>
                  <a:rPr lang="ar-AE" dirty="0"/>
                  <a:t>• </a:t>
                </a:r>
                <a:r>
                  <a:rPr lang="es-ES" dirty="0" err="1"/>
                  <a:t>Descomposición</a:t>
                </a:r>
                <a:r>
                  <a:rPr lang="es-ES" dirty="0"/>
                  <a:t> del </a:t>
                </a:r>
                <a:r>
                  <a:rPr lang="es-ES" dirty="0" err="1"/>
                  <a:t>Desempleo</a:t>
                </a:r>
                <a:r>
                  <a:rPr lang="es-ES" dirty="0"/>
                  <a:t> </a:t>
                </a:r>
                <a:r>
                  <a:rPr lang="es-ES" dirty="0" err="1"/>
                  <a:t>Observado</a:t>
                </a:r>
                <a:r>
                  <a:rPr lang="es-ES" dirty="0"/>
                  <a:t>:</a:t>
                </a:r>
              </a:p>
              <a:p>
                <a:pPr algn="ctr">
                  <a:spcAft>
                    <a:spcPts val="600"/>
                  </a:spcAft>
                  <a:defRPr sz="1700" b="1">
                    <a:solidFill>
                      <a:srgbClr val="113927"/>
                    </a:solidFill>
                    <a:latin typeface="Outfit"/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 dirty="0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ar-AE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 i="1" dirty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ar-AE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 dirty="0" err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ar-AE" i="1" dirty="0" err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ar-AE" i="1" dirty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ar-A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 dirty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s-ES" b="1" i="1" dirty="0" smtClean="0"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s-ES" b="1" i="1" dirty="0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s-ES" b="1" i="1" dirty="0" smtClean="0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ar-AE" i="1" dirty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ar-AE" i="1" dirty="0" err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 dirty="0" err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ar-AE" i="1" dirty="0" err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ar-AE" i="1" dirty="0"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ar-AE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 dirty="0" err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ar-AE" i="1" dirty="0" err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d>
                      <m:r>
                        <a:rPr lang="ar-AE" i="1" dirty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ar-A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 dirty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s-ES" b="1" i="1" dirty="0" smtClean="0"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s-ES" b="1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b="1" i="1" dirty="0" smtClean="0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>
                  <a:defRPr sz="1550">
                    <a:solidFill>
                      <a:srgbClr val="2F3A30"/>
                    </a:solidFill>
                    <a:latin typeface="Calibri"/>
                  </a:defRPr>
                </a:pPr>
                <a:r>
                  <a:rPr lang="ar-AE" dirty="0"/>
                  <a:t>• </a:t>
                </a:r>
                <a:r>
                  <a:rPr lang="es-ES" dirty="0"/>
                  <a:t>Brecha </a:t>
                </a:r>
                <a:r>
                  <a:rPr lang="es-ES" dirty="0" err="1"/>
                  <a:t>Cíclica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ES" i="1" dirty="0" err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i="1" dirty="0" err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s-ES" i="1" dirty="0" err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s-ES" i="1" dirty="0">
                            <a:latin typeface="Cambria Math" panose="02040503050406030204" pitchFamily="18" charset="0"/>
                          </a:rPr>
                          <m:t>− </m:t>
                        </m:r>
                        <m:sSub>
                          <m:sSubPr>
                            <m:ctrlPr>
                              <a:rPr lang="es-ES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i="1" dirty="0" err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s-ES" i="1" dirty="0" err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s-ES" dirty="0"/>
                  <a:t>: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s-ES" i="1" dirty="0">
                        <a:latin typeface="Cambria Math" panose="02040503050406030204" pitchFamily="18" charset="0"/>
                      </a:rPr>
                      <m:t>&gt; </m:t>
                    </m:r>
                    <m:sSub>
                      <m:sSubPr>
                        <m:ctrlPr>
                          <a:rPr lang="es-ES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err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s-ES" dirty="0"/>
                  <a:t>, hay </a:t>
                </a:r>
                <a:r>
                  <a:rPr lang="es-ES" dirty="0" err="1"/>
                  <a:t>holgura</a:t>
                </a:r>
                <a:r>
                  <a:rPr lang="es-ES" dirty="0"/>
                  <a:t> y </a:t>
                </a:r>
                <a:r>
                  <a:rPr lang="es-ES" dirty="0" err="1"/>
                  <a:t>desempleo</a:t>
                </a:r>
                <a:r>
                  <a:rPr lang="es-ES" dirty="0"/>
                  <a:t> </a:t>
                </a:r>
                <a:r>
                  <a:rPr lang="es-ES" dirty="0" err="1"/>
                  <a:t>cíclico</a:t>
                </a:r>
                <a:r>
                  <a:rPr lang="es-ES" dirty="0"/>
                  <a:t> (</a:t>
                </a:r>
                <a:r>
                  <a:rPr lang="es-ES" dirty="0" err="1"/>
                  <a:t>recesión</a:t>
                </a:r>
                <a:r>
                  <a:rPr lang="es-ES" dirty="0"/>
                  <a:t>).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s-ES" i="1" dirty="0">
                        <a:latin typeface="Cambria Math" panose="02040503050406030204" pitchFamily="18" charset="0"/>
                      </a:rPr>
                      <m:t>&lt; </m:t>
                    </m:r>
                    <m:sSub>
                      <m:sSubPr>
                        <m:ctrlPr>
                          <a:rPr lang="es-ES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err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sobrecalentamiento</a:t>
                </a:r>
                <a:r>
                  <a:rPr lang="es-ES" dirty="0"/>
                  <a:t> y </a:t>
                </a:r>
                <a:r>
                  <a:rPr lang="es-ES" dirty="0" err="1"/>
                  <a:t>tensiones</a:t>
                </a:r>
                <a:r>
                  <a:rPr lang="es-ES" dirty="0"/>
                  <a:t> </a:t>
                </a:r>
                <a:r>
                  <a:rPr lang="es-ES" dirty="0" err="1"/>
                  <a:t>salariales</a:t>
                </a:r>
                <a:r>
                  <a:rPr lang="es-ES" dirty="0"/>
                  <a:t> </a:t>
                </a:r>
                <a:r>
                  <a:rPr lang="es-ES" dirty="0" err="1"/>
                  <a:t>inflacionistas</a:t>
                </a:r>
                <a:r>
                  <a:rPr lang="es-ES" dirty="0"/>
                  <a:t>.</a:t>
                </a:r>
                <a:endParaRPr dirty="0"/>
              </a:p>
            </p:txBody>
          </p:sp>
        </mc:Choice>
        <mc:Fallback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645920"/>
                <a:ext cx="5394960" cy="43891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113927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rtlCol="0" anchor="ctr"/>
          <a:lstStyle/>
          <a:p>
            <a:pPr algn="ctr">
              <a:spcAft>
                <a:spcPts val="800"/>
              </a:spcAft>
              <a:defRPr sz="1700" b="1">
                <a:solidFill>
                  <a:srgbClr val="76927A"/>
                </a:solidFill>
                <a:latin typeface="Outfit"/>
              </a:defRPr>
            </a:pPr>
            <a:r>
              <a:rPr dirty="0"/>
              <a:t>2. DETERMINANTES Y POLÍTICAS DE LA NAIRU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rPr dirty="0"/>
              <a:t>• No es </a:t>
            </a:r>
            <a:r>
              <a:rPr dirty="0" err="1"/>
              <a:t>fija</a:t>
            </a:r>
            <a:r>
              <a:rPr dirty="0"/>
              <a:t> </a:t>
            </a:r>
            <a:r>
              <a:rPr dirty="0" err="1"/>
              <a:t>ni</a:t>
            </a:r>
            <a:r>
              <a:rPr dirty="0"/>
              <a:t> </a:t>
            </a:r>
            <a:r>
              <a:rPr dirty="0" err="1"/>
              <a:t>óptima</a:t>
            </a:r>
            <a:r>
              <a:rPr dirty="0"/>
              <a:t>: </a:t>
            </a:r>
            <a:r>
              <a:rPr dirty="0" err="1"/>
              <a:t>Varía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el </a:t>
            </a:r>
            <a:r>
              <a:rPr dirty="0" err="1"/>
              <a:t>tiempo</a:t>
            </a:r>
            <a:r>
              <a:rPr dirty="0"/>
              <a:t> </a:t>
            </a:r>
            <a:r>
              <a:rPr dirty="0" err="1"/>
              <a:t>según</a:t>
            </a:r>
            <a:r>
              <a:rPr dirty="0"/>
              <a:t> la </a:t>
            </a:r>
            <a:r>
              <a:rPr dirty="0" err="1"/>
              <a:t>demografía</a:t>
            </a:r>
            <a:r>
              <a:rPr dirty="0"/>
              <a:t>, la </a:t>
            </a:r>
            <a:r>
              <a:rPr dirty="0" err="1"/>
              <a:t>innovación</a:t>
            </a:r>
            <a:r>
              <a:rPr dirty="0"/>
              <a:t> </a:t>
            </a:r>
            <a:r>
              <a:rPr dirty="0" err="1"/>
              <a:t>tecnológica</a:t>
            </a:r>
            <a:r>
              <a:rPr dirty="0"/>
              <a:t> y el </a:t>
            </a:r>
            <a:r>
              <a:rPr dirty="0" err="1"/>
              <a:t>marco</a:t>
            </a:r>
            <a:r>
              <a:rPr dirty="0"/>
              <a:t> </a:t>
            </a:r>
            <a:r>
              <a:rPr dirty="0" err="1"/>
              <a:t>regulatorio</a:t>
            </a:r>
            <a:r>
              <a:rPr dirty="0"/>
              <a:t> del mercado </a:t>
            </a:r>
            <a:r>
              <a:rPr dirty="0" err="1"/>
              <a:t>laboral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600" b="1">
                <a:solidFill>
                  <a:srgbClr val="113927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Causas</a:t>
            </a:r>
            <a:r>
              <a:rPr dirty="0"/>
              <a:t> del alto </a:t>
            </a:r>
            <a:r>
              <a:rPr dirty="0" err="1"/>
              <a:t>suelo</a:t>
            </a:r>
            <a:r>
              <a:rPr dirty="0"/>
              <a:t> </a:t>
            </a:r>
            <a:r>
              <a:rPr dirty="0" err="1"/>
              <a:t>español</a:t>
            </a:r>
            <a:r>
              <a:rPr dirty="0"/>
              <a:t> (~1</a:t>
            </a:r>
            <a:r>
              <a:rPr lang="es-ES" dirty="0"/>
              <a:t>1</a:t>
            </a:r>
            <a:r>
              <a:rPr dirty="0"/>
              <a:t>-1</a:t>
            </a:r>
            <a:r>
              <a:rPr lang="es-ES" dirty="0"/>
              <a:t>2</a:t>
            </a:r>
            <a:r>
              <a:rPr dirty="0"/>
              <a:t>%):</a:t>
            </a:r>
          </a:p>
          <a:p>
            <a:pPr>
              <a:spcAft>
                <a:spcPts val="600"/>
              </a:spcAft>
              <a:defRPr sz="1500">
                <a:solidFill>
                  <a:srgbClr val="2F3A30"/>
                </a:solidFill>
                <a:latin typeface="Calibri"/>
              </a:defRPr>
            </a:pPr>
            <a:r>
              <a:rPr dirty="0"/>
              <a:t>1. </a:t>
            </a:r>
            <a:r>
              <a:rPr dirty="0" err="1"/>
              <a:t>Dualidad</a:t>
            </a:r>
            <a:r>
              <a:rPr dirty="0"/>
              <a:t> contractual </a:t>
            </a:r>
            <a:r>
              <a:rPr dirty="0" err="1"/>
              <a:t>histórica</a:t>
            </a:r>
            <a:r>
              <a:rPr dirty="0"/>
              <a:t> (insiders </a:t>
            </a:r>
            <a:r>
              <a:rPr dirty="0" err="1"/>
              <a:t>indefinidos</a:t>
            </a:r>
            <a:r>
              <a:rPr dirty="0"/>
              <a:t> vs. outsiders </a:t>
            </a:r>
            <a:r>
              <a:rPr dirty="0" err="1"/>
              <a:t>temporales</a:t>
            </a:r>
            <a:r>
              <a:rPr dirty="0"/>
              <a:t> </a:t>
            </a:r>
            <a:r>
              <a:rPr dirty="0" err="1"/>
              <a:t>rotatorios</a:t>
            </a:r>
            <a:r>
              <a:rPr dirty="0"/>
              <a:t>).</a:t>
            </a:r>
            <a:br>
              <a:rPr dirty="0"/>
            </a:br>
            <a:r>
              <a:rPr dirty="0"/>
              <a:t>2. </a:t>
            </a:r>
            <a:r>
              <a:rPr dirty="0" err="1"/>
              <a:t>Negociación</a:t>
            </a:r>
            <a:r>
              <a:rPr dirty="0"/>
              <a:t> </a:t>
            </a:r>
            <a:r>
              <a:rPr dirty="0" err="1"/>
              <a:t>colectiva</a:t>
            </a:r>
            <a:r>
              <a:rPr dirty="0"/>
              <a:t> provincial/sectorial </a:t>
            </a:r>
            <a:r>
              <a:rPr dirty="0" err="1"/>
              <a:t>desvinculada</a:t>
            </a:r>
            <a:r>
              <a:rPr dirty="0"/>
              <a:t> de la </a:t>
            </a:r>
            <a:r>
              <a:rPr dirty="0" err="1"/>
              <a:t>productividad</a:t>
            </a:r>
            <a:r>
              <a:rPr dirty="0"/>
              <a:t> real de la </a:t>
            </a:r>
            <a:r>
              <a:rPr dirty="0" err="1"/>
              <a:t>empresa</a:t>
            </a:r>
            <a:r>
              <a:rPr dirty="0"/>
              <a:t>.</a:t>
            </a:r>
            <a:br>
              <a:rPr dirty="0"/>
            </a:br>
            <a:r>
              <a:rPr dirty="0"/>
              <a:t>3. </a:t>
            </a:r>
            <a:r>
              <a:rPr dirty="0" err="1"/>
              <a:t>Histórica</a:t>
            </a:r>
            <a:r>
              <a:rPr dirty="0"/>
              <a:t> baja </a:t>
            </a:r>
            <a:r>
              <a:rPr dirty="0" err="1"/>
              <a:t>eficacia</a:t>
            </a:r>
            <a:r>
              <a:rPr dirty="0"/>
              <a:t> de la </a:t>
            </a:r>
            <a:r>
              <a:rPr dirty="0" err="1"/>
              <a:t>intermediación</a:t>
            </a:r>
            <a:r>
              <a:rPr dirty="0"/>
              <a:t> </a:t>
            </a:r>
            <a:r>
              <a:rPr dirty="0" err="1"/>
              <a:t>pública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colocación</a:t>
            </a:r>
            <a:r>
              <a:rPr dirty="0"/>
              <a:t> </a:t>
            </a:r>
            <a:r>
              <a:rPr dirty="0" err="1"/>
              <a:t>laboral</a:t>
            </a:r>
            <a:r>
              <a:rPr dirty="0"/>
              <a:t> </a:t>
            </a:r>
            <a:r>
              <a:rPr dirty="0" err="1"/>
              <a:t>efectiva</a:t>
            </a:r>
            <a:r>
              <a:rPr dirty="0"/>
              <a:t>.</a:t>
            </a:r>
          </a:p>
          <a:p>
            <a:pPr>
              <a:defRPr sz="1500" b="1">
                <a:solidFill>
                  <a:srgbClr val="E98F71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Conclusión</a:t>
            </a:r>
            <a:r>
              <a:rPr dirty="0"/>
              <a:t>: La NAIRU solo se reduce con </a:t>
            </a:r>
            <a:r>
              <a:rPr dirty="0" err="1"/>
              <a:t>reformas</a:t>
            </a:r>
            <a:r>
              <a:rPr dirty="0"/>
              <a:t> </a:t>
            </a:r>
            <a:r>
              <a:rPr dirty="0" err="1"/>
              <a:t>estructurales</a:t>
            </a:r>
            <a:r>
              <a:rPr dirty="0"/>
              <a:t> y </a:t>
            </a:r>
            <a:r>
              <a:rPr dirty="0" err="1"/>
              <a:t>políticas</a:t>
            </a:r>
            <a:r>
              <a:rPr dirty="0"/>
              <a:t> </a:t>
            </a:r>
            <a:r>
              <a:rPr dirty="0" err="1"/>
              <a:t>activas</a:t>
            </a:r>
            <a:r>
              <a:rPr dirty="0"/>
              <a:t>, </a:t>
            </a:r>
            <a:r>
              <a:rPr dirty="0" err="1"/>
              <a:t>nunca</a:t>
            </a:r>
            <a:r>
              <a:rPr dirty="0"/>
              <a:t> con </a:t>
            </a:r>
            <a:r>
              <a:rPr dirty="0" err="1"/>
              <a:t>inyecciones</a:t>
            </a:r>
            <a:r>
              <a:rPr dirty="0"/>
              <a:t> de </a:t>
            </a:r>
            <a:r>
              <a:rPr dirty="0" err="1"/>
              <a:t>gasto</a:t>
            </a:r>
            <a:r>
              <a:rPr dirty="0"/>
              <a:t> </a:t>
            </a:r>
            <a:r>
              <a:rPr dirty="0" err="1"/>
              <a:t>público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3 · EVIDENCIA EMPÍRICA (1980–2024)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Tasa Observada y NAIRU: España frente a la Zona Euro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F3A30"/>
                </a:solidFill>
                <a:latin typeface="Calibri"/>
              </a:defRPr>
            </a:pPr>
            <a:r>
              <a:t>Figura 1.7 oficial de los apuntes: análisis de la brecha cíclica y el suelo estructural persistente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61288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E7162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E7162"/>
                </a:solidFill>
                <a:latin typeface="Calibri"/>
              </a:defRPr>
            </a:pPr>
            <a:r>
              <a:t>9 / 17</a:t>
            </a:r>
          </a:p>
        </p:txBody>
      </p:sp>
      <p:pic>
        <p:nvPicPr>
          <p:cNvPr id="8" name="Picture 7" descr="tasa_natural_nai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6309360" cy="4389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040880" y="1645920"/>
            <a:ext cx="457200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rPr sz="1400" dirty="0"/>
              <a:t>LECCIONES DE LA SERIE HISTÓRICA</a:t>
            </a:r>
          </a:p>
          <a:p>
            <a:pPr>
              <a:spcAft>
                <a:spcPts val="600"/>
              </a:spcAft>
              <a:defRPr sz="1500">
                <a:solidFill>
                  <a:srgbClr val="2F3A30"/>
                </a:solidFill>
                <a:latin typeface="Calibri"/>
              </a:defRPr>
            </a:pPr>
            <a:r>
              <a:rPr sz="1400" dirty="0"/>
              <a:t>• Suelo </a:t>
            </a:r>
            <a:r>
              <a:rPr sz="1400" dirty="0" err="1"/>
              <a:t>Estructural</a:t>
            </a:r>
            <a:r>
              <a:rPr sz="1400" dirty="0"/>
              <a:t> Elevado (Panel B): La NAIRU </a:t>
            </a:r>
            <a:r>
              <a:rPr sz="1400" dirty="0" err="1"/>
              <a:t>española</a:t>
            </a:r>
            <a:r>
              <a:rPr sz="1400" dirty="0"/>
              <a:t> </a:t>
            </a:r>
            <a:r>
              <a:rPr sz="1400" dirty="0" err="1"/>
              <a:t>promedia</a:t>
            </a:r>
            <a:r>
              <a:rPr sz="1400" dirty="0"/>
              <a:t> un 15,0%, </a:t>
            </a:r>
            <a:r>
              <a:rPr sz="1400" dirty="0" err="1"/>
              <a:t>prácticamente</a:t>
            </a:r>
            <a:r>
              <a:rPr sz="1400" dirty="0"/>
              <a:t> el doble </a:t>
            </a:r>
            <a:r>
              <a:rPr sz="1400" dirty="0" err="1"/>
              <a:t>que</a:t>
            </a:r>
            <a:r>
              <a:rPr sz="1400" dirty="0"/>
              <a:t> la media de la </a:t>
            </a:r>
            <a:r>
              <a:rPr sz="1400" dirty="0" err="1"/>
              <a:t>Eurozona</a:t>
            </a:r>
            <a:r>
              <a:rPr sz="1400" dirty="0"/>
              <a:t> (~7-9%, Panel A).</a:t>
            </a:r>
          </a:p>
          <a:p>
            <a:pPr>
              <a:spcAft>
                <a:spcPts val="600"/>
              </a:spcAft>
              <a:defRPr sz="1500">
                <a:solidFill>
                  <a:srgbClr val="2F3A30"/>
                </a:solidFill>
                <a:latin typeface="Calibri"/>
              </a:defRPr>
            </a:pPr>
            <a:r>
              <a:rPr sz="1400" dirty="0"/>
              <a:t>• Gran </a:t>
            </a:r>
            <a:r>
              <a:rPr sz="1400" dirty="0" err="1"/>
              <a:t>Recesión</a:t>
            </a:r>
            <a:r>
              <a:rPr sz="1400" dirty="0"/>
              <a:t> (2008–2013): El </a:t>
            </a:r>
            <a:r>
              <a:rPr sz="1400" dirty="0" err="1"/>
              <a:t>paro</a:t>
            </a:r>
            <a:r>
              <a:rPr sz="1400" dirty="0"/>
              <a:t> </a:t>
            </a:r>
            <a:r>
              <a:rPr sz="1400" dirty="0" err="1"/>
              <a:t>observado</a:t>
            </a:r>
            <a:r>
              <a:rPr sz="1400" dirty="0"/>
              <a:t> </a:t>
            </a:r>
            <a:r>
              <a:rPr sz="1400" dirty="0" err="1"/>
              <a:t>trepa</a:t>
            </a:r>
            <a:r>
              <a:rPr sz="1400" dirty="0"/>
              <a:t> al 26,1%, </a:t>
            </a:r>
            <a:r>
              <a:rPr sz="1400" dirty="0" err="1"/>
              <a:t>abriendo</a:t>
            </a:r>
            <a:r>
              <a:rPr sz="1400" dirty="0"/>
              <a:t> </a:t>
            </a:r>
            <a:r>
              <a:rPr sz="1400" dirty="0" err="1"/>
              <a:t>una</a:t>
            </a:r>
            <a:r>
              <a:rPr sz="1400" dirty="0"/>
              <a:t> </a:t>
            </a:r>
            <a:r>
              <a:rPr sz="1400" dirty="0" err="1"/>
              <a:t>brecha</a:t>
            </a:r>
            <a:r>
              <a:rPr sz="1400" dirty="0"/>
              <a:t> </a:t>
            </a:r>
            <a:r>
              <a:rPr sz="1400" dirty="0" err="1"/>
              <a:t>cíclica</a:t>
            </a:r>
            <a:r>
              <a:rPr sz="1400" dirty="0"/>
              <a:t> </a:t>
            </a:r>
            <a:r>
              <a:rPr sz="1400" dirty="0" err="1"/>
              <a:t>récord</a:t>
            </a:r>
            <a:r>
              <a:rPr sz="1400" dirty="0"/>
              <a:t> de +9,2 p.p. </a:t>
            </a:r>
            <a:r>
              <a:rPr sz="1400" dirty="0" err="1"/>
              <a:t>respecto</a:t>
            </a:r>
            <a:r>
              <a:rPr sz="1400" dirty="0"/>
              <a:t> a la NAIRU </a:t>
            </a:r>
            <a:r>
              <a:rPr sz="1400" dirty="0" err="1"/>
              <a:t>por</a:t>
            </a:r>
            <a:r>
              <a:rPr sz="1400" dirty="0"/>
              <a:t> el </a:t>
            </a:r>
            <a:r>
              <a:rPr sz="1400" dirty="0" err="1"/>
              <a:t>colapso</a:t>
            </a:r>
            <a:r>
              <a:rPr sz="1400" dirty="0"/>
              <a:t> del </a:t>
            </a:r>
            <a:r>
              <a:rPr sz="1400" dirty="0" err="1"/>
              <a:t>ladrillo</a:t>
            </a:r>
            <a:r>
              <a:rPr sz="1400" dirty="0"/>
              <a:t>.</a:t>
            </a:r>
          </a:p>
          <a:p>
            <a:pPr>
              <a:spcAft>
                <a:spcPts val="600"/>
              </a:spcAft>
              <a:defRPr sz="1500">
                <a:solidFill>
                  <a:srgbClr val="2F3A30"/>
                </a:solidFill>
                <a:latin typeface="Calibri"/>
              </a:defRPr>
            </a:pPr>
            <a:r>
              <a:rPr sz="1400" dirty="0"/>
              <a:t>• </a:t>
            </a:r>
            <a:r>
              <a:rPr sz="1400" dirty="0" err="1"/>
              <a:t>Burbuja</a:t>
            </a:r>
            <a:r>
              <a:rPr sz="1400" dirty="0"/>
              <a:t> y </a:t>
            </a:r>
            <a:r>
              <a:rPr sz="1400" dirty="0" err="1"/>
              <a:t>Sobrecalentamiento</a:t>
            </a:r>
            <a:r>
              <a:rPr sz="1400" dirty="0"/>
              <a:t> (2007): El </a:t>
            </a:r>
            <a:r>
              <a:rPr sz="1400" dirty="0" err="1"/>
              <a:t>paro</a:t>
            </a:r>
            <a:r>
              <a:rPr sz="1400" dirty="0"/>
              <a:t> </a:t>
            </a:r>
            <a:r>
              <a:rPr sz="1400" dirty="0" err="1"/>
              <a:t>cae</a:t>
            </a:r>
            <a:r>
              <a:rPr sz="1400" dirty="0"/>
              <a:t> al 8,2%, </a:t>
            </a:r>
            <a:r>
              <a:rPr sz="1400" dirty="0" err="1"/>
              <a:t>muy</a:t>
            </a:r>
            <a:r>
              <a:rPr sz="1400" dirty="0"/>
              <a:t> </a:t>
            </a:r>
            <a:r>
              <a:rPr sz="1400" dirty="0" err="1"/>
              <a:t>por</a:t>
            </a:r>
            <a:r>
              <a:rPr sz="1400" dirty="0"/>
              <a:t> </a:t>
            </a:r>
            <a:r>
              <a:rPr sz="1400" dirty="0" err="1"/>
              <a:t>debajo</a:t>
            </a:r>
            <a:r>
              <a:rPr sz="1400" dirty="0"/>
              <a:t> de la NAIRU (13,6%), </a:t>
            </a:r>
            <a:r>
              <a:rPr sz="1400" dirty="0" err="1"/>
              <a:t>generando</a:t>
            </a:r>
            <a:r>
              <a:rPr sz="1400" dirty="0"/>
              <a:t> </a:t>
            </a:r>
            <a:r>
              <a:rPr sz="1400" dirty="0" err="1"/>
              <a:t>déficit</a:t>
            </a:r>
            <a:r>
              <a:rPr sz="1400" dirty="0"/>
              <a:t> exterior y </a:t>
            </a:r>
            <a:r>
              <a:rPr sz="1400" dirty="0" err="1"/>
              <a:t>fuerte</a:t>
            </a:r>
            <a:r>
              <a:rPr sz="1400" dirty="0"/>
              <a:t> </a:t>
            </a:r>
            <a:r>
              <a:rPr sz="1400" dirty="0" err="1"/>
              <a:t>inflación</a:t>
            </a:r>
            <a:r>
              <a:rPr sz="1400" dirty="0"/>
              <a:t> </a:t>
            </a:r>
            <a:r>
              <a:rPr sz="1400" dirty="0" err="1"/>
              <a:t>salarial</a:t>
            </a:r>
            <a:r>
              <a:rPr sz="1400" dirty="0"/>
              <a:t>.</a:t>
            </a:r>
          </a:p>
          <a:p>
            <a:pPr>
              <a:defRPr sz="1500">
                <a:solidFill>
                  <a:srgbClr val="2F3A30"/>
                </a:solidFill>
                <a:latin typeface="Calibri"/>
              </a:defRPr>
            </a:pPr>
            <a:r>
              <a:rPr sz="1400" dirty="0"/>
              <a:t>• </a:t>
            </a:r>
            <a:r>
              <a:rPr sz="1400" dirty="0" err="1"/>
              <a:t>Mínimo</a:t>
            </a:r>
            <a:r>
              <a:rPr sz="1400" dirty="0"/>
              <a:t> de 16 </a:t>
            </a:r>
            <a:r>
              <a:rPr sz="1400" dirty="0" err="1"/>
              <a:t>años</a:t>
            </a:r>
            <a:r>
              <a:rPr sz="1400" dirty="0"/>
              <a:t> (2024: 11,4%): La </a:t>
            </a:r>
            <a:r>
              <a:rPr sz="1400" dirty="0" err="1"/>
              <a:t>tasa</a:t>
            </a:r>
            <a:r>
              <a:rPr sz="1400" dirty="0"/>
              <a:t> se </a:t>
            </a:r>
            <a:r>
              <a:rPr sz="1400" dirty="0" err="1"/>
              <a:t>sitúa</a:t>
            </a:r>
            <a:r>
              <a:rPr sz="1400" dirty="0"/>
              <a:t> </a:t>
            </a:r>
            <a:r>
              <a:rPr sz="1400" dirty="0" err="1"/>
              <a:t>cerca</a:t>
            </a:r>
            <a:r>
              <a:rPr sz="1400" dirty="0"/>
              <a:t> de </a:t>
            </a:r>
            <a:r>
              <a:rPr sz="1400" dirty="0" err="1"/>
              <a:t>su</a:t>
            </a:r>
            <a:r>
              <a:rPr sz="1400" dirty="0"/>
              <a:t> NAIRU </a:t>
            </a:r>
            <a:r>
              <a:rPr sz="1400" dirty="0" err="1"/>
              <a:t>estimada</a:t>
            </a:r>
            <a:r>
              <a:rPr sz="1400" dirty="0"/>
              <a:t> (12,8%), </a:t>
            </a:r>
            <a:r>
              <a:rPr sz="1400" dirty="0" err="1"/>
              <a:t>agotando</a:t>
            </a:r>
            <a:r>
              <a:rPr sz="1400" dirty="0"/>
              <a:t> el </a:t>
            </a:r>
            <a:r>
              <a:rPr sz="1400" dirty="0" err="1"/>
              <a:t>margen</a:t>
            </a:r>
            <a:r>
              <a:rPr sz="1400" dirty="0"/>
              <a:t> de </a:t>
            </a:r>
            <a:r>
              <a:rPr sz="1400" dirty="0" err="1"/>
              <a:t>estímulo</a:t>
            </a:r>
            <a:r>
              <a:rPr sz="1400" dirty="0"/>
              <a:t> </a:t>
            </a:r>
            <a:r>
              <a:rPr sz="1400" dirty="0" err="1"/>
              <a:t>puramente</a:t>
            </a:r>
            <a:r>
              <a:rPr sz="1400" dirty="0"/>
              <a:t> </a:t>
            </a:r>
            <a:r>
              <a:rPr sz="1400" dirty="0" err="1"/>
              <a:t>cíclico</a:t>
            </a:r>
            <a:r>
              <a:rPr sz="1400" dirty="0"/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3 · MODELO DE LA CURVA DE PHILLIPS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La Disyuntiva Desempleo-Inflación: Corto vs. Largo Plazo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F3A30"/>
                </a:solidFill>
                <a:latin typeface="Calibri"/>
              </a:defRPr>
            </a:pPr>
            <a:r>
              <a:t>Modelo aceleracionista de Friedman-Phelps: ajuste de expectativas y verticalidad a largo plazo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61288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E7162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E7162"/>
                </a:solidFill>
                <a:latin typeface="Calibri"/>
              </a:defRPr>
            </a:pPr>
            <a:r>
              <a:t>10 / 17</a:t>
            </a:r>
          </a:p>
        </p:txBody>
      </p:sp>
      <p:pic>
        <p:nvPicPr>
          <p:cNvPr id="8" name="Picture 7" descr="curva_phillips_d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965960"/>
            <a:ext cx="6309360" cy="32186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7040880" y="1645920"/>
                <a:ext cx="4572000" cy="4389120"/>
              </a:xfrm>
              <a:prstGeom prst="roundRect">
                <a:avLst/>
              </a:prstGeom>
              <a:solidFill>
                <a:srgbClr val="F4F8F5"/>
              </a:solidFill>
              <a:ln w="19050">
                <a:solidFill>
                  <a:srgbClr val="E98F7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82880" tIns="164592" rIns="182880" rtlCol="0" anchor="ctr"/>
              <a:lstStyle/>
              <a:p>
                <a:pPr algn="ctr">
                  <a:spcAft>
                    <a:spcPts val="600"/>
                  </a:spcAft>
                  <a:defRPr sz="1600" b="1">
                    <a:solidFill>
                      <a:srgbClr val="E98F71"/>
                    </a:solidFill>
                    <a:latin typeface="Outfit"/>
                  </a:defRPr>
                </a:pPr>
                <a:r>
                  <a:rPr dirty="0"/>
                  <a:t>MECANISMO DE EXPECTATIVAS (PANEL A)</a:t>
                </a:r>
              </a:p>
              <a:p>
                <a:pPr>
                  <a:defRPr sz="15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 err="1"/>
                  <a:t>Fórmula</a:t>
                </a:r>
                <a:r>
                  <a:rPr dirty="0"/>
                  <a:t> </a:t>
                </a:r>
                <a:r>
                  <a:rPr dirty="0" err="1"/>
                  <a:t>Aceleracionista</a:t>
                </a:r>
                <a:r>
                  <a:rPr dirty="0"/>
                  <a:t> de Phillips:</a:t>
                </a:r>
              </a:p>
              <a:p>
                <a:pPr algn="ctr">
                  <a:spcAft>
                    <a:spcPts val="600"/>
                  </a:spcAft>
                  <a:defRPr sz="1700" b="1">
                    <a:solidFill>
                      <a:srgbClr val="113927"/>
                    </a:solidFill>
                    <a:latin typeface="Outfit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  <m:r>
                      <a:rPr lang="es-ES" i="1" dirty="0" smtClean="0">
                        <a:latin typeface="Cambria Math" panose="02040503050406030204" pitchFamily="18" charset="0"/>
                      </a:rPr>
                      <m:t>= </m:t>
                    </m:r>
                    <m:sSubSup>
                      <m:sSubSup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s-ES" i="1" dirty="0" err="1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  <m:sup>
                        <m:r>
                          <a:rPr lang="es-ES" i="1" dirty="0" err="1"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bSup>
                    <m:r>
                      <a:rPr lang="es-ES" i="1" dirty="0">
                        <a:latin typeface="Cambria Math" panose="02040503050406030204" pitchFamily="18" charset="0"/>
                      </a:rPr>
                      <m:t>− </m:t>
                    </m:r>
                    <m:r>
                      <a:rPr lang="es-ES" i="1" dirty="0">
                        <a:latin typeface="Cambria Math" panose="02040503050406030204" pitchFamily="18" charset="0"/>
                      </a:rPr>
                      <m:t>𝜷</m:t>
                    </m:r>
                    <m:d>
                      <m:dPr>
                        <m:ctrlPr>
                          <a:rPr lang="es-ES" i="1" dirty="0" err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i="1" dirty="0" err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b>
                            <m:r>
                              <a:rPr lang="es-ES" i="1" dirty="0" err="1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  <m:r>
                          <a:rPr lang="es-ES" i="1" dirty="0">
                            <a:latin typeface="Cambria Math" panose="02040503050406030204" pitchFamily="18" charset="0"/>
                          </a:rPr>
                          <m:t>− </m:t>
                        </m:r>
                        <m:sSub>
                          <m:sSubPr>
                            <m:ctrlPr>
                              <a:rPr lang="es-ES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i="1" dirty="0" err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b>
                            <m:r>
                              <a:rPr lang="es-ES" i="1" dirty="0" err="1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b>
                        </m:sSub>
                      </m:e>
                    </m:d>
                    <m:r>
                      <a:rPr lang="es-ES" i="1" dirty="0">
                        <a:latin typeface="Cambria Math" panose="02040503050406030204" pitchFamily="18" charset="0"/>
                      </a:rPr>
                      <m:t>+ </m:t>
                    </m:r>
                    <m:sSub>
                      <m:sSubPr>
                        <m:ctrlPr>
                          <a:rPr lang="es-ES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err="1">
                            <a:latin typeface="Cambria Math" panose="02040503050406030204" pitchFamily="18" charset="0"/>
                          </a:rPr>
                          <m:t>𝝂</m:t>
                        </m:r>
                      </m:e>
                      <m:sub>
                        <m:r>
                          <a:rPr lang="es-ES" i="1" dirty="0" err="1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</a:p>
              <a:p>
                <a:pPr>
                  <a:spcAft>
                    <a:spcPts val="500"/>
                  </a:spcAft>
                  <a:defRPr sz="15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1. Choque </a:t>
                </a:r>
                <a:r>
                  <a:rPr dirty="0" err="1"/>
                  <a:t>Inicial</a:t>
                </a:r>
                <a:r>
                  <a:rPr dirty="0"/>
                  <a:t> (A ➔ B): El </a:t>
                </a:r>
                <a:r>
                  <a:rPr dirty="0" err="1"/>
                  <a:t>estímulo</a:t>
                </a:r>
                <a:r>
                  <a:rPr dirty="0"/>
                  <a:t> </a:t>
                </a:r>
                <a:r>
                  <a:rPr dirty="0" err="1"/>
                  <a:t>sitúa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" i="1" dirty="0" smtClean="0">
                        <a:latin typeface="Cambria Math" panose="02040503050406030204" pitchFamily="18" charset="0"/>
                      </a:rPr>
                      <m:t>&lt; </m:t>
                    </m:r>
                    <m:sSub>
                      <m:sSubPr>
                        <m:ctrlPr>
                          <a:rPr lang="es-ES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err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. A corto </a:t>
                </a:r>
                <a:r>
                  <a:rPr dirty="0" err="1"/>
                  <a:t>plazo</a:t>
                </a:r>
                <a:r>
                  <a:rPr dirty="0"/>
                  <a:t> el </a:t>
                </a:r>
                <a:r>
                  <a:rPr dirty="0" err="1"/>
                  <a:t>desempleo</a:t>
                </a:r>
                <a:r>
                  <a:rPr dirty="0"/>
                  <a:t> baja, </a:t>
                </a:r>
                <a:r>
                  <a:rPr dirty="0" err="1"/>
                  <a:t>pero</a:t>
                </a:r>
                <a:r>
                  <a:rPr dirty="0"/>
                  <a:t> la </a:t>
                </a:r>
                <a:r>
                  <a:rPr dirty="0" err="1"/>
                  <a:t>inflación</a:t>
                </a:r>
                <a:r>
                  <a:rPr dirty="0"/>
                  <a:t> se </a:t>
                </a:r>
                <a:r>
                  <a:rPr dirty="0" err="1"/>
                  <a:t>dispara</a:t>
                </a:r>
                <a:r>
                  <a:rPr dirty="0"/>
                  <a:t>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s-ES" i="1" dirty="0" smtClean="0">
                        <a:latin typeface="Cambria Math" panose="02040503050406030204" pitchFamily="18" charset="0"/>
                      </a:rPr>
                      <m:t>= 5%</m:t>
                    </m:r>
                  </m:oMath>
                </a14:m>
                <a:r>
                  <a:rPr dirty="0"/>
                  <a:t>.</a:t>
                </a:r>
              </a:p>
              <a:p>
                <a:pPr>
                  <a:spcAft>
                    <a:spcPts val="500"/>
                  </a:spcAft>
                  <a:defRPr sz="15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2. </a:t>
                </a:r>
                <a:r>
                  <a:rPr dirty="0" err="1"/>
                  <a:t>Ajuste</a:t>
                </a:r>
                <a:r>
                  <a:rPr dirty="0"/>
                  <a:t> de </a:t>
                </a:r>
                <a:r>
                  <a:rPr dirty="0" err="1"/>
                  <a:t>Expectativas</a:t>
                </a:r>
                <a:r>
                  <a:rPr dirty="0"/>
                  <a:t> (B ➔ C): Los </a:t>
                </a:r>
                <a:r>
                  <a:rPr dirty="0" err="1"/>
                  <a:t>trabajadores</a:t>
                </a:r>
                <a:r>
                  <a:rPr dirty="0"/>
                  <a:t> </a:t>
                </a:r>
                <a:r>
                  <a:rPr dirty="0" err="1"/>
                  <a:t>exigen</a:t>
                </a:r>
                <a:r>
                  <a:rPr dirty="0"/>
                  <a:t> </a:t>
                </a:r>
                <a:r>
                  <a:rPr dirty="0" err="1"/>
                  <a:t>alzas</a:t>
                </a:r>
                <a:r>
                  <a:rPr dirty="0"/>
                  <a:t> </a:t>
                </a:r>
                <a:r>
                  <a:rPr dirty="0" err="1"/>
                  <a:t>salariales</a:t>
                </a:r>
                <a:r>
                  <a:rPr dirty="0"/>
                  <a:t> </a:t>
                </a:r>
                <a:r>
                  <a:rPr dirty="0" err="1"/>
                  <a:t>según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  <m:r>
                      <a:rPr lang="es-ES" i="1" dirty="0" smtClean="0">
                        <a:latin typeface="Cambria Math" panose="02040503050406030204" pitchFamily="18" charset="0"/>
                      </a:rPr>
                      <m:t>= 5%</m:t>
                    </m:r>
                  </m:oMath>
                </a14:m>
                <a:r>
                  <a:rPr dirty="0"/>
                  <a:t>. La curva de corto </a:t>
                </a:r>
                <a:r>
                  <a:rPr dirty="0" err="1"/>
                  <a:t>plazo</a:t>
                </a:r>
                <a:r>
                  <a:rPr dirty="0"/>
                  <a:t> se </a:t>
                </a:r>
                <a:r>
                  <a:rPr dirty="0" err="1"/>
                  <a:t>desplaza</a:t>
                </a:r>
                <a:r>
                  <a:rPr dirty="0"/>
                  <a:t> </a:t>
                </a:r>
                <a:r>
                  <a:rPr dirty="0" err="1"/>
                  <a:t>arriba</a:t>
                </a:r>
                <a:r>
                  <a:rPr dirty="0"/>
                  <a:t>.</a:t>
                </a:r>
              </a:p>
              <a:p>
                <a:pPr>
                  <a:defRPr sz="15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3. Largo </a:t>
                </a:r>
                <a:r>
                  <a:rPr dirty="0" err="1"/>
                  <a:t>Plazo</a:t>
                </a:r>
                <a:r>
                  <a:rPr dirty="0"/>
                  <a:t> (Punto C): El </a:t>
                </a:r>
                <a:r>
                  <a:rPr dirty="0" err="1"/>
                  <a:t>paro</a:t>
                </a:r>
                <a:r>
                  <a:rPr dirty="0"/>
                  <a:t> </a:t>
                </a:r>
                <a:r>
                  <a:rPr dirty="0" err="1"/>
                  <a:t>regresa</a:t>
                </a:r>
                <a:r>
                  <a:rPr dirty="0"/>
                  <a:t> </a:t>
                </a:r>
                <a:r>
                  <a:rPr dirty="0" err="1"/>
                  <a:t>forzosamente</a:t>
                </a:r>
                <a:r>
                  <a:rPr dirty="0"/>
                  <a:t> a la NAIRU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), </a:t>
                </a:r>
                <a:r>
                  <a:rPr dirty="0" err="1"/>
                  <a:t>pero</a:t>
                </a:r>
                <a:r>
                  <a:rPr dirty="0"/>
                  <a:t> con </a:t>
                </a:r>
                <a:r>
                  <a:rPr dirty="0" err="1"/>
                  <a:t>inflación</a:t>
                </a:r>
                <a:r>
                  <a:rPr dirty="0"/>
                  <a:t> </a:t>
                </a:r>
                <a:r>
                  <a:rPr dirty="0" err="1"/>
                  <a:t>permanente</a:t>
                </a:r>
                <a:r>
                  <a:rPr dirty="0"/>
                  <a:t> del 5%. La curva LP es vertical.</a:t>
                </a: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0880" y="1645920"/>
                <a:ext cx="4572000" cy="43891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E98F71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3 · EVIDENCIA EMPÍRICA EN ESPAÑA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Comportamiento Salarial y Desempleo en España (2002–2024)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F3A30"/>
                </a:solidFill>
                <a:latin typeface="Calibri"/>
              </a:defRPr>
            </a:pPr>
            <a:r>
              <a:t>Figura 1.8 Panel B oficial: correlación inversa, devaluación salarial y shocks de oferta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61288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E7162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E7162"/>
                </a:solidFill>
                <a:latin typeface="Calibri"/>
              </a:defRPr>
            </a:pPr>
            <a:r>
              <a:t>11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949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rtlCol="0" anchor="ctr"/>
          <a:lstStyle/>
          <a:p>
            <a:pPr algn="ctr">
              <a:spcAft>
                <a:spcPts val="800"/>
              </a:spcAft>
              <a:defRPr sz="1700" b="1">
                <a:solidFill>
                  <a:srgbClr val="113927"/>
                </a:solidFill>
                <a:latin typeface="Outfit"/>
              </a:defRPr>
            </a:pPr>
            <a:r>
              <a:t>1. TRES FASES CLAVE EN ESPAÑA (PANEL B)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• 2002–2007 (Burbuja y Salarios al +5%): Paro en mínimos (8,3%) y fuerte presión sobre costes salariales, confirmando la tensión del mercado laboral en auge.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• 2008–2013 (Crisis y Devaluación Salarial): Máximo histórico de paro (26,9% en 2013T1) y caída salarial récord (-3,6% en 2012T4) forzada por la reforma laboral y la recesión.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2020–2024 (Shock Inflacionista): Repunte de costes salariales (+5,1% en 2023T2) con paro al 11,6%, reflejando el impacto de la energía y cláusulas de revisión.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rtlCol="0" anchor="ctr"/>
          <a:lstStyle/>
          <a:p>
            <a:pPr algn="ctr">
              <a:spcAft>
                <a:spcPts val="800"/>
              </a:spcAft>
              <a:defRPr sz="1700" b="1">
                <a:solidFill>
                  <a:srgbClr val="E98F71"/>
                </a:solidFill>
                <a:latin typeface="Outfit"/>
              </a:defRPr>
            </a:pPr>
            <a:r>
              <a:t>2. LECCIÓN FUNDAMENTAL DE POLÍTICA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• La ilusión monetaria es efímera: No es posible 'comprar' de forma permanente un menor desempleo a cambio de tolerar más inflación.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• La trampa del gasto en la NAIRU: Si la economía está en su equilibrio estructural, cualquier intento de forzar más empleo mediante gasto público genera inflación acumulativa.</a:t>
            </a:r>
          </a:p>
          <a:p>
            <a:pPr>
              <a:defRPr sz="1600" b="1">
                <a:solidFill>
                  <a:srgbClr val="113927"/>
                </a:solidFill>
                <a:latin typeface="Calibri"/>
              </a:defRPr>
            </a:pPr>
            <a:r>
              <a:t>• La solución ortodoxa: Reducir la NAIRU desplazando la Curva de Phillips hacia la izquierda mediante productividad, formación y modernización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4 · LABORATORIO ACTIVO Y SIMULADOR (20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Simulador Interactivo: Curva de Phillips, NAIRU y Gabinete de Empleo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F3A30"/>
                </a:solidFill>
                <a:latin typeface="Calibri"/>
              </a:defRPr>
            </a:pPr>
            <a:r>
              <a:t>Rol: Analistas del Gabinete Técnico de la Consejería (Acceso interactivo desde el móvil)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61288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E7162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E7162"/>
                </a:solidFill>
                <a:latin typeface="Calibri"/>
              </a:defRPr>
            </a:pPr>
            <a:r>
              <a:t>12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6858000" cy="429768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bIns="274320" rtlCol="0" anchor="ctr"/>
          <a:lstStyle/>
          <a:p>
            <a:pPr algn="ctr">
              <a:spcAft>
                <a:spcPts val="12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MISIÓN TÉCNICA · GABINETE DE LA CONSEJERÍA DE EMPLEO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13927"/>
                </a:solidFill>
                <a:latin typeface="Calibri"/>
              </a:rPr>
              <a:t>1. Apertura en el móvil:</a:t>
            </a:r>
            <a:r>
              <a:rPr sz="1300">
                <a:solidFill>
                  <a:srgbClr val="2F3A30"/>
                </a:solidFill>
                <a:latin typeface="Calibri"/>
              </a:rPr>
              <a:t> Escanear el código QR para cargar la micro-app oficial sin necesidad de registro ni descargas.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13927"/>
                </a:solidFill>
                <a:latin typeface="Calibri"/>
              </a:rPr>
              <a:t>2. Experimento Macroeconómico (Simulador de Phillips):</a:t>
            </a:r>
            <a:r>
              <a:rPr sz="1300">
                <a:solidFill>
                  <a:srgbClr val="2F3A30"/>
                </a:solidFill>
                <a:latin typeface="Calibri"/>
              </a:rPr>
              <a:t> Inyectar un estímulo fiscal de demanda en el equilibrio de la NAIRU (14,5%) y analizar por qué a corto plazo baja el paro pero a largo plazo las expectativas de inflación anulan la ganancia de empleo (curva vertical).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13927"/>
                </a:solidFill>
                <a:latin typeface="Calibri"/>
              </a:rPr>
              <a:t>3. Gabinete de Diagnóstico Comarcal:</a:t>
            </a:r>
            <a:r>
              <a:rPr sz="1300">
                <a:solidFill>
                  <a:srgbClr val="2F3A30"/>
                </a:solidFill>
                <a:latin typeface="Calibri"/>
              </a:rPr>
              <a:t> Diagnosticar las 4 comarcas andaluzas (Linares, Costa del Sol, Sevilla y Recesión Financiera) identificando el tipo de paro (friccional, estructural, cíclico o estacional) y la política óptima sin generar inflación.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691640"/>
            <a:ext cx="356616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qr_app_sesion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874519"/>
            <a:ext cx="2560320" cy="2560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5279" y="45262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200" b="1">
                <a:solidFill>
                  <a:srgbClr val="113927"/>
                </a:solidFill>
                <a:latin typeface="Outfit"/>
              </a:defRPr>
            </a:pPr>
            <a:r>
              <a:t>ESCANEA PARA ABRIR LA APP</a:t>
            </a:r>
          </a:p>
          <a:p>
            <a:pPr algn="ctr">
              <a:spcAft>
                <a:spcPts val="400"/>
              </a:spcAft>
              <a:defRPr sz="1100" b="1">
                <a:solidFill>
                  <a:srgbClr val="E98F71"/>
                </a:solidFill>
                <a:latin typeface="Calibri"/>
              </a:defRPr>
            </a:pPr>
            <a:r>
              <a:t>mhidper.github.io/micro_apps</a:t>
            </a:r>
          </a:p>
          <a:p>
            <a:pPr algn="ctr">
              <a:defRPr sz="1000">
                <a:solidFill>
                  <a:srgbClr val="76927A"/>
                </a:solidFill>
                <a:latin typeface="Calibri"/>
              </a:defRPr>
            </a:pPr>
            <a:r>
              <a:t>(Módulo interactivo · Acceso libre desde el móvil)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4 · MATRIZ DE DECISIÓN DE POLÍTICAS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Asignación Óptima de Instrumentos y Errores de Diagnóstico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F3A30"/>
                </a:solidFill>
                <a:latin typeface="Calibri"/>
              </a:defRPr>
            </a:pPr>
            <a:r>
              <a:t>La regla de oro: asignar el instrumento a la causa raíz del desempleo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61288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E7162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E7162"/>
                </a:solidFill>
                <a:latin typeface="Calibri"/>
              </a:defRPr>
            </a:pPr>
            <a:r>
              <a:t>13 /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/>
              <p:cNvSpPr/>
              <p:nvPr/>
            </p:nvSpPr>
            <p:spPr>
              <a:xfrm>
                <a:off x="548640" y="1645920"/>
                <a:ext cx="11091672" cy="1051560"/>
              </a:xfrm>
              <a:prstGeom prst="roundRect">
                <a:avLst/>
              </a:prstGeom>
              <a:solidFill>
                <a:srgbClr val="F4F8F5"/>
              </a:solidFill>
              <a:ln w="19050">
                <a:solidFill>
                  <a:srgbClr val="76927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82880" tIns="91440" rIns="182880" rtlCol="0" anchor="ctr"/>
              <a:lstStyle/>
              <a:p>
                <a:pPr algn="ctr">
                  <a:defRPr sz="1400" b="1">
                    <a:solidFill>
                      <a:srgbClr val="76927A"/>
                    </a:solidFill>
                    <a:latin typeface="Outfit"/>
                  </a:defRPr>
                </a:pPr>
                <a:r>
                  <a:rPr dirty="0"/>
                  <a:t>FRICCIONAL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dirty="0"/>
                  <a:t>)  ·  Causa: </a:t>
                </a:r>
                <a:r>
                  <a:rPr dirty="0" err="1"/>
                  <a:t>Información</a:t>
                </a:r>
                <a:r>
                  <a:rPr dirty="0"/>
                  <a:t> imperfecta y </a:t>
                </a:r>
                <a:r>
                  <a:rPr dirty="0" err="1"/>
                  <a:t>tiempo</a:t>
                </a:r>
                <a:r>
                  <a:rPr dirty="0"/>
                  <a:t> de </a:t>
                </a:r>
                <a:r>
                  <a:rPr dirty="0" err="1"/>
                  <a:t>búsqueda</a:t>
                </a:r>
                <a:r>
                  <a:rPr dirty="0"/>
                  <a:t> de </a:t>
                </a:r>
                <a:r>
                  <a:rPr dirty="0" err="1"/>
                  <a:t>empleo</a:t>
                </a:r>
                <a:r>
                  <a:rPr dirty="0"/>
                  <a:t>.</a:t>
                </a:r>
              </a:p>
              <a:p>
                <a:pPr>
                  <a:defRPr sz="13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✔ Política </a:t>
                </a:r>
                <a:r>
                  <a:rPr dirty="0" err="1"/>
                  <a:t>correcta</a:t>
                </a:r>
                <a:r>
                  <a:rPr dirty="0"/>
                  <a:t>: </a:t>
                </a:r>
                <a:r>
                  <a:rPr dirty="0" err="1"/>
                  <a:t>Intermediación</a:t>
                </a:r>
                <a:r>
                  <a:rPr dirty="0"/>
                  <a:t> </a:t>
                </a:r>
                <a:r>
                  <a:rPr dirty="0" err="1"/>
                  <a:t>ágil</a:t>
                </a:r>
                <a:r>
                  <a:rPr dirty="0"/>
                  <a:t>, SEPE </a:t>
                </a:r>
                <a:r>
                  <a:rPr dirty="0" err="1"/>
                  <a:t>digitalizado</a:t>
                </a:r>
                <a:r>
                  <a:rPr dirty="0"/>
                  <a:t>, </a:t>
                </a:r>
                <a:r>
                  <a:rPr dirty="0" err="1"/>
                  <a:t>agencias</a:t>
                </a:r>
                <a:r>
                  <a:rPr dirty="0"/>
                  <a:t> de </a:t>
                </a:r>
                <a:r>
                  <a:rPr dirty="0" err="1"/>
                  <a:t>colocación</a:t>
                </a:r>
                <a:r>
                  <a:rPr dirty="0"/>
                  <a:t>.</a:t>
                </a:r>
                <a:br>
                  <a:rPr dirty="0"/>
                </a:br>
                <a:r>
                  <a:rPr dirty="0"/>
                  <a:t>✖ Error fatal: </a:t>
                </a:r>
                <a:r>
                  <a:rPr dirty="0" err="1"/>
                  <a:t>Subsidios</a:t>
                </a:r>
                <a:r>
                  <a:rPr dirty="0"/>
                  <a:t> </a:t>
                </a:r>
                <a:r>
                  <a:rPr dirty="0" err="1"/>
                  <a:t>indefinidos</a:t>
                </a:r>
                <a:r>
                  <a:rPr dirty="0"/>
                  <a:t> </a:t>
                </a:r>
                <a:r>
                  <a:rPr dirty="0" err="1"/>
                  <a:t>que</a:t>
                </a:r>
                <a:r>
                  <a:rPr dirty="0"/>
                  <a:t> </a:t>
                </a:r>
                <a:r>
                  <a:rPr dirty="0" err="1"/>
                  <a:t>alargan</a:t>
                </a:r>
                <a:r>
                  <a:rPr dirty="0"/>
                  <a:t> la </a:t>
                </a:r>
                <a:r>
                  <a:rPr dirty="0" err="1"/>
                  <a:t>búsqueda</a:t>
                </a:r>
                <a:r>
                  <a:rPr dirty="0"/>
                  <a:t> sin </a:t>
                </a:r>
                <a:r>
                  <a:rPr dirty="0" err="1"/>
                  <a:t>incentivar</a:t>
                </a:r>
                <a:r>
                  <a:rPr dirty="0"/>
                  <a:t> el </a:t>
                </a:r>
                <a:r>
                  <a:rPr dirty="0" err="1"/>
                  <a:t>empleo</a:t>
                </a:r>
                <a:r>
                  <a:rPr dirty="0"/>
                  <a:t>.</a:t>
                </a:r>
              </a:p>
            </p:txBody>
          </p:sp>
        </mc:Choice>
        <mc:Fallback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645920"/>
                <a:ext cx="11091672" cy="105156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76927A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548640" y="2788920"/>
                <a:ext cx="11091672" cy="1051560"/>
              </a:xfrm>
              <a:prstGeom prst="roundRect">
                <a:avLst/>
              </a:prstGeom>
              <a:solidFill>
                <a:srgbClr val="F4F8F5"/>
              </a:solidFill>
              <a:ln w="19050">
                <a:solidFill>
                  <a:srgbClr val="E98F7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82880" tIns="91440" rIns="182880" rtlCol="0" anchor="ctr"/>
              <a:lstStyle/>
              <a:p>
                <a:pPr algn="ctr">
                  <a:defRPr sz="1400" b="1">
                    <a:solidFill>
                      <a:srgbClr val="E98F71"/>
                    </a:solidFill>
                    <a:latin typeface="Outfit"/>
                  </a:defRPr>
                </a:pPr>
                <a:r>
                  <a:rPr dirty="0"/>
                  <a:t>ESTRUCTURAL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dirty="0"/>
                  <a:t>)  ·  Causa: </a:t>
                </a:r>
                <a:r>
                  <a:rPr dirty="0" err="1"/>
                  <a:t>Desajuste</a:t>
                </a:r>
                <a:r>
                  <a:rPr dirty="0"/>
                  <a:t> de </a:t>
                </a:r>
                <a:r>
                  <a:rPr dirty="0" err="1"/>
                  <a:t>competencias</a:t>
                </a:r>
                <a:r>
                  <a:rPr dirty="0"/>
                  <a:t> (skills mismatch), </a:t>
                </a:r>
                <a:r>
                  <a:rPr dirty="0" err="1"/>
                  <a:t>geográfico</a:t>
                </a:r>
                <a:r>
                  <a:rPr dirty="0"/>
                  <a:t> o </a:t>
                </a:r>
                <a:r>
                  <a:rPr dirty="0" err="1"/>
                  <a:t>institucional</a:t>
                </a:r>
                <a:r>
                  <a:rPr dirty="0"/>
                  <a:t>.</a:t>
                </a:r>
              </a:p>
              <a:p>
                <a:pPr>
                  <a:defRPr sz="13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✔ Política </a:t>
                </a:r>
                <a:r>
                  <a:rPr dirty="0" err="1"/>
                  <a:t>correcta</a:t>
                </a:r>
                <a:r>
                  <a:rPr dirty="0"/>
                  <a:t>: </a:t>
                </a:r>
                <a:r>
                  <a:rPr dirty="0" err="1"/>
                  <a:t>Políticas</a:t>
                </a:r>
                <a:r>
                  <a:rPr dirty="0"/>
                  <a:t> </a:t>
                </a:r>
                <a:r>
                  <a:rPr dirty="0" err="1"/>
                  <a:t>activas</a:t>
                </a:r>
                <a:r>
                  <a:rPr dirty="0"/>
                  <a:t>: reskilling, FP Dual, </a:t>
                </a:r>
                <a:r>
                  <a:rPr dirty="0" err="1"/>
                  <a:t>movilidad</a:t>
                </a:r>
                <a:r>
                  <a:rPr dirty="0"/>
                  <a:t> y </a:t>
                </a:r>
                <a:r>
                  <a:rPr dirty="0" err="1"/>
                  <a:t>flexibilidad</a:t>
                </a:r>
                <a:r>
                  <a:rPr dirty="0"/>
                  <a:t> </a:t>
                </a:r>
                <a:r>
                  <a:rPr dirty="0" err="1"/>
                  <a:t>negociada</a:t>
                </a:r>
                <a:r>
                  <a:rPr dirty="0"/>
                  <a:t>.</a:t>
                </a:r>
                <a:br>
                  <a:rPr dirty="0"/>
                </a:br>
                <a:r>
                  <a:rPr dirty="0"/>
                  <a:t>✖ Error fatal: </a:t>
                </a:r>
                <a:r>
                  <a:rPr dirty="0" err="1"/>
                  <a:t>Inyectar</a:t>
                </a:r>
                <a:r>
                  <a:rPr dirty="0"/>
                  <a:t> </a:t>
                </a:r>
                <a:r>
                  <a:rPr dirty="0" err="1"/>
                  <a:t>gasto</a:t>
                </a:r>
                <a:r>
                  <a:rPr dirty="0"/>
                  <a:t> de </a:t>
                </a:r>
                <a:r>
                  <a:rPr dirty="0" err="1"/>
                  <a:t>demanda</a:t>
                </a:r>
                <a:r>
                  <a:rPr dirty="0"/>
                  <a:t> </a:t>
                </a:r>
                <a:r>
                  <a:rPr dirty="0" err="1"/>
                  <a:t>agregada</a:t>
                </a:r>
                <a:r>
                  <a:rPr dirty="0"/>
                  <a:t> (</a:t>
                </a:r>
                <a:r>
                  <a:rPr dirty="0" err="1"/>
                  <a:t>crea</a:t>
                </a:r>
                <a:r>
                  <a:rPr dirty="0"/>
                  <a:t> </a:t>
                </a:r>
                <a:r>
                  <a:rPr dirty="0" err="1"/>
                  <a:t>inflación</a:t>
                </a:r>
                <a:r>
                  <a:rPr dirty="0"/>
                  <a:t> sin resolver el </a:t>
                </a:r>
                <a:r>
                  <a:rPr dirty="0" err="1"/>
                  <a:t>desajuste</a:t>
                </a:r>
                <a:r>
                  <a:rPr dirty="0"/>
                  <a:t>).</a:t>
                </a: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2788920"/>
                <a:ext cx="11091672" cy="10515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E98F71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/>
              <p:cNvSpPr/>
              <p:nvPr/>
            </p:nvSpPr>
            <p:spPr>
              <a:xfrm>
                <a:off x="548640" y="3931920"/>
                <a:ext cx="11091672" cy="1051560"/>
              </a:xfrm>
              <a:prstGeom prst="roundRect">
                <a:avLst/>
              </a:prstGeom>
              <a:solidFill>
                <a:srgbClr val="F4F8F5"/>
              </a:solidFill>
              <a:ln w="19050">
                <a:solidFill>
                  <a:srgbClr val="113927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82880" tIns="91440" rIns="182880" rtlCol="0" anchor="ctr"/>
              <a:lstStyle/>
              <a:p>
                <a:pPr algn="ctr">
                  <a:defRPr sz="1400" b="1">
                    <a:solidFill>
                      <a:srgbClr val="113927"/>
                    </a:solidFill>
                    <a:latin typeface="Outfit"/>
                  </a:defRPr>
                </a:pPr>
                <a:r>
                  <a:rPr dirty="0"/>
                  <a:t>CÍCLICO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dirty="0"/>
                  <a:t>)  ·  Causa: </a:t>
                </a:r>
                <a:r>
                  <a:rPr dirty="0" err="1"/>
                  <a:t>Insuficiencia</a:t>
                </a:r>
                <a:r>
                  <a:rPr dirty="0"/>
                  <a:t> </a:t>
                </a:r>
                <a:r>
                  <a:rPr dirty="0" err="1"/>
                  <a:t>generalizada</a:t>
                </a:r>
                <a:r>
                  <a:rPr dirty="0"/>
                  <a:t> de </a:t>
                </a:r>
                <a:r>
                  <a:rPr dirty="0" err="1"/>
                  <a:t>demanda</a:t>
                </a:r>
                <a:r>
                  <a:rPr dirty="0"/>
                  <a:t> </a:t>
                </a:r>
                <a:r>
                  <a:rPr dirty="0" err="1"/>
                  <a:t>agregada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</a:t>
                </a:r>
                <a:r>
                  <a:rPr dirty="0" err="1"/>
                  <a:t>fases</a:t>
                </a:r>
                <a:r>
                  <a:rPr dirty="0"/>
                  <a:t> </a:t>
                </a:r>
                <a:r>
                  <a:rPr dirty="0" err="1"/>
                  <a:t>recesivas</a:t>
                </a:r>
                <a:r>
                  <a:rPr dirty="0"/>
                  <a:t>.</a:t>
                </a:r>
              </a:p>
              <a:p>
                <a:pPr>
                  <a:defRPr sz="13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✔ Política </a:t>
                </a:r>
                <a:r>
                  <a:rPr dirty="0" err="1"/>
                  <a:t>correcta</a:t>
                </a:r>
                <a:r>
                  <a:rPr dirty="0"/>
                  <a:t>: </a:t>
                </a:r>
                <a:r>
                  <a:rPr dirty="0" err="1"/>
                  <a:t>Estabilizadores</a:t>
                </a:r>
                <a:r>
                  <a:rPr dirty="0"/>
                  <a:t> </a:t>
                </a:r>
                <a:r>
                  <a:rPr dirty="0" err="1"/>
                  <a:t>automáticos</a:t>
                </a:r>
                <a:r>
                  <a:rPr dirty="0"/>
                  <a:t>, </a:t>
                </a:r>
                <a:r>
                  <a:rPr dirty="0" err="1"/>
                  <a:t>política</a:t>
                </a:r>
                <a:r>
                  <a:rPr dirty="0"/>
                  <a:t> fiscal y </a:t>
                </a:r>
                <a:r>
                  <a:rPr dirty="0" err="1"/>
                  <a:t>monetaria</a:t>
                </a:r>
                <a:r>
                  <a:rPr dirty="0"/>
                  <a:t> </a:t>
                </a:r>
                <a:r>
                  <a:rPr dirty="0" err="1"/>
                  <a:t>contracíclica</a:t>
                </a:r>
                <a:r>
                  <a:rPr dirty="0"/>
                  <a:t>.</a:t>
                </a:r>
                <a:br>
                  <a:rPr dirty="0"/>
                </a:br>
                <a:r>
                  <a:rPr dirty="0"/>
                  <a:t>✖ Error fatal: </a:t>
                </a:r>
                <a:r>
                  <a:rPr dirty="0" err="1"/>
                  <a:t>Cursos</a:t>
                </a:r>
                <a:r>
                  <a:rPr dirty="0"/>
                  <a:t> </a:t>
                </a:r>
                <a:r>
                  <a:rPr dirty="0" err="1"/>
                  <a:t>formativos</a:t>
                </a:r>
                <a:r>
                  <a:rPr dirty="0"/>
                  <a:t> </a:t>
                </a:r>
                <a:r>
                  <a:rPr dirty="0" err="1"/>
                  <a:t>aislados</a:t>
                </a:r>
                <a:r>
                  <a:rPr dirty="0"/>
                  <a:t> </a:t>
                </a:r>
                <a:r>
                  <a:rPr dirty="0" err="1"/>
                  <a:t>cuando</a:t>
                </a:r>
                <a:r>
                  <a:rPr dirty="0"/>
                  <a:t> el </a:t>
                </a:r>
                <a:r>
                  <a:rPr dirty="0" err="1"/>
                  <a:t>problema</a:t>
                </a:r>
                <a:r>
                  <a:rPr dirty="0"/>
                  <a:t> es </a:t>
                </a:r>
                <a:r>
                  <a:rPr dirty="0" err="1"/>
                  <a:t>que</a:t>
                </a:r>
                <a:r>
                  <a:rPr dirty="0"/>
                  <a:t> las </a:t>
                </a:r>
                <a:r>
                  <a:rPr dirty="0" err="1"/>
                  <a:t>empresas</a:t>
                </a:r>
                <a:r>
                  <a:rPr dirty="0"/>
                  <a:t> no </a:t>
                </a:r>
                <a:r>
                  <a:rPr dirty="0" err="1"/>
                  <a:t>venden</a:t>
                </a:r>
                <a:r>
                  <a:rPr dirty="0"/>
                  <a:t>.</a:t>
                </a:r>
              </a:p>
            </p:txBody>
          </p:sp>
        </mc:Choice>
        <mc:Fallback>
          <p:sp>
            <p:nvSpPr>
              <p:cNvPr id="10" name="Rounded 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3931920"/>
                <a:ext cx="11091672" cy="10515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113927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/>
              <p:cNvSpPr/>
              <p:nvPr/>
            </p:nvSpPr>
            <p:spPr>
              <a:xfrm>
                <a:off x="548640" y="5074920"/>
                <a:ext cx="11091672" cy="1051560"/>
              </a:xfrm>
              <a:prstGeom prst="roundRect">
                <a:avLst/>
              </a:prstGeom>
              <a:solidFill>
                <a:srgbClr val="F4F8F5"/>
              </a:solidFill>
              <a:ln w="19050">
                <a:solidFill>
                  <a:srgbClr val="5E716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82880" tIns="91440" rIns="182880" rtlCol="0" anchor="ctr"/>
              <a:lstStyle/>
              <a:p>
                <a:pPr algn="ctr">
                  <a:defRPr sz="1400" b="1">
                    <a:solidFill>
                      <a:srgbClr val="5E7162"/>
                    </a:solidFill>
                    <a:latin typeface="Outfit"/>
                  </a:defRPr>
                </a:pPr>
                <a:r>
                  <a:rPr dirty="0"/>
                  <a:t>ESTACIONAL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dirty="0"/>
                  <a:t>)  ·  Causa: </a:t>
                </a:r>
                <a:r>
                  <a:rPr dirty="0" err="1"/>
                  <a:t>Variación</a:t>
                </a:r>
                <a:r>
                  <a:rPr dirty="0"/>
                  <a:t> </a:t>
                </a:r>
                <a:r>
                  <a:rPr dirty="0" err="1"/>
                  <a:t>climática</a:t>
                </a:r>
                <a:r>
                  <a:rPr dirty="0"/>
                  <a:t> o de </a:t>
                </a:r>
                <a:r>
                  <a:rPr dirty="0" err="1"/>
                  <a:t>calendario</a:t>
                </a:r>
                <a:r>
                  <a:rPr dirty="0"/>
                  <a:t> </a:t>
                </a:r>
                <a:r>
                  <a:rPr dirty="0" err="1"/>
                  <a:t>productivo</a:t>
                </a:r>
                <a:r>
                  <a:rPr dirty="0"/>
                  <a:t> </a:t>
                </a:r>
                <a:r>
                  <a:rPr dirty="0" err="1"/>
                  <a:t>predecible</a:t>
                </a:r>
                <a:r>
                  <a:rPr dirty="0"/>
                  <a:t> y </a:t>
                </a:r>
                <a:r>
                  <a:rPr dirty="0" err="1"/>
                  <a:t>recurrente</a:t>
                </a:r>
                <a:r>
                  <a:rPr dirty="0"/>
                  <a:t>.</a:t>
                </a:r>
              </a:p>
              <a:p>
                <a:pPr>
                  <a:defRPr sz="13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✔ Política </a:t>
                </a:r>
                <a:r>
                  <a:rPr dirty="0" err="1"/>
                  <a:t>correcta</a:t>
                </a:r>
                <a:r>
                  <a:rPr dirty="0"/>
                  <a:t>: </a:t>
                </a:r>
                <a:r>
                  <a:rPr dirty="0" err="1"/>
                  <a:t>Contrato</a:t>
                </a:r>
                <a:r>
                  <a:rPr dirty="0"/>
                  <a:t> </a:t>
                </a:r>
                <a:r>
                  <a:rPr dirty="0" err="1"/>
                  <a:t>fijo-discontinuo</a:t>
                </a:r>
                <a:r>
                  <a:rPr dirty="0"/>
                  <a:t>, </a:t>
                </a:r>
                <a:r>
                  <a:rPr dirty="0" err="1"/>
                  <a:t>diversificación</a:t>
                </a:r>
                <a:r>
                  <a:rPr dirty="0"/>
                  <a:t> </a:t>
                </a:r>
                <a:r>
                  <a:rPr dirty="0" err="1"/>
                  <a:t>económica</a:t>
                </a:r>
                <a:r>
                  <a:rPr dirty="0"/>
                  <a:t> y </a:t>
                </a:r>
                <a:r>
                  <a:rPr dirty="0" err="1"/>
                  <a:t>formación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</a:t>
                </a:r>
                <a:r>
                  <a:rPr dirty="0" err="1"/>
                  <a:t>valle</a:t>
                </a:r>
                <a:r>
                  <a:rPr dirty="0"/>
                  <a:t>.</a:t>
                </a:r>
                <a:br>
                  <a:rPr dirty="0"/>
                </a:br>
                <a:r>
                  <a:rPr dirty="0"/>
                  <a:t>✖ Error fatal: </a:t>
                </a:r>
                <a:r>
                  <a:rPr dirty="0" err="1"/>
                  <a:t>Obligar</a:t>
                </a:r>
                <a:r>
                  <a:rPr dirty="0"/>
                  <a:t> a </a:t>
                </a:r>
                <a:r>
                  <a:rPr dirty="0" err="1"/>
                  <a:t>contratos</a:t>
                </a:r>
                <a:r>
                  <a:rPr dirty="0"/>
                  <a:t> </a:t>
                </a:r>
                <a:r>
                  <a:rPr dirty="0" err="1"/>
                  <a:t>ordinarios</a:t>
                </a:r>
                <a:r>
                  <a:rPr dirty="0"/>
                  <a:t> </a:t>
                </a:r>
                <a:r>
                  <a:rPr dirty="0" err="1"/>
                  <a:t>continuos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</a:t>
                </a:r>
                <a:r>
                  <a:rPr dirty="0" err="1"/>
                  <a:t>actividades</a:t>
                </a:r>
                <a:r>
                  <a:rPr dirty="0"/>
                  <a:t> de </a:t>
                </a:r>
                <a:r>
                  <a:rPr dirty="0" err="1"/>
                  <a:t>temporada</a:t>
                </a:r>
                <a:r>
                  <a:rPr dirty="0"/>
                  <a:t>.</a:t>
                </a:r>
              </a:p>
            </p:txBody>
          </p:sp>
        </mc:Choice>
        <mc:Fallback>
          <p:sp>
            <p:nvSpPr>
              <p:cNvPr id="11" name="Rounded 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5074920"/>
                <a:ext cx="11091672" cy="10515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rgbClr val="5E7162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SÍNTESIS DE LA SESIÓN EB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Las Tres Conclusiones Imborrables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F3A30"/>
                </a:solidFill>
                <a:latin typeface="Calibri"/>
              </a:defRPr>
            </a:pPr>
            <a:r>
              <a:t>Resumen conceptual y avance de la próxima sesión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61288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E7162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E7162"/>
                </a:solidFill>
                <a:latin typeface="Calibri"/>
              </a:defRPr>
            </a:pPr>
            <a:r>
              <a:t>17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11091672" cy="137160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37160" rIns="201168" rtlCol="0" anchor="ctr"/>
          <a:lstStyle/>
          <a:p>
            <a:pPr algn="ctr">
              <a:spcAft>
                <a:spcPts val="400"/>
              </a:spcAft>
              <a:defRPr sz="1500" b="1">
                <a:solidFill>
                  <a:srgbClr val="113927"/>
                </a:solidFill>
                <a:latin typeface="Outfit"/>
              </a:defRPr>
            </a:pPr>
            <a:r>
              <a:t>1. EL DESEMPLEO NO ES UN FENÓMENO ÚNICO</a:t>
            </a:r>
          </a:p>
          <a:p>
            <a:pPr>
              <a:defRPr sz="1500">
                <a:solidFill>
                  <a:srgbClr val="2F3A30"/>
                </a:solidFill>
                <a:latin typeface="Calibri"/>
              </a:defRPr>
            </a:pPr>
            <a:r>
              <a:t>El desempleo friccional, estructural, cíclico y estacional responden a causas económicas completamente diferentes. Tratar el paro con una única receta indiscriminada garantiza el fracaso: aplicar gasto expansivo a un desajuste estructural genera inflación sin crear empleo duradero.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54680"/>
            <a:ext cx="11091672" cy="137160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37160" rIns="201168" rtlCol="0" anchor="ctr"/>
          <a:lstStyle/>
          <a:p>
            <a:pPr algn="ctr">
              <a:spcAft>
                <a:spcPts val="400"/>
              </a:spcAft>
              <a:defRPr sz="1500" b="1">
                <a:solidFill>
                  <a:srgbClr val="E98F71"/>
                </a:solidFill>
                <a:latin typeface="Outfit"/>
              </a:defRPr>
            </a:pPr>
            <a:r>
              <a:t>2. EL LÍMITE ESTRUCTURAL: LA NAIRU ES INEXORABLE</a:t>
            </a:r>
          </a:p>
          <a:p>
            <a:pPr>
              <a:defRPr sz="1500">
                <a:solidFill>
                  <a:srgbClr val="2F3A30"/>
                </a:solidFill>
                <a:latin typeface="Calibri"/>
              </a:defRPr>
            </a:pPr>
            <a:r>
              <a:t>La NAIRU (u_n) es el ancla que marca el equilibrio no inflacionario del mercado de trabajo. A largo plazo la Curva de Phillips es vertical: los agentes adaptan sus expectativas y el empleo regresa a su nivel natural. Solo las reformas estructurales y las políticas activas pueden desplazar la NAIRU.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663440"/>
            <a:ext cx="11091672" cy="137160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37160" rIns="201168" rtlCol="0" anchor="ctr"/>
          <a:lstStyle/>
          <a:p>
            <a:pPr algn="ctr">
              <a:spcAft>
                <a:spcPts val="400"/>
              </a:spcAft>
              <a:defRPr sz="1500" b="1">
                <a:solidFill>
                  <a:srgbClr val="76927A"/>
                </a:solidFill>
                <a:latin typeface="Outfit"/>
              </a:defRPr>
            </a:pPr>
            <a:r>
              <a:t>3. PRÓXIMA PARADA: LA CURVA DE BEVERIDGE Y EL CASO 1</a:t>
            </a:r>
          </a:p>
          <a:p>
            <a:pPr>
              <a:defRPr sz="1500">
                <a:solidFill>
                  <a:srgbClr val="2F3A30"/>
                </a:solidFill>
                <a:latin typeface="Calibri"/>
              </a:defRPr>
            </a:pPr>
            <a:r>
              <a:t>En la Sesión 5 uniremos vacantes (V) y desempleo (U) mediante la Curva de Beveridge y la función de emparejamiento de Pissarides. Descubriremos por qué el mercado no casa oferentes y demandantes y aplicaremos este modelo para auditar el Programa Emplea-T en el Caso 1 de EPD.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5 · RETO INDIVIDUAL DE CIERRE (10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Reto de Aplicación Analítica: Estímulo Fiscal en la NAIRU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F3A30"/>
                </a:solidFill>
                <a:latin typeface="Calibri"/>
              </a:defRPr>
            </a:pPr>
            <a:r>
              <a:t>Redacción individual de puño y letra en papel en entorno libre de pantallas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61288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E7162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E7162"/>
                </a:solidFill>
                <a:latin typeface="Calibri"/>
              </a:defRPr>
            </a:pPr>
            <a:r>
              <a:t>14 /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/>
              <p:cNvSpPr/>
              <p:nvPr/>
            </p:nvSpPr>
            <p:spPr>
              <a:xfrm>
                <a:off x="548640" y="1645920"/>
                <a:ext cx="11091672" cy="4389120"/>
              </a:xfrm>
              <a:prstGeom prst="roundRect">
                <a:avLst/>
              </a:prstGeom>
              <a:solidFill>
                <a:srgbClr val="F4F8F5"/>
              </a:solidFill>
              <a:ln w="25400">
                <a:solidFill>
                  <a:srgbClr val="E98F7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274320" tIns="201168" rIns="274320" rtlCol="0" anchor="ctr"/>
              <a:lstStyle/>
              <a:p>
                <a:pPr algn="ctr">
                  <a:spcAft>
                    <a:spcPts val="800"/>
                  </a:spcAft>
                  <a:defRPr sz="1400" b="1">
                    <a:solidFill>
                      <a:srgbClr val="E98F71"/>
                    </a:solidFill>
                    <a:latin typeface="Outfit"/>
                  </a:defRPr>
                </a:pPr>
                <a:r>
                  <a:rPr dirty="0"/>
                  <a:t>EN 10 MINUTOS · REDACTA A MANO EN UNA HOJA DE PAPEL</a:t>
                </a:r>
              </a:p>
              <a:p>
                <a:pPr>
                  <a:spcAft>
                    <a:spcPts val="1400"/>
                  </a:spcAft>
                  <a:defRPr sz="1700" b="1">
                    <a:solidFill>
                      <a:srgbClr val="113927"/>
                    </a:solidFill>
                    <a:latin typeface="Calibri"/>
                  </a:defRPr>
                </a:pPr>
                <a:r>
                  <a:rPr dirty="0"/>
                  <a:t>«Un </a:t>
                </a:r>
                <a:r>
                  <a:rPr dirty="0" err="1"/>
                  <a:t>gobierno</a:t>
                </a:r>
                <a:r>
                  <a:rPr dirty="0"/>
                  <a:t> </a:t>
                </a:r>
                <a:r>
                  <a:rPr dirty="0" err="1"/>
                  <a:t>aprueba</a:t>
                </a:r>
                <a:r>
                  <a:rPr dirty="0"/>
                  <a:t> un </a:t>
                </a:r>
                <a:r>
                  <a:rPr dirty="0" err="1"/>
                  <a:t>ambicioso</a:t>
                </a:r>
                <a:r>
                  <a:rPr dirty="0"/>
                  <a:t> plan de </a:t>
                </a:r>
                <a:r>
                  <a:rPr dirty="0" err="1"/>
                  <a:t>estímulo</a:t>
                </a:r>
                <a:r>
                  <a:rPr dirty="0"/>
                  <a:t> de </a:t>
                </a:r>
                <a:r>
                  <a:rPr dirty="0" err="1"/>
                  <a:t>gasto</a:t>
                </a:r>
                <a:r>
                  <a:rPr dirty="0"/>
                  <a:t> </a:t>
                </a:r>
                <a:r>
                  <a:rPr dirty="0" err="1"/>
                  <a:t>público</a:t>
                </a:r>
                <a:r>
                  <a:rPr dirty="0"/>
                  <a:t> para </a:t>
                </a:r>
                <a:r>
                  <a:rPr dirty="0" err="1"/>
                  <a:t>forzar</a:t>
                </a:r>
                <a:r>
                  <a:rPr dirty="0"/>
                  <a:t> </a:t>
                </a:r>
                <a:r>
                  <a:rPr dirty="0" err="1"/>
                  <a:t>una</a:t>
                </a:r>
                <a:r>
                  <a:rPr dirty="0"/>
                  <a:t> </a:t>
                </a:r>
                <a:r>
                  <a:rPr dirty="0" err="1"/>
                  <a:t>reducción</a:t>
                </a:r>
                <a:r>
                  <a:rPr dirty="0"/>
                  <a:t> del </a:t>
                </a:r>
                <a:r>
                  <a:rPr dirty="0" err="1"/>
                  <a:t>desempleo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un </a:t>
                </a:r>
                <a:r>
                  <a:rPr dirty="0" err="1"/>
                  <a:t>ejercicio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el </a:t>
                </a:r>
                <a:r>
                  <a:rPr dirty="0" err="1"/>
                  <a:t>que</a:t>
                </a:r>
                <a:r>
                  <a:rPr dirty="0"/>
                  <a:t> la </a:t>
                </a:r>
                <a:r>
                  <a:rPr dirty="0" err="1"/>
                  <a:t>economía</a:t>
                </a:r>
                <a:r>
                  <a:rPr dirty="0"/>
                  <a:t> </a:t>
                </a:r>
                <a:r>
                  <a:rPr dirty="0" err="1"/>
                  <a:t>ya</a:t>
                </a:r>
                <a:r>
                  <a:rPr dirty="0"/>
                  <a:t> se </a:t>
                </a:r>
                <a:r>
                  <a:rPr dirty="0" err="1"/>
                  <a:t>encuentra</a:t>
                </a:r>
                <a:r>
                  <a:rPr dirty="0"/>
                  <a:t> </a:t>
                </a:r>
                <a:r>
                  <a:rPr dirty="0" err="1"/>
                  <a:t>exactamente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</a:t>
                </a:r>
                <a:r>
                  <a:rPr dirty="0" err="1"/>
                  <a:t>su</a:t>
                </a:r>
                <a:r>
                  <a:rPr dirty="0"/>
                  <a:t> </a:t>
                </a:r>
                <a:r>
                  <a:rPr dirty="0" err="1"/>
                  <a:t>tasa</a:t>
                </a:r>
                <a:r>
                  <a:rPr dirty="0"/>
                  <a:t> natural (NAIRU,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s-ES" i="1" dirty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s-ES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err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)». </a:t>
                </a:r>
                <a:r>
                  <a:rPr dirty="0" err="1"/>
                  <a:t>Razona</a:t>
                </a:r>
                <a:r>
                  <a:rPr dirty="0"/>
                  <a:t> con rigor </a:t>
                </a:r>
                <a:r>
                  <a:rPr dirty="0" err="1"/>
                  <a:t>económico</a:t>
                </a:r>
                <a:r>
                  <a:rPr dirty="0"/>
                  <a:t> formal:</a:t>
                </a:r>
              </a:p>
              <a:p>
                <a:pPr>
                  <a:spcAft>
                    <a:spcPts val="1000"/>
                  </a:spcAft>
                  <a:defRPr sz="16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a) Corto </a:t>
                </a:r>
                <a:r>
                  <a:rPr dirty="0" err="1"/>
                  <a:t>Plazo</a:t>
                </a:r>
                <a:r>
                  <a:rPr dirty="0"/>
                  <a:t> e </a:t>
                </a:r>
                <a:r>
                  <a:rPr dirty="0" err="1"/>
                  <a:t>Inflación</a:t>
                </a:r>
                <a:r>
                  <a:rPr dirty="0"/>
                  <a:t>: ¿</a:t>
                </a:r>
                <a:r>
                  <a:rPr dirty="0" err="1"/>
                  <a:t>Qué</a:t>
                </a:r>
                <a:r>
                  <a:rPr dirty="0"/>
                  <a:t> </a:t>
                </a:r>
                <a:r>
                  <a:rPr dirty="0" err="1"/>
                  <a:t>ocurre</a:t>
                </a:r>
                <a:r>
                  <a:rPr dirty="0"/>
                  <a:t> a corto </a:t>
                </a:r>
                <a:r>
                  <a:rPr dirty="0" err="1"/>
                  <a:t>plazo</a:t>
                </a:r>
                <a:r>
                  <a:rPr dirty="0"/>
                  <a:t> con el </a:t>
                </a:r>
                <a:r>
                  <a:rPr dirty="0" err="1"/>
                  <a:t>desempleo</a:t>
                </a:r>
                <a:r>
                  <a:rPr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dirty="0"/>
                  <a:t>) y la </a:t>
                </a:r>
                <a:r>
                  <a:rPr dirty="0" err="1"/>
                  <a:t>tasa</a:t>
                </a:r>
                <a:r>
                  <a:rPr dirty="0"/>
                  <a:t> de </a:t>
                </a:r>
                <a:r>
                  <a:rPr dirty="0" err="1"/>
                  <a:t>inflación</a:t>
                </a:r>
                <a:r>
                  <a:rPr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dirty="0"/>
                  <a:t>)? </a:t>
                </a:r>
                <a:r>
                  <a:rPr lang="es-ES" dirty="0"/>
                  <a:t>Sería interesante que te apoyaras </a:t>
                </a:r>
                <a:r>
                  <a:rPr dirty="0" err="1"/>
                  <a:t>formalmente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la </a:t>
                </a:r>
                <a:r>
                  <a:rPr dirty="0" err="1"/>
                  <a:t>ecuación</a:t>
                </a:r>
                <a:r>
                  <a:rPr dirty="0"/>
                  <a:t> de la Curva de Phillips vista </a:t>
                </a:r>
                <a:r>
                  <a:rPr dirty="0" err="1"/>
                  <a:t>en</a:t>
                </a:r>
                <a:r>
                  <a:rPr dirty="0"/>
                  <a:t> </a:t>
                </a:r>
                <a:r>
                  <a:rPr dirty="0" err="1"/>
                  <a:t>clase</a:t>
                </a:r>
                <a:r>
                  <a:rPr lang="es-ES" dirty="0"/>
                  <a:t> para dar la respuesta</a:t>
                </a:r>
                <a:r>
                  <a:rPr dirty="0"/>
                  <a:t>.</a:t>
                </a:r>
              </a:p>
              <a:p>
                <a:pPr>
                  <a:defRPr sz="1600">
                    <a:solidFill>
                      <a:srgbClr val="2F3A30"/>
                    </a:solidFill>
                    <a:latin typeface="Calibri"/>
                  </a:defRPr>
                </a:pPr>
                <a:r>
                  <a:rPr lang="es-ES" dirty="0"/>
                  <a:t>b</a:t>
                </a:r>
                <a:r>
                  <a:rPr dirty="0"/>
                  <a:t>) </a:t>
                </a:r>
                <a:r>
                  <a:rPr dirty="0" err="1"/>
                  <a:t>Recomendación</a:t>
                </a:r>
                <a:r>
                  <a:rPr dirty="0"/>
                  <a:t> de Política Pública: Si el </a:t>
                </a:r>
                <a:r>
                  <a:rPr dirty="0" err="1"/>
                  <a:t>objetivo</a:t>
                </a:r>
                <a:r>
                  <a:rPr dirty="0"/>
                  <a:t> de la </a:t>
                </a:r>
                <a:r>
                  <a:rPr dirty="0" err="1"/>
                  <a:t>política</a:t>
                </a:r>
                <a:r>
                  <a:rPr dirty="0"/>
                  <a:t> </a:t>
                </a:r>
                <a:r>
                  <a:rPr dirty="0" err="1"/>
                  <a:t>sociolaboral</a:t>
                </a:r>
                <a:r>
                  <a:rPr dirty="0"/>
                  <a:t> es </a:t>
                </a:r>
                <a:r>
                  <a:rPr dirty="0" err="1"/>
                  <a:t>reducir</a:t>
                </a:r>
                <a:r>
                  <a:rPr dirty="0"/>
                  <a:t> la NAIRU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) de forma </a:t>
                </a:r>
                <a:r>
                  <a:rPr dirty="0" err="1"/>
                  <a:t>permanente</a:t>
                </a:r>
                <a:r>
                  <a:rPr dirty="0"/>
                  <a:t> y sin </a:t>
                </a:r>
                <a:r>
                  <a:rPr dirty="0" err="1"/>
                  <a:t>inflación</a:t>
                </a:r>
                <a:r>
                  <a:rPr dirty="0"/>
                  <a:t>, ¿</a:t>
                </a:r>
                <a:r>
                  <a:rPr dirty="0" err="1"/>
                  <a:t>qué</a:t>
                </a:r>
                <a:r>
                  <a:rPr dirty="0"/>
                  <a:t> </a:t>
                </a:r>
                <a:r>
                  <a:rPr dirty="0" err="1"/>
                  <a:t>tipo</a:t>
                </a:r>
                <a:r>
                  <a:rPr dirty="0"/>
                  <a:t> de </a:t>
                </a:r>
                <a:r>
                  <a:rPr dirty="0" err="1"/>
                  <a:t>políticas</a:t>
                </a:r>
                <a:r>
                  <a:rPr dirty="0"/>
                  <a:t> </a:t>
                </a:r>
                <a:r>
                  <a:rPr dirty="0" err="1"/>
                  <a:t>debe</a:t>
                </a:r>
                <a:r>
                  <a:rPr dirty="0"/>
                  <a:t> </a:t>
                </a:r>
                <a:r>
                  <a:rPr dirty="0" err="1"/>
                  <a:t>implementar</a:t>
                </a:r>
                <a:r>
                  <a:rPr dirty="0"/>
                  <a:t> y </a:t>
                </a:r>
                <a:r>
                  <a:rPr dirty="0" err="1"/>
                  <a:t>sobre</a:t>
                </a:r>
                <a:r>
                  <a:rPr dirty="0"/>
                  <a:t> </a:t>
                </a:r>
                <a:r>
                  <a:rPr dirty="0" err="1"/>
                  <a:t>qué</a:t>
                </a:r>
                <a:r>
                  <a:rPr dirty="0"/>
                  <a:t> </a:t>
                </a:r>
                <a:r>
                  <a:rPr dirty="0" err="1"/>
                  <a:t>componentes</a:t>
                </a:r>
                <a:r>
                  <a:rPr dirty="0"/>
                  <a:t> del </a:t>
                </a:r>
                <a:r>
                  <a:rPr dirty="0" err="1"/>
                  <a:t>paro</a:t>
                </a:r>
                <a:r>
                  <a:rPr dirty="0"/>
                  <a:t> </a:t>
                </a:r>
                <a:r>
                  <a:rPr dirty="0" err="1"/>
                  <a:t>debe</a:t>
                </a:r>
                <a:r>
                  <a:rPr dirty="0"/>
                  <a:t> </a:t>
                </a:r>
                <a:r>
                  <a:rPr dirty="0" err="1"/>
                  <a:t>actuar</a:t>
                </a:r>
                <a:r>
                  <a:rPr dirty="0"/>
                  <a:t>?</a:t>
                </a:r>
              </a:p>
            </p:txBody>
          </p:sp>
        </mc:Choice>
        <mc:Fallback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645920"/>
                <a:ext cx="11091672" cy="43891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5400">
                <a:solidFill>
                  <a:srgbClr val="E98F71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8F71"/>
                </a:solidFill>
                <a:latin typeface="Outfit"/>
              </a:defRPr>
            </a:pPr>
            <a:r>
              <a:t>BLOQUE 5 · SUBIDA FOTOGRÁFICA (2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96012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Envío Digital Autenticado del Reto Manuscrito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F3A30"/>
                </a:solidFill>
                <a:latin typeface="Calibri"/>
              </a:defRPr>
            </a:pPr>
            <a:r>
              <a:t>Fotografía y subida instantánea mediante código QR institucional UPO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61288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E7162"/>
                </a:solidFill>
                <a:latin typeface="Calibri"/>
              </a:defRPr>
            </a:pPr>
            <a:r>
              <a:t>Políticas Sociolaborales y de Empleo · Grado en RRLL y RRHH / Doble Grado DER-RRLL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E7162"/>
                </a:solidFill>
                <a:latin typeface="Calibri"/>
              </a:defRPr>
            </a:pPr>
            <a:r>
              <a:t>15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685800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E98F71"/>
                </a:solidFill>
                <a:latin typeface="Outfit"/>
              </a:defRPr>
            </a:pPr>
            <a:r>
              <a:t>PASAPORTE DE EVALUACIÓN CONTINUA · PSLL</a:t>
            </a:r>
          </a:p>
          <a:p>
            <a:pPr>
              <a:spcAft>
                <a:spcPts val="800"/>
              </a:spcAft>
              <a:defRPr sz="1600" b="1">
                <a:solidFill>
                  <a:srgbClr val="113927"/>
                </a:solidFill>
                <a:latin typeface="Outfit"/>
              </a:defRPr>
            </a:pPr>
            <a:r>
              <a:t>Instrucciones de Entrega (2 minutos):</a:t>
            </a:r>
          </a:p>
          <a:p>
            <a:pPr>
              <a:spcAft>
                <a:spcPts val="600"/>
              </a:spcAft>
              <a:defRPr sz="1500">
                <a:solidFill>
                  <a:srgbClr val="2F3A30"/>
                </a:solidFill>
                <a:latin typeface="Calibri"/>
              </a:defRPr>
            </a:pPr>
            <a:r>
              <a:t>1. Identificación: Escribe tu Nombre, Apellidos y DNI bien legibles en la cabecera de la cuartilla manuscrita.</a:t>
            </a:r>
          </a:p>
          <a:p>
            <a:pPr>
              <a:spcAft>
                <a:spcPts val="600"/>
              </a:spcAft>
              <a:defRPr sz="1500">
                <a:solidFill>
                  <a:srgbClr val="2F3A30"/>
                </a:solidFill>
                <a:latin typeface="Calibri"/>
              </a:defRPr>
            </a:pPr>
            <a:r>
              <a:t>2. Fotografía: Captura una foto clara, enfocada y vertical de tu resolución.</a:t>
            </a:r>
          </a:p>
          <a:p>
            <a:pPr>
              <a:spcAft>
                <a:spcPts val="600"/>
              </a:spcAft>
              <a:defRPr sz="1500">
                <a:solidFill>
                  <a:srgbClr val="2F3A30"/>
                </a:solidFill>
                <a:latin typeface="Calibri"/>
              </a:defRPr>
            </a:pPr>
            <a:r>
              <a:t>3. Acceso: Escanea el código QR de la derecha o entra en Forms con tu cuenta institucional (@alu.upo.es).</a:t>
            </a:r>
          </a:p>
          <a:p>
            <a:pPr>
              <a:spcAft>
                <a:spcPts val="600"/>
              </a:spcAft>
              <a:defRPr sz="1500">
                <a:solidFill>
                  <a:srgbClr val="2F3A30"/>
                </a:solidFill>
                <a:latin typeface="Calibri"/>
              </a:defRPr>
            </a:pPr>
            <a:r>
              <a:t>4. Subida: Adjunta la imagen y pulsa Enviar antes de que venza el tiempo.</a:t>
            </a:r>
          </a:p>
          <a:p>
            <a:pPr>
              <a:spcAft>
                <a:spcPts val="600"/>
              </a:spcAft>
              <a:defRPr sz="1500">
                <a:solidFill>
                  <a:srgbClr val="2F3A30"/>
                </a:solidFill>
                <a:latin typeface="Calibri"/>
              </a:defRPr>
            </a:pPr>
            <a:r>
              <a:t>5. Beneficio: Las entregas válidas acumulan puntuación continua para el Pasaporte Digital y desbloquean ventajas para el examen final (70%).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645920"/>
            <a:ext cx="393192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rtlCol="0" anchor="ctr"/>
          <a:lstStyle/>
          <a:p>
            <a:pPr algn="ctr">
              <a:defRPr sz="1500" b="1">
                <a:solidFill>
                  <a:srgbClr val="E98F71"/>
                </a:solidFill>
                <a:latin typeface="Outfit"/>
              </a:defRPr>
            </a:pPr>
            <a:r>
              <a:t>ESCANEA PARA SUBIR TU RETO</a:t>
            </a:r>
          </a:p>
          <a:p>
            <a:pPr algn="ctr">
              <a:spcAft>
                <a:spcPts val="800"/>
              </a:spcAft>
              <a:defRPr sz="1300">
                <a:solidFill>
                  <a:srgbClr val="2F3A30"/>
                </a:solidFill>
                <a:latin typeface="Calibri"/>
              </a:defRPr>
            </a:pPr>
            <a:r>
              <a:t>Microsoft Forms Oficial · Cuenta UPO</a:t>
            </a:r>
            <a:br/>
            <a:r>
              <a:t>Tiempo límite de subida: 2 minutos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553212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13927"/>
                </a:solidFill>
                <a:latin typeface="Calibri"/>
              </a:defRPr>
            </a:pPr>
            <a:r>
              <a:t>forms.office.com/e/PSLL_Reto_Sesion04</a:t>
            </a:r>
          </a:p>
        </p:txBody>
      </p:sp>
      <p:pic>
        <p:nvPicPr>
          <p:cNvPr id="12" name="Imagen 11" descr="Código QR">
            <a:extLst>
              <a:ext uri="{FF2B5EF4-FFF2-40B4-BE49-F238E27FC236}">
                <a16:creationId xmlns:a16="http://schemas.microsoft.com/office/drawing/2014/main" id="{FB6CD790-6A75-7123-826E-91A202E614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4147" y="2181987"/>
            <a:ext cx="3316986" cy="331698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3241</Words>
  <Application>Microsoft Office PowerPoint</Application>
  <PresentationFormat>Panorámica</PresentationFormat>
  <Paragraphs>186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 Math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Manuel Alejandro Hidalgo Perez</cp:lastModifiedBy>
  <cp:revision>3</cp:revision>
  <dcterms:created xsi:type="dcterms:W3CDTF">2013-01-27T09:14:16Z</dcterms:created>
  <dcterms:modified xsi:type="dcterms:W3CDTF">2026-09-22T07:16:50Z</dcterms:modified>
  <cp:category/>
</cp:coreProperties>
</file>