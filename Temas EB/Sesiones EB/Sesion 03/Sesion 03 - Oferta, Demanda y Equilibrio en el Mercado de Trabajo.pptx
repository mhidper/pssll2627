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3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psll_u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1744" y="502920"/>
            <a:ext cx="4389120" cy="23938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06324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Outfit"/>
              </a:defRPr>
            </a:pPr>
            <a:r>
              <a:t>POLÍTICAS SOCIOLABORALES Y DE EMPLEO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>
                <a:solidFill>
                  <a:srgbClr val="E98F71"/>
                </a:solidFill>
                <a:latin typeface="Outfit"/>
              </a:defRPr>
            </a:pPr>
            <a:r>
              <a:t>Sesión 3 – Oferta, Demanda y Salario de Reserva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6052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3EFDC"/>
                </a:solidFill>
                <a:latin typeface="Calibri"/>
              </a:defRPr>
            </a:pPr>
            <a:r>
              <a:t>Lunes 21 de septiembre de 2026  ·  Código 102023  ·  Manuel A. Hidalgo Pérez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upo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126480"/>
            <a:ext cx="452628" cy="640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88720" y="626364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F3A30"/>
                </a:solidFill>
                <a:latin typeface="Calibri"/>
              </a:defRPr>
            </a:pPr>
            <a:r>
              <a:t>Grado en Relaciones Laborales y Recursos Humanos · Doble Grado en Derecho y RRLL-RRHH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6927A"/>
                </a:solidFill>
                <a:latin typeface="Calibri"/>
              </a:defRPr>
            </a:pPr>
            <a:r>
              <a:t>ORGANIZACIÓN DOCENTE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13927"/>
                </a:solidFill>
                <a:latin typeface="Outfit"/>
              </a:defRPr>
            </a:pPr>
            <a:r>
              <a:t>Estructura de la Sesión 3 (90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6927A"/>
                </a:solidFill>
                <a:latin typeface="Calibri"/>
              </a:defRPr>
            </a:pPr>
            <a:r>
              <a:t>Modelo de Aula Invertida y Laboratorio Activo de Aprendizaje</a:t>
            </a:r>
          </a:p>
        </p:txBody>
      </p:sp>
      <p:pic>
        <p:nvPicPr>
          <p:cNvPr id="5" name="Picture 4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365760"/>
            <a:ext cx="1158544" cy="365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6927A"/>
                </a:solidFill>
              </a:defRPr>
            </a:pPr>
            <a:r>
              <a:t>Políticas Sociolaborales y de Empleo · Grado en RRLL y RRHH / Derecho · UPO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6927A"/>
                </a:solidFill>
              </a:defRPr>
            </a:pPr>
            <a:r>
              <a:t>2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2651760" cy="3931920"/>
          </a:xfrm>
          <a:prstGeom prst="roundRect">
            <a:avLst/>
          </a:prstGeom>
          <a:solidFill>
            <a:srgbClr val="F4F8F5"/>
          </a:solidFill>
          <a:ln>
            <a:solidFill>
              <a:srgbClr val="769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98F71"/>
                </a:solidFill>
                <a:latin typeface="Outfit"/>
              </a:defRPr>
            </a:pPr>
            <a:r>
              <a:t>15 min</a:t>
            </a:r>
          </a:p>
          <a:p>
            <a:pPr>
              <a:defRPr sz="1400" b="1">
                <a:solidFill>
                  <a:srgbClr val="113927"/>
                </a:solidFill>
                <a:latin typeface="Outfit"/>
              </a:defRPr>
            </a:pPr>
            <a:r>
              <a:t>1. Noticia, Sondeo y Choque</a:t>
            </a:r>
          </a:p>
          <a:p>
            <a:pPr>
              <a:defRPr sz="1200">
                <a:solidFill>
                  <a:srgbClr val="2F3A30"/>
                </a:solidFill>
                <a:latin typeface="Calibri"/>
              </a:defRPr>
            </a:pPr>
            <a:r>
              <a:t>Noticia del día sobre vacantes, sondeo Forms en vivo (decisión de trabajar) y el dilema del Salario de Reserva.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2011680"/>
            <a:ext cx="2651760" cy="3931920"/>
          </a:xfrm>
          <a:prstGeom prst="roundRect">
            <a:avLst/>
          </a:prstGeom>
          <a:solidFill>
            <a:srgbClr val="F4F8F5"/>
          </a:solidFill>
          <a:ln>
            <a:solidFill>
              <a:srgbClr val="769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98F71"/>
                </a:solidFill>
                <a:latin typeface="Outfit"/>
              </a:defRPr>
            </a:pPr>
            <a:r>
              <a:t>25 min</a:t>
            </a:r>
          </a:p>
          <a:p>
            <a:pPr>
              <a:defRPr sz="1400" b="1">
                <a:solidFill>
                  <a:srgbClr val="113927"/>
                </a:solidFill>
                <a:latin typeface="Outfit"/>
              </a:defRPr>
            </a:pPr>
            <a:r>
              <a:t>2. Mini-Lección: Oferta y Demanda</a:t>
            </a:r>
          </a:p>
          <a:p>
            <a:pPr>
              <a:defRPr sz="1200">
                <a:solidFill>
                  <a:srgbClr val="2F3A30"/>
                </a:solidFill>
                <a:latin typeface="Calibri"/>
              </a:defRPr>
            </a:pPr>
            <a:r>
              <a:t>La disyuntiva ocio-consumo, restricción presupuestaria, Efecto Sustitución vs. Renta, Salario de Reserva (wR) y PMgL.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79" y="2011680"/>
            <a:ext cx="2651760" cy="3931920"/>
          </a:xfrm>
          <a:prstGeom prst="roundRect">
            <a:avLst/>
          </a:prstGeom>
          <a:solidFill>
            <a:srgbClr val="F4F8F5"/>
          </a:solidFill>
          <a:ln>
            <a:solidFill>
              <a:srgbClr val="769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98F71"/>
                </a:solidFill>
                <a:latin typeface="Outfit"/>
              </a:defRPr>
            </a:pPr>
            <a:r>
              <a:t>20 min</a:t>
            </a:r>
          </a:p>
          <a:p>
            <a:pPr>
              <a:defRPr sz="1400" b="1">
                <a:solidFill>
                  <a:srgbClr val="113927"/>
                </a:solidFill>
                <a:latin typeface="Outfit"/>
              </a:defRPr>
            </a:pPr>
            <a:r>
              <a:t>3. Laboratorio Micro-App</a:t>
            </a:r>
          </a:p>
          <a:p>
            <a:pPr>
              <a:defRPr sz="1200">
                <a:solidFill>
                  <a:srgbClr val="2F3A30"/>
                </a:solidFill>
                <a:latin typeface="Calibri"/>
              </a:defRPr>
            </a:pPr>
            <a:r>
              <a:t>Simulación individual desde el móvil como Analista de Empleo (Casos límite de colocación adecuada y trampas del subsidio).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15399" y="2011680"/>
            <a:ext cx="2651760" cy="3931920"/>
          </a:xfrm>
          <a:prstGeom prst="roundRect">
            <a:avLst/>
          </a:prstGeom>
          <a:solidFill>
            <a:srgbClr val="F4F8F5"/>
          </a:solidFill>
          <a:ln>
            <a:solidFill>
              <a:srgbClr val="769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98F71"/>
                </a:solidFill>
                <a:latin typeface="Outfit"/>
              </a:defRPr>
            </a:pPr>
            <a:r>
              <a:t>30 min</a:t>
            </a:r>
          </a:p>
          <a:p>
            <a:pPr>
              <a:defRPr sz="1400" b="1">
                <a:solidFill>
                  <a:srgbClr val="113927"/>
                </a:solidFill>
                <a:latin typeface="Outfit"/>
              </a:defRPr>
            </a:pPr>
            <a:r>
              <a:t>4. Reto Final y Evaluación Anti-IA</a:t>
            </a:r>
          </a:p>
          <a:p>
            <a:pPr>
              <a:defRPr sz="1200">
                <a:solidFill>
                  <a:srgbClr val="2F3A30"/>
                </a:solidFill>
                <a:latin typeface="Calibri"/>
              </a:defRPr>
            </a:pPr>
            <a:r>
              <a:t>Resolución de caso de examen redactado a mano en papel (10 min), subida con QR en Forms (2 min) y rúbrica oficial (5 min).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6927A"/>
                </a:solidFill>
                <a:latin typeface="Calibri"/>
              </a:defRPr>
            </a:pPr>
            <a:r>
              <a:t>BLOQUE 1 · NOTICIA DEL DÍA Y SONDEO (5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13927"/>
                </a:solidFill>
                <a:latin typeface="Outfit"/>
              </a:defRPr>
            </a:pPr>
            <a:r>
              <a:t>La Noticia del Día: ¿Por qué se Rechazan Empleos?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6927A"/>
                </a:solidFill>
                <a:latin typeface="Calibri"/>
              </a:defRPr>
            </a:pPr>
            <a:r>
              <a:t>Vota con tu teléfono móvil antes de analizar los microdatos del mercado laboral</a:t>
            </a:r>
          </a:p>
        </p:txBody>
      </p:sp>
      <p:pic>
        <p:nvPicPr>
          <p:cNvPr id="5" name="Picture 4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365760"/>
            <a:ext cx="1158544" cy="365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6927A"/>
                </a:solidFill>
              </a:defRPr>
            </a:pPr>
            <a:r>
              <a:t>Políticas Sociolaborales y de Empleo · Grado en RRLL y RRHH / Derecho · UPO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6927A"/>
                </a:solidFill>
              </a:defRPr>
            </a:pPr>
            <a:r>
              <a:t>3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45920"/>
            <a:ext cx="7498079" cy="4389120"/>
          </a:xfrm>
          <a:prstGeom prst="roundRect">
            <a:avLst/>
          </a:prstGeom>
          <a:solidFill>
            <a:srgbClr val="F4F8F5"/>
          </a:solidFill>
          <a:ln>
            <a:solidFill>
              <a:srgbClr val="113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13927"/>
                </a:solidFill>
                <a:latin typeface="Outfit"/>
              </a:defRPr>
            </a:pPr>
            <a:r>
              <a:t>LA NOTICIA Y EL DEBATE DE HOY</a:t>
            </a:r>
          </a:p>
          <a:p>
            <a:pPr>
              <a:defRPr sz="1400" b="1">
                <a:solidFill>
                  <a:srgbClr val="E98F71"/>
                </a:solidFill>
                <a:latin typeface="Calibri"/>
              </a:defRPr>
            </a:pPr>
            <a:r>
              <a:t>«Ofertas de trabajo a jornada completa por 1.150 €/mes netos en servicios quedan sin cubrir en ciudades con altos costes de alquiler y transporte. Si te ofrecen este empleo perdiendo un subsidio de 480 € y gastando 180 € en transporte, ¿qué decidirías?»</a:t>
            </a:r>
          </a:p>
          <a:p>
            <a:pPr>
              <a:defRPr sz="1300">
                <a:solidFill>
                  <a:srgbClr val="2F3A30"/>
                </a:solidFill>
                <a:latin typeface="Calibri"/>
              </a:defRPr>
            </a:pPr>
            <a:r>
              <a:t>A) Aceptar el empleo para ganar experiencia, aunque la ganancia neta real sea casi nula.</a:t>
            </a:r>
            <a:br/>
            <a:r>
              <a:t>B) Rechazar la oferta porque el salario ofertado queda por debajo de mi Salario de Reserva (w &lt; wR).</a:t>
            </a:r>
            <a:br/>
            <a:r>
              <a:t>C) Exigir un contrato a tiempo parcial para no perder el subsidio asistencial.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645920"/>
            <a:ext cx="3291840" cy="4389120"/>
          </a:xfrm>
          <a:prstGeom prst="roundRect">
            <a:avLst/>
          </a:prstGeom>
          <a:solidFill>
            <a:srgbClr val="113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Outfit"/>
              </a:defRPr>
            </a:pPr>
            <a:r>
              <a:t>ESCANEA PARA VOTAR</a:t>
            </a:r>
          </a:p>
          <a:p>
            <a:pPr algn="ctr">
              <a:defRPr sz="1200">
                <a:solidFill>
                  <a:srgbClr val="F3EFDC"/>
                </a:solidFill>
                <a:latin typeface="Calibri"/>
              </a:defRPr>
            </a:pPr>
            <a:r>
              <a:t>Acceso con cuenta UPO (@alu.upo.es)</a:t>
            </a:r>
            <a:br/>
            <a:r>
              <a:t>Votación en 30 segundos desde el móvil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6927A"/>
                </a:solidFill>
                <a:latin typeface="Calibri"/>
              </a:defRPr>
            </a:pPr>
            <a:r>
              <a:t>BLOQUE 1 · CHOQUE EMPÍRICO (10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13927"/>
                </a:solidFill>
                <a:latin typeface="Outfit"/>
              </a:defRPr>
            </a:pPr>
            <a:r>
              <a:t>El Salario de Reserva: Decisión Analítica vs. Prejuicio Moral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6927A"/>
                </a:solidFill>
                <a:latin typeface="Calibri"/>
              </a:defRPr>
            </a:pPr>
            <a:r>
              <a:t>El comportamiento microeconómico real ante la trampa de la pobreza</a:t>
            </a:r>
          </a:p>
        </p:txBody>
      </p:sp>
      <p:pic>
        <p:nvPicPr>
          <p:cNvPr id="5" name="Picture 4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365760"/>
            <a:ext cx="1158544" cy="365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6927A"/>
                </a:solidFill>
              </a:defRPr>
            </a:pPr>
            <a:r>
              <a:t>Políticas Sociolaborales y de Empleo · Grado en RRLL y RRHH / Derecho · UPO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6927A"/>
                </a:solidFill>
              </a:defRPr>
            </a:pPr>
            <a:r>
              <a:t>4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45920"/>
            <a:ext cx="5303520" cy="4389120"/>
          </a:xfrm>
          <a:prstGeom prst="roundRect">
            <a:avLst/>
          </a:prstGeom>
          <a:solidFill>
            <a:srgbClr val="F4F8F5"/>
          </a:solidFill>
          <a:ln>
            <a:solidFill>
              <a:srgbClr val="769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13927"/>
                </a:solidFill>
                <a:latin typeface="Outfit"/>
              </a:defRPr>
            </a:pPr>
            <a:r>
              <a:t>1. EL CONCEPTO DE SALARIO DE RESERVA (wR)</a:t>
            </a:r>
          </a:p>
          <a:p>
            <a:pPr>
              <a:defRPr sz="1400">
                <a:solidFill>
                  <a:srgbClr val="2F3A30"/>
                </a:solidFill>
                <a:latin typeface="Calibri"/>
              </a:defRPr>
            </a:pPr>
            <a:r>
              <a:t>• Umbral Mínimo de Aceptación:</a:t>
            </a:r>
            <a:br/>
            <a:r>
              <a:t>Un individuo solo acepta trabajar si el salario real neto ofertado supera su Salario de Reserva (w &gt;= wR).</a:t>
            </a:r>
            <a:br/>
            <a:br/>
            <a:r>
              <a:t>• Factores que elevan wR:</a:t>
            </a:r>
            <a:br/>
            <a:r>
              <a:t>Prestaciones por desempleo, subsidios familiares, costes de transporte e hipoteca/alquiler.</a:t>
            </a:r>
            <a:br/>
            <a:br/>
            <a:r>
              <a:t>• La Racionalidad Microeconómica:</a:t>
            </a:r>
            <a:br/>
            <a:r>
              <a:t>Rechazar un empleo cuando w &lt; wR no es un fallo moral, sino una respuesta optimizadora ante una ganancia neta nula o negativa.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394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9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98F71"/>
                </a:solidFill>
                <a:latin typeface="Outfit"/>
              </a:defRPr>
            </a:pPr>
            <a:r>
              <a:t>2. LA TRAMPA DE LA POBREZA EN ESPAÑA</a:t>
            </a:r>
          </a:p>
          <a:p>
            <a:pPr>
              <a:defRPr sz="1400">
                <a:solidFill>
                  <a:srgbClr val="2F3A30"/>
                </a:solidFill>
                <a:latin typeface="Calibri"/>
              </a:defRPr>
            </a:pPr>
            <a:r>
              <a:t>• Tipo Marginal Efectivo de Gravamen (METR):</a:t>
            </a:r>
            <a:br/>
            <a:r>
              <a:t>Perder 480 € de subsidio al ganar 1.150 € brutos genera una pérdida impositiva/subsidio implícita superior al 70%.</a:t>
            </a:r>
            <a:br/>
            <a:br/>
            <a:r>
              <a:t>• El Coste del Desplazamiento:</a:t>
            </a:r>
            <a:br/>
            <a:r>
              <a:t>Sumar 180 € en transporte convierte el salario neto por hora trabajada en apenas 2,50 €/h reales.</a:t>
            </a:r>
            <a:br/>
            <a:br/>
            <a:r>
              <a:t>• El Reto de Políticas Públicas:</a:t>
            </a:r>
            <a:br/>
            <a:r>
              <a:t>Diseñar incentivos al empleo (compatibilidad parcial) para desactivar la trampa sin desamparar al desempleado.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6927A"/>
                </a:solidFill>
                <a:latin typeface="Calibri"/>
              </a:defRPr>
            </a:pPr>
            <a:r>
              <a:t>BLOQUE 2 · MINI-LECCIÓN 1 (25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13927"/>
                </a:solidFill>
                <a:latin typeface="Outfit"/>
              </a:defRPr>
            </a:pPr>
            <a:r>
              <a:t>La Decisión Individual de Oferta: Ocio vs. Consumo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6927A"/>
                </a:solidFill>
                <a:latin typeface="Calibri"/>
              </a:defRPr>
            </a:pPr>
            <a:r>
              <a:t>Derivación microeconómica de la curva de oferta laboral</a:t>
            </a:r>
          </a:p>
        </p:txBody>
      </p:sp>
      <p:pic>
        <p:nvPicPr>
          <p:cNvPr id="5" name="Picture 4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365760"/>
            <a:ext cx="1158544" cy="365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6927A"/>
                </a:solidFill>
              </a:defRPr>
            </a:pPr>
            <a:r>
              <a:t>Políticas Sociolaborales y de Empleo · Grado en RRLL y RRHH / Derecho · UPO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6927A"/>
                </a:solidFill>
              </a:defRPr>
            </a:pPr>
            <a:r>
              <a:t>5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45920"/>
            <a:ext cx="11064240" cy="4389120"/>
          </a:xfrm>
          <a:prstGeom prst="roundRect">
            <a:avLst/>
          </a:prstGeom>
          <a:solidFill>
            <a:srgbClr val="F4F8F5"/>
          </a:solidFill>
          <a:ln>
            <a:solidFill>
              <a:srgbClr val="113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13927"/>
                </a:solidFill>
                <a:latin typeface="Outfit"/>
              </a:defRPr>
            </a:pPr>
            <a:r>
              <a:t>RESTRICCIÓN PRESUPUESTARIA Y TENSION EFECTO RENTA / SUSTITUCIÓN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1. La Restricción Presupuestaria:</a:t>
            </a:r>
            <a:br/>
            <a:r>
              <a:t>El consumo de bienes (C) depende de las horas trabajadas a salario (w) más las rentas no salariales (Y_NS):</a:t>
            </a:r>
            <a:br/>
            <a:r>
              <a:t>   C = w · (T - L) + Y_NS   (donde T es tiempo total y L es tiempo de ocio).</a:t>
            </a:r>
            <a:br/>
            <a:br/>
            <a:r>
              <a:t>2. El Salario como Coste de Oportunidad:</a:t>
            </a:r>
            <a:br/>
            <a:r>
              <a:t>El salario (w) representa el precio del ocio. Cuando el salario sube, el ocio se vuelve más caro.</a:t>
            </a:r>
            <a:br/>
            <a:br/>
            <a:r>
              <a:t>3. Dos Efectos Contrapuestos:</a:t>
            </a:r>
            <a:br/>
            <a:r>
              <a:t>• Efecto Sustitución (ES): Al subir w, el ocio es más caro -&gt; sustituyo ocio por trabajo (aumento horas ofrecidas).</a:t>
            </a:r>
            <a:br/>
            <a:r>
              <a:t>• Efecto Renta (ER): Al subir w, soy más rico -&gt; demando más ocio (reduzco horas ofrecidas).</a:t>
            </a:r>
            <a:br/>
            <a:br/>
            <a:r>
              <a:t>4. Curva de Oferta Dobada hacia Atrás (Backward-Bending):</a:t>
            </a:r>
            <a:br/>
            <a:r>
              <a:t>A salarios bajos domina el Efecto Sustitución (oferta creciente); a salarios muy elevados domina el Efecto Renta (oferta decreciente).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6927A"/>
                </a:solidFill>
                <a:latin typeface="Calibri"/>
              </a:defRPr>
            </a:pPr>
            <a:r>
              <a:t>BLOQUE 2 · MINI-LECCIÓN 1 (CONTINUACIÓN)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13927"/>
                </a:solidFill>
                <a:latin typeface="Outfit"/>
              </a:defRPr>
            </a:pPr>
            <a:r>
              <a:t>El Salario de Reserva (wR) y las Políticas Públicas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6927A"/>
                </a:solidFill>
                <a:latin typeface="Calibri"/>
              </a:defRPr>
            </a:pPr>
            <a:r>
              <a:t>El umbral analítico de participación en el mercado de trabajo</a:t>
            </a:r>
          </a:p>
        </p:txBody>
      </p:sp>
      <p:pic>
        <p:nvPicPr>
          <p:cNvPr id="5" name="Picture 4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365760"/>
            <a:ext cx="1158544" cy="365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6927A"/>
                </a:solidFill>
              </a:defRPr>
            </a:pPr>
            <a:r>
              <a:t>Políticas Sociolaborales y de Empleo · Grado en RRLL y RRHH / Derecho · UPO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6927A"/>
                </a:solidFill>
              </a:defRPr>
            </a:pPr>
            <a:r>
              <a:t>6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45920"/>
            <a:ext cx="110642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769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13927"/>
                </a:solidFill>
                <a:latin typeface="Outfit"/>
              </a:defRPr>
            </a:pPr>
            <a:r>
              <a:t>FORMALIZACIÓN ANALÍTICA DEL SALARIO DE RESERVA (wR)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1. Definición Formal:</a:t>
            </a:r>
            <a:br/>
            <a:r>
              <a:t>El Salario de Reserva (wR) es la tasa salarial marginal que iguala la utilidad de no trabajar (L = T) con la utilidad de trabajar la primera hora.</a:t>
            </a:r>
            <a:br/>
            <a:br/>
            <a:r>
              <a:t>2. Condición de Participación:</a:t>
            </a:r>
            <a:br/>
            <a:r>
              <a:t>   • Si w ofertado &gt;= wR -&gt; El individuo entra al mercado laboral y ofrece horas de trabajo.</a:t>
            </a:r>
            <a:br/>
            <a:r>
              <a:t>   • Si w ofertado &lt; wR  -&gt; El individuo permanece en inactividad o desempleo voluntario.</a:t>
            </a:r>
            <a:br/>
            <a:br/>
            <a:r>
              <a:t>3. Impacto de las Políticas de Rentas y Subsidios:</a:t>
            </a:r>
            <a:br/>
            <a:r>
              <a:t>   • Un incremento en las rentas no salariales (Y_NS) o en los subsidios asistenciales desplaza wR hacia arriba.</a:t>
            </a:r>
            <a:br/>
            <a:r>
              <a:t>   • Si wR sube por encima del salario de mercado para ocupaciones no cualificadas, se genera la 'trampa de la pobreza'.</a:t>
            </a:r>
            <a:br/>
            <a:br/>
            <a:r>
              <a:t>4. Aplicación a las Políticas Activas:</a:t>
            </a:r>
            <a:br/>
            <a:r>
              <a:t>Para aumentar la tasa de actividad, las políticas laborales pueden actuar reduciendo los costes de desplazamiento o mejorando el salario neto mediante complementos salariales (EITC).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6927A"/>
                </a:solidFill>
                <a:latin typeface="Calibri"/>
              </a:defRPr>
            </a:pPr>
            <a:r>
              <a:t>BLOQUE 3 · MINI-LECCIÓN 2 (25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13927"/>
                </a:solidFill>
                <a:latin typeface="Outfit"/>
              </a:defRPr>
            </a:pPr>
            <a:r>
              <a:t>La Demanda de Trabajo Empresarial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6927A"/>
                </a:solidFill>
                <a:latin typeface="Calibri"/>
              </a:defRPr>
            </a:pPr>
            <a:r>
              <a:t>La productividad marginal como fundamento de la contratación</a:t>
            </a:r>
          </a:p>
        </p:txBody>
      </p:sp>
      <p:pic>
        <p:nvPicPr>
          <p:cNvPr id="5" name="Picture 4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365760"/>
            <a:ext cx="1158544" cy="365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6927A"/>
                </a:solidFill>
              </a:defRPr>
            </a:pPr>
            <a:r>
              <a:t>Políticas Sociolaborales y de Empleo · Grado en RRLL y RRHH / Derecho · UPO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6927A"/>
                </a:solidFill>
              </a:defRPr>
            </a:pPr>
            <a:r>
              <a:t>7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45920"/>
            <a:ext cx="11064240" cy="4389120"/>
          </a:xfrm>
          <a:prstGeom prst="roundRect">
            <a:avLst/>
          </a:prstGeom>
          <a:solidFill>
            <a:srgbClr val="F4F8F5"/>
          </a:solidFill>
          <a:ln>
            <a:solidFill>
              <a:srgbClr val="113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13927"/>
                </a:solidFill>
                <a:latin typeface="Outfit"/>
              </a:defRPr>
            </a:pPr>
            <a:r>
              <a:t>LA DEMANDA DERIVADA Y EL COSTE LABORAL EFECTIVO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1. La Demanda Laboral como Demanda Derivada:</a:t>
            </a:r>
            <a:br/>
            <a:r>
              <a:t>Las empresas no demandan trabajadores por consumo directo, sino por el valor del producto que generan (Valor del Producto Marginal del Trabajo: VPMgL = P · PMgL).</a:t>
            </a:r>
            <a:br/>
            <a:br/>
            <a:r>
              <a:t>2. Regla de Maximización de Beneficios:</a:t>
            </a:r>
            <a:br/>
            <a:r>
              <a:t>Una empresa competitiva contrata trabajadores hasta el punto exacto en que el valor marginal iguala el coste laboral total por hora:</a:t>
            </a:r>
            <a:br/>
            <a:r>
              <a:t>   P · PMgL = w · (1 + tau)</a:t>
            </a:r>
            <a:br/>
            <a:r>
              <a:t>   (donde tau representa la tasa de cotizaciones a la Seguridad Social a cargo del empleador).</a:t>
            </a:r>
            <a:br/>
            <a:br/>
            <a:r>
              <a:t>3. Elasticidad de la Demanda Laboral:</a:t>
            </a:r>
            <a:br/>
            <a:r>
              <a:t>La sensibilidad de la contratación ante subidas salariales depende de:</a:t>
            </a:r>
            <a:br/>
            <a:r>
              <a:t>   • La facilidad de sustitución entre trabajo y capital (tecnología/automatización).</a:t>
            </a:r>
            <a:br/>
            <a:r>
              <a:t>   • El peso de los costes laborales sobre los costes totales de producción.</a:t>
            </a:r>
            <a:br/>
            <a:r>
              <a:t>   • La elasticidad precio de la demanda del producto final.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6927A"/>
                </a:solidFill>
                <a:latin typeface="Calibri"/>
              </a:defRPr>
            </a:pPr>
            <a:r>
              <a:t>BLOQUE 3 · EQUILIBRIO DE MERCADO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13927"/>
                </a:solidFill>
                <a:latin typeface="Outfit"/>
              </a:defRPr>
            </a:pPr>
            <a:r>
              <a:t>Determinación de Salarios y Empleo de Equilibrio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6927A"/>
                </a:solidFill>
                <a:latin typeface="Calibri"/>
              </a:defRPr>
            </a:pPr>
            <a:r>
              <a:t>Excedentes, rigideces y ajuste institucional</a:t>
            </a:r>
          </a:p>
        </p:txBody>
      </p:sp>
      <p:pic>
        <p:nvPicPr>
          <p:cNvPr id="5" name="Picture 4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365760"/>
            <a:ext cx="1158544" cy="365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6927A"/>
                </a:solidFill>
              </a:defRPr>
            </a:pPr>
            <a:r>
              <a:t>Políticas Sociolaborales y de Empleo · Grado en RRLL y RRHH / Derecho · UPO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6927A"/>
                </a:solidFill>
              </a:defRPr>
            </a:pPr>
            <a:r>
              <a:t>8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45920"/>
            <a:ext cx="110642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769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13927"/>
                </a:solidFill>
                <a:latin typeface="Outfit"/>
              </a:defRPr>
            </a:pPr>
            <a:r>
              <a:t>EQUILIBRIO COMPETITIVO VS. INSTITUCIONAL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1. El Salario Real de Equilibrio (w/P)*:</a:t>
            </a:r>
            <a:br/>
            <a:r>
              <a:t>Intersección entre la curva de oferta agregada de trabajo (LS) y la demanda agregada (LD). Determina el nivel de empleo pleno de mercado (L*).</a:t>
            </a:r>
            <a:br/>
            <a:br/>
            <a:r>
              <a:t>2. Excedentes del Mercado:</a:t>
            </a:r>
            <a:br/>
            <a:r>
              <a:t>   • Excedente del Trabajador: Diferencia entre el salario cobrado y su salario de reserva (w - wR).</a:t>
            </a:r>
            <a:br/>
            <a:r>
              <a:t>   • Excedente de la Empresa: Diferencia entre el VPMgL producido y el salario pagado.</a:t>
            </a:r>
            <a:br/>
            <a:br/>
            <a:r>
              <a:t>3. Rigideces Salariales e Instituciones:</a:t>
            </a:r>
            <a:br/>
            <a:r>
              <a:t>   • Salarios Mínimos por encima del equilibrio -&gt; Crean exceso de oferta (desempleo involuntario) en sectores de bajo VAB.</a:t>
            </a:r>
            <a:br/>
            <a:r>
              <a:t>   • Negociación Colectiva y Salarios de Eficiencia -&gt; Elevan el salario por encima del nivel competitivo para reducir la rotación y motivar la plantilla.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6927A"/>
                </a:solidFill>
                <a:latin typeface="Calibri"/>
              </a:defRPr>
            </a:pPr>
            <a:r>
              <a:t>BLOQUE 4 · LABORATORIO ACTIVO (20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13927"/>
                </a:solidFill>
                <a:latin typeface="Outfit"/>
              </a:defRPr>
            </a:pPr>
            <a:r>
              <a:t>Simulador Individual: Colocación Adecuada y Salario de Reserva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6927A"/>
                </a:solidFill>
                <a:latin typeface="Calibri"/>
              </a:defRPr>
            </a:pPr>
            <a:r>
              <a:t>Aplicación práctica con la micro-app interactiva desde el teléfono móvil</a:t>
            </a:r>
          </a:p>
        </p:txBody>
      </p:sp>
      <p:pic>
        <p:nvPicPr>
          <p:cNvPr id="5" name="Picture 4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365760"/>
            <a:ext cx="1158544" cy="365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6927A"/>
                </a:solidFill>
              </a:defRPr>
            </a:pPr>
            <a:r>
              <a:t>Políticas Sociolaborales y de Empleo · Grado en RRLL y RRHH / Derecho · UPO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6927A"/>
                </a:solidFill>
              </a:defRPr>
            </a:pPr>
            <a:r>
              <a:t>9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45920"/>
            <a:ext cx="11064240" cy="4389120"/>
          </a:xfrm>
          <a:prstGeom prst="roundRect">
            <a:avLst/>
          </a:prstGeom>
          <a:solidFill>
            <a:srgbClr val="F4F8F5"/>
          </a:solidFill>
          <a:ln>
            <a:solidFill>
              <a:srgbClr val="113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13927"/>
                </a:solidFill>
                <a:latin typeface="Outfit"/>
              </a:defRPr>
            </a:pPr>
            <a:r>
              <a:t>OBJETIVOS DEL TALLER CON LA MICRO-APP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1. Experimentación Individual en Tiempo Real:</a:t>
            </a:r>
            <a:br/>
            <a:r>
              <a:t>Cada alumno asume el rol de Analista Técnico de Empleo utilizando la micro-app en su teléfono móvil.</a:t>
            </a:r>
            <a:br/>
            <a:br/>
            <a:r>
              <a:t>2. Evaluación de 4 Casos Límite Reales:</a:t>
            </a:r>
            <a:br/>
            <a:r>
              <a:t>   • Caso 1: La Ingeniera Industrial (Cualificación, guardería y distancia).</a:t>
            </a:r>
            <a:br/>
            <a:r>
              <a:t>   • Caso 2: El Comercial Senior (Salario fijo vs. variable y comisiones).</a:t>
            </a:r>
            <a:br/>
            <a:r>
              <a:t>   • Caso 3: La Dependienta de 58 años (Horario nocturno y cuidados familiares).</a:t>
            </a:r>
            <a:br/>
            <a:r>
              <a:t>   • Caso 4: El Joven Temporal (Contrato corto de 3 meses a 60 km).</a:t>
            </a:r>
            <a:br/>
            <a:br/>
            <a:r>
              <a:t>3. Diagnóstico de Políticas Públicas:</a:t>
            </a:r>
            <a:br/>
            <a:r>
              <a:t>Analizar si las ofertas son 'adecuadas' según la normativa laboral y ponderar cómo las ayudas públicas evitan o fomentan la trampa de la pobreza.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6927A"/>
                </a:solidFill>
                <a:latin typeface="Calibri"/>
              </a:defRPr>
            </a:pPr>
            <a:r>
              <a:t>BLOQUE 4 · MISIÓN TÉCNICA INDIVIDUAL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13927"/>
                </a:solidFill>
                <a:latin typeface="Outfit"/>
              </a:defRPr>
            </a:pPr>
            <a:r>
              <a:t>Acceso a la Micro-App desde el Móvil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6927A"/>
                </a:solidFill>
                <a:latin typeface="Calibri"/>
              </a:defRPr>
            </a:pPr>
            <a:r>
              <a:t>Escanea el código QR y resuelve la secuencia guiada de análisis</a:t>
            </a:r>
          </a:p>
        </p:txBody>
      </p:sp>
      <p:pic>
        <p:nvPicPr>
          <p:cNvPr id="5" name="Picture 4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365760"/>
            <a:ext cx="1158544" cy="365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6927A"/>
                </a:solidFill>
              </a:defRPr>
            </a:pPr>
            <a:r>
              <a:t>Políticas Sociolaborales y de Empleo · Grado en RRLL y RRHH / Derecho · UPO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6927A"/>
                </a:solidFill>
              </a:defRPr>
            </a:pPr>
            <a:r>
              <a:t>10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45920"/>
            <a:ext cx="68580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113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13927"/>
                </a:solidFill>
                <a:latin typeface="Outfit"/>
              </a:defRPr>
            </a:pPr>
            <a:r>
              <a:t>PASOS DE LA MISIÓN INDIVIDUAL (20 MIN)</a:t>
            </a:r>
          </a:p>
          <a:p>
            <a:pPr>
              <a:defRPr sz="1400">
                <a:solidFill>
                  <a:srgbClr val="2F3A30"/>
                </a:solidFill>
                <a:latin typeface="Calibri"/>
              </a:defRPr>
            </a:pPr>
            <a:r>
              <a:t>1. Escanea el código QR proyectado a la derecha desde tu teléfono móvil.</a:t>
            </a:r>
            <a:br/>
            <a:br/>
            <a:r>
              <a:t>2. Revisa los 6 Factores de Colocación Adecuada:</a:t>
            </a:r>
            <a:br/>
            <a:r>
              <a:t>   Distancia, Salario, Cualificación, Tiempo en Paro, Cargas Familiares y Jornada.</a:t>
            </a:r>
            <a:br/>
            <a:br/>
            <a:r>
              <a:t>3. Resuelve los 4 Casos de Debate en la App:</a:t>
            </a:r>
            <a:br/>
            <a:r>
              <a:t>   Determina para cada perfil si la oferta es legalmente adecuada y si el trabajador aceptará según su wR.</a:t>
            </a:r>
            <a:br/>
            <a:br/>
            <a:r>
              <a:t>4. Propuesta de Reforma:</a:t>
            </a:r>
            <a:br/>
            <a:r>
              <a:t>   Diseña una medida para hacer compatibles las prestaciones asistenciales con el empleo a tiempo parcial.</a:t>
            </a:r>
          </a:p>
        </p:txBody>
      </p:sp>
      <p:pic>
        <p:nvPicPr>
          <p:cNvPr id="9" name="Picture 8" descr="qr_microapp_sesion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645920"/>
            <a:ext cx="38404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6927A"/>
                </a:solidFill>
                <a:latin typeface="Calibri"/>
              </a:defRPr>
            </a:pPr>
            <a:r>
              <a:t>BLOQUE 5 · RETO INDIVIDUAL DE CIERRE (10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13927"/>
                </a:solidFill>
                <a:latin typeface="Outfit"/>
              </a:defRPr>
            </a:pPr>
            <a:r>
              <a:t>Reto Evaluativo de Aplicación Analítica en Papel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6927A"/>
                </a:solidFill>
                <a:latin typeface="Calibri"/>
              </a:defRPr>
            </a:pPr>
            <a:r>
              <a:t>Redacción individual de puño y letra en entorno controlado sin pantallas</a:t>
            </a:r>
          </a:p>
        </p:txBody>
      </p:sp>
      <p:pic>
        <p:nvPicPr>
          <p:cNvPr id="5" name="Picture 4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365760"/>
            <a:ext cx="1158544" cy="365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6927A"/>
                </a:solidFill>
              </a:defRPr>
            </a:pPr>
            <a:r>
              <a:t>Políticas Sociolaborales y de Empleo · Grado en RRLL y RRHH / Derecho · UPO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6927A"/>
                </a:solidFill>
              </a:defRPr>
            </a:pPr>
            <a:r>
              <a:t>11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45920"/>
            <a:ext cx="11064240" cy="4389120"/>
          </a:xfrm>
          <a:prstGeom prst="roundRect">
            <a:avLst/>
          </a:prstGeom>
          <a:solidFill>
            <a:srgbClr val="F4F8F5"/>
          </a:solidFill>
          <a:ln>
            <a:solidFill>
              <a:srgbClr val="E9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98F71"/>
                </a:solidFill>
                <a:latin typeface="Outfit"/>
              </a:defRPr>
            </a:pPr>
            <a:r>
              <a:t>CASO PRÁCTICO TIPO EXAMEN (10 MINUTOS)</a:t>
            </a:r>
          </a:p>
          <a:p>
            <a:pPr>
              <a:defRPr sz="1500">
                <a:solidFill>
                  <a:srgbClr val="2F3A30"/>
                </a:solidFill>
                <a:latin typeface="Calibri"/>
              </a:defRPr>
            </a:pPr>
            <a:r>
              <a:t>«Un trabajador desempleado percibe un subsidio asistencial de 480 €/mes (Y_NS). Recibe una oferta para trabajar como operario de logística a jornada completa por 1.150 € netos mensuales. Para acudir al puesto debe gastar 180 € al mes en combustible y perdería de forma inmediata la ayuda de 480 €.</a:t>
            </a:r>
            <a:br/>
            <a:br/>
            <a:r>
              <a:t>Responda en papel de su puño y letra:</a:t>
            </a:r>
            <a:br/>
            <a:r>
              <a:t>a) Calcule la ganancia neta real por hora trabajada de este operario.</a:t>
            </a:r>
            <a:br/>
            <a:r>
              <a:t>b) Explique analíticamente por qué el salario ofertado se sitúa por debajo de su Salario de Reserva (wR).</a:t>
            </a:r>
            <a:br/>
            <a:r>
              <a:t>c) Proponga una medida técnica de política sociolaboral para corregir esta rigidez sin desamparar al desempleado.»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6927A"/>
                </a:solidFill>
                <a:latin typeface="Calibri"/>
              </a:defRPr>
            </a:pPr>
            <a:r>
              <a:t>BLOQUE 5 · SUBIDA FOTOGRÁFICA (2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13927"/>
                </a:solidFill>
                <a:latin typeface="Outfit"/>
              </a:defRPr>
            </a:pPr>
            <a:r>
              <a:t>Envío Digital Autenticado del Reto Manuscrito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6927A"/>
                </a:solidFill>
                <a:latin typeface="Calibri"/>
              </a:defRPr>
            </a:pPr>
            <a:r>
              <a:t>Fotografía y subida instantánea mediante código QR institucional</a:t>
            </a:r>
          </a:p>
        </p:txBody>
      </p:sp>
      <p:pic>
        <p:nvPicPr>
          <p:cNvPr id="5" name="Picture 4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365760"/>
            <a:ext cx="1158544" cy="365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6927A"/>
                </a:solidFill>
              </a:defRPr>
            </a:pPr>
            <a:r>
              <a:t>Políticas Sociolaborales y de Empleo · Grado en RRLL y RRHH / Derecho · UPO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6927A"/>
                </a:solidFill>
              </a:defRPr>
            </a:pPr>
            <a:r>
              <a:t>12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45920"/>
            <a:ext cx="68580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113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13927"/>
                </a:solidFill>
                <a:latin typeface="Outfit"/>
              </a:defRPr>
            </a:pPr>
            <a:r>
              <a:t>INSTRUCCIONES DE SUBIDA</a:t>
            </a:r>
          </a:p>
          <a:p>
            <a:pPr>
              <a:defRPr sz="1400">
                <a:solidFill>
                  <a:srgbClr val="2F3A30"/>
                </a:solidFill>
                <a:latin typeface="Calibri"/>
              </a:defRPr>
            </a:pPr>
            <a:r>
              <a:t>1. Haz una foto nítida de tu hoja manuscrita con el teléfono móvil.</a:t>
            </a:r>
            <a:br/>
            <a:br/>
            <a:r>
              <a:t>2. Escanea el código QR proyectado a la derecha para acceder al formulario institucional de Microsoft Forms.</a:t>
            </a:r>
            <a:br/>
            <a:br/>
            <a:r>
              <a:t>3. Inicia sesión con tu cuenta oficial UPO (@alu.upo.es).</a:t>
            </a:r>
            <a:br/>
            <a:br/>
            <a:r>
              <a:t>4. Adjunta el archivo de imagen y pulsa Enviar.</a:t>
            </a:r>
            <a:br/>
            <a:br/>
            <a:r>
              <a:t>• Incentivo Tangible:</a:t>
            </a:r>
            <a:br/>
            <a:r>
              <a:t>Cada entrega continua válida acumula puntos en el Pasaporte de Evaluación Continua para ventajas en el examen final (70%).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645920"/>
            <a:ext cx="3840480" cy="4389120"/>
          </a:xfrm>
          <a:prstGeom prst="roundRect">
            <a:avLst/>
          </a:prstGeom>
          <a:solidFill>
            <a:srgbClr val="113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Outfit"/>
              </a:defRPr>
            </a:pPr>
            <a:r>
              <a:t>SUBE TU HOJA AQUÍ</a:t>
            </a:r>
          </a:p>
          <a:p>
            <a:pPr algn="ctr">
              <a:defRPr sz="1200">
                <a:solidFill>
                  <a:srgbClr val="F3EFDC"/>
                </a:solidFill>
                <a:latin typeface="Calibri"/>
              </a:defRPr>
            </a:pPr>
            <a:r>
              <a:t>Formulario Oficial UPO</a:t>
            </a:r>
            <a:br/>
            <a:r>
              <a:t>Plazo de subida: 2 minutos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6927A"/>
                </a:solidFill>
                <a:latin typeface="Calibri"/>
              </a:defRPr>
            </a:pPr>
            <a:r>
              <a:t>BLOQUE 5 · CORRECCIÓN INMEDIATA (5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13927"/>
                </a:solidFill>
                <a:latin typeface="Outfit"/>
              </a:defRPr>
            </a:pPr>
            <a:r>
              <a:t>Solución Modelo y Rúbrica Oficial de Evaluación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6927A"/>
                </a:solidFill>
                <a:latin typeface="Calibri"/>
              </a:defRPr>
            </a:pPr>
            <a:r>
              <a:t>Feedback formativo para la autocorrección del reto</a:t>
            </a:r>
          </a:p>
        </p:txBody>
      </p:sp>
      <p:pic>
        <p:nvPicPr>
          <p:cNvPr id="5" name="Picture 4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365760"/>
            <a:ext cx="1158544" cy="365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6927A"/>
                </a:solidFill>
              </a:defRPr>
            </a:pPr>
            <a:r>
              <a:t>Políticas Sociolaborales y de Empleo · Grado en RRLL y RRHH / Derecho · UPO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6927A"/>
                </a:solidFill>
              </a:defRPr>
            </a:pPr>
            <a:r>
              <a:t>13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45920"/>
            <a:ext cx="5303520" cy="4389120"/>
          </a:xfrm>
          <a:prstGeom prst="roundRect">
            <a:avLst/>
          </a:prstGeom>
          <a:solidFill>
            <a:srgbClr val="F4F8F5"/>
          </a:solidFill>
          <a:ln>
            <a:solidFill>
              <a:srgbClr val="769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13927"/>
                </a:solidFill>
                <a:latin typeface="Outfit"/>
              </a:defRPr>
            </a:pPr>
            <a:r>
              <a:t>SOLUCIÓN MODELO</a:t>
            </a:r>
          </a:p>
          <a:p>
            <a:pPr>
              <a:defRPr sz="1300">
                <a:solidFill>
                  <a:srgbClr val="2F3A30"/>
                </a:solidFill>
                <a:latin typeface="Calibri"/>
              </a:defRPr>
            </a:pPr>
            <a:r>
              <a:t>a) Ganancia Neta Real:</a:t>
            </a:r>
            <a:br/>
            <a:r>
              <a:t>   1.150 € - 480 € (subsidio perdido) - 180 € (transporte) = 490 €/mes netos adicionales.</a:t>
            </a:r>
            <a:br/>
            <a:r>
              <a:t>   Por 160h trabajadas -&gt; Ganancia real = 3,06 €/hora.</a:t>
            </a:r>
            <a:br/>
            <a:br/>
            <a:r>
              <a:t>b) Justificación Analítica wR:</a:t>
            </a:r>
            <a:br/>
            <a:r>
              <a:t>   El operario valora su ocio y tiempo en &gt;3,06 €/h. Por tanto, w ofertado (3,06 €/h) &lt; wR, siendo racional rechazar la oferta.</a:t>
            </a:r>
            <a:br/>
            <a:br/>
            <a:r>
              <a:t>c) Propuesta de Reforma:</a:t>
            </a:r>
            <a:br/>
            <a:r>
              <a:t>   Establecer una retirada progresiva del subsidio (METR &lt; 40%) o bonificar el transporte.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394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9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98F71"/>
                </a:solidFill>
                <a:latin typeface="Outfit"/>
              </a:defRPr>
            </a:pPr>
            <a:r>
              <a:t>RÚBRICA OFICIAL DE EVALUACIÓN (10 PTS)</a:t>
            </a:r>
          </a:p>
          <a:p>
            <a:pPr>
              <a:defRPr sz="1300">
                <a:solidFill>
                  <a:srgbClr val="2F3A30"/>
                </a:solidFill>
                <a:latin typeface="Calibri"/>
              </a:defRPr>
            </a:pPr>
            <a:r>
              <a:t>• Cálculo de Ganancia Neta (3,5 pts):</a:t>
            </a:r>
            <a:br/>
            <a:r>
              <a:t>Identificación correcta del coste de oportunidad (pérdida de subsidio + transporte).</a:t>
            </a:r>
            <a:br/>
            <a:br/>
            <a:r>
              <a:t>• Rigor Microeconómico wR (3,5 pts):</a:t>
            </a:r>
            <a:br/>
            <a:r>
              <a:t>Demostración analítica del umbral del Salario de Reserva (w &lt; wR) y trampa de la pobreza.</a:t>
            </a:r>
            <a:br/>
            <a:br/>
            <a:r>
              <a:t>• Propuesta Técnica de Política (3,0 pts):</a:t>
            </a:r>
            <a:br/>
            <a:r>
              <a:t>Formulación de esquemas tipo EITC o compatibilidad gradual de rentas.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6927A"/>
                </a:solidFill>
                <a:latin typeface="Calibri"/>
              </a:defRPr>
            </a:pPr>
            <a:r>
              <a:t>SÍNTESIS DE LA SESIÓN EB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13927"/>
                </a:solidFill>
                <a:latin typeface="Outfit"/>
              </a:defRPr>
            </a:pPr>
            <a:r>
              <a:t>Las Tres Conclusiones Imborrables de Hoy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6927A"/>
                </a:solidFill>
                <a:latin typeface="Calibri"/>
              </a:defRPr>
            </a:pPr>
            <a:r>
              <a:t>Resumen conceptual y avance de la próxima sesión</a:t>
            </a:r>
          </a:p>
        </p:txBody>
      </p:sp>
      <p:pic>
        <p:nvPicPr>
          <p:cNvPr id="5" name="Picture 4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365760"/>
            <a:ext cx="1158544" cy="365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6927A"/>
                </a:solidFill>
              </a:defRPr>
            </a:pPr>
            <a:r>
              <a:t>Políticas Sociolaborales y de Empleo · Grado en RRLL y RRHH / Derecho · UPO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6927A"/>
                </a:solidFill>
              </a:defRPr>
            </a:pPr>
            <a:r>
              <a:t>14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45920"/>
            <a:ext cx="11064240" cy="4389120"/>
          </a:xfrm>
          <a:prstGeom prst="roundRect">
            <a:avLst/>
          </a:prstGeom>
          <a:solidFill>
            <a:srgbClr val="F4F8F5"/>
          </a:solidFill>
          <a:ln>
            <a:solidFill>
              <a:srgbClr val="113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13927"/>
                </a:solidFill>
                <a:latin typeface="Outfit"/>
              </a:defRPr>
            </a:pPr>
            <a:r>
              <a:t>CONCLUSIONES CLAVE Y CONEXIÓN TRANSMEDIA</a:t>
            </a:r>
          </a:p>
          <a:p>
            <a:pPr>
              <a:defRPr sz="1500">
                <a:solidFill>
                  <a:srgbClr val="2F3A30"/>
                </a:solidFill>
                <a:latin typeface="Calibri"/>
              </a:defRPr>
            </a:pPr>
            <a:r>
              <a:t>1. El Salario es el Coste de Oportunidad del Ocio:</a:t>
            </a:r>
            <a:br/>
            <a:r>
              <a:t>   La oferta laboral individual surge de la disyuntiva ocio-consumo, modulada por los Efectos Renta y Sustitución.</a:t>
            </a:r>
            <a:br/>
            <a:br/>
            <a:r>
              <a:t>2. El Salario de Reserva (wR) Manda en la Participación:</a:t>
            </a:r>
            <a:br/>
            <a:r>
              <a:t>   Si el salario neto real ofertado no supera wR, la inactividad o el rechazo de ofertas es una respuesta microeconómica racional. Las políticas sociolaborales deben evitar diseñar tipos marginales implícitos del 100%.</a:t>
            </a:r>
            <a:br/>
            <a:br/>
            <a:r>
              <a:t>3. La Demanda Laboral es Derivada:</a:t>
            </a:r>
            <a:br/>
            <a:r>
              <a:t>   Las empresas contratan en función del valor de su producto marginal (P · PMgL) comparado con el coste laboral total.</a:t>
            </a:r>
            <a:br/>
            <a:br/>
            <a:r>
              <a:t>▶ Próxima Sesión (Sesión 4 · Martes/Viernes):</a:t>
            </a:r>
            <a:br/>
            <a:r>
              <a:t>   Desempleo Friccional, Estructural, Tasa Natural de Desempleo (NAIRU) y Curva de Phillips.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