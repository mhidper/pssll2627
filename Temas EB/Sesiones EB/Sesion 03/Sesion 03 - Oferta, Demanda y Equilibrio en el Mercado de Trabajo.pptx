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0" r:id="rId6"/>
    <p:sldId id="260" r:id="rId7"/>
    <p:sldId id="271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psll_u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Outfit"/>
              </a:defRPr>
            </a:pPr>
            <a:r>
              <a:t>POLÍTICAS SOCIOLABORALES Y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E98F71"/>
                </a:solidFill>
                <a:latin typeface="Outfit"/>
              </a:defRPr>
            </a:pPr>
            <a:r>
              <a:t>Sesión 3 – Oferta, Demanda y Salario de Reserva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3EFDC"/>
                </a:solidFill>
                <a:latin typeface="Calibri"/>
              </a:defRPr>
            </a:pPr>
            <a:r>
              <a:t>Lunes 21 de septiembre de 2026  ·  Código 102023  ·  Manuel A. Hidalgo Pérez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6263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F3A30"/>
                </a:solidFill>
                <a:latin typeface="Calibri"/>
              </a:defRPr>
            </a:pPr>
            <a:r>
              <a:t>Grado en Relaciones Laborales y Recursos Humanos ·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ORGANIZACIÓN DOCENTE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Estructura de la Sesión 3 (90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2651760" cy="39319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E98F71"/>
                </a:solidFill>
                <a:latin typeface="Outfit"/>
              </a:defRPr>
            </a:pPr>
            <a:r>
              <a:t>15 min</a:t>
            </a:r>
          </a:p>
          <a:p>
            <a:pPr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Noticia, Sondeo y Choque</a:t>
            </a:r>
          </a:p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Noticia del día sobre vacantes, sondeo Forms en vivo (decisión de trabajar) y el dilema del Salario de Reserva.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2011680"/>
            <a:ext cx="2651760" cy="39319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E98F71"/>
                </a:solidFill>
                <a:latin typeface="Outfit"/>
              </a:defRPr>
            </a:pPr>
            <a:r>
              <a:t>25 min</a:t>
            </a:r>
          </a:p>
          <a:p>
            <a:pPr>
              <a:defRPr sz="1400" b="1">
                <a:solidFill>
                  <a:srgbClr val="113927"/>
                </a:solidFill>
                <a:latin typeface="Outfit"/>
              </a:defRPr>
            </a:pPr>
            <a:r>
              <a:t>2. Mini-Lección: Oferta y Demanda</a:t>
            </a:r>
          </a:p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La disyuntiva ocio-consumo, restricción presupuestaria, Efecto Sustitución vs. Renta, Salario de Reserva (wR) y PMgL.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2011680"/>
            <a:ext cx="2651760" cy="39319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E98F71"/>
                </a:solidFill>
                <a:latin typeface="Outfit"/>
              </a:defRPr>
            </a:pPr>
            <a:r>
              <a:t>20 min</a:t>
            </a:r>
          </a:p>
          <a:p>
            <a:pPr>
              <a:defRPr sz="1400" b="1">
                <a:solidFill>
                  <a:srgbClr val="113927"/>
                </a:solidFill>
                <a:latin typeface="Outfit"/>
              </a:defRPr>
            </a:pPr>
            <a:r>
              <a:t>3. Laboratorio Micro-App</a:t>
            </a:r>
          </a:p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Simulación individual desde el móvil como Analista de Empleo (Casos límite de colocación adecuada y trampas del subsidio).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399" y="2011680"/>
            <a:ext cx="2651760" cy="39319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E98F71"/>
                </a:solidFill>
                <a:latin typeface="Outfit"/>
              </a:defRPr>
            </a:pPr>
            <a:r>
              <a:t>30 min</a:t>
            </a:r>
          </a:p>
          <a:p>
            <a:pPr>
              <a:defRPr sz="1400" b="1">
                <a:solidFill>
                  <a:srgbClr val="113927"/>
                </a:solidFill>
                <a:latin typeface="Outfit"/>
              </a:defRPr>
            </a:pPr>
            <a:r>
              <a:t>4. Reto Final y Evaluación Anti-IA</a:t>
            </a:r>
          </a:p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Resolución de caso de examen redactado a mano en papel (10 min), subida con QR en Forms (2 min) y rúbrica oficial (5 min).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1 · NOTICIA DEL DÍA Y SONDEO (5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La Noticia del Día: ¿Por qué se Rechazan Empleos?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Vota con tu teléfono móvil antes de analizar los microdatos del mercado laboral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7498079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13927"/>
                </a:solidFill>
                <a:latin typeface="Outfit"/>
              </a:defRPr>
            </a:pPr>
            <a:r>
              <a:rPr dirty="0"/>
              <a:t>LA NOTICIA Y EL DEBATE DE HOY</a:t>
            </a:r>
          </a:p>
          <a:p>
            <a:pPr>
              <a:defRPr sz="1400" b="1">
                <a:solidFill>
                  <a:srgbClr val="E98F71"/>
                </a:solidFill>
                <a:latin typeface="Calibri"/>
              </a:defRPr>
            </a:pPr>
            <a:r>
              <a:rPr dirty="0"/>
              <a:t>«</a:t>
            </a:r>
            <a:r>
              <a:rPr dirty="0" err="1"/>
              <a:t>Ofertas</a:t>
            </a:r>
            <a:r>
              <a:rPr dirty="0"/>
              <a:t> de </a:t>
            </a:r>
            <a:r>
              <a:rPr dirty="0" err="1"/>
              <a:t>trabajo</a:t>
            </a:r>
            <a:r>
              <a:rPr dirty="0"/>
              <a:t> a jornada completa </a:t>
            </a:r>
            <a:r>
              <a:rPr dirty="0" err="1"/>
              <a:t>por</a:t>
            </a:r>
            <a:r>
              <a:rPr dirty="0"/>
              <a:t> 1.150 €/</a:t>
            </a:r>
            <a:r>
              <a:rPr lang="es-ES" dirty="0"/>
              <a:t>meses netos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servicios</a:t>
            </a:r>
            <a:r>
              <a:rPr dirty="0"/>
              <a:t> </a:t>
            </a:r>
            <a:r>
              <a:rPr dirty="0" err="1"/>
              <a:t>quedan</a:t>
            </a:r>
            <a:r>
              <a:rPr dirty="0"/>
              <a:t> sin </a:t>
            </a:r>
            <a:r>
              <a:rPr dirty="0" err="1"/>
              <a:t>cubrir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ciudades</a:t>
            </a:r>
            <a:r>
              <a:rPr dirty="0"/>
              <a:t> con altos </a:t>
            </a:r>
            <a:r>
              <a:rPr dirty="0" err="1"/>
              <a:t>costes</a:t>
            </a:r>
            <a:r>
              <a:rPr dirty="0"/>
              <a:t> de </a:t>
            </a:r>
            <a:r>
              <a:rPr dirty="0" err="1"/>
              <a:t>alquiler</a:t>
            </a:r>
            <a:r>
              <a:rPr dirty="0"/>
              <a:t> y </a:t>
            </a:r>
            <a:r>
              <a:rPr dirty="0" err="1"/>
              <a:t>transporte</a:t>
            </a:r>
            <a:r>
              <a:rPr dirty="0"/>
              <a:t>. Si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ofrecen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empleo</a:t>
            </a:r>
            <a:r>
              <a:rPr dirty="0"/>
              <a:t> </a:t>
            </a:r>
            <a:r>
              <a:rPr dirty="0" err="1"/>
              <a:t>perdiendo</a:t>
            </a:r>
            <a:r>
              <a:rPr dirty="0"/>
              <a:t> un </a:t>
            </a:r>
            <a:r>
              <a:rPr dirty="0" err="1"/>
              <a:t>subsidio</a:t>
            </a:r>
            <a:r>
              <a:rPr dirty="0"/>
              <a:t> de 480 € y </a:t>
            </a:r>
            <a:r>
              <a:rPr dirty="0" err="1"/>
              <a:t>gastando</a:t>
            </a:r>
            <a:r>
              <a:rPr dirty="0"/>
              <a:t> 180 €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transporte</a:t>
            </a:r>
            <a:r>
              <a:rPr dirty="0"/>
              <a:t>, ¿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decidirías</a:t>
            </a:r>
            <a:r>
              <a:rPr dirty="0"/>
              <a:t>?»</a:t>
            </a:r>
          </a:p>
          <a:p>
            <a:pPr>
              <a:defRPr sz="1300">
                <a:solidFill>
                  <a:srgbClr val="2F3A30"/>
                </a:solidFill>
                <a:latin typeface="Calibri"/>
              </a:defRPr>
            </a:pPr>
            <a:r>
              <a:rPr dirty="0"/>
              <a:t>A) </a:t>
            </a:r>
            <a:r>
              <a:rPr dirty="0" err="1"/>
              <a:t>Aceptar</a:t>
            </a:r>
            <a:r>
              <a:rPr dirty="0"/>
              <a:t> el </a:t>
            </a:r>
            <a:r>
              <a:rPr dirty="0" err="1"/>
              <a:t>empleo</a:t>
            </a:r>
            <a:r>
              <a:rPr dirty="0"/>
              <a:t> para </a:t>
            </a:r>
            <a:r>
              <a:rPr dirty="0" err="1"/>
              <a:t>ganar</a:t>
            </a:r>
            <a:r>
              <a:rPr dirty="0"/>
              <a:t> </a:t>
            </a:r>
            <a:r>
              <a:rPr dirty="0" err="1"/>
              <a:t>experiencia</a:t>
            </a:r>
            <a:r>
              <a:rPr dirty="0"/>
              <a:t>, </a:t>
            </a:r>
            <a:r>
              <a:rPr dirty="0" err="1"/>
              <a:t>aunque</a:t>
            </a:r>
            <a:r>
              <a:rPr dirty="0"/>
              <a:t> la </a:t>
            </a:r>
            <a:r>
              <a:rPr dirty="0" err="1"/>
              <a:t>ganancia</a:t>
            </a:r>
            <a:r>
              <a:rPr dirty="0"/>
              <a:t> </a:t>
            </a:r>
            <a:r>
              <a:rPr dirty="0" err="1"/>
              <a:t>neta</a:t>
            </a:r>
            <a:r>
              <a:rPr dirty="0"/>
              <a:t> real sea </a:t>
            </a:r>
            <a:r>
              <a:rPr dirty="0" err="1"/>
              <a:t>casi</a:t>
            </a:r>
            <a:r>
              <a:rPr dirty="0"/>
              <a:t> </a:t>
            </a:r>
            <a:r>
              <a:rPr dirty="0" err="1"/>
              <a:t>nula</a:t>
            </a:r>
            <a:r>
              <a:rPr dirty="0"/>
              <a:t>.</a:t>
            </a:r>
            <a:br>
              <a:rPr dirty="0"/>
            </a:br>
            <a:r>
              <a:rPr dirty="0"/>
              <a:t>B) </a:t>
            </a:r>
            <a:r>
              <a:rPr dirty="0" err="1"/>
              <a:t>Rechazar</a:t>
            </a:r>
            <a:r>
              <a:rPr dirty="0"/>
              <a:t> la </a:t>
            </a:r>
            <a:r>
              <a:rPr dirty="0" err="1"/>
              <a:t>oferta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el </a:t>
            </a:r>
            <a:r>
              <a:rPr dirty="0" err="1"/>
              <a:t>salario</a:t>
            </a:r>
            <a:r>
              <a:rPr dirty="0"/>
              <a:t> </a:t>
            </a:r>
            <a:r>
              <a:rPr dirty="0" err="1"/>
              <a:t>ofertado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debajo</a:t>
            </a:r>
            <a:r>
              <a:rPr dirty="0"/>
              <a:t> de mi Salario de </a:t>
            </a:r>
            <a:r>
              <a:rPr dirty="0" err="1"/>
              <a:t>Reserva</a:t>
            </a:r>
            <a:r>
              <a:rPr dirty="0"/>
              <a:t> (w &lt; </a:t>
            </a:r>
            <a:r>
              <a:rPr dirty="0" err="1"/>
              <a:t>wR</a:t>
            </a:r>
            <a:r>
              <a:rPr dirty="0"/>
              <a:t>).</a:t>
            </a:r>
            <a:br>
              <a:rPr dirty="0"/>
            </a:br>
            <a:r>
              <a:rPr dirty="0"/>
              <a:t>C) </a:t>
            </a:r>
            <a:r>
              <a:rPr dirty="0" err="1"/>
              <a:t>Exigir</a:t>
            </a:r>
            <a:r>
              <a:rPr dirty="0"/>
              <a:t> un </a:t>
            </a:r>
            <a:r>
              <a:rPr dirty="0" err="1"/>
              <a:t>contrato</a:t>
            </a:r>
            <a:r>
              <a:rPr dirty="0"/>
              <a:t> a </a:t>
            </a:r>
            <a:r>
              <a:rPr dirty="0" err="1"/>
              <a:t>tiempo</a:t>
            </a:r>
            <a:r>
              <a:rPr dirty="0"/>
              <a:t> </a:t>
            </a:r>
            <a:r>
              <a:rPr dirty="0" err="1"/>
              <a:t>parcial</a:t>
            </a:r>
            <a:r>
              <a:rPr dirty="0"/>
              <a:t> para no </a:t>
            </a:r>
            <a:r>
              <a:rPr dirty="0" err="1"/>
              <a:t>perder</a:t>
            </a:r>
            <a:r>
              <a:rPr dirty="0"/>
              <a:t> el </a:t>
            </a:r>
            <a:r>
              <a:rPr dirty="0" err="1"/>
              <a:t>subsidio</a:t>
            </a:r>
            <a:r>
              <a:rPr dirty="0"/>
              <a:t> </a:t>
            </a:r>
            <a:r>
              <a:rPr dirty="0" err="1"/>
              <a:t>asistencial</a:t>
            </a:r>
            <a:r>
              <a:rPr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645920"/>
            <a:ext cx="3291840" cy="4389120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Outfit"/>
              </a:defRPr>
            </a:pPr>
            <a:r>
              <a:t>ESCANEA PARA VOTAR</a:t>
            </a:r>
          </a:p>
          <a:p>
            <a:pPr algn="ctr">
              <a:defRPr sz="1200">
                <a:solidFill>
                  <a:srgbClr val="F3EFDC"/>
                </a:solidFill>
                <a:latin typeface="Calibri"/>
              </a:defRPr>
            </a:pPr>
            <a:r>
              <a:t>Acceso con cuenta UPO (@alu.upo.es)</a:t>
            </a:r>
            <a:br/>
            <a:r>
              <a:t>Votación en 30 segundos desde el móvil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1 · CHOQUE EMPÍRICO (10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El Salario de Reserva: Decisión Analítica vs. Prejuicio Moral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El comportamiento microeconómico real ante la trampa de la pobreza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EL CONCEPTO DE SALARIO DE RESERVA (wR)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Umbral Mínimo de Aceptación:
</a:t>
            </a:r>
            <a:r>
              <a:rPr sz="1200" b="0">
                <a:solidFill>
                  <a:srgbClr val="2F3A30"/>
                </a:solidFill>
                <a:latin typeface="Calibri"/>
              </a:rPr>
              <a:t>Un individuo solo acepta trabajar si el salario real neto ofertado supera su Salario de Reserva (w ≥ wR).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Factores que elevan wR:
</a:t>
            </a:r>
            <a:r>
              <a:rPr sz="1200" b="0">
                <a:solidFill>
                  <a:srgbClr val="2F3A30"/>
                </a:solidFill>
                <a:latin typeface="Calibri"/>
              </a:rPr>
              <a:t>Prestaciones por desempleo, subsidios familiares, costes de transporte e hipoteca/alquiler.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La Racionalidad Microeconómica:
</a:t>
            </a:r>
            <a:r>
              <a:rPr sz="1200" b="0">
                <a:solidFill>
                  <a:srgbClr val="2F3A30"/>
                </a:solidFill>
                <a:latin typeface="Calibri"/>
              </a:rPr>
              <a:t>Rechazar un empleo cuando w &lt; wR no es un fallo moral, sino una respuesta optimizadora ante una ganancia neta nula o negativa.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Implicación para el Mercado:
</a:t>
            </a:r>
            <a:r>
              <a:rPr sz="1200" b="0">
                <a:solidFill>
                  <a:srgbClr val="2F3A30"/>
                </a:solidFill>
                <a:latin typeface="Calibri"/>
              </a:rPr>
              <a:t>Si el subsidio o los costes de vivir son altos, los empleos de salario bajo quedan vacantes aunque haya paro elevado.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E98F71"/>
                </a:solidFill>
                <a:latin typeface="Outfit"/>
              </a:defRPr>
            </a:pPr>
            <a:r>
              <a:t>2. ¿POR QUÉ NO COMPENSA? LA TRAMPA EN NÚMEROS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E98F71"/>
                </a:solidFill>
                <a:latin typeface="Calibri"/>
              </a:rPr>
              <a:t>• La cuenta real del trabajador:
</a:t>
            </a:r>
            <a:r>
              <a:rPr sz="1200" b="0">
                <a:solidFill>
                  <a:srgbClr val="2F3A30"/>
                </a:solidFill>
                <a:latin typeface="Calibri"/>
              </a:rPr>
              <a:t>Te ofrecen 1.150 €/mes netos. Pero pierdes 480 € de subsidio y gastas 180 € en transporte diario.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E98F71"/>
                </a:solidFill>
                <a:latin typeface="Calibri"/>
              </a:rPr>
              <a:t>• El «premio» neto por trabajar:
</a:t>
            </a:r>
            <a:r>
              <a:rPr sz="1200" b="0">
                <a:solidFill>
                  <a:srgbClr val="2F3A30"/>
                </a:solidFill>
                <a:latin typeface="Calibri"/>
              </a:rPr>
              <a:t>Por 160h al mes, la ganancia neta es de apenas 490 €/mes (¡solo 3,06 € por hora trabajada!).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E98F71"/>
                </a:solidFill>
                <a:latin typeface="Calibri"/>
              </a:rPr>
              <a:t>• La disyuntiva cotidiana:
</a:t>
            </a:r>
            <a:r>
              <a:rPr sz="1200" b="0">
                <a:solidFill>
                  <a:srgbClr val="2F3A30"/>
                </a:solidFill>
                <a:latin typeface="Calibri"/>
              </a:rPr>
              <a:t>¿Compensa madrugar, asumir jornadas completas y horarios rígidos para ganar 3 €/h frente a cuidar de la familia o buscar una opción mejor?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E98F71"/>
                </a:solidFill>
                <a:latin typeface="Calibri"/>
              </a:rPr>
              <a:t>• La trampa institucional:
</a:t>
            </a:r>
            <a:r>
              <a:rPr sz="1200" b="0">
                <a:solidFill>
                  <a:srgbClr val="2F3A30"/>
                </a:solidFill>
                <a:latin typeface="Calibri"/>
              </a:rPr>
              <a:t>Si casi todo lo ganado se esfuma en gastos y ayudas perdidas, el propio diseño público desincentiva la colocación.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1 · EL RETO TÉCNICO DE LAS POLÍTICAS PÚBLICAS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El Tipo Marginal Efectivo (METR) y los Incentivos al Empleo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Formalización económica de la trampa de la pobreza y diseño institucional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  <a:latin typeface="Calibri"/>
              </a:defRPr>
            </a:pPr>
            <a:r>
              <a:t>5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LA TRAMPA DE LA INACTIVIDAD Y EL METR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Definición Técnica del METR:
</a:t>
            </a:r>
            <a:r>
              <a:rPr sz="1200" b="0">
                <a:solidFill>
                  <a:srgbClr val="2F3A30"/>
                </a:solidFill>
                <a:latin typeface="Calibri"/>
              </a:rPr>
              <a:t>Marginal Effective Tax Rate: porcentaje del nuevo ingreso absorbido por impuestos, cotizaciones y retirada de transferencias públicas:
METR = 1 - (Δ Renta Disponible / Δ Salario Bruto).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El «Efecto Precipicio» (Cliff Effect):
</a:t>
            </a:r>
            <a:r>
              <a:rPr sz="1200" b="0">
                <a:solidFill>
                  <a:srgbClr val="2F3A30"/>
                </a:solidFill>
                <a:latin typeface="Calibri"/>
              </a:rPr>
              <a:t>Si superar un tope retira el 100% del subsidio, el METR supera el 80%-100%. Trabajar más horas no genera casi ganancia líquida adicional.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Disuasión Microeconómica:
</a:t>
            </a:r>
            <a:r>
              <a:rPr sz="1200" b="0">
                <a:solidFill>
                  <a:srgbClr val="2F3A30"/>
                </a:solidFill>
                <a:latin typeface="Calibri"/>
              </a:rPr>
              <a:t>Eleva artificialmente el Salario de Reserva (wR) de colectivos vulnerables, cronificando el desempleo de larga duración.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2. SOLUCIONES EN POLÍTICAS SOCIOLABORALES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Retirada Progresiva de Prestaciones:
</a:t>
            </a:r>
            <a:r>
              <a:rPr sz="1200" b="0">
                <a:solidFill>
                  <a:srgbClr val="2F3A30"/>
                </a:solidFill>
                <a:latin typeface="Calibri"/>
              </a:rPr>
              <a:t>Compatibilizar empleo y ayuda reduciendo el subsidio de forma gradual (ej. descontar solo 0,30 € por cada euro ganado; METR &lt; 50%).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Créditos Fiscales al Trabajo (EITC):
</a:t>
            </a:r>
            <a:r>
              <a:rPr sz="1200" b="0">
                <a:solidFill>
                  <a:srgbClr val="2F3A30"/>
                </a:solidFill>
                <a:latin typeface="Calibri"/>
              </a:rPr>
              <a:t>Complementos salariales (como el incentivo al empleo en el IMV) que garantizan que el trabajo formal siempre mejore el ingreso disponible.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3927"/>
                </a:solidFill>
                <a:latin typeface="Calibri"/>
              </a:rPr>
              <a:t>• Reducción de Costes Fijos de Participación:
</a:t>
            </a:r>
            <a:r>
              <a:rPr sz="1200" b="0">
                <a:solidFill>
                  <a:srgbClr val="2F3A30"/>
                </a:solidFill>
                <a:latin typeface="Calibri"/>
              </a:rPr>
              <a:t>Subvención al transporte público y servicios gratuitos de cuidados infantiles para reducir los costes que elevan el Salario de Reserva (wR).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2 · MINI-LECCIÓN 1: INTUICIÓN DE LA OFERTA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¿Por qué Más Dinero no Siempre te Hace Trabajar Más?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La disyuntiva ocio-consumo y el conflicto psicológico entre la cuenta corriente y el descanso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6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350" b="1">
                <a:solidFill>
                  <a:srgbClr val="113927"/>
                </a:solidFill>
                <a:latin typeface="Outfit"/>
              </a:defRPr>
            </a:pPr>
            <a:r>
              <a:t>1. EL ANZUELO DE LAS HORAS EXTRA (15 €/h)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La Situación Cotidiana:
</a:t>
            </a:r>
            <a:r>
              <a:rPr sz="1150">
                <a:solidFill>
                  <a:srgbClr val="2F3A30"/>
                </a:solidFill>
                <a:latin typeface="Calibri"/>
              </a:rPr>
              <a:t>Te ofrecen doblar turno el sábado noche por 15 €/h. Aceptas: quedarte en el sofá viendo una serie te parece «carísimo» (renunciar a 120 € netos por ver Netflix duele).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El Mecanismo: Efecto Sustitución:
</a:t>
            </a:r>
            <a:r>
              <a:rPr sz="1150">
                <a:solidFill>
                  <a:srgbClr val="2F3A30"/>
                </a:solidFill>
                <a:latin typeface="Calibri"/>
              </a:rPr>
              <a:t>El salario (w) es el coste de oportunidad del ocio. Si el salario sube, el ocio se encarece: sustituyes descanso por trabajo y ofreces más horas.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El Resultado a Salarios Bajos/Medios:
</a:t>
            </a:r>
            <a:r>
              <a:rPr sz="1150">
                <a:solidFill>
                  <a:srgbClr val="2F3A30"/>
                </a:solidFill>
                <a:latin typeface="Calibri"/>
              </a:rPr>
              <a:t>Domina el Efecto Sustitución: ganar más motiva a trabajar más horas. La curva de oferta tiene pendiente positiva (Δw &gt; 0 ⇒ ΔH &gt; 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000"/>
              </a:spcAft>
              <a:defRPr sz="1350" b="1">
                <a:solidFill>
                  <a:srgbClr val="E98F71"/>
                </a:solidFill>
                <a:latin typeface="Outfit"/>
              </a:defRPr>
            </a:pPr>
            <a:r>
              <a:t>2. LA PARADOJA DEL FREELANCE Y EL TAXISTA (150 €/h)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98F71"/>
                </a:solidFill>
                <a:latin typeface="Calibri"/>
              </a:rPr>
              <a:t>• El Giro de la Riqueza:
</a:t>
            </a:r>
            <a:r>
              <a:rPr sz="1150">
                <a:solidFill>
                  <a:srgbClr val="2F3A30"/>
                </a:solidFill>
                <a:latin typeface="Calibri"/>
              </a:rPr>
              <a:t>Imagina que te pagan 150 €/h y ya ingresas 5.000 €/mes trabajando 25h semanales. ¿Haces 60h para forrarte? ¡No! Prefieres tiempo libre para disfrutar de la vida.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98F71"/>
                </a:solidFill>
                <a:latin typeface="Calibri"/>
              </a:rPr>
              <a:t>• El Mecanismo: Efecto Renta:
</a:t>
            </a:r>
            <a:r>
              <a:rPr sz="1150">
                <a:solidFill>
                  <a:srgbClr val="2F3A30"/>
                </a:solidFill>
                <a:latin typeface="Calibri"/>
              </a:rPr>
              <a:t>Al tener más riqueza, compras más del bien que más valoras: tiempo libre (ocio). El dinero adicional ya no compensa perder tu descanso ni tu vida personal.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98F71"/>
                </a:solidFill>
                <a:latin typeface="Calibri"/>
              </a:rPr>
              <a:t>• El Caso Cómico y Empírico:
</a:t>
            </a:r>
            <a:r>
              <a:rPr sz="1150">
                <a:solidFill>
                  <a:srgbClr val="2F3A30"/>
                </a:solidFill>
                <a:latin typeface="Calibri"/>
              </a:rPr>
              <a:t>Taxistas y repartidores en días de lluvia con tarifa disparada: alcanzan su meta diaria a las 3 de la tarde y se van a casa... ¡justo cuando más demanda hay!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E98F71"/>
                </a:solidFill>
                <a:latin typeface="Calibri"/>
              </a:rPr>
              <a:t>• Tramo que se Dobla hacia Atrás:
</a:t>
            </a:r>
            <a:r>
              <a:rPr sz="1150">
                <a:solidFill>
                  <a:srgbClr val="2F3A30"/>
                </a:solidFill>
                <a:latin typeface="Calibri"/>
              </a:rPr>
              <a:t>A salarios muy elevados el Efecto Renta vence al de Sustitución: sube el salario pero se reducen las horas ofrecidas (Backward-Bending).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2 · FORMALIZACIÓN ANALÍTICA DE LA OFERTA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La Restricción Presupuestaria y la Curva Backward-Bending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Formalización matemática con subíndices reales y gráfica de la curva de oferta individual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  <a:latin typeface="Calibri"/>
              </a:defRPr>
            </a:pPr>
            <a:r>
              <a:t>7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0000" cy="21000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400"/>
              </a:spcAft>
              <a:defRPr sz="1250" b="1">
                <a:solidFill>
                  <a:srgbClr val="113927"/>
                </a:solidFill>
                <a:latin typeface="Outfit"/>
              </a:defRPr>
            </a:pPr>
            <a:r>
              <a:t>1. RESTRICCIÓN PRESUPUESTARIA DEL INDIVIDUO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13927"/>
                </a:solidFill>
                <a:latin typeface="Calibri"/>
              </a:rPr>
              <a:t>C = w · (T − L) + Y</a:t>
            </a:r>
            <a:r>
              <a:rPr sz="1200" b="1">
                <a:solidFill>
                  <a:srgbClr val="E98F71"/>
                </a:solidFill>
                <a:latin typeface="Calibri"/>
              </a:rPr>
              <a:t>NS</a:t>
            </a:r>
            <a:r>
              <a:rPr sz="1300" b="0">
                <a:solidFill>
                  <a:srgbClr val="76927A"/>
                </a:solidFill>
                <a:latin typeface="Calibri"/>
              </a:rPr>
              <a:t>   [donde H = T − L]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13927"/>
                </a:solidFill>
                <a:latin typeface="Calibri"/>
              </a:rPr>
              <a:t>• C : </a:t>
            </a:r>
            <a:r>
              <a:rPr sz="1050">
                <a:solidFill>
                  <a:srgbClr val="2F3A30"/>
                </a:solidFill>
                <a:latin typeface="Calibri"/>
              </a:rPr>
              <a:t>Consumo total de bienes (precio normalizado P = 1).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13927"/>
                </a:solidFill>
                <a:latin typeface="Calibri"/>
              </a:rPr>
              <a:t>• w : </a:t>
            </a:r>
            <a:r>
              <a:rPr sz="1050">
                <a:solidFill>
                  <a:srgbClr val="2F3A30"/>
                </a:solidFill>
                <a:latin typeface="Calibri"/>
              </a:rPr>
              <a:t>Salario horario real (coste de oportunidad del ocio).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13927"/>
                </a:solidFill>
                <a:latin typeface="Calibri"/>
              </a:rPr>
              <a:t>• T − L = H : </a:t>
            </a:r>
            <a:r>
              <a:rPr sz="1050">
                <a:solidFill>
                  <a:srgbClr val="2F3A30"/>
                </a:solidFill>
                <a:latin typeface="Calibri"/>
              </a:rPr>
              <a:t>Horas trabajadas (T = tiempo total, L = ocio).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13927"/>
                </a:solidFill>
              </a:rPr>
              <a:t>• Y</a:t>
            </a:r>
            <a:r>
              <a:rPr sz="850" b="1">
                <a:solidFill>
                  <a:srgbClr val="E98F71"/>
                </a:solidFill>
              </a:rPr>
              <a:t>NS</a:t>
            </a:r>
            <a:r>
              <a:rPr sz="1050" b="1">
                <a:solidFill>
                  <a:srgbClr val="113927"/>
                </a:solidFill>
              </a:rPr>
              <a:t> : </a:t>
            </a:r>
            <a:r>
              <a:rPr sz="1050">
                <a:solidFill>
                  <a:srgbClr val="2F3A30"/>
                </a:solidFill>
                <a:latin typeface="Calibri"/>
              </a:rPr>
              <a:t>Rentas no salariales (transferencias, patrimonio, subsidios).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50000"/>
            <a:ext cx="5300000" cy="2185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400"/>
              </a:spcAft>
              <a:defRPr sz="1250" b="1">
                <a:solidFill>
                  <a:srgbClr val="113927"/>
                </a:solidFill>
                <a:latin typeface="Outfit"/>
              </a:defRPr>
            </a:pPr>
            <a:r>
              <a:t>2. LAS DOS FUERZAS MATEMÁTICAS EN JUEGO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13927"/>
                </a:solidFill>
                <a:latin typeface="Calibri"/>
              </a:rPr>
              <a:t>• Efecto Sustitución (ES &gt; 0) : </a:t>
            </a:r>
            <a:r>
              <a:rPr sz="1050">
                <a:solidFill>
                  <a:srgbClr val="2F3A30"/>
                </a:solidFill>
                <a:latin typeface="Calibri"/>
              </a:rPr>
              <a:t>Al subir w, 1h de ocio cuesta más cara. Sustituyes ocio por consumo ⇒ ∂H / ∂w &gt; 0 (pendiente positiva).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E98F71"/>
                </a:solidFill>
                <a:latin typeface="Calibri"/>
              </a:rPr>
              <a:t>• Efecto Renta (ER &lt; 0) : </a:t>
            </a:r>
            <a:r>
              <a:rPr sz="1050">
                <a:solidFill>
                  <a:srgbClr val="2F3A30"/>
                </a:solidFill>
                <a:latin typeface="Calibri"/>
              </a:rPr>
              <a:t>Al subir w con jornada dada, eres más rico. Al ser el ocio un bien normal, demandas más ocio ⇒ ∂H / ∂w &lt; 0.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E98F71"/>
                </a:solidFill>
                <a:latin typeface="Calibri"/>
              </a:rPr>
              <a:t>• El Salario Crítico (w*) : </a:t>
            </a:r>
            <a:r>
              <a:rPr sz="1050">
                <a:solidFill>
                  <a:srgbClr val="2F3A30"/>
                </a:solidFill>
                <a:latin typeface="Calibri"/>
              </a:rPr>
              <a:t>Para w &lt; w*, domina el ES (oferta creciente). Para w &gt; w*, el ER supera al ES y la curva se dobla hacia atrás.</a:t>
            </a:r>
          </a:p>
        </p:txBody>
      </p:sp>
      <p:pic>
        <p:nvPicPr>
          <p:cNvPr id="10" name="Picture 9" descr="curva_oferta_indiv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0000" y="1645920"/>
            <a:ext cx="544856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2 · MINI-LECCIÓN 1 (CONTINUACIÓN)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El Salario de Reserva (wR) y las Políticas Públicas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El umbral analítico de participación en el mercado de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8 /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669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113927"/>
                </a:solidFill>
                <a:latin typeface="Calibri"/>
              </a:rPr>
              <a:t>mhidper.github.io/micro_apps/?app=psll_salario_reserva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52297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113927"/>
                </a:solidFill>
                <a:latin typeface="Calibri"/>
              </a:rPr>
              <a:t>mhidper.github.io/micro_apps/?app=psll_salario_reserva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1645920"/>
            <a:ext cx="5303520" cy="4343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182880" rtlCol="0" anchor="t"/>
          <a:lstStyle/>
          <a:p>
            <a:pPr algn="ctr">
              <a:spcAft>
                <a:spcPts val="8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FORMALIZACIÓN ANALÍTICA DE wR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Definición Formal y Microfundamentos:
</a:t>
            </a:r>
            <a:r>
              <a:rPr sz="1100">
                <a:solidFill>
                  <a:srgbClr val="2F3A30"/>
                </a:solidFill>
                <a:latin typeface="Calibri"/>
              </a:rPr>
              <a:t>El Salario de Reserva (wR) es la tasa salarial que iguala la utilidad de no trabajar (L = T) con la de trabajar la primera hora (H = 1). Representa el coste de oportunidad subjetivo del ocio.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Condición Analítica de Participación:
</a:t>
            </a:r>
            <a:r>
              <a:rPr sz="1100">
                <a:solidFill>
                  <a:srgbClr val="2F3A30"/>
                </a:solidFill>
                <a:latin typeface="Calibri"/>
              </a:rPr>
              <a:t>• Si w ofertado ≥ wR ➔ Participa: el individuo entra al mercado y ofrece H &gt; 0.
• Si w ofertado &lt; wR ➔ Inactividad o desempleo voluntario.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Subsidios y Trampa de la Pobreza:
</a:t>
            </a:r>
            <a:r>
              <a:rPr sz="1100">
                <a:solidFill>
                  <a:srgbClr val="2F3A30"/>
                </a:solidFill>
                <a:latin typeface="Calibri"/>
              </a:rPr>
              <a:t>Un aumento en las rentas no salariales (Y_NS) o en prestaciones asistenciales desplaza wR hacia arriba. Si wR supera el salario de mercado, trabajar destruye renta neta.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Palancas de Política Activa:
</a:t>
            </a:r>
            <a:r>
              <a:rPr sz="1100">
                <a:solidFill>
                  <a:srgbClr val="2F3A30"/>
                </a:solidFill>
                <a:latin typeface="Calibri"/>
              </a:rPr>
              <a:t>Reducir costes fijos de entrada (guarderías, abonos transporte) y articular complementos salariales (EITC) para asegurar que siempre w_neto &gt; wR.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45920"/>
            <a:ext cx="5303520" cy="4343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137160" rtlCol="0" anchor="t"/>
          <a:lstStyle/>
          <a:p>
            <a:pPr algn="ctr">
              <a:spcAft>
                <a:spcPts val="400"/>
              </a:spcAft>
              <a:defRPr sz="1400" b="1">
                <a:solidFill>
                  <a:srgbClr val="E98F71"/>
                </a:solidFill>
                <a:latin typeface="Outfit"/>
              </a:defRPr>
            </a:pPr>
            <a:r>
              <a:t>2. RETO INTERACTIVO EN EL MÓVIL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¿Sube o baja el Salario de Reserva (wR)?
</a:t>
            </a:r>
            <a:r>
              <a:rPr sz="1050">
                <a:solidFill>
                  <a:srgbClr val="2F3A30"/>
                </a:solidFill>
                <a:latin typeface="Calibri"/>
              </a:rPr>
              <a:t>• Misión en directo (5 min): Resuelve el cuestionario oficial de 10 situaciones reales (subsidios, guarderías, inflación, transporte, herencias).
• Feedback inmediato: Diagnostica cómo afecta cada shock a wR con justificación analítica.
• Escanea el código QR proyectado con tu teléfono móvil: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420" y="3639312"/>
            <a:ext cx="1874519" cy="18745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920" y="5568695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113927"/>
                </a:solidFill>
                <a:latin typeface="Calibri"/>
              </a:rPr>
              <a:t>mhidper.github.io/micro_apps/?app=psll_salario_reserva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3 · MINI-LECCIÓN 2 (25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La Demanda de Trabajo Empresarial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La productividad marginal como fundamento de la contratación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9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3520" cy="4343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182880" rtlCol="0" anchor="t"/>
          <a:lstStyle/>
          <a:p>
            <a:pPr algn="ctr">
              <a:spcAft>
                <a:spcPts val="8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1. LA DEMANDA LABORAL COMO DEMANDA DERIVADA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Concepto de Demanda Derivada:
</a:t>
            </a:r>
            <a:r>
              <a:rPr sz="1100">
                <a:solidFill>
                  <a:srgbClr val="2F3A30"/>
                </a:solidFill>
                <a:latin typeface="Calibri"/>
              </a:rPr>
              <a:t>Las empresas no demandan trabajo por satisfacción de consumo directo, sino por el valor del producto que los trabajadores son capaces de producir en el mercado.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Valor del Producto Marginal del Trabajo (VPMgL):
</a:t>
            </a:r>
            <a:r>
              <a:rPr sz="1100">
                <a:solidFill>
                  <a:srgbClr val="2F3A30"/>
                </a:solidFill>
                <a:latin typeface="Calibri"/>
              </a:rPr>
              <a:t>VPMgL = P · PMgL, donde P es el precio del bien final y PMgL es la productividad física marginal del trabajador adicional contratado.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Ley de Rendimientos Decrecientes:
</a:t>
            </a:r>
            <a:r>
              <a:rPr sz="1100">
                <a:solidFill>
                  <a:srgbClr val="2F3A30"/>
                </a:solidFill>
                <a:latin typeface="Calibri"/>
              </a:rPr>
              <a:t>Con el capital constante a corto plazo, la incorporación sucesiva de trabajadores reduce el PMgL. Por tanto, la curva de demanda laboral tiene pendiente negativa.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03520" cy="43434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182880" rtlCol="0" anchor="t"/>
          <a:lstStyle/>
          <a:p>
            <a:pPr algn="ctr">
              <a:spcAft>
                <a:spcPts val="800"/>
              </a:spcAft>
              <a:defRPr sz="1400" b="1">
                <a:solidFill>
                  <a:srgbClr val="113927"/>
                </a:solidFill>
                <a:latin typeface="Outfit"/>
              </a:defRPr>
            </a:pPr>
            <a:r>
              <a:t>2. REGLA DE CONTRATACIÓN Y ELASTICIDAD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Regla de Maximización de Beneficios:
</a:t>
            </a:r>
            <a:r>
              <a:rPr sz="1100">
                <a:solidFill>
                  <a:srgbClr val="2F3A30"/>
                </a:solidFill>
                <a:latin typeface="Calibri"/>
              </a:rPr>
              <a:t>La empresa competitiva contrata hasta el punto exacto donde el valor marginal iguala el coste laboral total por hora:
   P · PMgL = w · (1 + τ)
(donde τ representa las cotizaciones patronales a la Seguridad Social).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Impacto de la Cuña Fiscal y Salarios:
</a:t>
            </a:r>
            <a:r>
              <a:rPr sz="1100">
                <a:solidFill>
                  <a:srgbClr val="2F3A30"/>
                </a:solidFill>
                <a:latin typeface="Calibri"/>
              </a:rPr>
              <a:t>Un incremento salarial o de cotizaciones (τ) encarece el coste marginal, induciendo a la empresa a frenar la contratación o reducir plantilla.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13927"/>
                </a:solidFill>
                <a:latin typeface="Calibri"/>
              </a:rPr>
              <a:t>• Determinantes de la Elasticidad de Demanda:
</a:t>
            </a:r>
            <a:r>
              <a:rPr sz="1100">
                <a:solidFill>
                  <a:srgbClr val="2F3A30"/>
                </a:solidFill>
                <a:latin typeface="Calibri"/>
              </a:rPr>
              <a:t>• Facilidad técnica de sustitución entre trabajo y capital/automatización.
• Peso relativo de los costes laborales sobre los costes totales de producción.
• Elasticidad-precio de la demanda del producto final.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3 · EQUILIBRIO DE 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El Equilibrio Neoclásico del Mercado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Determinación del salario real, oferta agregada backward-bending y desempleo involuntario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10 / 16</a:t>
            </a:r>
          </a:p>
        </p:txBody>
      </p:sp>
      <p:pic>
        <p:nvPicPr>
          <p:cNvPr id="8" name="Picture 7" descr="modelo_desempleo_neoclas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6350000" cy="43669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7100000" y="1645920"/>
                <a:ext cx="4513520" cy="4389120"/>
              </a:xfrm>
              <a:prstGeom prst="roundRect">
                <a:avLst/>
              </a:prstGeom>
              <a:solidFill>
                <a:srgbClr val="F4F8F5"/>
              </a:solidFill>
              <a:ln w="19050">
                <a:solidFill>
                  <a:srgbClr val="113927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800"/>
                  </a:spcAft>
                  <a:defRPr sz="1350" b="1">
                    <a:solidFill>
                      <a:srgbClr val="113927"/>
                    </a:solidFill>
                    <a:latin typeface="Outfit"/>
                  </a:defRPr>
                </a:pPr>
                <a:r>
                  <a:rPr dirty="0"/>
                  <a:t>FIGURA 1.6 · CLAVES ANALÍTICAS</a:t>
                </a:r>
              </a:p>
              <a:p>
                <a:pPr>
                  <a:spcAft>
                    <a:spcPts val="600"/>
                  </a:spcAft>
                </a:pP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•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Oferta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Agregada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con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Tramo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Backward-Bending (O):
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nivel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agregado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, la curva de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oferta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recoge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las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decisiones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individuales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: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pendiente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positiva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competitivos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y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flexión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hacia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atrás 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altos.</a:t>
                </a:r>
              </a:p>
              <a:p>
                <a:pPr>
                  <a:spcAft>
                    <a:spcPts val="600"/>
                  </a:spcAft>
                </a:pP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•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Equilibrio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113927"/>
                    </a:solidFill>
                    <a:latin typeface="Calibri"/>
                  </a:rPr>
                  <a:t>Competitivo</a:t>
                </a:r>
                <a:r>
                  <a:rPr sz="1150" b="1" dirty="0">
                    <a:solidFill>
                      <a:srgbClr val="113927"/>
                    </a:solidFill>
                    <a:latin typeface="Calibri"/>
                  </a:rPr>
                  <a:t> E* (S*, N*):
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La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intersección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entre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oferta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(O) y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demanda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derivada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(D)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fija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el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real de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equilibrio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S* y el pleno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empleo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de mercado N*.</a:t>
                </a:r>
              </a:p>
              <a:p>
                <a:pPr>
                  <a:spcAft>
                    <a:spcPts val="600"/>
                  </a:spcAft>
                </a:pP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•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Rigidez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Salarial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por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Encima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del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Equilibrio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(S &gt; S*):
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Un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rígido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fijado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por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encima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de S* (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mínimo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elevado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,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convenio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o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costes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laborales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)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provoca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que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las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empresas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solo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demanden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trabajadores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.</a:t>
                </a:r>
              </a:p>
              <a:p>
                <a:pPr>
                  <a:spcAft>
                    <a:spcPts val="600"/>
                  </a:spcAft>
                </a:pP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•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Desempleo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</a:t>
                </a:r>
                <a:r>
                  <a:rPr sz="1150" b="1" dirty="0" err="1">
                    <a:solidFill>
                      <a:srgbClr val="E98F71"/>
                    </a:solidFill>
                    <a:latin typeface="Calibri"/>
                  </a:rPr>
                  <a:t>Involuntario</a:t>
                </a:r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  <m:t>𝑶</m:t>
                        </m:r>
                      </m:sub>
                    </m:sSub>
                    <m:r>
                      <a:rPr lang="es-ES" sz="1150" b="1" i="1" dirty="0" smtClean="0">
                        <a:solidFill>
                          <a:srgbClr val="E98F71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sSub>
                      <m:sSubPr>
                        <m:ctrlP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es-ES" sz="1150" b="1" i="1" dirty="0" smtClean="0">
                            <a:solidFill>
                              <a:srgbClr val="E98F71"/>
                            </a:solidFill>
                            <a:latin typeface="Cambria Math" panose="02040503050406030204" pitchFamily="18" charset="0"/>
                          </a:rPr>
                          <m:t>𝑫</m:t>
                        </m:r>
                      </m:sub>
                    </m:sSub>
                  </m:oMath>
                </a14:m>
                <a:r>
                  <a:rPr sz="1150" b="1" dirty="0">
                    <a:solidFill>
                      <a:srgbClr val="E98F71"/>
                    </a:solidFill>
                    <a:latin typeface="Calibri"/>
                  </a:rPr>
                  <a:t>):
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Al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salario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S hay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</m:oMath>
                </a14:m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personas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dispuestas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trabajar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,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pero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solo se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contratan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s-ES" sz="1100" i="1" dirty="0" smtClean="0">
                            <a:solidFill>
                              <a:srgbClr val="2F3A3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. Se genera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una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brecha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de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desempleo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involuntario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por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exceso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 de </a:t>
                </a:r>
                <a:r>
                  <a:rPr sz="1100" dirty="0" err="1">
                    <a:solidFill>
                      <a:srgbClr val="2F3A30"/>
                    </a:solidFill>
                    <a:latin typeface="Calibri"/>
                  </a:rPr>
                  <a:t>oferta</a:t>
                </a:r>
                <a:r>
                  <a:rPr sz="1100" dirty="0">
                    <a:solidFill>
                      <a:srgbClr val="2F3A30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0000" y="1645920"/>
                <a:ext cx="4513520" cy="43891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113927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4 · LABORATORIO ACTIVO (20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Simulador Individual: Colocación Adecuada y Salario de Reserva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Aplicación práctica con la micro-app interactiva desde el teléfono móvil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11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11064240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13927"/>
                </a:solidFill>
                <a:latin typeface="Outfit"/>
              </a:defRPr>
            </a:pPr>
            <a:r>
              <a:t>OBJETIVOS DEL TALLER CON LA MICRO-APP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1. Experimentación Individual en Tiempo Real:</a:t>
            </a:r>
            <a:br/>
            <a:r>
              <a:t>Cada alumno asume el rol de Analista Técnico de Empleo utilizando la micro-app en su teléfono móvil.</a:t>
            </a:r>
            <a:br/>
            <a:br/>
            <a:r>
              <a:t>2. Evaluación de 4 Casos Límite Reales:</a:t>
            </a:r>
            <a:br/>
            <a:r>
              <a:t>   • Caso 1: La Ingeniera Industrial (Cualificación, guardería y distancia).</a:t>
            </a:r>
            <a:br/>
            <a:r>
              <a:t>   • Caso 2: El Comercial Senior (Salario fijo vs. variable y comisiones).</a:t>
            </a:r>
            <a:br/>
            <a:r>
              <a:t>   • Caso 3: La Dependienta de 58 años (Horario nocturno y cuidados familiares).</a:t>
            </a:r>
            <a:br/>
            <a:r>
              <a:t>   • Caso 4: El Joven Temporal (Contrato corto de 3 meses a 60 km).</a:t>
            </a:r>
            <a:br/>
            <a:br/>
            <a:r>
              <a:t>3. Diagnóstico de Políticas Públicas:</a:t>
            </a:r>
            <a:br/>
            <a:r>
              <a:t>Analizar si las ofertas son 'adecuadas' según la normativa laboral y ponderar cómo las ayudas públicas evitan o fomentan la trampa de la pobreza.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4 · MISIÓN TÉCNICA INDIVIDUAL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Acceso a la Micro-App desde el Móvil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Escanea el código QR y resuelve la secuencia guiada de análisis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13927"/>
                </a:solidFill>
                <a:latin typeface="Outfit"/>
              </a:defRPr>
            </a:pPr>
            <a:r>
              <a:t>PASOS DE LA MISIÓN INDIVIDUAL (20 MIN)</a:t>
            </a:r>
          </a:p>
          <a:p>
            <a:pPr>
              <a:defRPr sz="1400">
                <a:solidFill>
                  <a:srgbClr val="2F3A30"/>
                </a:solidFill>
                <a:latin typeface="Calibri"/>
              </a:defRPr>
            </a:pPr>
            <a:r>
              <a:t>1. Escanea el código QR proyectado a la derecha desde tu teléfono móvil.</a:t>
            </a:r>
            <a:br/>
            <a:br/>
            <a:r>
              <a:t>2. Revisa los 6 Factores de Colocación Adecuada:</a:t>
            </a:r>
            <a:br/>
            <a:r>
              <a:t>   Distancia, Salario, Cualificación, Tiempo en Paro, Cargas Familiares y Jornada.</a:t>
            </a:r>
            <a:br/>
            <a:br/>
            <a:r>
              <a:t>3. Resuelve los 4 Casos de Debate en la App:</a:t>
            </a:r>
            <a:br/>
            <a:r>
              <a:t>   Determina para cada perfil si la oferta es legalmente adecuada y si el trabajador aceptará según su wR.</a:t>
            </a:r>
            <a:br/>
            <a:br/>
            <a:r>
              <a:t>4. Propuesta de Reforma:</a:t>
            </a:r>
            <a:br/>
            <a:r>
              <a:t>   Diseña una medida para hacer compatibles las prestaciones asistenciales con el empleo a tiempo parcial.</a:t>
            </a:r>
          </a:p>
        </p:txBody>
      </p:sp>
      <p:pic>
        <p:nvPicPr>
          <p:cNvPr id="9" name="Picture 8" descr="qr_microapp_sesion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45920"/>
            <a:ext cx="38404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5 · RETO INDIVIDUAL DE CIERRE (10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Reto Evaluativo de Aplicación Analítica en Papel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Redacción individual de puño y letra en entorno controlado sin pantallas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11064240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E98F71"/>
                </a:solidFill>
                <a:latin typeface="Outfit"/>
              </a:defRPr>
            </a:pPr>
            <a:r>
              <a:t>CASO PRÁCTICO TIPO EXAMEN (10 MINUTOS)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«Un trabajador desempleado percibe un subsidio asistencial de 480 €/mes (Y_NS). Recibe una oferta para trabajar como operario de logística a jornada completa por 1.150 € netos mensuales. Para acudir al puesto debe gastar 180 € al mes en combustible y perdería de forma inmediata la ayuda de 480 €.</a:t>
            </a:r>
            <a:br/>
            <a:br/>
            <a:r>
              <a:t>Responda en papel de su puño y letra:</a:t>
            </a:r>
            <a:br/>
            <a:r>
              <a:t>a) Calcule la ganancia neta real por hora trabajada de este operario.</a:t>
            </a:r>
            <a:br/>
            <a:r>
              <a:t>b) Explique analíticamente por qué el salario ofertado se sitúa por debajo de su Salario de Reserva (wR).</a:t>
            </a:r>
            <a:br/>
            <a:r>
              <a:t>c) Proponga una medida técnica de política sociolaboral para corregir esta rigidez sin desamparar al desempleado.»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5 · SUBIDA FOTOGRÁFICA (2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Envío Digital Autenticado del Reto Manuscrito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Fotografía y subida instantánea mediante código QR institucional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8580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13927"/>
                </a:solidFill>
                <a:latin typeface="Outfit"/>
              </a:defRPr>
            </a:pPr>
            <a:r>
              <a:t>INSTRUCCIONES DE SUBIDA</a:t>
            </a:r>
          </a:p>
          <a:p>
            <a:pPr>
              <a:defRPr sz="1400">
                <a:solidFill>
                  <a:srgbClr val="2F3A30"/>
                </a:solidFill>
                <a:latin typeface="Calibri"/>
              </a:defRPr>
            </a:pPr>
            <a:r>
              <a:t>1. Haz una foto nítida de tu hoja manuscrita con el teléfono móvil.</a:t>
            </a:r>
            <a:br/>
            <a:br/>
            <a:r>
              <a:t>2. Escanea el código QR proyectado a la derecha para acceder al formulario institucional de Microsoft Forms.</a:t>
            </a:r>
            <a:br/>
            <a:br/>
            <a:r>
              <a:t>3. Inicia sesión con tu cuenta oficial UPO (@alu.upo.es).</a:t>
            </a:r>
            <a:br/>
            <a:br/>
            <a:r>
              <a:t>4. Adjunta el archivo de imagen y pulsa Enviar.</a:t>
            </a:r>
            <a:br/>
            <a:br/>
            <a:r>
              <a:t>• Incentivo Tangible:</a:t>
            </a:r>
            <a:br/>
            <a:r>
              <a:t>Cada entrega continua válida acumula puntos en el Pasaporte de Evaluación Continua para ventajas en el examen final (70%).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645920"/>
            <a:ext cx="3840480" cy="4389120"/>
          </a:xfrm>
          <a:prstGeom prst="round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Outfit"/>
              </a:defRPr>
            </a:pPr>
            <a:r>
              <a:t>SUBE TU HOJA AQUÍ</a:t>
            </a:r>
          </a:p>
          <a:p>
            <a:pPr algn="ctr">
              <a:defRPr sz="1200">
                <a:solidFill>
                  <a:srgbClr val="F3EFDC"/>
                </a:solidFill>
                <a:latin typeface="Calibri"/>
              </a:defRPr>
            </a:pPr>
            <a:r>
              <a:t>Formulario Oficial UPO</a:t>
            </a:r>
            <a:br/>
            <a:r>
              <a:t>Plazo de subida: 2 minutos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SÍNTESIS DE LA SESIÓN EB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Las Tres Conclusiones Imborrables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Resumen conceptual y avance de la próxima sesión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16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11064240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1139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13927"/>
                </a:solidFill>
                <a:latin typeface="Outfit"/>
              </a:defRPr>
            </a:pPr>
            <a:r>
              <a:t>CONCLUSIONES CLAVE Y CONEXIÓN TRANSMEDIA</a:t>
            </a:r>
          </a:p>
          <a:p>
            <a:pPr>
              <a:defRPr sz="1500">
                <a:solidFill>
                  <a:srgbClr val="2F3A30"/>
                </a:solidFill>
                <a:latin typeface="Calibri"/>
              </a:defRPr>
            </a:pPr>
            <a:r>
              <a:t>1. El Salario es el Coste de Oportunidad del Ocio:</a:t>
            </a:r>
            <a:br/>
            <a:r>
              <a:t>   La oferta laboral individual surge de la disyuntiva ocio-consumo, modulada por los Efectos Renta y Sustitución.</a:t>
            </a:r>
            <a:br/>
            <a:br/>
            <a:r>
              <a:t>2. El Salario de Reserva (wR) Manda en la Participación:</a:t>
            </a:r>
            <a:br/>
            <a:r>
              <a:t>   Si el salario neto real ofertado no supera wR, la inactividad o el rechazo de ofertas es una respuesta microeconómica racional. Las políticas sociolaborales deben evitar diseñar tipos marginales implícitos del 100%.</a:t>
            </a:r>
            <a:br/>
            <a:br/>
            <a:r>
              <a:t>3. La Demanda Laboral es Derivada:</a:t>
            </a:r>
            <a:br/>
            <a:r>
              <a:t>   Las empresas contratan en función del valor de su producto marginal (P · PMgL) comparado con el coste laboral total.</a:t>
            </a:r>
            <a:br/>
            <a:br/>
            <a:r>
              <a:t>▶ Próxima Sesión (Sesión 4 · Martes/Viernes):</a:t>
            </a:r>
            <a:br/>
            <a:r>
              <a:t>   Desempleo Friccional, Estructural, Tasa Natural de Desempleo (NAIRU) y Curva de Phillips.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5 · CORRECCIÓN INMEDIATA (5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Outfit"/>
              </a:defRPr>
            </a:pPr>
            <a:r>
              <a:t>Solución Modelo y Rúbrica Oficial de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Feedback formativo para la autocorrección del reto</a:t>
            </a:r>
          </a:p>
        </p:txBody>
      </p:sp>
      <p:pic>
        <p:nvPicPr>
          <p:cNvPr id="5" name="Picture 4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1158544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6927A"/>
                </a:solidFill>
                <a:latin typeface="Calibri"/>
              </a:defRPr>
            </a:pPr>
            <a:r>
              <a:t>15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F4F8F5"/>
          </a:solidFill>
          <a:ln>
            <a:solidFill>
              <a:srgbClr val="769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13927"/>
                </a:solidFill>
                <a:latin typeface="Outfit"/>
              </a:defRPr>
            </a:pPr>
            <a:r>
              <a:t>SOLUCIÓN MODELO</a:t>
            </a:r>
          </a:p>
          <a:p>
            <a:pPr>
              <a:defRPr sz="1300">
                <a:solidFill>
                  <a:srgbClr val="2F3A30"/>
                </a:solidFill>
                <a:latin typeface="Calibri"/>
              </a:defRPr>
            </a:pPr>
            <a:r>
              <a:t>a) Ganancia Neta Real:</a:t>
            </a:r>
            <a:br/>
            <a:r>
              <a:t>   1.150 € - 480 € (subsidio perdido) - 180 € (transporte) = 490 €/mes netos adicionales.</a:t>
            </a:r>
            <a:br/>
            <a:r>
              <a:t>   Por 160h trabajadas -&gt; Ganancia real = 3,06 €/hora.</a:t>
            </a:r>
            <a:br/>
            <a:br/>
            <a:r>
              <a:t>b) Justificación Analítica wR:</a:t>
            </a:r>
            <a:br/>
            <a:r>
              <a:t>   El operario valora su ocio y tiempo en &gt;3,06 €/h. Por tanto, w ofertado (3,06 €/h) &lt; wR, siendo racional rechazar la oferta.</a:t>
            </a:r>
            <a:br/>
            <a:br/>
            <a:r>
              <a:t>c) Propuesta de Reforma:</a:t>
            </a:r>
            <a:br/>
            <a:r>
              <a:t>   Establecer una retirada progresiva del subsidio (METR &lt; 40%) o bonificar el transporte.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3949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98F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E98F71"/>
                </a:solidFill>
                <a:latin typeface="Outfit"/>
              </a:defRPr>
            </a:pPr>
            <a:r>
              <a:t>RÚBRICA OFICIAL DE EVALUACIÓN (10 PTS)</a:t>
            </a:r>
          </a:p>
          <a:p>
            <a:pPr>
              <a:defRPr sz="1300">
                <a:solidFill>
                  <a:srgbClr val="2F3A30"/>
                </a:solidFill>
                <a:latin typeface="Calibri"/>
              </a:defRPr>
            </a:pPr>
            <a:r>
              <a:t>• Cálculo de Ganancia Neta (3,5 pts):</a:t>
            </a:r>
            <a:br/>
            <a:r>
              <a:t>Identificación correcta del coste de oportunidad (pérdida de subsidio + transporte).</a:t>
            </a:r>
            <a:br/>
            <a:br/>
            <a:r>
              <a:t>• Rigor Microeconómico wR (3,5 pts):</a:t>
            </a:r>
            <a:br/>
            <a:r>
              <a:t>Demostración analítica del umbral del Salario de Reserva (w &lt; wR) y trampa de la pobreza.</a:t>
            </a:r>
            <a:br/>
            <a:br/>
            <a:r>
              <a:t>• Propuesta Técnica de Política (3,0 pts):</a:t>
            </a:r>
            <a:br/>
            <a:r>
              <a:t>Formulación de esquemas tipo EITC o compatibilidad gradual de rentas.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3567</Words>
  <Application>Microsoft Office PowerPoint</Application>
  <PresentationFormat>Panorámica</PresentationFormat>
  <Paragraphs>172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 Math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3</cp:revision>
  <dcterms:created xsi:type="dcterms:W3CDTF">2013-01-27T09:14:16Z</dcterms:created>
  <dcterms:modified xsi:type="dcterms:W3CDTF">2026-09-18T14:45:11Z</dcterms:modified>
  <cp:category/>
</cp:coreProperties>
</file>