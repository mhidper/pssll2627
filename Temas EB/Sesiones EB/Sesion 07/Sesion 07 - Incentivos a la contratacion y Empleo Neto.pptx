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8" r:id="rId7"/>
    <p:sldId id="261" r:id="rId8"/>
    <p:sldId id="269" r:id="rId9"/>
    <p:sldId id="262" r:id="rId10"/>
    <p:sldId id="263" r:id="rId11"/>
    <p:sldId id="264" r:id="rId12"/>
    <p:sldId id="265" r:id="rId13"/>
    <p:sldId id="270" r:id="rId14"/>
    <p:sldId id="271" r:id="rId15"/>
    <p:sldId id="267"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3927"/>
          </a:solidFill>
          <a:ln>
            <a:solidFill>
              <a:srgbClr val="1139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logo_psll_upo.png"/>
          <p:cNvPicPr>
            <a:picLocks noChangeAspect="1"/>
          </p:cNvPicPr>
          <p:nvPr/>
        </p:nvPicPr>
        <p:blipFill>
          <a:blip r:embed="rId2"/>
          <a:stretch>
            <a:fillRect/>
          </a:stretch>
        </p:blipFill>
        <p:spPr>
          <a:xfrm>
            <a:off x="3901744" y="502920"/>
            <a:ext cx="4389120" cy="2393899"/>
          </a:xfrm>
          <a:prstGeom prst="rect">
            <a:avLst/>
          </a:prstGeom>
        </p:spPr>
      </p:pic>
      <p:sp>
        <p:nvSpPr>
          <p:cNvPr id="4" name="TextBox 3"/>
          <p:cNvSpPr txBox="1"/>
          <p:nvPr/>
        </p:nvSpPr>
        <p:spPr>
          <a:xfrm>
            <a:off x="914400" y="3063240"/>
            <a:ext cx="10362895" cy="548640"/>
          </a:xfrm>
          <a:prstGeom prst="rect">
            <a:avLst/>
          </a:prstGeom>
          <a:noFill/>
        </p:spPr>
        <p:txBody>
          <a:bodyPr wrap="square">
            <a:spAutoFit/>
          </a:bodyPr>
          <a:lstStyle/>
          <a:p>
            <a:pPr algn="ctr">
              <a:defRPr sz="2600" b="1">
                <a:solidFill>
                  <a:srgbClr val="FFFFFF"/>
                </a:solidFill>
                <a:latin typeface="Outfit"/>
              </a:defRPr>
            </a:pPr>
            <a:r>
              <a:t>POLÍTICAS SOCIOLABORALES Y DE EMPLEO</a:t>
            </a:r>
          </a:p>
        </p:txBody>
      </p:sp>
      <p:sp>
        <p:nvSpPr>
          <p:cNvPr id="5" name="TextBox 4"/>
          <p:cNvSpPr txBox="1"/>
          <p:nvPr/>
        </p:nvSpPr>
        <p:spPr>
          <a:xfrm>
            <a:off x="914400" y="3657600"/>
            <a:ext cx="10362895" cy="457200"/>
          </a:xfrm>
          <a:prstGeom prst="rect">
            <a:avLst/>
          </a:prstGeom>
          <a:noFill/>
        </p:spPr>
        <p:txBody>
          <a:bodyPr wrap="none">
            <a:spAutoFit/>
          </a:bodyPr>
          <a:lstStyle/>
          <a:p>
            <a:pPr algn="ctr">
              <a:defRPr sz="1800" b="1">
                <a:solidFill>
                  <a:srgbClr val="EDB090"/>
                </a:solidFill>
                <a:latin typeface="Outfit"/>
              </a:defRPr>
            </a:pPr>
            <a:r>
              <a:t>Sesión 7 – Tema 2 (II): Incentivos a la Contratación y Empleo Neto</a:t>
            </a:r>
          </a:p>
        </p:txBody>
      </p:sp>
      <p:sp>
        <p:nvSpPr>
          <p:cNvPr id="6" name="TextBox 5"/>
          <p:cNvSpPr txBox="1"/>
          <p:nvPr/>
        </p:nvSpPr>
        <p:spPr>
          <a:xfrm>
            <a:off x="914400" y="4206240"/>
            <a:ext cx="10362895" cy="365760"/>
          </a:xfrm>
          <a:prstGeom prst="rect">
            <a:avLst/>
          </a:prstGeom>
          <a:noFill/>
        </p:spPr>
        <p:txBody>
          <a:bodyPr wrap="none">
            <a:spAutoFit/>
          </a:bodyPr>
          <a:lstStyle/>
          <a:p>
            <a:pPr algn="ctr">
              <a:defRPr sz="1300">
                <a:solidFill>
                  <a:srgbClr val="F4F8F5"/>
                </a:solidFill>
                <a:latin typeface="Calibri"/>
              </a:defRPr>
            </a:pPr>
            <a:r>
              <a:t>Semana 4 · Código 102023 · Prof. Manuel A. Hidalgo Pérez · Universidad Pablo de Olavide</a:t>
            </a:r>
          </a:p>
        </p:txBody>
      </p:sp>
      <p:sp>
        <p:nvSpPr>
          <p:cNvPr id="7" name="Rectangle 6"/>
          <p:cNvSpPr/>
          <p:nvPr/>
        </p:nvSpPr>
        <p:spPr>
          <a:xfrm>
            <a:off x="0" y="6035040"/>
            <a:ext cx="12191695" cy="8229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po_logo.jpg"/>
          <p:cNvPicPr>
            <a:picLocks noChangeAspect="1"/>
          </p:cNvPicPr>
          <p:nvPr/>
        </p:nvPicPr>
        <p:blipFill>
          <a:blip r:embed="rId3"/>
          <a:stretch>
            <a:fillRect/>
          </a:stretch>
        </p:blipFill>
        <p:spPr>
          <a:xfrm>
            <a:off x="548640" y="6126480"/>
            <a:ext cx="452628" cy="640080"/>
          </a:xfrm>
          <a:prstGeom prst="rect">
            <a:avLst/>
          </a:prstGeom>
        </p:spPr>
      </p:pic>
      <p:sp>
        <p:nvSpPr>
          <p:cNvPr id="9" name="TextBox 8"/>
          <p:cNvSpPr txBox="1"/>
          <p:nvPr/>
        </p:nvSpPr>
        <p:spPr>
          <a:xfrm>
            <a:off x="1234440" y="6236208"/>
            <a:ext cx="10515600" cy="365760"/>
          </a:xfrm>
          <a:prstGeom prst="rect">
            <a:avLst/>
          </a:prstGeom>
          <a:noFill/>
        </p:spPr>
        <p:txBody>
          <a:bodyPr wrap="none">
            <a:spAutoFit/>
          </a:bodyPr>
          <a:lstStyle/>
          <a:p>
            <a:pPr>
              <a:defRPr sz="1100" b="1">
                <a:solidFill>
                  <a:srgbClr val="2F3A30"/>
                </a:solidFill>
                <a:latin typeface="Calibri"/>
              </a:defRPr>
            </a:pPr>
            <a:r>
              <a:t>Grado en Relaciones Laborales y Recursos Humanos · Doble Grado en Derecho y RRLL-RRHH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1 · APERTURA CON GANCHO Y ENIGMA (00–20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La Paradoja de los 2.900 Millones: Pagar por Contratar</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6217920" cy="4846320"/>
          </a:xfrm>
          <a:prstGeom prst="roundRect">
            <a:avLst/>
          </a:prstGeom>
          <a:solidFill>
            <a:srgbClr val="F4F8F5"/>
          </a:solidFill>
          <a:ln w="12700">
            <a:solidFill>
              <a:srgbClr val="76927A"/>
            </a:solidFill>
          </a:ln>
        </p:spPr>
        <p:style>
          <a:lnRef idx="1">
            <a:schemeClr val="accent1"/>
          </a:lnRef>
          <a:fillRef idx="3">
            <a:schemeClr val="accent1"/>
          </a:fillRef>
          <a:effectRef idx="2">
            <a:schemeClr val="accent1"/>
          </a:effectRef>
          <a:fontRef idx="minor">
            <a:schemeClr val="lt1"/>
          </a:fontRef>
        </p:style>
        <p:txBody>
          <a:bodyPr wrap="square" lIns="320040" tIns="320040" rIns="320040" rtlCol="0" anchor="ctr"/>
          <a:lstStyle/>
          <a:p>
            <a:pPr algn="ctr">
              <a:spcAft>
                <a:spcPts val="1200"/>
              </a:spcAft>
              <a:defRPr sz="1700" b="1">
                <a:solidFill>
                  <a:srgbClr val="113927"/>
                </a:solidFill>
                <a:latin typeface="Outfit"/>
              </a:defRPr>
            </a:pPr>
            <a:r>
              <a:t>📰 El Hecho Económico Real (AIReF Spending Review)</a:t>
            </a:r>
          </a:p>
          <a:p>
            <a:pPr>
              <a:spcAft>
                <a:spcPts val="1000"/>
              </a:spcAft>
              <a:defRPr sz="1600">
                <a:solidFill>
                  <a:srgbClr val="2F3A30"/>
                </a:solidFill>
                <a:latin typeface="Calibri"/>
              </a:defRPr>
            </a:pPr>
            <a:r>
              <a:t>• Gasto desorbitado en bonificaciones: España destina más de 2.900 M€ al año a incentivos a la contratación y autoempleo, representando más del 40% de todo el presupuesto de Políticas Activas de Empleo (PAE).</a:t>
            </a:r>
          </a:p>
          <a:p>
            <a:pPr>
              <a:spcAft>
                <a:spcPts val="1000"/>
              </a:spcAft>
              <a:defRPr sz="1600">
                <a:solidFill>
                  <a:srgbClr val="2F3A30"/>
                </a:solidFill>
                <a:latin typeface="Calibri"/>
              </a:defRPr>
            </a:pPr>
            <a:r>
              <a:t>• La promesa política recurrente: Subvencionar con 4.000 € – 10.000 € cada contrato formalizado promete 'crear miles de puestos de trabajo estables' para jóvenes y colectivos vulnerables.</a:t>
            </a:r>
          </a:p>
          <a:p>
            <a:pPr>
              <a:defRPr sz="1600" b="1">
                <a:solidFill>
                  <a:srgbClr val="E98F71"/>
                </a:solidFill>
                <a:latin typeface="Calibri"/>
              </a:defRPr>
            </a:pPr>
            <a:r>
              <a:t>• El demoledor dictamen científico: La evaluación con microdatos revela que entre el 60% y el 80% de los incentivos subvenciona contratos que las empresas habrían firmado de todos modos.</a:t>
            </a:r>
          </a:p>
        </p:txBody>
      </p:sp>
      <p:sp>
        <p:nvSpPr>
          <p:cNvPr id="6" name="Rounded Rectangle 5"/>
          <p:cNvSpPr/>
          <p:nvPr/>
        </p:nvSpPr>
        <p:spPr>
          <a:xfrm>
            <a:off x="7223760" y="1371600"/>
            <a:ext cx="4206240" cy="4846320"/>
          </a:xfrm>
          <a:prstGeom prst="roundRect">
            <a:avLst/>
          </a:prstGeom>
          <a:solidFill>
            <a:srgbClr val="113927"/>
          </a:solidFill>
          <a:ln>
            <a:solidFill>
              <a:srgbClr val="113927"/>
            </a:solidFill>
          </a:ln>
        </p:spPr>
        <p:style>
          <a:lnRef idx="1">
            <a:schemeClr val="accent1"/>
          </a:lnRef>
          <a:fillRef idx="3">
            <a:schemeClr val="accent1"/>
          </a:fillRef>
          <a:effectRef idx="2">
            <a:schemeClr val="accent1"/>
          </a:effectRef>
          <a:fontRef idx="minor">
            <a:schemeClr val="lt1"/>
          </a:fontRef>
        </p:style>
        <p:txBody>
          <a:bodyPr wrap="square" lIns="320040" tIns="320040" rIns="320040" rtlCol="0" anchor="ctr"/>
          <a:lstStyle/>
          <a:p>
            <a:pPr algn="ctr">
              <a:spcAft>
                <a:spcPts val="1400"/>
              </a:spcAft>
              <a:defRPr sz="1700" b="1">
                <a:solidFill>
                  <a:srgbClr val="EDB090"/>
                </a:solidFill>
                <a:latin typeface="Outfit"/>
              </a:defRPr>
            </a:pPr>
            <a:r>
              <a:t>🤔 El Enigma de la Sesión</a:t>
            </a:r>
          </a:p>
          <a:p>
            <a:pPr>
              <a:spcAft>
                <a:spcPts val="1200"/>
              </a:spcAft>
              <a:defRPr sz="1600">
                <a:solidFill>
                  <a:srgbClr val="FFFFFF"/>
                </a:solidFill>
                <a:latin typeface="Calibri"/>
              </a:defRPr>
            </a:pPr>
            <a:r>
              <a:t>Si una empresa recibe 6.000 € de fondos públicos y contrata a un joven desempleado:</a:t>
            </a:r>
          </a:p>
          <a:p>
            <a:pPr>
              <a:spcAft>
                <a:spcPts val="1400"/>
              </a:spcAft>
              <a:defRPr sz="1600" b="1">
                <a:solidFill>
                  <a:srgbClr val="E98F71"/>
                </a:solidFill>
                <a:latin typeface="Calibri"/>
              </a:defRPr>
            </a:pPr>
            <a:r>
              <a:t>¿Ha creado la política pública un nuevo puesto de trabajo, o simplemente le ha pagado la nómina de los primeros meses a un negocio que ya pensaba contratar?</a:t>
            </a:r>
          </a:p>
          <a:p>
            <a:pPr>
              <a:defRPr sz="1600">
                <a:solidFill>
                  <a:srgbClr val="F4F8F5"/>
                </a:solidFill>
                <a:latin typeface="Calibri"/>
              </a:defRPr>
            </a:pPr>
            <a:r>
              <a:t>👉 ¿Por qué el empleo neto real es solo una pequeña fracción del empleo bruto subvencionado?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1 · SONDEO PREVIO EN VIVO (00–20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Sondeo de Intuición Popular vs. Rigor Empírico</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6858000" cy="4846320"/>
          </a:xfrm>
          <a:prstGeom prst="roundRect">
            <a:avLst/>
          </a:prstGeom>
          <a:solidFill>
            <a:srgbClr val="F4F8F5"/>
          </a:solidFill>
          <a:ln>
            <a:solidFill>
              <a:srgbClr val="76927A"/>
            </a:solidFill>
          </a:ln>
        </p:spPr>
        <p:style>
          <a:lnRef idx="1">
            <a:schemeClr val="accent1"/>
          </a:lnRef>
          <a:fillRef idx="3">
            <a:schemeClr val="accent1"/>
          </a:fillRef>
          <a:effectRef idx="2">
            <a:schemeClr val="accent1"/>
          </a:effectRef>
          <a:fontRef idx="minor">
            <a:schemeClr val="lt1"/>
          </a:fontRef>
        </p:style>
        <p:txBody>
          <a:bodyPr wrap="square" lIns="320040" tIns="320040" rIns="320040" rtlCol="0" anchor="ctr"/>
          <a:lstStyle/>
          <a:p>
            <a:pPr algn="ctr">
              <a:spcAft>
                <a:spcPts val="1200"/>
              </a:spcAft>
              <a:defRPr sz="1700" b="1">
                <a:solidFill>
                  <a:srgbClr val="113927"/>
                </a:solidFill>
                <a:latin typeface="Outfit"/>
              </a:defRPr>
            </a:pPr>
            <a:r>
              <a:t>🗳️ Pregunta de Debate Inicial en Microsoft Forms</a:t>
            </a:r>
          </a:p>
          <a:p>
            <a:pPr>
              <a:spcAft>
                <a:spcPts val="1400"/>
              </a:spcAft>
              <a:defRPr sz="1600">
                <a:solidFill>
                  <a:srgbClr val="2F3A30"/>
                </a:solidFill>
                <a:latin typeface="Calibri"/>
              </a:defRPr>
            </a:pPr>
            <a:r>
              <a:t>«Una comunidad autónoma concede una ayuda de 6.000 € a fondo perdido por cada contrato indefinido formalizado con menores de 30 años. Se agotan los 60 M€ de presupuesto y se registran 10.000 contratos subvencionados.</a:t>
            </a:r>
            <a:br/>
            <a:br/>
            <a:r>
              <a:t>Según la evidencia empírica de la AIReF y la OCDE, ¿cuántos empleos netos reales creará este programa?»</a:t>
            </a:r>
          </a:p>
          <a:p>
            <a:pPr>
              <a:defRPr sz="1600" b="1">
                <a:solidFill>
                  <a:srgbClr val="113927"/>
                </a:solidFill>
                <a:latin typeface="Calibri"/>
              </a:defRPr>
            </a:pPr>
            <a:r>
              <a:t>• Opción A: 10.000 empleos netos (cada contrato firmado es un nuevo empleo).</a:t>
            </a:r>
            <a:br/>
            <a:r>
              <a:t>• Opción B: Entre 6.000 y 8.000 empleos netos (efectividad muy alta).</a:t>
            </a:r>
            <a:br/>
            <a:r>
              <a:t>• Opción C: Exactamente 0 empleos netos (fraude absoluto).</a:t>
            </a:r>
            <a:br/>
            <a:r>
              <a:t>• Opción D: Entre 1.000 y 2.000 empleos netos reales (el resto es peso muerto y sustitución).</a:t>
            </a:r>
          </a:p>
        </p:txBody>
      </p:sp>
      <p:sp>
        <p:nvSpPr>
          <p:cNvPr id="6" name="Rounded Rectangle 5"/>
          <p:cNvSpPr/>
          <p:nvPr/>
        </p:nvSpPr>
        <p:spPr>
          <a:xfrm>
            <a:off x="7863840" y="1371600"/>
            <a:ext cx="356616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113927"/>
                </a:solidFill>
                <a:latin typeface="Outfit"/>
              </a:defRPr>
            </a:pPr>
            <a:r>
              <a:t>📱 ESCANEA Y VOTA AHORA</a:t>
            </a:r>
          </a:p>
        </p:txBody>
      </p:sp>
      <p:pic>
        <p:nvPicPr>
          <p:cNvPr id="7" name="Picture 6" descr="qr_sondeo_sesion07.png"/>
          <p:cNvPicPr>
            <a:picLocks noChangeAspect="1"/>
          </p:cNvPicPr>
          <p:nvPr/>
        </p:nvPicPr>
        <p:blipFill>
          <a:blip r:embed="rId3"/>
          <a:stretch>
            <a:fillRect/>
          </a:stretch>
        </p:blipFill>
        <p:spPr>
          <a:xfrm>
            <a:off x="8321040" y="2011680"/>
            <a:ext cx="2651760" cy="2651760"/>
          </a:xfrm>
          <a:prstGeom prst="rect">
            <a:avLst/>
          </a:prstGeom>
        </p:spPr>
      </p:pic>
      <p:sp>
        <p:nvSpPr>
          <p:cNvPr id="8" name="TextBox 7"/>
          <p:cNvSpPr txBox="1"/>
          <p:nvPr/>
        </p:nvSpPr>
        <p:spPr>
          <a:xfrm>
            <a:off x="7955279" y="4846320"/>
            <a:ext cx="3383280" cy="1097280"/>
          </a:xfrm>
          <a:prstGeom prst="rect">
            <a:avLst/>
          </a:prstGeom>
          <a:noFill/>
        </p:spPr>
        <p:txBody>
          <a:bodyPr wrap="square">
            <a:spAutoFit/>
          </a:bodyPr>
          <a:lstStyle/>
          <a:p>
            <a:pPr algn="ctr">
              <a:defRPr sz="1100">
                <a:solidFill>
                  <a:srgbClr val="64748B"/>
                </a:solidFill>
                <a:latin typeface="Calibri"/>
              </a:defRPr>
            </a:pPr>
            <a:r>
              <a:t>Enlace directo Microsoft Forms:</a:t>
            </a:r>
            <a:br/>
            <a:r>
              <a:t>https://forms.office.com/e/PSLL-Sondeo-Sesion07</a:t>
            </a:r>
            <a:br/>
            <a:r>
              <a:t>(Acceso con cuenta @alu.upo.es)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1 · CHOQUE EMPÍRICO CON MICRODATOS (00–20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Radiografía del Gasto en Incentivos en España (AIReF)</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pic>
        <p:nvPicPr>
          <p:cNvPr id="5" name="Picture 4" descr="figura_airef_gasto_incentivos.png"/>
          <p:cNvPicPr>
            <a:picLocks noChangeAspect="1"/>
          </p:cNvPicPr>
          <p:nvPr/>
        </p:nvPicPr>
        <p:blipFill>
          <a:blip r:embed="rId3"/>
          <a:stretch>
            <a:fillRect/>
          </a:stretch>
        </p:blipFill>
        <p:spPr>
          <a:xfrm>
            <a:off x="731520" y="1371600"/>
            <a:ext cx="6949440" cy="4846320"/>
          </a:xfrm>
          <a:prstGeom prst="rect">
            <a:avLst/>
          </a:prstGeom>
        </p:spPr>
      </p:pic>
      <p:sp>
        <p:nvSpPr>
          <p:cNvPr id="6" name="Rounded Rectangle 5"/>
          <p:cNvSpPr/>
          <p:nvPr/>
        </p:nvSpPr>
        <p:spPr>
          <a:xfrm>
            <a:off x="7955279" y="1371600"/>
            <a:ext cx="3474720" cy="4846320"/>
          </a:xfrm>
          <a:prstGeom prst="roundRect">
            <a:avLst/>
          </a:prstGeom>
          <a:solidFill>
            <a:srgbClr val="F4F8F5"/>
          </a:solidFill>
          <a:ln>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700" b="1">
                <a:solidFill>
                  <a:srgbClr val="113927"/>
                </a:solidFill>
                <a:latin typeface="Outfit"/>
              </a:defRPr>
            </a:pPr>
            <a:r>
              <a:t>📊 Claves del Spending Review</a:t>
            </a:r>
          </a:p>
          <a:p>
            <a:pPr>
              <a:spcAft>
                <a:spcPts val="800"/>
              </a:spcAft>
              <a:defRPr sz="1500">
                <a:solidFill>
                  <a:srgbClr val="2F3A30"/>
                </a:solidFill>
                <a:latin typeface="Calibri"/>
              </a:defRPr>
            </a:pPr>
            <a:r>
              <a:t>1. Gasto masivo en discapacidad: El 40,6% del gasto (831 M€) se va a empleo protegido en CEE. (Se evaluará a fondo en la Sesión EB 8).</a:t>
            </a:r>
          </a:p>
          <a:p>
            <a:pPr>
              <a:spcAft>
                <a:spcPts val="800"/>
              </a:spcAft>
              <a:defRPr sz="1500">
                <a:solidFill>
                  <a:srgbClr val="2F3A30"/>
                </a:solidFill>
                <a:latin typeface="Calibri"/>
              </a:defRPr>
            </a:pPr>
            <a:r>
              <a:t>2. La Tarifa Plana de Autónomos: 37,1% (762 M€) se consume en cuotas reducidas; tras agotarse la ayuda, la supervivencia converge con los no incentivados.</a:t>
            </a:r>
          </a:p>
          <a:p>
            <a:pPr>
              <a:defRPr sz="1500" b="1">
                <a:solidFill>
                  <a:srgbClr val="E98F71"/>
                </a:solidFill>
                <a:latin typeface="Calibri"/>
              </a:defRPr>
            </a:pPr>
            <a:r>
              <a:t>3. La Paradoja de los Mayores de 45: Solo el 2,4% (49 M€) llega a mayores de 45 / PLD, pese a concentrar el desempleo estructural más severo.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2 · FUNDAMENTOS E INSTRUMENTOS DE SUBVENCIÓN (20–45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¿Por qué Subvencionar la Contratación y qué Instrumentos Usar?</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5120640" cy="4846320"/>
          </a:xfrm>
          <a:prstGeom prst="roundRect">
            <a:avLst/>
          </a:prstGeom>
          <a:solidFill>
            <a:srgbClr val="F4F8F5"/>
          </a:solidFill>
          <a:ln>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700" b="1">
                <a:solidFill>
                  <a:srgbClr val="113927"/>
                </a:solidFill>
                <a:latin typeface="Outfit"/>
              </a:defRPr>
            </a:pPr>
            <a:r>
              <a:t>💶 Subvención Directa a Tanto Alzado (Capital)</a:t>
            </a:r>
          </a:p>
          <a:p>
            <a:pPr>
              <a:defRPr sz="1600">
                <a:solidFill>
                  <a:srgbClr val="2F3A30"/>
                </a:solidFill>
                <a:latin typeface="Calibri"/>
              </a:defRPr>
            </a:pPr>
            <a:r>
              <a:t>• Mecanismo: Pago único o fraccionado (ej. 6.000 € a 12.000 € en el Programa Emplea-T) transferido directamente a la cuenta bancaria de la empresa.</a:t>
            </a:r>
            <a:br/>
            <a:r>
              <a:t>• Ventaja: Inyección inmediata de liquidez que atrae fuertemente a pymes y autónomos.</a:t>
            </a:r>
            <a:br/>
            <a:r>
              <a:t>• Riesgo técnico: Muy vulnerable a cobros oportunistas; exige auditoría administrativa exhaustiva para verificar permanencia ex-post.</a:t>
            </a:r>
          </a:p>
        </p:txBody>
      </p:sp>
      <p:sp>
        <p:nvSpPr>
          <p:cNvPr id="6" name="Rounded Rectangle 5"/>
          <p:cNvSpPr/>
          <p:nvPr/>
        </p:nvSpPr>
        <p:spPr>
          <a:xfrm>
            <a:off x="6217920" y="1371600"/>
            <a:ext cx="5212080" cy="4846320"/>
          </a:xfrm>
          <a:prstGeom prst="roundRect">
            <a:avLst/>
          </a:prstGeom>
          <a:solidFill>
            <a:srgbClr val="F4F8F5"/>
          </a:solidFill>
          <a:ln>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700" b="1">
                <a:solidFill>
                  <a:srgbClr val="113927"/>
                </a:solidFill>
                <a:latin typeface="Outfit"/>
              </a:defRPr>
            </a:pPr>
            <a:r>
              <a:t>📑 Bonificación en Cotizaciones a la Seguridad Social</a:t>
            </a:r>
          </a:p>
          <a:p>
            <a:pPr>
              <a:defRPr sz="1600">
                <a:solidFill>
                  <a:srgbClr val="2F3A30"/>
                </a:solidFill>
                <a:latin typeface="Calibri"/>
              </a:defRPr>
            </a:pPr>
            <a:r>
              <a:t>• Mecanismo: Reducción porcentual o fija mes a mes en el boletín de liquidación de cuotas empresariales (RLC / TC1).</a:t>
            </a:r>
            <a:br/>
            <a:r>
              <a:t>• Ventaja: Reduce la cuña fiscal marginal de forma continuada mientras el contrato sigue vivo (automatización total vía TGSS).</a:t>
            </a:r>
            <a:br/>
            <a:r>
              <a:t>• Limitación: Menor visibilidad psicológica para el empleador y merma ingresos del sistema de Seguridad Social (compensado por el SEPE).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2 · INSTRUMENTOS Y VARIABLES DE DISEÑO (20–45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Las 4 Palancas Críticas de Diseño Normativo (§4.3)</a:t>
            </a:r>
          </a:p>
        </p:txBody>
      </p:sp>
      <p:pic>
        <p:nvPicPr>
          <p:cNvPr id="4" name="Picture 3" descr="image.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5212080" cy="48463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600"/>
              </a:spcAft>
              <a:defRPr sz="1600" b="1">
                <a:solidFill>
                  <a:srgbClr val="113927"/>
                </a:solidFill>
                <a:latin typeface="Outfit"/>
              </a:defRPr>
            </a:pPr>
            <a:r>
              <a:t>🎯 1. Colectivo Diana y Focalización</a:t>
            </a:r>
          </a:p>
          <a:p>
            <a:pPr>
              <a:spcAft>
                <a:spcPts val="1400"/>
              </a:spcAft>
              <a:defRPr sz="1500">
                <a:solidFill>
                  <a:srgbClr val="2F3A30"/>
                </a:solidFill>
                <a:latin typeface="Calibri"/>
              </a:defRPr>
            </a:pPr>
            <a:r>
              <a:t>• Universal vs. Restringido: Cuanto más general sea el incentivo, mayor es el peso muerto. Para que sea eficiente debe dirigirse estrictamente a parados de larga duración (&gt; 12 meses) o sin titulación.</a:t>
            </a:r>
            <a:br/>
            <a:r>
              <a:t>• Si se subsidia a perfiles con alta empleabilidad espontánea (ej. ingenieros junior), el peso muerto roza el 90%.</a:t>
            </a:r>
          </a:p>
          <a:p>
            <a:pPr>
              <a:spcAft>
                <a:spcPts val="600"/>
              </a:spcAft>
              <a:defRPr sz="1600" b="1">
                <a:solidFill>
                  <a:srgbClr val="113927"/>
                </a:solidFill>
                <a:latin typeface="Outfit"/>
              </a:defRPr>
            </a:pPr>
            <a:r>
              <a:t>🔄 2. La Trampa de la 'Conversión' Temporal</a:t>
            </a:r>
          </a:p>
          <a:p>
            <a:pPr>
              <a:defRPr sz="1500">
                <a:solidFill>
                  <a:srgbClr val="2F3A30"/>
                </a:solidFill>
                <a:latin typeface="Calibri"/>
              </a:defRPr>
            </a:pPr>
            <a:r>
              <a:t>• Nueva contratación vs. Transformación a indefinido: En España se destinan cientos de millones a primar la conversión.</a:t>
            </a:r>
            <a:br/>
            <a:r>
              <a:t>• Dictamen AIReF: El peso muerto supera el 85%. La empresa ya conoce la productividad del empleado y lo iba a retener igualmente sin dinero público.</a:t>
            </a:r>
          </a:p>
        </p:txBody>
      </p:sp>
      <p:sp>
        <p:nvSpPr>
          <p:cNvPr id="6" name="Rounded Rectangle 5"/>
          <p:cNvSpPr/>
          <p:nvPr/>
        </p:nvSpPr>
        <p:spPr>
          <a:xfrm>
            <a:off x="6217920" y="1371600"/>
            <a:ext cx="5212080" cy="48463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600"/>
              </a:spcAft>
              <a:defRPr sz="1600" b="1">
                <a:solidFill>
                  <a:srgbClr val="113927"/>
                </a:solidFill>
                <a:latin typeface="Outfit"/>
              </a:defRPr>
            </a:pPr>
            <a:r>
              <a:t>⏱️ 3. Jornada Laboral y Cuantía Proporcional</a:t>
            </a:r>
          </a:p>
          <a:p>
            <a:pPr>
              <a:spcAft>
                <a:spcPts val="1400"/>
              </a:spcAft>
              <a:defRPr sz="1500">
                <a:solidFill>
                  <a:srgbClr val="2F3A30"/>
                </a:solidFill>
                <a:latin typeface="Calibri"/>
              </a:defRPr>
            </a:pPr>
            <a:r>
              <a:t>• Exigencia de jornada completa vs. tiempo parcial: Subvencionar jornadas muy reducidas genera precarización y subempleo involuntario.</a:t>
            </a:r>
            <a:br/>
            <a:r>
              <a:t>• La cuantía debe modularse proporcionalmente a las horas trabajadas (mínimo 50% de jornada) para evitar arbitrajes salariales.</a:t>
            </a:r>
          </a:p>
          <a:p>
            <a:pPr>
              <a:spcAft>
                <a:spcPts val="600"/>
              </a:spcAft>
              <a:defRPr sz="1600" b="1">
                <a:solidFill>
                  <a:srgbClr val="113927"/>
                </a:solidFill>
                <a:latin typeface="Outfit"/>
              </a:defRPr>
            </a:pPr>
            <a:r>
              <a:t>🔒 4. Cláusulas de Salvaguarda y Reintegro</a:t>
            </a:r>
          </a:p>
          <a:p>
            <a:pPr>
              <a:defRPr sz="1500">
                <a:solidFill>
                  <a:srgbClr val="2F3A30"/>
                </a:solidFill>
                <a:latin typeface="Calibri"/>
              </a:defRPr>
            </a:pPr>
            <a:r>
              <a:t>• Compromiso de permanencia obligatoria (12 a 24 meses) y exigencia de incremento neto de plantilla.</a:t>
            </a:r>
            <a:br/>
            <a:r>
              <a:t>• Régimen sancionador disuasorio: Obligación de reintegro íntegro de la ayuda más intereses de demora si la empresa extingue el contrato improcedentemente antes del plazo.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3 · ANATOMÍA DE LAS INEFICIENCIAS PÚBLICAS (45–75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Los 6 Efectos No Deseados de los Incentivos a la Contratación</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5212080" cy="150876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600" b="1">
                <a:solidFill>
                  <a:srgbClr val="E98F71"/>
                </a:solidFill>
                <a:latin typeface="Outfit"/>
              </a:defRPr>
            </a:pPr>
            <a:r>
              <a:t>1. Peso Muerto (Deadweight)</a:t>
            </a:r>
          </a:p>
          <a:p>
            <a:pPr>
              <a:defRPr sz="1600">
                <a:solidFill>
                  <a:srgbClr val="2F3A30"/>
                </a:solidFill>
                <a:latin typeface="Calibri"/>
              </a:defRPr>
            </a:pPr>
            <a:r>
              <a:t>Contrataciones subvencionadas que la empresa habría realizado igualmente sin la ayuda por necesidades de demanda. (60% - 80% del gasto).</a:t>
            </a:r>
          </a:p>
        </p:txBody>
      </p:sp>
      <p:sp>
        <p:nvSpPr>
          <p:cNvPr id="6" name="Rounded Rectangle 5"/>
          <p:cNvSpPr/>
          <p:nvPr/>
        </p:nvSpPr>
        <p:spPr>
          <a:xfrm>
            <a:off x="6126480" y="1371600"/>
            <a:ext cx="5212080" cy="150876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600" b="1">
                <a:solidFill>
                  <a:srgbClr val="113927"/>
                </a:solidFill>
                <a:latin typeface="Outfit"/>
              </a:defRPr>
            </a:pPr>
            <a:r>
              <a:t>2. Efecto Sustitución</a:t>
            </a:r>
          </a:p>
          <a:p>
            <a:pPr>
              <a:defRPr sz="1600">
                <a:solidFill>
                  <a:srgbClr val="2F3A30"/>
                </a:solidFill>
                <a:latin typeface="Calibri"/>
              </a:defRPr>
            </a:pPr>
            <a:r>
              <a:t>La empresa despide o no renueva a un trabajador ordinario para contratar a uno subvencionado, sin crear empleo neto.</a:t>
            </a:r>
          </a:p>
        </p:txBody>
      </p:sp>
      <p:sp>
        <p:nvSpPr>
          <p:cNvPr id="7" name="Rounded Rectangle 6"/>
          <p:cNvSpPr/>
          <p:nvPr/>
        </p:nvSpPr>
        <p:spPr>
          <a:xfrm>
            <a:off x="731520" y="3017520"/>
            <a:ext cx="5212080" cy="150876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600" b="1">
                <a:solidFill>
                  <a:srgbClr val="76927A"/>
                </a:solidFill>
                <a:latin typeface="Outfit"/>
              </a:defRPr>
            </a:pPr>
            <a:r>
              <a:t>3. Efecto Desplazamiento</a:t>
            </a:r>
          </a:p>
          <a:p>
            <a:pPr>
              <a:defRPr sz="1600">
                <a:solidFill>
                  <a:srgbClr val="2F3A30"/>
                </a:solidFill>
                <a:latin typeface="Calibri"/>
              </a:defRPr>
            </a:pPr>
            <a:r>
              <a:t>Las empresas con ayudas reducen costes y expulsan del mercado a competidores eficientes no subvencionados.</a:t>
            </a:r>
          </a:p>
        </p:txBody>
      </p:sp>
      <p:sp>
        <p:nvSpPr>
          <p:cNvPr id="8" name="Rounded Rectangle 7"/>
          <p:cNvSpPr/>
          <p:nvPr/>
        </p:nvSpPr>
        <p:spPr>
          <a:xfrm>
            <a:off x="6126480" y="3017520"/>
            <a:ext cx="5212080" cy="150876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600" b="1">
                <a:solidFill>
                  <a:srgbClr val="113927"/>
                </a:solidFill>
                <a:latin typeface="Outfit"/>
              </a:defRPr>
            </a:pPr>
            <a:r>
              <a:t>4. Descremado (Creaming)</a:t>
            </a:r>
          </a:p>
          <a:p>
            <a:pPr>
              <a:defRPr sz="1600">
                <a:solidFill>
                  <a:srgbClr val="2F3A30"/>
                </a:solidFill>
                <a:latin typeface="Calibri"/>
              </a:defRPr>
            </a:pPr>
            <a:r>
              <a:t>El empleador selecciona dentro del colectivo subvencionado a los candidatos más cualificados, excluyendo a los más vulnerables.</a:t>
            </a:r>
          </a:p>
        </p:txBody>
      </p:sp>
      <p:sp>
        <p:nvSpPr>
          <p:cNvPr id="9" name="Rounded Rectangle 8"/>
          <p:cNvSpPr/>
          <p:nvPr/>
        </p:nvSpPr>
        <p:spPr>
          <a:xfrm>
            <a:off x="731520" y="4663440"/>
            <a:ext cx="5212080" cy="150876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600" b="1">
                <a:solidFill>
                  <a:srgbClr val="E98F71"/>
                </a:solidFill>
                <a:latin typeface="Outfit"/>
              </a:defRPr>
            </a:pPr>
            <a:r>
              <a:t>5. Rotación (Churning)</a:t>
            </a:r>
          </a:p>
          <a:p>
            <a:pPr>
              <a:defRPr sz="1600">
                <a:solidFill>
                  <a:srgbClr val="2F3A30"/>
                </a:solidFill>
                <a:latin typeface="Calibri"/>
              </a:defRPr>
            </a:pPr>
            <a:r>
              <a:t>Despedir al trabajador justo cuando finaliza la permanencia obligatoria para contratar a otro subvencionado.</a:t>
            </a:r>
          </a:p>
        </p:txBody>
      </p:sp>
      <p:sp>
        <p:nvSpPr>
          <p:cNvPr id="10" name="Rounded Rectangle 9"/>
          <p:cNvSpPr/>
          <p:nvPr/>
        </p:nvSpPr>
        <p:spPr>
          <a:xfrm>
            <a:off x="6126480" y="4663440"/>
            <a:ext cx="5212080" cy="150876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Aft>
                <a:spcPts val="400"/>
              </a:spcAft>
              <a:defRPr sz="1600" b="1">
                <a:solidFill>
                  <a:srgbClr val="76927A"/>
                </a:solidFill>
                <a:latin typeface="Outfit"/>
              </a:defRPr>
            </a:pPr>
            <a:r>
              <a:t>6. Efecto Estigma</a:t>
            </a:r>
          </a:p>
          <a:p>
            <a:pPr>
              <a:defRPr sz="1600">
                <a:solidFill>
                  <a:srgbClr val="2F3A30"/>
                </a:solidFill>
                <a:latin typeface="Calibri"/>
              </a:defRPr>
            </a:pPr>
            <a:r>
              <a:t>La subvención actúa como una señal de baja productividad o conflicto, generando rechazo en los empleadores.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3 · EVIDENCIA EMPÍRICA Y EVALUACIÓN CIENTÍFICA (45–75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Experimentos de Campo: El Experimento de Dayton y el Efecto Estigma</a:t>
            </a:r>
          </a:p>
        </p:txBody>
      </p:sp>
      <p:pic>
        <p:nvPicPr>
          <p:cNvPr id="4" name="Picture 3" descr="image.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5212080" cy="48463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800"/>
              </a:spcAft>
              <a:defRPr sz="1600" b="1">
                <a:solidFill>
                  <a:srgbClr val="113927"/>
                </a:solidFill>
                <a:latin typeface="Outfit"/>
              </a:defRPr>
            </a:pPr>
            <a:r>
              <a:t>🧪 El Clásico Experimento de Dayton (Burtless, 1985)</a:t>
            </a:r>
          </a:p>
          <a:p>
            <a:pPr>
              <a:spcAft>
                <a:spcPts val="1000"/>
              </a:spcAft>
              <a:defRPr sz="1500">
                <a:solidFill>
                  <a:srgbClr val="2F3A30"/>
                </a:solidFill>
                <a:latin typeface="Calibri"/>
              </a:defRPr>
            </a:pPr>
            <a:r>
              <a:t>• El diseño experimental en Ohio (EE.UU.): A un grupo aleatorio de perceptores de asistencia social se les entregó un bono de subvención salarial para que lo presentaran en las entrevistas de trabajo. Un grupo de control buscó empleo sin bono.</a:t>
            </a:r>
          </a:p>
          <a:p>
            <a:pPr>
              <a:spcAft>
                <a:spcPts val="1000"/>
              </a:spcAft>
              <a:defRPr sz="1500" b="1">
                <a:solidFill>
                  <a:srgbClr val="E98F71"/>
                </a:solidFill>
                <a:latin typeface="Calibri"/>
              </a:defRPr>
            </a:pPr>
            <a:r>
              <a:t>• El resultado paradójico: ¡Los portadores del bono consiguieron significativamente MENOS empleo que el grupo sin ayuda (20,6% frente al 39,9%)!</a:t>
            </a:r>
          </a:p>
          <a:p>
            <a:pPr>
              <a:defRPr sz="1500">
                <a:solidFill>
                  <a:srgbClr val="2F3A30"/>
                </a:solidFill>
                <a:latin typeface="Calibri"/>
              </a:defRPr>
            </a:pPr>
            <a:r>
              <a:t>• Explicación económica: Efecto Estigma y Señal Adversa. Los empresarios dedujeron que si el Gobierno tenía que pagarles para colocar al trabajador, era porque tenía baja productividad o problemas no observables.</a:t>
            </a:r>
          </a:p>
        </p:txBody>
      </p:sp>
      <p:sp>
        <p:nvSpPr>
          <p:cNvPr id="6" name="Rounded Rectangle 5"/>
          <p:cNvSpPr/>
          <p:nvPr/>
        </p:nvSpPr>
        <p:spPr>
          <a:xfrm>
            <a:off x="6217920" y="1371600"/>
            <a:ext cx="5212080" cy="4846320"/>
          </a:xfrm>
          <a:prstGeom prst="roundRect">
            <a:avLst/>
          </a:prstGeom>
          <a:solidFill>
            <a:srgbClr val="113927"/>
          </a:solidFill>
          <a:ln>
            <a:solidFill>
              <a:srgbClr val="113927"/>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800"/>
              </a:spcAft>
              <a:defRPr sz="1600" b="1">
                <a:solidFill>
                  <a:srgbClr val="EDB090"/>
                </a:solidFill>
                <a:latin typeface="Outfit"/>
              </a:defRPr>
            </a:pPr>
            <a:r>
              <a:t>📚 Evidencia Internacional de Peso Muerto</a:t>
            </a:r>
          </a:p>
          <a:p>
            <a:pPr>
              <a:spcAft>
                <a:spcPts val="1200"/>
              </a:spcAft>
              <a:defRPr sz="1500">
                <a:solidFill>
                  <a:srgbClr val="FFFFFF"/>
                </a:solidFill>
                <a:latin typeface="Calibri"/>
              </a:defRPr>
            </a:pPr>
            <a:r>
              <a:t>• Estudio de Brown (2015 · Francia): En programas de subvención salarial general a trabajadores de salarios bajos, el 84% de las contrataciones se habrían producido exactamente igual sin ayuda pública.</a:t>
            </a:r>
          </a:p>
          <a:p>
            <a:pPr>
              <a:spcAft>
                <a:spcPts val="1200"/>
              </a:spcAft>
              <a:defRPr sz="1500">
                <a:solidFill>
                  <a:srgbClr val="FFFFFF"/>
                </a:solidFill>
                <a:latin typeface="Calibri"/>
              </a:defRPr>
            </a:pPr>
            <a:r>
              <a:t>• Dictamen AIReF sobre el Contrato de Emprendedores: La bonificación aumentó ligeramente la probabilidad de empleo al inicio, pero tras expirar la ayuda la supervivencia laboral de los beneficiarios se igualó al resto.</a:t>
            </a:r>
          </a:p>
          <a:p>
            <a:pPr>
              <a:defRPr sz="1500" b="1">
                <a:solidFill>
                  <a:srgbClr val="E98F71"/>
                </a:solidFill>
                <a:latin typeface="Calibri"/>
              </a:defRPr>
            </a:pPr>
            <a:r>
              <a:t>💡 Conclusión Teórica: Las subvenciones monetarias puras no corrigen las carencias formativas ni aumentan la productividad de equilibrio.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3 · FORMALIZACIÓN DEL EMPLEO NETO (45–75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La Cascada Analítica del Empleo Neto y su Formulación</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pic>
        <p:nvPicPr>
          <p:cNvPr id="5" name="Picture 4" descr="figura_2_1_incentivos_empleo_neto.png"/>
          <p:cNvPicPr>
            <a:picLocks noChangeAspect="1"/>
          </p:cNvPicPr>
          <p:nvPr/>
        </p:nvPicPr>
        <p:blipFill>
          <a:blip r:embed="rId3"/>
          <a:stretch>
            <a:fillRect/>
          </a:stretch>
        </p:blipFill>
        <p:spPr>
          <a:xfrm>
            <a:off x="731520" y="1371600"/>
            <a:ext cx="7132320" cy="4846320"/>
          </a:xfrm>
          <a:prstGeom prst="rect">
            <a:avLst/>
          </a:prstGeom>
        </p:spPr>
      </p:pic>
      <p:sp>
        <p:nvSpPr>
          <p:cNvPr id="6" name="Rounded Rectangle 5"/>
          <p:cNvSpPr/>
          <p:nvPr/>
        </p:nvSpPr>
        <p:spPr>
          <a:xfrm>
            <a:off x="8138160" y="1371600"/>
            <a:ext cx="3291840" cy="4846320"/>
          </a:xfrm>
          <a:prstGeom prst="roundRect">
            <a:avLst/>
          </a:prstGeom>
          <a:solidFill>
            <a:srgbClr val="113927"/>
          </a:solidFill>
          <a:ln>
            <a:solidFill>
              <a:srgbClr val="113927"/>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200"/>
              </a:spcAft>
              <a:defRPr sz="1700" b="1">
                <a:solidFill>
                  <a:srgbClr val="EDB090"/>
                </a:solidFill>
                <a:latin typeface="Outfit"/>
              </a:defRPr>
            </a:pPr>
            <a:r>
              <a:t>📐 La Fórmula Canónica (§4.4)</a:t>
            </a:r>
          </a:p>
          <a:p>
            <a:pPr>
              <a:spcAft>
                <a:spcPts val="1400"/>
              </a:spcAft>
              <a:defRPr sz="1500" b="1">
                <a:solidFill>
                  <a:srgbClr val="FFFFFF"/>
                </a:solidFill>
                <a:latin typeface="Outfit"/>
              </a:defRPr>
            </a:pPr>
            <a:r>
              <a:t>Empleo neto = S · (1 − pm − s − d)</a:t>
            </a:r>
          </a:p>
          <a:p>
            <a:pPr>
              <a:spcAft>
                <a:spcPts val="1200"/>
              </a:spcAft>
              <a:defRPr sz="1600">
                <a:solidFill>
                  <a:srgbClr val="F4F8F5"/>
                </a:solidFill>
                <a:latin typeface="Calibri"/>
              </a:defRPr>
            </a:pPr>
            <a:r>
              <a:t>• S: Contrataciones subvencionadas.</a:t>
            </a:r>
            <a:br/>
            <a:r>
              <a:t>• pm: Proporción perdida por peso muerto (0,60 – 0,80).</a:t>
            </a:r>
            <a:br/>
            <a:r>
              <a:t>• s: Proporción perdida por sustitución (0,10 – 0,15).</a:t>
            </a:r>
            <a:br/>
            <a:r>
              <a:t>• d: Proporción perdida por desplazamiento (0,05).</a:t>
            </a:r>
          </a:p>
          <a:p>
            <a:pPr>
              <a:defRPr sz="1600" b="1">
                <a:solidFill>
                  <a:srgbClr val="E98F71"/>
                </a:solidFill>
                <a:latin typeface="Calibri"/>
              </a:defRPr>
            </a:pPr>
            <a:r>
              <a:t>¡Solo el empleo neto reduce de forma estructural la tasa de desempleo!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3 · DEDUCCIÓN MATEMÁTICA Y ANÁLISIS DE COSTES (45–75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El Multiplicador Inverso del Coste Fiscal por Empleo Neto</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5394960" cy="48463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700" b="1">
                <a:solidFill>
                  <a:srgbClr val="113927"/>
                </a:solidFill>
                <a:latin typeface="Outfit"/>
              </a:defRPr>
            </a:pPr>
            <a:r>
              <a:t>🧮 Deducción Paso a Paso de la Expresión</a:t>
            </a:r>
          </a:p>
          <a:p>
            <a:pPr>
              <a:spcAft>
                <a:spcPts val="800"/>
              </a:spcAft>
              <a:defRPr sz="1500">
                <a:solidFill>
                  <a:srgbClr val="2F3A30"/>
                </a:solidFill>
                <a:latin typeface="Calibri"/>
              </a:defRPr>
            </a:pPr>
            <a:r>
              <a:t>1. Gasto Público Total:</a:t>
            </a:r>
            <a:br/>
            <a:r>
              <a:t>   Gasto = S · (Subvención nominal por contrato)</a:t>
            </a:r>
          </a:p>
          <a:p>
            <a:pPr>
              <a:spcAft>
                <a:spcPts val="800"/>
              </a:spcAft>
              <a:defRPr sz="1500">
                <a:solidFill>
                  <a:srgbClr val="2F3A30"/>
                </a:solidFill>
                <a:latin typeface="Calibri"/>
              </a:defRPr>
            </a:pPr>
            <a:r>
              <a:t>2. Empleo Neto Efectivo Creado:</a:t>
            </a:r>
            <a:br/>
            <a:r>
              <a:t>   Empleo neto = S · (1 − pm − s − d)</a:t>
            </a:r>
          </a:p>
          <a:p>
            <a:pPr>
              <a:spcAft>
                <a:spcPts val="1000"/>
              </a:spcAft>
              <a:defRPr sz="1500" b="1">
                <a:solidFill>
                  <a:srgbClr val="113927"/>
                </a:solidFill>
                <a:latin typeface="Calibri"/>
              </a:defRPr>
            </a:pPr>
            <a:r>
              <a:t>3. Coste Fiscal Efectivo por Empleo Neto:</a:t>
            </a:r>
            <a:br/>
            <a:r>
              <a:t>   Coste Neto = Gasto Total / Empleo Neto</a:t>
            </a:r>
            <a:br/>
            <a:r>
              <a:t>   Coste Neto = [S · Subvención] / [S · (1 − pm − s − d)]</a:t>
            </a:r>
          </a:p>
          <a:p>
            <a:pPr>
              <a:defRPr sz="1500" b="1">
                <a:solidFill>
                  <a:srgbClr val="E98F71"/>
                </a:solidFill>
                <a:latin typeface="Outfit"/>
              </a:defRPr>
            </a:pPr>
            <a:r>
              <a:t>4. Expresión Final de los Apuntes (§4.4):</a:t>
            </a:r>
            <a:br/>
            <a:r>
              <a:t>   Coste Neto = Subvención / (1 − pm − s − d)</a:t>
            </a:r>
            <a:br/>
            <a:r>
              <a:t>   = Subvención · [ 1 / (1 − Pérdida Total) ]</a:t>
            </a:r>
          </a:p>
        </p:txBody>
      </p:sp>
      <p:sp>
        <p:nvSpPr>
          <p:cNvPr id="6" name="Rounded Rectangle 5"/>
          <p:cNvSpPr/>
          <p:nvPr/>
        </p:nvSpPr>
        <p:spPr>
          <a:xfrm>
            <a:off x="6400800" y="1371600"/>
            <a:ext cx="5029200" cy="4846320"/>
          </a:xfrm>
          <a:prstGeom prst="roundRect">
            <a:avLst/>
          </a:prstGeom>
          <a:solidFill>
            <a:srgbClr val="113927"/>
          </a:solidFill>
          <a:ln>
            <a:solidFill>
              <a:srgbClr val="113927"/>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700" b="1">
                <a:solidFill>
                  <a:srgbClr val="EDB090"/>
                </a:solidFill>
                <a:latin typeface="Outfit"/>
              </a:defRPr>
            </a:pPr>
            <a:r>
              <a:t>📈 Efecto Amplificador (Subvención: 6.000 €)</a:t>
            </a:r>
          </a:p>
          <a:p>
            <a:pPr>
              <a:spcAft>
                <a:spcPts val="1000"/>
              </a:spcAft>
              <a:defRPr sz="1400">
                <a:solidFill>
                  <a:srgbClr val="F4F8F5"/>
                </a:solidFill>
                <a:latin typeface="Calibri"/>
              </a:defRPr>
            </a:pPr>
            <a:r>
              <a:t>A medida que la ineficiencia (pm + s + d) aumenta, el denominador tiende a cero y el coste tiende a infinito:</a:t>
            </a:r>
          </a:p>
          <a:p>
            <a:pPr>
              <a:spcAft>
                <a:spcPts val="1200"/>
              </a:spcAft>
              <a:defRPr sz="1500" b="1">
                <a:solidFill>
                  <a:srgbClr val="FFFFFF"/>
                </a:solidFill>
                <a:latin typeface="Calibri"/>
              </a:defRPr>
            </a:pPr>
            <a:r>
              <a:t>• Pérdida 0%:   Multiplicador = 1,0x  ➜  6.000 €</a:t>
            </a:r>
            <a:br/>
            <a:r>
              <a:t>• Pérdida 50%: Multiplicador = 2,0x  ➜ 12.000 €</a:t>
            </a:r>
            <a:br/>
            <a:r>
              <a:t>• Pérdida 75%: Multiplicador = 4,0x  ➜ 24.000 € (Apuntes)</a:t>
            </a:r>
            <a:br/>
            <a:r>
              <a:t>• Pérdida 80%: Multiplicador = 5,0x  ➜ 30.000 € (AIReF)</a:t>
            </a:r>
            <a:br/>
            <a:r>
              <a:t>• Pérdida 85%: Multiplicador = 6,7x  ➜ 40.000 €</a:t>
            </a:r>
            <a:br/>
            <a:r>
              <a:t>• Pérdida 90%: Multiplicador = 10,0x ➜ 60.000 €</a:t>
            </a:r>
          </a:p>
          <a:p>
            <a:pPr>
              <a:defRPr sz="1500" b="1">
                <a:solidFill>
                  <a:srgbClr val="E98F71"/>
                </a:solidFill>
                <a:latin typeface="Calibri"/>
              </a:defRPr>
            </a:pPr>
            <a:r>
              <a:t>⚠️ Regla de Oro: Un programa con 80% de peso muerto quintuplica el coste real de cada empleo creado.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3 · EVALUACIÓN DEL COSTE FISCAL EFECTIVO (45–75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La Curva Hiperbólica del Coste por Empleo Neto</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pic>
        <p:nvPicPr>
          <p:cNvPr id="5" name="Picture 4" descr="figura_coste_empleo_neto.png"/>
          <p:cNvPicPr>
            <a:picLocks noChangeAspect="1"/>
          </p:cNvPicPr>
          <p:nvPr/>
        </p:nvPicPr>
        <p:blipFill>
          <a:blip r:embed="rId3"/>
          <a:stretch>
            <a:fillRect/>
          </a:stretch>
        </p:blipFill>
        <p:spPr>
          <a:xfrm>
            <a:off x="731520" y="1371600"/>
            <a:ext cx="7132320" cy="4846320"/>
          </a:xfrm>
          <a:prstGeom prst="rect">
            <a:avLst/>
          </a:prstGeom>
        </p:spPr>
      </p:pic>
      <p:sp>
        <p:nvSpPr>
          <p:cNvPr id="6" name="Rounded Rectangle 5"/>
          <p:cNvSpPr/>
          <p:nvPr/>
        </p:nvSpPr>
        <p:spPr>
          <a:xfrm>
            <a:off x="8138160" y="1371600"/>
            <a:ext cx="3291840" cy="4846320"/>
          </a:xfrm>
          <a:prstGeom prst="roundRect">
            <a:avLst/>
          </a:prstGeom>
          <a:solidFill>
            <a:srgbClr val="F4F8F5"/>
          </a:solidFill>
          <a:ln w="19050">
            <a:solidFill>
              <a:srgbClr val="E98F71"/>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700" b="1">
                <a:solidFill>
                  <a:srgbClr val="113927"/>
                </a:solidFill>
                <a:latin typeface="Outfit"/>
              </a:defRPr>
            </a:pPr>
            <a:r>
              <a:t>💡 Lección de Hacienda Pública</a:t>
            </a:r>
          </a:p>
          <a:p>
            <a:pPr>
              <a:spcAft>
                <a:spcPts val="1200"/>
              </a:spcAft>
              <a:defRPr sz="1400" b="1">
                <a:solidFill>
                  <a:srgbClr val="E98F71"/>
                </a:solidFill>
                <a:latin typeface="Outfit"/>
              </a:defRPr>
            </a:pPr>
            <a:r>
              <a:t>Coste Neto = Subvención / [1 - Pérdida Total]</a:t>
            </a:r>
          </a:p>
          <a:p>
            <a:pPr>
              <a:spcAft>
                <a:spcPts val="1000"/>
              </a:spcAft>
              <a:defRPr sz="1600" b="1">
                <a:solidFill>
                  <a:srgbClr val="2F3A30"/>
                </a:solidFill>
                <a:latin typeface="Calibri"/>
              </a:defRPr>
            </a:pPr>
            <a:r>
              <a:t>• Con 0% ineficiencia:</a:t>
            </a:r>
            <a:br/>
            <a:r>
              <a:t>  Coste = 6.000 €</a:t>
            </a:r>
            <a:br/>
            <a:r>
              <a:t>• Con 50% ineficiencia:</a:t>
            </a:r>
            <a:br/>
            <a:r>
              <a:t>  Coste = 12.000 €</a:t>
            </a:r>
            <a:br/>
            <a:r>
              <a:t>• Con 70% ineficiencia:</a:t>
            </a:r>
            <a:br/>
            <a:r>
              <a:t>  Coste = 20.000 €</a:t>
            </a:r>
            <a:br/>
            <a:r>
              <a:t>• Con 85% ineficiencia:</a:t>
            </a:r>
            <a:br/>
            <a:r>
              <a:t>  Coste = 40.000 € por empleo neto!</a:t>
            </a:r>
          </a:p>
          <a:p>
            <a:pPr>
              <a:defRPr sz="1500">
                <a:solidFill>
                  <a:srgbClr val="64748B"/>
                </a:solidFill>
                <a:latin typeface="Calibri"/>
              </a:defRPr>
            </a:pPr>
            <a:r>
              <a:t>El dinero público no es gratis: financiar contrataciones rutinarias dispara el coste a niveles socialmente inasumibles.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4 · CASO REAL: PROGRAMA EMPLEA-T (§4.5)</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El Caso Andaluz: Incentivos Autonómicos y Salvaguardas</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5212080" cy="4846320"/>
          </a:xfrm>
          <a:prstGeom prst="roundRect">
            <a:avLst/>
          </a:prstGeom>
          <a:solidFill>
            <a:srgbClr val="F4F8F5"/>
          </a:solidFill>
          <a:ln>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700" b="1">
                <a:solidFill>
                  <a:srgbClr val="113927"/>
                </a:solidFill>
                <a:latin typeface="Outfit"/>
              </a:defRPr>
            </a:pPr>
            <a:r>
              <a:t>🏛️ Líneas y Cuantías de Emplea-T (BOJA)</a:t>
            </a:r>
          </a:p>
          <a:p>
            <a:pPr>
              <a:spcAft>
                <a:spcPts val="1200"/>
              </a:spcAft>
              <a:defRPr sz="1600">
                <a:solidFill>
                  <a:srgbClr val="2F3A30"/>
                </a:solidFill>
                <a:latin typeface="Calibri"/>
              </a:defRPr>
            </a:pPr>
            <a:r>
              <a:t>• Línea 1 (Jóvenes &lt; 30 años):</a:t>
            </a:r>
            <a:br/>
            <a:r>
              <a:t>  Incentivo a la contratación indefinida ordinaria de jóvenes inscritos en Garantía Juvenil.</a:t>
            </a:r>
            <a:br/>
            <a:r>
              <a:t>  Importe base: 6.000 € (hasta 9.000 € en titulaciones altas y mujeres).</a:t>
            </a:r>
          </a:p>
          <a:p>
            <a:pPr>
              <a:defRPr sz="1600">
                <a:solidFill>
                  <a:srgbClr val="2F3A30"/>
                </a:solidFill>
                <a:latin typeface="Calibri"/>
              </a:defRPr>
            </a:pPr>
            <a:r>
              <a:t>• Línea 2 (Colectivos Vulnerables):</a:t>
            </a:r>
            <a:br/>
            <a:r>
              <a:t>  Mayores de 45 años, parados de larga duración (&gt; 12 meses) y personas con discapacidad.</a:t>
            </a:r>
            <a:br/>
            <a:r>
              <a:t>  Importes: de 6.000 € hasta 20.000 € por contrato.</a:t>
            </a:r>
          </a:p>
        </p:txBody>
      </p:sp>
      <p:sp>
        <p:nvSpPr>
          <p:cNvPr id="6" name="Rounded Rectangle 5"/>
          <p:cNvSpPr/>
          <p:nvPr/>
        </p:nvSpPr>
        <p:spPr>
          <a:xfrm>
            <a:off x="6217920" y="1371600"/>
            <a:ext cx="5212080" cy="4846320"/>
          </a:xfrm>
          <a:prstGeom prst="roundRect">
            <a:avLst/>
          </a:prstGeom>
          <a:solidFill>
            <a:srgbClr val="113927"/>
          </a:solidFill>
          <a:ln>
            <a:solidFill>
              <a:srgbClr val="113927"/>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1000"/>
              </a:spcAft>
              <a:defRPr sz="1700" b="1">
                <a:solidFill>
                  <a:srgbClr val="EDB090"/>
                </a:solidFill>
                <a:latin typeface="Outfit"/>
              </a:defRPr>
            </a:pPr>
            <a:r>
              <a:t>🔒 El 'Doble Candado' Normativo</a:t>
            </a:r>
          </a:p>
          <a:p>
            <a:pPr>
              <a:spcAft>
                <a:spcPts val="1200"/>
              </a:spcAft>
              <a:defRPr sz="1600">
                <a:solidFill>
                  <a:srgbClr val="FFFFFF"/>
                </a:solidFill>
                <a:latin typeface="Calibri"/>
              </a:defRPr>
            </a:pPr>
            <a:r>
              <a:t>1. Mantenimiento del Contrato (12 meses):</a:t>
            </a:r>
            <a:br/>
            <a:r>
              <a:t>La persona contratada debe permanecer de alta obligatoria al menos un año ininterrumpido. El despido improcedente obliga al reintegro íntegro más intereses de demora.</a:t>
            </a:r>
          </a:p>
          <a:p>
            <a:pPr>
              <a:spcAft>
                <a:spcPts val="1200"/>
              </a:spcAft>
              <a:defRPr sz="1600">
                <a:solidFill>
                  <a:srgbClr val="FFFFFF"/>
                </a:solidFill>
                <a:latin typeface="Calibri"/>
              </a:defRPr>
            </a:pPr>
            <a:r>
              <a:t>2. Mantenimiento de Plantilla Fija:</a:t>
            </a:r>
            <a:br/>
            <a:r>
              <a:t>La empresa no puede reducir su plantilla media fija durante los 12 meses posteriores a la subvención, combatiendo el efecto sustitución.</a:t>
            </a:r>
          </a:p>
          <a:p>
            <a:pPr>
              <a:defRPr sz="1500" b="1">
                <a:solidFill>
                  <a:srgbClr val="E98F71"/>
                </a:solidFill>
                <a:latin typeface="Calibri"/>
              </a:defRPr>
            </a:pPr>
            <a:r>
              <a:t>📌 Conexión EPD 4: La auditoría cuantitativa y simulación de costes salariales de esta Orden se realizará en la EPD 4 (Semana 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4 · MARCO INSTITUCIONAL Y FINANCIACIÓN (75–95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La Arquitectura Financiera Europea: Del FSE+ a las CCAA (§5.1 - §5.2)</a:t>
            </a:r>
          </a:p>
        </p:txBody>
      </p:sp>
      <p:pic>
        <p:nvPicPr>
          <p:cNvPr id="4" name="Picture 3" descr="image.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5212080" cy="48463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800"/>
              </a:spcAft>
              <a:defRPr sz="1600" b="1">
                <a:solidFill>
                  <a:srgbClr val="113927"/>
                </a:solidFill>
                <a:latin typeface="Outfit"/>
              </a:defRPr>
            </a:pPr>
            <a:r>
              <a:t>🇪🇺 ¿Quién Financia los Incentivos? El FSE+ 2021-2027</a:t>
            </a:r>
          </a:p>
          <a:p>
            <a:pPr>
              <a:spcAft>
                <a:spcPts val="1200"/>
              </a:spcAft>
              <a:defRPr sz="1500">
                <a:solidFill>
                  <a:srgbClr val="2F3A30"/>
                </a:solidFill>
                <a:latin typeface="Calibri"/>
              </a:defRPr>
            </a:pPr>
            <a:r>
              <a:t>• Cofinanciación europea: El Programa Emplea-T y las principales ayudas autonómicas están cofinanciadas por el Fondo Social Europeo Plus (FSE+).</a:t>
            </a:r>
            <a:br/>
            <a:r>
              <a:t>• En Andalucía (región en transición), la Unión Europea aporta hasta el 85% de cada euro gastado en contratación indefinida.</a:t>
            </a:r>
          </a:p>
          <a:p>
            <a:pPr>
              <a:defRPr sz="1500">
                <a:solidFill>
                  <a:srgbClr val="2F3A30"/>
                </a:solidFill>
                <a:latin typeface="Calibri"/>
              </a:defRPr>
            </a:pPr>
            <a:r>
              <a:t>• Gobernanza y Semestre Europeo: El Reglamento UE 2021/1057 condiciona estos fondos al cumplimiento de las Recomendaciones Específicas por País (CSR) del Consejo de la UE.</a:t>
            </a:r>
          </a:p>
        </p:txBody>
      </p:sp>
      <p:sp>
        <p:nvSpPr>
          <p:cNvPr id="6" name="Rounded Rectangle 5"/>
          <p:cNvSpPr/>
          <p:nvPr/>
        </p:nvSpPr>
        <p:spPr>
          <a:xfrm>
            <a:off x="6217920" y="1371600"/>
            <a:ext cx="5212080" cy="4846320"/>
          </a:xfrm>
          <a:prstGeom prst="roundRect">
            <a:avLst/>
          </a:prstGeom>
          <a:solidFill>
            <a:srgbClr val="F4F8F5"/>
          </a:solidFill>
          <a:ln w="19050">
            <a:solidFill>
              <a:srgbClr val="76927A"/>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800"/>
              </a:spcAft>
              <a:defRPr sz="1600" b="1">
                <a:solidFill>
                  <a:srgbClr val="113927"/>
                </a:solidFill>
                <a:latin typeface="Outfit"/>
              </a:defRPr>
            </a:pPr>
            <a:r>
              <a:t>📋 Garantía Juvenil y Principios de la UE (§5.1)</a:t>
            </a:r>
          </a:p>
          <a:p>
            <a:pPr>
              <a:spcAft>
                <a:spcPts val="1200"/>
              </a:spcAft>
              <a:defRPr sz="1500">
                <a:solidFill>
                  <a:srgbClr val="2F3A30"/>
                </a:solidFill>
                <a:latin typeface="Calibri"/>
              </a:defRPr>
            </a:pPr>
            <a:r>
              <a:t>• El Sistema Nacional de Garantía Juvenil (SNGJ): Compromiso europeo de ofrecer una oportunidad de empleo, formación o prácticas en un plazo máximo de 4 meses tras terminar estudios o quedar desempleado.</a:t>
            </a:r>
          </a:p>
          <a:p>
            <a:pPr>
              <a:spcAft>
                <a:spcPts val="1200"/>
              </a:spcAft>
              <a:defRPr sz="1500">
                <a:solidFill>
                  <a:srgbClr val="2F3A30"/>
                </a:solidFill>
                <a:latin typeface="Calibri"/>
              </a:defRPr>
            </a:pPr>
            <a:r>
              <a:t>• El Principio de Adicionalidad: Bruselas prohíbe financiar gastos corrientes rutinarios de las empresas; el incentivo debe ser estrictamente complementario para generar valor neto.</a:t>
            </a:r>
          </a:p>
          <a:p>
            <a:pPr>
              <a:defRPr sz="1500" b="1">
                <a:solidFill>
                  <a:srgbClr val="E98F71"/>
                </a:solidFill>
                <a:latin typeface="Calibri"/>
              </a:defRPr>
            </a:pPr>
            <a:r>
              <a:t>• El cuello de botella de absorción: La rigidez administrativa provoca a menudo un 'gasto apresurado' a cierre de convocatoria para no devolver fondos.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4 · TALLER PRÁCTICO GUIADO (75–95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Mini-Caso Guiado de Pizarra: Auditoría de un Plan de Contratación</a:t>
            </a:r>
          </a:p>
        </p:txBody>
      </p:sp>
      <p:pic>
        <p:nvPicPr>
          <p:cNvPr id="4" name="Picture 3" descr="image.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5212080" cy="4846320"/>
          </a:xfrm>
          <a:prstGeom prst="roundRect">
            <a:avLst/>
          </a:prstGeom>
          <a:solidFill>
            <a:srgbClr val="F4F8F5"/>
          </a:solidFill>
          <a:ln w="19050">
            <a:solidFill>
              <a:srgbClr val="113927"/>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800"/>
              </a:spcAft>
              <a:defRPr sz="1600" b="1">
                <a:solidFill>
                  <a:srgbClr val="113927"/>
                </a:solidFill>
                <a:latin typeface="Outfit"/>
              </a:defRPr>
            </a:pPr>
            <a:r>
              <a:t>📝 Enunciado del Caso (Resolución en Directo)</a:t>
            </a:r>
          </a:p>
          <a:p>
            <a:pPr>
              <a:spcAft>
                <a:spcPts val="1200"/>
              </a:spcAft>
              <a:defRPr sz="1500">
                <a:solidFill>
                  <a:srgbClr val="2F3A30"/>
                </a:solidFill>
                <a:latin typeface="Calibri"/>
              </a:defRPr>
            </a:pPr>
            <a:r>
              <a:t>Una comunidad autónoma aprueba el 'Plan Impulsa Pyme' con 16 Millones de Euros (16 M€).</a:t>
            </a:r>
            <a:br/>
            <a:br/>
            <a:r>
              <a:t>• Otorga 8.000 € a fondo perdido por cada contrato indefinido formalizado con desempleados sénior.</a:t>
            </a:r>
            <a:br/>
            <a:r>
              <a:t>• Se agota el presupuesto formalizando 2.000 contratos subvencionados (S = 2.000).</a:t>
            </a:r>
          </a:p>
          <a:p>
            <a:pPr>
              <a:defRPr sz="1500" b="1">
                <a:solidFill>
                  <a:srgbClr val="E98F71"/>
                </a:solidFill>
                <a:latin typeface="Calibri"/>
              </a:defRPr>
            </a:pPr>
            <a:r>
              <a:t>Datos de auditoría ex-post:</a:t>
            </a:r>
            <a:br/>
            <a:r>
              <a:t>• Tasa de Peso Muerto (pm): 60%</a:t>
            </a:r>
            <a:br/>
            <a:r>
              <a:t>• Tasa de Sustitución (s): 15%</a:t>
            </a:r>
            <a:br/>
            <a:r>
              <a:t>• Tasa de Desplazamiento (d): 5%</a:t>
            </a:r>
            <a:br/>
            <a:br/>
            <a:r>
              <a:t>👉 Preguntas: ¿Cuántos empleos netos se han creado? ¿Cuál es el coste efectivo por cada empleo adicional?</a:t>
            </a:r>
          </a:p>
        </p:txBody>
      </p:sp>
      <mc:AlternateContent xmlns:mc="http://schemas.openxmlformats.org/markup-compatibility/2006">
        <mc:Choice xmlns:a14="http://schemas.microsoft.com/office/drawing/2010/main" Requires="a14">
          <p:sp>
            <p:nvSpPr>
              <p:cNvPr id="6" name="Rounded Rectangle 5"/>
              <p:cNvSpPr/>
              <p:nvPr/>
            </p:nvSpPr>
            <p:spPr>
              <a:xfrm>
                <a:off x="6217920" y="1371600"/>
                <a:ext cx="5212080" cy="4846320"/>
              </a:xfrm>
              <a:prstGeom prst="roundRect">
                <a:avLst/>
              </a:prstGeom>
              <a:solidFill>
                <a:srgbClr val="113927"/>
              </a:solidFill>
              <a:ln>
                <a:solidFill>
                  <a:srgbClr val="113927"/>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ctr">
                  <a:spcAft>
                    <a:spcPts val="800"/>
                  </a:spcAft>
                  <a:defRPr sz="1600" b="1">
                    <a:solidFill>
                      <a:srgbClr val="EDB090"/>
                    </a:solidFill>
                    <a:latin typeface="Outfit"/>
                  </a:defRPr>
                </a:pPr>
                <a:r>
                  <a:rPr dirty="0"/>
                  <a:t>🧮 </a:t>
                </a:r>
                <a:r>
                  <a:rPr dirty="0" err="1"/>
                  <a:t>Resolución</a:t>
                </a:r>
                <a:r>
                  <a:rPr dirty="0"/>
                  <a:t> Paso a Paso </a:t>
                </a:r>
                <a:r>
                  <a:rPr dirty="0" err="1"/>
                  <a:t>en</a:t>
                </a:r>
                <a:r>
                  <a:rPr dirty="0"/>
                  <a:t> </a:t>
                </a:r>
                <a:r>
                  <a:rPr dirty="0" err="1"/>
                  <a:t>Pizarra</a:t>
                </a:r>
                <a:endParaRPr dirty="0"/>
              </a:p>
              <a:p>
                <a:pPr>
                  <a:spcAft>
                    <a:spcPts val="1000"/>
                  </a:spcAft>
                  <a:defRPr sz="1400" b="1">
                    <a:solidFill>
                      <a:srgbClr val="FFFFFF"/>
                    </a:solidFill>
                    <a:latin typeface="Calibri"/>
                  </a:defRPr>
                </a:pPr>
                <a:r>
                  <a:rPr dirty="0"/>
                  <a:t>1. Tasa de </a:t>
                </a:r>
                <a:r>
                  <a:rPr dirty="0" err="1"/>
                  <a:t>Pérdida</a:t>
                </a:r>
                <a:r>
                  <a:rPr dirty="0"/>
                  <a:t> Total:</a:t>
                </a:r>
                <a:br>
                  <a:rPr dirty="0"/>
                </a:br>
                <a:r>
                  <a:rPr dirty="0"/>
                  <a:t>   </a:t>
                </a:r>
                <a:r>
                  <a:rPr dirty="0" err="1"/>
                  <a:t>Pérdida</a:t>
                </a:r>
                <a:r>
                  <a:rPr dirty="0"/>
                  <a:t> = pm + s + d = 0,60 + 0,15 + 0,05 = 0,80 (80%)</a:t>
                </a:r>
                <a:br>
                  <a:rPr dirty="0"/>
                </a:br>
                <a:br>
                  <a:rPr dirty="0"/>
                </a:br>
                <a:r>
                  <a:rPr dirty="0"/>
                  <a:t>2. Tasa de </a:t>
                </a:r>
                <a:r>
                  <a:rPr dirty="0" err="1"/>
                  <a:t>Éxito</a:t>
                </a:r>
                <a:r>
                  <a:rPr dirty="0"/>
                  <a:t> Neto </a:t>
                </a:r>
                <a:r>
                  <a:rPr dirty="0" err="1"/>
                  <a:t>Efectivo</a:t>
                </a:r>
                <a:r>
                  <a:rPr dirty="0"/>
                  <a:t>:</a:t>
                </a:r>
                <a:br>
                  <a:rPr dirty="0"/>
                </a:br>
                <a:r>
                  <a:rPr dirty="0"/>
                  <a:t>   Tasa Neta = 1 − 0,80 = 0,20 (20%)</a:t>
                </a:r>
                <a:br>
                  <a:rPr dirty="0"/>
                </a:br>
                <a:br>
                  <a:rPr dirty="0"/>
                </a:br>
                <a:r>
                  <a:rPr dirty="0"/>
                  <a:t>3. Empleo Neto Real </a:t>
                </a:r>
                <a:r>
                  <a:rPr dirty="0" err="1"/>
                  <a:t>Creado</a:t>
                </a:r>
                <a:r>
                  <a:rPr dirty="0"/>
                  <a:t> (</a:t>
                </a:r>
                <a14:m>
                  <m:oMath xmlns:m="http://schemas.openxmlformats.org/officeDocument/2006/math">
                    <m:r>
                      <m:rPr>
                        <m:sty m:val="p"/>
                      </m:rPr>
                      <a:rPr lang="el-GR" i="0" dirty="0" smtClean="0">
                        <a:latin typeface="Cambria Math" panose="02040503050406030204" pitchFamily="18" charset="0"/>
                      </a:rPr>
                      <m:t>Δ</m:t>
                    </m:r>
                    <m:sSub>
                      <m:sSubPr>
                        <m:ctrlPr>
                          <a:rPr lang="el-GR" i="1" dirty="0" err="1">
                            <a:latin typeface="Cambria Math" panose="02040503050406030204" pitchFamily="18" charset="0"/>
                          </a:rPr>
                        </m:ctrlPr>
                      </m:sSubPr>
                      <m:e>
                        <m:r>
                          <a:rPr lang="el-GR" i="1" dirty="0" err="1">
                            <a:latin typeface="Cambria Math" panose="02040503050406030204" pitchFamily="18" charset="0"/>
                          </a:rPr>
                          <m:t>𝑁</m:t>
                        </m:r>
                      </m:e>
                      <m:sub>
                        <m:r>
                          <a:rPr lang="el-GR" i="1" dirty="0" err="1">
                            <a:latin typeface="Cambria Math" panose="02040503050406030204" pitchFamily="18" charset="0"/>
                          </a:rPr>
                          <m:t>𝑛𝑒𝑡𝑜</m:t>
                        </m:r>
                      </m:sub>
                    </m:sSub>
                  </m:oMath>
                </a14:m>
                <a:r>
                  <a:rPr dirty="0"/>
                  <a:t>):</a:t>
                </a:r>
                <a:br>
                  <a:rPr dirty="0"/>
                </a:br>
                <a:r>
                  <a:rPr dirty="0"/>
                  <a:t>   </a:t>
                </a:r>
                <a14:m>
                  <m:oMath xmlns:m="http://schemas.openxmlformats.org/officeDocument/2006/math">
                    <m:r>
                      <m:rPr>
                        <m:sty m:val="p"/>
                      </m:rPr>
                      <a:rPr lang="el-GR" i="0" dirty="0" smtClean="0">
                        <a:latin typeface="Cambria Math" panose="02040503050406030204" pitchFamily="18" charset="0"/>
                      </a:rPr>
                      <m:t>Δ</m:t>
                    </m:r>
                    <m:sSub>
                      <m:sSubPr>
                        <m:ctrlPr>
                          <a:rPr lang="el-GR" i="1" dirty="0" err="1">
                            <a:latin typeface="Cambria Math" panose="02040503050406030204" pitchFamily="18" charset="0"/>
                          </a:rPr>
                        </m:ctrlPr>
                      </m:sSubPr>
                      <m:e>
                        <m:r>
                          <a:rPr lang="el-GR" i="1" dirty="0" err="1">
                            <a:latin typeface="Cambria Math" panose="02040503050406030204" pitchFamily="18" charset="0"/>
                          </a:rPr>
                          <m:t>𝑁</m:t>
                        </m:r>
                      </m:e>
                      <m:sub>
                        <m:r>
                          <a:rPr lang="el-GR" i="1" dirty="0" err="1">
                            <a:latin typeface="Cambria Math" panose="02040503050406030204" pitchFamily="18" charset="0"/>
                          </a:rPr>
                          <m:t>𝑛𝑒𝑡𝑜</m:t>
                        </m:r>
                      </m:sub>
                    </m:sSub>
                  </m:oMath>
                </a14:m>
                <a:r>
                  <a:rPr dirty="0"/>
                  <a:t> = 2.000 · 0,20 = 400 </a:t>
                </a:r>
                <a:r>
                  <a:rPr dirty="0" err="1"/>
                  <a:t>empleos</a:t>
                </a:r>
                <a:r>
                  <a:rPr dirty="0"/>
                  <a:t> </a:t>
                </a:r>
                <a:r>
                  <a:rPr dirty="0" err="1"/>
                  <a:t>netos</a:t>
                </a:r>
                <a:br>
                  <a:rPr dirty="0"/>
                </a:br>
                <a:r>
                  <a:rPr dirty="0"/>
                  <a:t>   (1.600 </a:t>
                </a:r>
                <a:r>
                  <a:rPr dirty="0" err="1"/>
                  <a:t>contratos</a:t>
                </a:r>
                <a:r>
                  <a:rPr dirty="0"/>
                  <a:t> no </a:t>
                </a:r>
                <a:r>
                  <a:rPr dirty="0" err="1"/>
                  <a:t>crearon</a:t>
                </a:r>
                <a:r>
                  <a:rPr dirty="0"/>
                  <a:t> </a:t>
                </a:r>
                <a:r>
                  <a:rPr dirty="0" err="1"/>
                  <a:t>ningún</a:t>
                </a:r>
                <a:r>
                  <a:rPr dirty="0"/>
                  <a:t> </a:t>
                </a:r>
                <a:r>
                  <a:rPr dirty="0" err="1"/>
                  <a:t>empleo</a:t>
                </a:r>
                <a:r>
                  <a:rPr dirty="0"/>
                  <a:t> </a:t>
                </a:r>
                <a:r>
                  <a:rPr dirty="0" err="1"/>
                  <a:t>adicional</a:t>
                </a:r>
                <a:r>
                  <a:rPr dirty="0"/>
                  <a:t>)</a:t>
                </a:r>
                <a:br>
                  <a:rPr dirty="0"/>
                </a:br>
                <a:br>
                  <a:rPr dirty="0"/>
                </a:br>
                <a:r>
                  <a:rPr dirty="0"/>
                  <a:t>4. Coste Fiscal </a:t>
                </a:r>
                <a:r>
                  <a:rPr dirty="0" err="1"/>
                  <a:t>Efectivo</a:t>
                </a:r>
                <a:r>
                  <a:rPr dirty="0"/>
                  <a:t> </a:t>
                </a:r>
                <a:r>
                  <a:rPr dirty="0" err="1"/>
                  <a:t>por</a:t>
                </a:r>
                <a:r>
                  <a:rPr dirty="0"/>
                  <a:t> Empleo Neto:</a:t>
                </a:r>
                <a:br>
                  <a:rPr dirty="0"/>
                </a:br>
                <a:r>
                  <a:rPr dirty="0"/>
                  <a:t>   Coste = 16.000.000 € / 400 = 40.000 € </a:t>
                </a:r>
                <a:r>
                  <a:rPr dirty="0" err="1"/>
                  <a:t>por</a:t>
                </a:r>
                <a:r>
                  <a:rPr dirty="0"/>
                  <a:t> </a:t>
                </a:r>
                <a:r>
                  <a:rPr dirty="0" err="1"/>
                  <a:t>empleo</a:t>
                </a:r>
                <a:br>
                  <a:rPr dirty="0"/>
                </a:br>
                <a:r>
                  <a:rPr dirty="0"/>
                  <a:t>   (O bien: 8.000 € · [1 / 0,20] = 8.000 · 5 = 40.000 €)</a:t>
                </a:r>
              </a:p>
              <a:p>
                <a:pPr>
                  <a:defRPr sz="1400" b="1">
                    <a:solidFill>
                      <a:srgbClr val="E98F71"/>
                    </a:solidFill>
                    <a:latin typeface="Calibri"/>
                  </a:defRPr>
                </a:pPr>
                <a:r>
                  <a:rPr dirty="0"/>
                  <a:t>¡El </a:t>
                </a:r>
                <a:r>
                  <a:rPr dirty="0" err="1"/>
                  <a:t>coste</a:t>
                </a:r>
                <a:r>
                  <a:rPr dirty="0"/>
                  <a:t> real </a:t>
                </a:r>
                <a:r>
                  <a:rPr dirty="0" err="1"/>
                  <a:t>quintuplica</a:t>
                </a:r>
                <a:r>
                  <a:rPr dirty="0"/>
                  <a:t> la </a:t>
                </a:r>
                <a:r>
                  <a:rPr dirty="0" err="1"/>
                  <a:t>ayuda</a:t>
                </a:r>
                <a:r>
                  <a:rPr dirty="0"/>
                  <a:t> nominal </a:t>
                </a:r>
                <a:r>
                  <a:rPr dirty="0" err="1"/>
                  <a:t>por</a:t>
                </a:r>
                <a:r>
                  <a:rPr dirty="0"/>
                  <a:t> culpa del 80% de </a:t>
                </a:r>
                <a:r>
                  <a:rPr dirty="0" err="1"/>
                  <a:t>ineficiencia</a:t>
                </a:r>
                <a:r>
                  <a:rPr dirty="0"/>
                  <a:t>!</a:t>
                </a:r>
              </a:p>
            </p:txBody>
          </p:sp>
        </mc:Choice>
        <mc:Fallback>
          <p:sp>
            <p:nvSpPr>
              <p:cNvPr id="6" name="Rounded Rectangle 5"/>
              <p:cNvSpPr>
                <a:spLocks noRot="1" noChangeAspect="1" noMove="1" noResize="1" noEditPoints="1" noAdjustHandles="1" noChangeArrowheads="1" noChangeShapeType="1" noTextEdit="1"/>
              </p:cNvSpPr>
              <p:nvPr/>
            </p:nvSpPr>
            <p:spPr>
              <a:xfrm>
                <a:off x="6217920" y="1371600"/>
                <a:ext cx="5212080" cy="4846320"/>
              </a:xfrm>
              <a:prstGeom prst="roundRect">
                <a:avLst/>
              </a:prstGeom>
              <a:blipFill>
                <a:blip r:embed="rId3"/>
                <a:stretch>
                  <a:fillRect/>
                </a:stretch>
              </a:blipFill>
              <a:ln>
                <a:solidFill>
                  <a:srgbClr val="113927"/>
                </a:solidFill>
              </a:ln>
            </p:spPr>
            <p:txBody>
              <a:bodyPr/>
              <a:lstStyle/>
              <a:p>
                <a:r>
                  <a:rPr lang="es-E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5 · RETO MANUSCRITO INDIVIDUAL EN PAPEL (95–120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Reto de Evaluación Continua · Tiempo Estricto: 10 Minutos</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037400"/>
            <a:ext cx="7232609" cy="5668198"/>
          </a:xfrm>
          <a:prstGeom prst="roundRect">
            <a:avLst/>
          </a:prstGeom>
          <a:solidFill>
            <a:srgbClr val="F4F8F5"/>
          </a:solidFill>
          <a:ln w="25400">
            <a:solidFill>
              <a:srgbClr val="E98F71"/>
            </a:solidFill>
          </a:ln>
        </p:spPr>
        <p:style>
          <a:lnRef idx="1">
            <a:schemeClr val="accent1"/>
          </a:lnRef>
          <a:fillRef idx="3">
            <a:schemeClr val="accent1"/>
          </a:fillRef>
          <a:effectRef idx="2">
            <a:schemeClr val="accent1"/>
          </a:effectRef>
          <a:fontRef idx="minor">
            <a:schemeClr val="lt1"/>
          </a:fontRef>
        </p:style>
        <p:txBody>
          <a:bodyPr wrap="square" lIns="365760" tIns="365760" rIns="365760" rtlCol="0" anchor="ctr"/>
          <a:lstStyle/>
          <a:p>
            <a:pPr algn="ctr">
              <a:spcAft>
                <a:spcPts val="1000"/>
              </a:spcAft>
              <a:defRPr sz="1400" b="1">
                <a:solidFill>
                  <a:srgbClr val="E98F71"/>
                </a:solidFill>
                <a:latin typeface="Outfit"/>
              </a:defRPr>
            </a:pPr>
            <a:r>
              <a:t>✍️ ENTORNO CONTROLADO: PANTALLAS CERRADAS Y MÓVILES GUARDADOS · SOLO LÁPIZ Y PAPEL</a:t>
            </a:r>
          </a:p>
          <a:p>
            <a:pPr>
              <a:spcAft>
                <a:spcPts val="1200"/>
              </a:spcAft>
              <a:defRPr sz="1600">
                <a:solidFill>
                  <a:srgbClr val="2F3A30"/>
                </a:solidFill>
                <a:latin typeface="Calibri"/>
              </a:defRPr>
            </a:pPr>
            <a:r>
              <a:t>Una comunidad autónoma aprueba un plan de empleo de 30 Millones de Euros (30 M€). Concede 6.000 € a fondo perdido por cada contrato indefinido formalizado con desempleados mayores de 45 años (exigiendo 12 meses de permanencia). Se agota el presupuesto formalizando 5.000 contratos subvencionados.</a:t>
            </a:r>
            <a:br/>
            <a:br/>
            <a:r>
              <a:t>La evaluación ex-post arroja los siguientes datos: Tasa de Peso Muerto = 65%, Tasa de Sustitución = 15%, Tasa de Desplazamiento = 5%.</a:t>
            </a:r>
          </a:p>
          <a:p>
            <a:pPr>
              <a:defRPr sz="1600" b="1">
                <a:solidFill>
                  <a:srgbClr val="113927"/>
                </a:solidFill>
                <a:latin typeface="Calibri"/>
              </a:defRPr>
            </a:pPr>
            <a:r>
              <a:t>a) Cálculo del Empleo Neto y Eficacia Fiscal (0 – 500 pts):</a:t>
            </a:r>
            <a:br/>
            <a:r>
              <a:t>Calcula el número exacto de empleos netos reales creados (ΔN_neto) y el coste fiscal efectivo por cada empleo adicional. Compara este coste real con los 6.000 € nominales de la ayuda.</a:t>
            </a:r>
            <a:br/>
            <a:br/>
            <a:r>
              <a:t>b) Rediseño Institucional y Salvaguardas Normativas (0 – 500 pts):</a:t>
            </a:r>
            <a:br/>
            <a:r>
              <a:t>Como economista laboral, formula y justifica DOS cláusulas técnicas de condicionalidad que el regulador público debería introducir en la orden de bases para blindar la eficacia del programa frente al peso muerto y la sustitución.</a:t>
            </a:r>
          </a:p>
        </p:txBody>
      </p:sp>
      <p:pic>
        <p:nvPicPr>
          <p:cNvPr id="6" name="Imagen 5" descr="Código QR">
            <a:extLst>
              <a:ext uri="{FF2B5EF4-FFF2-40B4-BE49-F238E27FC236}">
                <a16:creationId xmlns:a16="http://schemas.microsoft.com/office/drawing/2014/main" id="{7FD80CFF-3BCF-109D-5B83-1A6B63FC60CA}"/>
              </a:ext>
            </a:extLst>
          </p:cNvPr>
          <p:cNvPicPr>
            <a:picLocks noChangeAspect="1"/>
          </p:cNvPicPr>
          <p:nvPr/>
        </p:nvPicPr>
        <p:blipFill>
          <a:blip r:embed="rId3"/>
          <a:stretch>
            <a:fillRect/>
          </a:stretch>
        </p:blipFill>
        <p:spPr>
          <a:xfrm>
            <a:off x="8245823" y="2005779"/>
            <a:ext cx="3584941" cy="358494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365760"/>
            <a:ext cx="9144000" cy="320040"/>
          </a:xfrm>
          <a:prstGeom prst="rect">
            <a:avLst/>
          </a:prstGeom>
          <a:noFill/>
        </p:spPr>
        <p:txBody>
          <a:bodyPr wrap="square" lIns="0" tIns="0" rIns="0" bIns="0">
            <a:spAutoFit/>
          </a:bodyPr>
          <a:lstStyle/>
          <a:p>
            <a:pPr>
              <a:defRPr sz="1100" b="1">
                <a:solidFill>
                  <a:srgbClr val="76927A"/>
                </a:solidFill>
                <a:latin typeface="Outfit"/>
              </a:defRPr>
            </a:pPr>
            <a:r>
              <a:t>FASE 4 · TALLER ACTIVO Y LANZADERA INMEDIATA (75–95 MIN)</a:t>
            </a:r>
          </a:p>
        </p:txBody>
      </p:sp>
      <p:sp>
        <p:nvSpPr>
          <p:cNvPr id="3" name="TextBox 2"/>
          <p:cNvSpPr txBox="1"/>
          <p:nvPr/>
        </p:nvSpPr>
        <p:spPr>
          <a:xfrm>
            <a:off x="731520" y="658368"/>
            <a:ext cx="9601200" cy="502920"/>
          </a:xfrm>
          <a:prstGeom prst="rect">
            <a:avLst/>
          </a:prstGeom>
          <a:noFill/>
        </p:spPr>
        <p:txBody>
          <a:bodyPr wrap="square" lIns="0" tIns="0" rIns="0" bIns="0">
            <a:spAutoFit/>
          </a:bodyPr>
          <a:lstStyle/>
          <a:p>
            <a:pPr>
              <a:defRPr sz="2400" b="1">
                <a:solidFill>
                  <a:srgbClr val="113927"/>
                </a:solidFill>
                <a:latin typeface="Outfit"/>
              </a:defRPr>
            </a:pPr>
            <a:r>
              <a:t>Al Terminar esta Sesión: Arranque de la EPD 1 en Informática</a:t>
            </a:r>
          </a:p>
        </p:txBody>
      </p:sp>
      <p:pic>
        <p:nvPicPr>
          <p:cNvPr id="4" name="Picture 3" descr="psll_lockup.png"/>
          <p:cNvPicPr>
            <a:picLocks noChangeAspect="1"/>
          </p:cNvPicPr>
          <p:nvPr/>
        </p:nvPicPr>
        <p:blipFill>
          <a:blip r:embed="rId2"/>
          <a:stretch>
            <a:fillRect/>
          </a:stretch>
        </p:blipFill>
        <p:spPr>
          <a:xfrm>
            <a:off x="10515600" y="411480"/>
            <a:ext cx="926287" cy="292608"/>
          </a:xfrm>
          <a:prstGeom prst="rect">
            <a:avLst/>
          </a:prstGeom>
        </p:spPr>
      </p:pic>
      <p:sp>
        <p:nvSpPr>
          <p:cNvPr id="5" name="Rounded Rectangle 4"/>
          <p:cNvSpPr/>
          <p:nvPr/>
        </p:nvSpPr>
        <p:spPr>
          <a:xfrm>
            <a:off x="731520" y="1371600"/>
            <a:ext cx="6858000" cy="4846320"/>
          </a:xfrm>
          <a:prstGeom prst="roundRect">
            <a:avLst/>
          </a:prstGeom>
          <a:solidFill>
            <a:srgbClr val="F4F8F5"/>
          </a:solidFill>
          <a:ln>
            <a:solidFill>
              <a:srgbClr val="76927A"/>
            </a:solidFill>
          </a:ln>
        </p:spPr>
        <p:style>
          <a:lnRef idx="1">
            <a:schemeClr val="accent1"/>
          </a:lnRef>
          <a:fillRef idx="3">
            <a:schemeClr val="accent1"/>
          </a:fillRef>
          <a:effectRef idx="2">
            <a:schemeClr val="accent1"/>
          </a:effectRef>
          <a:fontRef idx="minor">
            <a:schemeClr val="lt1"/>
          </a:fontRef>
        </p:style>
        <p:txBody>
          <a:bodyPr wrap="square" lIns="320040" tIns="320040" rIns="320040" rtlCol="0" anchor="ctr"/>
          <a:lstStyle/>
          <a:p>
            <a:pPr algn="ctr">
              <a:spcAft>
                <a:spcPts val="1000"/>
              </a:spcAft>
              <a:defRPr sz="1700" b="1">
                <a:solidFill>
                  <a:srgbClr val="113927"/>
                </a:solidFill>
                <a:latin typeface="Outfit"/>
              </a:defRPr>
            </a:pPr>
            <a:r>
              <a:t>🚀 Traslado Inmediato a las Aulas de Informática (EPD 1)</a:t>
            </a:r>
          </a:p>
          <a:p>
            <a:pPr>
              <a:spcAft>
                <a:spcPts val="1200"/>
              </a:spcAft>
              <a:defRPr sz="1500" b="1">
                <a:solidFill>
                  <a:srgbClr val="113927"/>
                </a:solidFill>
                <a:latin typeface="Calibri"/>
              </a:defRPr>
            </a:pPr>
            <a:r>
              <a:t>• Turno de Mañana (Línea 1 · Martes 06/10):</a:t>
            </a:r>
            <a:br/>
            <a:r>
              <a:t>  - EPD 11: 11:30 – 13:00 (Edif. 24, Aula AINF B.01)</a:t>
            </a:r>
            <a:br/>
            <a:r>
              <a:t>  - EPD 12: 13:00 – 14:30 (Edif. 14, Aula AINF 1)</a:t>
            </a:r>
            <a:br/>
            <a:r>
              <a:t>• Turno de Tarde (Línea 2 · Viernes 09/10):</a:t>
            </a:r>
            <a:br/>
            <a:r>
              <a:t>  - EPD 21: 19:30 – 21:00 (Edif. 10, Aula AINF 6)</a:t>
            </a:r>
          </a:p>
          <a:p>
            <a:pPr>
              <a:defRPr sz="1500">
                <a:solidFill>
                  <a:srgbClr val="2F3A30"/>
                </a:solidFill>
                <a:latin typeface="Calibri"/>
              </a:defRPr>
            </a:pPr>
            <a:r>
              <a:t>Misión de Hoy en EPD 1 (Bloque 1 · Diagnóstico Empírico Sénior):</a:t>
            </a:r>
            <a:br/>
            <a:r>
              <a:t>1. Acceso con tu acrónimo UPO para desbloquear tu Caso asignado (Caso A: 45-54 años vs. Caso B: 55+ años).</a:t>
            </a:r>
            <a:br/>
            <a:r>
              <a:t>2. Explorador de microdatos EPA: tasas de paro, peso de parados de larga duración (&gt;12 y &gt;24 meses) y brecha andaluza.</a:t>
            </a:r>
            <a:br/>
            <a:r>
              <a:t>3. Taller de cálculo dinámico y sellado del Entregable Individual 1 (0,50 pt).</a:t>
            </a:r>
            <a:br/>
            <a:br/>
            <a:r>
              <a:t>*(La auditoría de Emplea-T se desarrollará en la EPD 4 aplicando la teoría de hoy)*.</a:t>
            </a:r>
          </a:p>
        </p:txBody>
      </p:sp>
      <p:sp>
        <p:nvSpPr>
          <p:cNvPr id="6" name="Rounded Rectangle 5"/>
          <p:cNvSpPr/>
          <p:nvPr/>
        </p:nvSpPr>
        <p:spPr>
          <a:xfrm>
            <a:off x="7863840" y="1371600"/>
            <a:ext cx="3566160" cy="484632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113927"/>
                </a:solidFill>
                <a:latin typeface="Outfit"/>
              </a:defRPr>
            </a:pPr>
            <a:r>
              <a:t>💻 ACCESO WEB APP EPD</a:t>
            </a:r>
          </a:p>
        </p:txBody>
      </p:sp>
      <p:pic>
        <p:nvPicPr>
          <p:cNvPr id="7" name="Picture 6" descr="qr_app_sesion07.png"/>
          <p:cNvPicPr>
            <a:picLocks noChangeAspect="1"/>
          </p:cNvPicPr>
          <p:nvPr/>
        </p:nvPicPr>
        <p:blipFill>
          <a:blip r:embed="rId3"/>
          <a:stretch>
            <a:fillRect/>
          </a:stretch>
        </p:blipFill>
        <p:spPr>
          <a:xfrm>
            <a:off x="8321040" y="2011680"/>
            <a:ext cx="2651760" cy="2651760"/>
          </a:xfrm>
          <a:prstGeom prst="rect">
            <a:avLst/>
          </a:prstGeom>
        </p:spPr>
      </p:pic>
      <p:sp>
        <p:nvSpPr>
          <p:cNvPr id="8" name="TextBox 7"/>
          <p:cNvSpPr txBox="1"/>
          <p:nvPr/>
        </p:nvSpPr>
        <p:spPr>
          <a:xfrm>
            <a:off x="7955279" y="4846320"/>
            <a:ext cx="3383280" cy="1097280"/>
          </a:xfrm>
          <a:prstGeom prst="rect">
            <a:avLst/>
          </a:prstGeom>
          <a:noFill/>
        </p:spPr>
        <p:txBody>
          <a:bodyPr wrap="square">
            <a:spAutoFit/>
          </a:bodyPr>
          <a:lstStyle/>
          <a:p>
            <a:pPr algn="ctr">
              <a:defRPr sz="1100">
                <a:solidFill>
                  <a:srgbClr val="64748B"/>
                </a:solidFill>
                <a:latin typeface="Calibri"/>
              </a:defRPr>
            </a:pPr>
            <a:r>
              <a:rPr dirty="0" err="1"/>
              <a:t>Acceso</a:t>
            </a:r>
            <a:r>
              <a:rPr dirty="0"/>
              <a:t> </a:t>
            </a:r>
            <a:r>
              <a:rPr dirty="0" err="1"/>
              <a:t>directo</a:t>
            </a:r>
            <a:r>
              <a:rPr dirty="0"/>
              <a:t> al </a:t>
            </a:r>
            <a:r>
              <a:rPr dirty="0" err="1"/>
              <a:t>laboratorio</a:t>
            </a:r>
            <a:r>
              <a:rPr dirty="0"/>
              <a:t> EPD:</a:t>
            </a:r>
            <a:br>
              <a:rPr dirty="0"/>
            </a:br>
            <a:r>
              <a:rPr dirty="0"/>
              <a:t>https://mhidper.github.io/micro_apps/epd_laboratorio.html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3109</Words>
  <Application>Microsoft Office PowerPoint</Application>
  <PresentationFormat>Panorámica</PresentationFormat>
  <Paragraphs>128</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Cambria Math</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Manuel Alejandro Hidalgo Perez</cp:lastModifiedBy>
  <cp:revision>3</cp:revision>
  <dcterms:created xsi:type="dcterms:W3CDTF">2013-01-27T09:14:16Z</dcterms:created>
  <dcterms:modified xsi:type="dcterms:W3CDTF">2026-10-06T07:20:03Z</dcterms:modified>
  <cp:category/>
</cp:coreProperties>
</file>