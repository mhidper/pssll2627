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jpg" ContentType="image/jpg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23"/>
    <p:sldId id="274" r:id="rId24"/>
    <p:sldId id="275" r:id="rId25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77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e inmersión en el rol profesional: «Bienvenidos al equipo de evaluación de políticas públicas sociolaborales. Aquí no se memoriza legislación; se aprende a tomar decisiones con datos para cambiar la vida de las personas». Presentar brevemente al docente y el hilo de la asignatura. (2-3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Proyectar esta diapositiva 30-45 segundos, sin leerla entera: solo situar que hoy es mitad presentación de la asignatura, mitad primer contacto con el contenido real de Tema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A79CC-6393-130C-EF92-25C76B386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F04B5-3C0B-0C0C-75F3-B58C599F5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8B27B-3854-8C14-FB43-6A19EB42D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31161-3FF6-A307-D9BE-65DD243CD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52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Conectar directamente con el caso de Emplea-T y el IMV que veremos en EPD: ambos son ejemplos de estas tres funciones en 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4-5 min. Pasar rápido — es un mapa mental para situar el resto del curso, no hay que profundizar hoy en cada área.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Cerrar el bloque de Tema 0 anunciando que estos 5 desafíos reaparecen literalmente en las preguntas para el debate del final de los apuntes de Tema 1 — es el hilo conductor de todo 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Noticia disparadora: «España lidera la tasa de paro de la UE pero alcanza récord histórico de ocupados rozando los 21,8 millones». Pregunta: «¿Cómo es posible que haya más gente trabajando que nunca y sigamos teniendo la mayor tasa de desempleo de Europa?». 5 min de exposición + engancha con el sondeo de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Sondeo Mentimeter (5 min): 1) ¿Cuál crees que es la tasa de desempleo estructural mínima a la que puede aspirar España hoy? (3% / 6% / 10% / 14%). 2) Si alguien deja de buscar trabajo por desánimo, ¿sigue contando como desempleado en las estadísticas oficiales? (Sí/No/No sabe). Después, explicar brevemente los tres indicadores (10 min) — la definición estricta EPA de desempleado (sin empleo, búsqueda activa, disponibilidad en 2 semanas) es la clave para responder la pregunta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(5 min): lanzar la Fase 0 de aula invertida para la Sesión 2 y recordar el Pasaporte de Evaluación Continua (registro de hitos desde hoy). Recordatorio: quien complete el cuestionario previo llega con ventaja al reto en parejas de la Sesión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66B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SSLL2627/.claude/skills/marca-psll/assets/psll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288" y="502920"/>
            <a:ext cx="4389120" cy="239406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0632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POLÍTICAS SOCIOLABORALES Y DE EMPLEO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ED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· Bienvenida a la Asignatura y Fundamentos del Mercado de Trabajo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1605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14 de septiembre de 2026  ·  Código 102023  ·  Manuel A. Hidalgo Pérez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1" descr="/home/user/PSSLL2627/.claude/skills/marca-psll/assets/upo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199632"/>
            <a:ext cx="452323" cy="640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03120" y="62636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en Relaciones Laborales y Recursos Humanos · Doble Grado en Derecho y RRLL-RRHH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Hoja de Ruta de Hoy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69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minutos repartidos en dos bloques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1F6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566B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0 · 60 min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vamos a trabajar: método del caso, evaluación y equipos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son las políticas sociolaborales y por qué existen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áreas de las políticas sociolaborales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grandes desafíos actuales (digitalización, envejecimiento, transición ecológica...)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583680" y="1828800"/>
            <a:ext cx="457200" cy="45720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6583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30 min (arranque)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51460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de trabajo: por qué no es un mercado como los demás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Sondeo diagnóstico en vivo (Mentimeter)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indicadores clave: actividad, paro, empleo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hacia la Sesión 2: dinámica de innovación y Curva de Beveridge</a:t>
            </a:r>
            <a:endParaRPr lang="en-US" sz="1350" dirty="0"/>
          </a:p>
        </p:txBody>
      </p:sp>
      <p:pic>
        <p:nvPicPr>
          <p:cNvPr id="14" name="Image 0" descr="/home/user/PSSLL2627/.claude/skills/marca-psll/assets/psll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926591" cy="29260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692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SSLL2627/.claude/skills/marca-psll/assets/psll_icon_transparent.svg"/>
          <p:cNvPicPr>
            <a:picLocks noChangeAspect="1"/>
          </p:cNvPicPr>
          <p:nvPr/>
        </p:nvPicPr>
        <p:blipFill>
          <a:blip>
            <a:alphaModFix amt="8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88575" y="47548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8892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</a:t>
            </a:r>
            <a:r>
              <a:rPr lang="en-US" sz="3400" b="1" dirty="0" err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Cómo</a:t>
            </a: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vamos</a:t>
            </a: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a </a:t>
            </a:r>
            <a:r>
              <a:rPr lang="en-US" sz="3400" b="1" dirty="0" err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trabajar</a:t>
            </a: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E98F71"/>
                </a:solidFill>
                <a:latin typeface="Outfit"/>
              </a:rPr>
              <a:t>TEMA 0 · CÓMO VAMOS A TRABAJAR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3927"/>
                </a:solidFill>
                <a:latin typeface="Outfit"/>
              </a:rPr>
              <a:t>¿Cómo Vamos a Trabajar? Materiales y Entorno de Aula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66360" cy="470916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1645920"/>
            <a:ext cx="2468880" cy="292608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MATERIAL OFICIAL Y EXAMEN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177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13927"/>
                </a:solidFill>
                <a:latin typeface="Outfit"/>
              </a:rPr>
              <a:t>Apuntes completos en el Aula Virtual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Fuente única y directa: </a:t>
            </a:r>
            <a:r>
              <a:rPr sz="1500">
                <a:solidFill>
                  <a:srgbClr val="2F3A30"/>
                </a:solidFill>
                <a:latin typeface="Calibri"/>
              </a:rPr>
              <a:t>No necesitas manuales complementarios. Cada tema cuenta con apuntes redactados y maquetados específicamente para el curso.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Materia de examen: </a:t>
            </a:r>
            <a:r>
              <a:rPr sz="1500">
                <a:solidFill>
                  <a:srgbClr val="2F3A30"/>
                </a:solidFill>
                <a:latin typeface="Calibri"/>
              </a:rPr>
              <a:t>El examen final teórico (70%) se basa estrictamente en el contenido desarrollado en estos apuntes oficiales.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Lectura previa obligatoria: </a:t>
            </a:r>
            <a:r>
              <a:rPr sz="1500">
                <a:solidFill>
                  <a:srgbClr val="2F3A30"/>
                </a:solidFill>
                <a:latin typeface="Calibri"/>
              </a:rPr>
              <a:t>Se publican con antelación para que leas el marco básico antes de clase y aprovechemos la sesión presencial al máximo.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325880"/>
            <a:ext cx="5166360" cy="4709160"/>
          </a:xfrm>
          <a:prstGeom prst="roundRect">
            <a:avLst/>
          </a:prstGeom>
          <a:solidFill>
            <a:srgbClr val="FDF4F0"/>
          </a:solidFill>
          <a:ln w="12700">
            <a:solidFill>
              <a:srgbClr val="F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65392" y="1645920"/>
            <a:ext cx="2651760" cy="292608"/>
          </a:xfrm>
          <a:prstGeom prst="roundRect">
            <a:avLst/>
          </a:prstGeom>
          <a:solidFill>
            <a:srgbClr val="E9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POLÍTICA DE AULA · ATENCIÓN PLENA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03120"/>
            <a:ext cx="4617720" cy="28418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 dirty="0">
                <a:solidFill>
                  <a:srgbClr val="113927"/>
                </a:solidFill>
                <a:latin typeface="Outfit"/>
              </a:rPr>
              <a:t>Solo </a:t>
            </a:r>
            <a:r>
              <a:rPr sz="1800" b="1" dirty="0" err="1">
                <a:solidFill>
                  <a:srgbClr val="113927"/>
                </a:solidFill>
                <a:latin typeface="Outfit"/>
              </a:rPr>
              <a:t>lápiz</a:t>
            </a:r>
            <a:r>
              <a:rPr sz="1800" b="1" dirty="0">
                <a:solidFill>
                  <a:srgbClr val="113927"/>
                </a:solidFill>
                <a:latin typeface="Outfit"/>
              </a:rPr>
              <a:t> y </a:t>
            </a:r>
            <a:r>
              <a:rPr sz="1800" b="1" dirty="0" err="1">
                <a:solidFill>
                  <a:srgbClr val="113927"/>
                </a:solidFill>
                <a:latin typeface="Outfit"/>
              </a:rPr>
              <a:t>papel</a:t>
            </a:r>
            <a:r>
              <a:rPr sz="1800" b="1" dirty="0">
                <a:solidFill>
                  <a:srgbClr val="113927"/>
                </a:solidFill>
                <a:latin typeface="Outfit"/>
              </a:rPr>
              <a:t>: sin </a:t>
            </a:r>
            <a:r>
              <a:rPr sz="1800" b="1" dirty="0" err="1">
                <a:solidFill>
                  <a:srgbClr val="113927"/>
                </a:solidFill>
                <a:latin typeface="Outfit"/>
              </a:rPr>
              <a:t>pantallas</a:t>
            </a:r>
            <a:r>
              <a:rPr sz="1800" b="1" dirty="0">
                <a:solidFill>
                  <a:srgbClr val="113927"/>
                </a:solidFill>
                <a:latin typeface="Outfit"/>
              </a:rPr>
              <a:t> </a:t>
            </a:r>
            <a:r>
              <a:rPr sz="1800" b="1" dirty="0" err="1">
                <a:solidFill>
                  <a:srgbClr val="113927"/>
                </a:solidFill>
                <a:latin typeface="Outfit"/>
              </a:rPr>
              <a:t>libres</a:t>
            </a:r>
            <a:endParaRPr sz="1800" b="1" dirty="0">
              <a:solidFill>
                <a:srgbClr val="113927"/>
              </a:solidFill>
              <a:latin typeface="Outfit"/>
            </a:endParaRP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13927"/>
                </a:solidFill>
                <a:latin typeface="Calibri"/>
              </a:rPr>
              <a:t>•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Prohibido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portátil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y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móvil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libre: </a:t>
            </a:r>
            <a:r>
              <a:rPr sz="1500" dirty="0">
                <a:solidFill>
                  <a:srgbClr val="2F3A30"/>
                </a:solidFill>
                <a:latin typeface="Calibri"/>
              </a:rPr>
              <a:t>Durante las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explicaciones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teóricas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y debates las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pantallas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deben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lang="es-ES" sz="1500" dirty="0">
                <a:solidFill>
                  <a:srgbClr val="2F3A30"/>
                </a:solidFill>
                <a:latin typeface="Calibri"/>
              </a:rPr>
              <a:t>estar ausentes de las mesas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y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los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móviles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guardados</a:t>
            </a:r>
            <a:r>
              <a:rPr lang="es-ES" sz="1500" dirty="0">
                <a:solidFill>
                  <a:srgbClr val="2F3A30"/>
                </a:solidFill>
                <a:latin typeface="Calibri"/>
              </a:rPr>
              <a:t> y silenciados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13927"/>
                </a:solidFill>
                <a:latin typeface="Calibri"/>
              </a:rPr>
              <a:t>• La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ciencia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del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papel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: </a:t>
            </a:r>
            <a:r>
              <a:rPr sz="1500" dirty="0">
                <a:solidFill>
                  <a:srgbClr val="2F3A30"/>
                </a:solidFill>
                <a:latin typeface="Calibri"/>
              </a:rPr>
              <a:t>Tomar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notas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manuscritas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activa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un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procesamiento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cognitivo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profundo,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multiplica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la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síntesis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y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elimina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la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trampa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de la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multitarea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13927"/>
                </a:solidFill>
                <a:latin typeface="Calibri"/>
              </a:rPr>
              <a:t>• Uso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pautado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de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dispositivos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: </a:t>
            </a:r>
            <a:r>
              <a:rPr sz="1500" dirty="0">
                <a:solidFill>
                  <a:srgbClr val="2F3A30"/>
                </a:solidFill>
                <a:latin typeface="Calibri"/>
              </a:rPr>
              <a:t>Solo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activaremos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el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móvil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cuando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el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profesor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lo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indique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expresamente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para las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dinámicas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interactivas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o la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entrega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final.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926287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630936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76927A"/>
                </a:solidFill>
                <a:latin typeface="Calibri"/>
              </a:rPr>
              <a:t>Políticas Sociolaborales y de Empleo (102023) · Grado RRLL-RRHH y Doble Grado · Curso 2026-27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E98F71"/>
                </a:solidFill>
                <a:latin typeface="Outfit"/>
              </a:rPr>
              <a:t>TEMA 0 · CÓMO VAMOS A TRABAJAR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3927"/>
                </a:solidFill>
                <a:latin typeface="Outfit"/>
              </a:rPr>
              <a:t>La Dinámica de Clase: Actualidad y Gamificación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66360" cy="470916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1645920"/>
            <a:ext cx="2468880" cy="292608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PASO 1 · APERTURA Y MOTIVACIÓN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177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13927"/>
                </a:solidFill>
                <a:latin typeface="Outfit"/>
              </a:rPr>
              <a:t>Noticias reales de la prensa económica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Arranque con el choque diario: </a:t>
            </a:r>
            <a:r>
              <a:rPr sz="1500">
                <a:solidFill>
                  <a:srgbClr val="2F3A30"/>
                </a:solidFill>
                <a:latin typeface="Calibri"/>
              </a:rPr>
              <a:t>Cada sesión comienza con una noticia de actualidad laboral (reformas del despido, vacantes sin cubrir, convenios o salarios).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El reto del titular: </a:t>
            </a:r>
            <a:r>
              <a:rPr sz="1500">
                <a:solidFill>
                  <a:srgbClr val="2F3A30"/>
                </a:solidFill>
                <a:latin typeface="Calibri"/>
              </a:rPr>
              <a:t>Nos preguntamos juntos: ¿qué mecanismo económico subyace al titular? ¿Qué sesgo o intuición popular está equivocada?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Conexión con el modelo: </a:t>
            </a:r>
            <a:r>
              <a:rPr sz="1500">
                <a:solidFill>
                  <a:srgbClr val="2F3A30"/>
                </a:solidFill>
                <a:latin typeface="Calibri"/>
              </a:rPr>
              <a:t>La teoría y las fórmulas no son abstractas: sirven para entender exactamente lo que está sucediendo hoy en el mercado.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325880"/>
            <a:ext cx="5166360" cy="470916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65392" y="1645920"/>
            <a:ext cx="2468880" cy="292608"/>
          </a:xfrm>
          <a:prstGeom prst="roundRect">
            <a:avLst/>
          </a:prstGeom>
          <a:solidFill>
            <a:srgbClr val="76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PASO 2 · ASIMILACIÓN CONCEPTUAL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03120"/>
            <a:ext cx="46177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13927"/>
                </a:solidFill>
                <a:latin typeface="Outfit"/>
              </a:rPr>
              <a:t>Gamificación y micro-apps en vivo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Ruptura del ritmo pasivo: </a:t>
            </a:r>
            <a:r>
              <a:rPr sz="1500">
                <a:solidFill>
                  <a:srgbClr val="2F3A30"/>
                </a:solidFill>
                <a:latin typeface="Calibri"/>
              </a:rPr>
              <a:t>A mitad de la sesión intercalamos dinámicas activas de gamificación para aposentar y verificar ideas clave.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Micro-apps de la asignatura: </a:t>
            </a:r>
            <a:r>
              <a:rPr sz="1500">
                <a:solidFill>
                  <a:srgbClr val="2F3A30"/>
                </a:solidFill>
                <a:latin typeface="Calibri"/>
              </a:rPr>
              <a:t>Herramientas interactivas en tu móvil donde simularás políticas de empleo, curvas y equilibrios en tiempo real.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Sondeos en directo: </a:t>
            </a:r>
            <a:r>
              <a:rPr sz="1500">
                <a:solidFill>
                  <a:srgbClr val="2F3A30"/>
                </a:solidFill>
                <a:latin typeface="Calibri"/>
              </a:rPr>
              <a:t>Preguntas rápidas para chequear la comprensión antes de saltar al siguiente bloque conceptual.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926287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630936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76927A"/>
                </a:solidFill>
                <a:latin typeface="Calibri"/>
              </a:rPr>
              <a:t>Políticas Sociolaborales y de Empleo (102023) · Grado RRLL-RRHH y Doble Grado · Curso 2026-27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E98F71"/>
                </a:solidFill>
                <a:latin typeface="Outfit"/>
              </a:rPr>
              <a:t>TEMA 0 · CÓMO VAMOS A TRABAJAR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3927"/>
                </a:solidFill>
                <a:latin typeface="Outfit"/>
              </a:rPr>
              <a:t>El Reto Final de Cierre: 10 Minutos y Puntos para el Examen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66360" cy="470916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1645920"/>
            <a:ext cx="2468880" cy="292608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PASO 3 · DEMOSTRACIÓN DE ATENCIÓN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177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13927"/>
                </a:solidFill>
                <a:latin typeface="Outfit"/>
              </a:rPr>
              <a:t>Pregunta estilo examen al final de cada clase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Formato idéntico al examen: </a:t>
            </a:r>
            <a:r>
              <a:rPr sz="1500">
                <a:solidFill>
                  <a:srgbClr val="2F3A30"/>
                </a:solidFill>
                <a:latin typeface="Calibri"/>
              </a:rPr>
              <a:t>Cada sesión teórica concluye con una pregunta individual similar a las que encontrarás en la prueba final.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Redacción a mano en papel (10 min): </a:t>
            </a:r>
            <a:r>
              <a:rPr sz="1500">
                <a:solidFill>
                  <a:srgbClr val="2F3A30"/>
                </a:solidFill>
                <a:latin typeface="Calibri"/>
              </a:rPr>
              <a:t>Demuestra tu atención y asimilación de lo explicado hoy en clase. Sin fórmulas raras ni memorismo enciclopédico.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Subida fotográfica instantánea (2 min): </a:t>
            </a:r>
            <a:r>
              <a:rPr sz="1500">
                <a:solidFill>
                  <a:srgbClr val="2F3A30"/>
                </a:solidFill>
                <a:latin typeface="Calibri"/>
              </a:rPr>
              <a:t>A la orden del profesor, escaneas el código QR oficial de Microsoft Forms y subes una foto clara de tu hoja.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325880"/>
            <a:ext cx="5166360" cy="4709160"/>
          </a:xfrm>
          <a:prstGeom prst="roundRect">
            <a:avLst/>
          </a:prstGeom>
          <a:solidFill>
            <a:srgbClr val="FDF4F0"/>
          </a:solidFill>
          <a:ln w="12700">
            <a:solidFill>
              <a:srgbClr val="F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65392" y="1645920"/>
            <a:ext cx="2926080" cy="292608"/>
          </a:xfrm>
          <a:prstGeom prst="roundRect">
            <a:avLst/>
          </a:prstGeom>
          <a:solidFill>
            <a:srgbClr val="E9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GAMIFICACIÓN DIRECTA · BENEFICIO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03120"/>
            <a:ext cx="4617720" cy="30726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 dirty="0">
                <a:solidFill>
                  <a:srgbClr val="113927"/>
                </a:solidFill>
                <a:latin typeface="Outfit"/>
              </a:rPr>
              <a:t>Puntos </a:t>
            </a:r>
            <a:r>
              <a:rPr sz="1800" b="1" dirty="0" err="1">
                <a:solidFill>
                  <a:srgbClr val="113927"/>
                </a:solidFill>
                <a:latin typeface="Outfit"/>
              </a:rPr>
              <a:t>canjeables</a:t>
            </a:r>
            <a:r>
              <a:rPr sz="1800" b="1" dirty="0">
                <a:solidFill>
                  <a:srgbClr val="113927"/>
                </a:solidFill>
                <a:latin typeface="Outfit"/>
              </a:rPr>
              <a:t> </a:t>
            </a:r>
            <a:r>
              <a:rPr sz="1800" b="1" dirty="0" err="1">
                <a:solidFill>
                  <a:srgbClr val="113927"/>
                </a:solidFill>
                <a:latin typeface="Outfit"/>
              </a:rPr>
              <a:t>en</a:t>
            </a:r>
            <a:r>
              <a:rPr sz="1800" b="1" dirty="0">
                <a:solidFill>
                  <a:srgbClr val="113927"/>
                </a:solidFill>
                <a:latin typeface="Outfit"/>
              </a:rPr>
              <a:t> el examen final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13927"/>
                </a:solidFill>
                <a:latin typeface="Calibri"/>
              </a:rPr>
              <a:t>•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Acumulación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continua: </a:t>
            </a:r>
            <a:r>
              <a:rPr sz="1500" dirty="0">
                <a:solidFill>
                  <a:srgbClr val="2F3A30"/>
                </a:solidFill>
                <a:latin typeface="Calibri"/>
              </a:rPr>
              <a:t>Tus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entregas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válidas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y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razonadas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suman puntos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en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tu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panel de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seguimiento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continuo a lo largo del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cuatrimestre</a:t>
            </a:r>
            <a:r>
              <a:rPr sz="1500" dirty="0">
                <a:solidFill>
                  <a:srgbClr val="2F3A30"/>
                </a:solidFill>
                <a:latin typeface="Calibri"/>
              </a:rPr>
              <a:t>.</a:t>
            </a:r>
            <a:r>
              <a:rPr lang="es-ES" sz="1500" dirty="0">
                <a:solidFill>
                  <a:srgbClr val="2F3A30"/>
                </a:solidFill>
                <a:latin typeface="Calibri"/>
              </a:rPr>
              <a:t> No solo vale la entrega, también la claridad y la corrección en la exposición de ideas.</a:t>
            </a:r>
            <a:endParaRPr sz="1500" dirty="0">
              <a:solidFill>
                <a:srgbClr val="2F3A30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13927"/>
                </a:solidFill>
                <a:latin typeface="Calibri"/>
              </a:rPr>
              <a:t>•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Ventajas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en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el examen (70%):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Podrás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canjear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tus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puntos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acumulados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por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comodines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para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descartar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preguntas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del examen o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por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bonificaciones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netas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de nota.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13927"/>
                </a:solidFill>
                <a:latin typeface="Calibri"/>
              </a:rPr>
              <a:t>• Hoy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hacemos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el primer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ensayo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: </a:t>
            </a:r>
            <a:r>
              <a:rPr sz="1500" dirty="0">
                <a:solidFill>
                  <a:srgbClr val="2F3A30"/>
                </a:solidFill>
                <a:latin typeface="Calibri"/>
              </a:rPr>
              <a:t>Al final de la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sesión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de hoy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realizaremos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una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prueba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guiada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de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rodaje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para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que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todos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conozcáis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la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mecánica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exacta.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926287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630936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76927A"/>
                </a:solidFill>
                <a:latin typeface="Calibri"/>
              </a:rPr>
              <a:t>Políticas Sociolaborales y de Empleo (102023) · Grado RRLL-RRHH y Doble Grado · Curso 2026-27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92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0749E-E51A-7C81-2168-DB7A81635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SSLL2627/.claude/skills/marca-psll/assets/psll_icon_transparent.svg">
            <a:extLst>
              <a:ext uri="{FF2B5EF4-FFF2-40B4-BE49-F238E27FC236}">
                <a16:creationId xmlns:a16="http://schemas.microsoft.com/office/drawing/2014/main" id="{8108FF82-6AC1-E127-389C-B01D15B03ED2}"/>
              </a:ext>
            </a:extLst>
          </p:cNvPr>
          <p:cNvPicPr>
            <a:picLocks noChangeAspect="1"/>
          </p:cNvPicPr>
          <p:nvPr/>
        </p:nvPicPr>
        <p:blipFill>
          <a:blip>
            <a:alphaModFix amt="8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88575" y="4754880"/>
            <a:ext cx="1645920" cy="16459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DE91AD6-5356-15F9-149F-A4E242E574BC}"/>
              </a:ext>
            </a:extLst>
          </p:cNvPr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A</a:t>
            </a:r>
            <a:endParaRPr lang="en-US" sz="18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1A1B673-B1F2-B463-6953-E487BF0912E3}"/>
              </a:ext>
            </a:extLst>
          </p:cNvPr>
          <p:cNvSpPr txBox="1"/>
          <p:nvPr/>
        </p:nvSpPr>
        <p:spPr>
          <a:xfrm>
            <a:off x="731520" y="278892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TEMA 0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¿Qué son las Políticas Sociolaborales?</a:t>
            </a:r>
            <a:endParaRPr lang="en-US" sz="3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C4BB517-400D-0F34-3831-E1CDDE317F2F}"/>
              </a:ext>
            </a:extLst>
          </p:cNvPr>
          <p:cNvSpPr txBox="1"/>
          <p:nvPr/>
        </p:nvSpPr>
        <p:spPr>
          <a:xfrm>
            <a:off x="73152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1F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minutos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25963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¿Qué son las Políticas Sociolaborales?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E1F6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que regulan y mejoran las condiciones del mercado laboral — empleo, formación profesional y protección social — y que corrigen los fallos que el mercado, por sí solo, no resuelve: ni garantiza equidad, ni garantiza eficiencia.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754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E99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por sí solo no garantiza equidad ni eficiencia.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funciones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0" y="2103120"/>
            <a:ext cx="411480" cy="41148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64008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2075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Estabilización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3957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Suavizar las fluctuaciones del ciclo económico.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3063240"/>
            <a:ext cx="411480" cy="41148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64008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Redistribución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la distribución de ingresos y riqueza del mercado.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4023360"/>
            <a:ext cx="411480" cy="41148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 txBox="1"/>
          <p:nvPr/>
        </p:nvSpPr>
        <p:spPr>
          <a:xfrm>
            <a:off x="64008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995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43159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fallos de mercado y mejorar la asignación de recursos.</a:t>
            </a:r>
            <a:endParaRPr lang="en-US" sz="1600" dirty="0"/>
          </a:p>
        </p:txBody>
      </p:sp>
      <p:pic>
        <p:nvPicPr>
          <p:cNvPr id="20" name="Image 0" descr="/home/user/PSSLL2627/.claude/skills/marca-psll/assets/psll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926591" cy="29260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Estructura y Áreas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384048" cy="384048"/>
          </a:xfrm>
          <a:prstGeom prst="ellipse">
            <a:avLst/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Empleo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 empleo y cohesión social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384048" cy="384048"/>
          </a:xfrm>
          <a:prstGeom prst="ellipse">
            <a:avLst/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45720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68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Profesional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a los cambios del mercado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691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4" name="Shape 12"/>
          <p:cNvSpPr/>
          <p:nvPr/>
        </p:nvSpPr>
        <p:spPr>
          <a:xfrm>
            <a:off x="8366760" y="1920240"/>
            <a:ext cx="384048" cy="384048"/>
          </a:xfrm>
          <a:prstGeom prst="ellipse">
            <a:avLst/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836676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468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y Conciliación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vida laboral / familiar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9" name="Shape 17"/>
          <p:cNvSpPr/>
          <p:nvPr/>
        </p:nvSpPr>
        <p:spPr>
          <a:xfrm>
            <a:off x="777240" y="4206240"/>
            <a:ext cx="384048" cy="384048"/>
          </a:xfrm>
          <a:prstGeom prst="ellipse">
            <a:avLst/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7772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754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 Territorial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349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disparidades regionales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43400" y="3977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24" name="Shape 22"/>
          <p:cNvSpPr/>
          <p:nvPr/>
        </p:nvSpPr>
        <p:spPr>
          <a:xfrm>
            <a:off x="4572000" y="4206240"/>
            <a:ext cx="384048" cy="384048"/>
          </a:xfrm>
          <a:prstGeom prst="ellipse">
            <a:avLst/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 txBox="1"/>
          <p:nvPr/>
        </p:nvSpPr>
        <p:spPr>
          <a:xfrm>
            <a:off x="45720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4754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 y Colectivos Vulnerables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5349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laboral, no exclusión</a:t>
            </a:r>
            <a:endParaRPr lang="en-US" sz="1400" dirty="0"/>
          </a:p>
        </p:txBody>
      </p:sp>
      <p:pic>
        <p:nvPicPr>
          <p:cNvPr id="28" name="Image 0" descr="/home/user/PSSLL2627/.claude/skills/marca-psll/assets/psll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926591" cy="292608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66B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Los Grandes Desafíos del Siglo XXI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D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ellos reaparecerán en la agenda de reforma de Tema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348740" y="2057400"/>
            <a:ext cx="548640" cy="54864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13487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digitalización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62072" y="173736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76927A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9" name="Shape 7"/>
          <p:cNvSpPr/>
          <p:nvPr/>
        </p:nvSpPr>
        <p:spPr>
          <a:xfrm>
            <a:off x="3662172" y="2057400"/>
            <a:ext cx="548640" cy="54864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3662172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Envejecimiento poblacional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75504" y="173736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975604" y="2057400"/>
            <a:ext cx="548640" cy="54864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5975604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12664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Globalización y deslocalización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88936" y="173736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8289036" y="2057400"/>
            <a:ext cx="548640" cy="54864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8289036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26096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ecológica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802368" y="173736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10602468" y="2057400"/>
            <a:ext cx="548640" cy="54864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 txBox="1"/>
          <p:nvPr/>
        </p:nvSpPr>
        <p:spPr>
          <a:xfrm>
            <a:off x="1060246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939528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formas de empleo (gig economy)</a:t>
            </a:r>
            <a:endParaRPr lang="en-US" sz="1600" dirty="0"/>
          </a:p>
        </p:txBody>
      </p:sp>
      <p:pic>
        <p:nvPicPr>
          <p:cNvPr id="24" name="Image 0" descr="/home/user/PSSLL2627/.claude/skills/marca-psll/assets/psll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926591" cy="29260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9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SSLL2627/.claude/skills/marca-psll/assets/psll_icon_transparent.sv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88575" y="475488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B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7889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TEMA 1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Fundamentos del Mercado de Trabajo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 · Arranque — sin dinámica de innovación todavía (llega en la Sesión 2)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 Mercado Distinto a los Demás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69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se ajusta como el mercado de manzanas?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384048" cy="384048"/>
          </a:xfrm>
          <a:prstGeom prst="ellipse">
            <a:avLst/>
          </a:prstGeom>
          <a:solidFill>
            <a:srgbClr val="566B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Heterogeneidad:  </a:t>
            </a: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no es un bien homogéneo: varía en calidad, habilidades y especialización.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566B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64008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871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imperfecta:  </a:t>
            </a: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Empleadores y trabajadores no conocen todas las oportunidades ni candidatos disponibles.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346704"/>
            <a:ext cx="384048" cy="384048"/>
          </a:xfrm>
          <a:prstGeom prst="ellipse">
            <a:avLst/>
          </a:prstGeom>
          <a:solidFill>
            <a:srgbClr val="566B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64008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2841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extensiva:  </a:t>
            </a: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mínimo, seguridad laboral, normas de contratación y despido.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187952"/>
            <a:ext cx="384048" cy="384048"/>
          </a:xfrm>
          <a:prstGeom prst="ellipse">
            <a:avLst/>
          </a:prstGeom>
          <a:solidFill>
            <a:srgbClr val="566B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64008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1696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no monetarios:  </a:t>
            </a: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Estabilidad, condiciones, desarrollo profesional pesan tanto como el salario.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566B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 txBox="1"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01091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relativa:  </a:t>
            </a: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Salarios y empleo no se ajustan tan rápido como los precios de otros mercados.</a:t>
            </a:r>
            <a:endParaRPr lang="en-US" sz="1600" dirty="0"/>
          </a:p>
        </p:txBody>
      </p:sp>
      <p:pic>
        <p:nvPicPr>
          <p:cNvPr id="19" name="Image 0" descr="/home/user/PSSLL2627/.claude/skills/marca-psll/assets/psll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926591" cy="29260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Los Tres Indicadores Clave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37160"/>
          </a:xfrm>
          <a:prstGeom prst="rect">
            <a:avLst/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Actividad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Activa / Población ≥16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20440" cy="137160"/>
          </a:xfrm>
          <a:prstGeom prst="rect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4526280" y="2148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Paro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200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Desempleados / Población Activa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20440" cy="137160"/>
          </a:xfrm>
          <a:prstGeom prst="rect">
            <a:avLst/>
          </a:prstGeom>
          <a:solidFill>
            <a:srgbClr val="EDB09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8275320" y="2148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Empleo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200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 / Población ≥16</a:t>
            </a:r>
            <a:endParaRPr lang="en-US" sz="1600" dirty="0"/>
          </a:p>
        </p:txBody>
      </p:sp>
      <p:pic>
        <p:nvPicPr>
          <p:cNvPr id="15" name="Image 0" descr="/home/user/PSSLL2627/.claude/skills/marca-psll/assets/psll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926591" cy="29260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66B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Antes de Iros...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728655" cy="1828800"/>
          </a:xfrm>
          <a:prstGeom prst="roundRect">
            <a:avLst>
              <a:gd name="adj" fmla="val 6000"/>
            </a:avLst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1097280" y="1691640"/>
            <a:ext cx="99971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martes/viernes entraremos en la sala de máquinas del desempleo: ¿por qué los empresarios dicen que no encuentran trabajadores mientras hay 2,6 millones de personas en paro? La Curva de Beveridge os dará la respuesta.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Sesión 2 (Aula Invertida):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Vídeo-píldora (10 min) en el Aula Virtual: «La bañera del desempleo y la Curva de Beveridge»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previo de 3 preguntas en el Aula Virtual (autocalificable)</a:t>
            </a:r>
            <a:endParaRPr lang="en-US" sz="1350" dirty="0"/>
          </a:p>
        </p:txBody>
      </p:sp>
      <p:pic>
        <p:nvPicPr>
          <p:cNvPr id="7" name="Image 0" descr="/home/user/PSSLL2627/.claude/skills/marca-psll/assets/psll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926591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FINAL · ENSAYO DE RODAJE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Reto Individual de Cierre: Fundamentos Laborales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Comprueba tu atención y comprensión de los conceptos clave vistos hoy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(102023) · Sesión 1 · 14/09/2026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18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858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EN 10 MINUTOS · REDACTA A MANO EN UNA HOJA DE PAPEL</a:t>
            </a:r>
          </a:p>
          <a:p>
            <a:pPr>
              <a:spcBef>
                <a:spcPts val="600"/>
              </a:spcBef>
              <a:defRPr sz="1500" b="1">
                <a:solidFill>
                  <a:srgbClr val="566B56"/>
                </a:solidFill>
                <a:latin typeface="Poppins"/>
              </a:defRPr>
            </a:pPr>
            <a:r>
              <a:t>1. Un mercado singular: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Cita y explica brevemente dos razones por las que el mercado de trabajo no se ajusta como un mercado ordinario (mercado de manzanas).</a:t>
            </a:r>
          </a:p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2. Funciones de las políticas sociolaborales: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Identifica cuál de las tres funciones (estabilización, redistribución o eficiencia) busca corregir fallos de mercado y pon un ejemplo.</a:t>
            </a:r>
          </a:p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3. Indicadores del mercado: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Si una persona parada se desanima y deja de buscar empleo, ¿qué ocurre con la tasa de paro y la de actividad? Razona qué denominador cambia.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9164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ódigo QR para Pregunta final sesión 1 - PS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74519"/>
            <a:ext cx="2834640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72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66B56"/>
                </a:solidFill>
                <a:latin typeface="Poppins"/>
              </a:defRPr>
            </a:pPr>
            <a:r>
              <a:t>SUBE LA FOTO DE TU HOJA</a:t>
            </a:r>
          </a:p>
          <a:p>
            <a:pPr algn="ctr">
              <a:spcBef>
                <a:spcPts val="400"/>
              </a:spcBef>
              <a:defRPr sz="1200">
                <a:solidFill>
                  <a:srgbClr val="76927A"/>
                </a:solidFill>
                <a:latin typeface="Calibri"/>
              </a:defRPr>
            </a:pPr>
            <a:r>
              <a:t>A la orden del profesor, escanea con el móvil y sube tu foto con cuenta UPO (@alu.upo.es).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E99073"/>
                </a:solidFill>
                <a:latin typeface="Calibri"/>
              </a:defRPr>
            </a:pPr>
            <a:r>
              <a:t>⭐ Sesión de rodaje · En las siguientes sesiones acumulará puntos para el examen final.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FINAL · CORRECCIÓN INMEDIATA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Solución Modelo y Claves de Corrección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Comprobación inmediata de los conceptos nucleares tratados en la sesión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(102023) · Sesión 1 · 14/09/2026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19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1. Particularidades del Trabajo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E99073"/>
                </a:solidFill>
                <a:latin typeface="Poppins"/>
              </a:defRPr>
            </a:pPr>
            <a:r>
              <a:t>Heterogeneidad y Regulación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El trabajo no es homogéneo (habilidades, cualificación) y está sometido a regulación estricta (salario mínimo, despidos) e información imperfecta: los salarios no limpian el mercado instantáneamente.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6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2. Función de Eficiencia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E99073"/>
                </a:solidFill>
                <a:latin typeface="Poppins"/>
              </a:defRPr>
            </a:pPr>
            <a:r>
              <a:t>Corrección de Fallos de Mercado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La función de eficiencia busca resolver fallos como la asimetría informativa o la falta de casación (*matching*). Ejemplo: intermediación del SAE o formación para el empleo.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3. El Efecto Desánimo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E99073"/>
                </a:solidFill>
                <a:latin typeface="Poppins"/>
              </a:defRPr>
            </a:pPr>
            <a:r>
              <a:t>Tasa de Paro vs. Actividad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Al abandonar la búsqueda, pasa de la población activa a la inactiva. El denominador de la tasa de paro (Activos) se reduce, y el numerador (Parados) también: la tasa de paro puede bajar ficticiamente sin crearse empleo.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98F71"/>
                </a:solidFill>
                <a:latin typeface="Outfit"/>
              </a:rPr>
              <a:t>BLOQUE A · ¿POR QUÉ IMPORTA ESTA ASIGNATURA?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13927"/>
                </a:solidFill>
                <a:latin typeface="Outfit"/>
              </a:rPr>
              <a:t>La Gran Paradoja del Mercado de Trabajo Español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669280" cy="470916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645920"/>
            <a:ext cx="2468880" cy="292608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NOTICIA REAL · EL CHOQUE INICIAL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512064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13927"/>
                </a:solidFill>
                <a:latin typeface="Outfit"/>
              </a:rPr>
              <a:t>«España bate récord con 21,8M de ocupados pero lidera el paro en la UE»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El récord histórico: </a:t>
            </a:r>
            <a:r>
              <a:rPr sz="1500">
                <a:solidFill>
                  <a:srgbClr val="2F3A30"/>
                </a:solidFill>
                <a:latin typeface="Calibri"/>
              </a:rPr>
              <a:t>Nunca en la historia de España ha habido tantas personas trabajando formalmente.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La anomalía permanente: </a:t>
            </a:r>
            <a:r>
              <a:rPr sz="1500">
                <a:solidFill>
                  <a:srgbClr val="2F3A30"/>
                </a:solidFill>
                <a:latin typeface="Calibri"/>
              </a:rPr>
              <a:t>Al mismo tiempo, España duplica la media de desempleo de la OCDE (11,3% frente al 4,9%) y supera con creces la media europea.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El enigma sociolaboral: </a:t>
            </a:r>
            <a:r>
              <a:rPr sz="1500">
                <a:solidFill>
                  <a:srgbClr val="2F3A30"/>
                </a:solidFill>
                <a:latin typeface="Calibri"/>
              </a:rPr>
              <a:t>¿Cómo puede coexistir el máximo empleo de nuestra historia con el mayor paro relativo de Europa? ¿Es una contradicción o un fallo de análisis?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325880"/>
            <a:ext cx="4663440" cy="4709160"/>
          </a:xfrm>
          <a:prstGeom prst="roundRect">
            <a:avLst/>
          </a:prstGeom>
          <a:solidFill>
            <a:srgbClr val="FDF4F0"/>
          </a:solidFill>
          <a:ln w="12700">
            <a:solidFill>
              <a:srgbClr val="F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0" y="1645920"/>
            <a:ext cx="2651760" cy="292608"/>
          </a:xfrm>
          <a:prstGeom prst="roundRect">
            <a:avLst/>
          </a:prstGeom>
          <a:solidFill>
            <a:srgbClr val="E9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SONDEO EN VIVO · ¡VOTA EN DIRECTO!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1148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50" b="1">
                <a:solidFill>
                  <a:srgbClr val="113927"/>
                </a:solidFill>
                <a:latin typeface="Outfit"/>
              </a:rPr>
              <a:t>¿Si creamos 400.000 empleos, el paro baja seguro?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3927"/>
                </a:solidFill>
                <a:latin typeface="Calibri"/>
              </a:rPr>
              <a:t>A) </a:t>
            </a:r>
            <a:r>
              <a:rPr sz="1400">
                <a:solidFill>
                  <a:srgbClr val="2F3A30"/>
                </a:solidFill>
                <a:latin typeface="Calibri"/>
              </a:rPr>
              <a:t>Sí, siempre: más trabajo es menos paro.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E98F71"/>
                </a:solidFill>
                <a:latin typeface="Calibri"/>
              </a:rPr>
              <a:t>B) </a:t>
            </a:r>
            <a:r>
              <a:rPr sz="1400">
                <a:solidFill>
                  <a:srgbClr val="2F3A30"/>
                </a:solidFill>
                <a:latin typeface="Calibri"/>
              </a:rPr>
              <a:t>No: la tasa de paro puede quedarse igual o subir.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3927"/>
                </a:solidFill>
                <a:latin typeface="Calibri"/>
              </a:rPr>
              <a:t>C) </a:t>
            </a:r>
            <a:r>
              <a:rPr sz="1400">
                <a:solidFill>
                  <a:srgbClr val="2F3A30"/>
                </a:solidFill>
                <a:latin typeface="Calibri"/>
              </a:rPr>
              <a:t>Depende solo de las horas trabajadas.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4251960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49640" y="4343400"/>
            <a:ext cx="26060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13927"/>
                </a:solidFill>
                <a:latin typeface="Outfit"/>
              </a:rPr>
              <a:t>Escanea con tu móvil
y vota en tiempo real</a:t>
            </a:r>
          </a:p>
          <a:p>
            <a:r>
              <a:rPr sz="1200">
                <a:solidFill>
                  <a:srgbClr val="2F3A30"/>
                </a:solidFill>
                <a:latin typeface="Calibri"/>
              </a:rPr>
              <a:t>Comprobemos los sesgos e intuiciones del aula en directo.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263640"/>
            <a:ext cx="926287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63093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76927A"/>
                </a:solidFill>
                <a:latin typeface="Calibri"/>
              </a:rPr>
              <a:t>Políticas Sociolaborales y de Empleo (102023) · Grado RRLL-RRHH y Doble Grado · Curso 2026-27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98F71"/>
                </a:solidFill>
                <a:latin typeface="Outfit"/>
              </a:rPr>
              <a:t>BLOQUE A · EN QUÉ TE AFECTA DIRECTAMENTE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13927"/>
                </a:solidFill>
                <a:latin typeface="Outfit"/>
              </a:rPr>
              <a:t>El Gran Desajuste: 26% de Paro Juvenil y Vacantes sin Cubrir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669280" cy="470916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645920"/>
            <a:ext cx="2468880" cy="292608"/>
          </a:xfrm>
          <a:prstGeom prst="roundRect">
            <a:avLst/>
          </a:prstGeom>
          <a:solidFill>
            <a:srgbClr val="76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EL ESPEJO DE TU GENERACIÓN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512064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13927"/>
                </a:solidFill>
                <a:latin typeface="Outfit"/>
              </a:rPr>
              <a:t>«La generación más titulada ante la mayor tasa de paro juvenil de la UE»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La cifra que os toca: </a:t>
            </a:r>
            <a:r>
              <a:rPr sz="1500">
                <a:solidFill>
                  <a:srgbClr val="2F3A30"/>
                </a:solidFill>
                <a:latin typeface="Calibri"/>
              </a:rPr>
              <a:t>26,5% de desempleo en menores de 25 años. Uno de cada cuatro jóvenes activos en España no encuentra empleo.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La queja de las empresas: </a:t>
            </a:r>
            <a:r>
              <a:rPr sz="1500">
                <a:solidFill>
                  <a:srgbClr val="2F3A30"/>
                </a:solidFill>
                <a:latin typeface="Calibri"/>
              </a:rPr>
              <a:t>El 53% de los directivos de RRHH afirma que tiene vacantes sin cubrir porque 'no encuentra trabajadores cualificados'.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El prejuicio popular: </a:t>
            </a:r>
            <a:r>
              <a:rPr sz="1500">
                <a:solidFill>
                  <a:srgbClr val="2F3A30"/>
                </a:solidFill>
                <a:latin typeface="Calibri"/>
              </a:rPr>
              <a:t>El mantra simplista de la calle dice que 'los jóvenes no quieren trabajar'. ¿Es falta de ganas o un fallo estructural de diseño institucional?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325880"/>
            <a:ext cx="4663440" cy="470916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0" y="1645920"/>
            <a:ext cx="2651760" cy="292608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SONDEO EN VIVO · TU DIAGNÓSTICO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1148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50" b="1">
                <a:solidFill>
                  <a:srgbClr val="113927"/>
                </a:solidFill>
                <a:latin typeface="Outfit"/>
              </a:rPr>
              <a:t>¿Cuál es la causa real del desajuste?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13927"/>
                </a:solidFill>
                <a:latin typeface="Calibri"/>
              </a:rPr>
              <a:t>A) </a:t>
            </a:r>
            <a:r>
              <a:rPr sz="1350">
                <a:solidFill>
                  <a:srgbClr val="2F3A30"/>
                </a:solidFill>
                <a:latin typeface="Calibri"/>
              </a:rPr>
              <a:t>Desajuste formativo entre universidad y empresa.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13927"/>
                </a:solidFill>
                <a:latin typeface="Calibri"/>
              </a:rPr>
              <a:t>B) </a:t>
            </a:r>
            <a:r>
              <a:rPr sz="1350">
                <a:solidFill>
                  <a:srgbClr val="2F3A30"/>
                </a:solidFill>
                <a:latin typeface="Calibri"/>
              </a:rPr>
              <a:t>Salarios y condiciones que no compensan.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13927"/>
                </a:solidFill>
                <a:latin typeface="Calibri"/>
              </a:rPr>
              <a:t>C) </a:t>
            </a:r>
            <a:r>
              <a:rPr sz="1350">
                <a:solidFill>
                  <a:srgbClr val="2F3A30"/>
                </a:solidFill>
                <a:latin typeface="Calibri"/>
              </a:rPr>
              <a:t>Fricciones de información e intermediación fallida.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13927"/>
                </a:solidFill>
                <a:latin typeface="Calibri"/>
              </a:rPr>
              <a:t>D) </a:t>
            </a:r>
            <a:r>
              <a:rPr sz="1350">
                <a:solidFill>
                  <a:srgbClr val="2F3A30"/>
                </a:solidFill>
                <a:latin typeface="Calibri"/>
              </a:rPr>
              <a:t>Desincentivos de las prestaciones sociales.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4251960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49640" y="4343400"/>
            <a:ext cx="26060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13927"/>
                </a:solidFill>
                <a:latin typeface="Outfit"/>
              </a:rPr>
              <a:t>Escanea y vota:
¿cuál pesa más?</a:t>
            </a:r>
          </a:p>
          <a:p>
            <a:r>
              <a:rPr sz="1200">
                <a:solidFill>
                  <a:srgbClr val="2F3A30"/>
                </a:solidFill>
                <a:latin typeface="Calibri"/>
              </a:rPr>
              <a:t>Veremos los datos reales con la Curva de Beveridge.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263640"/>
            <a:ext cx="926287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63093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76927A"/>
                </a:solidFill>
                <a:latin typeface="Calibri"/>
              </a:rPr>
              <a:t>Políticas Sociolaborales y de Empleo (102023) · Grado RRLL-RRHH y Doble Grado · Curso 2026-27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98F71"/>
                </a:solidFill>
                <a:latin typeface="Outfit"/>
              </a:rPr>
              <a:t>BLOQUE A · EL VALOR DE TU GRADO (RRLL Y DERECHO)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13927"/>
                </a:solidFill>
                <a:latin typeface="Outfit"/>
              </a:rPr>
              <a:t>Tu Rol Profesional: De Tramitador a Estratega Sociolaboral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66360" cy="3931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0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645920"/>
            <a:ext cx="2468880" cy="292608"/>
          </a:xfrm>
          <a:prstGeom prst="roundRect">
            <a:avLst/>
          </a:prstGeom>
          <a:solidFill>
            <a:srgbClr val="7A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EL PERFIL OBSOLETO (PASADO)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177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4A524E"/>
                </a:solidFill>
                <a:latin typeface="Outfit"/>
              </a:rPr>
              <a:t>El mero tramitador de nóminas y contratos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4A524E"/>
                </a:solidFill>
                <a:latin typeface="Calibri"/>
              </a:rPr>
              <a:t>• Mecánico y reactivo: </a:t>
            </a:r>
            <a:r>
              <a:rPr sz="1500">
                <a:solidFill>
                  <a:srgbClr val="5A625E"/>
                </a:solidFill>
                <a:latin typeface="Calibri"/>
              </a:rPr>
              <a:t>Se limita a rellenar modelos estándar y aplicar fórmulas legales sin cuestionar su efecto económico.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4A524E"/>
                </a:solidFill>
                <a:latin typeface="Calibri"/>
              </a:rPr>
              <a:t>• Sustituible por tecnología: </a:t>
            </a:r>
            <a:r>
              <a:rPr sz="1500">
                <a:solidFill>
                  <a:srgbClr val="5A625E"/>
                </a:solidFill>
                <a:latin typeface="Calibri"/>
              </a:rPr>
              <a:t>El software de gestión y la inteligencia artificial ya confeccionan nóminas, contratos y demandas tipo en segundos.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4A524E"/>
                </a:solidFill>
                <a:latin typeface="Calibri"/>
              </a:rPr>
              <a:t>• Ciego al contexto: </a:t>
            </a:r>
            <a:r>
              <a:rPr sz="1500">
                <a:solidFill>
                  <a:srgbClr val="5A625E"/>
                </a:solidFill>
                <a:latin typeface="Calibri"/>
              </a:rPr>
              <a:t>No sabe anticipar qué ocurrirá con los costes o el empleo cuando se aprueba una reforma laboral o sube el SMI.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325880"/>
            <a:ext cx="5166360" cy="3931920"/>
          </a:xfrm>
          <a:prstGeom prst="roundRect">
            <a:avLst/>
          </a:prstGeom>
          <a:solidFill>
            <a:srgbClr val="FDF4F0"/>
          </a:solidFill>
          <a:ln w="12700">
            <a:solidFill>
              <a:srgbClr val="F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65392" y="1645920"/>
            <a:ext cx="3108960" cy="292608"/>
          </a:xfrm>
          <a:prstGeom prst="roundRect">
            <a:avLst/>
          </a:prstGeom>
          <a:solidFill>
            <a:srgbClr val="E9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EL ESTRATEGA DEL SIGLO XXI (ESTA ASIGNATURA)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03120"/>
            <a:ext cx="46177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13927"/>
                </a:solidFill>
                <a:latin typeface="Outfit"/>
              </a:rPr>
              <a:t>El analista y diseñador sociolaboral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Diagnóstico causal riguroso: </a:t>
            </a:r>
            <a:r>
              <a:rPr sz="1500">
                <a:solidFill>
                  <a:srgbClr val="2F3A30"/>
                </a:solidFill>
                <a:latin typeface="Calibri"/>
              </a:rPr>
              <a:t>Comprende por qué fracasan las bonificaciones a la contratación y cómo diseñar incentivos sin despilfarro (deadweight).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Asesoramiento estratégico: </a:t>
            </a:r>
            <a:r>
              <a:rPr sz="1500">
                <a:solidFill>
                  <a:srgbClr val="2F3A30"/>
                </a:solidFill>
                <a:latin typeface="Calibri"/>
              </a:rPr>
              <a:t>Guía a empresas, sindicatos o administraciones en convenios colectivos, costes laborales y productividad.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Decisiones con impacto real: </a:t>
            </a:r>
            <a:r>
              <a:rPr sz="1500">
                <a:solidFill>
                  <a:srgbClr val="2F3A30"/>
                </a:solidFill>
                <a:latin typeface="Calibri"/>
              </a:rPr>
              <a:t>Traduce los datos y la legislación en políticas eficaces que cambian la calidad del empleo y la vida de la gente.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40680"/>
            <a:ext cx="10725912" cy="640080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Outfit"/>
              </a:rPr>
              <a:t>«Las Políticas Sociolaborales son las reglas del juego del mercado de trabajo.
Quien solo las memoriza, las sufre; quien las comprende a fondo, las lidera».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926287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0" y="63093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76927A"/>
                </a:solidFill>
                <a:latin typeface="Calibri"/>
              </a:rPr>
              <a:t>Políticas Sociolaborales y de Empleo (102023) · Grado RRLL-RRHH y Doble Grado · Curso 2026-27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2145</Words>
  <Application>Microsoft Office PowerPoint</Application>
  <PresentationFormat>Panorámica</PresentationFormat>
  <Paragraphs>187</Paragraphs>
  <Slides>16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Schoolbook</vt:lpstr>
      <vt:lpstr>Outfit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Manuel Alejandro Hidalgo Perez</cp:lastModifiedBy>
  <cp:revision>3</cp:revision>
  <dcterms:created xsi:type="dcterms:W3CDTF">2026-09-06T15:27:33Z</dcterms:created>
  <dcterms:modified xsi:type="dcterms:W3CDTF">2026-09-10T06:58:38Z</dcterms:modified>
</cp:coreProperties>
</file>