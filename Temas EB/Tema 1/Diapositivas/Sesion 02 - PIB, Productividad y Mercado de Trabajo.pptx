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o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Facultad de Derecho · Dpto. de Economía, Métodos Cuantitativos e Hª Económica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Curso Académico 2026-2027</a:t>
            </a:r>
          </a:p>
        </p:txBody>
      </p:sp>
      <p:pic>
        <p:nvPicPr>
          <p:cNvPr id="6" name="Picture 5" descr="psll_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5388429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3716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99073"/>
                </a:solidFill>
                <a:latin typeface="Poppins"/>
              </a:defRPr>
            </a:pPr>
            <a:r>
              <a:t>POLÍTICAS SOCIOLABORALES Y DE EMPLEO</a:t>
            </a:r>
          </a:p>
          <a:p>
            <a:pPr>
              <a:spcBef>
                <a:spcPts val="1000"/>
              </a:spcBef>
              <a:spcAft>
                <a:spcPts val="1200"/>
              </a:spcAft>
              <a:defRPr sz="3200" b="1">
                <a:solidFill>
                  <a:srgbClr val="FFFFFF"/>
                </a:solidFill>
                <a:latin typeface="Poppins"/>
              </a:defRPr>
            </a:pPr>
            <a:r>
              <a:t>El PIB, la Productividad y el Mercado de Trabajo</a:t>
            </a:r>
          </a:p>
          <a:p>
            <a:pPr>
              <a:defRPr sz="1700">
                <a:solidFill>
                  <a:srgbClr val="EDB090"/>
                </a:solidFill>
                <a:latin typeface="Poppins"/>
              </a:defRPr>
            </a:pPr>
            <a:r>
              <a:t>Sesión EB 2 · Semana 1 · Tema 1 (Epígrafe 2 completo)</a:t>
            </a:r>
          </a:p>
          <a:p>
            <a:pPr>
              <a:spcBef>
                <a:spcPts val="1600"/>
              </a:spcBef>
              <a:defRPr sz="1600">
                <a:solidFill>
                  <a:srgbClr val="E1F6EA"/>
                </a:solidFill>
                <a:latin typeface="Calibri"/>
              </a:defRPr>
            </a:pPr>
            <a:r>
              <a:t>Laboratorio Conceptual · Dinámica Activa de Simulación de Costes Laborales Unitarios (CLU)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ORGANIZACIÓN 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de la Sesión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1. Sondeo y Choque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Sondeo inicial Mentimeter (prejuicios populares) y choque con datos reales (la gran tijera y el espejo europeo).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2. Mini-Lección: PIB y VAB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PIB como suma de Valor Añadido Bruto (cadena del pan) vs. transacciones brutas. PIB nominal vs.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1224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3. Productividad y Salarios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productividad laboral como techo del salario. Formulación analítica de los Costes Laborales Unitarios (CLU).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691640"/>
            <a:ext cx="201168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7496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66B56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4. Laboratorio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por parejas como analistas de la Consejería. Reto del shock salarial (+8%) y dilema de los 100 M€.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8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15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5. Cierre y Caso de Examen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Ensayo en vivo de resolución de un caso análogo de examen final (70%) y balance metacognitivo.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SONDEO PREVIO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Sondeo de Entrada: Pon a Prueba tu Intuición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Vota con tu teléfono móvil antes de ver los datos de la economía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LA PREGUNTA DE PARTIDA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 b="1">
                <a:solidFill>
                  <a:srgbClr val="566B56"/>
                </a:solidFill>
                <a:latin typeface="Poppins"/>
              </a:defRPr>
            </a:pPr>
            <a:r>
              <a:t>«Si pactáramos por ley o convenio una subida general del 15% de todos los salarios en España para alcanzar a Europa, ¿qué ocurriría?»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A) Convergeríamos con Alemania y Francia porque el consumo familiar se dispararía y reactivaría el PIB.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B) Las empresas no podrían asumir el coste unitario y destruirían empleo o subirían precios perdiendo ventas.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C) Aumentaría la productividad porque los trabajadores estarían más motivados y rendirían mucho más.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ódigo QR para PSLL · Sondeo Previo Sesión 2 (Salarios y 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4805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ESCANEA PARA VOTAR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Acceso con cuenta UPO (@alu.upo.es)</a:t>
            </a:r>
            <a:br/>
            <a:r>
              <a:t>Votación en 30 segundos desde el móvil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Gran Tijera Española: ¿Más Empleo Significa Más Riqueza?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Récord histórico de ocupados (EPA) vs. estancamiento secular de la productividad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cho_paradoja_empleo_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LOS DATOS DEL ENIGMA</a:t>
            </a:r>
          </a:p>
          <a:p>
            <a:pPr>
              <a:spcBef>
                <a:spcPts val="400"/>
              </a:spcBef>
              <a:defRPr sz="1800" b="1">
                <a:solidFill>
                  <a:srgbClr val="566B56"/>
                </a:solidFill>
                <a:latin typeface="Poppins"/>
              </a:defRPr>
            </a:pPr>
            <a:r>
              <a:t>21,8 M de ocupados (EPA)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Máximo histórico absoluto en la EPA. Nunca antes tanta gente había trabajado a la vez en España (+36,5% desde el año 2000).</a:t>
            </a:r>
          </a:p>
          <a:p>
            <a:pPr>
              <a:defRPr sz="1800" b="1">
                <a:solidFill>
                  <a:srgbClr val="E99073"/>
                </a:solidFill>
                <a:latin typeface="Poppins"/>
              </a:defRPr>
            </a:pPr>
            <a:r>
              <a:t>Productividad por hora plana (+0,3% anual)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Lleva 25 años estancada. El modelo crece sumando brazos, pero cada hora de trabajo rinde casi el mismo valor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Espejo Europeo: Por Qué No Cobramos Como en Alemania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Comparativa UE-27: El salario es el reflejo del valor generado por cada hora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5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cho_brecha_productividad_salarios_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LA CORRELACIÓN INELUDIBLE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700" b="1">
                <a:solidFill>
                  <a:srgbClr val="566B56"/>
                </a:solidFill>
                <a:latin typeface="Poppins"/>
              </a:defRPr>
            </a:pPr>
            <a:r>
              <a:t>España: 34 € VAB/h -&gt; 24 € salario medio</a:t>
            </a:r>
            <a:br/>
            <a:r>
              <a:t>Alemania: 62 € VAB/h -&gt; 41 € salario medio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El salario medio refleja con precisión matemática el valor creado por hora de trabajo. No se pueden tener salarios daneses con productividad española.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💡 La pregunta teórica: ¿Cómo se formaliza esto matemáticamente? Entramos en el modelo del PIB y del CLU.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PIB como Suma de Valor Añadido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Evitar el error común de contabilizar el total de transacciones brutas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6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ab_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32907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CLAVES DEL MODELO (FIGURA 1.3)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El riesgo del doble cómputo: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Sumar ventas brutas (0,30 € trigo + 0,70 € harina + 2,00 € pan = 3,00 €) contaría el trigo tres veces.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2. La solución: Valor Añadido (VAB):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VAB = Ventas - Consumos intermedios.</a:t>
            </a:r>
            <a:br/>
            <a:r>
              <a:t>Total PIB real = 2,00 € (el bien final).</a:t>
            </a:r>
            <a:br/>
            <a:r>
              <a:t>Solo se puede repartir en salarios la riqueza genuinamente creada.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PIB Nominal vs. PIB Real: El Espejismo de los Precios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medimos el crecimiento económico en volumen y no en euros corrientes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7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ib_inter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78931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DISTINCIÓN FUNDAMENTAL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• PIB Nominal (Precios corrientes):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Mide la producción con precios del año. Crece tanto si producimos más como si las cosas son más caras (inflación).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• PIB Real (Precios constantes):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Aísla la inflación con el deflactor. Para sostener el empleo y el poder de compra real, necesitamos PIB real, no espejismos nominales.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MINI-LECCIÓN 2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Productividad como Techo Real de los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El mecanismo analítico de transmisión: Los Costes Laborales Unitarios (CLU)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8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8308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EL MODELO ANALÍTICO CENTRAL</a:t>
            </a:r>
          </a:p>
          <a:p>
            <a:pPr>
              <a:spcBef>
                <a:spcPts val="400"/>
              </a:spcBef>
              <a:defRPr sz="2000" b="1">
                <a:solidFill>
                  <a:srgbClr val="566B56"/>
                </a:solidFill>
                <a:latin typeface="Poppins"/>
              </a:defRPr>
            </a:pPr>
            <a:r>
              <a:t>Coste Laboral Unitario (CLU) = Coste Laboral por Hora (W) / Productividad por Hora (VAB / H)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Mide cuánto le cuesta a la empresa la mano de obra para generar 1 € de valor añadido. Es el termómetro de competitividad.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A: Virtuoso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+3% | Prod +3%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permanece estable. Los trabajadores ganan poder adquisitivo sin arriesgar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291840"/>
            <a:ext cx="3429000" cy="274320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Escenario B: Shock Crítico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+8% | Prod +2%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se dispara un ~6%. El producto se encarece y la empresa ajusta despidiendo trabajadores.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C: Ganancia Externa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+2% | Prod +5%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baja. La empresa gana cuota exterior y acumula margen para futuras subidas salariales.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EVIDENCIA EMPÍRICA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Evidencia Internacional: Productividad vs.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Datos de la OCDE (2024): La correlación que ningún país puede esquivar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9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oductividad_sal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60226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DIAGNÓSTICO EMPÍRICO (FIGURA 1.5)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Correlación directa y positiva: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Los países con mayor remuneración media (Dinamarca, Alemania) son aquellos cuya productividad supera los 60 € por hora.</a:t>
            </a:r>
          </a:p>
          <a:p>
            <a:pPr>
              <a:defRPr sz="1600" b="1">
                <a:solidFill>
                  <a:srgbClr val="E99073"/>
                </a:solidFill>
                <a:latin typeface="Poppins"/>
              </a:defRPr>
            </a:pPr>
            <a:r>
              <a:t>2. La posición de España: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España está en el cuadrante intermedio: sus salarios reflejan un VAB por hora un 15% inferior a la media de la 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ESTRUCTURA PRODUCTIVA (EPÍGRAFE 2.3)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Productiva y Calidad del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la composición sectorial determina la precariedad y los salarios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10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SECTORES DE BAJO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Hostelería, Comercio y Servicios Personales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18 – 24 € por hora trabajada.</a:t>
            </a:r>
            <a:br/>
            <a:r>
              <a:t>• El salario absorbe el 65% del valor creado (margen muy estrecho).</a:t>
            </a:r>
            <a:br/>
            <a:r>
              <a:t>• Alta rotación y empleo vulnerable ante alzas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SECTORES DE ALTO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Industria Avanzada, TIC y Biotecnología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50 – 80 € por hora trabajada.</a:t>
            </a:r>
            <a:br/>
            <a:r>
              <a:t>• CLU al 45-50%: margen empresarial holgado.</a:t>
            </a:r>
            <a:br/>
            <a:r>
              <a:t>• Contratación estable y salarios elevados perfectamente sostenibles.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LABORATORIO ACTIVO (30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Taller en Parejas: Simulador de Costes Laborales Unitarios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Rol: Analistas Técnicos del Gabinete de la Consejería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11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MISIÓN TÉCNICA DEL EQUIPO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Vuestro objetivo en parejas como técnicos de Empleo: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1. Abrir la micro-app desde el móvil o portátil con el código QR.</a:t>
            </a:r>
            <a:br/>
            <a:r>
              <a:t>2. Calibrar los 3 sectores y contrastar sus CLU de partida.</a:t>
            </a:r>
            <a:br/>
            <a:r>
              <a:t>3. Aplicar el Shock Salarial (+8%) y registrar el impacto en empleo.</a:t>
            </a:r>
            <a:br/>
            <a:r>
              <a:t>4. Asignar los 100 M€: ¿Subvención temporal o productividad real?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⏱️ Tiempo de trabajo: 20 min en pareja + 10 min de puesta en común.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480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3927"/>
                </a:solidFill>
                <a:latin typeface="Calibri"/>
              </a:defRPr>
            </a:pPr>
            <a:r>
              <a:t>ESCANEA PARA ABRIR LA APP</a:t>
            </a:r>
          </a:p>
          <a:p>
            <a:pPr>
              <a:defRPr sz="1100" b="1">
                <a:solidFill>
                  <a:srgbClr val="E98F71"/>
                </a:solidFill>
                <a:latin typeface="Calibri"/>
              </a:defRPr>
            </a:pPr>
            <a:r>
              <a:t>mhidper.github.io/micro_apps/psll</a:t>
            </a:r>
          </a:p>
          <a:p>
            <a:pPr>
              <a:defRPr sz="1000" i="1">
                <a:solidFill>
                  <a:srgbClr val="76927A"/>
                </a:solidFill>
                <a:latin typeface="Calibri"/>
              </a:defRPr>
            </a:pPr>
            <a:r>
              <a:t>(Acceso libre sin descargas)</a:t>
            </a:r>
          </a:p>
        </p:txBody>
      </p:sp>
      <p:pic>
        <p:nvPicPr>
          <p:cNvPr id="15" name="Picture 14" descr="qr_simulador_c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DINÁMICA DE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Las Tres Fases de Experimentación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Del cálculo analítico al diseño de políticas públicas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1: Calibración Base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Margen Inicial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Hostelería: CLU 63,6% (Ámbar).</a:t>
            </a:r>
            <a:br/>
            <a:r>
              <a:t>Industria: CLU 57,1% (Equilibrado).</a:t>
            </a:r>
            <a:br/>
            <a:r>
              <a:t>TIC: CLU 50,0% (Holgado).</a:t>
            </a:r>
            <a:br/>
            <a:br/>
            <a:r>
              <a:t>¿Por qué las TIC pagan 35 €/h sin pérdidas?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Fase 2: Shock Salarial (+8%)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Exigencia Sindical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Subida salarial lineal sin más productividad.</a:t>
            </a:r>
            <a:br/>
            <a:r>
              <a:t>Hostelería salta al 68,2% (ROJO) y destruye -18.000 empleos.</a:t>
            </a:r>
            <a:br/>
            <a:br/>
            <a:r>
              <a:t>El sector TIC absorbe el alza en zona verde.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3: Dilema 100 M€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Elección de Política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Opción A (Subvención):</a:t>
            </a:r>
            <a:br/>
            <a:r>
              <a:t>Alivio temporal sin tocar la productividad (peso muerto).</a:t>
            </a:r>
            <a:br/>
            <a:br/>
            <a:r>
              <a:t>Opción B (Productividad):</a:t>
            </a:r>
            <a:br/>
            <a:r>
              <a:t>+25% de VAB, retorno sostenible a zona verde.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RETO INDIVIDUAL DE CIERRE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de Aplicación: Shock Salarial y Competitividad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a mano en papel · Comprueba tu atención a los mecanismos de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600" b="1">
                <a:solidFill>
                  <a:srgbClr val="566B56"/>
                </a:solidFill>
                <a:latin typeface="Calibri"/>
              </a:defRPr>
            </a:pPr>
            <a:r>
              <a:t>«Un sector económico incrementa sus salarios un 8% en un ejercicio en el que su productividad por hora solo creció un 2%». Razona con rigor económico: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Unitarios (CLU):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¿Qué ocurre numéricamente con el CLU del sector? Aplica la fórmula vista en clase.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¿Pueden trasladar el sobrecoste a precios sin consecuencias? ¿Cómo ajustará la empresa?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¿Por qué el pacto salarial debe sincronizarse con la productividad real para proteger a los trabajadores?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ódigo QR para Pregunta final sesión 2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y sube tu foto con cuenta UPO (@alu.upo.es). Tiempo: 2 min.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Entrega válida = Puntos acumulables para el comodín del examen final (70%).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CORRECCIÓN INMEDIATA (3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Rúbrica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mecanismos causales evaluados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(CLU)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Aumento del ~6%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coste de la mano de obra por unidad producida se encarece un 6% (CLU = W / Prod ≈ +8% - 2%). Las empresas asumen un sobrecoste que no está respaldado por más producto.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Pérdida de ventas y ajuste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No pueden trasladar el sobrecoste a precios sin perder cuota frente a rivales con costes estables. Si los márgenes se agotan, el ajuste inevitable se produce destruyendo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Sincronización sostenible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negociación debe ligar las subidas salariales al crecimiento de la productividad real. No para frenar sueldos, sino para asegurar que el aumento del poder de compra no destruye las empresas.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sl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435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37760" y="137160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SÍNTESIS DE LA SESIÓN EB 2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2800" b="1">
                <a:solidFill>
                  <a:srgbClr val="FFFFFF"/>
                </a:solidFill>
                <a:latin typeface="Poppins"/>
              </a:defRPr>
            </a:pPr>
            <a:r>
              <a:t>Las Tres Conclusiones Imborrables</a:t>
            </a:r>
          </a:p>
          <a:p>
            <a:pPr>
              <a:spcAft>
                <a:spcPts val="1600"/>
              </a:spcAft>
              <a:defRPr sz="1600">
                <a:solidFill>
                  <a:srgbClr val="E1F6EA"/>
                </a:solidFill>
                <a:latin typeface="Calibri"/>
              </a:defRPr>
            </a:pPr>
            <a:r>
              <a:t>1. Solo se puede repartir lo que se crea: El PIB es Valor Añadido Bruto, no facturación agregada.</a:t>
            </a:r>
            <a:br/>
            <a:r>
              <a:t>2. La productividad manda: Es el techo infranqueable de los salarios reales a largo plazo.</a:t>
            </a:r>
            <a:br/>
            <a:r>
              <a:t>3. El Coste Laboral Unitario (CLU = W / Prod) es el termómetro que separa la prosperidad de la destrucción de empleo.</a:t>
            </a:r>
          </a:p>
          <a:p>
            <a:pPr>
              <a:defRPr sz="1600" b="1">
                <a:solidFill>
                  <a:srgbClr val="EDB090"/>
                </a:solidFill>
                <a:latin typeface="Calibri"/>
              </a:defRPr>
            </a:pPr>
            <a:r>
              <a:t>Próxima sesión: El Mercado de Trabajo y sus Instituciones (Epígrafe 3).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Universidad Pablo de Olavide · Políticas Sociolaborales y de Empleo (2026-2027)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mhidper@upo.es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