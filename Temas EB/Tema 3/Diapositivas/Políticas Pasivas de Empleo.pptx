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3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2.bin" ContentType="image/unknown"/>
  <Override PartName="/ppt/media/image24.jpg" ContentType="image/jpg"/>
  <Override PartName="/ppt/media/image25.jpg" ContentType="image/jpg"/>
  <Override PartName="/ppt/media/image29.jpg" ContentType="image/jpg"/>
  <Override PartName="/ppt/media/image30.jpg" ContentType="image/jpg"/>
  <Override PartName="/ppt/media/image36.jpg" ContentType="image/jpg"/>
  <Override PartName="/ppt/media/image44.jpg" ContentType="image/jpg"/>
  <Override PartName="/ppt/media/image49.jpg" ContentType="image/jpg"/>
  <Override PartName="/ppt/media/image6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5"/>
  </p:notesMasterIdLst>
  <p:sldIdLst>
    <p:sldId id="256" r:id="rId2"/>
    <p:sldId id="257" r:id="rId3"/>
    <p:sldId id="258" r:id="rId4"/>
    <p:sldId id="259" r:id="rId5"/>
    <p:sldId id="260" r:id="rId6"/>
    <p:sldId id="299" r:id="rId7"/>
    <p:sldId id="261" r:id="rId8"/>
    <p:sldId id="262" r:id="rId9"/>
    <p:sldId id="263" r:id="rId10"/>
    <p:sldId id="300" r:id="rId11"/>
    <p:sldId id="301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302" r:id="rId23"/>
    <p:sldId id="274" r:id="rId24"/>
    <p:sldId id="275" r:id="rId25"/>
    <p:sldId id="276" r:id="rId26"/>
    <p:sldId id="277" r:id="rId27"/>
    <p:sldId id="278" r:id="rId28"/>
    <p:sldId id="295" r:id="rId29"/>
    <p:sldId id="279" r:id="rId30"/>
    <p:sldId id="280" r:id="rId31"/>
    <p:sldId id="296" r:id="rId32"/>
    <p:sldId id="281" r:id="rId33"/>
    <p:sldId id="297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306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319" r:id="rId55"/>
    <p:sldId id="320" r:id="rId56"/>
    <p:sldId id="321" r:id="rId57"/>
    <p:sldId id="322" r:id="rId58"/>
    <p:sldId id="323" r:id="rId59"/>
    <p:sldId id="324" r:id="rId60"/>
    <p:sldId id="325" r:id="rId61"/>
    <p:sldId id="326" r:id="rId62"/>
    <p:sldId id="327" r:id="rId63"/>
    <p:sldId id="328" r:id="rId64"/>
    <p:sldId id="329" r:id="rId65"/>
    <p:sldId id="330" r:id="rId66"/>
    <p:sldId id="331" r:id="rId67"/>
    <p:sldId id="332" r:id="rId68"/>
    <p:sldId id="298" r:id="rId69"/>
    <p:sldId id="290" r:id="rId70"/>
    <p:sldId id="291" r:id="rId71"/>
    <p:sldId id="292" r:id="rId72"/>
    <p:sldId id="293" r:id="rId73"/>
    <p:sldId id="294" r:id="rId74"/>
  </p:sldIdLst>
  <p:sldSz cx="12192000" cy="6858000"/>
  <p:notesSz cx="6858000" cy="12192000"/>
  <p:embeddedFontLst>
    <p:embeddedFont>
      <p:font typeface="MiSans" panose="020B0604020202020204" charset="-122"/>
      <p:regular r:id="rId76"/>
    </p:embeddedFont>
    <p:embeddedFont>
      <p:font typeface="Noto Sans SC" panose="020B0604020202020204" charset="-128"/>
      <p:regular r:id="rId77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font" Target="fonts/font1.fntdata"/><Relationship Id="rId77" Type="http://schemas.openxmlformats.org/officeDocument/2006/relationships/font" Target="fonts/font2.fntdata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32118-86BB-6BA8-367C-9345427E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B7365-BFA3-E82D-9408-94B2A96FA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F22A4-3B1D-7A76-5D1B-A02729184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45B39-4005-26DD-BD5D-9FECC956FC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7103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bin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6.jpg"/><Relationship Id="rId4" Type="http://schemas.openxmlformats.org/officeDocument/2006/relationships/image" Target="../media/image3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8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png"/><Relationship Id="rId4" Type="http://schemas.openxmlformats.org/officeDocument/2006/relationships/image" Target="../media/image49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0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1.png"/><Relationship Id="rId4" Type="http://schemas.openxmlformats.org/officeDocument/2006/relationships/image" Target="../media/image62.jp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0.png"/><Relationship Id="rId4" Type="http://schemas.openxmlformats.org/officeDocument/2006/relationships/image" Target="../media/image72.png"/><Relationship Id="rId5" Type="http://schemas.openxmlformats.org/officeDocument/2006/relationships/image" Target="../media/image7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53-d2nf5g98bjvh7rlivt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10" y="0"/>
            <a:ext cx="12297410" cy="6901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755" y="1872615"/>
            <a:ext cx="8800465" cy="930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Tema 3. </a:t>
            </a:r>
            <a:r>
              <a:rPr lang="en-US" sz="6000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</a:t>
            </a:r>
            <a:r>
              <a:rPr lang="en-US" sz="6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Pasivas de Empleo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660255" y="5678805"/>
            <a:ext cx="1763395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660255" y="6047105"/>
            <a:ext cx="1763395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52-d2nf5g18bjvh7rlivt7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335" y="0"/>
            <a:ext cx="12240895" cy="688594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7:52-d2nf5g18bjvh7rlivt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" y="4319270"/>
            <a:ext cx="10521950" cy="182245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7:51-d2nf5fp8bjvh7rlivt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925" y="4269740"/>
            <a:ext cx="701040" cy="682625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7:51-d2nf5fp8bjvh7rlivt2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5400040"/>
            <a:ext cx="701040" cy="68262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08-27-19:57:52-d2nf5g18bjvh7rlivt4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7405" y="4269740"/>
            <a:ext cx="701040" cy="68262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08-27-19:57:52-d2nf5g18bjvh7rlivt5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7405" y="5400040"/>
            <a:ext cx="701040" cy="682625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08-27-19:57:52-d2nf5g18bjvh7rlivt7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92845" y="4269740"/>
            <a:ext cx="701040" cy="682625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08-27-19:57:52-d2nf5g18bjvh7rlivt8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0935" y="5408930"/>
            <a:ext cx="701040" cy="68262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1370965" y="4444365"/>
            <a:ext cx="215392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Introducción y Justificación</a:t>
            </a:r>
            <a:endParaRPr lang="en-US" sz="1600" dirty="0"/>
          </a:p>
        </p:txBody>
      </p:sp>
      <p:sp>
        <p:nvSpPr>
          <p:cNvPr id="12" name="Text 1"/>
          <p:cNvSpPr/>
          <p:nvPr/>
        </p:nvSpPr>
        <p:spPr>
          <a:xfrm>
            <a:off x="1370965" y="5563235"/>
            <a:ext cx="215328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 Español</a:t>
            </a:r>
            <a:endParaRPr lang="en-US" sz="1600" dirty="0"/>
          </a:p>
        </p:txBody>
      </p:sp>
      <p:sp>
        <p:nvSpPr>
          <p:cNvPr id="13" name="Text 2"/>
          <p:cNvSpPr/>
          <p:nvPr/>
        </p:nvSpPr>
        <p:spPr>
          <a:xfrm>
            <a:off x="5341620" y="444436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y Activación</a:t>
            </a:r>
            <a:endParaRPr lang="en-US" sz="1600" dirty="0"/>
          </a:p>
        </p:txBody>
      </p:sp>
      <p:sp>
        <p:nvSpPr>
          <p:cNvPr id="14" name="Text 3"/>
          <p:cNvSpPr/>
          <p:nvPr/>
        </p:nvSpPr>
        <p:spPr>
          <a:xfrm>
            <a:off x="5341620" y="556323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Generosidad y Comparación</a:t>
            </a:r>
            <a:endParaRPr lang="en-US" sz="1600" dirty="0"/>
          </a:p>
        </p:txBody>
      </p:sp>
      <p:sp>
        <p:nvSpPr>
          <p:cNvPr id="15" name="Text 4"/>
          <p:cNvSpPr/>
          <p:nvPr/>
        </p:nvSpPr>
        <p:spPr>
          <a:xfrm>
            <a:off x="9535795" y="4444365"/>
            <a:ext cx="203708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Desafíos y Eficacia</a:t>
            </a:r>
            <a:endParaRPr lang="en-US" sz="1600" dirty="0"/>
          </a:p>
        </p:txBody>
      </p:sp>
      <p:sp>
        <p:nvSpPr>
          <p:cNvPr id="16" name="Text 5"/>
          <p:cNvSpPr/>
          <p:nvPr/>
        </p:nvSpPr>
        <p:spPr>
          <a:xfrm>
            <a:off x="9535795" y="5563235"/>
            <a:ext cx="203708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>
                <a:latin typeface="MiSans"/>
              </a:rPr>
              <a:t>Evaluación y Reformas</a:t>
            </a:r>
            <a:endParaRPr lang="en-US" sz="16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1D2E310-3490-C755-D959-8CF9188E9009}"/>
              </a:ext>
            </a:extLst>
          </p:cNvPr>
          <p:cNvSpPr txBox="1"/>
          <p:nvPr/>
        </p:nvSpPr>
        <p:spPr>
          <a:xfrm>
            <a:off x="3592286" y="1002109"/>
            <a:ext cx="441178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600" dirty="0">
                <a:solidFill>
                  <a:schemeClr val="bg1"/>
                </a:solidFill>
              </a:rPr>
              <a:t>CONTENIDO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Introducción y Justificación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400" y="2667000"/>
            <a:ext cx="401423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0000"/>
              </a:lnSpc>
              <a:buNone/>
            </a:pPr>
            <a:r>
              <a:rPr lang="en-US" sz="4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Políticas Pasivas de Empleo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7824" y="4151603"/>
            <a:ext cx="4639388" cy="155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 análisis integral de su concepto, justificación y el sistema en España.</a:t>
            </a:r>
            <a:endParaRPr lang="en-US" sz="1600" dirty="0"/>
          </a:p>
        </p:txBody>
      </p:sp>
      <p:pic>
        <p:nvPicPr>
          <p:cNvPr id="4" name="Image 0" descr="https://kimi-web-img.moonshot.cn/img/cdnb.artstation.com/ac14fb53c46e7932a2d536280456b39238790b6d.jpg"/>
          <p:cNvPicPr>
            <a:picLocks noChangeAspect="1"/>
          </p:cNvPicPr>
          <p:nvPr/>
        </p:nvPicPr>
        <p:blipFill>
          <a:blip r:embed="rId3"/>
          <a:srcRect l="3185" r="3185"/>
          <a:stretch/>
        </p:blipFill>
        <p:spPr>
          <a:xfrm>
            <a:off x="4876800" y="0"/>
            <a:ext cx="7315200" cy="68580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732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Activas vs. Pasivas: Dos Caras de la Protección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54000" y="2336800"/>
            <a:ext cx="5689600" cy="3048000"/>
          </a:xfrm>
          <a:custGeom>
            <a:avLst/>
            <a:gdLst/>
            <a:ahLst/>
            <a:cxnLst/>
            <a:rect l="l" t="t" r="r" b="b"/>
            <a:pathLst>
              <a:path w="5689600" h="30480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2946410"/>
                </a:lnTo>
                <a:cubicBezTo>
                  <a:pt x="5689600" y="3002517"/>
                  <a:pt x="5644117" y="3048000"/>
                  <a:pt x="5588010" y="3048000"/>
                </a:cubicBezTo>
                <a:lnTo>
                  <a:pt x="101590" y="3048000"/>
                </a:lnTo>
                <a:cubicBezTo>
                  <a:pt x="45483" y="3048000"/>
                  <a:pt x="0" y="3002517"/>
                  <a:pt x="0" y="2946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58800" y="2641600"/>
            <a:ext cx="558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Políticas Activas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8800" y="3251041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Buscan mejorar la </a:t>
            </a: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empleabilidad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facilitar la inserción laboral.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4363" y="4053681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6669" y="67995"/>
                </a:moveTo>
                <a:lnTo>
                  <a:pt x="89317" y="97894"/>
                </a:lnTo>
                <a:cubicBezTo>
                  <a:pt x="92720" y="99283"/>
                  <a:pt x="96331" y="100013"/>
                  <a:pt x="100013" y="100013"/>
                </a:cubicBezTo>
                <a:cubicBezTo>
                  <a:pt x="103694" y="100013"/>
                  <a:pt x="107305" y="99283"/>
                  <a:pt x="110708" y="97894"/>
                </a:cubicBezTo>
                <a:lnTo>
                  <a:pt x="194885" y="63237"/>
                </a:lnTo>
                <a:cubicBezTo>
                  <a:pt x="198011" y="61952"/>
                  <a:pt x="200025" y="58931"/>
                  <a:pt x="200025" y="55562"/>
                </a:cubicBezTo>
                <a:cubicBezTo>
                  <a:pt x="200025" y="52194"/>
                  <a:pt x="198011" y="49173"/>
                  <a:pt x="194885" y="47888"/>
                </a:cubicBezTo>
                <a:lnTo>
                  <a:pt x="110708" y="13231"/>
                </a:lnTo>
                <a:cubicBezTo>
                  <a:pt x="107305" y="11842"/>
                  <a:pt x="103694" y="11112"/>
                  <a:pt x="100013" y="11112"/>
                </a:cubicBezTo>
                <a:cubicBezTo>
                  <a:pt x="96331" y="11112"/>
                  <a:pt x="92720" y="11842"/>
                  <a:pt x="89317" y="13231"/>
                </a:cubicBezTo>
                <a:lnTo>
                  <a:pt x="5140" y="47888"/>
                </a:lnTo>
                <a:cubicBezTo>
                  <a:pt x="2014" y="49173"/>
                  <a:pt x="0" y="52194"/>
                  <a:pt x="0" y="55563"/>
                </a:cubicBezTo>
                <a:lnTo>
                  <a:pt x="0" y="158353"/>
                </a:lnTo>
                <a:cubicBezTo>
                  <a:pt x="0" y="162972"/>
                  <a:pt x="3716" y="166688"/>
                  <a:pt x="8334" y="166688"/>
                </a:cubicBezTo>
                <a:cubicBezTo>
                  <a:pt x="12953" y="166688"/>
                  <a:pt x="16669" y="162972"/>
                  <a:pt x="16669" y="158353"/>
                </a:cubicBezTo>
                <a:lnTo>
                  <a:pt x="16669" y="67995"/>
                </a:lnTo>
                <a:close/>
                <a:moveTo>
                  <a:pt x="33337" y="92894"/>
                </a:moveTo>
                <a:lnTo>
                  <a:pt x="33337" y="133350"/>
                </a:lnTo>
                <a:cubicBezTo>
                  <a:pt x="33337" y="151755"/>
                  <a:pt x="63202" y="166688"/>
                  <a:pt x="100013" y="166688"/>
                </a:cubicBezTo>
                <a:cubicBezTo>
                  <a:pt x="136823" y="166688"/>
                  <a:pt x="166688" y="151755"/>
                  <a:pt x="166688" y="133350"/>
                </a:cubicBezTo>
                <a:lnTo>
                  <a:pt x="166688" y="92859"/>
                </a:lnTo>
                <a:lnTo>
                  <a:pt x="117063" y="113313"/>
                </a:lnTo>
                <a:cubicBezTo>
                  <a:pt x="111646" y="115535"/>
                  <a:pt x="105881" y="116681"/>
                  <a:pt x="100013" y="116681"/>
                </a:cubicBezTo>
                <a:cubicBezTo>
                  <a:pt x="94144" y="116681"/>
                  <a:pt x="88379" y="115535"/>
                  <a:pt x="82962" y="113313"/>
                </a:cubicBezTo>
                <a:lnTo>
                  <a:pt x="33337" y="92859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63600" y="3962241"/>
            <a:ext cx="267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Formación y Cualificación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5475" y="4460081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69453" y="16669"/>
                </a:moveTo>
                <a:lnTo>
                  <a:pt x="108347" y="16669"/>
                </a:lnTo>
                <a:cubicBezTo>
                  <a:pt x="109875" y="16669"/>
                  <a:pt x="111125" y="17919"/>
                  <a:pt x="111125" y="19447"/>
                </a:cubicBezTo>
                <a:lnTo>
                  <a:pt x="111125" y="33337"/>
                </a:lnTo>
                <a:lnTo>
                  <a:pt x="66675" y="33337"/>
                </a:lnTo>
                <a:lnTo>
                  <a:pt x="66675" y="19447"/>
                </a:lnTo>
                <a:cubicBezTo>
                  <a:pt x="66675" y="17919"/>
                  <a:pt x="67925" y="16669"/>
                  <a:pt x="69453" y="16669"/>
                </a:cubicBezTo>
                <a:close/>
                <a:moveTo>
                  <a:pt x="50006" y="19447"/>
                </a:moveTo>
                <a:lnTo>
                  <a:pt x="50006" y="33337"/>
                </a:lnTo>
                <a:lnTo>
                  <a:pt x="22225" y="33337"/>
                </a:lnTo>
                <a:cubicBezTo>
                  <a:pt x="9967" y="33337"/>
                  <a:pt x="0" y="43304"/>
                  <a:pt x="0" y="55563"/>
                </a:cubicBezTo>
                <a:lnTo>
                  <a:pt x="0" y="88900"/>
                </a:lnTo>
                <a:lnTo>
                  <a:pt x="177800" y="88900"/>
                </a:lnTo>
                <a:lnTo>
                  <a:pt x="177800" y="55563"/>
                </a:lnTo>
                <a:cubicBezTo>
                  <a:pt x="177800" y="43304"/>
                  <a:pt x="167833" y="33337"/>
                  <a:pt x="155575" y="33337"/>
                </a:cubicBezTo>
                <a:lnTo>
                  <a:pt x="127794" y="33337"/>
                </a:lnTo>
                <a:lnTo>
                  <a:pt x="127794" y="19447"/>
                </a:lnTo>
                <a:cubicBezTo>
                  <a:pt x="127794" y="8716"/>
                  <a:pt x="119077" y="0"/>
                  <a:pt x="108347" y="0"/>
                </a:cubicBezTo>
                <a:lnTo>
                  <a:pt x="69453" y="0"/>
                </a:lnTo>
                <a:cubicBezTo>
                  <a:pt x="58723" y="0"/>
                  <a:pt x="50006" y="8716"/>
                  <a:pt x="50006" y="19447"/>
                </a:cubicBezTo>
                <a:close/>
                <a:moveTo>
                  <a:pt x="177800" y="105569"/>
                </a:moveTo>
                <a:lnTo>
                  <a:pt x="111125" y="105569"/>
                </a:lnTo>
                <a:lnTo>
                  <a:pt x="111125" y="111125"/>
                </a:lnTo>
                <a:cubicBezTo>
                  <a:pt x="111125" y="117272"/>
                  <a:pt x="106159" y="122238"/>
                  <a:pt x="100013" y="122238"/>
                </a:cubicBezTo>
                <a:lnTo>
                  <a:pt x="77788" y="122238"/>
                </a:lnTo>
                <a:cubicBezTo>
                  <a:pt x="71641" y="122238"/>
                  <a:pt x="66675" y="117272"/>
                  <a:pt x="66675" y="111125"/>
                </a:cubicBezTo>
                <a:lnTo>
                  <a:pt x="66675" y="105569"/>
                </a:lnTo>
                <a:lnTo>
                  <a:pt x="0" y="105569"/>
                </a:lnTo>
                <a:lnTo>
                  <a:pt x="0" y="144463"/>
                </a:lnTo>
                <a:cubicBezTo>
                  <a:pt x="0" y="156721"/>
                  <a:pt x="9967" y="166688"/>
                  <a:pt x="22225" y="166688"/>
                </a:cubicBezTo>
                <a:lnTo>
                  <a:pt x="155575" y="166688"/>
                </a:lnTo>
                <a:cubicBezTo>
                  <a:pt x="167833" y="166688"/>
                  <a:pt x="177800" y="156721"/>
                  <a:pt x="177800" y="144463"/>
                </a:cubicBezTo>
                <a:lnTo>
                  <a:pt x="177800" y="105569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63600" y="4368641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Orientación e Intermediación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4363" y="4866481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93380" y="29587"/>
                </a:moveTo>
                <a:lnTo>
                  <a:pt x="52889" y="74593"/>
                </a:lnTo>
                <a:cubicBezTo>
                  <a:pt x="51291" y="76364"/>
                  <a:pt x="51361" y="79107"/>
                  <a:pt x="53062" y="80809"/>
                </a:cubicBezTo>
                <a:cubicBezTo>
                  <a:pt x="63654" y="91400"/>
                  <a:pt x="80843" y="91400"/>
                  <a:pt x="91435" y="80809"/>
                </a:cubicBezTo>
                <a:lnTo>
                  <a:pt x="102478" y="69766"/>
                </a:lnTo>
                <a:cubicBezTo>
                  <a:pt x="103937" y="68307"/>
                  <a:pt x="105777" y="67508"/>
                  <a:pt x="107652" y="67370"/>
                </a:cubicBezTo>
                <a:cubicBezTo>
                  <a:pt x="110014" y="67161"/>
                  <a:pt x="112445" y="67960"/>
                  <a:pt x="114250" y="69766"/>
                </a:cubicBezTo>
                <a:lnTo>
                  <a:pt x="175577" y="130572"/>
                </a:lnTo>
                <a:lnTo>
                  <a:pt x="200025" y="111125"/>
                </a:lnTo>
                <a:lnTo>
                  <a:pt x="200025" y="11112"/>
                </a:lnTo>
                <a:lnTo>
                  <a:pt x="161131" y="33337"/>
                </a:lnTo>
                <a:lnTo>
                  <a:pt x="152866" y="27816"/>
                </a:lnTo>
                <a:cubicBezTo>
                  <a:pt x="147380" y="24170"/>
                  <a:pt x="140955" y="22225"/>
                  <a:pt x="134357" y="22225"/>
                </a:cubicBezTo>
                <a:lnTo>
                  <a:pt x="109910" y="22225"/>
                </a:lnTo>
                <a:cubicBezTo>
                  <a:pt x="109528" y="22225"/>
                  <a:pt x="109111" y="22225"/>
                  <a:pt x="108729" y="22260"/>
                </a:cubicBezTo>
                <a:cubicBezTo>
                  <a:pt x="102860" y="22572"/>
                  <a:pt x="97339" y="25211"/>
                  <a:pt x="93380" y="29587"/>
                </a:cubicBezTo>
                <a:close/>
                <a:moveTo>
                  <a:pt x="40491" y="63445"/>
                </a:moveTo>
                <a:lnTo>
                  <a:pt x="77579" y="22225"/>
                </a:lnTo>
                <a:lnTo>
                  <a:pt x="63827" y="22225"/>
                </a:lnTo>
                <a:cubicBezTo>
                  <a:pt x="54972" y="22225"/>
                  <a:pt x="46499" y="25732"/>
                  <a:pt x="40248" y="31983"/>
                </a:cubicBezTo>
                <a:lnTo>
                  <a:pt x="38894" y="33337"/>
                </a:lnTo>
                <a:lnTo>
                  <a:pt x="0" y="11112"/>
                </a:lnTo>
                <a:lnTo>
                  <a:pt x="0" y="111125"/>
                </a:lnTo>
                <a:lnTo>
                  <a:pt x="54312" y="156374"/>
                </a:lnTo>
                <a:cubicBezTo>
                  <a:pt x="62299" y="163041"/>
                  <a:pt x="72370" y="166688"/>
                  <a:pt x="82753" y="166688"/>
                </a:cubicBezTo>
                <a:lnTo>
                  <a:pt x="88205" y="166688"/>
                </a:lnTo>
                <a:lnTo>
                  <a:pt x="85775" y="164257"/>
                </a:lnTo>
                <a:cubicBezTo>
                  <a:pt x="82510" y="160992"/>
                  <a:pt x="82510" y="155714"/>
                  <a:pt x="85775" y="152484"/>
                </a:cubicBezTo>
                <a:cubicBezTo>
                  <a:pt x="89039" y="149255"/>
                  <a:pt x="94317" y="149220"/>
                  <a:pt x="97547" y="152484"/>
                </a:cubicBezTo>
                <a:lnTo>
                  <a:pt x="111785" y="166722"/>
                </a:lnTo>
                <a:lnTo>
                  <a:pt x="114910" y="166722"/>
                </a:lnTo>
                <a:cubicBezTo>
                  <a:pt x="121543" y="166722"/>
                  <a:pt x="128037" y="165229"/>
                  <a:pt x="133940" y="162451"/>
                </a:cubicBezTo>
                <a:lnTo>
                  <a:pt x="124668" y="153144"/>
                </a:lnTo>
                <a:cubicBezTo>
                  <a:pt x="121404" y="149880"/>
                  <a:pt x="121404" y="144601"/>
                  <a:pt x="124668" y="141372"/>
                </a:cubicBezTo>
                <a:cubicBezTo>
                  <a:pt x="127933" y="138142"/>
                  <a:pt x="133211" y="138108"/>
                  <a:pt x="136441" y="141372"/>
                </a:cubicBezTo>
                <a:lnTo>
                  <a:pt x="147553" y="152484"/>
                </a:lnTo>
                <a:lnTo>
                  <a:pt x="153630" y="146407"/>
                </a:lnTo>
                <a:cubicBezTo>
                  <a:pt x="156721" y="143317"/>
                  <a:pt x="157624" y="138837"/>
                  <a:pt x="156270" y="134913"/>
                </a:cubicBezTo>
                <a:lnTo>
                  <a:pt x="108382" y="87407"/>
                </a:lnTo>
                <a:lnTo>
                  <a:pt x="103207" y="92581"/>
                </a:lnTo>
                <a:cubicBezTo>
                  <a:pt x="86087" y="109701"/>
                  <a:pt x="58375" y="109701"/>
                  <a:pt x="41255" y="92581"/>
                </a:cubicBezTo>
                <a:cubicBezTo>
                  <a:pt x="33268" y="84594"/>
                  <a:pt x="32956" y="71780"/>
                  <a:pt x="40491" y="63411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63600" y="4775041"/>
            <a:ext cx="287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Incentivos a la Contratación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48400" y="2336800"/>
            <a:ext cx="5689600" cy="3048000"/>
          </a:xfrm>
          <a:custGeom>
            <a:avLst/>
            <a:gdLst/>
            <a:ahLst/>
            <a:cxnLst/>
            <a:rect l="l" t="t" r="r" b="b"/>
            <a:pathLst>
              <a:path w="5689600" h="30480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2946410"/>
                </a:lnTo>
                <a:cubicBezTo>
                  <a:pt x="5689600" y="3002517"/>
                  <a:pt x="5644117" y="3048000"/>
                  <a:pt x="5588010" y="3048000"/>
                </a:cubicBezTo>
                <a:lnTo>
                  <a:pt x="101590" y="3048000"/>
                </a:lnTo>
                <a:cubicBezTo>
                  <a:pt x="45483" y="3048000"/>
                  <a:pt x="0" y="3002517"/>
                  <a:pt x="0" y="2946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553200" y="2641600"/>
            <a:ext cx="558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Políticas Pasivas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53200" y="3251041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Proporcionan una </a:t>
            </a:r>
            <a:r>
              <a:rPr lang="en-US" sz="14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 de seguridad económica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al desempleado.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19875" y="4053681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0497" y="0"/>
                  <a:pt x="92095" y="347"/>
                  <a:pt x="93553" y="1007"/>
                </a:cubicBezTo>
                <a:lnTo>
                  <a:pt x="158978" y="28754"/>
                </a:lnTo>
                <a:cubicBezTo>
                  <a:pt x="166618" y="31983"/>
                  <a:pt x="172313" y="39519"/>
                  <a:pt x="172278" y="48617"/>
                </a:cubicBezTo>
                <a:cubicBezTo>
                  <a:pt x="172105" y="83066"/>
                  <a:pt x="157936" y="146095"/>
                  <a:pt x="98103" y="174744"/>
                </a:cubicBezTo>
                <a:cubicBezTo>
                  <a:pt x="92303" y="177522"/>
                  <a:pt x="85566" y="177522"/>
                  <a:pt x="79767" y="174744"/>
                </a:cubicBezTo>
                <a:cubicBezTo>
                  <a:pt x="19898" y="146095"/>
                  <a:pt x="5765" y="83066"/>
                  <a:pt x="5591" y="48617"/>
                </a:cubicBezTo>
                <a:cubicBezTo>
                  <a:pt x="5556" y="39519"/>
                  <a:pt x="11251" y="31983"/>
                  <a:pt x="18891" y="28754"/>
                </a:cubicBezTo>
                <a:lnTo>
                  <a:pt x="84281" y="1007"/>
                </a:lnTo>
                <a:cubicBezTo>
                  <a:pt x="85740" y="347"/>
                  <a:pt x="87303" y="0"/>
                  <a:pt x="88900" y="0"/>
                </a:cubicBezTo>
                <a:close/>
                <a:moveTo>
                  <a:pt x="88900" y="23197"/>
                </a:moveTo>
                <a:lnTo>
                  <a:pt x="88900" y="154498"/>
                </a:lnTo>
                <a:cubicBezTo>
                  <a:pt x="136823" y="131301"/>
                  <a:pt x="149706" y="79906"/>
                  <a:pt x="150019" y="49138"/>
                </a:cubicBezTo>
                <a:lnTo>
                  <a:pt x="88900" y="23232"/>
                </a:lnTo>
                <a:lnTo>
                  <a:pt x="88900" y="23232"/>
                </a:ln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858000" y="3962241"/>
            <a:ext cx="293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Prestaciones por Desempleo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08763" y="4460081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93380" y="18475"/>
                </a:moveTo>
                <a:lnTo>
                  <a:pt x="52889" y="63480"/>
                </a:lnTo>
                <a:cubicBezTo>
                  <a:pt x="51291" y="65251"/>
                  <a:pt x="51361" y="67995"/>
                  <a:pt x="53062" y="69696"/>
                </a:cubicBezTo>
                <a:cubicBezTo>
                  <a:pt x="63654" y="80288"/>
                  <a:pt x="80843" y="80288"/>
                  <a:pt x="91435" y="69696"/>
                </a:cubicBezTo>
                <a:lnTo>
                  <a:pt x="102478" y="58653"/>
                </a:lnTo>
                <a:cubicBezTo>
                  <a:pt x="103937" y="57195"/>
                  <a:pt x="105777" y="56396"/>
                  <a:pt x="107652" y="56257"/>
                </a:cubicBezTo>
                <a:cubicBezTo>
                  <a:pt x="110014" y="56049"/>
                  <a:pt x="112445" y="56847"/>
                  <a:pt x="114250" y="58653"/>
                </a:cubicBezTo>
                <a:lnTo>
                  <a:pt x="175577" y="119459"/>
                </a:lnTo>
                <a:lnTo>
                  <a:pt x="200025" y="100013"/>
                </a:lnTo>
                <a:lnTo>
                  <a:pt x="200025" y="0"/>
                </a:lnTo>
                <a:lnTo>
                  <a:pt x="161131" y="22225"/>
                </a:lnTo>
                <a:lnTo>
                  <a:pt x="152866" y="16703"/>
                </a:lnTo>
                <a:cubicBezTo>
                  <a:pt x="147380" y="13057"/>
                  <a:pt x="140955" y="11112"/>
                  <a:pt x="134357" y="11112"/>
                </a:cubicBezTo>
                <a:lnTo>
                  <a:pt x="109910" y="11112"/>
                </a:lnTo>
                <a:cubicBezTo>
                  <a:pt x="109528" y="11112"/>
                  <a:pt x="109111" y="11112"/>
                  <a:pt x="108729" y="11147"/>
                </a:cubicBezTo>
                <a:cubicBezTo>
                  <a:pt x="102860" y="11460"/>
                  <a:pt x="97339" y="14099"/>
                  <a:pt x="93380" y="18475"/>
                </a:cubicBezTo>
                <a:close/>
                <a:moveTo>
                  <a:pt x="40491" y="52333"/>
                </a:moveTo>
                <a:lnTo>
                  <a:pt x="77579" y="11112"/>
                </a:lnTo>
                <a:lnTo>
                  <a:pt x="63827" y="11112"/>
                </a:lnTo>
                <a:cubicBezTo>
                  <a:pt x="54972" y="11112"/>
                  <a:pt x="46499" y="14620"/>
                  <a:pt x="40248" y="20871"/>
                </a:cubicBezTo>
                <a:lnTo>
                  <a:pt x="0" y="66675"/>
                </a:lnTo>
                <a:lnTo>
                  <a:pt x="0" y="188913"/>
                </a:lnTo>
                <a:lnTo>
                  <a:pt x="50006" y="141684"/>
                </a:lnTo>
                <a:lnTo>
                  <a:pt x="54312" y="145261"/>
                </a:lnTo>
                <a:cubicBezTo>
                  <a:pt x="62299" y="151929"/>
                  <a:pt x="72370" y="155575"/>
                  <a:pt x="82753" y="155575"/>
                </a:cubicBezTo>
                <a:lnTo>
                  <a:pt x="88205" y="155575"/>
                </a:lnTo>
                <a:lnTo>
                  <a:pt x="85775" y="153144"/>
                </a:lnTo>
                <a:cubicBezTo>
                  <a:pt x="82510" y="149880"/>
                  <a:pt x="82510" y="144601"/>
                  <a:pt x="85775" y="141372"/>
                </a:cubicBezTo>
                <a:cubicBezTo>
                  <a:pt x="89039" y="138142"/>
                  <a:pt x="94317" y="138108"/>
                  <a:pt x="97547" y="141372"/>
                </a:cubicBezTo>
                <a:lnTo>
                  <a:pt x="111785" y="155610"/>
                </a:lnTo>
                <a:lnTo>
                  <a:pt x="114910" y="155610"/>
                </a:lnTo>
                <a:cubicBezTo>
                  <a:pt x="121543" y="155610"/>
                  <a:pt x="128037" y="154116"/>
                  <a:pt x="133940" y="151338"/>
                </a:cubicBezTo>
                <a:lnTo>
                  <a:pt x="124668" y="142032"/>
                </a:lnTo>
                <a:cubicBezTo>
                  <a:pt x="121404" y="138767"/>
                  <a:pt x="121404" y="133489"/>
                  <a:pt x="124668" y="130259"/>
                </a:cubicBezTo>
                <a:cubicBezTo>
                  <a:pt x="127933" y="127030"/>
                  <a:pt x="133211" y="126995"/>
                  <a:pt x="136441" y="130259"/>
                </a:cubicBezTo>
                <a:lnTo>
                  <a:pt x="147553" y="141372"/>
                </a:lnTo>
                <a:lnTo>
                  <a:pt x="153630" y="135295"/>
                </a:lnTo>
                <a:cubicBezTo>
                  <a:pt x="156721" y="132204"/>
                  <a:pt x="157624" y="127724"/>
                  <a:pt x="156270" y="123800"/>
                </a:cubicBezTo>
                <a:lnTo>
                  <a:pt x="108382" y="76294"/>
                </a:lnTo>
                <a:lnTo>
                  <a:pt x="103207" y="81469"/>
                </a:lnTo>
                <a:cubicBezTo>
                  <a:pt x="86087" y="98589"/>
                  <a:pt x="58375" y="98589"/>
                  <a:pt x="41255" y="81469"/>
                </a:cubicBezTo>
                <a:cubicBezTo>
                  <a:pt x="33268" y="73481"/>
                  <a:pt x="32956" y="60667"/>
                  <a:pt x="40491" y="52298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858000" y="4368641"/>
            <a:ext cx="2451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Subsidios Asistenciales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08763" y="4866481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77788" y="2778"/>
                </a:moveTo>
                <a:cubicBezTo>
                  <a:pt x="100787" y="2778"/>
                  <a:pt x="119459" y="21451"/>
                  <a:pt x="119459" y="44450"/>
                </a:cubicBezTo>
                <a:cubicBezTo>
                  <a:pt x="119459" y="67449"/>
                  <a:pt x="100787" y="86122"/>
                  <a:pt x="77788" y="86122"/>
                </a:cubicBezTo>
                <a:cubicBezTo>
                  <a:pt x="54788" y="86122"/>
                  <a:pt x="36116" y="67449"/>
                  <a:pt x="36116" y="44450"/>
                </a:cubicBezTo>
                <a:cubicBezTo>
                  <a:pt x="36116" y="21451"/>
                  <a:pt x="54788" y="2778"/>
                  <a:pt x="77787" y="2778"/>
                </a:cubicBezTo>
                <a:close/>
                <a:moveTo>
                  <a:pt x="67474" y="105569"/>
                </a:moveTo>
                <a:lnTo>
                  <a:pt x="88101" y="105569"/>
                </a:lnTo>
                <a:cubicBezTo>
                  <a:pt x="89456" y="105569"/>
                  <a:pt x="90845" y="105603"/>
                  <a:pt x="92199" y="105708"/>
                </a:cubicBezTo>
                <a:cubicBezTo>
                  <a:pt x="86573" y="115501"/>
                  <a:pt x="83344" y="126821"/>
                  <a:pt x="83344" y="138906"/>
                </a:cubicBezTo>
                <a:cubicBezTo>
                  <a:pt x="83344" y="153422"/>
                  <a:pt x="87997" y="166861"/>
                  <a:pt x="95845" y="177800"/>
                </a:cubicBezTo>
                <a:lnTo>
                  <a:pt x="15870" y="177800"/>
                </a:lnTo>
                <a:cubicBezTo>
                  <a:pt x="10175" y="177800"/>
                  <a:pt x="5556" y="173181"/>
                  <a:pt x="5556" y="167486"/>
                </a:cubicBezTo>
                <a:cubicBezTo>
                  <a:pt x="5556" y="133281"/>
                  <a:pt x="33268" y="105569"/>
                  <a:pt x="67474" y="105569"/>
                </a:cubicBezTo>
                <a:close/>
                <a:moveTo>
                  <a:pt x="100013" y="138906"/>
                </a:moveTo>
                <a:cubicBezTo>
                  <a:pt x="100013" y="111307"/>
                  <a:pt x="122420" y="88900"/>
                  <a:pt x="150019" y="88900"/>
                </a:cubicBezTo>
                <a:cubicBezTo>
                  <a:pt x="177618" y="88900"/>
                  <a:pt x="200025" y="111307"/>
                  <a:pt x="200025" y="138906"/>
                </a:cubicBezTo>
                <a:cubicBezTo>
                  <a:pt x="200025" y="166505"/>
                  <a:pt x="177618" y="188913"/>
                  <a:pt x="150019" y="188913"/>
                </a:cubicBezTo>
                <a:cubicBezTo>
                  <a:pt x="122420" y="188913"/>
                  <a:pt x="100013" y="166505"/>
                  <a:pt x="100013" y="138906"/>
                </a:cubicBezTo>
                <a:close/>
                <a:moveTo>
                  <a:pt x="150019" y="111125"/>
                </a:moveTo>
                <a:cubicBezTo>
                  <a:pt x="146963" y="111125"/>
                  <a:pt x="144463" y="113625"/>
                  <a:pt x="144463" y="116681"/>
                </a:cubicBezTo>
                <a:lnTo>
                  <a:pt x="144463" y="138906"/>
                </a:lnTo>
                <a:cubicBezTo>
                  <a:pt x="144463" y="141962"/>
                  <a:pt x="146963" y="144463"/>
                  <a:pt x="150019" y="144463"/>
                </a:cubicBezTo>
                <a:lnTo>
                  <a:pt x="166688" y="144463"/>
                </a:lnTo>
                <a:cubicBezTo>
                  <a:pt x="169743" y="144463"/>
                  <a:pt x="172244" y="141962"/>
                  <a:pt x="172244" y="138906"/>
                </a:cubicBezTo>
                <a:cubicBezTo>
                  <a:pt x="172244" y="135850"/>
                  <a:pt x="169743" y="133350"/>
                  <a:pt x="166688" y="133350"/>
                </a:cubicBezTo>
                <a:lnTo>
                  <a:pt x="155575" y="133350"/>
                </a:lnTo>
                <a:lnTo>
                  <a:pt x="155575" y="116681"/>
                </a:lnTo>
                <a:cubicBezTo>
                  <a:pt x="155575" y="113625"/>
                  <a:pt x="153075" y="111125"/>
                  <a:pt x="150019" y="111125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858000" y="4775041"/>
            <a:ext cx="231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Jubilación Anticipada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34A5E7F-7180-D4B5-94F7-E2722C218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100" y="377312"/>
            <a:ext cx="6424605" cy="610337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6830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-blog.csdnimg.cn/6a6693a363ce2c916e357a3099ba9018239f794f.png"/>
          <p:cNvPicPr>
            <a:picLocks noChangeAspect="1"/>
          </p:cNvPicPr>
          <p:nvPr/>
        </p:nvPicPr>
        <p:blipFill>
          <a:blip r:embed="rId3"/>
          <a:srcRect l="14599" r="14599"/>
          <a:stretch/>
        </p:blipFill>
        <p:spPr>
          <a:xfrm>
            <a:off x="254000" y="254000"/>
            <a:ext cx="5537200" cy="6350000"/>
          </a:xfrm>
          <a:prstGeom prst="roundRect">
            <a:avLst>
              <a:gd name="adj" fmla="val 1835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096000" y="17780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Justificación Social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096000" y="2438400"/>
            <a:ext cx="584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prestaciones actúan como una </a:t>
            </a: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red de seguridad 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previniendo la exclusión y la pobreza.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153467" y="3342641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96470" y="2986"/>
                </a:moveTo>
                <a:cubicBezTo>
                  <a:pt x="92199" y="-972"/>
                  <a:pt x="85601" y="-972"/>
                  <a:pt x="81364" y="2986"/>
                </a:cubicBezTo>
                <a:lnTo>
                  <a:pt x="3577" y="75218"/>
                </a:lnTo>
                <a:cubicBezTo>
                  <a:pt x="243" y="78343"/>
                  <a:pt x="-868" y="83170"/>
                  <a:pt x="799" y="87407"/>
                </a:cubicBezTo>
                <a:cubicBezTo>
                  <a:pt x="2466" y="91643"/>
                  <a:pt x="6529" y="94456"/>
                  <a:pt x="11112" y="94456"/>
                </a:cubicBezTo>
                <a:lnTo>
                  <a:pt x="16669" y="94456"/>
                </a:lnTo>
                <a:lnTo>
                  <a:pt x="16669" y="155575"/>
                </a:lnTo>
                <a:cubicBezTo>
                  <a:pt x="16669" y="167833"/>
                  <a:pt x="26635" y="177800"/>
                  <a:pt x="38894" y="177800"/>
                </a:cubicBezTo>
                <a:lnTo>
                  <a:pt x="138906" y="177800"/>
                </a:lnTo>
                <a:cubicBezTo>
                  <a:pt x="151165" y="177800"/>
                  <a:pt x="161131" y="167833"/>
                  <a:pt x="161131" y="155575"/>
                </a:cubicBezTo>
                <a:lnTo>
                  <a:pt x="161131" y="94456"/>
                </a:lnTo>
                <a:lnTo>
                  <a:pt x="166688" y="94456"/>
                </a:lnTo>
                <a:cubicBezTo>
                  <a:pt x="171271" y="94456"/>
                  <a:pt x="175369" y="91643"/>
                  <a:pt x="177036" y="87407"/>
                </a:cubicBezTo>
                <a:cubicBezTo>
                  <a:pt x="178703" y="83170"/>
                  <a:pt x="177592" y="78308"/>
                  <a:pt x="174258" y="75218"/>
                </a:cubicBezTo>
                <a:lnTo>
                  <a:pt x="96470" y="2986"/>
                </a:lnTo>
                <a:close/>
                <a:moveTo>
                  <a:pt x="83344" y="111125"/>
                </a:moveTo>
                <a:lnTo>
                  <a:pt x="94456" y="111125"/>
                </a:lnTo>
                <a:cubicBezTo>
                  <a:pt x="103659" y="111125"/>
                  <a:pt x="111125" y="118591"/>
                  <a:pt x="111125" y="127794"/>
                </a:cubicBezTo>
                <a:lnTo>
                  <a:pt x="111125" y="161131"/>
                </a:lnTo>
                <a:lnTo>
                  <a:pt x="66675" y="161131"/>
                </a:lnTo>
                <a:lnTo>
                  <a:pt x="66675" y="127794"/>
                </a:lnTo>
                <a:cubicBezTo>
                  <a:pt x="66675" y="118591"/>
                  <a:pt x="74141" y="111125"/>
                  <a:pt x="83344" y="111125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6382385" y="3251200"/>
            <a:ext cx="5549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Protección Familiar: Salvaguarda la salud, cohesión y oportunidades educativas de los hijos.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05842" y="4003041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33350" y="11112"/>
                </a:moveTo>
                <a:lnTo>
                  <a:pt x="177800" y="11112"/>
                </a:lnTo>
                <a:cubicBezTo>
                  <a:pt x="183947" y="11112"/>
                  <a:pt x="188913" y="16078"/>
                  <a:pt x="188913" y="22225"/>
                </a:cubicBezTo>
                <a:cubicBezTo>
                  <a:pt x="188913" y="28372"/>
                  <a:pt x="183947" y="33337"/>
                  <a:pt x="177800" y="33337"/>
                </a:cubicBezTo>
                <a:lnTo>
                  <a:pt x="138351" y="33337"/>
                </a:lnTo>
                <a:cubicBezTo>
                  <a:pt x="136545" y="42297"/>
                  <a:pt x="130398" y="49694"/>
                  <a:pt x="122238" y="53236"/>
                </a:cubicBezTo>
                <a:lnTo>
                  <a:pt x="122238" y="155575"/>
                </a:lnTo>
                <a:lnTo>
                  <a:pt x="177800" y="155575"/>
                </a:lnTo>
                <a:cubicBezTo>
                  <a:pt x="183947" y="155575"/>
                  <a:pt x="188913" y="160541"/>
                  <a:pt x="188913" y="166688"/>
                </a:cubicBezTo>
                <a:cubicBezTo>
                  <a:pt x="188913" y="172834"/>
                  <a:pt x="183947" y="177800"/>
                  <a:pt x="177800" y="177800"/>
                </a:cubicBezTo>
                <a:lnTo>
                  <a:pt x="44450" y="177800"/>
                </a:lnTo>
                <a:cubicBezTo>
                  <a:pt x="38303" y="177800"/>
                  <a:pt x="33337" y="172834"/>
                  <a:pt x="33337" y="166688"/>
                </a:cubicBezTo>
                <a:cubicBezTo>
                  <a:pt x="33337" y="160541"/>
                  <a:pt x="38303" y="155575"/>
                  <a:pt x="44450" y="155575"/>
                </a:cubicBezTo>
                <a:lnTo>
                  <a:pt x="100013" y="155575"/>
                </a:lnTo>
                <a:lnTo>
                  <a:pt x="100013" y="53236"/>
                </a:lnTo>
                <a:cubicBezTo>
                  <a:pt x="91852" y="49659"/>
                  <a:pt x="85705" y="42262"/>
                  <a:pt x="83899" y="33338"/>
                </a:cubicBezTo>
                <a:lnTo>
                  <a:pt x="44450" y="33337"/>
                </a:lnTo>
                <a:cubicBezTo>
                  <a:pt x="38303" y="33337"/>
                  <a:pt x="33337" y="28372"/>
                  <a:pt x="33337" y="22225"/>
                </a:cubicBezTo>
                <a:cubicBezTo>
                  <a:pt x="33337" y="16078"/>
                  <a:pt x="38303" y="11112"/>
                  <a:pt x="44450" y="11112"/>
                </a:cubicBezTo>
                <a:lnTo>
                  <a:pt x="88900" y="11112"/>
                </a:lnTo>
                <a:cubicBezTo>
                  <a:pt x="93970" y="4376"/>
                  <a:pt x="102027" y="0"/>
                  <a:pt x="111125" y="0"/>
                </a:cubicBezTo>
                <a:cubicBezTo>
                  <a:pt x="120223" y="0"/>
                  <a:pt x="128280" y="4376"/>
                  <a:pt x="133350" y="11112"/>
                </a:cubicBezTo>
                <a:close/>
                <a:moveTo>
                  <a:pt x="152658" y="111125"/>
                </a:moveTo>
                <a:lnTo>
                  <a:pt x="202942" y="111125"/>
                </a:lnTo>
                <a:lnTo>
                  <a:pt x="177800" y="67995"/>
                </a:lnTo>
                <a:lnTo>
                  <a:pt x="152658" y="111125"/>
                </a:lnTo>
                <a:close/>
                <a:moveTo>
                  <a:pt x="177800" y="144463"/>
                </a:moveTo>
                <a:cubicBezTo>
                  <a:pt x="155957" y="144463"/>
                  <a:pt x="137795" y="132655"/>
                  <a:pt x="134045" y="117063"/>
                </a:cubicBezTo>
                <a:cubicBezTo>
                  <a:pt x="133142" y="113243"/>
                  <a:pt x="134392" y="109319"/>
                  <a:pt x="136371" y="105916"/>
                </a:cubicBezTo>
                <a:lnTo>
                  <a:pt x="169431" y="49242"/>
                </a:lnTo>
                <a:cubicBezTo>
                  <a:pt x="171167" y="46256"/>
                  <a:pt x="174362" y="44450"/>
                  <a:pt x="177800" y="44450"/>
                </a:cubicBezTo>
                <a:cubicBezTo>
                  <a:pt x="181238" y="44450"/>
                  <a:pt x="184433" y="46291"/>
                  <a:pt x="186169" y="49242"/>
                </a:cubicBezTo>
                <a:lnTo>
                  <a:pt x="219229" y="105916"/>
                </a:lnTo>
                <a:cubicBezTo>
                  <a:pt x="221208" y="109319"/>
                  <a:pt x="222458" y="113243"/>
                  <a:pt x="221555" y="117063"/>
                </a:cubicBezTo>
                <a:cubicBezTo>
                  <a:pt x="217805" y="132621"/>
                  <a:pt x="199643" y="144463"/>
                  <a:pt x="177800" y="144463"/>
                </a:cubicBezTo>
                <a:close/>
                <a:moveTo>
                  <a:pt x="44033" y="67995"/>
                </a:moveTo>
                <a:lnTo>
                  <a:pt x="18891" y="111125"/>
                </a:lnTo>
                <a:lnTo>
                  <a:pt x="69210" y="111125"/>
                </a:lnTo>
                <a:lnTo>
                  <a:pt x="44033" y="67995"/>
                </a:lnTo>
                <a:close/>
                <a:moveTo>
                  <a:pt x="313" y="117063"/>
                </a:moveTo>
                <a:cubicBezTo>
                  <a:pt x="-590" y="113243"/>
                  <a:pt x="660" y="109319"/>
                  <a:pt x="2639" y="105916"/>
                </a:cubicBezTo>
                <a:lnTo>
                  <a:pt x="35699" y="49242"/>
                </a:lnTo>
                <a:cubicBezTo>
                  <a:pt x="37435" y="46256"/>
                  <a:pt x="40630" y="44450"/>
                  <a:pt x="44068" y="44450"/>
                </a:cubicBezTo>
                <a:cubicBezTo>
                  <a:pt x="47506" y="44450"/>
                  <a:pt x="50701" y="46291"/>
                  <a:pt x="52437" y="49242"/>
                </a:cubicBezTo>
                <a:lnTo>
                  <a:pt x="85497" y="105916"/>
                </a:lnTo>
                <a:cubicBezTo>
                  <a:pt x="87476" y="109319"/>
                  <a:pt x="88726" y="113243"/>
                  <a:pt x="87823" y="117063"/>
                </a:cubicBezTo>
                <a:cubicBezTo>
                  <a:pt x="84073" y="132621"/>
                  <a:pt x="65911" y="144463"/>
                  <a:pt x="44068" y="144463"/>
                </a:cubicBezTo>
                <a:cubicBezTo>
                  <a:pt x="22225" y="144463"/>
                  <a:pt x="4063" y="132655"/>
                  <a:pt x="313" y="117063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6331744" y="3911600"/>
            <a:ext cx="5600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Redistribución de Renta: Transfiere recursos de períodos de ocupación a desempleo, reduciendo la desigualdad.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45689" y="4663441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11125" y="5556"/>
                </a:moveTo>
                <a:cubicBezTo>
                  <a:pt x="131058" y="5556"/>
                  <a:pt x="147241" y="21739"/>
                  <a:pt x="147241" y="41672"/>
                </a:cubicBezTo>
                <a:cubicBezTo>
                  <a:pt x="147241" y="61605"/>
                  <a:pt x="131058" y="77788"/>
                  <a:pt x="111125" y="77788"/>
                </a:cubicBezTo>
                <a:cubicBezTo>
                  <a:pt x="91192" y="77788"/>
                  <a:pt x="75009" y="61605"/>
                  <a:pt x="75009" y="41672"/>
                </a:cubicBezTo>
                <a:cubicBezTo>
                  <a:pt x="75009" y="21739"/>
                  <a:pt x="91192" y="5556"/>
                  <a:pt x="111125" y="5556"/>
                </a:cubicBezTo>
                <a:close/>
                <a:moveTo>
                  <a:pt x="33337" y="30559"/>
                </a:moveTo>
                <a:cubicBezTo>
                  <a:pt x="47137" y="30559"/>
                  <a:pt x="58341" y="41763"/>
                  <a:pt x="58341" y="55563"/>
                </a:cubicBezTo>
                <a:cubicBezTo>
                  <a:pt x="58341" y="69362"/>
                  <a:pt x="47137" y="80566"/>
                  <a:pt x="33337" y="80566"/>
                </a:cubicBezTo>
                <a:cubicBezTo>
                  <a:pt x="19538" y="80566"/>
                  <a:pt x="8334" y="69362"/>
                  <a:pt x="8334" y="55563"/>
                </a:cubicBezTo>
                <a:cubicBezTo>
                  <a:pt x="8334" y="41763"/>
                  <a:pt x="19538" y="30559"/>
                  <a:pt x="33337" y="30559"/>
                </a:cubicBezTo>
                <a:close/>
                <a:moveTo>
                  <a:pt x="0" y="144463"/>
                </a:moveTo>
                <a:cubicBezTo>
                  <a:pt x="0" y="119911"/>
                  <a:pt x="19898" y="100013"/>
                  <a:pt x="44450" y="100013"/>
                </a:cubicBezTo>
                <a:cubicBezTo>
                  <a:pt x="48895" y="100013"/>
                  <a:pt x="53201" y="100672"/>
                  <a:pt x="57264" y="101888"/>
                </a:cubicBezTo>
                <a:cubicBezTo>
                  <a:pt x="45839" y="114667"/>
                  <a:pt x="38894" y="131544"/>
                  <a:pt x="38894" y="150019"/>
                </a:cubicBezTo>
                <a:lnTo>
                  <a:pt x="38894" y="155575"/>
                </a:lnTo>
                <a:cubicBezTo>
                  <a:pt x="38894" y="159534"/>
                  <a:pt x="39727" y="163284"/>
                  <a:pt x="41220" y="166688"/>
                </a:cubicBezTo>
                <a:lnTo>
                  <a:pt x="11112" y="166688"/>
                </a:lnTo>
                <a:cubicBezTo>
                  <a:pt x="4966" y="166688"/>
                  <a:pt x="0" y="161722"/>
                  <a:pt x="0" y="155575"/>
                </a:cubicBezTo>
                <a:lnTo>
                  <a:pt x="0" y="144463"/>
                </a:lnTo>
                <a:close/>
                <a:moveTo>
                  <a:pt x="181030" y="166688"/>
                </a:moveTo>
                <a:cubicBezTo>
                  <a:pt x="182523" y="163284"/>
                  <a:pt x="183356" y="159534"/>
                  <a:pt x="183356" y="155575"/>
                </a:cubicBezTo>
                <a:lnTo>
                  <a:pt x="183356" y="150019"/>
                </a:lnTo>
                <a:cubicBezTo>
                  <a:pt x="183356" y="131544"/>
                  <a:pt x="176411" y="114667"/>
                  <a:pt x="164986" y="101888"/>
                </a:cubicBezTo>
                <a:cubicBezTo>
                  <a:pt x="169049" y="100672"/>
                  <a:pt x="173355" y="100013"/>
                  <a:pt x="177800" y="100013"/>
                </a:cubicBezTo>
                <a:cubicBezTo>
                  <a:pt x="202352" y="100013"/>
                  <a:pt x="222250" y="119911"/>
                  <a:pt x="222250" y="144463"/>
                </a:cubicBezTo>
                <a:lnTo>
                  <a:pt x="222250" y="155575"/>
                </a:lnTo>
                <a:cubicBezTo>
                  <a:pt x="222250" y="161722"/>
                  <a:pt x="217284" y="166688"/>
                  <a:pt x="211138" y="166688"/>
                </a:cubicBezTo>
                <a:lnTo>
                  <a:pt x="181030" y="166688"/>
                </a:lnTo>
                <a:close/>
                <a:moveTo>
                  <a:pt x="163909" y="55563"/>
                </a:moveTo>
                <a:cubicBezTo>
                  <a:pt x="163909" y="41763"/>
                  <a:pt x="175113" y="30559"/>
                  <a:pt x="188913" y="30559"/>
                </a:cubicBezTo>
                <a:cubicBezTo>
                  <a:pt x="202712" y="30559"/>
                  <a:pt x="213916" y="41763"/>
                  <a:pt x="213916" y="55562"/>
                </a:cubicBezTo>
                <a:cubicBezTo>
                  <a:pt x="213916" y="69362"/>
                  <a:pt x="202712" y="80566"/>
                  <a:pt x="188913" y="80566"/>
                </a:cubicBezTo>
                <a:cubicBezTo>
                  <a:pt x="175113" y="80566"/>
                  <a:pt x="163909" y="69362"/>
                  <a:pt x="163909" y="55563"/>
                </a:cubicBezTo>
                <a:close/>
                <a:moveTo>
                  <a:pt x="55563" y="150019"/>
                </a:moveTo>
                <a:cubicBezTo>
                  <a:pt x="55563" y="119320"/>
                  <a:pt x="80427" y="94456"/>
                  <a:pt x="111125" y="94456"/>
                </a:cubicBezTo>
                <a:cubicBezTo>
                  <a:pt x="141823" y="94456"/>
                  <a:pt x="166688" y="119320"/>
                  <a:pt x="166688" y="150019"/>
                </a:cubicBezTo>
                <a:lnTo>
                  <a:pt x="166688" y="155575"/>
                </a:lnTo>
                <a:cubicBezTo>
                  <a:pt x="166688" y="161722"/>
                  <a:pt x="161722" y="166688"/>
                  <a:pt x="155575" y="166688"/>
                </a:cubicBezTo>
                <a:lnTo>
                  <a:pt x="66675" y="166688"/>
                </a:lnTo>
                <a:cubicBezTo>
                  <a:pt x="60528" y="166688"/>
                  <a:pt x="55563" y="161722"/>
                  <a:pt x="55563" y="155575"/>
                </a:cubicBezTo>
                <a:lnTo>
                  <a:pt x="55563" y="150019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411278" y="4572000"/>
            <a:ext cx="552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Cohesión Social: Mantiene la estabilidad y el bienestar del conjunto de la sociedad.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002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Justificación Económica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1590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Funciones clave para la estabilidad y eficiencia del sistema económico.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93227" y="2921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013902" y="323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47625"/>
                </a:moveTo>
                <a:cubicBezTo>
                  <a:pt x="47625" y="34454"/>
                  <a:pt x="36984" y="23812"/>
                  <a:pt x="23812" y="23812"/>
                </a:cubicBezTo>
                <a:cubicBezTo>
                  <a:pt x="10641" y="23812"/>
                  <a:pt x="0" y="34454"/>
                  <a:pt x="0" y="47625"/>
                </a:cubicBezTo>
                <a:lnTo>
                  <a:pt x="0" y="297656"/>
                </a:lnTo>
                <a:cubicBezTo>
                  <a:pt x="0" y="330547"/>
                  <a:pt x="26640" y="357188"/>
                  <a:pt x="59531" y="357188"/>
                </a:cubicBezTo>
                <a:lnTo>
                  <a:pt x="357188" y="357188"/>
                </a:lnTo>
                <a:cubicBezTo>
                  <a:pt x="370359" y="357188"/>
                  <a:pt x="381000" y="346546"/>
                  <a:pt x="381000" y="333375"/>
                </a:cubicBezTo>
                <a:cubicBezTo>
                  <a:pt x="381000" y="320204"/>
                  <a:pt x="370359" y="309563"/>
                  <a:pt x="357188" y="309563"/>
                </a:cubicBezTo>
                <a:lnTo>
                  <a:pt x="59531" y="309563"/>
                </a:lnTo>
                <a:cubicBezTo>
                  <a:pt x="52983" y="309563"/>
                  <a:pt x="47625" y="304205"/>
                  <a:pt x="47625" y="297656"/>
                </a:cubicBezTo>
                <a:lnTo>
                  <a:pt x="47625" y="47625"/>
                </a:lnTo>
                <a:close/>
                <a:moveTo>
                  <a:pt x="350193" y="112068"/>
                </a:moveTo>
                <a:cubicBezTo>
                  <a:pt x="359494" y="102766"/>
                  <a:pt x="359494" y="87660"/>
                  <a:pt x="350193" y="78358"/>
                </a:cubicBezTo>
                <a:cubicBezTo>
                  <a:pt x="340891" y="69056"/>
                  <a:pt x="325785" y="69056"/>
                  <a:pt x="316483" y="78358"/>
                </a:cubicBezTo>
                <a:lnTo>
                  <a:pt x="238125" y="156790"/>
                </a:lnTo>
                <a:lnTo>
                  <a:pt x="195411" y="114151"/>
                </a:lnTo>
                <a:cubicBezTo>
                  <a:pt x="186110" y="104849"/>
                  <a:pt x="171004" y="104849"/>
                  <a:pt x="161702" y="114151"/>
                </a:cubicBezTo>
                <a:lnTo>
                  <a:pt x="90264" y="185589"/>
                </a:lnTo>
                <a:cubicBezTo>
                  <a:pt x="80963" y="194890"/>
                  <a:pt x="80963" y="209996"/>
                  <a:pt x="90264" y="219298"/>
                </a:cubicBezTo>
                <a:cubicBezTo>
                  <a:pt x="99566" y="228600"/>
                  <a:pt x="114672" y="228600"/>
                  <a:pt x="123974" y="219298"/>
                </a:cubicBezTo>
                <a:lnTo>
                  <a:pt x="178594" y="164678"/>
                </a:lnTo>
                <a:lnTo>
                  <a:pt x="221307" y="207392"/>
                </a:lnTo>
                <a:cubicBezTo>
                  <a:pt x="230609" y="216694"/>
                  <a:pt x="245715" y="216694"/>
                  <a:pt x="255017" y="207392"/>
                </a:cubicBezTo>
                <a:lnTo>
                  <a:pt x="350267" y="112142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67765" y="4089400"/>
            <a:ext cx="207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Estabilización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5600" y="4495800"/>
            <a:ext cx="3695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Mantienen la demanda agregada y el consumo, actuando como estabilizadores automáticos en crisis.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87841" y="2921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956141" y="3238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0" y="47625"/>
                </a:moveTo>
                <a:cubicBezTo>
                  <a:pt x="0" y="21357"/>
                  <a:pt x="21357" y="0"/>
                  <a:pt x="47625" y="0"/>
                </a:cubicBezTo>
                <a:lnTo>
                  <a:pt x="158874" y="0"/>
                </a:lnTo>
                <a:cubicBezTo>
                  <a:pt x="171524" y="0"/>
                  <a:pt x="183654" y="4986"/>
                  <a:pt x="192584" y="13915"/>
                </a:cubicBezTo>
                <a:lnTo>
                  <a:pt x="271835" y="93241"/>
                </a:lnTo>
                <a:cubicBezTo>
                  <a:pt x="280764" y="102171"/>
                  <a:pt x="285750" y="114300"/>
                  <a:pt x="285750" y="126950"/>
                </a:cubicBezTo>
                <a:lnTo>
                  <a:pt x="285750" y="333375"/>
                </a:lnTo>
                <a:cubicBezTo>
                  <a:pt x="285750" y="359643"/>
                  <a:pt x="264393" y="381000"/>
                  <a:pt x="238125" y="381000"/>
                </a:cubicBezTo>
                <a:lnTo>
                  <a:pt x="47625" y="381000"/>
                </a:lnTo>
                <a:cubicBezTo>
                  <a:pt x="21357" y="381000"/>
                  <a:pt x="0" y="359643"/>
                  <a:pt x="0" y="333375"/>
                </a:cubicBezTo>
                <a:lnTo>
                  <a:pt x="0" y="47625"/>
                </a:lnTo>
                <a:close/>
                <a:moveTo>
                  <a:pt x="154781" y="43532"/>
                </a:moveTo>
                <a:lnTo>
                  <a:pt x="154781" y="113109"/>
                </a:lnTo>
                <a:cubicBezTo>
                  <a:pt x="154781" y="123006"/>
                  <a:pt x="162744" y="130969"/>
                  <a:pt x="172641" y="130969"/>
                </a:cubicBezTo>
                <a:lnTo>
                  <a:pt x="242218" y="130969"/>
                </a:lnTo>
                <a:lnTo>
                  <a:pt x="154781" y="43532"/>
                </a:lnTo>
                <a:close/>
                <a:moveTo>
                  <a:pt x="47625" y="65484"/>
                </a:moveTo>
                <a:cubicBezTo>
                  <a:pt x="47625" y="75381"/>
                  <a:pt x="55587" y="83344"/>
                  <a:pt x="65484" y="83344"/>
                </a:cubicBezTo>
                <a:lnTo>
                  <a:pt x="101203" y="83344"/>
                </a:lnTo>
                <a:cubicBezTo>
                  <a:pt x="111100" y="83344"/>
                  <a:pt x="119063" y="75381"/>
                  <a:pt x="119063" y="65484"/>
                </a:cubicBezTo>
                <a:cubicBezTo>
                  <a:pt x="119063" y="55587"/>
                  <a:pt x="111100" y="47625"/>
                  <a:pt x="101203" y="47625"/>
                </a:cubicBezTo>
                <a:lnTo>
                  <a:pt x="65484" y="47625"/>
                </a:lnTo>
                <a:cubicBezTo>
                  <a:pt x="55587" y="47625"/>
                  <a:pt x="47625" y="55587"/>
                  <a:pt x="47625" y="65484"/>
                </a:cubicBezTo>
                <a:close/>
                <a:moveTo>
                  <a:pt x="47625" y="136922"/>
                </a:moveTo>
                <a:cubicBezTo>
                  <a:pt x="47625" y="146819"/>
                  <a:pt x="55587" y="154781"/>
                  <a:pt x="65484" y="154781"/>
                </a:cubicBezTo>
                <a:lnTo>
                  <a:pt x="101203" y="154781"/>
                </a:lnTo>
                <a:cubicBezTo>
                  <a:pt x="111100" y="154781"/>
                  <a:pt x="119063" y="146819"/>
                  <a:pt x="119063" y="136922"/>
                </a:cubicBezTo>
                <a:cubicBezTo>
                  <a:pt x="119063" y="127025"/>
                  <a:pt x="111100" y="119063"/>
                  <a:pt x="101203" y="119063"/>
                </a:cubicBezTo>
                <a:lnTo>
                  <a:pt x="65484" y="119063"/>
                </a:lnTo>
                <a:cubicBezTo>
                  <a:pt x="55587" y="119063"/>
                  <a:pt x="47625" y="127025"/>
                  <a:pt x="47625" y="136922"/>
                </a:cubicBezTo>
                <a:close/>
                <a:moveTo>
                  <a:pt x="130969" y="193477"/>
                </a:moveTo>
                <a:lnTo>
                  <a:pt x="130969" y="196453"/>
                </a:lnTo>
                <a:cubicBezTo>
                  <a:pt x="109537" y="196676"/>
                  <a:pt x="92273" y="214089"/>
                  <a:pt x="92273" y="235521"/>
                </a:cubicBezTo>
                <a:cubicBezTo>
                  <a:pt x="92273" y="254645"/>
                  <a:pt x="106040" y="270942"/>
                  <a:pt x="124941" y="274067"/>
                </a:cubicBezTo>
                <a:lnTo>
                  <a:pt x="155972" y="279276"/>
                </a:lnTo>
                <a:cubicBezTo>
                  <a:pt x="160437" y="280020"/>
                  <a:pt x="163711" y="283890"/>
                  <a:pt x="163711" y="288429"/>
                </a:cubicBezTo>
                <a:cubicBezTo>
                  <a:pt x="163711" y="293563"/>
                  <a:pt x="159544" y="297731"/>
                  <a:pt x="154409" y="297731"/>
                </a:cubicBezTo>
                <a:lnTo>
                  <a:pt x="113109" y="297656"/>
                </a:lnTo>
                <a:cubicBezTo>
                  <a:pt x="104924" y="297656"/>
                  <a:pt x="98227" y="304354"/>
                  <a:pt x="98227" y="312539"/>
                </a:cubicBezTo>
                <a:cubicBezTo>
                  <a:pt x="98227" y="320725"/>
                  <a:pt x="104924" y="327422"/>
                  <a:pt x="113109" y="327422"/>
                </a:cubicBezTo>
                <a:lnTo>
                  <a:pt x="130969" y="327422"/>
                </a:lnTo>
                <a:lnTo>
                  <a:pt x="130969" y="330398"/>
                </a:lnTo>
                <a:cubicBezTo>
                  <a:pt x="130969" y="338584"/>
                  <a:pt x="137666" y="345281"/>
                  <a:pt x="145852" y="345281"/>
                </a:cubicBezTo>
                <a:cubicBezTo>
                  <a:pt x="154037" y="345281"/>
                  <a:pt x="160734" y="338584"/>
                  <a:pt x="160734" y="330398"/>
                </a:cubicBezTo>
                <a:lnTo>
                  <a:pt x="160734" y="326901"/>
                </a:lnTo>
                <a:cubicBezTo>
                  <a:pt x="179338" y="323850"/>
                  <a:pt x="193477" y="307777"/>
                  <a:pt x="193477" y="288354"/>
                </a:cubicBezTo>
                <a:cubicBezTo>
                  <a:pt x="193477" y="269230"/>
                  <a:pt x="179710" y="252933"/>
                  <a:pt x="160809" y="249808"/>
                </a:cubicBezTo>
                <a:lnTo>
                  <a:pt x="129778" y="244599"/>
                </a:lnTo>
                <a:cubicBezTo>
                  <a:pt x="125313" y="243855"/>
                  <a:pt x="122039" y="239985"/>
                  <a:pt x="122039" y="235446"/>
                </a:cubicBezTo>
                <a:cubicBezTo>
                  <a:pt x="122039" y="230312"/>
                  <a:pt x="126206" y="226144"/>
                  <a:pt x="131341" y="226144"/>
                </a:cubicBezTo>
                <a:lnTo>
                  <a:pt x="166687" y="226144"/>
                </a:lnTo>
                <a:cubicBezTo>
                  <a:pt x="174873" y="226144"/>
                  <a:pt x="181570" y="219447"/>
                  <a:pt x="181570" y="211262"/>
                </a:cubicBezTo>
                <a:cubicBezTo>
                  <a:pt x="181570" y="203076"/>
                  <a:pt x="174873" y="196379"/>
                  <a:pt x="166687" y="196379"/>
                </a:cubicBezTo>
                <a:lnTo>
                  <a:pt x="160734" y="196379"/>
                </a:lnTo>
                <a:lnTo>
                  <a:pt x="160734" y="193402"/>
                </a:lnTo>
                <a:cubicBezTo>
                  <a:pt x="160734" y="185217"/>
                  <a:pt x="154037" y="178519"/>
                  <a:pt x="145852" y="178519"/>
                </a:cubicBezTo>
                <a:cubicBezTo>
                  <a:pt x="137666" y="178519"/>
                  <a:pt x="130969" y="185217"/>
                  <a:pt x="130969" y="193402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277167" y="4089400"/>
            <a:ext cx="163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Fiscalidad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50214" y="4495800"/>
            <a:ext cx="3695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Reducen la economía sumergida, preservando la base impositiva y la Seguridad Social.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482455" y="2921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9803130" y="323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66688" y="0"/>
                </a:moveTo>
                <a:cubicBezTo>
                  <a:pt x="192956" y="0"/>
                  <a:pt x="214313" y="15999"/>
                  <a:pt x="214313" y="35719"/>
                </a:cubicBezTo>
                <a:cubicBezTo>
                  <a:pt x="214313" y="43458"/>
                  <a:pt x="211038" y="50602"/>
                  <a:pt x="205383" y="56480"/>
                </a:cubicBezTo>
                <a:cubicBezTo>
                  <a:pt x="200471" y="61615"/>
                  <a:pt x="196453" y="67866"/>
                  <a:pt x="196453" y="75009"/>
                </a:cubicBezTo>
                <a:cubicBezTo>
                  <a:pt x="196453" y="86171"/>
                  <a:pt x="205532" y="95250"/>
                  <a:pt x="216694" y="95250"/>
                </a:cubicBezTo>
                <a:lnTo>
                  <a:pt x="250031" y="95250"/>
                </a:lnTo>
                <a:cubicBezTo>
                  <a:pt x="269751" y="95250"/>
                  <a:pt x="285750" y="111249"/>
                  <a:pt x="285750" y="130969"/>
                </a:cubicBezTo>
                <a:lnTo>
                  <a:pt x="285750" y="164306"/>
                </a:lnTo>
                <a:cubicBezTo>
                  <a:pt x="285750" y="175468"/>
                  <a:pt x="294829" y="184547"/>
                  <a:pt x="305991" y="184547"/>
                </a:cubicBezTo>
                <a:cubicBezTo>
                  <a:pt x="313060" y="184547"/>
                  <a:pt x="319385" y="180529"/>
                  <a:pt x="324520" y="175617"/>
                </a:cubicBezTo>
                <a:cubicBezTo>
                  <a:pt x="330398" y="170036"/>
                  <a:pt x="337542" y="166688"/>
                  <a:pt x="345281" y="166688"/>
                </a:cubicBezTo>
                <a:cubicBezTo>
                  <a:pt x="365001" y="166688"/>
                  <a:pt x="381000" y="188044"/>
                  <a:pt x="381000" y="214313"/>
                </a:cubicBezTo>
                <a:cubicBezTo>
                  <a:pt x="381000" y="240581"/>
                  <a:pt x="365001" y="261938"/>
                  <a:pt x="345281" y="261938"/>
                </a:cubicBezTo>
                <a:cubicBezTo>
                  <a:pt x="337542" y="261938"/>
                  <a:pt x="330324" y="258663"/>
                  <a:pt x="324520" y="253008"/>
                </a:cubicBezTo>
                <a:cubicBezTo>
                  <a:pt x="319385" y="248096"/>
                  <a:pt x="313134" y="244078"/>
                  <a:pt x="305991" y="244078"/>
                </a:cubicBezTo>
                <a:cubicBezTo>
                  <a:pt x="294829" y="244078"/>
                  <a:pt x="285750" y="253157"/>
                  <a:pt x="285750" y="264319"/>
                </a:cubicBezTo>
                <a:lnTo>
                  <a:pt x="285750" y="345281"/>
                </a:lnTo>
                <a:cubicBezTo>
                  <a:pt x="285750" y="365001"/>
                  <a:pt x="269751" y="381000"/>
                  <a:pt x="250031" y="381000"/>
                </a:cubicBezTo>
                <a:lnTo>
                  <a:pt x="207764" y="381000"/>
                </a:lnTo>
                <a:cubicBezTo>
                  <a:pt x="198239" y="381000"/>
                  <a:pt x="190500" y="373261"/>
                  <a:pt x="190500" y="363736"/>
                </a:cubicBezTo>
                <a:cubicBezTo>
                  <a:pt x="190500" y="356890"/>
                  <a:pt x="194816" y="350862"/>
                  <a:pt x="200323" y="346770"/>
                </a:cubicBezTo>
                <a:cubicBezTo>
                  <a:pt x="208955" y="340296"/>
                  <a:pt x="214313" y="331366"/>
                  <a:pt x="214313" y="321469"/>
                </a:cubicBezTo>
                <a:cubicBezTo>
                  <a:pt x="214313" y="301749"/>
                  <a:pt x="192956" y="285750"/>
                  <a:pt x="166688" y="285750"/>
                </a:cubicBezTo>
                <a:cubicBezTo>
                  <a:pt x="140419" y="285750"/>
                  <a:pt x="119063" y="301749"/>
                  <a:pt x="119063" y="321469"/>
                </a:cubicBezTo>
                <a:cubicBezTo>
                  <a:pt x="119063" y="331366"/>
                  <a:pt x="124420" y="340296"/>
                  <a:pt x="133052" y="346770"/>
                </a:cubicBezTo>
                <a:cubicBezTo>
                  <a:pt x="138559" y="350862"/>
                  <a:pt x="142875" y="356815"/>
                  <a:pt x="142875" y="363736"/>
                </a:cubicBezTo>
                <a:cubicBezTo>
                  <a:pt x="142875" y="373261"/>
                  <a:pt x="135136" y="381000"/>
                  <a:pt x="125611" y="381000"/>
                </a:cubicBezTo>
                <a:lnTo>
                  <a:pt x="35719" y="381000"/>
                </a:lnTo>
                <a:cubicBezTo>
                  <a:pt x="15999" y="381000"/>
                  <a:pt x="0" y="365001"/>
                  <a:pt x="0" y="345281"/>
                </a:cubicBezTo>
                <a:lnTo>
                  <a:pt x="0" y="255389"/>
                </a:lnTo>
                <a:cubicBezTo>
                  <a:pt x="0" y="245864"/>
                  <a:pt x="7739" y="238125"/>
                  <a:pt x="17264" y="238125"/>
                </a:cubicBezTo>
                <a:cubicBezTo>
                  <a:pt x="24110" y="238125"/>
                  <a:pt x="30138" y="242441"/>
                  <a:pt x="34230" y="247948"/>
                </a:cubicBezTo>
                <a:cubicBezTo>
                  <a:pt x="40704" y="256580"/>
                  <a:pt x="49634" y="261938"/>
                  <a:pt x="59531" y="261938"/>
                </a:cubicBezTo>
                <a:cubicBezTo>
                  <a:pt x="79251" y="261938"/>
                  <a:pt x="95250" y="240581"/>
                  <a:pt x="95250" y="214313"/>
                </a:cubicBezTo>
                <a:cubicBezTo>
                  <a:pt x="95250" y="188044"/>
                  <a:pt x="79251" y="166688"/>
                  <a:pt x="59531" y="166688"/>
                </a:cubicBezTo>
                <a:cubicBezTo>
                  <a:pt x="49634" y="166688"/>
                  <a:pt x="40704" y="172045"/>
                  <a:pt x="34230" y="180677"/>
                </a:cubicBezTo>
                <a:cubicBezTo>
                  <a:pt x="30138" y="186184"/>
                  <a:pt x="24185" y="190500"/>
                  <a:pt x="17264" y="190500"/>
                </a:cubicBezTo>
                <a:cubicBezTo>
                  <a:pt x="7739" y="190500"/>
                  <a:pt x="0" y="182761"/>
                  <a:pt x="0" y="173236"/>
                </a:cubicBezTo>
                <a:lnTo>
                  <a:pt x="0" y="130969"/>
                </a:lnTo>
                <a:cubicBezTo>
                  <a:pt x="0" y="111249"/>
                  <a:pt x="15999" y="95250"/>
                  <a:pt x="35719" y="95250"/>
                </a:cubicBezTo>
                <a:lnTo>
                  <a:pt x="116681" y="95250"/>
                </a:lnTo>
                <a:cubicBezTo>
                  <a:pt x="127843" y="95250"/>
                  <a:pt x="136922" y="86171"/>
                  <a:pt x="136922" y="75009"/>
                </a:cubicBezTo>
                <a:cubicBezTo>
                  <a:pt x="136922" y="67940"/>
                  <a:pt x="132904" y="61615"/>
                  <a:pt x="127992" y="56480"/>
                </a:cubicBezTo>
                <a:cubicBezTo>
                  <a:pt x="122411" y="50602"/>
                  <a:pt x="119063" y="43458"/>
                  <a:pt x="119063" y="35719"/>
                </a:cubicBezTo>
                <a:cubicBezTo>
                  <a:pt x="119063" y="15999"/>
                  <a:pt x="140419" y="0"/>
                  <a:pt x="166688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198610" y="4089400"/>
            <a:ext cx="158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Eficiencia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44828" y="4495800"/>
            <a:ext cx="3695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Permiten un emparejamiento de calidad, maximizando la productividad del capital humano.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921000"/>
            <a:ext cx="518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Protección Generosa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3428842"/>
            <a:ext cx="467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Riesgo de desincentivar la búsqueda de empleo (riesgo moral).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0" y="2819400"/>
            <a:ext cx="1155700" cy="1155700"/>
          </a:xfrm>
          <a:custGeom>
            <a:avLst/>
            <a:gdLst/>
            <a:ahLst/>
            <a:cxnLst/>
            <a:rect l="l" t="t" r="r" b="b"/>
            <a:pathLst>
              <a:path w="1155700" h="1155700">
                <a:moveTo>
                  <a:pt x="577850" y="0"/>
                </a:moveTo>
                <a:lnTo>
                  <a:pt x="577850" y="0"/>
                </a:lnTo>
                <a:cubicBezTo>
                  <a:pt x="896774" y="0"/>
                  <a:pt x="1155700" y="258926"/>
                  <a:pt x="1155700" y="577850"/>
                </a:cubicBezTo>
                <a:lnTo>
                  <a:pt x="1155700" y="577850"/>
                </a:lnTo>
                <a:cubicBezTo>
                  <a:pt x="1155700" y="896774"/>
                  <a:pt x="896774" y="1155700"/>
                  <a:pt x="577850" y="1155700"/>
                </a:cubicBezTo>
                <a:lnTo>
                  <a:pt x="577850" y="1155700"/>
                </a:lnTo>
                <a:cubicBezTo>
                  <a:pt x="258926" y="1155700"/>
                  <a:pt x="0" y="896774"/>
                  <a:pt x="0" y="577850"/>
                </a:cubicBezTo>
                <a:lnTo>
                  <a:pt x="0" y="577850"/>
                </a:lnTo>
                <a:cubicBezTo>
                  <a:pt x="0" y="258926"/>
                  <a:pt x="258926" y="0"/>
                  <a:pt x="577850" y="0"/>
                </a:cubicBezTo>
                <a:close/>
              </a:path>
            </a:pathLst>
          </a:custGeom>
          <a:solidFill>
            <a:srgbClr val="FFFFFF"/>
          </a:solidFill>
          <a:ln w="3048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715000" y="31242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140732" y="74295"/>
                </a:moveTo>
                <a:cubicBezTo>
                  <a:pt x="120848" y="67628"/>
                  <a:pt x="110014" y="45958"/>
                  <a:pt x="116681" y="26075"/>
                </a:cubicBezTo>
                <a:cubicBezTo>
                  <a:pt x="123349" y="6191"/>
                  <a:pt x="144899" y="-4643"/>
                  <a:pt x="164902" y="1905"/>
                </a:cubicBezTo>
                <a:lnTo>
                  <a:pt x="299442" y="46792"/>
                </a:lnTo>
                <a:cubicBezTo>
                  <a:pt x="315992" y="18812"/>
                  <a:pt x="346591" y="0"/>
                  <a:pt x="381476" y="0"/>
                </a:cubicBezTo>
                <a:cubicBezTo>
                  <a:pt x="434102" y="0"/>
                  <a:pt x="476726" y="42624"/>
                  <a:pt x="476726" y="95250"/>
                </a:cubicBezTo>
                <a:cubicBezTo>
                  <a:pt x="476726" y="98822"/>
                  <a:pt x="476488" y="102275"/>
                  <a:pt x="476131" y="105728"/>
                </a:cubicBezTo>
                <a:lnTo>
                  <a:pt x="622102" y="154424"/>
                </a:lnTo>
                <a:cubicBezTo>
                  <a:pt x="642104" y="161092"/>
                  <a:pt x="652820" y="182642"/>
                  <a:pt x="646152" y="202644"/>
                </a:cubicBezTo>
                <a:cubicBezTo>
                  <a:pt x="639485" y="222647"/>
                  <a:pt x="617934" y="233363"/>
                  <a:pt x="597932" y="226695"/>
                </a:cubicBezTo>
                <a:lnTo>
                  <a:pt x="436602" y="172879"/>
                </a:lnTo>
                <a:cubicBezTo>
                  <a:pt x="431244" y="176689"/>
                  <a:pt x="425529" y="179903"/>
                  <a:pt x="419457" y="182642"/>
                </a:cubicBezTo>
                <a:lnTo>
                  <a:pt x="419457" y="571619"/>
                </a:lnTo>
                <a:cubicBezTo>
                  <a:pt x="419457" y="592693"/>
                  <a:pt x="402431" y="609719"/>
                  <a:pt x="381357" y="609719"/>
                </a:cubicBezTo>
                <a:lnTo>
                  <a:pt x="152757" y="609719"/>
                </a:lnTo>
                <a:cubicBezTo>
                  <a:pt x="131683" y="609719"/>
                  <a:pt x="114657" y="592693"/>
                  <a:pt x="114657" y="571619"/>
                </a:cubicBezTo>
                <a:cubicBezTo>
                  <a:pt x="114657" y="550545"/>
                  <a:pt x="131683" y="533519"/>
                  <a:pt x="152757" y="533519"/>
                </a:cubicBezTo>
                <a:lnTo>
                  <a:pt x="343257" y="533519"/>
                </a:lnTo>
                <a:lnTo>
                  <a:pt x="343257" y="182642"/>
                </a:lnTo>
                <a:cubicBezTo>
                  <a:pt x="318254" y="171688"/>
                  <a:pt x="298966" y="150495"/>
                  <a:pt x="290632" y="124301"/>
                </a:cubicBezTo>
                <a:lnTo>
                  <a:pt x="140732" y="74295"/>
                </a:lnTo>
                <a:close/>
                <a:moveTo>
                  <a:pt x="239078" y="342900"/>
                </a:moveTo>
                <a:lnTo>
                  <a:pt x="152757" y="195024"/>
                </a:lnTo>
                <a:lnTo>
                  <a:pt x="66556" y="342900"/>
                </a:lnTo>
                <a:lnTo>
                  <a:pt x="239078" y="342900"/>
                </a:lnTo>
                <a:close/>
                <a:moveTo>
                  <a:pt x="152876" y="457200"/>
                </a:moveTo>
                <a:cubicBezTo>
                  <a:pt x="77986" y="457200"/>
                  <a:pt x="15716" y="416719"/>
                  <a:pt x="2858" y="363260"/>
                </a:cubicBezTo>
                <a:cubicBezTo>
                  <a:pt x="-238" y="350163"/>
                  <a:pt x="4048" y="336709"/>
                  <a:pt x="10835" y="325041"/>
                </a:cubicBezTo>
                <a:lnTo>
                  <a:pt x="124182" y="130731"/>
                </a:lnTo>
                <a:cubicBezTo>
                  <a:pt x="130135" y="120491"/>
                  <a:pt x="141089" y="114300"/>
                  <a:pt x="152876" y="114300"/>
                </a:cubicBezTo>
                <a:cubicBezTo>
                  <a:pt x="164663" y="114300"/>
                  <a:pt x="175617" y="120610"/>
                  <a:pt x="181570" y="130731"/>
                </a:cubicBezTo>
                <a:lnTo>
                  <a:pt x="294918" y="325041"/>
                </a:lnTo>
                <a:cubicBezTo>
                  <a:pt x="301704" y="336709"/>
                  <a:pt x="305991" y="350163"/>
                  <a:pt x="302895" y="363260"/>
                </a:cubicBezTo>
                <a:cubicBezTo>
                  <a:pt x="290036" y="416600"/>
                  <a:pt x="227767" y="457200"/>
                  <a:pt x="152876" y="457200"/>
                </a:cubicBezTo>
                <a:close/>
                <a:moveTo>
                  <a:pt x="608648" y="347424"/>
                </a:moveTo>
                <a:lnTo>
                  <a:pt x="522446" y="495300"/>
                </a:lnTo>
                <a:lnTo>
                  <a:pt x="694968" y="495300"/>
                </a:lnTo>
                <a:lnTo>
                  <a:pt x="608767" y="347424"/>
                </a:lnTo>
                <a:close/>
                <a:moveTo>
                  <a:pt x="758666" y="515660"/>
                </a:moveTo>
                <a:cubicBezTo>
                  <a:pt x="745807" y="569119"/>
                  <a:pt x="683538" y="609600"/>
                  <a:pt x="608647" y="609600"/>
                </a:cubicBezTo>
                <a:cubicBezTo>
                  <a:pt x="533757" y="609600"/>
                  <a:pt x="471488" y="569119"/>
                  <a:pt x="458629" y="515660"/>
                </a:cubicBezTo>
                <a:cubicBezTo>
                  <a:pt x="455533" y="502563"/>
                  <a:pt x="459819" y="489109"/>
                  <a:pt x="466606" y="477441"/>
                </a:cubicBezTo>
                <a:lnTo>
                  <a:pt x="579953" y="283131"/>
                </a:lnTo>
                <a:cubicBezTo>
                  <a:pt x="585907" y="272891"/>
                  <a:pt x="596860" y="266700"/>
                  <a:pt x="608647" y="266700"/>
                </a:cubicBezTo>
                <a:cubicBezTo>
                  <a:pt x="620435" y="266700"/>
                  <a:pt x="631388" y="273010"/>
                  <a:pt x="637342" y="283131"/>
                </a:cubicBezTo>
                <a:lnTo>
                  <a:pt x="750689" y="477441"/>
                </a:lnTo>
                <a:cubicBezTo>
                  <a:pt x="757476" y="489109"/>
                  <a:pt x="761762" y="502563"/>
                  <a:pt x="758666" y="51566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010400" y="2921000"/>
            <a:ext cx="518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Protección Escasa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64400" y="3428842"/>
            <a:ext cx="467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Fuerza a aceptar empleos inadecuados, desperdiciando capital humano.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645" y="4836368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desafío: Encontrar el </a:t>
            </a:r>
            <a:r>
              <a:rPr lang="en-US" sz="18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diseño óptimo 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4F188B3-19EA-BBA6-2E52-00E07C6B6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775" y="165908"/>
            <a:ext cx="6780449" cy="652618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9873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C7D69BD-955F-D98F-E9EF-3C32B9C62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225" y="256258"/>
            <a:ext cx="5070376" cy="645907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2017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 Español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73482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Estructura Dual del Sistema Español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55504" y="2037082"/>
            <a:ext cx="4635500" cy="3606800"/>
          </a:xfrm>
          <a:custGeom>
            <a:avLst/>
            <a:gdLst/>
            <a:ahLst/>
            <a:cxnLst/>
            <a:rect l="l" t="t" r="r" b="b"/>
            <a:pathLst>
              <a:path w="4635500" h="3606800">
                <a:moveTo>
                  <a:pt x="101604" y="0"/>
                </a:moveTo>
                <a:lnTo>
                  <a:pt x="4533896" y="0"/>
                </a:lnTo>
                <a:cubicBezTo>
                  <a:pt x="4590011" y="0"/>
                  <a:pt x="4635500" y="45489"/>
                  <a:pt x="4635500" y="101604"/>
                </a:cubicBezTo>
                <a:lnTo>
                  <a:pt x="4635500" y="3505196"/>
                </a:lnTo>
                <a:cubicBezTo>
                  <a:pt x="4635500" y="3561311"/>
                  <a:pt x="4590011" y="3606800"/>
                  <a:pt x="4533896" y="3606800"/>
                </a:cubicBezTo>
                <a:lnTo>
                  <a:pt x="101604" y="3606800"/>
                </a:lnTo>
                <a:cubicBezTo>
                  <a:pt x="45489" y="3606800"/>
                  <a:pt x="0" y="3561311"/>
                  <a:pt x="0" y="35051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785904" y="2362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004979" y="2578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71438"/>
                </a:moveTo>
                <a:lnTo>
                  <a:pt x="95250" y="59531"/>
                </a:lnTo>
                <a:cubicBezTo>
                  <a:pt x="95250" y="26640"/>
                  <a:pt x="159246" y="0"/>
                  <a:pt x="238125" y="0"/>
                </a:cubicBezTo>
                <a:cubicBezTo>
                  <a:pt x="317004" y="0"/>
                  <a:pt x="381000" y="26640"/>
                  <a:pt x="381000" y="59531"/>
                </a:cubicBezTo>
                <a:lnTo>
                  <a:pt x="381000" y="71438"/>
                </a:lnTo>
                <a:cubicBezTo>
                  <a:pt x="381000" y="94208"/>
                  <a:pt x="350267" y="114002"/>
                  <a:pt x="305098" y="124048"/>
                </a:cubicBezTo>
                <a:cubicBezTo>
                  <a:pt x="303312" y="121965"/>
                  <a:pt x="301451" y="119955"/>
                  <a:pt x="299591" y="118095"/>
                </a:cubicBezTo>
                <a:cubicBezTo>
                  <a:pt x="288057" y="106710"/>
                  <a:pt x="273174" y="98078"/>
                  <a:pt x="257621" y="91678"/>
                </a:cubicBezTo>
                <a:cubicBezTo>
                  <a:pt x="226442" y="78656"/>
                  <a:pt x="185812" y="71512"/>
                  <a:pt x="142875" y="71512"/>
                </a:cubicBezTo>
                <a:cubicBezTo>
                  <a:pt x="126578" y="71512"/>
                  <a:pt x="110654" y="72554"/>
                  <a:pt x="95399" y="74563"/>
                </a:cubicBezTo>
                <a:cubicBezTo>
                  <a:pt x="95250" y="73596"/>
                  <a:pt x="95250" y="72554"/>
                  <a:pt x="95250" y="71512"/>
                </a:cubicBezTo>
                <a:close/>
                <a:moveTo>
                  <a:pt x="321469" y="262682"/>
                </a:moveTo>
                <a:lnTo>
                  <a:pt x="321469" y="228302"/>
                </a:lnTo>
                <a:cubicBezTo>
                  <a:pt x="332705" y="225400"/>
                  <a:pt x="343272" y="221977"/>
                  <a:pt x="352871" y="217959"/>
                </a:cubicBezTo>
                <a:cubicBezTo>
                  <a:pt x="362694" y="213866"/>
                  <a:pt x="372294" y="208880"/>
                  <a:pt x="381000" y="202853"/>
                </a:cubicBezTo>
                <a:lnTo>
                  <a:pt x="381000" y="214313"/>
                </a:lnTo>
                <a:cubicBezTo>
                  <a:pt x="381000" y="234255"/>
                  <a:pt x="357560" y="251892"/>
                  <a:pt x="321469" y="262682"/>
                </a:cubicBezTo>
                <a:close/>
                <a:moveTo>
                  <a:pt x="321469" y="191244"/>
                </a:moveTo>
                <a:lnTo>
                  <a:pt x="321469" y="166688"/>
                </a:lnTo>
                <a:cubicBezTo>
                  <a:pt x="321469" y="163339"/>
                  <a:pt x="321171" y="160139"/>
                  <a:pt x="320725" y="157014"/>
                </a:cubicBezTo>
                <a:cubicBezTo>
                  <a:pt x="332259" y="154112"/>
                  <a:pt x="343049" y="150614"/>
                  <a:pt x="352871" y="146447"/>
                </a:cubicBezTo>
                <a:cubicBezTo>
                  <a:pt x="362694" y="142280"/>
                  <a:pt x="372294" y="137368"/>
                  <a:pt x="381000" y="131341"/>
                </a:cubicBezTo>
                <a:lnTo>
                  <a:pt x="381000" y="142801"/>
                </a:lnTo>
                <a:cubicBezTo>
                  <a:pt x="381000" y="162744"/>
                  <a:pt x="357560" y="180380"/>
                  <a:pt x="321469" y="191170"/>
                </a:cubicBezTo>
                <a:close/>
                <a:moveTo>
                  <a:pt x="0" y="178594"/>
                </a:moveTo>
                <a:lnTo>
                  <a:pt x="0" y="166688"/>
                </a:lnTo>
                <a:cubicBezTo>
                  <a:pt x="0" y="133796"/>
                  <a:pt x="63996" y="107156"/>
                  <a:pt x="142875" y="107156"/>
                </a:cubicBezTo>
                <a:cubicBezTo>
                  <a:pt x="221754" y="107156"/>
                  <a:pt x="285750" y="133796"/>
                  <a:pt x="285750" y="166688"/>
                </a:cubicBezTo>
                <a:lnTo>
                  <a:pt x="285750" y="178594"/>
                </a:lnTo>
                <a:cubicBezTo>
                  <a:pt x="285750" y="211485"/>
                  <a:pt x="221754" y="238125"/>
                  <a:pt x="142875" y="238125"/>
                </a:cubicBezTo>
                <a:cubicBezTo>
                  <a:pt x="63996" y="238125"/>
                  <a:pt x="0" y="211485"/>
                  <a:pt x="0" y="178594"/>
                </a:cubicBezTo>
                <a:close/>
                <a:moveTo>
                  <a:pt x="285750" y="250031"/>
                </a:moveTo>
                <a:cubicBezTo>
                  <a:pt x="285750" y="282922"/>
                  <a:pt x="221754" y="309563"/>
                  <a:pt x="142875" y="309563"/>
                </a:cubicBezTo>
                <a:cubicBezTo>
                  <a:pt x="63996" y="309563"/>
                  <a:pt x="0" y="282922"/>
                  <a:pt x="0" y="250031"/>
                </a:cubicBezTo>
                <a:lnTo>
                  <a:pt x="0" y="238571"/>
                </a:lnTo>
                <a:cubicBezTo>
                  <a:pt x="8632" y="244599"/>
                  <a:pt x="18231" y="249510"/>
                  <a:pt x="28129" y="253678"/>
                </a:cubicBezTo>
                <a:cubicBezTo>
                  <a:pt x="59308" y="266700"/>
                  <a:pt x="99938" y="273844"/>
                  <a:pt x="142875" y="273844"/>
                </a:cubicBezTo>
                <a:cubicBezTo>
                  <a:pt x="185812" y="273844"/>
                  <a:pt x="226442" y="266626"/>
                  <a:pt x="257621" y="253678"/>
                </a:cubicBezTo>
                <a:cubicBezTo>
                  <a:pt x="267444" y="249585"/>
                  <a:pt x="277044" y="244599"/>
                  <a:pt x="285750" y="238571"/>
                </a:cubicBezTo>
                <a:lnTo>
                  <a:pt x="285750" y="250031"/>
                </a:lnTo>
                <a:close/>
                <a:moveTo>
                  <a:pt x="285750" y="310009"/>
                </a:moveTo>
                <a:lnTo>
                  <a:pt x="285750" y="321469"/>
                </a:lnTo>
                <a:cubicBezTo>
                  <a:pt x="285750" y="354360"/>
                  <a:pt x="221754" y="381000"/>
                  <a:pt x="142875" y="381000"/>
                </a:cubicBezTo>
                <a:cubicBezTo>
                  <a:pt x="63996" y="381000"/>
                  <a:pt x="0" y="354360"/>
                  <a:pt x="0" y="321469"/>
                </a:cubicBezTo>
                <a:lnTo>
                  <a:pt x="0" y="310009"/>
                </a:lnTo>
                <a:cubicBezTo>
                  <a:pt x="8632" y="316037"/>
                  <a:pt x="18231" y="320948"/>
                  <a:pt x="28129" y="325115"/>
                </a:cubicBezTo>
                <a:cubicBezTo>
                  <a:pt x="59308" y="338138"/>
                  <a:pt x="99938" y="345281"/>
                  <a:pt x="142875" y="345281"/>
                </a:cubicBezTo>
                <a:cubicBezTo>
                  <a:pt x="185812" y="345281"/>
                  <a:pt x="226442" y="338063"/>
                  <a:pt x="257621" y="325115"/>
                </a:cubicBezTo>
                <a:cubicBezTo>
                  <a:pt x="267444" y="321022"/>
                  <a:pt x="277044" y="316037"/>
                  <a:pt x="285750" y="31000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904206" y="3378200"/>
            <a:ext cx="2578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Contributivas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0624" y="3936842"/>
            <a:ext cx="4025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Basadas en la lógica de seguro social. Requieren cotización previa.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0624" y="4902042"/>
            <a:ext cx="4025900" cy="457200"/>
          </a:xfrm>
          <a:custGeom>
            <a:avLst/>
            <a:gdLst/>
            <a:ahLst/>
            <a:cxnLst/>
            <a:rect l="l" t="t" r="r" b="b"/>
            <a:pathLst>
              <a:path w="4025900" h="457200">
                <a:moveTo>
                  <a:pt x="50799" y="0"/>
                </a:moveTo>
                <a:lnTo>
                  <a:pt x="3975101" y="0"/>
                </a:lnTo>
                <a:cubicBezTo>
                  <a:pt x="4003156" y="0"/>
                  <a:pt x="4025900" y="22744"/>
                  <a:pt x="4025900" y="50799"/>
                </a:cubicBezTo>
                <a:lnTo>
                  <a:pt x="4025900" y="406401"/>
                </a:lnTo>
                <a:cubicBezTo>
                  <a:pt x="4025900" y="434456"/>
                  <a:pt x="4003156" y="457200"/>
                  <a:pt x="39751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26624" y="4902042"/>
            <a:ext cx="45339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Primer Nivel de Protección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35504" y="2037082"/>
            <a:ext cx="825500" cy="364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62738" y="2037082"/>
            <a:ext cx="4635500" cy="3606800"/>
          </a:xfrm>
          <a:custGeom>
            <a:avLst/>
            <a:gdLst/>
            <a:ahLst/>
            <a:cxnLst/>
            <a:rect l="l" t="t" r="r" b="b"/>
            <a:pathLst>
              <a:path w="4635500" h="3606800">
                <a:moveTo>
                  <a:pt x="101604" y="0"/>
                </a:moveTo>
                <a:lnTo>
                  <a:pt x="4533896" y="0"/>
                </a:lnTo>
                <a:cubicBezTo>
                  <a:pt x="4590011" y="0"/>
                  <a:pt x="4635500" y="45489"/>
                  <a:pt x="4635500" y="101604"/>
                </a:cubicBezTo>
                <a:lnTo>
                  <a:pt x="4635500" y="3505196"/>
                </a:lnTo>
                <a:cubicBezTo>
                  <a:pt x="4635500" y="3561311"/>
                  <a:pt x="4590011" y="3606800"/>
                  <a:pt x="4533896" y="3606800"/>
                </a:cubicBezTo>
                <a:lnTo>
                  <a:pt x="101604" y="3606800"/>
                </a:lnTo>
                <a:cubicBezTo>
                  <a:pt x="45489" y="3606800"/>
                  <a:pt x="0" y="3561311"/>
                  <a:pt x="0" y="35051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8593138" y="2362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8788400" y="25781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00099" y="39588"/>
                </a:moveTo>
                <a:lnTo>
                  <a:pt x="113333" y="136029"/>
                </a:lnTo>
                <a:cubicBezTo>
                  <a:pt x="109910" y="139824"/>
                  <a:pt x="110058" y="145703"/>
                  <a:pt x="113705" y="149349"/>
                </a:cubicBezTo>
                <a:cubicBezTo>
                  <a:pt x="136401" y="172045"/>
                  <a:pt x="173236" y="172045"/>
                  <a:pt x="195932" y="149349"/>
                </a:cubicBezTo>
                <a:lnTo>
                  <a:pt x="219596" y="125685"/>
                </a:lnTo>
                <a:cubicBezTo>
                  <a:pt x="222721" y="122560"/>
                  <a:pt x="226665" y="120848"/>
                  <a:pt x="230684" y="120551"/>
                </a:cubicBezTo>
                <a:cubicBezTo>
                  <a:pt x="235744" y="120104"/>
                  <a:pt x="240953" y="121816"/>
                  <a:pt x="244822" y="125685"/>
                </a:cubicBezTo>
                <a:lnTo>
                  <a:pt x="376238" y="255984"/>
                </a:lnTo>
                <a:lnTo>
                  <a:pt x="428625" y="214313"/>
                </a:lnTo>
                <a:lnTo>
                  <a:pt x="428625" y="0"/>
                </a:lnTo>
                <a:lnTo>
                  <a:pt x="345281" y="47625"/>
                </a:lnTo>
                <a:lnTo>
                  <a:pt x="327571" y="35793"/>
                </a:lnTo>
                <a:cubicBezTo>
                  <a:pt x="315813" y="27980"/>
                  <a:pt x="302047" y="23812"/>
                  <a:pt x="287908" y="23812"/>
                </a:cubicBezTo>
                <a:lnTo>
                  <a:pt x="235521" y="23812"/>
                </a:lnTo>
                <a:cubicBezTo>
                  <a:pt x="234702" y="23812"/>
                  <a:pt x="233809" y="23812"/>
                  <a:pt x="232990" y="23887"/>
                </a:cubicBezTo>
                <a:cubicBezTo>
                  <a:pt x="220414" y="24557"/>
                  <a:pt x="208583" y="30212"/>
                  <a:pt x="200099" y="39588"/>
                </a:cubicBezTo>
                <a:close/>
                <a:moveTo>
                  <a:pt x="86767" y="112142"/>
                </a:moveTo>
                <a:lnTo>
                  <a:pt x="166241" y="23812"/>
                </a:lnTo>
                <a:lnTo>
                  <a:pt x="136773" y="23812"/>
                </a:lnTo>
                <a:cubicBezTo>
                  <a:pt x="117797" y="23812"/>
                  <a:pt x="99640" y="31328"/>
                  <a:pt x="86246" y="44723"/>
                </a:cubicBezTo>
                <a:lnTo>
                  <a:pt x="0" y="142875"/>
                </a:lnTo>
                <a:lnTo>
                  <a:pt x="0" y="404813"/>
                </a:lnTo>
                <a:lnTo>
                  <a:pt x="107156" y="303609"/>
                </a:lnTo>
                <a:lnTo>
                  <a:pt x="116384" y="311274"/>
                </a:lnTo>
                <a:cubicBezTo>
                  <a:pt x="133499" y="325562"/>
                  <a:pt x="155079" y="333375"/>
                  <a:pt x="177329" y="333375"/>
                </a:cubicBezTo>
                <a:lnTo>
                  <a:pt x="189012" y="333375"/>
                </a:lnTo>
                <a:lnTo>
                  <a:pt x="183803" y="328166"/>
                </a:lnTo>
                <a:cubicBezTo>
                  <a:pt x="176808" y="321171"/>
                  <a:pt x="176808" y="309860"/>
                  <a:pt x="183803" y="302940"/>
                </a:cubicBezTo>
                <a:cubicBezTo>
                  <a:pt x="190798" y="296019"/>
                  <a:pt x="202109" y="295945"/>
                  <a:pt x="209029" y="302940"/>
                </a:cubicBezTo>
                <a:lnTo>
                  <a:pt x="239539" y="333449"/>
                </a:lnTo>
                <a:lnTo>
                  <a:pt x="246236" y="333449"/>
                </a:lnTo>
                <a:cubicBezTo>
                  <a:pt x="260449" y="333449"/>
                  <a:pt x="274365" y="330250"/>
                  <a:pt x="287015" y="324296"/>
                </a:cubicBezTo>
                <a:lnTo>
                  <a:pt x="267146" y="304354"/>
                </a:lnTo>
                <a:cubicBezTo>
                  <a:pt x="260152" y="297359"/>
                  <a:pt x="260152" y="286048"/>
                  <a:pt x="267146" y="279127"/>
                </a:cubicBezTo>
                <a:cubicBezTo>
                  <a:pt x="274141" y="272207"/>
                  <a:pt x="285452" y="272132"/>
                  <a:pt x="292373" y="279127"/>
                </a:cubicBezTo>
                <a:lnTo>
                  <a:pt x="316185" y="302940"/>
                </a:lnTo>
                <a:lnTo>
                  <a:pt x="329208" y="289917"/>
                </a:lnTo>
                <a:cubicBezTo>
                  <a:pt x="335831" y="283294"/>
                  <a:pt x="337765" y="273695"/>
                  <a:pt x="334863" y="265286"/>
                </a:cubicBezTo>
                <a:lnTo>
                  <a:pt x="232246" y="163488"/>
                </a:lnTo>
                <a:lnTo>
                  <a:pt x="221159" y="174575"/>
                </a:lnTo>
                <a:cubicBezTo>
                  <a:pt x="184472" y="211262"/>
                  <a:pt x="125090" y="211262"/>
                  <a:pt x="88404" y="174575"/>
                </a:cubicBezTo>
                <a:cubicBezTo>
                  <a:pt x="71289" y="157460"/>
                  <a:pt x="70619" y="130001"/>
                  <a:pt x="86767" y="11206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763828" y="3378200"/>
            <a:ext cx="2476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Asistenciales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87858" y="3936842"/>
            <a:ext cx="4025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Basadas en la lógica de asistencia social. Red de seguridad para quienes no acceden al nivel contributivo.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87858" y="4902042"/>
            <a:ext cx="4025900" cy="457200"/>
          </a:xfrm>
          <a:custGeom>
            <a:avLst/>
            <a:gdLst/>
            <a:ahLst/>
            <a:cxnLst/>
            <a:rect l="l" t="t" r="r" b="b"/>
            <a:pathLst>
              <a:path w="4025900" h="457200">
                <a:moveTo>
                  <a:pt x="50799" y="0"/>
                </a:moveTo>
                <a:lnTo>
                  <a:pt x="3975101" y="0"/>
                </a:lnTo>
                <a:cubicBezTo>
                  <a:pt x="4003156" y="0"/>
                  <a:pt x="4025900" y="22744"/>
                  <a:pt x="4025900" y="50799"/>
                </a:cubicBezTo>
                <a:lnTo>
                  <a:pt x="4025900" y="406401"/>
                </a:lnTo>
                <a:cubicBezTo>
                  <a:pt x="4025900" y="434456"/>
                  <a:pt x="4003156" y="457200"/>
                  <a:pt x="39751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733858" y="4902042"/>
            <a:ext cx="45339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Segundo Nivel de Protección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Acceso al Paro Contributivo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914400"/>
            <a:ext cx="594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requieren cumulativamente los siguientes requisitos: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1475" y="1564639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57993" y="57993"/>
                </a:moveTo>
                <a:cubicBezTo>
                  <a:pt x="61258" y="54729"/>
                  <a:pt x="66536" y="54729"/>
                  <a:pt x="69766" y="57993"/>
                </a:cubicBezTo>
                <a:lnTo>
                  <a:pt x="88865" y="77093"/>
                </a:lnTo>
                <a:lnTo>
                  <a:pt x="107965" y="57993"/>
                </a:lnTo>
                <a:cubicBezTo>
                  <a:pt x="111229" y="54729"/>
                  <a:pt x="116508" y="54729"/>
                  <a:pt x="119737" y="57993"/>
                </a:cubicBezTo>
                <a:cubicBezTo>
                  <a:pt x="122967" y="61258"/>
                  <a:pt x="123001" y="66536"/>
                  <a:pt x="119737" y="69766"/>
                </a:cubicBezTo>
                <a:lnTo>
                  <a:pt x="100638" y="88865"/>
                </a:lnTo>
                <a:lnTo>
                  <a:pt x="119737" y="107965"/>
                </a:lnTo>
                <a:cubicBezTo>
                  <a:pt x="123001" y="111229"/>
                  <a:pt x="123001" y="116508"/>
                  <a:pt x="119737" y="119737"/>
                </a:cubicBezTo>
                <a:cubicBezTo>
                  <a:pt x="116473" y="122967"/>
                  <a:pt x="111194" y="123001"/>
                  <a:pt x="107965" y="119737"/>
                </a:cubicBezTo>
                <a:lnTo>
                  <a:pt x="88865" y="100638"/>
                </a:lnTo>
                <a:lnTo>
                  <a:pt x="69766" y="119737"/>
                </a:lnTo>
                <a:cubicBezTo>
                  <a:pt x="66501" y="123001"/>
                  <a:pt x="61223" y="123001"/>
                  <a:pt x="57993" y="119737"/>
                </a:cubicBezTo>
                <a:cubicBezTo>
                  <a:pt x="54764" y="116473"/>
                  <a:pt x="54729" y="111194"/>
                  <a:pt x="57993" y="107965"/>
                </a:cubicBezTo>
                <a:lnTo>
                  <a:pt x="77093" y="88865"/>
                </a:lnTo>
                <a:lnTo>
                  <a:pt x="57993" y="69766"/>
                </a:lnTo>
                <a:cubicBezTo>
                  <a:pt x="54729" y="66501"/>
                  <a:pt x="54729" y="61223"/>
                  <a:pt x="57993" y="57993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60400" y="1524000"/>
            <a:ext cx="369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Situación legal de desempleo involuntario.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0363" y="1971039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0" y="33337"/>
                </a:moveTo>
                <a:cubicBezTo>
                  <a:pt x="0" y="21079"/>
                  <a:pt x="9967" y="11112"/>
                  <a:pt x="22225" y="11112"/>
                </a:cubicBezTo>
                <a:lnTo>
                  <a:pt x="177800" y="11112"/>
                </a:lnTo>
                <a:cubicBezTo>
                  <a:pt x="190058" y="11112"/>
                  <a:pt x="200025" y="21079"/>
                  <a:pt x="200025" y="33337"/>
                </a:cubicBezTo>
                <a:lnTo>
                  <a:pt x="0" y="33337"/>
                </a:lnTo>
                <a:close/>
                <a:moveTo>
                  <a:pt x="0" y="50006"/>
                </a:moveTo>
                <a:lnTo>
                  <a:pt x="200025" y="50006"/>
                </a:lnTo>
                <a:lnTo>
                  <a:pt x="200025" y="144463"/>
                </a:lnTo>
                <a:cubicBezTo>
                  <a:pt x="200025" y="156721"/>
                  <a:pt x="190058" y="166688"/>
                  <a:pt x="177800" y="166688"/>
                </a:cubicBezTo>
                <a:lnTo>
                  <a:pt x="22225" y="166688"/>
                </a:lnTo>
                <a:cubicBezTo>
                  <a:pt x="9967" y="166688"/>
                  <a:pt x="0" y="156721"/>
                  <a:pt x="0" y="144463"/>
                </a:cubicBezTo>
                <a:lnTo>
                  <a:pt x="0" y="50006"/>
                </a:lnTo>
                <a:close/>
                <a:moveTo>
                  <a:pt x="85879" y="144463"/>
                </a:moveTo>
                <a:cubicBezTo>
                  <a:pt x="92894" y="144463"/>
                  <a:pt x="98137" y="137726"/>
                  <a:pt x="93658" y="132308"/>
                </a:cubicBezTo>
                <a:cubicBezTo>
                  <a:pt x="88553" y="126162"/>
                  <a:pt x="80843" y="122238"/>
                  <a:pt x="72231" y="122238"/>
                </a:cubicBezTo>
                <a:lnTo>
                  <a:pt x="50006" y="122238"/>
                </a:lnTo>
                <a:cubicBezTo>
                  <a:pt x="41394" y="122238"/>
                  <a:pt x="33685" y="126162"/>
                  <a:pt x="28580" y="132308"/>
                </a:cubicBezTo>
                <a:cubicBezTo>
                  <a:pt x="24100" y="137726"/>
                  <a:pt x="29344" y="144463"/>
                  <a:pt x="36359" y="144463"/>
                </a:cubicBezTo>
                <a:lnTo>
                  <a:pt x="85844" y="144463"/>
                </a:lnTo>
                <a:close/>
                <a:moveTo>
                  <a:pt x="61119" y="108347"/>
                </a:moveTo>
                <a:cubicBezTo>
                  <a:pt x="71852" y="108347"/>
                  <a:pt x="80566" y="99633"/>
                  <a:pt x="80566" y="88900"/>
                </a:cubicBezTo>
                <a:cubicBezTo>
                  <a:pt x="80566" y="78167"/>
                  <a:pt x="71852" y="69453"/>
                  <a:pt x="61119" y="69453"/>
                </a:cubicBezTo>
                <a:cubicBezTo>
                  <a:pt x="50386" y="69453"/>
                  <a:pt x="41672" y="78167"/>
                  <a:pt x="41672" y="88900"/>
                </a:cubicBezTo>
                <a:cubicBezTo>
                  <a:pt x="41672" y="99633"/>
                  <a:pt x="50386" y="108347"/>
                  <a:pt x="61119" y="108347"/>
                </a:cubicBezTo>
                <a:close/>
                <a:moveTo>
                  <a:pt x="125016" y="72231"/>
                </a:moveTo>
                <a:cubicBezTo>
                  <a:pt x="120397" y="72231"/>
                  <a:pt x="116681" y="75947"/>
                  <a:pt x="116681" y="80566"/>
                </a:cubicBezTo>
                <a:cubicBezTo>
                  <a:pt x="116681" y="85184"/>
                  <a:pt x="120397" y="88900"/>
                  <a:pt x="125016" y="88900"/>
                </a:cubicBezTo>
                <a:lnTo>
                  <a:pt x="163909" y="88900"/>
                </a:lnTo>
                <a:cubicBezTo>
                  <a:pt x="168528" y="88900"/>
                  <a:pt x="172244" y="85184"/>
                  <a:pt x="172244" y="80566"/>
                </a:cubicBezTo>
                <a:cubicBezTo>
                  <a:pt x="172244" y="75947"/>
                  <a:pt x="168528" y="72231"/>
                  <a:pt x="163909" y="72231"/>
                </a:cubicBezTo>
                <a:lnTo>
                  <a:pt x="125016" y="72231"/>
                </a:lnTo>
                <a:close/>
                <a:moveTo>
                  <a:pt x="125016" y="105569"/>
                </a:moveTo>
                <a:cubicBezTo>
                  <a:pt x="120397" y="105569"/>
                  <a:pt x="116681" y="109284"/>
                  <a:pt x="116681" y="113903"/>
                </a:cubicBezTo>
                <a:cubicBezTo>
                  <a:pt x="116681" y="118522"/>
                  <a:pt x="120397" y="122238"/>
                  <a:pt x="125016" y="122238"/>
                </a:cubicBezTo>
                <a:lnTo>
                  <a:pt x="163909" y="122238"/>
                </a:lnTo>
                <a:cubicBezTo>
                  <a:pt x="168528" y="122238"/>
                  <a:pt x="172244" y="118522"/>
                  <a:pt x="172244" y="113903"/>
                </a:cubicBezTo>
                <a:cubicBezTo>
                  <a:pt x="172244" y="109284"/>
                  <a:pt x="168528" y="105569"/>
                  <a:pt x="163909" y="105569"/>
                </a:cubicBezTo>
                <a:lnTo>
                  <a:pt x="125016" y="105569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60400" y="1930400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Inscripción en la Seguridad Social y edad laboral.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2588" y="2377439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44450" y="0"/>
                </a:moveTo>
                <a:cubicBezTo>
                  <a:pt x="50597" y="0"/>
                  <a:pt x="55563" y="4966"/>
                  <a:pt x="55563" y="11112"/>
                </a:cubicBezTo>
                <a:lnTo>
                  <a:pt x="55563" y="22225"/>
                </a:lnTo>
                <a:lnTo>
                  <a:pt x="100013" y="22225"/>
                </a:lnTo>
                <a:lnTo>
                  <a:pt x="100013" y="11112"/>
                </a:lnTo>
                <a:cubicBezTo>
                  <a:pt x="100013" y="4966"/>
                  <a:pt x="104978" y="0"/>
                  <a:pt x="111125" y="0"/>
                </a:cubicBezTo>
                <a:cubicBezTo>
                  <a:pt x="117272" y="0"/>
                  <a:pt x="122238" y="4966"/>
                  <a:pt x="122238" y="11112"/>
                </a:cubicBezTo>
                <a:lnTo>
                  <a:pt x="122238" y="22225"/>
                </a:lnTo>
                <a:lnTo>
                  <a:pt x="133350" y="22225"/>
                </a:lnTo>
                <a:cubicBezTo>
                  <a:pt x="145608" y="22225"/>
                  <a:pt x="155575" y="32192"/>
                  <a:pt x="155575" y="44450"/>
                </a:cubicBezTo>
                <a:lnTo>
                  <a:pt x="155575" y="144463"/>
                </a:lnTo>
                <a:cubicBezTo>
                  <a:pt x="155575" y="156721"/>
                  <a:pt x="145608" y="166688"/>
                  <a:pt x="133350" y="166688"/>
                </a:cubicBezTo>
                <a:lnTo>
                  <a:pt x="22225" y="166688"/>
                </a:lnTo>
                <a:cubicBezTo>
                  <a:pt x="9967" y="166688"/>
                  <a:pt x="0" y="156721"/>
                  <a:pt x="0" y="144463"/>
                </a:cubicBezTo>
                <a:lnTo>
                  <a:pt x="0" y="44450"/>
                </a:lnTo>
                <a:cubicBezTo>
                  <a:pt x="0" y="32192"/>
                  <a:pt x="9967" y="22225"/>
                  <a:pt x="22225" y="22225"/>
                </a:cubicBezTo>
                <a:lnTo>
                  <a:pt x="33337" y="22225"/>
                </a:lnTo>
                <a:lnTo>
                  <a:pt x="33337" y="11112"/>
                </a:lnTo>
                <a:cubicBezTo>
                  <a:pt x="33337" y="4966"/>
                  <a:pt x="38303" y="0"/>
                  <a:pt x="44450" y="0"/>
                </a:cubicBezTo>
                <a:close/>
                <a:moveTo>
                  <a:pt x="22225" y="83344"/>
                </a:moveTo>
                <a:lnTo>
                  <a:pt x="22225" y="94456"/>
                </a:lnTo>
                <a:cubicBezTo>
                  <a:pt x="22225" y="97512"/>
                  <a:pt x="24725" y="100013"/>
                  <a:pt x="27781" y="100013"/>
                </a:cubicBezTo>
                <a:lnTo>
                  <a:pt x="38894" y="100013"/>
                </a:lnTo>
                <a:cubicBezTo>
                  <a:pt x="41950" y="100013"/>
                  <a:pt x="44450" y="97512"/>
                  <a:pt x="44450" y="94456"/>
                </a:cubicBezTo>
                <a:lnTo>
                  <a:pt x="44450" y="83344"/>
                </a:lnTo>
                <a:cubicBezTo>
                  <a:pt x="44450" y="80288"/>
                  <a:pt x="41950" y="77788"/>
                  <a:pt x="38894" y="77788"/>
                </a:cubicBezTo>
                <a:lnTo>
                  <a:pt x="27781" y="77788"/>
                </a:lnTo>
                <a:cubicBezTo>
                  <a:pt x="24725" y="77788"/>
                  <a:pt x="22225" y="80288"/>
                  <a:pt x="22225" y="83344"/>
                </a:cubicBezTo>
                <a:close/>
                <a:moveTo>
                  <a:pt x="66675" y="83344"/>
                </a:moveTo>
                <a:lnTo>
                  <a:pt x="66675" y="94456"/>
                </a:lnTo>
                <a:cubicBezTo>
                  <a:pt x="66675" y="97512"/>
                  <a:pt x="69175" y="100013"/>
                  <a:pt x="72231" y="100013"/>
                </a:cubicBezTo>
                <a:lnTo>
                  <a:pt x="83344" y="100013"/>
                </a:lnTo>
                <a:cubicBezTo>
                  <a:pt x="86400" y="100013"/>
                  <a:pt x="88900" y="97512"/>
                  <a:pt x="88900" y="94456"/>
                </a:cubicBezTo>
                <a:lnTo>
                  <a:pt x="88900" y="83344"/>
                </a:lnTo>
                <a:cubicBezTo>
                  <a:pt x="88900" y="80288"/>
                  <a:pt x="86400" y="77788"/>
                  <a:pt x="83344" y="77788"/>
                </a:cubicBezTo>
                <a:lnTo>
                  <a:pt x="72231" y="77788"/>
                </a:lnTo>
                <a:cubicBezTo>
                  <a:pt x="69175" y="77788"/>
                  <a:pt x="66675" y="80288"/>
                  <a:pt x="66675" y="83344"/>
                </a:cubicBezTo>
                <a:close/>
                <a:moveTo>
                  <a:pt x="116681" y="77788"/>
                </a:moveTo>
                <a:cubicBezTo>
                  <a:pt x="113625" y="77788"/>
                  <a:pt x="111125" y="80288"/>
                  <a:pt x="111125" y="83344"/>
                </a:cubicBezTo>
                <a:lnTo>
                  <a:pt x="111125" y="94456"/>
                </a:lnTo>
                <a:cubicBezTo>
                  <a:pt x="111125" y="97512"/>
                  <a:pt x="113625" y="100013"/>
                  <a:pt x="116681" y="100013"/>
                </a:cubicBezTo>
                <a:lnTo>
                  <a:pt x="127794" y="100013"/>
                </a:lnTo>
                <a:cubicBezTo>
                  <a:pt x="130850" y="100013"/>
                  <a:pt x="133350" y="97512"/>
                  <a:pt x="133350" y="94456"/>
                </a:cubicBezTo>
                <a:lnTo>
                  <a:pt x="133350" y="83344"/>
                </a:lnTo>
                <a:cubicBezTo>
                  <a:pt x="133350" y="80288"/>
                  <a:pt x="130850" y="77788"/>
                  <a:pt x="127794" y="77788"/>
                </a:cubicBezTo>
                <a:lnTo>
                  <a:pt x="116681" y="77788"/>
                </a:lnTo>
                <a:close/>
                <a:moveTo>
                  <a:pt x="22225" y="127794"/>
                </a:moveTo>
                <a:lnTo>
                  <a:pt x="22225" y="138906"/>
                </a:lnTo>
                <a:cubicBezTo>
                  <a:pt x="22225" y="141962"/>
                  <a:pt x="24725" y="144463"/>
                  <a:pt x="27781" y="144463"/>
                </a:cubicBezTo>
                <a:lnTo>
                  <a:pt x="38894" y="144463"/>
                </a:lnTo>
                <a:cubicBezTo>
                  <a:pt x="41950" y="144463"/>
                  <a:pt x="44450" y="141962"/>
                  <a:pt x="44450" y="138906"/>
                </a:cubicBezTo>
                <a:lnTo>
                  <a:pt x="44450" y="127794"/>
                </a:lnTo>
                <a:cubicBezTo>
                  <a:pt x="44450" y="124738"/>
                  <a:pt x="41950" y="122238"/>
                  <a:pt x="38894" y="122238"/>
                </a:cubicBezTo>
                <a:lnTo>
                  <a:pt x="27781" y="122238"/>
                </a:lnTo>
                <a:cubicBezTo>
                  <a:pt x="24725" y="122238"/>
                  <a:pt x="22225" y="124738"/>
                  <a:pt x="22225" y="127794"/>
                </a:cubicBezTo>
                <a:close/>
                <a:moveTo>
                  <a:pt x="72231" y="122238"/>
                </a:moveTo>
                <a:cubicBezTo>
                  <a:pt x="69175" y="122238"/>
                  <a:pt x="66675" y="124738"/>
                  <a:pt x="66675" y="127794"/>
                </a:cubicBezTo>
                <a:lnTo>
                  <a:pt x="66675" y="138906"/>
                </a:lnTo>
                <a:cubicBezTo>
                  <a:pt x="66675" y="141962"/>
                  <a:pt x="69175" y="144463"/>
                  <a:pt x="72231" y="144463"/>
                </a:cubicBezTo>
                <a:lnTo>
                  <a:pt x="83344" y="144463"/>
                </a:lnTo>
                <a:cubicBezTo>
                  <a:pt x="86400" y="144463"/>
                  <a:pt x="88900" y="141962"/>
                  <a:pt x="88900" y="138906"/>
                </a:cubicBezTo>
                <a:lnTo>
                  <a:pt x="88900" y="127794"/>
                </a:lnTo>
                <a:cubicBezTo>
                  <a:pt x="88900" y="124738"/>
                  <a:pt x="86400" y="122238"/>
                  <a:pt x="83344" y="122238"/>
                </a:cubicBezTo>
                <a:lnTo>
                  <a:pt x="72231" y="122238"/>
                </a:lnTo>
                <a:close/>
                <a:moveTo>
                  <a:pt x="111125" y="127794"/>
                </a:moveTo>
                <a:lnTo>
                  <a:pt x="111125" y="138906"/>
                </a:lnTo>
                <a:cubicBezTo>
                  <a:pt x="111125" y="141962"/>
                  <a:pt x="113625" y="144463"/>
                  <a:pt x="116681" y="144463"/>
                </a:cubicBezTo>
                <a:lnTo>
                  <a:pt x="127794" y="144463"/>
                </a:lnTo>
                <a:cubicBezTo>
                  <a:pt x="130850" y="144463"/>
                  <a:pt x="133350" y="141962"/>
                  <a:pt x="133350" y="138906"/>
                </a:cubicBezTo>
                <a:lnTo>
                  <a:pt x="133350" y="127794"/>
                </a:lnTo>
                <a:cubicBezTo>
                  <a:pt x="133350" y="124738"/>
                  <a:pt x="130850" y="122238"/>
                  <a:pt x="127794" y="122238"/>
                </a:cubicBezTo>
                <a:lnTo>
                  <a:pt x="116681" y="122238"/>
                </a:lnTo>
                <a:cubicBezTo>
                  <a:pt x="113625" y="122238"/>
                  <a:pt x="111125" y="124738"/>
                  <a:pt x="111125" y="127794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60400" y="2336800"/>
            <a:ext cx="430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Mínimo </a:t>
            </a:r>
            <a:r>
              <a:rPr lang="en-US" sz="14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360 días 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cotizados en los 6 años previos.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9250" y="2783839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47228" y="44450"/>
                </a:moveTo>
                <a:cubicBezTo>
                  <a:pt x="47228" y="21451"/>
                  <a:pt x="65901" y="2778"/>
                  <a:pt x="88900" y="2778"/>
                </a:cubicBezTo>
                <a:cubicBezTo>
                  <a:pt x="111899" y="2778"/>
                  <a:pt x="130572" y="21451"/>
                  <a:pt x="130572" y="44450"/>
                </a:cubicBezTo>
                <a:cubicBezTo>
                  <a:pt x="130572" y="67449"/>
                  <a:pt x="111899" y="86122"/>
                  <a:pt x="88900" y="86122"/>
                </a:cubicBezTo>
                <a:cubicBezTo>
                  <a:pt x="65901" y="86122"/>
                  <a:pt x="47228" y="67449"/>
                  <a:pt x="47228" y="44450"/>
                </a:cubicBezTo>
                <a:close/>
                <a:moveTo>
                  <a:pt x="16669" y="167486"/>
                </a:moveTo>
                <a:cubicBezTo>
                  <a:pt x="16669" y="133281"/>
                  <a:pt x="44381" y="105569"/>
                  <a:pt x="78586" y="105569"/>
                </a:cubicBezTo>
                <a:lnTo>
                  <a:pt x="99214" y="105569"/>
                </a:lnTo>
                <a:cubicBezTo>
                  <a:pt x="133419" y="105569"/>
                  <a:pt x="161131" y="133281"/>
                  <a:pt x="161131" y="167486"/>
                </a:cubicBezTo>
                <a:cubicBezTo>
                  <a:pt x="161131" y="173181"/>
                  <a:pt x="156513" y="177800"/>
                  <a:pt x="150817" y="177800"/>
                </a:cubicBezTo>
                <a:lnTo>
                  <a:pt x="26983" y="177800"/>
                </a:lnTo>
                <a:cubicBezTo>
                  <a:pt x="21287" y="177800"/>
                  <a:pt x="16669" y="173181"/>
                  <a:pt x="16669" y="167486"/>
                </a:cubicBezTo>
                <a:close/>
                <a:moveTo>
                  <a:pt x="212665" y="46082"/>
                </a:moveTo>
                <a:lnTo>
                  <a:pt x="184884" y="90532"/>
                </a:lnTo>
                <a:cubicBezTo>
                  <a:pt x="183426" y="92859"/>
                  <a:pt x="180925" y="94317"/>
                  <a:pt x="178182" y="94456"/>
                </a:cubicBezTo>
                <a:cubicBezTo>
                  <a:pt x="175439" y="94595"/>
                  <a:pt x="172799" y="93345"/>
                  <a:pt x="171167" y="91122"/>
                </a:cubicBezTo>
                <a:lnTo>
                  <a:pt x="154498" y="68897"/>
                </a:lnTo>
                <a:cubicBezTo>
                  <a:pt x="151720" y="65216"/>
                  <a:pt x="152484" y="60008"/>
                  <a:pt x="156165" y="57229"/>
                </a:cubicBezTo>
                <a:cubicBezTo>
                  <a:pt x="159846" y="54451"/>
                  <a:pt x="165055" y="55215"/>
                  <a:pt x="167833" y="58896"/>
                </a:cubicBezTo>
                <a:lnTo>
                  <a:pt x="177210" y="71398"/>
                </a:lnTo>
                <a:lnTo>
                  <a:pt x="198532" y="37262"/>
                </a:lnTo>
                <a:cubicBezTo>
                  <a:pt x="200963" y="33372"/>
                  <a:pt x="206102" y="32157"/>
                  <a:pt x="210026" y="34622"/>
                </a:cubicBezTo>
                <a:cubicBezTo>
                  <a:pt x="213950" y="37088"/>
                  <a:pt x="215131" y="42193"/>
                  <a:pt x="212665" y="46117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60400" y="27432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Inscripción como demandante en 15 días hábiles.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1475" y="3190239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69453" y="16669"/>
                </a:moveTo>
                <a:lnTo>
                  <a:pt x="108347" y="16669"/>
                </a:lnTo>
                <a:cubicBezTo>
                  <a:pt x="109875" y="16669"/>
                  <a:pt x="111125" y="17919"/>
                  <a:pt x="111125" y="19447"/>
                </a:cubicBezTo>
                <a:lnTo>
                  <a:pt x="111125" y="33337"/>
                </a:lnTo>
                <a:lnTo>
                  <a:pt x="66675" y="33337"/>
                </a:lnTo>
                <a:lnTo>
                  <a:pt x="66675" y="19447"/>
                </a:lnTo>
                <a:cubicBezTo>
                  <a:pt x="66675" y="17919"/>
                  <a:pt x="67925" y="16669"/>
                  <a:pt x="69453" y="16669"/>
                </a:cubicBezTo>
                <a:close/>
                <a:moveTo>
                  <a:pt x="50006" y="19447"/>
                </a:moveTo>
                <a:lnTo>
                  <a:pt x="50006" y="33337"/>
                </a:lnTo>
                <a:lnTo>
                  <a:pt x="22225" y="33337"/>
                </a:lnTo>
                <a:cubicBezTo>
                  <a:pt x="9967" y="33337"/>
                  <a:pt x="0" y="43304"/>
                  <a:pt x="0" y="55563"/>
                </a:cubicBezTo>
                <a:lnTo>
                  <a:pt x="0" y="88900"/>
                </a:lnTo>
                <a:lnTo>
                  <a:pt x="177800" y="88900"/>
                </a:lnTo>
                <a:lnTo>
                  <a:pt x="177800" y="55563"/>
                </a:lnTo>
                <a:cubicBezTo>
                  <a:pt x="177800" y="43304"/>
                  <a:pt x="167833" y="33337"/>
                  <a:pt x="155575" y="33337"/>
                </a:cubicBezTo>
                <a:lnTo>
                  <a:pt x="127794" y="33337"/>
                </a:lnTo>
                <a:lnTo>
                  <a:pt x="127794" y="19447"/>
                </a:lnTo>
                <a:cubicBezTo>
                  <a:pt x="127794" y="8716"/>
                  <a:pt x="119077" y="0"/>
                  <a:pt x="108347" y="0"/>
                </a:cubicBezTo>
                <a:lnTo>
                  <a:pt x="69453" y="0"/>
                </a:lnTo>
                <a:cubicBezTo>
                  <a:pt x="58723" y="0"/>
                  <a:pt x="50006" y="8716"/>
                  <a:pt x="50006" y="19447"/>
                </a:cubicBezTo>
                <a:close/>
                <a:moveTo>
                  <a:pt x="177800" y="105569"/>
                </a:moveTo>
                <a:lnTo>
                  <a:pt x="111125" y="105569"/>
                </a:lnTo>
                <a:lnTo>
                  <a:pt x="111125" y="111125"/>
                </a:lnTo>
                <a:cubicBezTo>
                  <a:pt x="111125" y="117272"/>
                  <a:pt x="106159" y="122238"/>
                  <a:pt x="100013" y="122238"/>
                </a:cubicBezTo>
                <a:lnTo>
                  <a:pt x="77788" y="122238"/>
                </a:lnTo>
                <a:cubicBezTo>
                  <a:pt x="71641" y="122238"/>
                  <a:pt x="66675" y="117272"/>
                  <a:pt x="66675" y="111125"/>
                </a:cubicBezTo>
                <a:lnTo>
                  <a:pt x="66675" y="105569"/>
                </a:lnTo>
                <a:lnTo>
                  <a:pt x="0" y="105569"/>
                </a:lnTo>
                <a:lnTo>
                  <a:pt x="0" y="144463"/>
                </a:lnTo>
                <a:cubicBezTo>
                  <a:pt x="0" y="156721"/>
                  <a:pt x="9967" y="166688"/>
                  <a:pt x="22225" y="166688"/>
                </a:cubicBezTo>
                <a:lnTo>
                  <a:pt x="155575" y="166688"/>
                </a:lnTo>
                <a:cubicBezTo>
                  <a:pt x="167833" y="166688"/>
                  <a:pt x="177800" y="156721"/>
                  <a:pt x="177800" y="144463"/>
                </a:cubicBezTo>
                <a:lnTo>
                  <a:pt x="177800" y="105569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60400" y="3149600"/>
            <a:ext cx="528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Disponibilidad para trabajar y compromiso de actividad.</a:t>
            </a:r>
            <a:endParaRPr lang="en-US" sz="1600" dirty="0"/>
          </a:p>
        </p:txBody>
      </p:sp>
      <p:pic>
        <p:nvPicPr>
          <p:cNvPr id="14" name="Image 0" descr="https://kimi-web-img.moonshot.cn/img/img.freepik.com/b2ee189615abe2ba131f6d547d38bc0793629fea.jpg"/>
          <p:cNvPicPr>
            <a:picLocks noChangeAspect="1"/>
          </p:cNvPicPr>
          <p:nvPr/>
        </p:nvPicPr>
        <p:blipFill>
          <a:blip r:embed="rId3"/>
          <a:srcRect t="9196" b="9196"/>
          <a:stretch/>
        </p:blipFill>
        <p:spPr>
          <a:xfrm>
            <a:off x="6096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82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Prestación Contributiva: Cuantía y Duración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54000" y="2743200"/>
            <a:ext cx="5689600" cy="2032000"/>
          </a:xfrm>
          <a:custGeom>
            <a:avLst/>
            <a:gdLst/>
            <a:ahLst/>
            <a:cxnLst/>
            <a:rect l="l" t="t" r="r" b="b"/>
            <a:pathLst>
              <a:path w="5689600" h="2032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1930400"/>
                </a:lnTo>
                <a:cubicBezTo>
                  <a:pt x="5689600" y="1986475"/>
                  <a:pt x="5644075" y="2032000"/>
                  <a:pt x="5588000" y="2032000"/>
                </a:cubicBezTo>
                <a:lnTo>
                  <a:pt x="101600" y="2032000"/>
                </a:lnTo>
                <a:cubicBezTo>
                  <a:pt x="45525" y="2032000"/>
                  <a:pt x="0" y="1986475"/>
                  <a:pt x="0" y="1930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03200" y="2946400"/>
            <a:ext cx="579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Cuantía (% Base Reguladora)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1178" y="3454400"/>
            <a:ext cx="200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70%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1178" y="3962400"/>
            <a:ext cx="200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Primeros 6 meses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84463" y="3632200"/>
            <a:ext cx="81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45376" y="3454400"/>
            <a:ext cx="201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45376" y="3962400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partir del mes 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3200" y="4368800"/>
            <a:ext cx="5791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 topes máximos y mínimos según IPREM y cargas familiares.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48400" y="2743200"/>
            <a:ext cx="5689600" cy="2032000"/>
          </a:xfrm>
          <a:custGeom>
            <a:avLst/>
            <a:gdLst/>
            <a:ahLst/>
            <a:cxnLst/>
            <a:rect l="l" t="t" r="r" b="b"/>
            <a:pathLst>
              <a:path w="5689600" h="2032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1930400"/>
                </a:lnTo>
                <a:cubicBezTo>
                  <a:pt x="5689600" y="1986475"/>
                  <a:pt x="5644075" y="2032000"/>
                  <a:pt x="5588000" y="2032000"/>
                </a:cubicBezTo>
                <a:lnTo>
                  <a:pt x="101600" y="2032000"/>
                </a:lnTo>
                <a:cubicBezTo>
                  <a:pt x="45525" y="2032000"/>
                  <a:pt x="0" y="1986475"/>
                  <a:pt x="0" y="1930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197600" y="2946400"/>
            <a:ext cx="579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Duración (Días Cotizados)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0193" y="3429000"/>
            <a:ext cx="142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360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0193" y="3937000"/>
            <a:ext cx="142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4 meses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5810" y="3784755"/>
            <a:ext cx="723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...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51340" y="3429000"/>
            <a:ext cx="2120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2.160+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51340" y="3937000"/>
            <a:ext cx="212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24 meses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465b256def8bbbf335f1c01b61cfa1b534b26ff5.jpg"/>
          <p:cNvPicPr>
            <a:picLocks noChangeAspect="1"/>
          </p:cNvPicPr>
          <p:nvPr/>
        </p:nvPicPr>
        <p:blipFill>
          <a:blip r:embed="rId3"/>
          <a:srcRect l="11130" r="11130"/>
          <a:stretch/>
        </p:blipFill>
        <p:spPr>
          <a:xfrm>
            <a:off x="254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54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Prestaciones Asistenciales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9144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Protección para colectivos que no acceden al nivel contributivo, ampliada por la reforma de 2024.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516688" y="17653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22225" y="44450"/>
                </a:moveTo>
                <a:cubicBezTo>
                  <a:pt x="22225" y="22984"/>
                  <a:pt x="39653" y="5556"/>
                  <a:pt x="61119" y="5556"/>
                </a:cubicBezTo>
                <a:cubicBezTo>
                  <a:pt x="82585" y="5556"/>
                  <a:pt x="100013" y="22984"/>
                  <a:pt x="100013" y="44450"/>
                </a:cubicBezTo>
                <a:cubicBezTo>
                  <a:pt x="100013" y="65916"/>
                  <a:pt x="82585" y="83344"/>
                  <a:pt x="61119" y="83344"/>
                </a:cubicBezTo>
                <a:cubicBezTo>
                  <a:pt x="39653" y="83344"/>
                  <a:pt x="22225" y="65916"/>
                  <a:pt x="22225" y="44450"/>
                </a:cubicBezTo>
                <a:close/>
                <a:moveTo>
                  <a:pt x="0" y="161131"/>
                </a:moveTo>
                <a:cubicBezTo>
                  <a:pt x="0" y="127377"/>
                  <a:pt x="27365" y="100013"/>
                  <a:pt x="61119" y="100013"/>
                </a:cubicBezTo>
                <a:cubicBezTo>
                  <a:pt x="94873" y="100013"/>
                  <a:pt x="122238" y="127377"/>
                  <a:pt x="122238" y="161131"/>
                </a:cubicBezTo>
                <a:lnTo>
                  <a:pt x="122238" y="163215"/>
                </a:lnTo>
                <a:cubicBezTo>
                  <a:pt x="122238" y="171271"/>
                  <a:pt x="115709" y="177800"/>
                  <a:pt x="107652" y="177800"/>
                </a:cubicBezTo>
                <a:lnTo>
                  <a:pt x="14585" y="177800"/>
                </a:lnTo>
                <a:cubicBezTo>
                  <a:pt x="6529" y="177800"/>
                  <a:pt x="0" y="171271"/>
                  <a:pt x="0" y="163215"/>
                </a:cubicBezTo>
                <a:lnTo>
                  <a:pt x="0" y="161131"/>
                </a:lnTo>
                <a:close/>
                <a:moveTo>
                  <a:pt x="150019" y="22225"/>
                </a:moveTo>
                <a:cubicBezTo>
                  <a:pt x="168418" y="22225"/>
                  <a:pt x="183356" y="37163"/>
                  <a:pt x="183356" y="55563"/>
                </a:cubicBezTo>
                <a:cubicBezTo>
                  <a:pt x="183356" y="73962"/>
                  <a:pt x="168418" y="88900"/>
                  <a:pt x="150019" y="88900"/>
                </a:cubicBezTo>
                <a:cubicBezTo>
                  <a:pt x="131619" y="88900"/>
                  <a:pt x="116681" y="73962"/>
                  <a:pt x="116681" y="55563"/>
                </a:cubicBezTo>
                <a:cubicBezTo>
                  <a:pt x="116681" y="37163"/>
                  <a:pt x="131619" y="22225"/>
                  <a:pt x="150019" y="22225"/>
                </a:cubicBezTo>
                <a:close/>
                <a:moveTo>
                  <a:pt x="150019" y="105569"/>
                </a:moveTo>
                <a:cubicBezTo>
                  <a:pt x="177626" y="105569"/>
                  <a:pt x="200025" y="127967"/>
                  <a:pt x="200025" y="155575"/>
                </a:cubicBezTo>
                <a:lnTo>
                  <a:pt x="200025" y="163354"/>
                </a:lnTo>
                <a:cubicBezTo>
                  <a:pt x="200025" y="171341"/>
                  <a:pt x="193566" y="177800"/>
                  <a:pt x="185579" y="177800"/>
                </a:cubicBezTo>
                <a:lnTo>
                  <a:pt x="135295" y="177800"/>
                </a:lnTo>
                <a:cubicBezTo>
                  <a:pt x="137587" y="173459"/>
                  <a:pt x="138906" y="168493"/>
                  <a:pt x="138906" y="163215"/>
                </a:cubicBezTo>
                <a:lnTo>
                  <a:pt x="138906" y="161131"/>
                </a:lnTo>
                <a:cubicBezTo>
                  <a:pt x="138906" y="143247"/>
                  <a:pt x="132864" y="126787"/>
                  <a:pt x="122758" y="113660"/>
                </a:cubicBezTo>
                <a:cubicBezTo>
                  <a:pt x="130607" y="108555"/>
                  <a:pt x="139983" y="105569"/>
                  <a:pt x="150019" y="105569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6731000" y="1727200"/>
            <a:ext cx="520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Menores de 45 años sin hijos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16688" y="21209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55563" y="33337"/>
                </a:moveTo>
                <a:lnTo>
                  <a:pt x="55563" y="66675"/>
                </a:lnTo>
                <a:lnTo>
                  <a:pt x="101888" y="66675"/>
                </a:lnTo>
                <a:lnTo>
                  <a:pt x="81885" y="33337"/>
                </a:lnTo>
                <a:lnTo>
                  <a:pt x="55563" y="33337"/>
                </a:lnTo>
                <a:close/>
                <a:moveTo>
                  <a:pt x="33337" y="77440"/>
                </a:moveTo>
                <a:lnTo>
                  <a:pt x="33337" y="22225"/>
                </a:lnTo>
                <a:cubicBezTo>
                  <a:pt x="33337" y="16078"/>
                  <a:pt x="38303" y="11112"/>
                  <a:pt x="44450" y="11112"/>
                </a:cubicBezTo>
                <a:lnTo>
                  <a:pt x="81885" y="11112"/>
                </a:lnTo>
                <a:cubicBezTo>
                  <a:pt x="89699" y="11112"/>
                  <a:pt x="96922" y="15210"/>
                  <a:pt x="100950" y="21912"/>
                </a:cubicBezTo>
                <a:lnTo>
                  <a:pt x="127828" y="66675"/>
                </a:lnTo>
                <a:lnTo>
                  <a:pt x="150053" y="66675"/>
                </a:lnTo>
                <a:lnTo>
                  <a:pt x="150053" y="41672"/>
                </a:lnTo>
                <a:cubicBezTo>
                  <a:pt x="150053" y="37053"/>
                  <a:pt x="153769" y="33337"/>
                  <a:pt x="158388" y="33337"/>
                </a:cubicBezTo>
                <a:cubicBezTo>
                  <a:pt x="163006" y="33337"/>
                  <a:pt x="166722" y="37053"/>
                  <a:pt x="166722" y="41672"/>
                </a:cubicBezTo>
                <a:lnTo>
                  <a:pt x="166722" y="66675"/>
                </a:lnTo>
                <a:lnTo>
                  <a:pt x="183391" y="66675"/>
                </a:lnTo>
                <a:cubicBezTo>
                  <a:pt x="192594" y="66675"/>
                  <a:pt x="200060" y="74141"/>
                  <a:pt x="200060" y="83344"/>
                </a:cubicBezTo>
                <a:lnTo>
                  <a:pt x="200060" y="97755"/>
                </a:lnTo>
                <a:cubicBezTo>
                  <a:pt x="200060" y="102686"/>
                  <a:pt x="197872" y="107409"/>
                  <a:pt x="194052" y="110569"/>
                </a:cubicBezTo>
                <a:lnTo>
                  <a:pt x="181898" y="120710"/>
                </a:lnTo>
                <a:cubicBezTo>
                  <a:pt x="191100" y="125988"/>
                  <a:pt x="197282" y="135885"/>
                  <a:pt x="197282" y="147241"/>
                </a:cubicBezTo>
                <a:cubicBezTo>
                  <a:pt x="197282" y="164118"/>
                  <a:pt x="183599" y="177800"/>
                  <a:pt x="166722" y="177800"/>
                </a:cubicBezTo>
                <a:cubicBezTo>
                  <a:pt x="149845" y="177800"/>
                  <a:pt x="136163" y="164118"/>
                  <a:pt x="136163" y="147241"/>
                </a:cubicBezTo>
                <a:cubicBezTo>
                  <a:pt x="136163" y="142240"/>
                  <a:pt x="137378" y="137517"/>
                  <a:pt x="139497" y="133350"/>
                </a:cubicBezTo>
                <a:lnTo>
                  <a:pt x="104353" y="133350"/>
                </a:lnTo>
                <a:cubicBezTo>
                  <a:pt x="103312" y="138003"/>
                  <a:pt x="101610" y="142379"/>
                  <a:pt x="99353" y="146442"/>
                </a:cubicBezTo>
                <a:cubicBezTo>
                  <a:pt x="102027" y="149706"/>
                  <a:pt x="101853" y="154568"/>
                  <a:pt x="98797" y="157624"/>
                </a:cubicBezTo>
                <a:lnTo>
                  <a:pt x="90949" y="165472"/>
                </a:lnTo>
                <a:cubicBezTo>
                  <a:pt x="87893" y="168528"/>
                  <a:pt x="83066" y="168702"/>
                  <a:pt x="79767" y="166028"/>
                </a:cubicBezTo>
                <a:cubicBezTo>
                  <a:pt x="76537" y="167833"/>
                  <a:pt x="73065" y="169257"/>
                  <a:pt x="69418" y="170299"/>
                </a:cubicBezTo>
                <a:cubicBezTo>
                  <a:pt x="69002" y="174501"/>
                  <a:pt x="65460" y="177800"/>
                  <a:pt x="61119" y="177800"/>
                </a:cubicBezTo>
                <a:lnTo>
                  <a:pt x="50006" y="177800"/>
                </a:lnTo>
                <a:cubicBezTo>
                  <a:pt x="45700" y="177800"/>
                  <a:pt x="42123" y="174501"/>
                  <a:pt x="41707" y="170299"/>
                </a:cubicBezTo>
                <a:cubicBezTo>
                  <a:pt x="38060" y="169257"/>
                  <a:pt x="34622" y="167799"/>
                  <a:pt x="31358" y="166028"/>
                </a:cubicBezTo>
                <a:cubicBezTo>
                  <a:pt x="28094" y="168702"/>
                  <a:pt x="23232" y="168528"/>
                  <a:pt x="20176" y="165472"/>
                </a:cubicBezTo>
                <a:lnTo>
                  <a:pt x="12328" y="157589"/>
                </a:lnTo>
                <a:cubicBezTo>
                  <a:pt x="9272" y="154533"/>
                  <a:pt x="9098" y="149706"/>
                  <a:pt x="11772" y="146407"/>
                </a:cubicBezTo>
                <a:cubicBezTo>
                  <a:pt x="9967" y="143178"/>
                  <a:pt x="8543" y="139705"/>
                  <a:pt x="7501" y="136059"/>
                </a:cubicBezTo>
                <a:cubicBezTo>
                  <a:pt x="3299" y="135642"/>
                  <a:pt x="0" y="132100"/>
                  <a:pt x="0" y="127759"/>
                </a:cubicBezTo>
                <a:lnTo>
                  <a:pt x="0" y="116647"/>
                </a:lnTo>
                <a:cubicBezTo>
                  <a:pt x="0" y="112340"/>
                  <a:pt x="3299" y="108764"/>
                  <a:pt x="7501" y="108347"/>
                </a:cubicBezTo>
                <a:cubicBezTo>
                  <a:pt x="8543" y="104701"/>
                  <a:pt x="10001" y="101263"/>
                  <a:pt x="11772" y="97998"/>
                </a:cubicBezTo>
                <a:cubicBezTo>
                  <a:pt x="9098" y="94734"/>
                  <a:pt x="9272" y="89872"/>
                  <a:pt x="12328" y="86816"/>
                </a:cubicBezTo>
                <a:lnTo>
                  <a:pt x="20176" y="78968"/>
                </a:lnTo>
                <a:cubicBezTo>
                  <a:pt x="23232" y="75912"/>
                  <a:pt x="28059" y="75739"/>
                  <a:pt x="31358" y="78413"/>
                </a:cubicBezTo>
                <a:cubicBezTo>
                  <a:pt x="32018" y="78065"/>
                  <a:pt x="32643" y="77718"/>
                  <a:pt x="33338" y="77371"/>
                </a:cubicBezTo>
                <a:close/>
                <a:moveTo>
                  <a:pt x="55563" y="100013"/>
                </a:moveTo>
                <a:cubicBezTo>
                  <a:pt x="43296" y="100013"/>
                  <a:pt x="33337" y="109971"/>
                  <a:pt x="33337" y="122238"/>
                </a:cubicBezTo>
                <a:cubicBezTo>
                  <a:pt x="33337" y="134504"/>
                  <a:pt x="43296" y="144463"/>
                  <a:pt x="55563" y="144463"/>
                </a:cubicBezTo>
                <a:cubicBezTo>
                  <a:pt x="67829" y="144463"/>
                  <a:pt x="77788" y="134504"/>
                  <a:pt x="77788" y="122238"/>
                </a:cubicBezTo>
                <a:cubicBezTo>
                  <a:pt x="77788" y="109971"/>
                  <a:pt x="67829" y="100013"/>
                  <a:pt x="55563" y="100013"/>
                </a:cubicBezTo>
                <a:close/>
                <a:moveTo>
                  <a:pt x="152797" y="147241"/>
                </a:moveTo>
                <a:cubicBezTo>
                  <a:pt x="152797" y="154907"/>
                  <a:pt x="159021" y="161131"/>
                  <a:pt x="166688" y="161131"/>
                </a:cubicBezTo>
                <a:cubicBezTo>
                  <a:pt x="174354" y="161131"/>
                  <a:pt x="180578" y="154907"/>
                  <a:pt x="180578" y="147241"/>
                </a:cubicBezTo>
                <a:cubicBezTo>
                  <a:pt x="180578" y="139574"/>
                  <a:pt x="174354" y="133350"/>
                  <a:pt x="166688" y="133350"/>
                </a:cubicBezTo>
                <a:cubicBezTo>
                  <a:pt x="159021" y="133350"/>
                  <a:pt x="152797" y="139574"/>
                  <a:pt x="152797" y="147241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6731000" y="2082800"/>
            <a:ext cx="520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Trabajadores agrarios eventuales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50025" y="24765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0" y="22225"/>
                </a:moveTo>
                <a:cubicBezTo>
                  <a:pt x="0" y="9967"/>
                  <a:pt x="9967" y="0"/>
                  <a:pt x="22225" y="0"/>
                </a:cubicBezTo>
                <a:lnTo>
                  <a:pt x="111125" y="0"/>
                </a:lnTo>
                <a:cubicBezTo>
                  <a:pt x="123383" y="0"/>
                  <a:pt x="133350" y="9967"/>
                  <a:pt x="133350" y="22225"/>
                </a:cubicBezTo>
                <a:lnTo>
                  <a:pt x="133350" y="155575"/>
                </a:lnTo>
                <a:cubicBezTo>
                  <a:pt x="133350" y="167833"/>
                  <a:pt x="123383" y="177800"/>
                  <a:pt x="111125" y="177800"/>
                </a:cubicBezTo>
                <a:lnTo>
                  <a:pt x="22225" y="177800"/>
                </a:lnTo>
                <a:cubicBezTo>
                  <a:pt x="9967" y="177800"/>
                  <a:pt x="0" y="167833"/>
                  <a:pt x="0" y="155575"/>
                </a:cubicBezTo>
                <a:lnTo>
                  <a:pt x="0" y="22225"/>
                </a:lnTo>
                <a:close/>
                <a:moveTo>
                  <a:pt x="33337" y="141684"/>
                </a:moveTo>
                <a:cubicBezTo>
                  <a:pt x="33337" y="146303"/>
                  <a:pt x="37053" y="150019"/>
                  <a:pt x="41672" y="150019"/>
                </a:cubicBezTo>
                <a:lnTo>
                  <a:pt x="91678" y="150019"/>
                </a:lnTo>
                <a:cubicBezTo>
                  <a:pt x="96297" y="150019"/>
                  <a:pt x="100013" y="146303"/>
                  <a:pt x="100013" y="141684"/>
                </a:cubicBezTo>
                <a:cubicBezTo>
                  <a:pt x="100013" y="137066"/>
                  <a:pt x="96297" y="133350"/>
                  <a:pt x="91678" y="133350"/>
                </a:cubicBezTo>
                <a:lnTo>
                  <a:pt x="41672" y="133350"/>
                </a:lnTo>
                <a:cubicBezTo>
                  <a:pt x="37053" y="133350"/>
                  <a:pt x="33337" y="137066"/>
                  <a:pt x="33337" y="141684"/>
                </a:cubicBezTo>
                <a:close/>
                <a:moveTo>
                  <a:pt x="96748" y="72231"/>
                </a:moveTo>
                <a:cubicBezTo>
                  <a:pt x="95081" y="81399"/>
                  <a:pt x="89282" y="89143"/>
                  <a:pt x="81399" y="93484"/>
                </a:cubicBezTo>
                <a:cubicBezTo>
                  <a:pt x="83726" y="87580"/>
                  <a:pt x="85288" y="80288"/>
                  <a:pt x="85775" y="72231"/>
                </a:cubicBezTo>
                <a:lnTo>
                  <a:pt x="96748" y="72231"/>
                </a:lnTo>
                <a:close/>
                <a:moveTo>
                  <a:pt x="36637" y="72231"/>
                </a:moveTo>
                <a:lnTo>
                  <a:pt x="47610" y="72231"/>
                </a:lnTo>
                <a:cubicBezTo>
                  <a:pt x="48096" y="80253"/>
                  <a:pt x="49694" y="87580"/>
                  <a:pt x="51986" y="93484"/>
                </a:cubicBezTo>
                <a:cubicBezTo>
                  <a:pt x="44103" y="89143"/>
                  <a:pt x="38303" y="81399"/>
                  <a:pt x="36637" y="72231"/>
                </a:cubicBezTo>
                <a:close/>
                <a:moveTo>
                  <a:pt x="63168" y="91331"/>
                </a:moveTo>
                <a:cubicBezTo>
                  <a:pt x="61015" y="86678"/>
                  <a:pt x="59313" y="80045"/>
                  <a:pt x="58757" y="72231"/>
                </a:cubicBezTo>
                <a:lnTo>
                  <a:pt x="74662" y="72231"/>
                </a:lnTo>
                <a:cubicBezTo>
                  <a:pt x="74106" y="80045"/>
                  <a:pt x="72405" y="86678"/>
                  <a:pt x="70252" y="91331"/>
                </a:cubicBezTo>
                <a:cubicBezTo>
                  <a:pt x="68689" y="94665"/>
                  <a:pt x="67404" y="96123"/>
                  <a:pt x="66710" y="96713"/>
                </a:cubicBezTo>
                <a:cubicBezTo>
                  <a:pt x="66015" y="96123"/>
                  <a:pt x="64730" y="94699"/>
                  <a:pt x="63168" y="91331"/>
                </a:cubicBezTo>
                <a:close/>
                <a:moveTo>
                  <a:pt x="63168" y="42019"/>
                </a:moveTo>
                <a:cubicBezTo>
                  <a:pt x="64730" y="38685"/>
                  <a:pt x="66015" y="37227"/>
                  <a:pt x="66710" y="36637"/>
                </a:cubicBezTo>
                <a:cubicBezTo>
                  <a:pt x="67404" y="37227"/>
                  <a:pt x="68689" y="38651"/>
                  <a:pt x="70252" y="42019"/>
                </a:cubicBezTo>
                <a:cubicBezTo>
                  <a:pt x="72405" y="46673"/>
                  <a:pt x="74106" y="53305"/>
                  <a:pt x="74662" y="61119"/>
                </a:cubicBezTo>
                <a:lnTo>
                  <a:pt x="58757" y="61119"/>
                </a:lnTo>
                <a:cubicBezTo>
                  <a:pt x="59313" y="53305"/>
                  <a:pt x="61015" y="46673"/>
                  <a:pt x="63168" y="42019"/>
                </a:cubicBezTo>
                <a:close/>
                <a:moveTo>
                  <a:pt x="96748" y="61119"/>
                </a:moveTo>
                <a:lnTo>
                  <a:pt x="85775" y="61119"/>
                </a:lnTo>
                <a:cubicBezTo>
                  <a:pt x="85288" y="53097"/>
                  <a:pt x="83691" y="45770"/>
                  <a:pt x="81399" y="39866"/>
                </a:cubicBezTo>
                <a:cubicBezTo>
                  <a:pt x="89282" y="44207"/>
                  <a:pt x="95081" y="51951"/>
                  <a:pt x="96748" y="61119"/>
                </a:cubicBezTo>
                <a:close/>
                <a:moveTo>
                  <a:pt x="47575" y="61119"/>
                </a:moveTo>
                <a:lnTo>
                  <a:pt x="36602" y="61119"/>
                </a:lnTo>
                <a:cubicBezTo>
                  <a:pt x="38269" y="51951"/>
                  <a:pt x="44068" y="44207"/>
                  <a:pt x="51951" y="39866"/>
                </a:cubicBezTo>
                <a:cubicBezTo>
                  <a:pt x="49624" y="45770"/>
                  <a:pt x="48062" y="53062"/>
                  <a:pt x="47575" y="61119"/>
                </a:cubicBezTo>
                <a:close/>
                <a:moveTo>
                  <a:pt x="111125" y="66675"/>
                </a:moveTo>
                <a:cubicBezTo>
                  <a:pt x="111125" y="42142"/>
                  <a:pt x="91208" y="22225"/>
                  <a:pt x="66675" y="22225"/>
                </a:cubicBezTo>
                <a:cubicBezTo>
                  <a:pt x="42142" y="22225"/>
                  <a:pt x="22225" y="42142"/>
                  <a:pt x="22225" y="66675"/>
                </a:cubicBezTo>
                <a:cubicBezTo>
                  <a:pt x="22225" y="91208"/>
                  <a:pt x="42142" y="111125"/>
                  <a:pt x="66675" y="111125"/>
                </a:cubicBezTo>
                <a:cubicBezTo>
                  <a:pt x="91208" y="111125"/>
                  <a:pt x="111125" y="91208"/>
                  <a:pt x="111125" y="66675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731000" y="2438400"/>
            <a:ext cx="520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Emigrantes retornados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27800" y="2832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0497" y="0"/>
                  <a:pt x="92095" y="347"/>
                  <a:pt x="93553" y="1007"/>
                </a:cubicBezTo>
                <a:lnTo>
                  <a:pt x="158978" y="28754"/>
                </a:lnTo>
                <a:cubicBezTo>
                  <a:pt x="166618" y="31983"/>
                  <a:pt x="172313" y="39519"/>
                  <a:pt x="172278" y="48617"/>
                </a:cubicBezTo>
                <a:cubicBezTo>
                  <a:pt x="172105" y="83066"/>
                  <a:pt x="157936" y="146095"/>
                  <a:pt x="98103" y="174744"/>
                </a:cubicBezTo>
                <a:cubicBezTo>
                  <a:pt x="92303" y="177522"/>
                  <a:pt x="85566" y="177522"/>
                  <a:pt x="79767" y="174744"/>
                </a:cubicBezTo>
                <a:cubicBezTo>
                  <a:pt x="19898" y="146095"/>
                  <a:pt x="5765" y="83066"/>
                  <a:pt x="5591" y="48617"/>
                </a:cubicBezTo>
                <a:cubicBezTo>
                  <a:pt x="5556" y="39519"/>
                  <a:pt x="11251" y="31983"/>
                  <a:pt x="18891" y="28754"/>
                </a:cubicBezTo>
                <a:lnTo>
                  <a:pt x="84281" y="1007"/>
                </a:lnTo>
                <a:cubicBezTo>
                  <a:pt x="85740" y="347"/>
                  <a:pt x="87303" y="0"/>
                  <a:pt x="88900" y="0"/>
                </a:cubicBezTo>
                <a:close/>
                <a:moveTo>
                  <a:pt x="88900" y="23197"/>
                </a:moveTo>
                <a:lnTo>
                  <a:pt x="88900" y="154498"/>
                </a:lnTo>
                <a:cubicBezTo>
                  <a:pt x="136823" y="131301"/>
                  <a:pt x="149706" y="79906"/>
                  <a:pt x="150019" y="49138"/>
                </a:cubicBezTo>
                <a:lnTo>
                  <a:pt x="88900" y="23232"/>
                </a:lnTo>
                <a:lnTo>
                  <a:pt x="88900" y="23232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6731000" y="2794000"/>
            <a:ext cx="520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Víctimas de violencia de género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02400" y="3251200"/>
            <a:ext cx="5435600" cy="711200"/>
          </a:xfrm>
          <a:custGeom>
            <a:avLst/>
            <a:gdLst/>
            <a:ahLst/>
            <a:cxnLst/>
            <a:rect l="l" t="t" r="r" b="b"/>
            <a:pathLst>
              <a:path w="5435600" h="711200">
                <a:moveTo>
                  <a:pt x="50801" y="0"/>
                </a:moveTo>
                <a:lnTo>
                  <a:pt x="5384799" y="0"/>
                </a:lnTo>
                <a:cubicBezTo>
                  <a:pt x="5412856" y="0"/>
                  <a:pt x="5435600" y="22744"/>
                  <a:pt x="5435600" y="50801"/>
                </a:cubicBezTo>
                <a:lnTo>
                  <a:pt x="5435600" y="660399"/>
                </a:lnTo>
                <a:cubicBezTo>
                  <a:pt x="5435600" y="688456"/>
                  <a:pt x="5412856" y="711200"/>
                  <a:pt x="53847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502400" y="3251200"/>
            <a:ext cx="5435600" cy="711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Requisito: Carencia de rentas superiores al 75% del SMI por unidad familiar.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82961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Subsidios Asistenciales: Cuantía y Duración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54000" y="2844961"/>
            <a:ext cx="7581900" cy="1930400"/>
          </a:xfrm>
          <a:custGeom>
            <a:avLst/>
            <a:gdLst/>
            <a:ahLst/>
            <a:cxnLst/>
            <a:rect l="l" t="t" r="r" b="b"/>
            <a:pathLst>
              <a:path w="7581900" h="1930400">
                <a:moveTo>
                  <a:pt x="101597" y="0"/>
                </a:moveTo>
                <a:lnTo>
                  <a:pt x="7480303" y="0"/>
                </a:lnTo>
                <a:cubicBezTo>
                  <a:pt x="7536413" y="0"/>
                  <a:pt x="7581900" y="45487"/>
                  <a:pt x="7581900" y="101597"/>
                </a:cubicBezTo>
                <a:lnTo>
                  <a:pt x="7581900" y="1828803"/>
                </a:lnTo>
                <a:cubicBezTo>
                  <a:pt x="7581900" y="1884913"/>
                  <a:pt x="7536413" y="1930400"/>
                  <a:pt x="74803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3048161"/>
            <a:ext cx="768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Cuantía (Sobre el IPREM)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3200" y="3556161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95%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3200" y="4013361"/>
            <a:ext cx="289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Meses 1-6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95245" y="3556161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95245" y="4013361"/>
            <a:ext cx="289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Meses 7-12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7290" y="3556161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7290" y="4013361"/>
            <a:ext cx="289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partir mes 13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3200" y="4368800"/>
            <a:ext cx="7683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Excepción: Subsidio mayores de 52 años mantiene el 80% fijo.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41177" y="2844961"/>
            <a:ext cx="3797300" cy="1930400"/>
          </a:xfrm>
          <a:custGeom>
            <a:avLst/>
            <a:gdLst/>
            <a:ahLst/>
            <a:cxnLst/>
            <a:rect l="l" t="t" r="r" b="b"/>
            <a:pathLst>
              <a:path w="3797300" h="1930400">
                <a:moveTo>
                  <a:pt x="101597" y="0"/>
                </a:moveTo>
                <a:lnTo>
                  <a:pt x="3695703" y="0"/>
                </a:lnTo>
                <a:cubicBezTo>
                  <a:pt x="3751813" y="0"/>
                  <a:pt x="3797300" y="45487"/>
                  <a:pt x="3797300" y="101597"/>
                </a:cubicBezTo>
                <a:lnTo>
                  <a:pt x="3797300" y="1828803"/>
                </a:lnTo>
                <a:cubicBezTo>
                  <a:pt x="3797300" y="1884913"/>
                  <a:pt x="3751813" y="1930400"/>
                  <a:pt x="36957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9460547" y="3200400"/>
            <a:ext cx="166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55831" y="3708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a 30 meses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61496" y="4216400"/>
            <a:ext cx="375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Hasta la jubilación para mayores de 52 años.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41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Financiación y Novedades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667000" y="2108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917825" y="23876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-28575"/>
                </a:moveTo>
                <a:cubicBezTo>
                  <a:pt x="304488" y="-28575"/>
                  <a:pt x="342900" y="9837"/>
                  <a:pt x="342900" y="57150"/>
                </a:cubicBezTo>
                <a:cubicBezTo>
                  <a:pt x="342900" y="104463"/>
                  <a:pt x="304488" y="142875"/>
                  <a:pt x="257175" y="142875"/>
                </a:cubicBezTo>
                <a:cubicBezTo>
                  <a:pt x="209862" y="142875"/>
                  <a:pt x="171450" y="104463"/>
                  <a:pt x="171450" y="57150"/>
                </a:cubicBezTo>
                <a:cubicBezTo>
                  <a:pt x="171450" y="9837"/>
                  <a:pt x="209862" y="-28575"/>
                  <a:pt x="257175" y="-28575"/>
                </a:cubicBezTo>
                <a:close/>
                <a:moveTo>
                  <a:pt x="42863" y="271463"/>
                </a:moveTo>
                <a:cubicBezTo>
                  <a:pt x="42863" y="208865"/>
                  <a:pt x="84832" y="154126"/>
                  <a:pt x="147429" y="124212"/>
                </a:cubicBezTo>
                <a:cubicBezTo>
                  <a:pt x="170021" y="161092"/>
                  <a:pt x="210741" y="185738"/>
                  <a:pt x="257175" y="185738"/>
                </a:cubicBezTo>
                <a:cubicBezTo>
                  <a:pt x="306913" y="185738"/>
                  <a:pt x="350133" y="157430"/>
                  <a:pt x="371475" y="116086"/>
                </a:cubicBezTo>
                <a:cubicBezTo>
                  <a:pt x="385584" y="105995"/>
                  <a:pt x="402818" y="100013"/>
                  <a:pt x="421481" y="100013"/>
                </a:cubicBezTo>
                <a:lnTo>
                  <a:pt x="438894" y="100013"/>
                </a:lnTo>
                <a:cubicBezTo>
                  <a:pt x="448181" y="100013"/>
                  <a:pt x="454968" y="108764"/>
                  <a:pt x="452735" y="117783"/>
                </a:cubicBezTo>
                <a:lnTo>
                  <a:pt x="437465" y="178772"/>
                </a:lnTo>
                <a:cubicBezTo>
                  <a:pt x="446306" y="189845"/>
                  <a:pt x="453717" y="201722"/>
                  <a:pt x="459254" y="214313"/>
                </a:cubicBezTo>
                <a:lnTo>
                  <a:pt x="478631" y="214313"/>
                </a:lnTo>
                <a:cubicBezTo>
                  <a:pt x="490508" y="214313"/>
                  <a:pt x="500063" y="223867"/>
                  <a:pt x="500063" y="235744"/>
                </a:cubicBezTo>
                <a:lnTo>
                  <a:pt x="500063" y="335756"/>
                </a:lnTo>
                <a:cubicBezTo>
                  <a:pt x="500063" y="347633"/>
                  <a:pt x="490508" y="357188"/>
                  <a:pt x="478631" y="357188"/>
                </a:cubicBezTo>
                <a:lnTo>
                  <a:pt x="442913" y="357188"/>
                </a:lnTo>
                <a:cubicBezTo>
                  <a:pt x="428179" y="376833"/>
                  <a:pt x="408533" y="392549"/>
                  <a:pt x="385763" y="402461"/>
                </a:cubicBezTo>
                <a:lnTo>
                  <a:pt x="385763" y="428625"/>
                </a:lnTo>
                <a:cubicBezTo>
                  <a:pt x="385763" y="444431"/>
                  <a:pt x="372993" y="457200"/>
                  <a:pt x="357188" y="457200"/>
                </a:cubicBezTo>
                <a:lnTo>
                  <a:pt x="327720" y="457200"/>
                </a:lnTo>
                <a:cubicBezTo>
                  <a:pt x="314950" y="457200"/>
                  <a:pt x="303788" y="448717"/>
                  <a:pt x="300216" y="436483"/>
                </a:cubicBezTo>
                <a:lnTo>
                  <a:pt x="293876" y="414338"/>
                </a:lnTo>
                <a:lnTo>
                  <a:pt x="220385" y="414338"/>
                </a:lnTo>
                <a:lnTo>
                  <a:pt x="214045" y="436483"/>
                </a:lnTo>
                <a:cubicBezTo>
                  <a:pt x="210562" y="448717"/>
                  <a:pt x="199400" y="457200"/>
                  <a:pt x="186630" y="457200"/>
                </a:cubicBezTo>
                <a:lnTo>
                  <a:pt x="157163" y="457200"/>
                </a:lnTo>
                <a:cubicBezTo>
                  <a:pt x="141357" y="457200"/>
                  <a:pt x="128588" y="444431"/>
                  <a:pt x="128588" y="428625"/>
                </a:cubicBezTo>
                <a:lnTo>
                  <a:pt x="128588" y="402461"/>
                </a:lnTo>
                <a:cubicBezTo>
                  <a:pt x="78135" y="380405"/>
                  <a:pt x="42863" y="330041"/>
                  <a:pt x="42863" y="271463"/>
                </a:cubicBezTo>
                <a:close/>
                <a:moveTo>
                  <a:pt x="378619" y="285750"/>
                </a:moveTo>
                <a:cubicBezTo>
                  <a:pt x="390447" y="285750"/>
                  <a:pt x="400050" y="276147"/>
                  <a:pt x="400050" y="264319"/>
                </a:cubicBezTo>
                <a:cubicBezTo>
                  <a:pt x="400050" y="252491"/>
                  <a:pt x="390447" y="242888"/>
                  <a:pt x="378619" y="242888"/>
                </a:cubicBezTo>
                <a:cubicBezTo>
                  <a:pt x="366791" y="242888"/>
                  <a:pt x="357188" y="252491"/>
                  <a:pt x="357188" y="264319"/>
                </a:cubicBezTo>
                <a:cubicBezTo>
                  <a:pt x="357188" y="276147"/>
                  <a:pt x="366791" y="285750"/>
                  <a:pt x="378619" y="28575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87400" y="33274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Contributivas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1400" y="3784600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Financiadas por cotizaciones sociales de trabajadores y empresas.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9000" y="2108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8788400" y="2387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13152" y="4554"/>
                </a:moveTo>
                <a:cubicBezTo>
                  <a:pt x="222528" y="-1518"/>
                  <a:pt x="234672" y="-1518"/>
                  <a:pt x="244048" y="4554"/>
                </a:cubicBezTo>
                <a:lnTo>
                  <a:pt x="444073" y="133142"/>
                </a:lnTo>
                <a:cubicBezTo>
                  <a:pt x="454700" y="140017"/>
                  <a:pt x="459611" y="153055"/>
                  <a:pt x="456039" y="165199"/>
                </a:cubicBezTo>
                <a:cubicBezTo>
                  <a:pt x="452467" y="177344"/>
                  <a:pt x="441305" y="185738"/>
                  <a:pt x="428625" y="185738"/>
                </a:cubicBezTo>
                <a:lnTo>
                  <a:pt x="400050" y="185738"/>
                </a:lnTo>
                <a:lnTo>
                  <a:pt x="400050" y="371475"/>
                </a:lnTo>
                <a:lnTo>
                  <a:pt x="445770" y="405765"/>
                </a:lnTo>
                <a:cubicBezTo>
                  <a:pt x="453003" y="411123"/>
                  <a:pt x="457200" y="419606"/>
                  <a:pt x="457200" y="428625"/>
                </a:cubicBezTo>
                <a:cubicBezTo>
                  <a:pt x="457200" y="444431"/>
                  <a:pt x="444431" y="457200"/>
                  <a:pt x="428625" y="457200"/>
                </a:cubicBezTo>
                <a:lnTo>
                  <a:pt x="28575" y="457200"/>
                </a:lnTo>
                <a:cubicBezTo>
                  <a:pt x="12769" y="457200"/>
                  <a:pt x="0" y="444431"/>
                  <a:pt x="0" y="428625"/>
                </a:cubicBezTo>
                <a:cubicBezTo>
                  <a:pt x="0" y="419606"/>
                  <a:pt x="4197" y="411123"/>
                  <a:pt x="11430" y="405765"/>
                </a:cubicBezTo>
                <a:lnTo>
                  <a:pt x="57150" y="371475"/>
                </a:lnTo>
                <a:lnTo>
                  <a:pt x="57150" y="371475"/>
                </a:lnTo>
                <a:lnTo>
                  <a:pt x="57150" y="185738"/>
                </a:lnTo>
                <a:lnTo>
                  <a:pt x="28575" y="185738"/>
                </a:lnTo>
                <a:cubicBezTo>
                  <a:pt x="15895" y="185738"/>
                  <a:pt x="4733" y="177344"/>
                  <a:pt x="1161" y="165199"/>
                </a:cubicBezTo>
                <a:cubicBezTo>
                  <a:pt x="-2411" y="153055"/>
                  <a:pt x="2500" y="139928"/>
                  <a:pt x="13127" y="133142"/>
                </a:cubicBezTo>
                <a:lnTo>
                  <a:pt x="213152" y="4554"/>
                </a:lnTo>
                <a:close/>
                <a:moveTo>
                  <a:pt x="300038" y="185738"/>
                </a:moveTo>
                <a:lnTo>
                  <a:pt x="300038" y="371475"/>
                </a:lnTo>
                <a:lnTo>
                  <a:pt x="357188" y="371475"/>
                </a:lnTo>
                <a:lnTo>
                  <a:pt x="357188" y="185738"/>
                </a:lnTo>
                <a:lnTo>
                  <a:pt x="300038" y="185738"/>
                </a:lnTo>
                <a:close/>
                <a:moveTo>
                  <a:pt x="200025" y="371475"/>
                </a:moveTo>
                <a:lnTo>
                  <a:pt x="257175" y="371475"/>
                </a:lnTo>
                <a:lnTo>
                  <a:pt x="257175" y="185738"/>
                </a:lnTo>
                <a:lnTo>
                  <a:pt x="200025" y="185738"/>
                </a:lnTo>
                <a:lnTo>
                  <a:pt x="200025" y="371475"/>
                </a:lnTo>
                <a:close/>
                <a:moveTo>
                  <a:pt x="100013" y="185738"/>
                </a:moveTo>
                <a:lnTo>
                  <a:pt x="100013" y="371475"/>
                </a:lnTo>
                <a:lnTo>
                  <a:pt x="157163" y="371475"/>
                </a:lnTo>
                <a:lnTo>
                  <a:pt x="157163" y="185738"/>
                </a:lnTo>
                <a:lnTo>
                  <a:pt x="100013" y="185738"/>
                </a:ln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629400" y="33274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Asistenciales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83400" y="3784600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Financiadas por los Presupuestos Generales del Estado (impuestos).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4000" y="4800600"/>
            <a:ext cx="11684000" cy="1016000"/>
          </a:xfrm>
          <a:custGeom>
            <a:avLst/>
            <a:gdLst/>
            <a:ahLst/>
            <a:cxnLst/>
            <a:rect l="l" t="t" r="r" b="b"/>
            <a:pathLst>
              <a:path w="11684000" h="1016000">
                <a:moveTo>
                  <a:pt x="101600" y="0"/>
                </a:moveTo>
                <a:lnTo>
                  <a:pt x="11582400" y="0"/>
                </a:lnTo>
                <a:cubicBezTo>
                  <a:pt x="11638475" y="0"/>
                  <a:pt x="11684000" y="45525"/>
                  <a:pt x="11684000" y="101600"/>
                </a:cubicBezTo>
                <a:lnTo>
                  <a:pt x="11684000" y="914400"/>
                </a:lnTo>
                <a:cubicBezTo>
                  <a:pt x="11684000" y="970475"/>
                  <a:pt x="11638475" y="1016000"/>
                  <a:pt x="11582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03200" y="5003800"/>
            <a:ext cx="1178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Novedad Reforma 2024: Complemento de Apoyo al Empleo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5359400"/>
            <a:ext cx="1127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Permite compatibilizar prestaciones con trabajo por cuenta ajena o propia durante 180 días.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y Activación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Condicionalidad y Compromiso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13716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prestación se vincula cada vez más a la </a:t>
            </a:r>
            <a:r>
              <a:rPr lang="en-US" sz="16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búsqueda activa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empleo a través de un compromiso mutuo.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2184400"/>
            <a:ext cx="5435600" cy="1727200"/>
          </a:xfrm>
          <a:custGeom>
            <a:avLst/>
            <a:gdLst/>
            <a:ahLst/>
            <a:cxnLst/>
            <a:rect l="l" t="t" r="r" b="b"/>
            <a:pathLst>
              <a:path w="5435600" h="1727200">
                <a:moveTo>
                  <a:pt x="101594" y="0"/>
                </a:moveTo>
                <a:lnTo>
                  <a:pt x="5334006" y="0"/>
                </a:lnTo>
                <a:cubicBezTo>
                  <a:pt x="5390115" y="0"/>
                  <a:pt x="5435600" y="45485"/>
                  <a:pt x="5435600" y="101594"/>
                </a:cubicBezTo>
                <a:lnTo>
                  <a:pt x="5435600" y="1625606"/>
                </a:lnTo>
                <a:cubicBezTo>
                  <a:pt x="5435600" y="1681715"/>
                  <a:pt x="5390115" y="1727200"/>
                  <a:pt x="53340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2387600"/>
            <a:ext cx="553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Obligaciones del Beneficiario: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844800"/>
            <a:ext cx="50292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2250" indent="-222250" algn="l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Mantener la inscripción como demandante.</a:t>
            </a:r>
            <a:endParaRPr lang="en-US" sz="1600" dirty="0"/>
          </a:p>
          <a:p>
            <a:pPr marL="222250" indent="-222250" algn="l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Aceptar colocaciones adecuadas.</a:t>
            </a:r>
            <a:endParaRPr lang="en-US" sz="1600" dirty="0"/>
          </a:p>
          <a:p>
            <a:pPr marL="222250" indent="-222250" algn="l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Participar en acciones de formación.</a:t>
            </a:r>
            <a:endParaRPr lang="en-US" sz="1600" dirty="0"/>
          </a:p>
        </p:txBody>
      </p:sp>
      <p:pic>
        <p:nvPicPr>
          <p:cNvPr id="7" name="Image 0" descr="https://kimi-web-img.moonshot.cn/img/thumbs.dreamstime.com/f3e08b05068f5959c68a05f0250f04e79de93496.jpg"/>
          <p:cNvPicPr>
            <a:picLocks noChangeAspect="1"/>
          </p:cNvPicPr>
          <p:nvPr/>
        </p:nvPicPr>
        <p:blipFill>
          <a:blip r:embed="rId3"/>
          <a:srcRect l="19352" r="19353"/>
          <a:stretch/>
        </p:blipFill>
        <p:spPr>
          <a:xfrm>
            <a:off x="6096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82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¿Qué es una "Colocación Adecuada"?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06157" y="2844800"/>
            <a:ext cx="4673600" cy="1371600"/>
          </a:xfrm>
          <a:custGeom>
            <a:avLst/>
            <a:gdLst/>
            <a:ahLst/>
            <a:cxnLst/>
            <a:rect l="l" t="t" r="r" b="b"/>
            <a:pathLst>
              <a:path w="4673600" h="1371600">
                <a:moveTo>
                  <a:pt x="101594" y="0"/>
                </a:moveTo>
                <a:lnTo>
                  <a:pt x="4572006" y="0"/>
                </a:lnTo>
                <a:cubicBezTo>
                  <a:pt x="4628115" y="0"/>
                  <a:pt x="4673600" y="45485"/>
                  <a:pt x="4673600" y="101594"/>
                </a:cubicBezTo>
                <a:lnTo>
                  <a:pt x="4673600" y="1270006"/>
                </a:lnTo>
                <a:cubicBezTo>
                  <a:pt x="4673600" y="1326115"/>
                  <a:pt x="4628115" y="1371600"/>
                  <a:pt x="45720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955357" y="30480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Primer Año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09357" y="3505200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Empleo similar a la última actividad desempeñada (≥3 meses).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82958" y="3276600"/>
            <a:ext cx="939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12243" y="2844800"/>
            <a:ext cx="4673600" cy="1371600"/>
          </a:xfrm>
          <a:custGeom>
            <a:avLst/>
            <a:gdLst/>
            <a:ahLst/>
            <a:cxnLst/>
            <a:rect l="l" t="t" r="r" b="b"/>
            <a:pathLst>
              <a:path w="4673600" h="1371600">
                <a:moveTo>
                  <a:pt x="101594" y="0"/>
                </a:moveTo>
                <a:lnTo>
                  <a:pt x="4572006" y="0"/>
                </a:lnTo>
                <a:cubicBezTo>
                  <a:pt x="4628115" y="0"/>
                  <a:pt x="4673600" y="45485"/>
                  <a:pt x="4673600" y="101594"/>
                </a:cubicBezTo>
                <a:lnTo>
                  <a:pt x="4673600" y="1270006"/>
                </a:lnTo>
                <a:cubicBezTo>
                  <a:pt x="4673600" y="1326115"/>
                  <a:pt x="4628115" y="1371600"/>
                  <a:pt x="45720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461443" y="30480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Después de 1 Año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15443" y="3505200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Otras ocupaciones consideradas apropiadas por el SERVEF.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4000" y="4521200"/>
            <a:ext cx="1168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Siempre considerando factores como distancia, salario y circunstancias personales.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2F83C04-5D9F-B2E9-B365-8E257FCD7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760" y="148421"/>
            <a:ext cx="5405120" cy="651219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86635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526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Extinción y Sanciones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666841" y="2616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974816" y="28956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14300" y="0"/>
                </a:moveTo>
                <a:cubicBezTo>
                  <a:pt x="130106" y="0"/>
                  <a:pt x="142875" y="12769"/>
                  <a:pt x="142875" y="28575"/>
                </a:cubicBezTo>
                <a:lnTo>
                  <a:pt x="142875" y="57150"/>
                </a:lnTo>
                <a:lnTo>
                  <a:pt x="257175" y="57150"/>
                </a:lnTo>
                <a:lnTo>
                  <a:pt x="257175" y="28575"/>
                </a:lnTo>
                <a:cubicBezTo>
                  <a:pt x="257175" y="12769"/>
                  <a:pt x="269944" y="0"/>
                  <a:pt x="285750" y="0"/>
                </a:cubicBezTo>
                <a:cubicBezTo>
                  <a:pt x="301556" y="0"/>
                  <a:pt x="314325" y="12769"/>
                  <a:pt x="314325" y="28575"/>
                </a:cubicBezTo>
                <a:lnTo>
                  <a:pt x="314325" y="57150"/>
                </a:lnTo>
                <a:lnTo>
                  <a:pt x="342900" y="57150"/>
                </a:lnTo>
                <a:cubicBezTo>
                  <a:pt x="374422" y="57150"/>
                  <a:pt x="400050" y="82778"/>
                  <a:pt x="400050" y="114300"/>
                </a:cubicBezTo>
                <a:lnTo>
                  <a:pt x="400050" y="371475"/>
                </a:lnTo>
                <a:cubicBezTo>
                  <a:pt x="400050" y="402997"/>
                  <a:pt x="374422" y="428625"/>
                  <a:pt x="34290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lnTo>
                  <a:pt x="0" y="114300"/>
                </a:lnTo>
                <a:cubicBezTo>
                  <a:pt x="0" y="82778"/>
                  <a:pt x="25628" y="57150"/>
                  <a:pt x="57150" y="57150"/>
                </a:cubicBezTo>
                <a:lnTo>
                  <a:pt x="85725" y="57150"/>
                </a:lnTo>
                <a:lnTo>
                  <a:pt x="85725" y="28575"/>
                </a:lnTo>
                <a:cubicBezTo>
                  <a:pt x="85725" y="12769"/>
                  <a:pt x="98494" y="0"/>
                  <a:pt x="114300" y="0"/>
                </a:cubicBezTo>
                <a:close/>
                <a:moveTo>
                  <a:pt x="260658" y="196542"/>
                </a:moveTo>
                <a:cubicBezTo>
                  <a:pt x="252264" y="188149"/>
                  <a:pt x="238691" y="188149"/>
                  <a:pt x="230386" y="196542"/>
                </a:cubicBezTo>
                <a:lnTo>
                  <a:pt x="200114" y="226814"/>
                </a:lnTo>
                <a:lnTo>
                  <a:pt x="169843" y="196542"/>
                </a:lnTo>
                <a:cubicBezTo>
                  <a:pt x="161449" y="188149"/>
                  <a:pt x="147876" y="188149"/>
                  <a:pt x="139571" y="196542"/>
                </a:cubicBezTo>
                <a:cubicBezTo>
                  <a:pt x="131266" y="204936"/>
                  <a:pt x="131177" y="218509"/>
                  <a:pt x="139571" y="226814"/>
                </a:cubicBezTo>
                <a:lnTo>
                  <a:pt x="169843" y="257086"/>
                </a:lnTo>
                <a:lnTo>
                  <a:pt x="139571" y="287357"/>
                </a:lnTo>
                <a:cubicBezTo>
                  <a:pt x="131177" y="295751"/>
                  <a:pt x="131177" y="309324"/>
                  <a:pt x="139571" y="317629"/>
                </a:cubicBezTo>
                <a:cubicBezTo>
                  <a:pt x="147965" y="325934"/>
                  <a:pt x="161538" y="326023"/>
                  <a:pt x="169843" y="317629"/>
                </a:cubicBezTo>
                <a:lnTo>
                  <a:pt x="200114" y="287357"/>
                </a:lnTo>
                <a:lnTo>
                  <a:pt x="230386" y="317629"/>
                </a:lnTo>
                <a:cubicBezTo>
                  <a:pt x="238780" y="326023"/>
                  <a:pt x="252353" y="326023"/>
                  <a:pt x="260658" y="317629"/>
                </a:cubicBezTo>
                <a:cubicBezTo>
                  <a:pt x="268962" y="309235"/>
                  <a:pt x="269051" y="295662"/>
                  <a:pt x="260658" y="287357"/>
                </a:cubicBezTo>
                <a:lnTo>
                  <a:pt x="230386" y="257086"/>
                </a:lnTo>
                <a:lnTo>
                  <a:pt x="260658" y="226814"/>
                </a:lnTo>
                <a:cubicBezTo>
                  <a:pt x="269051" y="218420"/>
                  <a:pt x="269051" y="204847"/>
                  <a:pt x="260658" y="196542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75214" y="3784600"/>
            <a:ext cx="420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Extinción Natural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9214" y="4241800"/>
            <a:ext cx="3695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Agotamiento del plazo, jubilación o nueva incorporación laboral.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8841" y="2616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8788241" y="2895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917214" y="3784600"/>
            <a:ext cx="420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Sanciones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71214" y="4241800"/>
            <a:ext cx="3695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Graduadas por incumplimiento: desde suspensiones por rechazo de ofertas hasta extinción por fraude.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ustainablebusinesstoolkit.com/a54e32dbb80c6e2ae20368e30466e29a6be5aa90.jpg"/>
          <p:cNvPicPr>
            <a:picLocks noChangeAspect="1"/>
          </p:cNvPicPr>
          <p:nvPr/>
        </p:nvPicPr>
        <p:blipFill>
          <a:blip r:embed="rId3"/>
          <a:srcRect l="19318" r="19318"/>
          <a:stretch/>
        </p:blipFill>
        <p:spPr>
          <a:xfrm>
            <a:off x="254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540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Integración con Políticas Activas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13716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efectividad depende de la </a:t>
            </a:r>
            <a:r>
              <a:rPr lang="en-US" sz="16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calidad de los servicios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públicos de empleo.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515894" y="2275842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89074" y="2778"/>
                </a:moveTo>
                <a:cubicBezTo>
                  <a:pt x="112073" y="2778"/>
                  <a:pt x="130746" y="21451"/>
                  <a:pt x="130746" y="44450"/>
                </a:cubicBezTo>
                <a:cubicBezTo>
                  <a:pt x="130746" y="67449"/>
                  <a:pt x="112073" y="86122"/>
                  <a:pt x="89074" y="86122"/>
                </a:cubicBezTo>
                <a:cubicBezTo>
                  <a:pt x="66074" y="86122"/>
                  <a:pt x="47402" y="67449"/>
                  <a:pt x="47402" y="44450"/>
                </a:cubicBezTo>
                <a:cubicBezTo>
                  <a:pt x="47402" y="21451"/>
                  <a:pt x="66074" y="2778"/>
                  <a:pt x="89074" y="2778"/>
                </a:cubicBezTo>
                <a:close/>
                <a:moveTo>
                  <a:pt x="78725" y="105569"/>
                </a:moveTo>
                <a:lnTo>
                  <a:pt x="99353" y="105569"/>
                </a:lnTo>
                <a:lnTo>
                  <a:pt x="99874" y="105569"/>
                </a:lnTo>
                <a:cubicBezTo>
                  <a:pt x="95394" y="114875"/>
                  <a:pt x="97165" y="125780"/>
                  <a:pt x="103867" y="133176"/>
                </a:cubicBezTo>
                <a:cubicBezTo>
                  <a:pt x="96852" y="140920"/>
                  <a:pt x="95255" y="152554"/>
                  <a:pt x="100603" y="162138"/>
                </a:cubicBezTo>
                <a:lnTo>
                  <a:pt x="108416" y="176168"/>
                </a:lnTo>
                <a:cubicBezTo>
                  <a:pt x="108729" y="176723"/>
                  <a:pt x="109076" y="177279"/>
                  <a:pt x="109423" y="177800"/>
                </a:cubicBezTo>
                <a:lnTo>
                  <a:pt x="27121" y="177800"/>
                </a:lnTo>
                <a:cubicBezTo>
                  <a:pt x="21426" y="177800"/>
                  <a:pt x="16808" y="173181"/>
                  <a:pt x="16808" y="167486"/>
                </a:cubicBezTo>
                <a:cubicBezTo>
                  <a:pt x="16808" y="133281"/>
                  <a:pt x="44519" y="105569"/>
                  <a:pt x="78725" y="105569"/>
                </a:cubicBezTo>
                <a:close/>
                <a:moveTo>
                  <a:pt x="150227" y="85983"/>
                </a:moveTo>
                <a:cubicBezTo>
                  <a:pt x="150227" y="81364"/>
                  <a:pt x="153943" y="77649"/>
                  <a:pt x="158561" y="77649"/>
                </a:cubicBezTo>
                <a:lnTo>
                  <a:pt x="175230" y="77649"/>
                </a:lnTo>
                <a:cubicBezTo>
                  <a:pt x="179849" y="77649"/>
                  <a:pt x="183565" y="81364"/>
                  <a:pt x="183565" y="85983"/>
                </a:cubicBezTo>
                <a:lnTo>
                  <a:pt x="183565" y="88101"/>
                </a:lnTo>
                <a:cubicBezTo>
                  <a:pt x="183565" y="94665"/>
                  <a:pt x="191934" y="99492"/>
                  <a:pt x="197629" y="96227"/>
                </a:cubicBezTo>
                <a:lnTo>
                  <a:pt x="199365" y="95220"/>
                </a:lnTo>
                <a:cubicBezTo>
                  <a:pt x="203393" y="92894"/>
                  <a:pt x="208568" y="94317"/>
                  <a:pt x="210825" y="98380"/>
                </a:cubicBezTo>
                <a:lnTo>
                  <a:pt x="218604" y="112340"/>
                </a:lnTo>
                <a:cubicBezTo>
                  <a:pt x="220757" y="116230"/>
                  <a:pt x="219507" y="121092"/>
                  <a:pt x="215756" y="123453"/>
                </a:cubicBezTo>
                <a:lnTo>
                  <a:pt x="214124" y="124460"/>
                </a:lnTo>
                <a:cubicBezTo>
                  <a:pt x="208498" y="127967"/>
                  <a:pt x="208498" y="138316"/>
                  <a:pt x="214124" y="141858"/>
                </a:cubicBezTo>
                <a:lnTo>
                  <a:pt x="215721" y="142865"/>
                </a:lnTo>
                <a:cubicBezTo>
                  <a:pt x="219472" y="145226"/>
                  <a:pt x="220757" y="150088"/>
                  <a:pt x="218604" y="153978"/>
                </a:cubicBezTo>
                <a:lnTo>
                  <a:pt x="210790" y="168007"/>
                </a:lnTo>
                <a:cubicBezTo>
                  <a:pt x="208533" y="172070"/>
                  <a:pt x="203359" y="173529"/>
                  <a:pt x="199330" y="171167"/>
                </a:cubicBezTo>
                <a:lnTo>
                  <a:pt x="197629" y="170160"/>
                </a:lnTo>
                <a:cubicBezTo>
                  <a:pt x="191934" y="166861"/>
                  <a:pt x="183565" y="171723"/>
                  <a:pt x="183565" y="178286"/>
                </a:cubicBezTo>
                <a:lnTo>
                  <a:pt x="183565" y="180404"/>
                </a:lnTo>
                <a:cubicBezTo>
                  <a:pt x="183565" y="185023"/>
                  <a:pt x="179849" y="188739"/>
                  <a:pt x="175230" y="188739"/>
                </a:cubicBezTo>
                <a:lnTo>
                  <a:pt x="158561" y="188739"/>
                </a:lnTo>
                <a:cubicBezTo>
                  <a:pt x="153943" y="188739"/>
                  <a:pt x="150227" y="185023"/>
                  <a:pt x="150227" y="180404"/>
                </a:cubicBezTo>
                <a:lnTo>
                  <a:pt x="150227" y="178356"/>
                </a:lnTo>
                <a:cubicBezTo>
                  <a:pt x="150227" y="171758"/>
                  <a:pt x="141823" y="166896"/>
                  <a:pt x="136093" y="170195"/>
                </a:cubicBezTo>
                <a:lnTo>
                  <a:pt x="134427" y="171167"/>
                </a:lnTo>
                <a:cubicBezTo>
                  <a:pt x="130398" y="173494"/>
                  <a:pt x="125259" y="172070"/>
                  <a:pt x="122967" y="168007"/>
                </a:cubicBezTo>
                <a:lnTo>
                  <a:pt x="115119" y="153978"/>
                </a:lnTo>
                <a:cubicBezTo>
                  <a:pt x="112966" y="150088"/>
                  <a:pt x="114216" y="145192"/>
                  <a:pt x="118001" y="142830"/>
                </a:cubicBezTo>
                <a:lnTo>
                  <a:pt x="119529" y="141893"/>
                </a:lnTo>
                <a:cubicBezTo>
                  <a:pt x="125189" y="138385"/>
                  <a:pt x="125189" y="127967"/>
                  <a:pt x="119529" y="124460"/>
                </a:cubicBezTo>
                <a:lnTo>
                  <a:pt x="117966" y="123488"/>
                </a:lnTo>
                <a:cubicBezTo>
                  <a:pt x="114181" y="121126"/>
                  <a:pt x="112931" y="116230"/>
                  <a:pt x="115084" y="112340"/>
                </a:cubicBezTo>
                <a:lnTo>
                  <a:pt x="122897" y="98346"/>
                </a:lnTo>
                <a:cubicBezTo>
                  <a:pt x="125155" y="94283"/>
                  <a:pt x="130329" y="92859"/>
                  <a:pt x="134322" y="95186"/>
                </a:cubicBezTo>
                <a:lnTo>
                  <a:pt x="135989" y="96158"/>
                </a:lnTo>
                <a:cubicBezTo>
                  <a:pt x="141719" y="99457"/>
                  <a:pt x="150123" y="94595"/>
                  <a:pt x="150123" y="87997"/>
                </a:cubicBezTo>
                <a:lnTo>
                  <a:pt x="150123" y="85948"/>
                </a:lnTo>
                <a:close/>
                <a:moveTo>
                  <a:pt x="184919" y="133281"/>
                </a:moveTo>
                <a:cubicBezTo>
                  <a:pt x="184919" y="123314"/>
                  <a:pt x="176828" y="115223"/>
                  <a:pt x="166861" y="115223"/>
                </a:cubicBezTo>
                <a:cubicBezTo>
                  <a:pt x="156895" y="115223"/>
                  <a:pt x="148803" y="123314"/>
                  <a:pt x="148803" y="133281"/>
                </a:cubicBezTo>
                <a:cubicBezTo>
                  <a:pt x="148803" y="143247"/>
                  <a:pt x="156895" y="151338"/>
                  <a:pt x="166861" y="151338"/>
                </a:cubicBezTo>
                <a:cubicBezTo>
                  <a:pt x="176828" y="151338"/>
                  <a:pt x="184919" y="143247"/>
                  <a:pt x="184919" y="133281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6745288" y="2184400"/>
            <a:ext cx="5194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Itinerarios Personalizados: Acceso garantizado a planes adaptados al perfil.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26530" y="2885442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44450" y="33337"/>
                </a:moveTo>
                <a:cubicBezTo>
                  <a:pt x="44450" y="21079"/>
                  <a:pt x="54417" y="11112"/>
                  <a:pt x="66675" y="11112"/>
                </a:cubicBezTo>
                <a:lnTo>
                  <a:pt x="188913" y="11112"/>
                </a:lnTo>
                <a:cubicBezTo>
                  <a:pt x="201171" y="11112"/>
                  <a:pt x="211138" y="21079"/>
                  <a:pt x="211138" y="33337"/>
                </a:cubicBezTo>
                <a:lnTo>
                  <a:pt x="211138" y="116681"/>
                </a:lnTo>
                <a:lnTo>
                  <a:pt x="177800" y="116681"/>
                </a:lnTo>
                <a:lnTo>
                  <a:pt x="177800" y="111125"/>
                </a:lnTo>
                <a:cubicBezTo>
                  <a:pt x="177800" y="104978"/>
                  <a:pt x="172834" y="100013"/>
                  <a:pt x="166688" y="100013"/>
                </a:cubicBezTo>
                <a:lnTo>
                  <a:pt x="144463" y="100013"/>
                </a:lnTo>
                <a:cubicBezTo>
                  <a:pt x="138316" y="100013"/>
                  <a:pt x="133350" y="104978"/>
                  <a:pt x="133350" y="111125"/>
                </a:cubicBezTo>
                <a:lnTo>
                  <a:pt x="133350" y="116681"/>
                </a:lnTo>
                <a:lnTo>
                  <a:pt x="88518" y="116681"/>
                </a:lnTo>
                <a:cubicBezTo>
                  <a:pt x="92303" y="110153"/>
                  <a:pt x="94456" y="102548"/>
                  <a:pt x="94456" y="94456"/>
                </a:cubicBezTo>
                <a:cubicBezTo>
                  <a:pt x="94456" y="69905"/>
                  <a:pt x="74558" y="50006"/>
                  <a:pt x="50006" y="50006"/>
                </a:cubicBezTo>
                <a:cubicBezTo>
                  <a:pt x="48131" y="50006"/>
                  <a:pt x="46256" y="50110"/>
                  <a:pt x="44450" y="50354"/>
                </a:cubicBezTo>
                <a:lnTo>
                  <a:pt x="44450" y="33337"/>
                </a:lnTo>
                <a:close/>
                <a:moveTo>
                  <a:pt x="115639" y="155575"/>
                </a:moveTo>
                <a:cubicBezTo>
                  <a:pt x="113868" y="147171"/>
                  <a:pt x="109979" y="139566"/>
                  <a:pt x="104492" y="133350"/>
                </a:cubicBezTo>
                <a:lnTo>
                  <a:pt x="211138" y="133350"/>
                </a:lnTo>
                <a:cubicBezTo>
                  <a:pt x="211138" y="145608"/>
                  <a:pt x="201171" y="155575"/>
                  <a:pt x="188913" y="155575"/>
                </a:cubicBezTo>
                <a:lnTo>
                  <a:pt x="115639" y="155575"/>
                </a:lnTo>
                <a:close/>
                <a:moveTo>
                  <a:pt x="22225" y="94456"/>
                </a:moveTo>
                <a:cubicBezTo>
                  <a:pt x="22225" y="79123"/>
                  <a:pt x="34673" y="66675"/>
                  <a:pt x="50006" y="66675"/>
                </a:cubicBezTo>
                <a:cubicBezTo>
                  <a:pt x="65339" y="66675"/>
                  <a:pt x="77788" y="79123"/>
                  <a:pt x="77788" y="94456"/>
                </a:cubicBezTo>
                <a:cubicBezTo>
                  <a:pt x="77788" y="109789"/>
                  <a:pt x="65339" y="122238"/>
                  <a:pt x="50006" y="122238"/>
                </a:cubicBezTo>
                <a:cubicBezTo>
                  <a:pt x="34673" y="122238"/>
                  <a:pt x="22225" y="109789"/>
                  <a:pt x="22225" y="94456"/>
                </a:cubicBezTo>
                <a:close/>
                <a:moveTo>
                  <a:pt x="0" y="166688"/>
                </a:moveTo>
                <a:cubicBezTo>
                  <a:pt x="0" y="148282"/>
                  <a:pt x="14932" y="133350"/>
                  <a:pt x="33337" y="133350"/>
                </a:cubicBezTo>
                <a:lnTo>
                  <a:pt x="66675" y="133350"/>
                </a:lnTo>
                <a:cubicBezTo>
                  <a:pt x="85080" y="133350"/>
                  <a:pt x="100013" y="148282"/>
                  <a:pt x="100013" y="166688"/>
                </a:cubicBezTo>
                <a:cubicBezTo>
                  <a:pt x="100013" y="172834"/>
                  <a:pt x="95047" y="177800"/>
                  <a:pt x="88900" y="177800"/>
                </a:cubicBezTo>
                <a:lnTo>
                  <a:pt x="11112" y="177800"/>
                </a:lnTo>
                <a:cubicBezTo>
                  <a:pt x="4966" y="177800"/>
                  <a:pt x="0" y="172834"/>
                  <a:pt x="0" y="166688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6766560" y="2794000"/>
            <a:ext cx="5168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Formación de Calidad: Orientada a las demandas reales del mercado.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54312" y="34950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44463" y="72231"/>
                </a:moveTo>
                <a:cubicBezTo>
                  <a:pt x="144463" y="88171"/>
                  <a:pt x="139288" y="102895"/>
                  <a:pt x="130572" y="114841"/>
                </a:cubicBezTo>
                <a:lnTo>
                  <a:pt x="174536" y="158839"/>
                </a:lnTo>
                <a:cubicBezTo>
                  <a:pt x="178877" y="163180"/>
                  <a:pt x="178877" y="170230"/>
                  <a:pt x="174536" y="174570"/>
                </a:cubicBezTo>
                <a:cubicBezTo>
                  <a:pt x="170195" y="178911"/>
                  <a:pt x="163145" y="178911"/>
                  <a:pt x="158805" y="174570"/>
                </a:cubicBezTo>
                <a:lnTo>
                  <a:pt x="114841" y="130572"/>
                </a:lnTo>
                <a:cubicBezTo>
                  <a:pt x="102895" y="139288"/>
                  <a:pt x="88171" y="144463"/>
                  <a:pt x="72231" y="144463"/>
                </a:cubicBezTo>
                <a:cubicBezTo>
                  <a:pt x="32330" y="144463"/>
                  <a:pt x="0" y="112132"/>
                  <a:pt x="0" y="72231"/>
                </a:cubicBezTo>
                <a:cubicBezTo>
                  <a:pt x="0" y="32330"/>
                  <a:pt x="32330" y="0"/>
                  <a:pt x="72231" y="0"/>
                </a:cubicBezTo>
                <a:cubicBezTo>
                  <a:pt x="112132" y="0"/>
                  <a:pt x="144463" y="32330"/>
                  <a:pt x="144463" y="72231"/>
                </a:cubicBezTo>
                <a:close/>
                <a:moveTo>
                  <a:pt x="72231" y="38894"/>
                </a:moveTo>
                <a:cubicBezTo>
                  <a:pt x="67613" y="38894"/>
                  <a:pt x="63897" y="42609"/>
                  <a:pt x="63897" y="47228"/>
                </a:cubicBezTo>
                <a:lnTo>
                  <a:pt x="63897" y="63897"/>
                </a:lnTo>
                <a:lnTo>
                  <a:pt x="47228" y="63897"/>
                </a:lnTo>
                <a:cubicBezTo>
                  <a:pt x="42609" y="63897"/>
                  <a:pt x="38894" y="67613"/>
                  <a:pt x="38894" y="72231"/>
                </a:cubicBezTo>
                <a:cubicBezTo>
                  <a:pt x="38894" y="76850"/>
                  <a:pt x="42609" y="80566"/>
                  <a:pt x="47228" y="80566"/>
                </a:cubicBezTo>
                <a:lnTo>
                  <a:pt x="63897" y="80566"/>
                </a:lnTo>
                <a:lnTo>
                  <a:pt x="63897" y="97234"/>
                </a:lnTo>
                <a:cubicBezTo>
                  <a:pt x="63897" y="101853"/>
                  <a:pt x="67613" y="105569"/>
                  <a:pt x="72231" y="105569"/>
                </a:cubicBezTo>
                <a:cubicBezTo>
                  <a:pt x="76850" y="105569"/>
                  <a:pt x="80566" y="101853"/>
                  <a:pt x="80566" y="97234"/>
                </a:cubicBezTo>
                <a:lnTo>
                  <a:pt x="80566" y="80566"/>
                </a:lnTo>
                <a:lnTo>
                  <a:pt x="97234" y="80566"/>
                </a:lnTo>
                <a:cubicBezTo>
                  <a:pt x="101853" y="80566"/>
                  <a:pt x="105569" y="76850"/>
                  <a:pt x="105569" y="72231"/>
                </a:cubicBezTo>
                <a:cubicBezTo>
                  <a:pt x="105569" y="67613"/>
                  <a:pt x="101853" y="63897"/>
                  <a:pt x="97234" y="63897"/>
                </a:cubicBezTo>
                <a:lnTo>
                  <a:pt x="80566" y="63897"/>
                </a:lnTo>
                <a:lnTo>
                  <a:pt x="80566" y="47228"/>
                </a:lnTo>
                <a:cubicBezTo>
                  <a:pt x="80566" y="42609"/>
                  <a:pt x="76850" y="38894"/>
                  <a:pt x="72231" y="38894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777831" y="3403600"/>
            <a:ext cx="515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Seguimiento Individualizado: Para verificar el acceso y resultados.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Generosidad y Comparación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8542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Midiendo la Generosidad: La Tasa de Sustitución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5146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 la prestación con el salario previo, distinguiendo entre la teoría y la práctica.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022600"/>
            <a:ext cx="11684000" cy="1524000"/>
          </a:xfrm>
          <a:custGeom>
            <a:avLst/>
            <a:gdLst/>
            <a:ahLst/>
            <a:cxnLst/>
            <a:rect l="l" t="t" r="r" b="b"/>
            <a:pathLst>
              <a:path w="11684000" h="1524000">
                <a:moveTo>
                  <a:pt x="101605" y="0"/>
                </a:moveTo>
                <a:lnTo>
                  <a:pt x="11582395" y="0"/>
                </a:lnTo>
                <a:cubicBezTo>
                  <a:pt x="11638510" y="0"/>
                  <a:pt x="11684000" y="45490"/>
                  <a:pt x="11684000" y="101605"/>
                </a:cubicBezTo>
                <a:lnTo>
                  <a:pt x="11684000" y="1422395"/>
                </a:lnTo>
                <a:cubicBezTo>
                  <a:pt x="11684000" y="1478510"/>
                  <a:pt x="11638510" y="1524000"/>
                  <a:pt x="115823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9888" y="3225800"/>
            <a:ext cx="5257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Tasa Teórica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9888" y="3581400"/>
            <a:ext cx="525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porcentaje sobre la base reguladora que marca la ley.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9888" y="3937000"/>
            <a:ext cx="5257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70% → 60%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06745" y="3530439"/>
            <a:ext cx="927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01728" y="3225800"/>
            <a:ext cx="562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Tasa Efectiva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01728" y="3581400"/>
            <a:ext cx="562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real, tras aplicar los topes máximos y mínimos del IPREM.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01728" y="3937000"/>
            <a:ext cx="5626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Variable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4000" y="4749639"/>
            <a:ext cx="1168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topes introducen una redistribución, siendo más generosa para salarios bajos.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955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 Paradoja del Gasto Español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6162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Aunque el gasto en paro parece alto, el esfuerzo por desempleado es bajo debido a la alta tasa de paro.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38434" y="3530600"/>
            <a:ext cx="288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Gasto en Paro (% PIB)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38434" y="3886200"/>
            <a:ext cx="2882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6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1.75%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38434" y="4648200"/>
            <a:ext cx="288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(vs 0.96% UE)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94805" y="3530600"/>
            <a:ext cx="406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Gasto por Punto de Paro (% PIB)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94805" y="38862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6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0.11%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94805" y="4648200"/>
            <a:ext cx="406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(vs 0.18% UE)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1FDD3C92-7916-17A6-0A9D-303D730D3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729" y="643467"/>
            <a:ext cx="7354541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497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254000"/>
            <a:ext cx="4673600" cy="6350000"/>
          </a:xfrm>
          <a:custGeom>
            <a:avLst/>
            <a:gdLst/>
            <a:ahLst/>
            <a:cxnLst/>
            <a:rect l="l" t="t" r="r" b="b"/>
            <a:pathLst>
              <a:path w="4673600" h="6350000">
                <a:moveTo>
                  <a:pt x="101604" y="0"/>
                </a:moveTo>
                <a:lnTo>
                  <a:pt x="4571996" y="0"/>
                </a:lnTo>
                <a:cubicBezTo>
                  <a:pt x="4628110" y="0"/>
                  <a:pt x="4673600" y="45490"/>
                  <a:pt x="4673600" y="101604"/>
                </a:cubicBezTo>
                <a:lnTo>
                  <a:pt x="4673600" y="6248396"/>
                </a:lnTo>
                <a:cubicBezTo>
                  <a:pt x="4673600" y="6304510"/>
                  <a:pt x="4628110" y="6350000"/>
                  <a:pt x="4571996" y="6350000"/>
                </a:cubicBezTo>
                <a:lnTo>
                  <a:pt x="101604" y="6350000"/>
                </a:lnTo>
                <a:cubicBezTo>
                  <a:pt x="45490" y="6350000"/>
                  <a:pt x="0" y="6304510"/>
                  <a:pt x="0" y="62483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87400" y="457200"/>
            <a:ext cx="4775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Duración Máxima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87400" y="965039"/>
            <a:ext cx="477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72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7400" y="1879439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meses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7400" y="2336639"/>
            <a:ext cx="477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Posición favorable en la UE.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80200" y="254000"/>
            <a:ext cx="4673600" cy="6350000"/>
          </a:xfrm>
          <a:custGeom>
            <a:avLst/>
            <a:gdLst/>
            <a:ahLst/>
            <a:cxnLst/>
            <a:rect l="l" t="t" r="r" b="b"/>
            <a:pathLst>
              <a:path w="4673600" h="6350000">
                <a:moveTo>
                  <a:pt x="101604" y="0"/>
                </a:moveTo>
                <a:lnTo>
                  <a:pt x="4571996" y="0"/>
                </a:lnTo>
                <a:cubicBezTo>
                  <a:pt x="4628110" y="0"/>
                  <a:pt x="4673600" y="45490"/>
                  <a:pt x="4673600" y="101604"/>
                </a:cubicBezTo>
                <a:lnTo>
                  <a:pt x="4673600" y="6248396"/>
                </a:lnTo>
                <a:cubicBezTo>
                  <a:pt x="4673600" y="6304510"/>
                  <a:pt x="4628110" y="6350000"/>
                  <a:pt x="4571996" y="6350000"/>
                </a:cubicBezTo>
                <a:lnTo>
                  <a:pt x="101604" y="6350000"/>
                </a:lnTo>
                <a:cubicBezTo>
                  <a:pt x="45490" y="6350000"/>
                  <a:pt x="0" y="6304510"/>
                  <a:pt x="0" y="62483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629400" y="457200"/>
            <a:ext cx="4775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Cobertura Real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965039"/>
            <a:ext cx="477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7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&gt;25%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1879439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 desempleados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336639"/>
            <a:ext cx="477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reciben prestación contributiva.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272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Comparativa OCDE: Perfiles de Generosidad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3876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generosidad relativa del sistema español varía según el perfil del trabajador.</a:t>
            </a:r>
            <a:endParaRPr lang="en-US" sz="1600" dirty="0"/>
          </a:p>
        </p:txBody>
      </p:sp>
      <p:pic>
        <p:nvPicPr>
          <p:cNvPr id="4" name="Image 0" descr="https://kimi-web-img.moonshot.cn/img/media4.s-nbcnews.com/cf679548dae28b139e55309061ad4d388fea4706.jpg"/>
          <p:cNvPicPr>
            <a:picLocks noChangeAspect="1"/>
          </p:cNvPicPr>
          <p:nvPr/>
        </p:nvPicPr>
        <p:blipFill>
          <a:blip r:embed="rId3"/>
          <a:srcRect l="21867" r="21867"/>
          <a:stretch/>
        </p:blipFill>
        <p:spPr>
          <a:xfrm>
            <a:off x="1591628" y="2997200"/>
            <a:ext cx="1219200" cy="1219200"/>
          </a:xfrm>
          <a:prstGeom prst="roundRect">
            <a:avLst>
              <a:gd name="adj" fmla="val 5000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0" y="43180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Familias con Hijos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4000" y="4622800"/>
            <a:ext cx="3898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Relativamente generoso por los topes mínimos.</a:t>
            </a:r>
            <a:endParaRPr lang="en-US" sz="1600" dirty="0"/>
          </a:p>
        </p:txBody>
      </p:sp>
      <p:pic>
        <p:nvPicPr>
          <p:cNvPr id="7" name="Image 1" descr="https://kimi-web-img.moonshot.cn/img/cbx-prod.b-cdn.net/f16a60920e307245c33f1295a4a0ab00d12f8896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241" y="2997200"/>
            <a:ext cx="1219200" cy="1219200"/>
          </a:xfrm>
          <a:prstGeom prst="roundRect">
            <a:avLst>
              <a:gd name="adj" fmla="val 50000"/>
            </a:avLst>
          </a:prstGeom>
        </p:spPr>
      </p:pic>
      <p:sp>
        <p:nvSpPr>
          <p:cNvPr id="8" name="Text 4"/>
          <p:cNvSpPr/>
          <p:nvPr/>
        </p:nvSpPr>
        <p:spPr>
          <a:xfrm>
            <a:off x="3894614" y="43180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Solteros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148614" y="4622800"/>
            <a:ext cx="3898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Generosidad intermedia, cercana a la media OCDE.</a:t>
            </a:r>
            <a:endParaRPr lang="en-US" sz="1600" dirty="0"/>
          </a:p>
        </p:txBody>
      </p:sp>
      <p:pic>
        <p:nvPicPr>
          <p:cNvPr id="10" name="Image 2" descr="https://kimi-web-img.moonshot.cn/img/hunanhw.cnhwjt.com/33fcb455a61bcfa792c27796b5e14f0e27041e94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80855" y="3124200"/>
            <a:ext cx="1219200" cy="1219200"/>
          </a:xfrm>
          <a:prstGeom prst="roundRect">
            <a:avLst>
              <a:gd name="adj" fmla="val 50000"/>
            </a:avLst>
          </a:prstGeom>
        </p:spPr>
      </p:pic>
      <p:sp>
        <p:nvSpPr>
          <p:cNvPr id="11" name="Text 6"/>
          <p:cNvSpPr/>
          <p:nvPr/>
        </p:nvSpPr>
        <p:spPr>
          <a:xfrm>
            <a:off x="7789228" y="44450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Altos Salarios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789228" y="474980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Menos generoso por los topes máximos.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6A7262D2-4733-ECCF-842C-F3833F887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996" y="643467"/>
            <a:ext cx="8074007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62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Generosidad y Desempleo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9144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evidencia internacional muestra que la relación no es directa ni simple.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1727200"/>
            <a:ext cx="5435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 sistema bien diseñado, combinado con políticas activas eficaces, puede ser generoso sin generar desempleo estructural. La clave está en el </a:t>
            </a:r>
            <a:r>
              <a:rPr lang="en-US" sz="14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equilibrio 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la activación.</a:t>
            </a:r>
            <a:endParaRPr lang="en-US" sz="1600" dirty="0"/>
          </a:p>
        </p:txBody>
      </p:sp>
      <p:pic>
        <p:nvPicPr>
          <p:cNvPr id="5" name="Image 0" descr="https://kimi-web-img.moonshot.cn/img/dist.neo4j.com/ef84f545cee697d054992ea5eceb31767f7879ba.png"/>
          <p:cNvPicPr>
            <a:picLocks noChangeAspect="1"/>
          </p:cNvPicPr>
          <p:nvPr/>
        </p:nvPicPr>
        <p:blipFill>
          <a:blip r:embed="rId3"/>
          <a:srcRect l="18417" r="18417"/>
          <a:stretch/>
        </p:blipFill>
        <p:spPr>
          <a:xfrm>
            <a:off x="6096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6A7262D2-4733-ECCF-842C-F3833F887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996" y="643467"/>
            <a:ext cx="8074007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163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Desafíos y Eficacia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828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El Desafío de la Cobertura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4892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baja tasa de cobertura contributiva deja a la mayoría de desempleados sin protección adecuada.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4244" y="3098800"/>
            <a:ext cx="40767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9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&gt;75%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4244" y="4318000"/>
            <a:ext cx="407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 desempleados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4244" y="4673600"/>
            <a:ext cx="407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reciben paro contributivo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61756" y="36068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Afecta especialmente a: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61756" y="3962400"/>
            <a:ext cx="584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2250" indent="-222250" algn="l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Jóvenes y temporales por la alta rotación.</a:t>
            </a:r>
            <a:endParaRPr lang="en-US" sz="1600" dirty="0"/>
          </a:p>
          <a:p>
            <a:pPr marL="222250" indent="-222250" algn="l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 una brecha de protección que perpetúa desigualdades.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5434c0768719dad415cf8b8493d42ae6d4ab7237.jpg"/>
          <p:cNvPicPr>
            <a:picLocks noChangeAspect="1"/>
          </p:cNvPicPr>
          <p:nvPr/>
        </p:nvPicPr>
        <p:blipFill>
          <a:blip r:embed="rId3"/>
          <a:srcRect l="16736" r="16736"/>
          <a:stretch/>
        </p:blipFill>
        <p:spPr>
          <a:xfrm>
            <a:off x="254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540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Desempleo de Larga Duración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13716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 problema creciente que agota las prestaciones máximas de 24 meses.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587172" y="2275842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77788" y="2778"/>
                </a:moveTo>
                <a:cubicBezTo>
                  <a:pt x="100787" y="2778"/>
                  <a:pt x="119459" y="21451"/>
                  <a:pt x="119459" y="44450"/>
                </a:cubicBezTo>
                <a:cubicBezTo>
                  <a:pt x="119459" y="67449"/>
                  <a:pt x="100787" y="86122"/>
                  <a:pt x="77788" y="86122"/>
                </a:cubicBezTo>
                <a:cubicBezTo>
                  <a:pt x="54788" y="86122"/>
                  <a:pt x="36116" y="67449"/>
                  <a:pt x="36116" y="44450"/>
                </a:cubicBezTo>
                <a:cubicBezTo>
                  <a:pt x="36116" y="21451"/>
                  <a:pt x="54788" y="2778"/>
                  <a:pt x="77787" y="2778"/>
                </a:cubicBezTo>
                <a:close/>
                <a:moveTo>
                  <a:pt x="67474" y="105569"/>
                </a:moveTo>
                <a:lnTo>
                  <a:pt x="88101" y="105569"/>
                </a:lnTo>
                <a:cubicBezTo>
                  <a:pt x="89456" y="105569"/>
                  <a:pt x="90845" y="105603"/>
                  <a:pt x="92199" y="105708"/>
                </a:cubicBezTo>
                <a:cubicBezTo>
                  <a:pt x="86573" y="115501"/>
                  <a:pt x="83344" y="126821"/>
                  <a:pt x="83344" y="138906"/>
                </a:cubicBezTo>
                <a:cubicBezTo>
                  <a:pt x="83344" y="153422"/>
                  <a:pt x="87997" y="166861"/>
                  <a:pt x="95845" y="177800"/>
                </a:cubicBezTo>
                <a:lnTo>
                  <a:pt x="15870" y="177800"/>
                </a:lnTo>
                <a:cubicBezTo>
                  <a:pt x="10175" y="177800"/>
                  <a:pt x="5556" y="173181"/>
                  <a:pt x="5556" y="167486"/>
                </a:cubicBezTo>
                <a:cubicBezTo>
                  <a:pt x="5556" y="133281"/>
                  <a:pt x="33268" y="105569"/>
                  <a:pt x="67474" y="105569"/>
                </a:cubicBezTo>
                <a:close/>
                <a:moveTo>
                  <a:pt x="100013" y="138906"/>
                </a:moveTo>
                <a:cubicBezTo>
                  <a:pt x="100013" y="111307"/>
                  <a:pt x="122420" y="88900"/>
                  <a:pt x="150019" y="88900"/>
                </a:cubicBezTo>
                <a:cubicBezTo>
                  <a:pt x="177618" y="88900"/>
                  <a:pt x="200025" y="111307"/>
                  <a:pt x="200025" y="138906"/>
                </a:cubicBezTo>
                <a:cubicBezTo>
                  <a:pt x="200025" y="166505"/>
                  <a:pt x="177618" y="188913"/>
                  <a:pt x="150019" y="188913"/>
                </a:cubicBezTo>
                <a:cubicBezTo>
                  <a:pt x="122420" y="188913"/>
                  <a:pt x="100013" y="166505"/>
                  <a:pt x="100013" y="138906"/>
                </a:cubicBezTo>
                <a:close/>
                <a:moveTo>
                  <a:pt x="150019" y="111125"/>
                </a:moveTo>
                <a:cubicBezTo>
                  <a:pt x="146963" y="111125"/>
                  <a:pt x="144463" y="113625"/>
                  <a:pt x="144463" y="116681"/>
                </a:cubicBezTo>
                <a:lnTo>
                  <a:pt x="144463" y="138906"/>
                </a:lnTo>
                <a:cubicBezTo>
                  <a:pt x="144463" y="141962"/>
                  <a:pt x="146963" y="144463"/>
                  <a:pt x="150019" y="144463"/>
                </a:cubicBezTo>
                <a:lnTo>
                  <a:pt x="166688" y="144463"/>
                </a:lnTo>
                <a:cubicBezTo>
                  <a:pt x="169743" y="144463"/>
                  <a:pt x="172244" y="141962"/>
                  <a:pt x="172244" y="138906"/>
                </a:cubicBezTo>
                <a:cubicBezTo>
                  <a:pt x="172244" y="135850"/>
                  <a:pt x="169743" y="133350"/>
                  <a:pt x="166688" y="133350"/>
                </a:cubicBezTo>
                <a:lnTo>
                  <a:pt x="155575" y="133350"/>
                </a:lnTo>
                <a:lnTo>
                  <a:pt x="155575" y="116681"/>
                </a:lnTo>
                <a:cubicBezTo>
                  <a:pt x="155575" y="113625"/>
                  <a:pt x="153075" y="111125"/>
                  <a:pt x="150019" y="111125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6865779" y="2184400"/>
            <a:ext cx="5067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Mayores de 45 años: Encaran mayores dificultades de reinserción.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605429" y="29362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6880066" y="2844800"/>
            <a:ext cx="5054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Riesgo de exclusión: Cuando se agotan prestaciones y ahorros.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57963" y="35966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88900" y="61119"/>
                </a:moveTo>
                <a:cubicBezTo>
                  <a:pt x="82753" y="61119"/>
                  <a:pt x="77788" y="66085"/>
                  <a:pt x="77788" y="72231"/>
                </a:cubicBezTo>
                <a:cubicBezTo>
                  <a:pt x="77788" y="76850"/>
                  <a:pt x="74072" y="80566"/>
                  <a:pt x="69453" y="80566"/>
                </a:cubicBezTo>
                <a:cubicBezTo>
                  <a:pt x="64834" y="80566"/>
                  <a:pt x="61119" y="76850"/>
                  <a:pt x="61119" y="72231"/>
                </a:cubicBezTo>
                <a:cubicBezTo>
                  <a:pt x="61119" y="56882"/>
                  <a:pt x="73551" y="44450"/>
                  <a:pt x="88900" y="44450"/>
                </a:cubicBezTo>
                <a:cubicBezTo>
                  <a:pt x="104249" y="44450"/>
                  <a:pt x="116681" y="56882"/>
                  <a:pt x="116681" y="72231"/>
                </a:cubicBezTo>
                <a:cubicBezTo>
                  <a:pt x="116681" y="88622"/>
                  <a:pt x="104180" y="95567"/>
                  <a:pt x="97234" y="98103"/>
                </a:cubicBezTo>
                <a:lnTo>
                  <a:pt x="97234" y="99422"/>
                </a:lnTo>
                <a:cubicBezTo>
                  <a:pt x="97234" y="104041"/>
                  <a:pt x="93519" y="107757"/>
                  <a:pt x="88900" y="107757"/>
                </a:cubicBezTo>
                <a:cubicBezTo>
                  <a:pt x="84281" y="107757"/>
                  <a:pt x="80566" y="104041"/>
                  <a:pt x="80566" y="99422"/>
                </a:cubicBezTo>
                <a:lnTo>
                  <a:pt x="80566" y="96609"/>
                </a:lnTo>
                <a:cubicBezTo>
                  <a:pt x="80566" y="89490"/>
                  <a:pt x="85705" y="84386"/>
                  <a:pt x="91018" y="82649"/>
                </a:cubicBezTo>
                <a:cubicBezTo>
                  <a:pt x="93241" y="81920"/>
                  <a:pt x="95602" y="80739"/>
                  <a:pt x="97339" y="79072"/>
                </a:cubicBezTo>
                <a:cubicBezTo>
                  <a:pt x="98832" y="77614"/>
                  <a:pt x="100013" y="75600"/>
                  <a:pt x="100013" y="72266"/>
                </a:cubicBezTo>
                <a:cubicBezTo>
                  <a:pt x="100013" y="66119"/>
                  <a:pt x="95047" y="61153"/>
                  <a:pt x="88900" y="61153"/>
                </a:cubicBezTo>
                <a:close/>
                <a:moveTo>
                  <a:pt x="77788" y="127794"/>
                </a:moveTo>
                <a:cubicBezTo>
                  <a:pt x="77788" y="121661"/>
                  <a:pt x="82767" y="116681"/>
                  <a:pt x="88900" y="116681"/>
                </a:cubicBezTo>
                <a:cubicBezTo>
                  <a:pt x="95033" y="116681"/>
                  <a:pt x="100013" y="121661"/>
                  <a:pt x="100013" y="127794"/>
                </a:cubicBezTo>
                <a:cubicBezTo>
                  <a:pt x="100013" y="133927"/>
                  <a:pt x="95033" y="138906"/>
                  <a:pt x="88900" y="138906"/>
                </a:cubicBezTo>
                <a:cubicBezTo>
                  <a:pt x="82767" y="138906"/>
                  <a:pt x="77788" y="133927"/>
                  <a:pt x="77788" y="127794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785134" y="3505200"/>
            <a:ext cx="515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Falta de mecanismos: El sistema no está diseñado para el paro de muy larga duración.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01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Suficiencia vs. Sostenibilidad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905193" y="2565400"/>
            <a:ext cx="4673600" cy="2590800"/>
          </a:xfrm>
          <a:custGeom>
            <a:avLst/>
            <a:gdLst/>
            <a:ahLst/>
            <a:cxnLst/>
            <a:rect l="l" t="t" r="r" b="b"/>
            <a:pathLst>
              <a:path w="4673600" h="2590800">
                <a:moveTo>
                  <a:pt x="101611" y="0"/>
                </a:moveTo>
                <a:lnTo>
                  <a:pt x="4571989" y="0"/>
                </a:lnTo>
                <a:cubicBezTo>
                  <a:pt x="4628107" y="0"/>
                  <a:pt x="4673600" y="45493"/>
                  <a:pt x="4673600" y="101611"/>
                </a:cubicBezTo>
                <a:lnTo>
                  <a:pt x="4673600" y="2489189"/>
                </a:lnTo>
                <a:cubicBezTo>
                  <a:pt x="4673600" y="2545307"/>
                  <a:pt x="4628107" y="2590800"/>
                  <a:pt x="4571989" y="2590800"/>
                </a:cubicBezTo>
                <a:lnTo>
                  <a:pt x="101611" y="2590800"/>
                </a:lnTo>
                <a:cubicBezTo>
                  <a:pt x="45493" y="2590800"/>
                  <a:pt x="0" y="2545307"/>
                  <a:pt x="0" y="24891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835593" y="2768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102293" y="2984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54393" y="37338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Suficiencia Cuestionable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8393" y="4191000"/>
            <a:ext cx="4267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reducción de la cuantía y los topes pueden no cubrir las necesidades, especialmente con inflación.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81992" y="3606800"/>
            <a:ext cx="1130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⚖️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13049" y="2692400"/>
            <a:ext cx="4673600" cy="2336800"/>
          </a:xfrm>
          <a:custGeom>
            <a:avLst/>
            <a:gdLst/>
            <a:ahLst/>
            <a:cxnLst/>
            <a:rect l="l" t="t" r="r" b="b"/>
            <a:pathLst>
              <a:path w="4673600" h="2336800">
                <a:moveTo>
                  <a:pt x="101604" y="0"/>
                </a:moveTo>
                <a:lnTo>
                  <a:pt x="4571996" y="0"/>
                </a:lnTo>
                <a:cubicBezTo>
                  <a:pt x="4628110" y="0"/>
                  <a:pt x="4673600" y="45490"/>
                  <a:pt x="4673600" y="101604"/>
                </a:cubicBezTo>
                <a:lnTo>
                  <a:pt x="4673600" y="2235196"/>
                </a:lnTo>
                <a:cubicBezTo>
                  <a:pt x="4673600" y="2291310"/>
                  <a:pt x="4628110" y="2336800"/>
                  <a:pt x="45719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8543449" y="2895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8810149" y="3111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59693" y="12948"/>
                </a:moveTo>
                <a:cubicBezTo>
                  <a:pt x="150391" y="3646"/>
                  <a:pt x="135285" y="3646"/>
                  <a:pt x="125983" y="12948"/>
                </a:cubicBezTo>
                <a:lnTo>
                  <a:pt x="6921" y="132011"/>
                </a:lnTo>
                <a:cubicBezTo>
                  <a:pt x="-2381" y="141312"/>
                  <a:pt x="-2381" y="156418"/>
                  <a:pt x="6921" y="165720"/>
                </a:cubicBezTo>
                <a:cubicBezTo>
                  <a:pt x="16222" y="175022"/>
                  <a:pt x="31328" y="175022"/>
                  <a:pt x="40630" y="165720"/>
                </a:cubicBezTo>
                <a:lnTo>
                  <a:pt x="119063" y="87288"/>
                </a:lnTo>
                <a:lnTo>
                  <a:pt x="119063" y="363141"/>
                </a:lnTo>
                <a:cubicBezTo>
                  <a:pt x="119063" y="376312"/>
                  <a:pt x="129704" y="386953"/>
                  <a:pt x="142875" y="386953"/>
                </a:cubicBezTo>
                <a:cubicBezTo>
                  <a:pt x="156046" y="386953"/>
                  <a:pt x="166688" y="376312"/>
                  <a:pt x="166688" y="363141"/>
                </a:cubicBezTo>
                <a:lnTo>
                  <a:pt x="166688" y="87288"/>
                </a:lnTo>
                <a:lnTo>
                  <a:pt x="245120" y="165720"/>
                </a:lnTo>
                <a:cubicBezTo>
                  <a:pt x="254422" y="175022"/>
                  <a:pt x="269528" y="175022"/>
                  <a:pt x="278829" y="165720"/>
                </a:cubicBezTo>
                <a:cubicBezTo>
                  <a:pt x="288131" y="156418"/>
                  <a:pt x="288131" y="141312"/>
                  <a:pt x="278829" y="132011"/>
                </a:cubicBezTo>
                <a:lnTo>
                  <a:pt x="159767" y="1294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562249" y="38608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Sostenibilidad a Prueba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6249" y="4318000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alto desempleo estructural y la temporalidad reducen las cotizaciones que financian el sistema.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97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Efectos sobre la Duración del Desempleo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667000" y="2362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917825" y="26416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00025" y="7144"/>
                </a:moveTo>
                <a:cubicBezTo>
                  <a:pt x="259166" y="7144"/>
                  <a:pt x="307181" y="55159"/>
                  <a:pt x="307181" y="114300"/>
                </a:cubicBezTo>
                <a:cubicBezTo>
                  <a:pt x="307181" y="173441"/>
                  <a:pt x="259166" y="221456"/>
                  <a:pt x="200025" y="221456"/>
                </a:cubicBezTo>
                <a:cubicBezTo>
                  <a:pt x="140884" y="221456"/>
                  <a:pt x="92869" y="173441"/>
                  <a:pt x="92869" y="114300"/>
                </a:cubicBezTo>
                <a:cubicBezTo>
                  <a:pt x="92869" y="55159"/>
                  <a:pt x="140884" y="7144"/>
                  <a:pt x="200025" y="7144"/>
                </a:cubicBezTo>
                <a:close/>
                <a:moveTo>
                  <a:pt x="173504" y="271463"/>
                </a:moveTo>
                <a:lnTo>
                  <a:pt x="226546" y="271463"/>
                </a:lnTo>
                <a:cubicBezTo>
                  <a:pt x="230029" y="271463"/>
                  <a:pt x="233601" y="271552"/>
                  <a:pt x="237083" y="271820"/>
                </a:cubicBezTo>
                <a:cubicBezTo>
                  <a:pt x="222617" y="297001"/>
                  <a:pt x="214313" y="326112"/>
                  <a:pt x="214313" y="357188"/>
                </a:cubicBezTo>
                <a:cubicBezTo>
                  <a:pt x="214313" y="394514"/>
                  <a:pt x="226278" y="429071"/>
                  <a:pt x="246459" y="457200"/>
                </a:cubicBezTo>
                <a:lnTo>
                  <a:pt x="40809" y="457200"/>
                </a:lnTo>
                <a:cubicBezTo>
                  <a:pt x="26164" y="457200"/>
                  <a:pt x="14288" y="445324"/>
                  <a:pt x="14288" y="430679"/>
                </a:cubicBezTo>
                <a:cubicBezTo>
                  <a:pt x="14288" y="342721"/>
                  <a:pt x="85546" y="271463"/>
                  <a:pt x="173504" y="271463"/>
                </a:cubicBezTo>
                <a:close/>
                <a:moveTo>
                  <a:pt x="257175" y="357188"/>
                </a:moveTo>
                <a:cubicBezTo>
                  <a:pt x="257175" y="286218"/>
                  <a:pt x="314793" y="228600"/>
                  <a:pt x="385763" y="228600"/>
                </a:cubicBezTo>
                <a:cubicBezTo>
                  <a:pt x="456732" y="228600"/>
                  <a:pt x="514350" y="286218"/>
                  <a:pt x="514350" y="357187"/>
                </a:cubicBezTo>
                <a:cubicBezTo>
                  <a:pt x="514350" y="428157"/>
                  <a:pt x="456732" y="485775"/>
                  <a:pt x="385763" y="485775"/>
                </a:cubicBezTo>
                <a:cubicBezTo>
                  <a:pt x="314793" y="485775"/>
                  <a:pt x="257175" y="428157"/>
                  <a:pt x="257175" y="357188"/>
                </a:cubicBezTo>
                <a:close/>
                <a:moveTo>
                  <a:pt x="385763" y="285750"/>
                </a:moveTo>
                <a:cubicBezTo>
                  <a:pt x="377904" y="285750"/>
                  <a:pt x="371475" y="292179"/>
                  <a:pt x="371475" y="300038"/>
                </a:cubicBezTo>
                <a:lnTo>
                  <a:pt x="371475" y="357188"/>
                </a:lnTo>
                <a:cubicBezTo>
                  <a:pt x="371475" y="365046"/>
                  <a:pt x="377904" y="371475"/>
                  <a:pt x="385763" y="371475"/>
                </a:cubicBezTo>
                <a:lnTo>
                  <a:pt x="428625" y="371475"/>
                </a:lnTo>
                <a:cubicBezTo>
                  <a:pt x="436483" y="371475"/>
                  <a:pt x="442913" y="365046"/>
                  <a:pt x="442913" y="357188"/>
                </a:cubicBezTo>
                <a:cubicBezTo>
                  <a:pt x="442913" y="349329"/>
                  <a:pt x="436483" y="342900"/>
                  <a:pt x="428625" y="342900"/>
                </a:cubicBezTo>
                <a:lnTo>
                  <a:pt x="400050" y="342900"/>
                </a:lnTo>
                <a:lnTo>
                  <a:pt x="400050" y="300038"/>
                </a:lnTo>
                <a:cubicBezTo>
                  <a:pt x="400050" y="292179"/>
                  <a:pt x="393621" y="285750"/>
                  <a:pt x="385763" y="28575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87400" y="35306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Riesgo Moral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1400" y="3987800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Prestaciones generosas pueden prolongar la búsqueda al reducir su coste de oportunidad.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9000" y="2362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8788400" y="264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189309" y="85725"/>
                </a:moveTo>
                <a:cubicBezTo>
                  <a:pt x="179487" y="85725"/>
                  <a:pt x="171450" y="93762"/>
                  <a:pt x="171450" y="103584"/>
                </a:cubicBezTo>
                <a:lnTo>
                  <a:pt x="171450" y="107156"/>
                </a:lnTo>
                <a:cubicBezTo>
                  <a:pt x="145733" y="107424"/>
                  <a:pt x="125016" y="128320"/>
                  <a:pt x="125016" y="154037"/>
                </a:cubicBezTo>
                <a:cubicBezTo>
                  <a:pt x="125016" y="176986"/>
                  <a:pt x="141536" y="196542"/>
                  <a:pt x="164217" y="200293"/>
                </a:cubicBezTo>
                <a:lnTo>
                  <a:pt x="201454" y="206544"/>
                </a:lnTo>
                <a:cubicBezTo>
                  <a:pt x="206812" y="207437"/>
                  <a:pt x="210741" y="212080"/>
                  <a:pt x="210741" y="217527"/>
                </a:cubicBezTo>
                <a:cubicBezTo>
                  <a:pt x="210741" y="223689"/>
                  <a:pt x="205740" y="228689"/>
                  <a:pt x="199579" y="228689"/>
                </a:cubicBezTo>
                <a:lnTo>
                  <a:pt x="150019" y="228600"/>
                </a:lnTo>
                <a:cubicBezTo>
                  <a:pt x="140196" y="228600"/>
                  <a:pt x="132159" y="236637"/>
                  <a:pt x="132159" y="246459"/>
                </a:cubicBezTo>
                <a:cubicBezTo>
                  <a:pt x="132159" y="256282"/>
                  <a:pt x="140196" y="264319"/>
                  <a:pt x="150019" y="264319"/>
                </a:cubicBezTo>
                <a:lnTo>
                  <a:pt x="171450" y="264319"/>
                </a:lnTo>
                <a:lnTo>
                  <a:pt x="171450" y="267891"/>
                </a:lnTo>
                <a:cubicBezTo>
                  <a:pt x="171450" y="277713"/>
                  <a:pt x="179487" y="285750"/>
                  <a:pt x="189309" y="285750"/>
                </a:cubicBezTo>
                <a:cubicBezTo>
                  <a:pt x="199132" y="285750"/>
                  <a:pt x="207169" y="277713"/>
                  <a:pt x="207169" y="267891"/>
                </a:cubicBezTo>
                <a:lnTo>
                  <a:pt x="207169" y="263694"/>
                </a:lnTo>
                <a:cubicBezTo>
                  <a:pt x="229493" y="260033"/>
                  <a:pt x="246459" y="240744"/>
                  <a:pt x="246459" y="217438"/>
                </a:cubicBezTo>
                <a:cubicBezTo>
                  <a:pt x="246459" y="194489"/>
                  <a:pt x="229939" y="174933"/>
                  <a:pt x="207258" y="171182"/>
                </a:cubicBezTo>
                <a:lnTo>
                  <a:pt x="170021" y="164931"/>
                </a:lnTo>
                <a:cubicBezTo>
                  <a:pt x="164663" y="164038"/>
                  <a:pt x="160734" y="159395"/>
                  <a:pt x="160734" y="153948"/>
                </a:cubicBezTo>
                <a:cubicBezTo>
                  <a:pt x="160734" y="147786"/>
                  <a:pt x="165735" y="142786"/>
                  <a:pt x="171896" y="142786"/>
                </a:cubicBezTo>
                <a:lnTo>
                  <a:pt x="214312" y="142786"/>
                </a:lnTo>
                <a:cubicBezTo>
                  <a:pt x="224135" y="142786"/>
                  <a:pt x="232172" y="134749"/>
                  <a:pt x="232172" y="124926"/>
                </a:cubicBezTo>
                <a:cubicBezTo>
                  <a:pt x="232172" y="115104"/>
                  <a:pt x="224135" y="107067"/>
                  <a:pt x="214313" y="107067"/>
                </a:cubicBezTo>
                <a:lnTo>
                  <a:pt x="207169" y="107067"/>
                </a:lnTo>
                <a:lnTo>
                  <a:pt x="207169" y="103495"/>
                </a:lnTo>
                <a:cubicBezTo>
                  <a:pt x="207169" y="93672"/>
                  <a:pt x="199132" y="85636"/>
                  <a:pt x="189309" y="85636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629400" y="35306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Liquidez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83400" y="3987800"/>
            <a:ext cx="4267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Permite una búsqueda más selectiva y eficiente, maximizando el aprovechamiento del capital humano.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4000" y="51562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evidencia muestra un impacto </a:t>
            </a:r>
            <a:r>
              <a:rPr lang="en-US" sz="16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moderado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menor durante las recesiones.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Lecciones para el Diseño Óptimo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13716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investigación económica sugiere características clave para un sistema eficaz: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659" y="22758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22225" y="22225"/>
                </a:moveTo>
                <a:cubicBezTo>
                  <a:pt x="22225" y="16078"/>
                  <a:pt x="17259" y="11112"/>
                  <a:pt x="11112" y="11112"/>
                </a:cubicBezTo>
                <a:cubicBezTo>
                  <a:pt x="4966" y="11112"/>
                  <a:pt x="0" y="16078"/>
                  <a:pt x="0" y="22225"/>
                </a:cubicBezTo>
                <a:lnTo>
                  <a:pt x="0" y="138906"/>
                </a:lnTo>
                <a:cubicBezTo>
                  <a:pt x="0" y="154255"/>
                  <a:pt x="12432" y="166688"/>
                  <a:pt x="27781" y="166688"/>
                </a:cubicBezTo>
                <a:lnTo>
                  <a:pt x="166688" y="166688"/>
                </a:lnTo>
                <a:cubicBezTo>
                  <a:pt x="172834" y="166688"/>
                  <a:pt x="177800" y="161722"/>
                  <a:pt x="177800" y="155575"/>
                </a:cubicBezTo>
                <a:cubicBezTo>
                  <a:pt x="177800" y="149428"/>
                  <a:pt x="172834" y="144463"/>
                  <a:pt x="166688" y="144463"/>
                </a:cubicBezTo>
                <a:lnTo>
                  <a:pt x="27781" y="144463"/>
                </a:lnTo>
                <a:cubicBezTo>
                  <a:pt x="24725" y="144463"/>
                  <a:pt x="22225" y="141962"/>
                  <a:pt x="22225" y="138906"/>
                </a:cubicBezTo>
                <a:lnTo>
                  <a:pt x="22225" y="22225"/>
                </a:lnTo>
                <a:close/>
                <a:moveTo>
                  <a:pt x="163423" y="52298"/>
                </a:moveTo>
                <a:cubicBezTo>
                  <a:pt x="167764" y="47957"/>
                  <a:pt x="167764" y="40908"/>
                  <a:pt x="163423" y="36567"/>
                </a:cubicBezTo>
                <a:cubicBezTo>
                  <a:pt x="159082" y="32226"/>
                  <a:pt x="152033" y="32226"/>
                  <a:pt x="147692" y="36567"/>
                </a:cubicBezTo>
                <a:lnTo>
                  <a:pt x="111125" y="73169"/>
                </a:lnTo>
                <a:lnTo>
                  <a:pt x="91192" y="53271"/>
                </a:lnTo>
                <a:cubicBezTo>
                  <a:pt x="86851" y="48930"/>
                  <a:pt x="79802" y="48930"/>
                  <a:pt x="75461" y="53271"/>
                </a:cubicBezTo>
                <a:lnTo>
                  <a:pt x="42123" y="86608"/>
                </a:lnTo>
                <a:cubicBezTo>
                  <a:pt x="37783" y="90949"/>
                  <a:pt x="37783" y="97998"/>
                  <a:pt x="42123" y="102339"/>
                </a:cubicBezTo>
                <a:cubicBezTo>
                  <a:pt x="46464" y="106680"/>
                  <a:pt x="53514" y="106680"/>
                  <a:pt x="57854" y="102339"/>
                </a:cubicBezTo>
                <a:lnTo>
                  <a:pt x="83344" y="76850"/>
                </a:lnTo>
                <a:lnTo>
                  <a:pt x="103277" y="96783"/>
                </a:lnTo>
                <a:cubicBezTo>
                  <a:pt x="107618" y="101124"/>
                  <a:pt x="114667" y="101124"/>
                  <a:pt x="119008" y="96783"/>
                </a:cubicBezTo>
                <a:lnTo>
                  <a:pt x="163458" y="52333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52926" y="2184400"/>
            <a:ext cx="513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Perfil Temporal Decreciente: Más generosas al inicio, decreciendo con el tiempo.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9253" y="29362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66722" y="66675"/>
                </a:moveTo>
                <a:lnTo>
                  <a:pt x="169466" y="66675"/>
                </a:lnTo>
                <a:cubicBezTo>
                  <a:pt x="174084" y="66675"/>
                  <a:pt x="177800" y="62959"/>
                  <a:pt x="177800" y="58341"/>
                </a:cubicBezTo>
                <a:lnTo>
                  <a:pt x="177800" y="8334"/>
                </a:lnTo>
                <a:cubicBezTo>
                  <a:pt x="177800" y="4966"/>
                  <a:pt x="175786" y="1910"/>
                  <a:pt x="172660" y="625"/>
                </a:cubicBezTo>
                <a:cubicBezTo>
                  <a:pt x="169535" y="-660"/>
                  <a:pt x="165958" y="69"/>
                  <a:pt x="163562" y="2431"/>
                </a:cubicBezTo>
                <a:lnTo>
                  <a:pt x="145608" y="20419"/>
                </a:lnTo>
                <a:cubicBezTo>
                  <a:pt x="130225" y="7675"/>
                  <a:pt x="110430" y="0"/>
                  <a:pt x="88900" y="0"/>
                </a:cubicBezTo>
                <a:cubicBezTo>
                  <a:pt x="44103" y="0"/>
                  <a:pt x="7049" y="33129"/>
                  <a:pt x="903" y="76225"/>
                </a:cubicBezTo>
                <a:cubicBezTo>
                  <a:pt x="35" y="82302"/>
                  <a:pt x="4237" y="87928"/>
                  <a:pt x="10314" y="88796"/>
                </a:cubicBezTo>
                <a:cubicBezTo>
                  <a:pt x="16391" y="89664"/>
                  <a:pt x="22017" y="85427"/>
                  <a:pt x="22885" y="79385"/>
                </a:cubicBezTo>
                <a:cubicBezTo>
                  <a:pt x="27503" y="47054"/>
                  <a:pt x="55319" y="22225"/>
                  <a:pt x="88900" y="22225"/>
                </a:cubicBezTo>
                <a:cubicBezTo>
                  <a:pt x="104319" y="22225"/>
                  <a:pt x="118487" y="27434"/>
                  <a:pt x="129773" y="36220"/>
                </a:cubicBezTo>
                <a:lnTo>
                  <a:pt x="113556" y="52437"/>
                </a:lnTo>
                <a:cubicBezTo>
                  <a:pt x="111160" y="54833"/>
                  <a:pt x="110465" y="58410"/>
                  <a:pt x="111750" y="61535"/>
                </a:cubicBezTo>
                <a:cubicBezTo>
                  <a:pt x="113035" y="64661"/>
                  <a:pt x="116091" y="66675"/>
                  <a:pt x="119459" y="66675"/>
                </a:cubicBezTo>
                <a:lnTo>
                  <a:pt x="166722" y="66675"/>
                </a:lnTo>
                <a:close/>
                <a:moveTo>
                  <a:pt x="176932" y="101575"/>
                </a:moveTo>
                <a:cubicBezTo>
                  <a:pt x="177800" y="95498"/>
                  <a:pt x="173563" y="89872"/>
                  <a:pt x="167521" y="89004"/>
                </a:cubicBezTo>
                <a:cubicBezTo>
                  <a:pt x="161479" y="88136"/>
                  <a:pt x="155818" y="92373"/>
                  <a:pt x="154950" y="98415"/>
                </a:cubicBezTo>
                <a:cubicBezTo>
                  <a:pt x="150331" y="130711"/>
                  <a:pt x="122515" y="155540"/>
                  <a:pt x="88935" y="155540"/>
                </a:cubicBezTo>
                <a:cubicBezTo>
                  <a:pt x="73516" y="155540"/>
                  <a:pt x="59348" y="150331"/>
                  <a:pt x="48062" y="141545"/>
                </a:cubicBezTo>
                <a:lnTo>
                  <a:pt x="64244" y="125363"/>
                </a:lnTo>
                <a:cubicBezTo>
                  <a:pt x="66640" y="122967"/>
                  <a:pt x="67335" y="119390"/>
                  <a:pt x="66050" y="116265"/>
                </a:cubicBezTo>
                <a:cubicBezTo>
                  <a:pt x="64765" y="113139"/>
                  <a:pt x="61709" y="111125"/>
                  <a:pt x="58341" y="111125"/>
                </a:cubicBezTo>
                <a:lnTo>
                  <a:pt x="8334" y="111125"/>
                </a:lnTo>
                <a:cubicBezTo>
                  <a:pt x="3716" y="111125"/>
                  <a:pt x="0" y="114841"/>
                  <a:pt x="0" y="119459"/>
                </a:cubicBezTo>
                <a:lnTo>
                  <a:pt x="0" y="169466"/>
                </a:lnTo>
                <a:cubicBezTo>
                  <a:pt x="0" y="172834"/>
                  <a:pt x="2014" y="175890"/>
                  <a:pt x="5140" y="177175"/>
                </a:cubicBezTo>
                <a:cubicBezTo>
                  <a:pt x="8265" y="178460"/>
                  <a:pt x="11842" y="177731"/>
                  <a:pt x="14238" y="175369"/>
                </a:cubicBezTo>
                <a:lnTo>
                  <a:pt x="32226" y="157381"/>
                </a:lnTo>
                <a:cubicBezTo>
                  <a:pt x="47575" y="170125"/>
                  <a:pt x="67370" y="177800"/>
                  <a:pt x="88900" y="177800"/>
                </a:cubicBezTo>
                <a:cubicBezTo>
                  <a:pt x="133697" y="177800"/>
                  <a:pt x="170751" y="144671"/>
                  <a:pt x="176897" y="101575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55955" y="2844800"/>
            <a:ext cx="502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Adaptación al Ciclo: Más generosas durante las recesiones.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4488" y="3596642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45678" y="33337"/>
                </a:moveTo>
                <a:cubicBezTo>
                  <a:pt x="139913" y="33337"/>
                  <a:pt x="134322" y="34900"/>
                  <a:pt x="129426" y="37748"/>
                </a:cubicBezTo>
                <a:cubicBezTo>
                  <a:pt x="123939" y="32192"/>
                  <a:pt x="117549" y="27538"/>
                  <a:pt x="110500" y="24031"/>
                </a:cubicBezTo>
                <a:cubicBezTo>
                  <a:pt x="120293" y="15696"/>
                  <a:pt x="132760" y="11112"/>
                  <a:pt x="145678" y="11112"/>
                </a:cubicBezTo>
                <a:cubicBezTo>
                  <a:pt x="175682" y="11112"/>
                  <a:pt x="200025" y="35421"/>
                  <a:pt x="200025" y="65460"/>
                </a:cubicBezTo>
                <a:cubicBezTo>
                  <a:pt x="200025" y="79871"/>
                  <a:pt x="194295" y="93692"/>
                  <a:pt x="184120" y="103867"/>
                </a:cubicBezTo>
                <a:lnTo>
                  <a:pt x="159430" y="128558"/>
                </a:lnTo>
                <a:cubicBezTo>
                  <a:pt x="149255" y="138733"/>
                  <a:pt x="135434" y="144463"/>
                  <a:pt x="121022" y="144463"/>
                </a:cubicBezTo>
                <a:cubicBezTo>
                  <a:pt x="91018" y="144463"/>
                  <a:pt x="66675" y="120154"/>
                  <a:pt x="66675" y="90115"/>
                </a:cubicBezTo>
                <a:cubicBezTo>
                  <a:pt x="66675" y="89595"/>
                  <a:pt x="66675" y="89074"/>
                  <a:pt x="66710" y="88553"/>
                </a:cubicBezTo>
                <a:cubicBezTo>
                  <a:pt x="66883" y="82406"/>
                  <a:pt x="71988" y="77579"/>
                  <a:pt x="78135" y="77753"/>
                </a:cubicBezTo>
                <a:cubicBezTo>
                  <a:pt x="84281" y="77926"/>
                  <a:pt x="89108" y="83031"/>
                  <a:pt x="88935" y="89178"/>
                </a:cubicBezTo>
                <a:cubicBezTo>
                  <a:pt x="88935" y="89490"/>
                  <a:pt x="88935" y="89803"/>
                  <a:pt x="88935" y="90081"/>
                </a:cubicBezTo>
                <a:cubicBezTo>
                  <a:pt x="88935" y="107826"/>
                  <a:pt x="103312" y="122203"/>
                  <a:pt x="121057" y="122203"/>
                </a:cubicBezTo>
                <a:cubicBezTo>
                  <a:pt x="129565" y="122203"/>
                  <a:pt x="137726" y="118834"/>
                  <a:pt x="143768" y="112792"/>
                </a:cubicBezTo>
                <a:lnTo>
                  <a:pt x="168459" y="88101"/>
                </a:lnTo>
                <a:cubicBezTo>
                  <a:pt x="174466" y="82094"/>
                  <a:pt x="177869" y="73898"/>
                  <a:pt x="177869" y="65390"/>
                </a:cubicBezTo>
                <a:cubicBezTo>
                  <a:pt x="177869" y="47645"/>
                  <a:pt x="163493" y="33268"/>
                  <a:pt x="145747" y="33268"/>
                </a:cubicBezTo>
                <a:close/>
                <a:moveTo>
                  <a:pt x="95567" y="60181"/>
                </a:moveTo>
                <a:cubicBezTo>
                  <a:pt x="94908" y="59903"/>
                  <a:pt x="94248" y="59521"/>
                  <a:pt x="93658" y="59105"/>
                </a:cubicBezTo>
                <a:cubicBezTo>
                  <a:pt x="89282" y="56847"/>
                  <a:pt x="84281" y="55563"/>
                  <a:pt x="79038" y="55563"/>
                </a:cubicBezTo>
                <a:cubicBezTo>
                  <a:pt x="70530" y="55563"/>
                  <a:pt x="62369" y="58931"/>
                  <a:pt x="56326" y="64973"/>
                </a:cubicBezTo>
                <a:lnTo>
                  <a:pt x="31636" y="89664"/>
                </a:lnTo>
                <a:cubicBezTo>
                  <a:pt x="25628" y="95672"/>
                  <a:pt x="22225" y="103867"/>
                  <a:pt x="22225" y="112375"/>
                </a:cubicBezTo>
                <a:cubicBezTo>
                  <a:pt x="22225" y="130120"/>
                  <a:pt x="36602" y="144497"/>
                  <a:pt x="54347" y="144497"/>
                </a:cubicBezTo>
                <a:cubicBezTo>
                  <a:pt x="60077" y="144497"/>
                  <a:pt x="65668" y="142969"/>
                  <a:pt x="70564" y="140122"/>
                </a:cubicBezTo>
                <a:cubicBezTo>
                  <a:pt x="76051" y="145678"/>
                  <a:pt x="82441" y="150331"/>
                  <a:pt x="89525" y="153839"/>
                </a:cubicBezTo>
                <a:cubicBezTo>
                  <a:pt x="79732" y="162138"/>
                  <a:pt x="67300" y="166757"/>
                  <a:pt x="54347" y="166757"/>
                </a:cubicBezTo>
                <a:cubicBezTo>
                  <a:pt x="24343" y="166757"/>
                  <a:pt x="0" y="142448"/>
                  <a:pt x="0" y="112410"/>
                </a:cubicBezTo>
                <a:cubicBezTo>
                  <a:pt x="0" y="97998"/>
                  <a:pt x="5730" y="84177"/>
                  <a:pt x="15905" y="74002"/>
                </a:cubicBezTo>
                <a:lnTo>
                  <a:pt x="40595" y="49312"/>
                </a:lnTo>
                <a:cubicBezTo>
                  <a:pt x="50770" y="39137"/>
                  <a:pt x="64591" y="33407"/>
                  <a:pt x="79003" y="33407"/>
                </a:cubicBezTo>
                <a:cubicBezTo>
                  <a:pt x="109076" y="33407"/>
                  <a:pt x="133350" y="57924"/>
                  <a:pt x="133350" y="87893"/>
                </a:cubicBezTo>
                <a:cubicBezTo>
                  <a:pt x="133350" y="88344"/>
                  <a:pt x="133350" y="88796"/>
                  <a:pt x="133350" y="89247"/>
                </a:cubicBezTo>
                <a:cubicBezTo>
                  <a:pt x="133211" y="95394"/>
                  <a:pt x="128106" y="100221"/>
                  <a:pt x="121960" y="100082"/>
                </a:cubicBezTo>
                <a:cubicBezTo>
                  <a:pt x="115813" y="99943"/>
                  <a:pt x="110986" y="94838"/>
                  <a:pt x="111125" y="88692"/>
                </a:cubicBezTo>
                <a:cubicBezTo>
                  <a:pt x="111125" y="88414"/>
                  <a:pt x="111125" y="88171"/>
                  <a:pt x="111125" y="87893"/>
                </a:cubicBezTo>
                <a:cubicBezTo>
                  <a:pt x="111125" y="76190"/>
                  <a:pt x="104874" y="65911"/>
                  <a:pt x="95567" y="60251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28650" y="3505200"/>
            <a:ext cx="5067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Activación Efectiva: Vinculación con políticas activas de calidad.</a:t>
            </a:r>
            <a:endParaRPr lang="en-US" sz="1600" dirty="0"/>
          </a:p>
        </p:txBody>
      </p:sp>
      <p:pic>
        <p:nvPicPr>
          <p:cNvPr id="10" name="Image 0" descr="https://kimi-web-img.moonshot.cn/img/iafor.org/559f916c09681e1534d077f59970eba5dea08fd6.jpg"/>
          <p:cNvPicPr>
            <a:picLocks noChangeAspect="1"/>
          </p:cNvPicPr>
          <p:nvPr/>
        </p:nvPicPr>
        <p:blipFill>
          <a:blip r:embed="rId3"/>
          <a:srcRect l="27000" r="27000"/>
          <a:stretch/>
        </p:blipFill>
        <p:spPr>
          <a:xfrm>
            <a:off x="6096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796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Particularidades del Caso Español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93227" y="2743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972627" y="302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0581" y="30718"/>
                </a:moveTo>
                <a:cubicBezTo>
                  <a:pt x="371296" y="26253"/>
                  <a:pt x="383530" y="28754"/>
                  <a:pt x="391745" y="36880"/>
                </a:cubicBezTo>
                <a:lnTo>
                  <a:pt x="448895" y="94030"/>
                </a:lnTo>
                <a:cubicBezTo>
                  <a:pt x="454253" y="99387"/>
                  <a:pt x="457289" y="106620"/>
                  <a:pt x="457289" y="114211"/>
                </a:cubicBezTo>
                <a:cubicBezTo>
                  <a:pt x="457289" y="121801"/>
                  <a:pt x="454253" y="129034"/>
                  <a:pt x="448895" y="134392"/>
                </a:cubicBezTo>
                <a:lnTo>
                  <a:pt x="391745" y="191542"/>
                </a:lnTo>
                <a:cubicBezTo>
                  <a:pt x="383530" y="199757"/>
                  <a:pt x="371296" y="202168"/>
                  <a:pt x="360581" y="197703"/>
                </a:cubicBezTo>
                <a:cubicBezTo>
                  <a:pt x="349865" y="193238"/>
                  <a:pt x="342900" y="182969"/>
                  <a:pt x="342900" y="171450"/>
                </a:cubicBezTo>
                <a:lnTo>
                  <a:pt x="342900" y="142875"/>
                </a:lnTo>
                <a:lnTo>
                  <a:pt x="314325" y="142875"/>
                </a:lnTo>
                <a:cubicBezTo>
                  <a:pt x="305306" y="142875"/>
                  <a:pt x="296823" y="147072"/>
                  <a:pt x="291465" y="154305"/>
                </a:cubicBezTo>
                <a:lnTo>
                  <a:pt x="262533" y="192881"/>
                </a:lnTo>
                <a:lnTo>
                  <a:pt x="226814" y="145286"/>
                </a:lnTo>
                <a:lnTo>
                  <a:pt x="245745" y="120015"/>
                </a:lnTo>
                <a:cubicBezTo>
                  <a:pt x="261908" y="98405"/>
                  <a:pt x="287357" y="85725"/>
                  <a:pt x="314325" y="85725"/>
                </a:cubicBezTo>
                <a:lnTo>
                  <a:pt x="342900" y="85725"/>
                </a:lnTo>
                <a:lnTo>
                  <a:pt x="342900" y="57150"/>
                </a:lnTo>
                <a:cubicBezTo>
                  <a:pt x="342900" y="45631"/>
                  <a:pt x="349865" y="35183"/>
                  <a:pt x="360581" y="30718"/>
                </a:cubicBezTo>
                <a:close/>
                <a:moveTo>
                  <a:pt x="137517" y="264319"/>
                </a:moveTo>
                <a:lnTo>
                  <a:pt x="173236" y="311914"/>
                </a:lnTo>
                <a:lnTo>
                  <a:pt x="154305" y="337185"/>
                </a:lnTo>
                <a:cubicBezTo>
                  <a:pt x="138142" y="358795"/>
                  <a:pt x="112693" y="371475"/>
                  <a:pt x="85725" y="371475"/>
                </a:cubicBezTo>
                <a:lnTo>
                  <a:pt x="28575" y="371475"/>
                </a:lnTo>
                <a:cubicBezTo>
                  <a:pt x="12769" y="371475"/>
                  <a:pt x="0" y="358706"/>
                  <a:pt x="0" y="342900"/>
                </a:cubicBezTo>
                <a:cubicBezTo>
                  <a:pt x="0" y="327094"/>
                  <a:pt x="12769" y="314325"/>
                  <a:pt x="28575" y="314325"/>
                </a:cubicBezTo>
                <a:lnTo>
                  <a:pt x="85725" y="314325"/>
                </a:lnTo>
                <a:cubicBezTo>
                  <a:pt x="94744" y="314325"/>
                  <a:pt x="103227" y="310128"/>
                  <a:pt x="108585" y="302895"/>
                </a:cubicBezTo>
                <a:lnTo>
                  <a:pt x="137517" y="264319"/>
                </a:lnTo>
                <a:close/>
                <a:moveTo>
                  <a:pt x="391656" y="420231"/>
                </a:moveTo>
                <a:cubicBezTo>
                  <a:pt x="383441" y="428446"/>
                  <a:pt x="371207" y="430857"/>
                  <a:pt x="360491" y="426393"/>
                </a:cubicBezTo>
                <a:cubicBezTo>
                  <a:pt x="349776" y="421928"/>
                  <a:pt x="342900" y="411569"/>
                  <a:pt x="342900" y="400050"/>
                </a:cubicBezTo>
                <a:lnTo>
                  <a:pt x="342900" y="371475"/>
                </a:lnTo>
                <a:lnTo>
                  <a:pt x="314325" y="371475"/>
                </a:lnTo>
                <a:cubicBezTo>
                  <a:pt x="287357" y="371475"/>
                  <a:pt x="261908" y="358795"/>
                  <a:pt x="245745" y="337185"/>
                </a:cubicBezTo>
                <a:lnTo>
                  <a:pt x="108585" y="154305"/>
                </a:lnTo>
                <a:cubicBezTo>
                  <a:pt x="103227" y="147072"/>
                  <a:pt x="94744" y="142875"/>
                  <a:pt x="85725" y="142875"/>
                </a:cubicBez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85725" y="85725"/>
                </a:lnTo>
                <a:cubicBezTo>
                  <a:pt x="112693" y="85725"/>
                  <a:pt x="138142" y="98405"/>
                  <a:pt x="154305" y="120015"/>
                </a:cubicBezTo>
                <a:lnTo>
                  <a:pt x="291465" y="302895"/>
                </a:lnTo>
                <a:cubicBezTo>
                  <a:pt x="296823" y="310128"/>
                  <a:pt x="305306" y="314325"/>
                  <a:pt x="314325" y="314325"/>
                </a:cubicBezTo>
                <a:lnTo>
                  <a:pt x="342900" y="314325"/>
                </a:lnTo>
                <a:lnTo>
                  <a:pt x="342900" y="285750"/>
                </a:lnTo>
                <a:cubicBezTo>
                  <a:pt x="342900" y="274231"/>
                  <a:pt x="349865" y="263783"/>
                  <a:pt x="360581" y="259318"/>
                </a:cubicBezTo>
                <a:cubicBezTo>
                  <a:pt x="371296" y="254853"/>
                  <a:pt x="383530" y="257354"/>
                  <a:pt x="391745" y="265480"/>
                </a:cubicBezTo>
                <a:lnTo>
                  <a:pt x="448895" y="322630"/>
                </a:lnTo>
                <a:cubicBezTo>
                  <a:pt x="454253" y="327987"/>
                  <a:pt x="457289" y="335220"/>
                  <a:pt x="457289" y="342811"/>
                </a:cubicBezTo>
                <a:cubicBezTo>
                  <a:pt x="457289" y="350401"/>
                  <a:pt x="454253" y="357634"/>
                  <a:pt x="448895" y="362992"/>
                </a:cubicBezTo>
                <a:lnTo>
                  <a:pt x="391745" y="420142"/>
                </a:ln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1600" y="3911600"/>
            <a:ext cx="420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Alta Temporalidad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5600" y="4368800"/>
            <a:ext cx="3695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Dificulta acumular derechos y crea ciclos precarios de empleo-paro.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87841" y="2743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867241" y="302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996214" y="3911600"/>
            <a:ext cx="420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Baja Cobertura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50214" y="4368800"/>
            <a:ext cx="3695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Limita la función redistributiva y deja a muchos desprotegidos.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482455" y="2743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9819005" y="30226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57150" y="0"/>
                </a:moveTo>
                <a:cubicBezTo>
                  <a:pt x="25628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85750" y="457200"/>
                </a:lnTo>
                <a:cubicBezTo>
                  <a:pt x="317272" y="457200"/>
                  <a:pt x="342900" y="431572"/>
                  <a:pt x="342900" y="400050"/>
                </a:cubicBezTo>
                <a:lnTo>
                  <a:pt x="342900" y="57150"/>
                </a:lnTo>
                <a:cubicBezTo>
                  <a:pt x="342900" y="25628"/>
                  <a:pt x="317272" y="0"/>
                  <a:pt x="285750" y="0"/>
                </a:cubicBezTo>
                <a:lnTo>
                  <a:pt x="57150" y="0"/>
                </a:lnTo>
                <a:close/>
                <a:moveTo>
                  <a:pt x="157163" y="314325"/>
                </a:moveTo>
                <a:lnTo>
                  <a:pt x="185738" y="314325"/>
                </a:lnTo>
                <a:cubicBezTo>
                  <a:pt x="201543" y="314325"/>
                  <a:pt x="214313" y="327094"/>
                  <a:pt x="214313" y="342900"/>
                </a:cubicBezTo>
                <a:lnTo>
                  <a:pt x="214313" y="414338"/>
                </a:lnTo>
                <a:lnTo>
                  <a:pt x="128588" y="414338"/>
                </a:lnTo>
                <a:lnTo>
                  <a:pt x="128588" y="342900"/>
                </a:lnTo>
                <a:cubicBezTo>
                  <a:pt x="128588" y="327094"/>
                  <a:pt x="141357" y="314325"/>
                  <a:pt x="157163" y="314325"/>
                </a:cubicBezTo>
                <a:close/>
                <a:moveTo>
                  <a:pt x="85725" y="100013"/>
                </a:moveTo>
                <a:cubicBezTo>
                  <a:pt x="85725" y="92154"/>
                  <a:pt x="92154" y="85725"/>
                  <a:pt x="100013" y="85725"/>
                </a:cubicBezTo>
                <a:lnTo>
                  <a:pt x="128588" y="85725"/>
                </a:lnTo>
                <a:cubicBezTo>
                  <a:pt x="136446" y="85725"/>
                  <a:pt x="142875" y="92154"/>
                  <a:pt x="142875" y="100013"/>
                </a:cubicBezTo>
                <a:lnTo>
                  <a:pt x="142875" y="128588"/>
                </a:lnTo>
                <a:cubicBezTo>
                  <a:pt x="142875" y="136446"/>
                  <a:pt x="136446" y="142875"/>
                  <a:pt x="128588" y="142875"/>
                </a:cubicBezTo>
                <a:lnTo>
                  <a:pt x="100013" y="142875"/>
                </a:lnTo>
                <a:cubicBezTo>
                  <a:pt x="92154" y="142875"/>
                  <a:pt x="85725" y="136446"/>
                  <a:pt x="85725" y="128588"/>
                </a:cubicBezTo>
                <a:lnTo>
                  <a:pt x="85725" y="100013"/>
                </a:lnTo>
                <a:close/>
                <a:moveTo>
                  <a:pt x="214313" y="85725"/>
                </a:moveTo>
                <a:lnTo>
                  <a:pt x="242888" y="85725"/>
                </a:lnTo>
                <a:cubicBezTo>
                  <a:pt x="250746" y="85725"/>
                  <a:pt x="257175" y="92154"/>
                  <a:pt x="257175" y="100013"/>
                </a:cubicBezTo>
                <a:lnTo>
                  <a:pt x="257175" y="128588"/>
                </a:lnTo>
                <a:cubicBezTo>
                  <a:pt x="257175" y="136446"/>
                  <a:pt x="250746" y="142875"/>
                  <a:pt x="242888" y="142875"/>
                </a:cubicBezTo>
                <a:lnTo>
                  <a:pt x="214313" y="142875"/>
                </a:lnTo>
                <a:cubicBezTo>
                  <a:pt x="206454" y="142875"/>
                  <a:pt x="200025" y="136446"/>
                  <a:pt x="200025" y="128588"/>
                </a:cubicBezTo>
                <a:lnTo>
                  <a:pt x="200025" y="100013"/>
                </a:lnTo>
                <a:cubicBezTo>
                  <a:pt x="200025" y="92154"/>
                  <a:pt x="206454" y="85725"/>
                  <a:pt x="214313" y="85725"/>
                </a:cubicBezTo>
                <a:close/>
                <a:moveTo>
                  <a:pt x="85725" y="214313"/>
                </a:moveTo>
                <a:cubicBezTo>
                  <a:pt x="85725" y="206454"/>
                  <a:pt x="92154" y="200025"/>
                  <a:pt x="100013" y="200025"/>
                </a:cubicBezTo>
                <a:lnTo>
                  <a:pt x="128588" y="200025"/>
                </a:lnTo>
                <a:cubicBezTo>
                  <a:pt x="136446" y="200025"/>
                  <a:pt x="142875" y="206454"/>
                  <a:pt x="142875" y="214313"/>
                </a:cubicBezTo>
                <a:lnTo>
                  <a:pt x="142875" y="242888"/>
                </a:lnTo>
                <a:cubicBezTo>
                  <a:pt x="142875" y="250746"/>
                  <a:pt x="136446" y="257175"/>
                  <a:pt x="128588" y="257175"/>
                </a:cubicBezTo>
                <a:lnTo>
                  <a:pt x="100013" y="257175"/>
                </a:lnTo>
                <a:cubicBezTo>
                  <a:pt x="92154" y="257175"/>
                  <a:pt x="85725" y="250746"/>
                  <a:pt x="85725" y="242888"/>
                </a:cubicBezTo>
                <a:lnTo>
                  <a:pt x="85725" y="214313"/>
                </a:lnTo>
                <a:close/>
                <a:moveTo>
                  <a:pt x="214313" y="200025"/>
                </a:moveTo>
                <a:lnTo>
                  <a:pt x="242888" y="200025"/>
                </a:lnTo>
                <a:cubicBezTo>
                  <a:pt x="250746" y="200025"/>
                  <a:pt x="257175" y="206454"/>
                  <a:pt x="257175" y="214313"/>
                </a:cubicBezTo>
                <a:lnTo>
                  <a:pt x="257175" y="242888"/>
                </a:lnTo>
                <a:cubicBezTo>
                  <a:pt x="257175" y="250746"/>
                  <a:pt x="250746" y="257175"/>
                  <a:pt x="242888" y="257175"/>
                </a:cubicBezTo>
                <a:lnTo>
                  <a:pt x="214313" y="257175"/>
                </a:lnTo>
                <a:cubicBezTo>
                  <a:pt x="206454" y="257175"/>
                  <a:pt x="200025" y="250746"/>
                  <a:pt x="200025" y="242888"/>
                </a:cubicBezTo>
                <a:lnTo>
                  <a:pt x="200025" y="214313"/>
                </a:lnTo>
                <a:cubicBezTo>
                  <a:pt x="200025" y="206454"/>
                  <a:pt x="206454" y="200025"/>
                  <a:pt x="214313" y="200025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890828" y="3911600"/>
            <a:ext cx="420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Servicios Débiles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44828" y="4368800"/>
            <a:ext cx="3695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Menor inversión y capacidad para una activación efectiva y personalizada.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Dilema Central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6.1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26912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525" y="-2286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6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-9525" y="-2286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8-d2nf5hh8bjvh7rlivtp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0" y="-37465"/>
            <a:ext cx="3060065" cy="6964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rot="10800000">
            <a:off x="12190095" y="635"/>
            <a:ext cx="0" cy="686498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404040"/>
                </a:gs>
                <a:gs pos="83000">
                  <a:srgbClr val="000000"/>
                </a:gs>
                <a:gs pos="100000">
                  <a:srgbClr val="000000"/>
                </a:gs>
              </a:gsLst>
              <a:lin ang="534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 rot="10800000">
            <a:off x="9142730" y="635"/>
            <a:ext cx="0" cy="686498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404040"/>
                </a:gs>
                <a:gs pos="83000">
                  <a:srgbClr val="000000"/>
                </a:gs>
                <a:gs pos="100000">
                  <a:srgbClr val="000000"/>
                </a:gs>
              </a:gsLst>
              <a:lin ang="534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 rot="10800000">
            <a:off x="-635" y="635"/>
            <a:ext cx="0" cy="686498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404040"/>
                </a:gs>
                <a:gs pos="83000">
                  <a:srgbClr val="000000"/>
                </a:gs>
                <a:gs pos="100000">
                  <a:srgbClr val="000000"/>
                </a:gs>
              </a:gsLst>
              <a:lin ang="534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-5080" y="421640"/>
            <a:ext cx="12207240" cy="66675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>
                <a:alpha val="23922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-5080" y="421640"/>
            <a:ext cx="12207240" cy="6667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9100" y="421640"/>
            <a:ext cx="8288020" cy="6667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Trade-off: Asegurar vs. Incentivar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96000" y="426085"/>
            <a:ext cx="6109335" cy="6667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3" name="Image 1" descr="https://kimi-img.moonshot.cn/pub/slides/slides_tmpl/image/25-08-27-19:57:57-d2nf5h98bjvh7rlivt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30" y="426085"/>
            <a:ext cx="1005840" cy="3517265"/>
          </a:xfrm>
          <a:prstGeom prst="rect">
            <a:avLst/>
          </a:prstGeom>
        </p:spPr>
      </p:pic>
      <p:pic>
        <p:nvPicPr>
          <p:cNvPr id="14" name="Image 2" descr="https://kimi-img.moonshot.cn/pub/slides/slides_tmpl/image/25-08-27-19:57:58-d2nf5hh8bjvh7rlivt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4350" y="421640"/>
            <a:ext cx="1371600" cy="3517265"/>
          </a:xfrm>
          <a:prstGeom prst="rect">
            <a:avLst/>
          </a:prstGeom>
        </p:spPr>
      </p:pic>
      <p:pic>
        <p:nvPicPr>
          <p:cNvPr id="15" name="Image 3" descr="https://kimi-img.moonshot.cn/pub/slides/slides_tmpl/image/25-08-27-19:57:58-d2nf5hh8bjvh7rlivtp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3140" y="421640"/>
            <a:ext cx="1566545" cy="35172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47015" y="2915285"/>
            <a:ext cx="2747645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Protección de Ingresos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256540" y="3643630"/>
            <a:ext cx="2545080" cy="16581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pasivas de empleo deben proteger los ingresos de los individuos tras el shock del despido, evitando una caída drástica en su nivel de vida.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327140" y="2915285"/>
            <a:ext cx="2747645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Riesgo Moral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336665" y="3643630"/>
            <a:ext cx="2545080" cy="16581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embargo, es necesario evitar el riesgo moral, donde la protección puede desincentivar la búsqueda activa de empleo y prolongar el desempleo.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9368790" y="2915285"/>
            <a:ext cx="2747645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 de Objetivos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9378315" y="3643630"/>
            <a:ext cx="2545080" cy="22109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evidencia empírica permite cuantificar hasta qué punto se cumplen simultáneamente los objetivos de bienestar, eficiencia laboral y estabilidad macroeconómica.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87988567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Efectividad Social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11143" y="1823085"/>
            <a:ext cx="2036082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6.2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22159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55-d2nf5gp8bjvh7rlivt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8"/>
            <a:ext cx="12191365" cy="68694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4155" y="200660"/>
            <a:ext cx="6145530" cy="17379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Suavizan la Caída del Consumo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60720" y="4352290"/>
            <a:ext cx="2680970" cy="5143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el Consumo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60720" y="5146040"/>
            <a:ext cx="5664200" cy="9251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prestaciones por desempleo actúan como un seguro, suavizando la caída del consumo de alimentos de un hipotético 22 % sin protección a solo 8,9 % en España. Esta protección es esencial para evitar una caída sustancial en el gasto de las familias afectadas.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75545299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59-d2nf5hp8bjvh7rlivu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" y="0"/>
            <a:ext cx="410845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0800000">
            <a:off x="4109720" y="0"/>
            <a:ext cx="2802255" cy="6346825"/>
          </a:xfrm>
          <a:prstGeom prst="rect">
            <a:avLst/>
          </a:prstGeom>
          <a:gradFill flip="none" rotWithShape="1">
            <a:gsLst>
              <a:gs pos="0">
                <a:srgbClr val="171717">
                  <a:alpha val="0"/>
                </a:srgbClr>
              </a:gs>
              <a:gs pos="21000">
                <a:srgbClr val="171717">
                  <a:alpha val="0"/>
                </a:srgbClr>
              </a:gs>
              <a:gs pos="95000">
                <a:srgbClr val="1C1C1C">
                  <a:alpha val="46000"/>
                </a:srgbClr>
              </a:gs>
              <a:gs pos="100000">
                <a:srgbClr val="1C1C1C">
                  <a:alpha val="46000"/>
                </a:srgbClr>
              </a:gs>
            </a:gsLst>
            <a:lin ang="13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 rot="10800000">
            <a:off x="4109720" y="0"/>
            <a:ext cx="2802255" cy="63468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rot="10800000">
            <a:off x="9544050" y="-24130"/>
            <a:ext cx="2647315" cy="6370955"/>
          </a:xfrm>
          <a:prstGeom prst="rect">
            <a:avLst/>
          </a:prstGeom>
          <a:gradFill flip="none" rotWithShape="1">
            <a:gsLst>
              <a:gs pos="0">
                <a:srgbClr val="171717">
                  <a:alpha val="0"/>
                </a:srgbClr>
              </a:gs>
              <a:gs pos="21000">
                <a:srgbClr val="171717">
                  <a:alpha val="0"/>
                </a:srgbClr>
              </a:gs>
              <a:gs pos="95000">
                <a:srgbClr val="1C1C1C">
                  <a:alpha val="46000"/>
                </a:srgbClr>
              </a:gs>
              <a:gs pos="100000">
                <a:srgbClr val="1C1C1C">
                  <a:alpha val="46000"/>
                </a:srgbClr>
              </a:gs>
            </a:gsLst>
            <a:lin ang="13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 rot="10800000">
            <a:off x="9544050" y="-24130"/>
            <a:ext cx="2647315" cy="6370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911975" y="12700"/>
            <a:ext cx="2633980" cy="6334125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6911975" y="12700"/>
            <a:ext cx="2633980" cy="63341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6036945" y="-6035040"/>
            <a:ext cx="147955" cy="1223137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 rot="5400000">
            <a:off x="6036945" y="-6035040"/>
            <a:ext cx="147955" cy="122313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114800" y="37465"/>
            <a:ext cx="0" cy="68726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369570" y="739775"/>
            <a:ext cx="3452495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Reducen la Pobreza Masivamente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967480" y="6336665"/>
            <a:ext cx="9177655" cy="1905"/>
          </a:xfrm>
          <a:prstGeom prst="line">
            <a:avLst/>
          </a:prstGeom>
          <a:noFill/>
          <a:ln w="19050">
            <a:solidFill>
              <a:srgbClr val="0D0D0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https://kimi-img.moonshot.cn/pub/slides/slides_tmpl/image/25-08-27-19:57:58-d2nf5hh8bjvh7rlivts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240" y="506095"/>
            <a:ext cx="7430770" cy="16827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02760" y="2922270"/>
            <a:ext cx="265684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Poder Redistributivo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337050" y="3616960"/>
            <a:ext cx="2489200" cy="24874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conjunto de transferencias, incluidas las políticas pasivas de empleo, saca anualmente a 10,6 millones de personas del riesgo de pobreza, reduciendo la tasa del 42,6 % previo a las prestaciones al 20,2 % posterior.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939280" y="2922270"/>
            <a:ext cx="265684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 de la Reducción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973570" y="3616960"/>
            <a:ext cx="2489200" cy="22109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 reducción masiva del riesgo de pobreza demuestra el poder redistributivo de las políticas pasivas de empleo y justifica su existencia como un pilar del bienestar social.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9526905" y="2922270"/>
            <a:ext cx="265684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en el Bienestar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9561195" y="3616960"/>
            <a:ext cx="2489200" cy="22109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capacidad de las políticas pasivas de empleo para reducir la pobreza es un indicador clave de su efectividad en el bienestar social, demostrando su valor para las personas más vulnerables.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605000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335" y="0"/>
            <a:ext cx="12205335" cy="178435"/>
          </a:xfrm>
          <a:prstGeom prst="rect">
            <a:avLst/>
          </a:prstGeom>
          <a:solidFill>
            <a:srgbClr val="10101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-13335" y="0"/>
            <a:ext cx="12205335" cy="1784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08940"/>
            <a:ext cx="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03225" y="2181860"/>
            <a:ext cx="7212965" cy="4517390"/>
          </a:xfrm>
          <a:prstGeom prst="rect">
            <a:avLst/>
          </a:prstGeom>
          <a:solidFill>
            <a:srgbClr val="10101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03225" y="2181860"/>
            <a:ext cx="7212965" cy="45173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155" y="963930"/>
            <a:ext cx="4698365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Salud Pública Indirecta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7670" y="1819275"/>
            <a:ext cx="7206615" cy="370840"/>
          </a:xfrm>
          <a:prstGeom prst="rect">
            <a:avLst/>
          </a:prstGeom>
          <a:gradFill flip="none" rotWithShape="1">
            <a:gsLst>
              <a:gs pos="0">
                <a:srgbClr val="B3C4BE"/>
              </a:gs>
              <a:gs pos="100000">
                <a:srgbClr val="FFFFFF"/>
              </a:gs>
            </a:gsLst>
            <a:lin ang="36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07670" y="1819275"/>
            <a:ext cx="7206615" cy="3708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flipV="1">
            <a:off x="-5715" y="748030"/>
            <a:ext cx="7619365" cy="381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7616825" y="5327015"/>
            <a:ext cx="4574540" cy="15316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616825" y="5327015"/>
            <a:ext cx="4574540" cy="1531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3225" y="759460"/>
            <a:ext cx="0" cy="611251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 flipV="1">
            <a:off x="406400" y="6701155"/>
            <a:ext cx="7207250" cy="3175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7616190" y="752475"/>
            <a:ext cx="0" cy="611949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6" name="Image 0" descr="https://kimi-img.moonshot.cn/pub/slides/slides_tmpl/image/25-08-27-19:57:57-d2nf5h98bjvh7rlivtn0.png"/>
          <p:cNvPicPr>
            <a:picLocks noChangeAspect="1"/>
          </p:cNvPicPr>
          <p:nvPr/>
        </p:nvPicPr>
        <p:blipFill>
          <a:blip r:embed="rId3"/>
          <a:srcRect l="-332" t="-2749" r="332" b="6287"/>
          <a:stretch/>
        </p:blipFill>
        <p:spPr>
          <a:xfrm>
            <a:off x="7607300" y="606425"/>
            <a:ext cx="4584065" cy="5280660"/>
          </a:xfrm>
          <a:prstGeom prst="rect">
            <a:avLst/>
          </a:prstGeom>
        </p:spPr>
      </p:pic>
      <p:pic>
        <p:nvPicPr>
          <p:cNvPr id="17" name="Image 1" descr="https://kimi-img.moonshot.cn/pub/slides/slides_tmpl/image/25-08-27-19:57:51-d2nf5fp8bjvh7rlivt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25" y="2647950"/>
            <a:ext cx="555625" cy="541020"/>
          </a:xfrm>
          <a:prstGeom prst="rect">
            <a:avLst/>
          </a:prstGeom>
        </p:spPr>
      </p:pic>
      <p:pic>
        <p:nvPicPr>
          <p:cNvPr id="18" name="Image 2" descr="https://kimi-img.moonshot.cn/pub/slides/slides_tmpl/image/25-08-27-19:57:51-d2nf5fp8bjvh7rlivt2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658360"/>
            <a:ext cx="555625" cy="5410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07465" y="2669540"/>
            <a:ext cx="235839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en la Salud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316990" y="3259455"/>
            <a:ext cx="5767705" cy="829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prestaciones por desempleo actúan como política de salud pública indirecta, mitigando el estrés financiero y mejorando la salud autopercibida y la mortalidad a largo plazo.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307465" y="4671060"/>
            <a:ext cx="235839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Evidencia Española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307465" y="5255895"/>
            <a:ext cx="5767705" cy="1105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Estudios en España han demostrado que la pérdida del subsidio de desempleo está vinculada a un deterioro de la salud mental en hombres mayores, lo que subraya la importancia de la cobertura para la salud.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40095735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Efectividad Laboral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89845" y="1823085"/>
            <a:ext cx="215738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6.3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90539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640715"/>
            <a:ext cx="9633585" cy="120523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640715"/>
            <a:ext cx="9633585" cy="12052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345" y="733425"/>
            <a:ext cx="9337040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Liquidez vs. Riesgo Moral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-635" y="0"/>
            <a:ext cx="12193270" cy="4286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-635" y="0"/>
            <a:ext cx="12193270" cy="428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8925" y="150495"/>
            <a:ext cx="127000" cy="127000"/>
          </a:xfrm>
          <a:prstGeom prst="mathPlus">
            <a:avLst>
              <a:gd name="adj1" fmla="val 0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88925" y="150495"/>
            <a:ext cx="127000" cy="127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349230" y="610235"/>
            <a:ext cx="1409700" cy="1409700"/>
          </a:xfrm>
          <a:prstGeom prst="mathPlus">
            <a:avLst>
              <a:gd name="adj1" fmla="val 0"/>
            </a:avLst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0349230" y="610235"/>
            <a:ext cx="1409700" cy="14097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0" descr="https://kimi-img.moonshot.cn/pub/slides/slides_tmpl/image/25-08-27-19:57:56-d2nf5h18bjvh7rlivt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2484120"/>
            <a:ext cx="3267710" cy="3273425"/>
          </a:xfrm>
          <a:prstGeom prst="rect">
            <a:avLst/>
          </a:prstGeom>
        </p:spPr>
      </p:pic>
      <p:pic>
        <p:nvPicPr>
          <p:cNvPr id="12" name="Image 1" descr="https://kimi-img.moonshot.cn/pub/slides/slides_tmpl/image/25-08-27-19:57:56-d2nf5h18bjvh7rlivtk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925" y="2494915"/>
            <a:ext cx="3267710" cy="32613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-8890" y="6414135"/>
            <a:ext cx="12192635" cy="57340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0"/>
          <p:cNvSpPr/>
          <p:nvPr/>
        </p:nvSpPr>
        <p:spPr>
          <a:xfrm>
            <a:off x="-8890" y="6414135"/>
            <a:ext cx="12192635" cy="5734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409950" y="2390140"/>
            <a:ext cx="2858770" cy="419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Distinguir entre Efectos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422015" y="3077210"/>
            <a:ext cx="2568575" cy="28917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 crucial distinguir entre el riesgo moral (distorsión) y el efecto liquidez (corrección de fallos de mercado) para entender el verdadero impacto de las políticas pasivas de empleo en la duración del desempleo.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356350" y="2390140"/>
            <a:ext cx="2480945" cy="419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Hallazgos de Chetty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268720" y="3077210"/>
            <a:ext cx="2568575" cy="28917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Estudios como los de Chetty han demostrado que cerca del 60 % del aumento en la duración del desempleo se debe a efectos de liquidez, lo que implica que buena parte de la prolongación es socialmente deseable.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26823901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55-d2nf5gp8bjvh7rlivt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8"/>
            <a:ext cx="12191365" cy="68757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985" y="1064260"/>
            <a:ext cx="4159652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Magnitud Revisada del </a:t>
            </a:r>
            <a:r>
              <a:rPr lang="en-US" sz="48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Desincentivo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81660" y="3448050"/>
            <a:ext cx="2680970" cy="5143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Elasticidad Revisada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918835" y="1160145"/>
            <a:ext cx="5664200" cy="9251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elasticidad duración-generosidad se sitúa entre 0,2-0,3, lo que significa que un incremento del 10 % en la prestación solo alarga el desempleo un 2-3 %. Esto demuestra que el desincentivo existe pero es moderado.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05173172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7455" y="2285365"/>
            <a:ext cx="10963910" cy="228536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227455" y="2285365"/>
            <a:ext cx="10963910" cy="2285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672080" y="2781935"/>
            <a:ext cx="3423285" cy="1287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Pico de Salida Antes del Agotamiento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460625" y="4573905"/>
            <a:ext cx="9763760" cy="3175"/>
          </a:xfrm>
          <a:prstGeom prst="line">
            <a:avLst/>
          </a:prstGeom>
          <a:noFill/>
          <a:ln w="19050">
            <a:solidFill>
              <a:srgbClr val="0D0D0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467610" y="2296160"/>
            <a:ext cx="9768205" cy="3175"/>
          </a:xfrm>
          <a:prstGeom prst="line">
            <a:avLst/>
          </a:prstGeom>
          <a:noFill/>
          <a:ln w="19050">
            <a:solidFill>
              <a:srgbClr val="0D0D0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0" descr="https://kimi-img.moonshot.cn/pub/slides/slides_tmpl/image/25-08-27-19:57:59-d2nf5hp8bjvh7rlivu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1155" y="-26035"/>
            <a:ext cx="2818130" cy="6908800"/>
          </a:xfrm>
          <a:prstGeom prst="rect">
            <a:avLst/>
          </a:prstGeom>
        </p:spPr>
      </p:pic>
      <p:pic>
        <p:nvPicPr>
          <p:cNvPr id="8" name="Image 1" descr="https://kimi-img.moonshot.cn/pub/slides/slides_tmpl/image/25-08-27-19:57:58-d2nf5hh8bjvh7rlivt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695" y="4580255"/>
            <a:ext cx="2578735" cy="2292350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8-27-19:57:58-d2nf5hh8bjvh7rlivtv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180" y="494665"/>
            <a:ext cx="977900" cy="2908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051175" y="494665"/>
            <a:ext cx="234823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Pico de Salida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3048635" y="968375"/>
            <a:ext cx="5991860" cy="829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observa un robusto pico de salida del desempleo justo antes de finalizar la prestación, lo que puede interpretarse como un aumento en la búsqueda de empleo.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033135" y="2607310"/>
            <a:ext cx="234823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Intensificación de la Búsqueda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030595" y="3081020"/>
            <a:ext cx="5522595" cy="829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Este salto no implica solo reempleo, sino también una intensificación genuina de la búsqueda de empleo, lo que demuestra que los incentivos siguen funcionando.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053715" y="4970780"/>
            <a:ext cx="234823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de Reporte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051175" y="5444490"/>
            <a:ext cx="5989320" cy="829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Además, se identifica un efecto de reporte, donde los individuos dejan de registrarse como demandantes al agotarse los beneficios, lo que puede distorsionar la percepción del impacto.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23681823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525" y="-2286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100000">
                <a:srgbClr val="262626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-9525" y="-2286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-10160" y="-21590"/>
            <a:ext cx="12201525" cy="48196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-10160" y="-21590"/>
            <a:ext cx="12201525" cy="4819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34435" y="459740"/>
            <a:ext cx="4574540" cy="582485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734435" y="459740"/>
            <a:ext cx="4574540" cy="58248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0450" y="2489835"/>
            <a:ext cx="3286125" cy="0"/>
          </a:xfrm>
          <a:prstGeom prst="line">
            <a:avLst/>
          </a:prstGeom>
          <a:noFill/>
          <a:ln w="3175">
            <a:gradFill flip="none" rotWithShape="1">
              <a:gsLst>
                <a:gs pos="0">
                  <a:srgbClr val="000000"/>
                </a:gs>
                <a:gs pos="53000">
                  <a:srgbClr val="595959"/>
                </a:gs>
                <a:gs pos="100000">
                  <a:srgbClr val="000000"/>
                </a:gs>
              </a:gsLst>
              <a:lin ang="1080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81305" y="2495550"/>
            <a:ext cx="3099435" cy="7620"/>
          </a:xfrm>
          <a:prstGeom prst="line">
            <a:avLst/>
          </a:prstGeom>
          <a:noFill/>
          <a:ln w="3175">
            <a:gradFill flip="none" rotWithShape="1">
              <a:gsLst>
                <a:gs pos="0">
                  <a:srgbClr val="000000"/>
                </a:gs>
                <a:gs pos="53000">
                  <a:srgbClr val="595959"/>
                </a:gs>
                <a:gs pos="100000">
                  <a:srgbClr val="000000"/>
                </a:gs>
              </a:gsLst>
              <a:lin ang="1080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490085" y="1544320"/>
            <a:ext cx="3004820" cy="1346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Intensidad de Búsqueda: Evidencia Mixta</a:t>
            </a:r>
            <a:endParaRPr lang="en-US" sz="1600" dirty="0"/>
          </a:p>
        </p:txBody>
      </p:sp>
      <p:pic>
        <p:nvPicPr>
          <p:cNvPr id="11" name="Image 0" descr="https://kimi-img.moonshot.cn/pub/slides/slides_tmpl/image/25-08-27-19:57:56-d2nf5h18bjvh7rlivtl0.png"/>
          <p:cNvPicPr>
            <a:picLocks noChangeAspect="1"/>
          </p:cNvPicPr>
          <p:nvPr/>
        </p:nvPicPr>
        <p:blipFill>
          <a:blip r:embed="rId3"/>
          <a:srcRect t="5611"/>
          <a:stretch/>
        </p:blipFill>
        <p:spPr>
          <a:xfrm>
            <a:off x="3736340" y="459740"/>
            <a:ext cx="4578350" cy="6398260"/>
          </a:xfrm>
          <a:prstGeom prst="rect">
            <a:avLst/>
          </a:prstGeom>
        </p:spPr>
      </p:pic>
      <p:pic>
        <p:nvPicPr>
          <p:cNvPr id="12" name="Image 1" descr="https://kimi-img.moonshot.cn/pub/slides/slides_tmpl/image/25-08-27-19:57:56-d2nf5h18bjvh7rlivt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305" y="1218565"/>
            <a:ext cx="585470" cy="396240"/>
          </a:xfrm>
          <a:prstGeom prst="rect">
            <a:avLst/>
          </a:prstGeom>
        </p:spPr>
      </p:pic>
      <p:pic>
        <p:nvPicPr>
          <p:cNvPr id="13" name="Image 2" descr="https://kimi-img.moonshot.cn/pub/slides/slides_tmpl/image/25-08-27-19:57:56-d2nf5h18bjvh7rlivtj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0450" y="1212850"/>
            <a:ext cx="585470" cy="3962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1305" y="1615440"/>
            <a:ext cx="2976245" cy="8089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Contraste con Predicciones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81305" y="2839720"/>
            <a:ext cx="2877185" cy="19345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Aunque la teoría predice una reducción en el esfuerzo de búsqueda, la evidencia muestra que los perceptores dedican más horas semanales a buscar empleo que aquellos que ya agotaron la prestación.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680450" y="1609725"/>
            <a:ext cx="3221990" cy="8089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Financiación de la Búsqueda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680450" y="2834005"/>
            <a:ext cx="3099435" cy="16581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 discrepancia sugiere que las prestaciones financian y sostienen una búsqueda más prolongada, lo que puede ser beneficioso para encontrar empleos de mejor calidad.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97444890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Calidad y Productividad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29804" y="1823085"/>
            <a:ext cx="2017421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6.4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60127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54-d2nf5gh8bjvh7rlivt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450"/>
            <a:ext cx="12192000" cy="6700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0" y="4590415"/>
            <a:ext cx="4450080" cy="12630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 Emparejamiento Ocupacional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 flipH="1">
            <a:off x="902335" y="4770755"/>
            <a:ext cx="320675" cy="40068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929E9E"/>
                </a:gs>
                <a:gs pos="100000">
                  <a:srgbClr val="595959"/>
                </a:gs>
              </a:gsLst>
              <a:lin ang="1080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1" descr="https://kimi-img.moonshot.cn/pub/slides/slides_tmpl/image/25-08-27-19:57:54-d2nf5gh8bjvh7rlivtc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00" y="43815"/>
            <a:ext cx="2198370" cy="4006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54075" y="901065"/>
            <a:ext cx="320675" cy="30467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3"/>
          <p:cNvSpPr/>
          <p:nvPr/>
        </p:nvSpPr>
        <p:spPr>
          <a:xfrm>
            <a:off x="854075" y="901065"/>
            <a:ext cx="320675" cy="3046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1007745" y="690880"/>
            <a:ext cx="166370" cy="346900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5"/>
          <p:cNvSpPr/>
          <p:nvPr/>
        </p:nvSpPr>
        <p:spPr>
          <a:xfrm>
            <a:off x="1007745" y="690880"/>
            <a:ext cx="166370" cy="34690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027420" y="4646930"/>
            <a:ext cx="5211445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la Calidad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021070" y="5137150"/>
            <a:ext cx="5210810" cy="1139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 relajar las restricciones de liquidez, las políticas pasivas de empleo permiten a los trabajadores ser más selectivos y rechazar empleos inadecuados, lo que facilita un mejor emparejamiento y una inversión en el capital humano.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07739332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58-d2nf5hh8bjvh7rlivts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335" y="1548765"/>
            <a:ext cx="4718050" cy="531558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445" y="62865"/>
            <a:ext cx="4717415" cy="148399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-4445" y="62865"/>
            <a:ext cx="4717415" cy="1483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830185" y="869950"/>
            <a:ext cx="22479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7863205" y="2713355"/>
            <a:ext cx="22402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7839710" y="4596130"/>
            <a:ext cx="22529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273050" y="290989"/>
            <a:ext cx="4300220" cy="1287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Salarios Más Altos y Empleos Estables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11065" y="46355"/>
            <a:ext cx="0" cy="683133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 rot="5400000">
            <a:off x="6036945" y="-6035675"/>
            <a:ext cx="147955" cy="1223137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 rot="5400000">
            <a:off x="6036945" y="-6035675"/>
            <a:ext cx="147955" cy="122313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17415" y="6331585"/>
            <a:ext cx="7508875" cy="532765"/>
          </a:xfrm>
          <a:prstGeom prst="rect">
            <a:avLst/>
          </a:prstGeom>
          <a:solidFill>
            <a:srgbClr val="10101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4717415" y="6331585"/>
            <a:ext cx="7508875" cy="5327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1" descr="https://kimi-img.moonshot.cn/pub/slides/slides_tmpl/image/25-08-27-19:57:58-d2nf5hh8bjvh7rlivtr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755" y="504190"/>
            <a:ext cx="1164590" cy="731520"/>
          </a:xfrm>
          <a:prstGeom prst="rect">
            <a:avLst/>
          </a:prstGeom>
        </p:spPr>
      </p:pic>
      <p:pic>
        <p:nvPicPr>
          <p:cNvPr id="15" name="Image 2" descr="https://kimi-img.moonshot.cn/pub/slides/slides_tmpl/image/25-08-27-19:57:58-d2nf5hh8bjvh7rlivt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5755" y="2350770"/>
            <a:ext cx="1164590" cy="731520"/>
          </a:xfrm>
          <a:prstGeom prst="rect">
            <a:avLst/>
          </a:prstGeom>
        </p:spPr>
      </p:pic>
      <p:pic>
        <p:nvPicPr>
          <p:cNvPr id="16" name="Image 3" descr="https://kimi-img.moonshot.cn/pub/slides/slides_tmpl/image/25-08-27-19:57:58-d2nf5hh8bjvh7rlivtr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5755" y="4217670"/>
            <a:ext cx="1164590" cy="7315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67350" y="670560"/>
            <a:ext cx="234823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Incremento Salarial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481955" y="1177290"/>
            <a:ext cx="5952490" cy="829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Cada 10 % de aumento en la cuantía de las prestaciones se asocia con un incremento salarial del 1,2 % en el reempleo, lo que demuestra un impacto positivo en la calidad del empleo.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481955" y="2499360"/>
            <a:ext cx="234823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Mayor Estabilidad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443220" y="3003550"/>
            <a:ext cx="5952490" cy="829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Además de los salarios más altos, las políticas pasivas de empleo también contribuyen a una mayor estabilidad en el nuevo puesto de trabajo, lo que beneficia tanto a los trabajadores como a las empresas.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481955" y="4373880"/>
            <a:ext cx="234823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en la Productividad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481955" y="4875530"/>
            <a:ext cx="5952490" cy="829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mejor emparejamiento de habilidades y puestos resultante de las políticas pasivas de empleo puede elevar la productividad individual y colectiva, lo que beneficia a la economía en su conjunto.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2807457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4860" y="1491615"/>
            <a:ext cx="5301615" cy="210566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84860" y="1491615"/>
            <a:ext cx="5301615" cy="21056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70605" y="497205"/>
            <a:ext cx="5051425" cy="6915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Productividad Agregada Positiva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4540" cy="282575"/>
          </a:xfrm>
          <a:prstGeom prst="rect">
            <a:avLst/>
          </a:prstGeom>
          <a:solidFill>
            <a:srgbClr val="10101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12194540" cy="282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83935" y="1491615"/>
            <a:ext cx="2540" cy="595249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404040"/>
                </a:gs>
                <a:gs pos="83000">
                  <a:srgbClr val="000000">
                    <a:alpha val="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34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9780" y="1491615"/>
            <a:ext cx="10601960" cy="571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FFFFFF"/>
                </a:gs>
                <a:gs pos="31000">
                  <a:srgbClr val="909090"/>
                </a:gs>
                <a:gs pos="53000">
                  <a:srgbClr val="202020"/>
                </a:gs>
                <a:gs pos="76000">
                  <a:srgbClr val="909090"/>
                </a:gs>
                <a:gs pos="100000">
                  <a:srgbClr val="FFFFFF"/>
                </a:gs>
              </a:gsLst>
              <a:lin ang="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779780" y="1403985"/>
            <a:ext cx="10601960" cy="571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FFFFFF"/>
                </a:gs>
                <a:gs pos="31000">
                  <a:srgbClr val="909090"/>
                </a:gs>
                <a:gs pos="53000">
                  <a:srgbClr val="202020"/>
                </a:gs>
                <a:gs pos="76000">
                  <a:srgbClr val="909090"/>
                </a:gs>
                <a:gs pos="100000">
                  <a:srgbClr val="FFFFFF"/>
                </a:gs>
              </a:gsLst>
              <a:lin ang="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779780" y="290830"/>
            <a:ext cx="0" cy="655891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1381740" y="290830"/>
            <a:ext cx="0" cy="655891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0" y="6173470"/>
            <a:ext cx="12446000" cy="690880"/>
          </a:xfrm>
          <a:prstGeom prst="rect">
            <a:avLst/>
          </a:prstGeom>
          <a:solidFill>
            <a:srgbClr val="10101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0" y="6173470"/>
            <a:ext cx="12446000" cy="6908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382375" y="6173470"/>
            <a:ext cx="824230" cy="690880"/>
          </a:xfrm>
          <a:prstGeom prst="rect">
            <a:avLst/>
          </a:prstGeom>
          <a:solidFill>
            <a:srgbClr val="10101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1382375" y="6173470"/>
            <a:ext cx="824230" cy="6908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6" name="Image 0" descr="https://kimi-img.moonshot.cn/pub/slides/slides_tmpl/image/25-08-27-19:57:57-d2nf5h98bjvh7rlivto0.png"/>
          <p:cNvPicPr>
            <a:picLocks noChangeAspect="1"/>
          </p:cNvPicPr>
          <p:nvPr/>
        </p:nvPicPr>
        <p:blipFill>
          <a:blip r:embed="rId3"/>
          <a:srcRect b="21328"/>
          <a:stretch/>
        </p:blipFill>
        <p:spPr>
          <a:xfrm>
            <a:off x="779780" y="3597275"/>
            <a:ext cx="10625455" cy="2632710"/>
          </a:xfrm>
          <a:prstGeom prst="rect">
            <a:avLst/>
          </a:prstGeom>
        </p:spPr>
      </p:pic>
      <p:pic>
        <p:nvPicPr>
          <p:cNvPr id="17" name="Image 1" descr="https://kimi-img.moonshot.cn/pub/slides/slides_tmpl/image/25-08-27-19:57:56-d2nf5h18bjvh7rlivtl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" y="1607185"/>
            <a:ext cx="701040" cy="640080"/>
          </a:xfrm>
          <a:prstGeom prst="rect">
            <a:avLst/>
          </a:prstGeom>
        </p:spPr>
      </p:pic>
      <p:pic>
        <p:nvPicPr>
          <p:cNvPr id="18" name="Image 2" descr="https://kimi-img.moonshot.cn/pub/slides/slides_tmpl/image/25-08-27-19:57:56-d2nf5h18bjvh7rlivtm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6190" y="1607185"/>
            <a:ext cx="701040" cy="6400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73430" y="6179820"/>
            <a:ext cx="10617835" cy="3708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5"/>
          <p:cNvSpPr/>
          <p:nvPr/>
        </p:nvSpPr>
        <p:spPr>
          <a:xfrm>
            <a:off x="773430" y="6179820"/>
            <a:ext cx="10617835" cy="3708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065530" y="1684655"/>
            <a:ext cx="459740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Incentivo a Empleos Productivos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067435" y="2228215"/>
            <a:ext cx="4662170" cy="1105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 reducir el riesgo individual, las políticas pasivas de empleo incentivan la búsqueda de empleos más productivos aunque sean más arriesgados, lo que puede elevar la productividad agregada.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38900" y="1684655"/>
            <a:ext cx="459740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 de Efectos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440805" y="2228215"/>
            <a:ext cx="4662170" cy="1105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ganancia por mejor asignación de trabajadores puede superar la pérdida derivada del ligero aumento en la duración del desempleo, lo que resulta en un aumento neto en la producción total.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6735833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Estabilidad y Diseño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99176" y="1823085"/>
            <a:ext cx="2148049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6.5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006215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35" y="478790"/>
            <a:ext cx="8496935" cy="1640840"/>
          </a:xfrm>
          <a:prstGeom prst="rect">
            <a:avLst/>
          </a:prstGeom>
          <a:solidFill>
            <a:srgbClr val="10101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-635" y="478790"/>
            <a:ext cx="8496935" cy="16408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8790"/>
            <a:ext cx="12212955" cy="5715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495665" y="5216525"/>
            <a:ext cx="3696970" cy="1640840"/>
          </a:xfrm>
          <a:prstGeom prst="rect">
            <a:avLst/>
          </a:prstGeom>
          <a:solidFill>
            <a:srgbClr val="10101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495665" y="5216525"/>
            <a:ext cx="3696970" cy="16408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2890" y="1195705"/>
            <a:ext cx="8233410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Estabilizadores Automáticos Clave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95665" y="5220970"/>
            <a:ext cx="690880" cy="1641475"/>
          </a:xfrm>
          <a:prstGeom prst="rect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495665" y="5220970"/>
            <a:ext cx="690880" cy="16414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6470" y="489585"/>
            <a:ext cx="1179830" cy="162941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316470" y="489585"/>
            <a:ext cx="1179830" cy="16294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95665" y="484505"/>
            <a:ext cx="0" cy="638937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0" descr="https://kimi-img.moonshot.cn/pub/slides/slides_tmpl/image/25-08-27-19:57:58-d2nf5hh8bjvh7rlivt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2111375"/>
            <a:ext cx="4779010" cy="476123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965065" y="2735580"/>
            <a:ext cx="3367405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 Macro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965065" y="3709670"/>
            <a:ext cx="3119120" cy="138191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pasivas de empleo actúan como estabilizadores automáticos, aumentando el gasto automáticamente en recesiones y suavizando el ciclo económico.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747760" y="1021715"/>
            <a:ext cx="336677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Multiplicadores Fiscales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747760" y="1995805"/>
            <a:ext cx="3118485" cy="19345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Estudios han encontrado que las prestaciones tienen un multiplicador fiscal cercano a 1,0, con estimaciones de hasta 1,92 durante la Gran Recesión, lo que demuestra su impacto positivo en el crecimiento económico.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01429629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9890760" y="4552315"/>
            <a:ext cx="1200785" cy="3419475"/>
          </a:xfrm>
          <a:prstGeom prst="rect">
            <a:avLst/>
          </a:prstGeom>
          <a:solidFill>
            <a:srgbClr val="C0C0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 rot="5400000">
            <a:off x="9890760" y="4552315"/>
            <a:ext cx="1200785" cy="34194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82320" y="269240"/>
            <a:ext cx="8233410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Perfil Temporal Óptimo Evidenciado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5400000">
            <a:off x="-1124585" y="3178175"/>
            <a:ext cx="4485005" cy="47180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 rot="5400000">
            <a:off x="-1124585" y="3178175"/>
            <a:ext cx="4485005" cy="4718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656580"/>
            <a:ext cx="12212955" cy="571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0" y="1171575"/>
            <a:ext cx="12212955" cy="571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 rot="5400000">
            <a:off x="-1801495" y="2971165"/>
            <a:ext cx="4485005" cy="882015"/>
          </a:xfrm>
          <a:prstGeom prst="rect">
            <a:avLst/>
          </a:prstGeom>
          <a:solidFill>
            <a:srgbClr val="C0C0C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 rot="5400000">
            <a:off x="-1801495" y="2971165"/>
            <a:ext cx="4485005" cy="8820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rot="5400000">
            <a:off x="9031605" y="-2004695"/>
            <a:ext cx="219710" cy="6120130"/>
          </a:xfrm>
          <a:prstGeom prst="rect">
            <a:avLst/>
          </a:prstGeom>
          <a:solidFill>
            <a:srgbClr val="C0C0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 rot="5400000">
            <a:off x="9031605" y="-2004695"/>
            <a:ext cx="219710" cy="6120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8120" y="1165225"/>
            <a:ext cx="4771390" cy="221424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008120" y="1165225"/>
            <a:ext cx="4771390" cy="22142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53820" y="3373120"/>
            <a:ext cx="4733290" cy="22828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353820" y="3373120"/>
            <a:ext cx="4733290" cy="22828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 rot="5400000">
            <a:off x="7824470" y="2113915"/>
            <a:ext cx="4488180" cy="2596515"/>
          </a:xfrm>
          <a:prstGeom prst="rect">
            <a:avLst/>
          </a:prstGeom>
          <a:gradFill flip="none" rotWithShape="1">
            <a:gsLst>
              <a:gs pos="0">
                <a:srgbClr val="262626"/>
              </a:gs>
              <a:gs pos="20000">
                <a:srgbClr val="262626"/>
              </a:gs>
              <a:gs pos="100000">
                <a:srgbClr val="000000"/>
              </a:gs>
            </a:gsLst>
            <a:lin ang="7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 rot="5400000">
            <a:off x="7824470" y="2113915"/>
            <a:ext cx="4488180" cy="2596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 rot="5400000">
            <a:off x="1604645" y="927735"/>
            <a:ext cx="2200910" cy="270129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 rot="5400000">
            <a:off x="1604645" y="927735"/>
            <a:ext cx="2200910" cy="27012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 rot="5400000">
            <a:off x="6293485" y="3166745"/>
            <a:ext cx="2275205" cy="270129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 rot="5400000">
            <a:off x="6293485" y="3166745"/>
            <a:ext cx="2275205" cy="27012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3" name="Image 0" descr="https://kimi-img.moonshot.cn/pub/slides/slides_tmpl/image/25-08-27-19:57:59-d2nf5hp8bjvh7rlivu3g.png"/>
          <p:cNvPicPr>
            <a:picLocks noChangeAspect="1"/>
          </p:cNvPicPr>
          <p:nvPr/>
        </p:nvPicPr>
        <p:blipFill>
          <a:blip r:embed="rId3"/>
          <a:srcRect r="76255" b="59200"/>
          <a:stretch/>
        </p:blipFill>
        <p:spPr>
          <a:xfrm>
            <a:off x="1537970" y="1337945"/>
            <a:ext cx="2475230" cy="2034540"/>
          </a:xfrm>
          <a:prstGeom prst="rect">
            <a:avLst/>
          </a:prstGeom>
        </p:spPr>
      </p:pic>
      <p:pic>
        <p:nvPicPr>
          <p:cNvPr id="24" name="Image 1" descr="https://kimi-img.moonshot.cn/pub/slides/slides_tmpl/image/25-08-27-19:57:59-d2nf5hp8bjvh7rlivu3g.png"/>
          <p:cNvPicPr>
            <a:picLocks noChangeAspect="1"/>
          </p:cNvPicPr>
          <p:nvPr/>
        </p:nvPicPr>
        <p:blipFill>
          <a:blip r:embed="rId3"/>
          <a:srcRect l="44682" t="43130" r="31573" b="16070"/>
          <a:stretch/>
        </p:blipFill>
        <p:spPr>
          <a:xfrm>
            <a:off x="6191250" y="3580130"/>
            <a:ext cx="2475230" cy="20345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257040" y="1337945"/>
            <a:ext cx="235839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Contradicción con la Teoría Clásica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4271645" y="1781175"/>
            <a:ext cx="4248785" cy="1105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Hay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cierta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evidencia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empírica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contradice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la teoría clásica que propone prestaciones declinantes, mostrando que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costes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riesgo moral son menores en pagos tardíos.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1577340" y="3674745"/>
            <a:ext cx="235839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Recomendación de Perfiles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591945" y="4117975"/>
            <a:ext cx="4248150" cy="1105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recomiendan perfiles planos o ligeramente crecientes para equilibrar la protección y el incentivo a la búsqueda de empleo a lo largo del período de desempleo.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9191625" y="1428115"/>
            <a:ext cx="1753870" cy="318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 del Diseño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9191625" y="2273935"/>
            <a:ext cx="1753870" cy="24874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diseño óptimo de las políticas pasivas de empleo es crucial para maximizar su efectividad en el bienestar social y la estabilidad económica.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15380672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365" cy="6857365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78000">
                <a:srgbClr val="171717"/>
              </a:gs>
              <a:gs pos="100000">
                <a:srgbClr val="171717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1365" cy="6857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5-d2nf5gp8bjvh7rlivtf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5"/>
            <a:ext cx="11294110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4245" y="1639570"/>
            <a:ext cx="4601845" cy="9004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Diseño Contracíclico Inteligente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1020" y="5931535"/>
            <a:ext cx="2503805" cy="361950"/>
          </a:xfrm>
          <a:prstGeom prst="rect">
            <a:avLst/>
          </a:prstGeom>
          <a:solidFill>
            <a:srgbClr val="18171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41020" y="5931535"/>
            <a:ext cx="2503805" cy="3619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44245" y="3069590"/>
            <a:ext cx="2994025" cy="5492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 del Diseño Contracíclico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44245" y="3719830"/>
            <a:ext cx="4355465" cy="21818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diseño contracíclico de las políticas pasivas de empleo es esencial para maximizar su efectividad macroeconómica, especialmente en contextos de alto desempleo.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38753538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Lecciones de España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27167" y="1823085"/>
            <a:ext cx="2120058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6.6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391374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9525" y="2712085"/>
            <a:ext cx="12195810" cy="4145915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 rot="10800000">
            <a:off x="-9525" y="2712085"/>
            <a:ext cx="12195810" cy="41459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10800000">
            <a:off x="6325870" y="0"/>
            <a:ext cx="5860415" cy="4145915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 rot="10800000">
            <a:off x="6325870" y="0"/>
            <a:ext cx="5860415" cy="41459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6" name="Image 0" descr="https://kimi-img.moonshot.cn/pub/slides/slides_tmpl/image/25-08-27-19:57:57-d2nf5h98bjvh7rlivt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70" y="360045"/>
            <a:ext cx="8562975" cy="37858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 rot="10800000">
            <a:off x="3251835" y="5427345"/>
            <a:ext cx="8940165" cy="74549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 rot="10800000">
            <a:off x="3251835" y="5427345"/>
            <a:ext cx="8940165" cy="7454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361690" y="5440045"/>
            <a:ext cx="8016240" cy="6915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Reformas Naturales 2012-24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4510" y="487045"/>
            <a:ext cx="4705985" cy="1628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524510" y="487045"/>
            <a:ext cx="4705985" cy="16287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79400" y="3049270"/>
            <a:ext cx="2835910" cy="7023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 de 2012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80670" y="3898900"/>
            <a:ext cx="2823210" cy="24517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reforma de 2012 que recortó la cuantía de las prestaciones aumentó un 41 % la probabilidad de reempleo sin reducir salarios, lo que demuestra un impacto positivo en la búsqueda de empleo.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89365" y="1266190"/>
            <a:ext cx="3053080" cy="7023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Mayores de 52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91905" y="2115820"/>
            <a:ext cx="3039110" cy="24517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embargo, el recorte a mayores de 52 años elevó la incorporación (83 %) pero con pérdida salarial del 8 % y mayor abandono, lo que subraya la heterogeneidad del impacto.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73718485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160" y="-23495"/>
            <a:ext cx="12195810" cy="68808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-10160" y="-23495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9-d2nf5hp8bjvh7rlivu0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7305"/>
            <a:ext cx="12192000" cy="688467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-5715" y="-13970"/>
            <a:ext cx="8060055" cy="207073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-5715" y="-13970"/>
            <a:ext cx="8060055" cy="20707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70280" y="749300"/>
            <a:ext cx="6490970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CAE 2024: Romper la Trampa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8-27-19:57:58-d2nf5hh8bjvh7rlivtt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695" y="-43180"/>
            <a:ext cx="4218305" cy="2127885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8-27-19:57:58-d2nf5hh8bjvh7rlivtt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9820" y="2460625"/>
            <a:ext cx="2109470" cy="145669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8-27-19:57:58-d2nf5hh8bjvh7rlivtu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8425" y="2460625"/>
            <a:ext cx="2109470" cy="1456690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8-27-19:57:58-d2nf5hh8bjvh7rlivtu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4125" y="2460625"/>
            <a:ext cx="2109470" cy="145669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95020" y="4196080"/>
            <a:ext cx="3771265" cy="0"/>
          </a:xfrm>
          <a:prstGeom prst="line">
            <a:avLst/>
          </a:prstGeom>
          <a:noFill/>
          <a:ln w="3175">
            <a:gradFill flip="none" rotWithShape="1">
              <a:gsLst>
                <a:gs pos="0">
                  <a:srgbClr val="000000"/>
                </a:gs>
                <a:gs pos="53000">
                  <a:srgbClr val="595959"/>
                </a:gs>
                <a:gs pos="100000">
                  <a:srgbClr val="000000"/>
                </a:gs>
              </a:gsLst>
              <a:lin ang="1080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6"/>
          <p:cNvSpPr/>
          <p:nvPr/>
        </p:nvSpPr>
        <p:spPr>
          <a:xfrm>
            <a:off x="4498975" y="4196080"/>
            <a:ext cx="3926205" cy="0"/>
          </a:xfrm>
          <a:prstGeom prst="line">
            <a:avLst/>
          </a:prstGeom>
          <a:noFill/>
          <a:ln w="3175">
            <a:gradFill flip="none" rotWithShape="1">
              <a:gsLst>
                <a:gs pos="0">
                  <a:srgbClr val="000000"/>
                </a:gs>
                <a:gs pos="53000">
                  <a:srgbClr val="595959"/>
                </a:gs>
                <a:gs pos="100000">
                  <a:srgbClr val="000000"/>
                </a:gs>
              </a:gsLst>
              <a:lin ang="1080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7"/>
          <p:cNvSpPr/>
          <p:nvPr/>
        </p:nvSpPr>
        <p:spPr>
          <a:xfrm>
            <a:off x="8101330" y="4196080"/>
            <a:ext cx="3911600" cy="0"/>
          </a:xfrm>
          <a:prstGeom prst="line">
            <a:avLst/>
          </a:prstGeom>
          <a:noFill/>
          <a:ln w="3175">
            <a:gradFill flip="none" rotWithShape="1">
              <a:gsLst>
                <a:gs pos="0">
                  <a:srgbClr val="000000"/>
                </a:gs>
                <a:gs pos="53000">
                  <a:srgbClr val="595959"/>
                </a:gs>
                <a:gs pos="100000">
                  <a:srgbClr val="000000"/>
                </a:gs>
              </a:gsLst>
              <a:lin ang="1080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8"/>
          <p:cNvSpPr/>
          <p:nvPr/>
        </p:nvSpPr>
        <p:spPr>
          <a:xfrm>
            <a:off x="927735" y="3401695"/>
            <a:ext cx="3171825" cy="8089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Introducción del CAE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744855" y="4321175"/>
            <a:ext cx="3580130" cy="138191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reforma de 2024 introdujo el Complemento de Apoyo al Empleo (CAE), que permite compatibilizar el subsidio con los ingresos de un trabajo hasta 180 días.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4610735" y="3401695"/>
            <a:ext cx="3171825" cy="8089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Objetivo del CAE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4418330" y="4321175"/>
            <a:ext cx="3580130" cy="138191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objetivo del CAE es eliminar la trampa del desempleo que desincentivaba la aceptación de trabajos de bajos ingresos, facilitando transiciones suaves hacia el empleo.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8239760" y="3401695"/>
            <a:ext cx="3171825" cy="8089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 de la Activación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8056880" y="4321175"/>
            <a:ext cx="3580130" cy="138191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activación y el diseño inteligente son clave para asegurar que las políticas pasivas de empleo no solo protegen sino también incentivan la búsqueda activa de empleo.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74001007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Conclusión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76457" y="1823085"/>
            <a:ext cx="1970768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6.7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289140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635" cy="688086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100000">
                <a:srgbClr val="262626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635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1025" y="1011555"/>
            <a:ext cx="10600055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 Evidencia y Diseño Óptimo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2195830"/>
            <a:ext cx="12212955" cy="5715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0" y="2757805"/>
            <a:ext cx="12187555" cy="5715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1235075" y="3355340"/>
            <a:ext cx="3540125" cy="35293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235075" y="3355340"/>
            <a:ext cx="3540125" cy="35293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29175" y="3355340"/>
            <a:ext cx="3579495" cy="3525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829175" y="3355340"/>
            <a:ext cx="3579495" cy="35255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76615" y="3354705"/>
            <a:ext cx="3715385" cy="3536315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476615" y="3354705"/>
            <a:ext cx="3715385" cy="35363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12194540" cy="58547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0" y="0"/>
            <a:ext cx="12194540" cy="585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442065" y="314960"/>
            <a:ext cx="98425" cy="98425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1442065" y="314960"/>
            <a:ext cx="98425" cy="984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600815" y="314960"/>
            <a:ext cx="98425" cy="98425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1600815" y="314960"/>
            <a:ext cx="98425" cy="984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760200" y="314960"/>
            <a:ext cx="98425" cy="98425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1760200" y="314960"/>
            <a:ext cx="98425" cy="984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1" name="Image 0" descr="https://kimi-img.moonshot.cn/pub/slides/slides_tmpl/image/25-08-27-19:57:59-d2nf5hp8bjvh7rlivu1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" y="3348990"/>
            <a:ext cx="1195070" cy="352933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39875" y="3811905"/>
            <a:ext cx="2917825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Efectividad en el Bienestar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512570" y="4481830"/>
            <a:ext cx="3126105" cy="16581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pasivas de empleo previenen 60-70 % de la caída de consumo, poseen multiplicadores fiscales potentes y dos tercios del aumento de duración responden a efectos deseables de liquidez.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58105" y="3811905"/>
            <a:ext cx="2917825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Riesgo Moral Moderado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48580" y="4481830"/>
            <a:ext cx="3126105" cy="16581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riesgo moral es real pero moderado; la clave está en combinar generosidad adecuada con activación estricta, perfiles planos y contraciclicidad para maximizar la efectividad.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823960" y="3811905"/>
            <a:ext cx="2917825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 del Diseño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814435" y="4481830"/>
            <a:ext cx="3126105" cy="138191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diseño óptimo de las políticas pasivas de empleo es crucial para equilibrar la protección social con la eficiencia económica y la estabilidad macroeconómica.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2531715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54-d2nf5gh8bjvh7rlivt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" y="6985"/>
            <a:ext cx="1218565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70100" y="1109980"/>
            <a:ext cx="5140325" cy="1858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Pregunta Abierta Final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239645" y="697230"/>
            <a:ext cx="104775" cy="323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2239645" y="697230"/>
            <a:ext cx="104775" cy="323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420620" y="697230"/>
            <a:ext cx="104775" cy="323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2420620" y="697230"/>
            <a:ext cx="104775" cy="323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8" name="Image 1" descr="https://kimi-img.moonshot.cn/pub/slides/slides_tmpl/image/25-08-27-19:57:52-d2nf5g18bjvh7rlivt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6510" y="-27622"/>
            <a:ext cx="1212850" cy="6913245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8-27-19:57:53-d2nf5g98bjvh7rlivt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0770" y="1318260"/>
            <a:ext cx="3523615" cy="18351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03775" y="4635500"/>
            <a:ext cx="2680970" cy="5143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Equilibrio entre Generosidad e Incentivos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803775" y="5476406"/>
            <a:ext cx="6425565" cy="9251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reto permanente es equilibrar la generosidad que exige la justicia social con los incentivos que reclama la eficiencia económica, diseñando sistemas dinámicos y basados en evidencia.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23583700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8:00-d2nf5i18bjvh7rlivu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" y="0"/>
            <a:ext cx="12192635" cy="687260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7:59-d2nf5hp8bjvh7rlivu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55" y="304800"/>
            <a:ext cx="8037195" cy="423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53995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2D84F9-1A67-AE73-A9B1-27D6DD8F7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9442BF-76B1-1867-A563-4E72DEFCEA64}"/>
              </a:ext>
            </a:extLst>
          </p:cNvPr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6A100C-D342-A9BC-8A99-0E1C225319BA}"/>
              </a:ext>
            </a:extLst>
          </p:cNvPr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>
            <a:extLst>
              <a:ext uri="{FF2B5EF4-FFF2-40B4-BE49-F238E27FC236}">
                <a16:creationId xmlns:a16="http://schemas.microsoft.com/office/drawing/2014/main" id="{799DB170-62E0-6C48-64CA-3249B571B7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8FACBA23-B33D-2C88-45CF-C05F2FF7A546}"/>
              </a:ext>
            </a:extLst>
          </p:cNvPr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A6F5DE8-9DF2-4741-D9A7-453A7B8BAA81}"/>
              </a:ext>
            </a:extLst>
          </p:cNvPr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C3B0F1C-F574-C746-4050-2CAD74730B47}"/>
              </a:ext>
            </a:extLst>
          </p:cNvPr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Reformas y Futuro</a:t>
            </a: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793A116-7291-B242-D06C-544302C5459F}"/>
              </a:ext>
            </a:extLst>
          </p:cNvPr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>
            <a:extLst>
              <a:ext uri="{FF2B5EF4-FFF2-40B4-BE49-F238E27FC236}">
                <a16:creationId xmlns:a16="http://schemas.microsoft.com/office/drawing/2014/main" id="{47960E76-9215-4BED-7CB3-AD271B7EC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>
            <a:extLst>
              <a:ext uri="{FF2B5EF4-FFF2-40B4-BE49-F238E27FC236}">
                <a16:creationId xmlns:a16="http://schemas.microsoft.com/office/drawing/2014/main" id="{015D5147-C3E4-FD2F-463D-59DA41C35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209237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47520" y="254000"/>
            <a:ext cx="1019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Reforma de 2024: Novedades Clave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221514" y="2092543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11125" y="5556"/>
                </a:moveTo>
                <a:cubicBezTo>
                  <a:pt x="131058" y="5556"/>
                  <a:pt x="147241" y="21739"/>
                  <a:pt x="147241" y="41672"/>
                </a:cubicBezTo>
                <a:cubicBezTo>
                  <a:pt x="147241" y="61605"/>
                  <a:pt x="131058" y="77788"/>
                  <a:pt x="111125" y="77788"/>
                </a:cubicBezTo>
                <a:cubicBezTo>
                  <a:pt x="91192" y="77788"/>
                  <a:pt x="75009" y="61605"/>
                  <a:pt x="75009" y="41672"/>
                </a:cubicBezTo>
                <a:cubicBezTo>
                  <a:pt x="75009" y="21739"/>
                  <a:pt x="91192" y="5556"/>
                  <a:pt x="111125" y="5556"/>
                </a:cubicBezTo>
                <a:close/>
                <a:moveTo>
                  <a:pt x="33337" y="30559"/>
                </a:moveTo>
                <a:cubicBezTo>
                  <a:pt x="47137" y="30559"/>
                  <a:pt x="58341" y="41763"/>
                  <a:pt x="58341" y="55563"/>
                </a:cubicBezTo>
                <a:cubicBezTo>
                  <a:pt x="58341" y="69362"/>
                  <a:pt x="47137" y="80566"/>
                  <a:pt x="33337" y="80566"/>
                </a:cubicBezTo>
                <a:cubicBezTo>
                  <a:pt x="19538" y="80566"/>
                  <a:pt x="8334" y="69362"/>
                  <a:pt x="8334" y="55563"/>
                </a:cubicBezTo>
                <a:cubicBezTo>
                  <a:pt x="8334" y="41763"/>
                  <a:pt x="19538" y="30559"/>
                  <a:pt x="33337" y="30559"/>
                </a:cubicBezTo>
                <a:close/>
                <a:moveTo>
                  <a:pt x="0" y="144463"/>
                </a:moveTo>
                <a:cubicBezTo>
                  <a:pt x="0" y="119911"/>
                  <a:pt x="19898" y="100013"/>
                  <a:pt x="44450" y="100013"/>
                </a:cubicBezTo>
                <a:cubicBezTo>
                  <a:pt x="48895" y="100013"/>
                  <a:pt x="53201" y="100672"/>
                  <a:pt x="57264" y="101888"/>
                </a:cubicBezTo>
                <a:cubicBezTo>
                  <a:pt x="45839" y="114667"/>
                  <a:pt x="38894" y="131544"/>
                  <a:pt x="38894" y="150019"/>
                </a:cubicBezTo>
                <a:lnTo>
                  <a:pt x="38894" y="155575"/>
                </a:lnTo>
                <a:cubicBezTo>
                  <a:pt x="38894" y="159534"/>
                  <a:pt x="39727" y="163284"/>
                  <a:pt x="41220" y="166688"/>
                </a:cubicBezTo>
                <a:lnTo>
                  <a:pt x="11112" y="166688"/>
                </a:lnTo>
                <a:cubicBezTo>
                  <a:pt x="4966" y="166688"/>
                  <a:pt x="0" y="161722"/>
                  <a:pt x="0" y="155575"/>
                </a:cubicBezTo>
                <a:lnTo>
                  <a:pt x="0" y="144463"/>
                </a:lnTo>
                <a:close/>
                <a:moveTo>
                  <a:pt x="181030" y="166688"/>
                </a:moveTo>
                <a:cubicBezTo>
                  <a:pt x="182523" y="163284"/>
                  <a:pt x="183356" y="159534"/>
                  <a:pt x="183356" y="155575"/>
                </a:cubicBezTo>
                <a:lnTo>
                  <a:pt x="183356" y="150019"/>
                </a:lnTo>
                <a:cubicBezTo>
                  <a:pt x="183356" y="131544"/>
                  <a:pt x="176411" y="114667"/>
                  <a:pt x="164986" y="101888"/>
                </a:cubicBezTo>
                <a:cubicBezTo>
                  <a:pt x="169049" y="100672"/>
                  <a:pt x="173355" y="100013"/>
                  <a:pt x="177800" y="100013"/>
                </a:cubicBezTo>
                <a:cubicBezTo>
                  <a:pt x="202352" y="100013"/>
                  <a:pt x="222250" y="119911"/>
                  <a:pt x="222250" y="144463"/>
                </a:cubicBezTo>
                <a:lnTo>
                  <a:pt x="222250" y="155575"/>
                </a:lnTo>
                <a:cubicBezTo>
                  <a:pt x="222250" y="161722"/>
                  <a:pt x="217284" y="166688"/>
                  <a:pt x="211138" y="166688"/>
                </a:cubicBezTo>
                <a:lnTo>
                  <a:pt x="181030" y="166688"/>
                </a:lnTo>
                <a:close/>
                <a:moveTo>
                  <a:pt x="163909" y="55563"/>
                </a:moveTo>
                <a:cubicBezTo>
                  <a:pt x="163909" y="41763"/>
                  <a:pt x="175113" y="30559"/>
                  <a:pt x="188913" y="30559"/>
                </a:cubicBezTo>
                <a:cubicBezTo>
                  <a:pt x="202712" y="30559"/>
                  <a:pt x="213916" y="41763"/>
                  <a:pt x="213916" y="55562"/>
                </a:cubicBezTo>
                <a:cubicBezTo>
                  <a:pt x="213916" y="69362"/>
                  <a:pt x="202712" y="80566"/>
                  <a:pt x="188913" y="80566"/>
                </a:cubicBezTo>
                <a:cubicBezTo>
                  <a:pt x="175113" y="80566"/>
                  <a:pt x="163909" y="69362"/>
                  <a:pt x="163909" y="55563"/>
                </a:cubicBezTo>
                <a:close/>
                <a:moveTo>
                  <a:pt x="55563" y="150019"/>
                </a:moveTo>
                <a:cubicBezTo>
                  <a:pt x="55563" y="119320"/>
                  <a:pt x="80427" y="94456"/>
                  <a:pt x="111125" y="94456"/>
                </a:cubicBezTo>
                <a:cubicBezTo>
                  <a:pt x="141823" y="94456"/>
                  <a:pt x="166688" y="119320"/>
                  <a:pt x="166688" y="150019"/>
                </a:cubicBezTo>
                <a:lnTo>
                  <a:pt x="166688" y="155575"/>
                </a:lnTo>
                <a:cubicBezTo>
                  <a:pt x="166688" y="161722"/>
                  <a:pt x="161722" y="166688"/>
                  <a:pt x="155575" y="166688"/>
                </a:cubicBezTo>
                <a:lnTo>
                  <a:pt x="66675" y="166688"/>
                </a:lnTo>
                <a:cubicBezTo>
                  <a:pt x="60528" y="166688"/>
                  <a:pt x="55563" y="161722"/>
                  <a:pt x="55563" y="155575"/>
                </a:cubicBezTo>
                <a:lnTo>
                  <a:pt x="55563" y="150019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3484087" y="2001101"/>
            <a:ext cx="513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Ampliación de Cobertura: Incluye a menores de 45 sin hijos y otros colectivos.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21514" y="2752941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80566" y="119459"/>
                </a:moveTo>
                <a:lnTo>
                  <a:pt x="80566" y="97234"/>
                </a:lnTo>
                <a:lnTo>
                  <a:pt x="58341" y="97234"/>
                </a:lnTo>
                <a:cubicBezTo>
                  <a:pt x="53722" y="97234"/>
                  <a:pt x="50006" y="93519"/>
                  <a:pt x="50006" y="88900"/>
                </a:cubicBezTo>
                <a:cubicBezTo>
                  <a:pt x="50006" y="84281"/>
                  <a:pt x="53722" y="80566"/>
                  <a:pt x="58341" y="80566"/>
                </a:cubicBezTo>
                <a:lnTo>
                  <a:pt x="80566" y="80566"/>
                </a:lnTo>
                <a:lnTo>
                  <a:pt x="80566" y="58341"/>
                </a:lnTo>
                <a:cubicBezTo>
                  <a:pt x="80566" y="53722"/>
                  <a:pt x="84281" y="50006"/>
                  <a:pt x="88900" y="50006"/>
                </a:cubicBezTo>
                <a:cubicBezTo>
                  <a:pt x="93519" y="50006"/>
                  <a:pt x="97234" y="53722"/>
                  <a:pt x="97234" y="58341"/>
                </a:cubicBezTo>
                <a:lnTo>
                  <a:pt x="97234" y="80566"/>
                </a:lnTo>
                <a:lnTo>
                  <a:pt x="119459" y="80566"/>
                </a:lnTo>
                <a:cubicBezTo>
                  <a:pt x="124078" y="80566"/>
                  <a:pt x="127794" y="84281"/>
                  <a:pt x="127794" y="88900"/>
                </a:cubicBezTo>
                <a:cubicBezTo>
                  <a:pt x="127794" y="93519"/>
                  <a:pt x="124078" y="97234"/>
                  <a:pt x="119459" y="97234"/>
                </a:cubicBezTo>
                <a:lnTo>
                  <a:pt x="97234" y="97234"/>
                </a:lnTo>
                <a:lnTo>
                  <a:pt x="97234" y="119459"/>
                </a:lnTo>
                <a:cubicBezTo>
                  <a:pt x="97234" y="124078"/>
                  <a:pt x="93519" y="127794"/>
                  <a:pt x="88900" y="127794"/>
                </a:cubicBezTo>
                <a:cubicBezTo>
                  <a:pt x="84281" y="127794"/>
                  <a:pt x="80566" y="124078"/>
                  <a:pt x="80566" y="119459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3458051" y="2661499"/>
            <a:ext cx="513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Complemento de Apoyo al Empleo: Permite compatibilizar prestación y trabajo.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06432" y="3555587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33337"/>
                </a:moveTo>
                <a:cubicBezTo>
                  <a:pt x="177800" y="50770"/>
                  <a:pt x="157277" y="76780"/>
                  <a:pt x="148421" y="87164"/>
                </a:cubicBezTo>
                <a:cubicBezTo>
                  <a:pt x="147102" y="88692"/>
                  <a:pt x="145157" y="89282"/>
                  <a:pt x="143386" y="88900"/>
                </a:cubicBezTo>
                <a:lnTo>
                  <a:pt x="111125" y="88900"/>
                </a:lnTo>
                <a:cubicBezTo>
                  <a:pt x="104978" y="88900"/>
                  <a:pt x="100013" y="93866"/>
                  <a:pt x="100013" y="100013"/>
                </a:cubicBezTo>
                <a:cubicBezTo>
                  <a:pt x="100013" y="106159"/>
                  <a:pt x="104978" y="111125"/>
                  <a:pt x="111125" y="111125"/>
                </a:cubicBezTo>
                <a:lnTo>
                  <a:pt x="144463" y="111125"/>
                </a:lnTo>
                <a:cubicBezTo>
                  <a:pt x="162868" y="111125"/>
                  <a:pt x="177800" y="126057"/>
                  <a:pt x="177800" y="144463"/>
                </a:cubicBezTo>
                <a:cubicBezTo>
                  <a:pt x="177800" y="162868"/>
                  <a:pt x="162868" y="177800"/>
                  <a:pt x="144463" y="177800"/>
                </a:cubicBezTo>
                <a:lnTo>
                  <a:pt x="48478" y="177800"/>
                </a:lnTo>
                <a:cubicBezTo>
                  <a:pt x="51499" y="174362"/>
                  <a:pt x="55181" y="169952"/>
                  <a:pt x="58896" y="165021"/>
                </a:cubicBezTo>
                <a:cubicBezTo>
                  <a:pt x="61084" y="162104"/>
                  <a:pt x="63341" y="158909"/>
                  <a:pt x="65494" y="155575"/>
                </a:cubicBezTo>
                <a:lnTo>
                  <a:pt x="144463" y="155575"/>
                </a:lnTo>
                <a:cubicBezTo>
                  <a:pt x="150609" y="155575"/>
                  <a:pt x="155575" y="150609"/>
                  <a:pt x="155575" y="144463"/>
                </a:cubicBezTo>
                <a:cubicBezTo>
                  <a:pt x="155575" y="138316"/>
                  <a:pt x="150609" y="133350"/>
                  <a:pt x="144463" y="133350"/>
                </a:cubicBezTo>
                <a:lnTo>
                  <a:pt x="111125" y="133350"/>
                </a:lnTo>
                <a:cubicBezTo>
                  <a:pt x="92720" y="133350"/>
                  <a:pt x="77788" y="118418"/>
                  <a:pt x="77788" y="100013"/>
                </a:cubicBezTo>
                <a:cubicBezTo>
                  <a:pt x="77788" y="81607"/>
                  <a:pt x="92720" y="66675"/>
                  <a:pt x="111125" y="66675"/>
                </a:cubicBezTo>
                <a:lnTo>
                  <a:pt x="124946" y="66675"/>
                </a:lnTo>
                <a:cubicBezTo>
                  <a:pt x="117654" y="55736"/>
                  <a:pt x="111125" y="43165"/>
                  <a:pt x="111125" y="33337"/>
                </a:cubicBezTo>
                <a:cubicBezTo>
                  <a:pt x="111125" y="14932"/>
                  <a:pt x="126057" y="0"/>
                  <a:pt x="144463" y="0"/>
                </a:cubicBezTo>
                <a:cubicBezTo>
                  <a:pt x="162868" y="0"/>
                  <a:pt x="177800" y="14932"/>
                  <a:pt x="177800" y="33337"/>
                </a:cubicBezTo>
                <a:close/>
                <a:moveTo>
                  <a:pt x="40665" y="169848"/>
                </a:moveTo>
                <a:cubicBezTo>
                  <a:pt x="39345" y="171341"/>
                  <a:pt x="38164" y="172660"/>
                  <a:pt x="37157" y="173772"/>
                </a:cubicBezTo>
                <a:lnTo>
                  <a:pt x="36532" y="174466"/>
                </a:lnTo>
                <a:lnTo>
                  <a:pt x="36463" y="174397"/>
                </a:lnTo>
                <a:cubicBezTo>
                  <a:pt x="34379" y="175994"/>
                  <a:pt x="31393" y="175786"/>
                  <a:pt x="29518" y="173772"/>
                </a:cubicBezTo>
                <a:cubicBezTo>
                  <a:pt x="20766" y="164257"/>
                  <a:pt x="0" y="139774"/>
                  <a:pt x="0" y="122238"/>
                </a:cubicBezTo>
                <a:cubicBezTo>
                  <a:pt x="0" y="103832"/>
                  <a:pt x="14932" y="88900"/>
                  <a:pt x="33337" y="88900"/>
                </a:cubicBezTo>
                <a:cubicBezTo>
                  <a:pt x="51743" y="88900"/>
                  <a:pt x="66675" y="103832"/>
                  <a:pt x="66675" y="122238"/>
                </a:cubicBezTo>
                <a:cubicBezTo>
                  <a:pt x="66675" y="132655"/>
                  <a:pt x="59348" y="145504"/>
                  <a:pt x="51569" y="156235"/>
                </a:cubicBezTo>
                <a:cubicBezTo>
                  <a:pt x="47853" y="161340"/>
                  <a:pt x="44033" y="165958"/>
                  <a:pt x="40873" y="169605"/>
                </a:cubicBezTo>
                <a:lnTo>
                  <a:pt x="40665" y="169848"/>
                </a:lnTo>
                <a:close/>
                <a:moveTo>
                  <a:pt x="44450" y="122238"/>
                </a:moveTo>
                <a:cubicBezTo>
                  <a:pt x="44450" y="116104"/>
                  <a:pt x="39471" y="111125"/>
                  <a:pt x="33337" y="111125"/>
                </a:cubicBezTo>
                <a:cubicBezTo>
                  <a:pt x="27204" y="111125"/>
                  <a:pt x="22225" y="116104"/>
                  <a:pt x="22225" y="122238"/>
                </a:cubicBezTo>
                <a:cubicBezTo>
                  <a:pt x="22225" y="128371"/>
                  <a:pt x="27204" y="133350"/>
                  <a:pt x="33337" y="133350"/>
                </a:cubicBezTo>
                <a:cubicBezTo>
                  <a:pt x="39471" y="133350"/>
                  <a:pt x="44450" y="128371"/>
                  <a:pt x="44450" y="122238"/>
                </a:cubicBezTo>
                <a:close/>
                <a:moveTo>
                  <a:pt x="144463" y="44450"/>
                </a:moveTo>
                <a:cubicBezTo>
                  <a:pt x="150596" y="44450"/>
                  <a:pt x="155575" y="39471"/>
                  <a:pt x="155575" y="33337"/>
                </a:cubicBezTo>
                <a:cubicBezTo>
                  <a:pt x="155575" y="27204"/>
                  <a:pt x="150596" y="22225"/>
                  <a:pt x="144463" y="22225"/>
                </a:cubicBezTo>
                <a:cubicBezTo>
                  <a:pt x="138329" y="22225"/>
                  <a:pt x="133350" y="27204"/>
                  <a:pt x="133350" y="33337"/>
                </a:cubicBezTo>
                <a:cubicBezTo>
                  <a:pt x="133350" y="39471"/>
                  <a:pt x="138329" y="44450"/>
                  <a:pt x="144463" y="4445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3443764" y="3464145"/>
            <a:ext cx="513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Itinerarios Personalizados: Garantiza el acceso a planes de inserción adaptados.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21514" y="4419185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22260" y="22225"/>
                </a:moveTo>
                <a:cubicBezTo>
                  <a:pt x="22260" y="9967"/>
                  <a:pt x="32226" y="0"/>
                  <a:pt x="44485" y="0"/>
                </a:cubicBezTo>
                <a:lnTo>
                  <a:pt x="96401" y="0"/>
                </a:lnTo>
                <a:cubicBezTo>
                  <a:pt x="102304" y="0"/>
                  <a:pt x="107965" y="2327"/>
                  <a:pt x="112132" y="6494"/>
                </a:cubicBezTo>
                <a:lnTo>
                  <a:pt x="149081" y="43512"/>
                </a:lnTo>
                <a:cubicBezTo>
                  <a:pt x="153248" y="47680"/>
                  <a:pt x="155575" y="53340"/>
                  <a:pt x="155575" y="59244"/>
                </a:cubicBezTo>
                <a:lnTo>
                  <a:pt x="155575" y="93102"/>
                </a:lnTo>
                <a:lnTo>
                  <a:pt x="109736" y="138941"/>
                </a:lnTo>
                <a:lnTo>
                  <a:pt x="95116" y="138941"/>
                </a:lnTo>
                <a:lnTo>
                  <a:pt x="89525" y="120328"/>
                </a:lnTo>
                <a:cubicBezTo>
                  <a:pt x="87893" y="114875"/>
                  <a:pt x="82892" y="111160"/>
                  <a:pt x="77197" y="111160"/>
                </a:cubicBezTo>
                <a:cubicBezTo>
                  <a:pt x="73273" y="111160"/>
                  <a:pt x="69592" y="112931"/>
                  <a:pt x="67161" y="115987"/>
                </a:cubicBezTo>
                <a:lnTo>
                  <a:pt x="46291" y="142032"/>
                </a:lnTo>
                <a:cubicBezTo>
                  <a:pt x="43408" y="145608"/>
                  <a:pt x="43999" y="150887"/>
                  <a:pt x="47575" y="153734"/>
                </a:cubicBezTo>
                <a:cubicBezTo>
                  <a:pt x="51152" y="156582"/>
                  <a:pt x="56431" y="156026"/>
                  <a:pt x="59278" y="152415"/>
                </a:cubicBezTo>
                <a:lnTo>
                  <a:pt x="75634" y="131996"/>
                </a:lnTo>
                <a:lnTo>
                  <a:pt x="80913" y="149602"/>
                </a:lnTo>
                <a:cubicBezTo>
                  <a:pt x="81955" y="153144"/>
                  <a:pt x="85219" y="155540"/>
                  <a:pt x="88900" y="155540"/>
                </a:cubicBezTo>
                <a:lnTo>
                  <a:pt x="99839" y="155540"/>
                </a:lnTo>
                <a:cubicBezTo>
                  <a:pt x="99526" y="156617"/>
                  <a:pt x="99249" y="157728"/>
                  <a:pt x="99040" y="158839"/>
                </a:cubicBezTo>
                <a:lnTo>
                  <a:pt x="95255" y="177765"/>
                </a:lnTo>
                <a:lnTo>
                  <a:pt x="44485" y="177765"/>
                </a:lnTo>
                <a:cubicBezTo>
                  <a:pt x="32226" y="177765"/>
                  <a:pt x="22260" y="167799"/>
                  <a:pt x="22260" y="155540"/>
                </a:cubicBezTo>
                <a:lnTo>
                  <a:pt x="22260" y="22190"/>
                </a:lnTo>
                <a:close/>
                <a:moveTo>
                  <a:pt x="94491" y="20315"/>
                </a:moveTo>
                <a:lnTo>
                  <a:pt x="94491" y="52784"/>
                </a:lnTo>
                <a:cubicBezTo>
                  <a:pt x="94491" y="57403"/>
                  <a:pt x="98207" y="61119"/>
                  <a:pt x="102825" y="61119"/>
                </a:cubicBezTo>
                <a:lnTo>
                  <a:pt x="135295" y="61119"/>
                </a:lnTo>
                <a:lnTo>
                  <a:pt x="94491" y="20315"/>
                </a:lnTo>
                <a:close/>
                <a:moveTo>
                  <a:pt x="115396" y="162138"/>
                </a:moveTo>
                <a:cubicBezTo>
                  <a:pt x="116265" y="157832"/>
                  <a:pt x="118383" y="153873"/>
                  <a:pt x="121474" y="150783"/>
                </a:cubicBezTo>
                <a:lnTo>
                  <a:pt x="162763" y="109493"/>
                </a:lnTo>
                <a:lnTo>
                  <a:pt x="190545" y="137274"/>
                </a:lnTo>
                <a:lnTo>
                  <a:pt x="149255" y="178564"/>
                </a:lnTo>
                <a:cubicBezTo>
                  <a:pt x="146164" y="181655"/>
                  <a:pt x="142205" y="183773"/>
                  <a:pt x="137899" y="184641"/>
                </a:cubicBezTo>
                <a:lnTo>
                  <a:pt x="117202" y="188774"/>
                </a:lnTo>
                <a:cubicBezTo>
                  <a:pt x="116890" y="188843"/>
                  <a:pt x="116542" y="188878"/>
                  <a:pt x="116195" y="188878"/>
                </a:cubicBezTo>
                <a:cubicBezTo>
                  <a:pt x="113417" y="188878"/>
                  <a:pt x="111125" y="186621"/>
                  <a:pt x="111125" y="183808"/>
                </a:cubicBezTo>
                <a:cubicBezTo>
                  <a:pt x="111125" y="183460"/>
                  <a:pt x="111160" y="183148"/>
                  <a:pt x="111229" y="182801"/>
                </a:cubicBezTo>
                <a:lnTo>
                  <a:pt x="115362" y="162104"/>
                </a:lnTo>
                <a:close/>
                <a:moveTo>
                  <a:pt x="208394" y="119425"/>
                </a:moveTo>
                <a:lnTo>
                  <a:pt x="198393" y="129426"/>
                </a:lnTo>
                <a:lnTo>
                  <a:pt x="170612" y="101645"/>
                </a:lnTo>
                <a:lnTo>
                  <a:pt x="180613" y="91643"/>
                </a:lnTo>
                <a:cubicBezTo>
                  <a:pt x="188287" y="83969"/>
                  <a:pt x="200720" y="83969"/>
                  <a:pt x="208394" y="91643"/>
                </a:cubicBezTo>
                <a:cubicBezTo>
                  <a:pt x="216069" y="99318"/>
                  <a:pt x="216069" y="111750"/>
                  <a:pt x="208394" y="119425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3532664" y="4327743"/>
            <a:ext cx="412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Simplificación: Reduce trámites administrativos.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Necesidades de Reforma Estructural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79416" y="3149600"/>
            <a:ext cx="2870200" cy="609600"/>
          </a:xfrm>
          <a:custGeom>
            <a:avLst/>
            <a:gdLst/>
            <a:ahLst/>
            <a:cxnLst/>
            <a:rect l="l" t="t" r="r" b="b"/>
            <a:pathLst>
              <a:path w="2870200" h="609600">
                <a:moveTo>
                  <a:pt x="101602" y="0"/>
                </a:moveTo>
                <a:lnTo>
                  <a:pt x="2768598" y="0"/>
                </a:lnTo>
                <a:cubicBezTo>
                  <a:pt x="2824711" y="0"/>
                  <a:pt x="2870200" y="45489"/>
                  <a:pt x="2870200" y="101602"/>
                </a:cubicBezTo>
                <a:lnTo>
                  <a:pt x="2870200" y="507998"/>
                </a:lnTo>
                <a:cubicBezTo>
                  <a:pt x="2870200" y="564111"/>
                  <a:pt x="2824711" y="609600"/>
                  <a:pt x="27685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577816" y="3302000"/>
            <a:ext cx="307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Abordar la Temporalidad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7420" y="3149600"/>
            <a:ext cx="3009900" cy="609600"/>
          </a:xfrm>
          <a:custGeom>
            <a:avLst/>
            <a:gdLst/>
            <a:ahLst/>
            <a:cxnLst/>
            <a:rect l="l" t="t" r="r" b="b"/>
            <a:pathLst>
              <a:path w="3009900" h="609600">
                <a:moveTo>
                  <a:pt x="101602" y="0"/>
                </a:moveTo>
                <a:lnTo>
                  <a:pt x="2908298" y="0"/>
                </a:lnTo>
                <a:cubicBezTo>
                  <a:pt x="2964411" y="0"/>
                  <a:pt x="3009900" y="45489"/>
                  <a:pt x="3009900" y="101602"/>
                </a:cubicBezTo>
                <a:lnTo>
                  <a:pt x="3009900" y="507998"/>
                </a:lnTo>
                <a:cubicBezTo>
                  <a:pt x="3009900" y="564111"/>
                  <a:pt x="2964411" y="609600"/>
                  <a:pt x="29082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655820" y="3302000"/>
            <a:ext cx="321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Protección Larga Duración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70838" y="3149600"/>
            <a:ext cx="2540000" cy="609600"/>
          </a:xfrm>
          <a:custGeom>
            <a:avLst/>
            <a:gdLst/>
            <a:ahLst/>
            <a:cxnLst/>
            <a:rect l="l" t="t" r="r" b="b"/>
            <a:pathLst>
              <a:path w="2540000" h="609600">
                <a:moveTo>
                  <a:pt x="101602" y="0"/>
                </a:moveTo>
                <a:lnTo>
                  <a:pt x="2438398" y="0"/>
                </a:lnTo>
                <a:cubicBezTo>
                  <a:pt x="2494511" y="0"/>
                  <a:pt x="2540000" y="45489"/>
                  <a:pt x="2540000" y="101602"/>
                </a:cubicBezTo>
                <a:lnTo>
                  <a:pt x="2540000" y="507998"/>
                </a:lnTo>
                <a:cubicBezTo>
                  <a:pt x="2540000" y="564111"/>
                  <a:pt x="2494511" y="609600"/>
                  <a:pt x="24383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869238" y="3302000"/>
            <a:ext cx="274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Mejorar Coordinación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88991" y="3962400"/>
            <a:ext cx="4076700" cy="609600"/>
          </a:xfrm>
          <a:custGeom>
            <a:avLst/>
            <a:gdLst/>
            <a:ahLst/>
            <a:cxnLst/>
            <a:rect l="l" t="t" r="r" b="b"/>
            <a:pathLst>
              <a:path w="4076700" h="609600">
                <a:moveTo>
                  <a:pt x="101602" y="0"/>
                </a:moveTo>
                <a:lnTo>
                  <a:pt x="3975098" y="0"/>
                </a:lnTo>
                <a:cubicBezTo>
                  <a:pt x="4031211" y="0"/>
                  <a:pt x="4076700" y="45489"/>
                  <a:pt x="4076700" y="101602"/>
                </a:cubicBezTo>
                <a:lnTo>
                  <a:pt x="4076700" y="507998"/>
                </a:lnTo>
                <a:cubicBezTo>
                  <a:pt x="4076700" y="564111"/>
                  <a:pt x="4031211" y="609600"/>
                  <a:pt x="39750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987391" y="4114800"/>
            <a:ext cx="427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Adaptar a Nuevas Formas de Empleo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69050" y="3962400"/>
            <a:ext cx="3733800" cy="609600"/>
          </a:xfrm>
          <a:custGeom>
            <a:avLst/>
            <a:gdLst/>
            <a:ahLst/>
            <a:cxnLst/>
            <a:rect l="l" t="t" r="r" b="b"/>
            <a:pathLst>
              <a:path w="3733800" h="609600">
                <a:moveTo>
                  <a:pt x="101602" y="0"/>
                </a:moveTo>
                <a:lnTo>
                  <a:pt x="3632198" y="0"/>
                </a:lnTo>
                <a:cubicBezTo>
                  <a:pt x="3688311" y="0"/>
                  <a:pt x="3733800" y="45489"/>
                  <a:pt x="3733800" y="101602"/>
                </a:cubicBezTo>
                <a:lnTo>
                  <a:pt x="3733800" y="507998"/>
                </a:lnTo>
                <a:cubicBezTo>
                  <a:pt x="3733800" y="564111"/>
                  <a:pt x="3688311" y="609600"/>
                  <a:pt x="36321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267450" y="4114800"/>
            <a:ext cx="393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Equilibrar Protección e Incentivos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812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Reflexión Final: El Equilibrio Múltiple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6416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desafío es diseñar un sistema que combine </a:t>
            </a:r>
            <a:r>
              <a:rPr lang="en-US" sz="16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protección, incentivos, sostenibilidad y adaptación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las nuevas realidades del trabajo.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6576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82600" y="39624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57200" y="38100"/>
                </a:moveTo>
                <a:lnTo>
                  <a:pt x="609600" y="38100"/>
                </a:lnTo>
                <a:cubicBezTo>
                  <a:pt x="630674" y="38100"/>
                  <a:pt x="647700" y="55126"/>
                  <a:pt x="647700" y="76200"/>
                </a:cubicBezTo>
                <a:cubicBezTo>
                  <a:pt x="647700" y="97274"/>
                  <a:pt x="630674" y="114300"/>
                  <a:pt x="609600" y="114300"/>
                </a:cubicBezTo>
                <a:lnTo>
                  <a:pt x="474345" y="114300"/>
                </a:lnTo>
                <a:cubicBezTo>
                  <a:pt x="468154" y="145018"/>
                  <a:pt x="447080" y="170378"/>
                  <a:pt x="419100" y="182523"/>
                </a:cubicBezTo>
                <a:lnTo>
                  <a:pt x="419100" y="533400"/>
                </a:lnTo>
                <a:lnTo>
                  <a:pt x="609600" y="533400"/>
                </a:lnTo>
                <a:cubicBezTo>
                  <a:pt x="630674" y="533400"/>
                  <a:pt x="647700" y="550426"/>
                  <a:pt x="647700" y="571500"/>
                </a:cubicBezTo>
                <a:cubicBezTo>
                  <a:pt x="647700" y="592574"/>
                  <a:pt x="630674" y="609600"/>
                  <a:pt x="609600" y="609600"/>
                </a:cubicBezTo>
                <a:lnTo>
                  <a:pt x="152400" y="609600"/>
                </a:lnTo>
                <a:cubicBezTo>
                  <a:pt x="131326" y="609600"/>
                  <a:pt x="114300" y="592574"/>
                  <a:pt x="114300" y="571500"/>
                </a:cubicBezTo>
                <a:cubicBezTo>
                  <a:pt x="114300" y="550426"/>
                  <a:pt x="131326" y="533400"/>
                  <a:pt x="152400" y="533400"/>
                </a:cubicBezTo>
                <a:lnTo>
                  <a:pt x="342900" y="533400"/>
                </a:lnTo>
                <a:lnTo>
                  <a:pt x="342900" y="182523"/>
                </a:lnTo>
                <a:cubicBezTo>
                  <a:pt x="314920" y="170259"/>
                  <a:pt x="293846" y="144899"/>
                  <a:pt x="287655" y="114300"/>
                </a:cubicBezTo>
                <a:lnTo>
                  <a:pt x="152400" y="114300"/>
                </a:lnTo>
                <a:cubicBezTo>
                  <a:pt x="131326" y="114300"/>
                  <a:pt x="114300" y="97274"/>
                  <a:pt x="114300" y="76200"/>
                </a:cubicBezTo>
                <a:cubicBezTo>
                  <a:pt x="114300" y="55126"/>
                  <a:pt x="131326" y="38100"/>
                  <a:pt x="152400" y="38100"/>
                </a:cubicBezTo>
                <a:lnTo>
                  <a:pt x="304800" y="38100"/>
                </a:lnTo>
                <a:cubicBezTo>
                  <a:pt x="322183" y="15002"/>
                  <a:pt x="349806" y="0"/>
                  <a:pt x="381000" y="0"/>
                </a:cubicBezTo>
                <a:cubicBezTo>
                  <a:pt x="412194" y="0"/>
                  <a:pt x="439817" y="15002"/>
                  <a:pt x="457200" y="38100"/>
                </a:cubicBezTo>
                <a:close/>
                <a:moveTo>
                  <a:pt x="523399" y="381000"/>
                </a:moveTo>
                <a:lnTo>
                  <a:pt x="695801" y="381000"/>
                </a:lnTo>
                <a:lnTo>
                  <a:pt x="609600" y="233124"/>
                </a:lnTo>
                <a:lnTo>
                  <a:pt x="523399" y="381000"/>
                </a:lnTo>
                <a:close/>
                <a:moveTo>
                  <a:pt x="609600" y="495300"/>
                </a:moveTo>
                <a:cubicBezTo>
                  <a:pt x="534710" y="495300"/>
                  <a:pt x="472440" y="454819"/>
                  <a:pt x="459581" y="401360"/>
                </a:cubicBezTo>
                <a:cubicBezTo>
                  <a:pt x="456486" y="388263"/>
                  <a:pt x="460772" y="374809"/>
                  <a:pt x="467558" y="363141"/>
                </a:cubicBezTo>
                <a:lnTo>
                  <a:pt x="580906" y="168831"/>
                </a:lnTo>
                <a:cubicBezTo>
                  <a:pt x="586859" y="158591"/>
                  <a:pt x="597813" y="152400"/>
                  <a:pt x="609600" y="152400"/>
                </a:cubicBezTo>
                <a:cubicBezTo>
                  <a:pt x="621387" y="152400"/>
                  <a:pt x="632341" y="158710"/>
                  <a:pt x="638294" y="168831"/>
                </a:cubicBezTo>
                <a:lnTo>
                  <a:pt x="751642" y="363141"/>
                </a:lnTo>
                <a:cubicBezTo>
                  <a:pt x="758428" y="374809"/>
                  <a:pt x="762714" y="388263"/>
                  <a:pt x="759619" y="401360"/>
                </a:cubicBezTo>
                <a:cubicBezTo>
                  <a:pt x="746760" y="454700"/>
                  <a:pt x="684490" y="495300"/>
                  <a:pt x="609600" y="495300"/>
                </a:cubicBezTo>
                <a:close/>
                <a:moveTo>
                  <a:pt x="150971" y="233124"/>
                </a:moveTo>
                <a:lnTo>
                  <a:pt x="64770" y="381000"/>
                </a:lnTo>
                <a:lnTo>
                  <a:pt x="237292" y="381000"/>
                </a:lnTo>
                <a:lnTo>
                  <a:pt x="150971" y="233124"/>
                </a:lnTo>
                <a:close/>
                <a:moveTo>
                  <a:pt x="1072" y="401360"/>
                </a:moveTo>
                <a:cubicBezTo>
                  <a:pt x="-2024" y="388263"/>
                  <a:pt x="2262" y="374809"/>
                  <a:pt x="9049" y="363141"/>
                </a:cubicBezTo>
                <a:lnTo>
                  <a:pt x="122396" y="168831"/>
                </a:lnTo>
                <a:cubicBezTo>
                  <a:pt x="128349" y="158591"/>
                  <a:pt x="139303" y="152400"/>
                  <a:pt x="151090" y="152400"/>
                </a:cubicBezTo>
                <a:cubicBezTo>
                  <a:pt x="162878" y="152400"/>
                  <a:pt x="173831" y="158710"/>
                  <a:pt x="179784" y="168831"/>
                </a:cubicBezTo>
                <a:lnTo>
                  <a:pt x="293132" y="363141"/>
                </a:lnTo>
                <a:cubicBezTo>
                  <a:pt x="299918" y="374809"/>
                  <a:pt x="304205" y="388263"/>
                  <a:pt x="301109" y="401360"/>
                </a:cubicBezTo>
                <a:cubicBezTo>
                  <a:pt x="288250" y="454700"/>
                  <a:pt x="225981" y="495300"/>
                  <a:pt x="151090" y="495300"/>
                </a:cubicBezTo>
                <a:cubicBezTo>
                  <a:pt x="76200" y="495300"/>
                  <a:pt x="13930" y="454819"/>
                  <a:pt x="1072" y="40136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7526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Claves para el Aula: Preguntas para el Debate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54000" y="2514600"/>
            <a:ext cx="5638800" cy="812800"/>
          </a:xfrm>
          <a:custGeom>
            <a:avLst/>
            <a:gdLst/>
            <a:ahLst/>
            <a:cxnLst/>
            <a:rect l="l" t="t" r="r" b="b"/>
            <a:pathLst>
              <a:path w="5638800" h="812800">
                <a:moveTo>
                  <a:pt x="101600" y="0"/>
                </a:moveTo>
                <a:lnTo>
                  <a:pt x="5537200" y="0"/>
                </a:lnTo>
                <a:cubicBezTo>
                  <a:pt x="5593275" y="0"/>
                  <a:pt x="5638800" y="45525"/>
                  <a:pt x="5638800" y="101600"/>
                </a:cubicBezTo>
                <a:lnTo>
                  <a:pt x="5638800" y="711200"/>
                </a:lnTo>
                <a:cubicBezTo>
                  <a:pt x="5638800" y="767275"/>
                  <a:pt x="5593275" y="812800"/>
                  <a:pt x="5537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54000" y="2514600"/>
            <a:ext cx="5638800" cy="8128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¿Cuál debe ser el equilibrio entre generosidad y sostenibilidad?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99200" y="2514600"/>
            <a:ext cx="5638800" cy="812800"/>
          </a:xfrm>
          <a:custGeom>
            <a:avLst/>
            <a:gdLst/>
            <a:ahLst/>
            <a:cxnLst/>
            <a:rect l="l" t="t" r="r" b="b"/>
            <a:pathLst>
              <a:path w="5638800" h="812800">
                <a:moveTo>
                  <a:pt x="101600" y="0"/>
                </a:moveTo>
                <a:lnTo>
                  <a:pt x="5537200" y="0"/>
                </a:lnTo>
                <a:cubicBezTo>
                  <a:pt x="5593275" y="0"/>
                  <a:pt x="5638800" y="45525"/>
                  <a:pt x="5638800" y="101600"/>
                </a:cubicBezTo>
                <a:lnTo>
                  <a:pt x="5638800" y="711200"/>
                </a:lnTo>
                <a:cubicBezTo>
                  <a:pt x="5638800" y="767275"/>
                  <a:pt x="5593275" y="812800"/>
                  <a:pt x="5537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299200" y="2514600"/>
            <a:ext cx="6146800" cy="8128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¿Cómo afecta la temporalidad a la eficacia del sistema?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4000" y="3530600"/>
            <a:ext cx="5638800" cy="812800"/>
          </a:xfrm>
          <a:custGeom>
            <a:avLst/>
            <a:gdLst/>
            <a:ahLst/>
            <a:cxnLst/>
            <a:rect l="l" t="t" r="r" b="b"/>
            <a:pathLst>
              <a:path w="5638800" h="812800">
                <a:moveTo>
                  <a:pt x="101600" y="0"/>
                </a:moveTo>
                <a:lnTo>
                  <a:pt x="5537200" y="0"/>
                </a:lnTo>
                <a:cubicBezTo>
                  <a:pt x="5593275" y="0"/>
                  <a:pt x="5638800" y="45525"/>
                  <a:pt x="5638800" y="101600"/>
                </a:cubicBezTo>
                <a:lnTo>
                  <a:pt x="5638800" y="711200"/>
                </a:lnTo>
                <a:cubicBezTo>
                  <a:pt x="5638800" y="767275"/>
                  <a:pt x="5593275" y="812800"/>
                  <a:pt x="5537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54000" y="3530600"/>
            <a:ext cx="6146800" cy="8128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¿Deben las prestaciones adaptarse al ciclo económico?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99200" y="3530600"/>
            <a:ext cx="5638800" cy="812800"/>
          </a:xfrm>
          <a:custGeom>
            <a:avLst/>
            <a:gdLst/>
            <a:ahLst/>
            <a:cxnLst/>
            <a:rect l="l" t="t" r="r" b="b"/>
            <a:pathLst>
              <a:path w="5638800" h="812800">
                <a:moveTo>
                  <a:pt x="101600" y="0"/>
                </a:moveTo>
                <a:lnTo>
                  <a:pt x="5537200" y="0"/>
                </a:lnTo>
                <a:cubicBezTo>
                  <a:pt x="5593275" y="0"/>
                  <a:pt x="5638800" y="45525"/>
                  <a:pt x="5638800" y="101600"/>
                </a:cubicBezTo>
                <a:lnTo>
                  <a:pt x="5638800" y="711200"/>
                </a:lnTo>
                <a:cubicBezTo>
                  <a:pt x="5638800" y="767275"/>
                  <a:pt x="5593275" y="812800"/>
                  <a:pt x="5537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299200" y="3530600"/>
            <a:ext cx="5638800" cy="8128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¿Cómo integrar nuevas formas de empleo (plataformas, etc.)?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4000" y="4546600"/>
            <a:ext cx="11684000" cy="558800"/>
          </a:xfrm>
          <a:custGeom>
            <a:avLst/>
            <a:gdLst/>
            <a:ahLst/>
            <a:cxnLst/>
            <a:rect l="l" t="t" r="r" b="b"/>
            <a:pathLst>
              <a:path w="11684000" h="558800">
                <a:moveTo>
                  <a:pt x="101601" y="0"/>
                </a:moveTo>
                <a:lnTo>
                  <a:pt x="11582399" y="0"/>
                </a:lnTo>
                <a:cubicBezTo>
                  <a:pt x="11638512" y="0"/>
                  <a:pt x="11684000" y="45488"/>
                  <a:pt x="11684000" y="101601"/>
                </a:cubicBezTo>
                <a:lnTo>
                  <a:pt x="11684000" y="457199"/>
                </a:lnTo>
                <a:cubicBezTo>
                  <a:pt x="11684000" y="513312"/>
                  <a:pt x="11638512" y="558800"/>
                  <a:pt x="115823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0" y="4546600"/>
            <a:ext cx="12192000" cy="5588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¿Es efectiva la activación actual o se reduce a un trámite?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3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psll_u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731520"/>
            <a:ext cx="4114800" cy="22448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54680"/>
            <a:ext cx="103628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utfit"/>
              </a:rPr>
              <a:t>POLÍTICAS SOCIOLABORALES Y DE EMPLEO</a:t>
            </a:r>
          </a:p>
          <a:p>
            <a:pPr algn="ctr">
              <a:spcBef>
                <a:spcPts val="800"/>
              </a:spcBef>
            </a:pPr>
            <a:r>
              <a:rPr sz="1700" b="1">
                <a:solidFill>
                  <a:srgbClr val="EDB090"/>
                </a:solidFill>
                <a:latin typeface="Outfit"/>
              </a:rPr>
              <a:t>Tema 3 · Políticas Pasivas del Mercado de Trabajo</a:t>
            </a:r>
          </a:p>
          <a:p>
            <a:pPr algn="ctr">
              <a:spcBef>
                <a:spcPts val="1200"/>
              </a:spcBef>
            </a:pPr>
            <a:r>
              <a:rPr sz="1300">
                <a:solidFill>
                  <a:srgbClr val="F4F8F5"/>
                </a:solidFill>
                <a:latin typeface="Calibri"/>
              </a:rPr>
              <a:t>Facultad de Ciencias del Trabajo · Universidad Pablo de Olavide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F4F8F5"/>
                </a:solidFill>
                <a:latin typeface="Calibri"/>
              </a:rPr>
              <a:t>Prof. Manuel A. Hidalgo Pérez  ·  Código 102023  ·  Curso 2026-2027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po_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126480"/>
            <a:ext cx="452628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62179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F3A30"/>
                </a:solidFill>
                <a:latin typeface="Calibri"/>
              </a:rPr>
              <a:t>Grado en Relaciones Laborales y Recursos Humanos · Doble Grado en Derecho y RRLL-RRHH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2930</Words>
  <Application>Microsoft Office PowerPoint</Application>
  <PresentationFormat>Panorámica</PresentationFormat>
  <Paragraphs>398</Paragraphs>
  <Slides>73</Slides>
  <Notes>66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73</vt:i4>
      </vt:variant>
    </vt:vector>
  </HeadingPairs>
  <TitlesOfParts>
    <vt:vector size="77" baseType="lpstr">
      <vt:lpstr>Arial</vt:lpstr>
      <vt:lpstr>MiSans</vt:lpstr>
      <vt:lpstr>Noto Sans SC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Políticas Pasivas de Empleo: Claves para el Aula</dc:title>
  <dc:subject>Políticas Pasivas de Empleo: Claves para el Aula</dc:subject>
  <dc:creator>Kimi</dc:creator>
  <cp:lastModifiedBy>Manuel Alejandro Hidalgo Perez</cp:lastModifiedBy>
  <cp:revision>8</cp:revision>
  <dcterms:created xsi:type="dcterms:W3CDTF">2025-10-19T10:56:39Z</dcterms:created>
  <dcterms:modified xsi:type="dcterms:W3CDTF">2025-10-26T17:45:11Z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{"Label":"Políticas Pasivas de Empleo: Claves para el Aula","ContentProducer":"001191110108MACG2KBH8F10000","ProduceID":"d3qbbh9g6i8lrprloim0","ReservedCode1":"","ContentPropagator":"001191110108MACG2KBH8F20000","PropagateID":"d3qbbh9g6i8lrprloim0","ReservedCode2":""}</vt:lpwstr>
  </property>
</Properties>
</file>