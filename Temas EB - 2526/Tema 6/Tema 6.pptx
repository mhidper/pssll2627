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9"/>
  </p:notesMasterIdLst>
  <p:sldIdLst>
    <p:sldId id="256" r:id="rId2"/>
    <p:sldId id="257" r:id="rId3"/>
    <p:sldId id="259" r:id="rId4"/>
    <p:sldId id="260" r:id="rId5"/>
    <p:sldId id="261" r:id="rId6"/>
    <p:sldId id="262" r:id="rId7"/>
    <p:sldId id="263" r:id="rId8"/>
    <p:sldId id="264" r:id="rId9"/>
    <p:sldId id="299" r:id="rId10"/>
    <p:sldId id="265" r:id="rId11"/>
    <p:sldId id="301" r:id="rId12"/>
    <p:sldId id="266" r:id="rId13"/>
    <p:sldId id="302" r:id="rId14"/>
    <p:sldId id="267" r:id="rId15"/>
    <p:sldId id="268" r:id="rId16"/>
    <p:sldId id="269" r:id="rId17"/>
    <p:sldId id="270" r:id="rId18"/>
    <p:sldId id="271" r:id="rId19"/>
    <p:sldId id="272" r:id="rId20"/>
    <p:sldId id="273" r:id="rId21"/>
    <p:sldId id="274" r:id="rId22"/>
    <p:sldId id="275" r:id="rId23"/>
    <p:sldId id="276" r:id="rId24"/>
    <p:sldId id="300" r:id="rId25"/>
    <p:sldId id="303"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x="12192000" cy="6858000"/>
  <p:notesSz cx="6858000" cy="12192000"/>
  <p:embeddedFontLst>
    <p:embeddedFont>
      <p:font typeface="MiSans" panose="020B0604020202020204" charset="-122"/>
      <p:regular r:id="rId50"/>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72"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4601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a:ln/>
        </p:spPr>
        <p:txBody>
          <a:bodyPr/>
          <a:lstStyle/>
          <a:p>
            <a:endParaRPr lang="es-ES"/>
          </a:p>
        </p:txBody>
      </p:sp>
      <p:sp>
        <p:nvSpPr>
          <p:cNvPr id="5" name="Text 3"/>
          <p:cNvSpPr/>
          <p:nvPr/>
        </p:nvSpPr>
        <p:spPr>
          <a:xfrm>
            <a:off x="4445" y="0"/>
            <a:ext cx="12187555" cy="6875780"/>
          </a:xfrm>
          <a:prstGeom prst="rect">
            <a:avLst/>
          </a:prstGeom>
          <a:noFill/>
          <a:ln/>
        </p:spPr>
        <p:txBody>
          <a:bodyPr wrap="square" lIns="45720" tIns="91440" rIns="91440" bIns="45720" rtlCol="0" anchor="ctr"/>
          <a:lstStyle/>
          <a:p>
            <a:pPr>
              <a:lnSpc>
                <a:spcPct val="100000"/>
              </a:lnSpc>
            </a:pPr>
            <a:endParaRPr lang="en-US" sz="1600" dirty="0"/>
          </a:p>
        </p:txBody>
      </p:sp>
      <p:sp>
        <p:nvSpPr>
          <p:cNvPr id="6" name="Text 4"/>
          <p:cNvSpPr/>
          <p:nvPr/>
        </p:nvSpPr>
        <p:spPr>
          <a:xfrm>
            <a:off x="859789" y="1950085"/>
            <a:ext cx="9982381" cy="2115820"/>
          </a:xfrm>
          <a:prstGeom prst="rect">
            <a:avLst/>
          </a:prstGeom>
          <a:noFill/>
          <a:ln/>
        </p:spPr>
        <p:txBody>
          <a:bodyPr wrap="square" lIns="91440" tIns="45720" rIns="91440" bIns="45720" rtlCol="0" anchor="t"/>
          <a:lstStyle/>
          <a:p>
            <a:pPr>
              <a:lnSpc>
                <a:spcPct val="120000"/>
              </a:lnSpc>
            </a:pPr>
            <a:r>
              <a:rPr lang="es-ES" sz="4400" b="1" dirty="0">
                <a:solidFill>
                  <a:srgbClr val="FFFFFF"/>
                </a:solidFill>
                <a:latin typeface="MiSans" pitchFamily="34" charset="0"/>
                <a:ea typeface="MiSans" pitchFamily="34" charset="-122"/>
                <a:cs typeface="MiSans" pitchFamily="34" charset="-120"/>
              </a:rPr>
              <a:t>TEMA 6.</a:t>
            </a:r>
          </a:p>
          <a:p>
            <a:pPr>
              <a:lnSpc>
                <a:spcPct val="120000"/>
              </a:lnSpc>
            </a:pPr>
            <a:r>
              <a:rPr lang="es-ES" sz="4400" b="1" dirty="0">
                <a:solidFill>
                  <a:srgbClr val="FFFFFF"/>
                </a:solidFill>
                <a:latin typeface="MiSans" pitchFamily="34" charset="0"/>
                <a:ea typeface="MiSans" pitchFamily="34" charset="-122"/>
                <a:cs typeface="MiSans" pitchFamily="34" charset="-120"/>
              </a:rPr>
              <a:t>OTRAS POLÍTICAS QUE INFLUYEN EN LA DETERMINACIÓN DE LOS SALARIOS</a:t>
            </a:r>
            <a:endParaRPr lang="en-US" sz="1200" dirty="0"/>
          </a:p>
        </p:txBody>
      </p:sp>
      <p:sp>
        <p:nvSpPr>
          <p:cNvPr id="8" name="Text 6"/>
          <p:cNvSpPr/>
          <p:nvPr/>
        </p:nvSpPr>
        <p:spPr>
          <a:xfrm>
            <a:off x="941070" y="4754245"/>
            <a:ext cx="2057400" cy="51816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Text 9"/>
          <p:cNvSpPr/>
          <p:nvPr/>
        </p:nvSpPr>
        <p:spPr>
          <a:xfrm>
            <a:off x="3323590" y="4754245"/>
            <a:ext cx="2057400" cy="518160"/>
          </a:xfrm>
          <a:prstGeom prst="rect">
            <a:avLst/>
          </a:prstGeom>
          <a:noFill/>
          <a:ln/>
        </p:spPr>
        <p:txBody>
          <a:bodyPr wrap="square" lIns="45720" tIns="91440" rIns="91440" bIns="45720" rtlCol="0" anchor="ctr"/>
          <a:lstStyle/>
          <a:p>
            <a:pPr>
              <a:lnSpc>
                <a:spcPct val="100000"/>
              </a:lnSpc>
            </a:pPr>
            <a:endParaRPr lang="en-US" sz="1600" dirty="0"/>
          </a:p>
        </p:txBody>
      </p:sp>
      <p:sp>
        <p:nvSpPr>
          <p:cNvPr id="13" name="Shape 11"/>
          <p:cNvSpPr/>
          <p:nvPr/>
        </p:nvSpPr>
        <p:spPr>
          <a:xfrm>
            <a:off x="852805" y="469900"/>
            <a:ext cx="106680" cy="106680"/>
          </a:xfrm>
          <a:prstGeom prst="ellipse">
            <a:avLst/>
          </a:prstGeom>
          <a:solidFill>
            <a:srgbClr val="FFFFFF"/>
          </a:solidFill>
          <a:ln/>
        </p:spPr>
        <p:txBody>
          <a:bodyPr/>
          <a:lstStyle/>
          <a:p>
            <a:endParaRPr lang="es-ES"/>
          </a:p>
        </p:txBody>
      </p:sp>
      <p:sp>
        <p:nvSpPr>
          <p:cNvPr id="14" name="Text 12"/>
          <p:cNvSpPr/>
          <p:nvPr/>
        </p:nvSpPr>
        <p:spPr>
          <a:xfrm>
            <a:off x="85280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5" name="Shape 13"/>
          <p:cNvSpPr/>
          <p:nvPr/>
        </p:nvSpPr>
        <p:spPr>
          <a:xfrm>
            <a:off x="113665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6" name="Text 14"/>
          <p:cNvSpPr/>
          <p:nvPr/>
        </p:nvSpPr>
        <p:spPr>
          <a:xfrm>
            <a:off x="113665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Shape 15"/>
          <p:cNvSpPr/>
          <p:nvPr/>
        </p:nvSpPr>
        <p:spPr>
          <a:xfrm>
            <a:off x="1420495" y="469900"/>
            <a:ext cx="106680" cy="106680"/>
          </a:xfrm>
          <a:prstGeom prst="ellipse">
            <a:avLst/>
          </a:prstGeom>
          <a:solidFill>
            <a:srgbClr val="FFFFFF"/>
          </a:solidFill>
          <a:ln/>
        </p:spPr>
        <p:txBody>
          <a:bodyPr/>
          <a:lstStyle/>
          <a:p>
            <a:endParaRPr lang="es-ES"/>
          </a:p>
        </p:txBody>
      </p:sp>
      <p:sp>
        <p:nvSpPr>
          <p:cNvPr id="18" name="Text 16"/>
          <p:cNvSpPr/>
          <p:nvPr/>
        </p:nvSpPr>
        <p:spPr>
          <a:xfrm>
            <a:off x="142049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9" name="Shape 17"/>
          <p:cNvSpPr/>
          <p:nvPr/>
        </p:nvSpPr>
        <p:spPr>
          <a:xfrm>
            <a:off x="170434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20" name="Text 18"/>
          <p:cNvSpPr/>
          <p:nvPr/>
        </p:nvSpPr>
        <p:spPr>
          <a:xfrm>
            <a:off x="170434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21" name="Shape 19"/>
          <p:cNvSpPr/>
          <p:nvPr/>
        </p:nvSpPr>
        <p:spPr>
          <a:xfrm>
            <a:off x="1988185" y="469900"/>
            <a:ext cx="106680" cy="106680"/>
          </a:xfrm>
          <a:prstGeom prst="ellipse">
            <a:avLst/>
          </a:prstGeom>
          <a:solidFill>
            <a:srgbClr val="FFFFFF"/>
          </a:solidFill>
          <a:ln/>
        </p:spPr>
        <p:txBody>
          <a:bodyPr/>
          <a:lstStyle/>
          <a:p>
            <a:endParaRPr lang="es-ES"/>
          </a:p>
        </p:txBody>
      </p:sp>
      <p:sp>
        <p:nvSpPr>
          <p:cNvPr id="22" name="Text 20"/>
          <p:cNvSpPr/>
          <p:nvPr/>
        </p:nvSpPr>
        <p:spPr>
          <a:xfrm>
            <a:off x="198818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Shape 21"/>
          <p:cNvSpPr/>
          <p:nvPr/>
        </p:nvSpPr>
        <p:spPr>
          <a:xfrm>
            <a:off x="227203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24" name="Text 22"/>
          <p:cNvSpPr/>
          <p:nvPr/>
        </p:nvSpPr>
        <p:spPr>
          <a:xfrm>
            <a:off x="227203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25" name="Shape 23"/>
          <p:cNvSpPr/>
          <p:nvPr/>
        </p:nvSpPr>
        <p:spPr>
          <a:xfrm>
            <a:off x="11456035" y="381635"/>
            <a:ext cx="351155" cy="43815"/>
          </a:xfrm>
          <a:prstGeom prst="roundRect">
            <a:avLst>
              <a:gd name="adj" fmla="val 50000"/>
            </a:avLst>
          </a:prstGeom>
          <a:solidFill>
            <a:srgbClr val="FFFFFF"/>
          </a:solidFill>
          <a:ln/>
        </p:spPr>
        <p:txBody>
          <a:bodyPr/>
          <a:lstStyle/>
          <a:p>
            <a:endParaRPr lang="es-ES"/>
          </a:p>
        </p:txBody>
      </p:sp>
      <p:sp>
        <p:nvSpPr>
          <p:cNvPr id="26" name="Text 24"/>
          <p:cNvSpPr/>
          <p:nvPr/>
        </p:nvSpPr>
        <p:spPr>
          <a:xfrm>
            <a:off x="11456035" y="38163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7" name="Shape 25"/>
          <p:cNvSpPr/>
          <p:nvPr/>
        </p:nvSpPr>
        <p:spPr>
          <a:xfrm>
            <a:off x="11456035" y="501650"/>
            <a:ext cx="351155" cy="43815"/>
          </a:xfrm>
          <a:prstGeom prst="roundRect">
            <a:avLst>
              <a:gd name="adj" fmla="val 50000"/>
            </a:avLst>
          </a:prstGeom>
          <a:solidFill>
            <a:srgbClr val="FFFFFF"/>
          </a:solidFill>
          <a:ln/>
        </p:spPr>
        <p:txBody>
          <a:bodyPr/>
          <a:lstStyle/>
          <a:p>
            <a:endParaRPr lang="es-ES"/>
          </a:p>
        </p:txBody>
      </p:sp>
      <p:sp>
        <p:nvSpPr>
          <p:cNvPr id="28" name="Text 26"/>
          <p:cNvSpPr/>
          <p:nvPr/>
        </p:nvSpPr>
        <p:spPr>
          <a:xfrm>
            <a:off x="11456035" y="501650"/>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9" name="Shape 27"/>
          <p:cNvSpPr/>
          <p:nvPr/>
        </p:nvSpPr>
        <p:spPr>
          <a:xfrm>
            <a:off x="11456035" y="621665"/>
            <a:ext cx="351155" cy="43815"/>
          </a:xfrm>
          <a:prstGeom prst="roundRect">
            <a:avLst>
              <a:gd name="adj" fmla="val 50000"/>
            </a:avLst>
          </a:prstGeom>
          <a:solidFill>
            <a:srgbClr val="FFFFFF"/>
          </a:solidFill>
          <a:ln/>
        </p:spPr>
        <p:txBody>
          <a:bodyPr/>
          <a:lstStyle/>
          <a:p>
            <a:endParaRPr lang="es-ES"/>
          </a:p>
        </p:txBody>
      </p:sp>
      <p:sp>
        <p:nvSpPr>
          <p:cNvPr id="30" name="Text 28"/>
          <p:cNvSpPr/>
          <p:nvPr/>
        </p:nvSpPr>
        <p:spPr>
          <a:xfrm>
            <a:off x="11456035" y="62166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31" name="Shape 29"/>
          <p:cNvSpPr/>
          <p:nvPr/>
        </p:nvSpPr>
        <p:spPr>
          <a:xfrm>
            <a:off x="1727190" y="6306820"/>
            <a:ext cx="10080000" cy="0"/>
          </a:xfrm>
          <a:prstGeom prst="line">
            <a:avLst/>
          </a:prstGeom>
          <a:noFill/>
          <a:ln w="19050">
            <a:solidFill>
              <a:srgbClr val="FFFFFF"/>
            </a:solidFill>
            <a:prstDash val="solid"/>
            <a:headEnd type="none"/>
            <a:tailEnd type="none"/>
          </a:ln>
        </p:spPr>
        <p:txBody>
          <a:bodyPr/>
          <a:lstStyle/>
          <a:p>
            <a:endParaRPr lang="es-ES"/>
          </a:p>
        </p:txBody>
      </p:sp>
      <p:sp>
        <p:nvSpPr>
          <p:cNvPr id="32" name="Shape 30"/>
          <p:cNvSpPr/>
          <p:nvPr/>
        </p:nvSpPr>
        <p:spPr>
          <a:xfrm>
            <a:off x="852805" y="6177280"/>
            <a:ext cx="259080" cy="259080"/>
          </a:xfrm>
          <a:prstGeom prst="ellipse">
            <a:avLst/>
          </a:prstGeom>
          <a:solidFill>
            <a:srgbClr val="FFFFFF"/>
          </a:solidFill>
          <a:ln/>
        </p:spPr>
        <p:txBody>
          <a:bodyPr/>
          <a:lstStyle/>
          <a:p>
            <a:endParaRPr lang="es-ES"/>
          </a:p>
        </p:txBody>
      </p:sp>
      <p:sp>
        <p:nvSpPr>
          <p:cNvPr id="33" name="Text 31"/>
          <p:cNvSpPr/>
          <p:nvPr/>
        </p:nvSpPr>
        <p:spPr>
          <a:xfrm>
            <a:off x="852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34" name="Shape 32"/>
          <p:cNvSpPr/>
          <p:nvPr/>
        </p:nvSpPr>
        <p:spPr>
          <a:xfrm>
            <a:off x="979805" y="6177280"/>
            <a:ext cx="259080" cy="259080"/>
          </a:xfrm>
          <a:prstGeom prst="ellipse">
            <a:avLst/>
          </a:prstGeom>
          <a:solidFill>
            <a:srgbClr val="000000">
              <a:alpha val="0"/>
            </a:srgbClr>
          </a:solidFill>
          <a:ln w="19050">
            <a:solidFill>
              <a:srgbClr val="FFFFFF"/>
            </a:solidFill>
            <a:prstDash val="solid"/>
          </a:ln>
        </p:spPr>
        <p:txBody>
          <a:bodyPr/>
          <a:lstStyle/>
          <a:p>
            <a:endParaRPr lang="es-ES"/>
          </a:p>
        </p:txBody>
      </p:sp>
      <p:sp>
        <p:nvSpPr>
          <p:cNvPr id="35" name="Text 33"/>
          <p:cNvSpPr/>
          <p:nvPr/>
        </p:nvSpPr>
        <p:spPr>
          <a:xfrm>
            <a:off x="979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1727190" y="6306820"/>
            <a:ext cx="10080000" cy="0"/>
          </a:xfrm>
          <a:prstGeom prst="line">
            <a:avLst/>
          </a:prstGeom>
          <a:noFill/>
          <a:ln w="19050">
            <a:solidFill>
              <a:srgbClr val="402E7F"/>
            </a:solidFill>
            <a:prstDash val="solid"/>
            <a:headEnd type="none"/>
            <a:tailEnd type="none"/>
          </a:ln>
        </p:spPr>
        <p:txBody>
          <a:bodyPr/>
          <a:lstStyle/>
          <a:p>
            <a:endParaRPr lang="es-ES"/>
          </a:p>
        </p:txBody>
      </p:sp>
      <p:sp>
        <p:nvSpPr>
          <p:cNvPr id="5" name="Shape 3"/>
          <p:cNvSpPr/>
          <p:nvPr/>
        </p:nvSpPr>
        <p:spPr>
          <a:xfrm>
            <a:off x="852805" y="6177280"/>
            <a:ext cx="259080" cy="259080"/>
          </a:xfrm>
          <a:prstGeom prst="ellipse">
            <a:avLst/>
          </a:prstGeom>
          <a:solidFill>
            <a:srgbClr val="402E7F"/>
          </a:solidFill>
          <a:ln/>
        </p:spPr>
        <p:txBody>
          <a:bodyPr/>
          <a:lstStyle/>
          <a:p>
            <a:endParaRPr lang="es-ES"/>
          </a:p>
        </p:txBody>
      </p:sp>
      <p:sp>
        <p:nvSpPr>
          <p:cNvPr id="6" name="Text 4"/>
          <p:cNvSpPr/>
          <p:nvPr/>
        </p:nvSpPr>
        <p:spPr>
          <a:xfrm>
            <a:off x="852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7" name="Shape 5"/>
          <p:cNvSpPr/>
          <p:nvPr/>
        </p:nvSpPr>
        <p:spPr>
          <a:xfrm>
            <a:off x="979805" y="6177280"/>
            <a:ext cx="259080" cy="259080"/>
          </a:xfrm>
          <a:prstGeom prst="ellipse">
            <a:avLst/>
          </a:prstGeom>
          <a:solidFill>
            <a:srgbClr val="000000">
              <a:alpha val="0"/>
            </a:srgbClr>
          </a:solidFill>
          <a:ln w="19050">
            <a:solidFill>
              <a:srgbClr val="402E7F"/>
            </a:solidFill>
            <a:prstDash val="solid"/>
          </a:ln>
        </p:spPr>
        <p:txBody>
          <a:bodyPr/>
          <a:lstStyle/>
          <a:p>
            <a:endParaRPr lang="es-ES"/>
          </a:p>
        </p:txBody>
      </p:sp>
      <p:sp>
        <p:nvSpPr>
          <p:cNvPr id="8" name="Text 6"/>
          <p:cNvSpPr/>
          <p:nvPr/>
        </p:nvSpPr>
        <p:spPr>
          <a:xfrm>
            <a:off x="979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9" name="Shape 7"/>
          <p:cNvSpPr/>
          <p:nvPr/>
        </p:nvSpPr>
        <p:spPr>
          <a:xfrm>
            <a:off x="4445" y="0"/>
            <a:ext cx="4918075" cy="6859905"/>
          </a:xfrm>
          <a:prstGeom prst="rect">
            <a:avLst/>
          </a:prstGeom>
          <a:gradFill flip="none" rotWithShape="1">
            <a:gsLst>
              <a:gs pos="0">
                <a:srgbClr val="D7B1D4"/>
              </a:gs>
              <a:gs pos="34000">
                <a:srgbClr val="BC7DB7"/>
              </a:gs>
              <a:gs pos="100000">
                <a:srgbClr val="30225F"/>
              </a:gs>
            </a:gsLst>
            <a:lin ang="13500000" scaled="1"/>
          </a:gradFill>
          <a:ln/>
        </p:spPr>
        <p:txBody>
          <a:bodyPr/>
          <a:lstStyle/>
          <a:p>
            <a:endParaRPr lang="es-ES"/>
          </a:p>
        </p:txBody>
      </p:sp>
      <p:sp>
        <p:nvSpPr>
          <p:cNvPr id="10" name="Text 8"/>
          <p:cNvSpPr/>
          <p:nvPr/>
        </p:nvSpPr>
        <p:spPr>
          <a:xfrm>
            <a:off x="4445" y="0"/>
            <a:ext cx="4918075" cy="6859905"/>
          </a:xfrm>
          <a:prstGeom prst="rect">
            <a:avLst/>
          </a:prstGeom>
          <a:noFill/>
          <a:ln/>
        </p:spPr>
        <p:txBody>
          <a:bodyPr wrap="square" lIns="45720" tIns="91440" rIns="91440" bIns="45720" rtlCol="0" anchor="ctr"/>
          <a:lstStyle/>
          <a:p>
            <a:pPr>
              <a:lnSpc>
                <a:spcPct val="100000"/>
              </a:lnSpc>
            </a:pPr>
            <a:endParaRPr lang="en-US" sz="1600" dirty="0"/>
          </a:p>
        </p:txBody>
      </p:sp>
      <p:sp>
        <p:nvSpPr>
          <p:cNvPr id="11" name="Shape 9"/>
          <p:cNvSpPr/>
          <p:nvPr/>
        </p:nvSpPr>
        <p:spPr>
          <a:xfrm>
            <a:off x="697230" y="469900"/>
            <a:ext cx="106680" cy="106680"/>
          </a:xfrm>
          <a:prstGeom prst="ellipse">
            <a:avLst/>
          </a:prstGeom>
          <a:solidFill>
            <a:srgbClr val="FFFFFF"/>
          </a:solidFill>
          <a:ln/>
        </p:spPr>
        <p:txBody>
          <a:bodyPr/>
          <a:lstStyle/>
          <a:p>
            <a:endParaRPr lang="es-ES"/>
          </a:p>
        </p:txBody>
      </p:sp>
      <p:sp>
        <p:nvSpPr>
          <p:cNvPr id="12" name="Text 10"/>
          <p:cNvSpPr/>
          <p:nvPr/>
        </p:nvSpPr>
        <p:spPr>
          <a:xfrm>
            <a:off x="69723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3" name="Shape 11"/>
          <p:cNvSpPr/>
          <p:nvPr/>
        </p:nvSpPr>
        <p:spPr>
          <a:xfrm>
            <a:off x="981075"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4" name="Text 12"/>
          <p:cNvSpPr/>
          <p:nvPr/>
        </p:nvSpPr>
        <p:spPr>
          <a:xfrm>
            <a:off x="98107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5" name="Shape 13"/>
          <p:cNvSpPr/>
          <p:nvPr/>
        </p:nvSpPr>
        <p:spPr>
          <a:xfrm>
            <a:off x="1264920" y="469900"/>
            <a:ext cx="106680" cy="106680"/>
          </a:xfrm>
          <a:prstGeom prst="ellipse">
            <a:avLst/>
          </a:prstGeom>
          <a:solidFill>
            <a:srgbClr val="FFFFFF"/>
          </a:solidFill>
          <a:ln/>
        </p:spPr>
        <p:txBody>
          <a:bodyPr/>
          <a:lstStyle/>
          <a:p>
            <a:endParaRPr lang="es-ES"/>
          </a:p>
        </p:txBody>
      </p:sp>
      <p:sp>
        <p:nvSpPr>
          <p:cNvPr id="16" name="Text 14"/>
          <p:cNvSpPr/>
          <p:nvPr/>
        </p:nvSpPr>
        <p:spPr>
          <a:xfrm>
            <a:off x="126492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Shape 15"/>
          <p:cNvSpPr/>
          <p:nvPr/>
        </p:nvSpPr>
        <p:spPr>
          <a:xfrm>
            <a:off x="1548765"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8" name="Text 16"/>
          <p:cNvSpPr/>
          <p:nvPr/>
        </p:nvSpPr>
        <p:spPr>
          <a:xfrm>
            <a:off x="154876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9" name="Shape 17"/>
          <p:cNvSpPr/>
          <p:nvPr/>
        </p:nvSpPr>
        <p:spPr>
          <a:xfrm>
            <a:off x="1832610" y="469900"/>
            <a:ext cx="106680" cy="106680"/>
          </a:xfrm>
          <a:prstGeom prst="ellipse">
            <a:avLst/>
          </a:prstGeom>
          <a:solidFill>
            <a:srgbClr val="FFFFFF"/>
          </a:solidFill>
          <a:ln/>
        </p:spPr>
        <p:txBody>
          <a:bodyPr/>
          <a:lstStyle/>
          <a:p>
            <a:endParaRPr lang="es-ES"/>
          </a:p>
        </p:txBody>
      </p:sp>
      <p:sp>
        <p:nvSpPr>
          <p:cNvPr id="20" name="Text 18"/>
          <p:cNvSpPr/>
          <p:nvPr/>
        </p:nvSpPr>
        <p:spPr>
          <a:xfrm>
            <a:off x="183261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21" name="Shape 19"/>
          <p:cNvSpPr/>
          <p:nvPr/>
        </p:nvSpPr>
        <p:spPr>
          <a:xfrm>
            <a:off x="2116455"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22" name="Text 20"/>
          <p:cNvSpPr/>
          <p:nvPr/>
        </p:nvSpPr>
        <p:spPr>
          <a:xfrm>
            <a:off x="211645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Shape 21"/>
          <p:cNvSpPr/>
          <p:nvPr/>
        </p:nvSpPr>
        <p:spPr>
          <a:xfrm>
            <a:off x="11456035" y="381635"/>
            <a:ext cx="351155" cy="43815"/>
          </a:xfrm>
          <a:prstGeom prst="roundRect">
            <a:avLst>
              <a:gd name="adj" fmla="val 50000"/>
            </a:avLst>
          </a:prstGeom>
          <a:solidFill>
            <a:srgbClr val="402E7F"/>
          </a:solidFill>
          <a:ln/>
        </p:spPr>
        <p:txBody>
          <a:bodyPr/>
          <a:lstStyle/>
          <a:p>
            <a:endParaRPr lang="es-ES"/>
          </a:p>
        </p:txBody>
      </p:sp>
      <p:sp>
        <p:nvSpPr>
          <p:cNvPr id="24" name="Text 22"/>
          <p:cNvSpPr/>
          <p:nvPr/>
        </p:nvSpPr>
        <p:spPr>
          <a:xfrm>
            <a:off x="11456035" y="38163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5" name="Shape 23"/>
          <p:cNvSpPr/>
          <p:nvPr/>
        </p:nvSpPr>
        <p:spPr>
          <a:xfrm>
            <a:off x="11456035" y="501650"/>
            <a:ext cx="351155" cy="43815"/>
          </a:xfrm>
          <a:prstGeom prst="roundRect">
            <a:avLst>
              <a:gd name="adj" fmla="val 50000"/>
            </a:avLst>
          </a:prstGeom>
          <a:solidFill>
            <a:srgbClr val="402E7F"/>
          </a:solidFill>
          <a:ln/>
        </p:spPr>
        <p:txBody>
          <a:bodyPr/>
          <a:lstStyle/>
          <a:p>
            <a:endParaRPr lang="es-ES"/>
          </a:p>
        </p:txBody>
      </p:sp>
      <p:sp>
        <p:nvSpPr>
          <p:cNvPr id="26" name="Text 24"/>
          <p:cNvSpPr/>
          <p:nvPr/>
        </p:nvSpPr>
        <p:spPr>
          <a:xfrm>
            <a:off x="11456035" y="501650"/>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7" name="Shape 25"/>
          <p:cNvSpPr/>
          <p:nvPr/>
        </p:nvSpPr>
        <p:spPr>
          <a:xfrm>
            <a:off x="11456035" y="621665"/>
            <a:ext cx="351155" cy="43815"/>
          </a:xfrm>
          <a:prstGeom prst="roundRect">
            <a:avLst>
              <a:gd name="adj" fmla="val 50000"/>
            </a:avLst>
          </a:prstGeom>
          <a:solidFill>
            <a:srgbClr val="402E7F"/>
          </a:solidFill>
          <a:ln/>
        </p:spPr>
        <p:txBody>
          <a:bodyPr/>
          <a:lstStyle/>
          <a:p>
            <a:endParaRPr lang="es-ES"/>
          </a:p>
        </p:txBody>
      </p:sp>
      <p:sp>
        <p:nvSpPr>
          <p:cNvPr id="28" name="Text 26"/>
          <p:cNvSpPr/>
          <p:nvPr/>
        </p:nvSpPr>
        <p:spPr>
          <a:xfrm>
            <a:off x="11456035" y="62166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9" name="Shape 27"/>
          <p:cNvSpPr/>
          <p:nvPr/>
        </p:nvSpPr>
        <p:spPr>
          <a:xfrm>
            <a:off x="5549900" y="95250"/>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a:ln/>
        </p:spPr>
        <p:txBody>
          <a:bodyPr/>
          <a:lstStyle/>
          <a:p>
            <a:endParaRPr lang="es-ES" sz="1600"/>
          </a:p>
        </p:txBody>
      </p:sp>
      <p:sp>
        <p:nvSpPr>
          <p:cNvPr id="30" name="Text 28"/>
          <p:cNvSpPr/>
          <p:nvPr/>
        </p:nvSpPr>
        <p:spPr>
          <a:xfrm>
            <a:off x="5549900" y="95250"/>
            <a:ext cx="381000" cy="381000"/>
          </a:xfrm>
          <a:prstGeom prst="rect">
            <a:avLst/>
          </a:prstGeom>
          <a:noFill/>
          <a:ln/>
        </p:spPr>
        <p:txBody>
          <a:bodyPr wrap="square" lIns="45720" tIns="91440" rIns="91440" bIns="45720" rtlCol="0" anchor="ctr"/>
          <a:lstStyle/>
          <a:p>
            <a:pPr>
              <a:lnSpc>
                <a:spcPct val="100000"/>
              </a:lnSpc>
            </a:pPr>
            <a:endParaRPr lang="en-US" sz="1400" dirty="0"/>
          </a:p>
        </p:txBody>
      </p:sp>
      <p:sp>
        <p:nvSpPr>
          <p:cNvPr id="31" name="Shape 29"/>
          <p:cNvSpPr/>
          <p:nvPr/>
        </p:nvSpPr>
        <p:spPr>
          <a:xfrm>
            <a:off x="5573395" y="682234"/>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a:ln/>
        </p:spPr>
        <p:txBody>
          <a:bodyPr/>
          <a:lstStyle/>
          <a:p>
            <a:endParaRPr lang="es-ES" sz="1600"/>
          </a:p>
        </p:txBody>
      </p:sp>
      <p:sp>
        <p:nvSpPr>
          <p:cNvPr id="32" name="Text 30"/>
          <p:cNvSpPr/>
          <p:nvPr/>
        </p:nvSpPr>
        <p:spPr>
          <a:xfrm>
            <a:off x="5530215" y="803839"/>
            <a:ext cx="381000" cy="381000"/>
          </a:xfrm>
          <a:prstGeom prst="rect">
            <a:avLst/>
          </a:prstGeom>
          <a:noFill/>
          <a:ln/>
        </p:spPr>
        <p:txBody>
          <a:bodyPr wrap="square" lIns="45720" tIns="91440" rIns="91440" bIns="45720" rtlCol="0" anchor="ctr"/>
          <a:lstStyle/>
          <a:p>
            <a:pPr>
              <a:lnSpc>
                <a:spcPct val="100000"/>
              </a:lnSpc>
            </a:pPr>
            <a:endParaRPr lang="en-US" sz="1400" dirty="0"/>
          </a:p>
        </p:txBody>
      </p:sp>
      <p:sp>
        <p:nvSpPr>
          <p:cNvPr id="34" name="Text 32"/>
          <p:cNvSpPr/>
          <p:nvPr/>
        </p:nvSpPr>
        <p:spPr>
          <a:xfrm>
            <a:off x="5549900" y="1793240"/>
            <a:ext cx="381000" cy="381000"/>
          </a:xfrm>
          <a:prstGeom prst="rect">
            <a:avLst/>
          </a:prstGeom>
          <a:noFill/>
          <a:ln/>
        </p:spPr>
        <p:txBody>
          <a:bodyPr wrap="square" lIns="45720" tIns="91440" rIns="91440" bIns="45720" rtlCol="0" anchor="ctr"/>
          <a:lstStyle/>
          <a:p>
            <a:pPr>
              <a:lnSpc>
                <a:spcPct val="100000"/>
              </a:lnSpc>
            </a:pPr>
            <a:endParaRPr lang="en-US" sz="1400" dirty="0"/>
          </a:p>
        </p:txBody>
      </p:sp>
      <p:sp>
        <p:nvSpPr>
          <p:cNvPr id="35" name="Shape 33"/>
          <p:cNvSpPr/>
          <p:nvPr/>
        </p:nvSpPr>
        <p:spPr>
          <a:xfrm>
            <a:off x="5565140" y="1876962"/>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a:ln/>
        </p:spPr>
        <p:txBody>
          <a:bodyPr/>
          <a:lstStyle/>
          <a:p>
            <a:endParaRPr lang="es-ES" sz="1600"/>
          </a:p>
        </p:txBody>
      </p:sp>
      <p:sp>
        <p:nvSpPr>
          <p:cNvPr id="36" name="Text 34"/>
          <p:cNvSpPr/>
          <p:nvPr/>
        </p:nvSpPr>
        <p:spPr>
          <a:xfrm>
            <a:off x="5490845" y="2090728"/>
            <a:ext cx="381000" cy="381000"/>
          </a:xfrm>
          <a:prstGeom prst="rect">
            <a:avLst/>
          </a:prstGeom>
          <a:noFill/>
          <a:ln/>
        </p:spPr>
        <p:txBody>
          <a:bodyPr wrap="square" lIns="45720" tIns="91440" rIns="91440" bIns="45720" rtlCol="0" anchor="ctr"/>
          <a:lstStyle/>
          <a:p>
            <a:pPr>
              <a:lnSpc>
                <a:spcPct val="100000"/>
              </a:lnSpc>
            </a:pPr>
            <a:endParaRPr lang="en-US" sz="1400" dirty="0"/>
          </a:p>
        </p:txBody>
      </p:sp>
      <p:sp>
        <p:nvSpPr>
          <p:cNvPr id="37" name="Shape 35"/>
          <p:cNvSpPr/>
          <p:nvPr/>
        </p:nvSpPr>
        <p:spPr>
          <a:xfrm>
            <a:off x="5573395" y="2427852"/>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a:ln/>
        </p:spPr>
        <p:txBody>
          <a:bodyPr/>
          <a:lstStyle/>
          <a:p>
            <a:endParaRPr lang="es-ES" sz="1600"/>
          </a:p>
        </p:txBody>
      </p:sp>
      <p:sp>
        <p:nvSpPr>
          <p:cNvPr id="38" name="Text 36"/>
          <p:cNvSpPr/>
          <p:nvPr/>
        </p:nvSpPr>
        <p:spPr>
          <a:xfrm>
            <a:off x="5471160" y="2810954"/>
            <a:ext cx="381000" cy="381000"/>
          </a:xfrm>
          <a:prstGeom prst="rect">
            <a:avLst/>
          </a:prstGeom>
          <a:noFill/>
          <a:ln/>
        </p:spPr>
        <p:txBody>
          <a:bodyPr wrap="square" lIns="45720" tIns="91440" rIns="91440" bIns="45720" rtlCol="0" anchor="ctr"/>
          <a:lstStyle/>
          <a:p>
            <a:pPr>
              <a:lnSpc>
                <a:spcPct val="100000"/>
              </a:lnSpc>
            </a:pPr>
            <a:endParaRPr lang="en-US" sz="1400" dirty="0"/>
          </a:p>
        </p:txBody>
      </p:sp>
      <p:sp>
        <p:nvSpPr>
          <p:cNvPr id="39" name="Shape 37"/>
          <p:cNvSpPr/>
          <p:nvPr/>
        </p:nvSpPr>
        <p:spPr>
          <a:xfrm>
            <a:off x="5545455" y="3032758"/>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a:ln/>
        </p:spPr>
        <p:txBody>
          <a:bodyPr/>
          <a:lstStyle/>
          <a:p>
            <a:endParaRPr lang="es-ES" sz="1600"/>
          </a:p>
        </p:txBody>
      </p:sp>
      <p:sp>
        <p:nvSpPr>
          <p:cNvPr id="40" name="Text 38"/>
          <p:cNvSpPr/>
          <p:nvPr/>
        </p:nvSpPr>
        <p:spPr>
          <a:xfrm>
            <a:off x="5451475" y="3545267"/>
            <a:ext cx="381000" cy="381000"/>
          </a:xfrm>
          <a:prstGeom prst="rect">
            <a:avLst/>
          </a:prstGeom>
          <a:noFill/>
          <a:ln/>
        </p:spPr>
        <p:txBody>
          <a:bodyPr wrap="square" lIns="45720" tIns="91440" rIns="91440" bIns="45720" rtlCol="0" anchor="ctr"/>
          <a:lstStyle/>
          <a:p>
            <a:pPr>
              <a:lnSpc>
                <a:spcPct val="100000"/>
              </a:lnSpc>
            </a:pPr>
            <a:endParaRPr lang="en-US" sz="1400" dirty="0"/>
          </a:p>
        </p:txBody>
      </p:sp>
      <p:pic>
        <p:nvPicPr>
          <p:cNvPr id="41" name="Image 0" descr="https://kimi-img.moonshot.cn/pub/slides/slides_tmpl/image/25-09-08-15:08:29-d2v81rdnfo2stf9dkdag.png"/>
          <p:cNvPicPr>
            <a:picLocks noChangeAspect="1"/>
          </p:cNvPicPr>
          <p:nvPr/>
        </p:nvPicPr>
        <p:blipFill>
          <a:blip r:embed="rId3"/>
          <a:srcRect t="8" b="8"/>
          <a:stretch/>
        </p:blipFill>
        <p:spPr>
          <a:xfrm>
            <a:off x="697230" y="1141095"/>
            <a:ext cx="3901440" cy="2872105"/>
          </a:xfrm>
          <a:prstGeom prst="rect">
            <a:avLst/>
          </a:prstGeom>
        </p:spPr>
      </p:pic>
      <p:sp>
        <p:nvSpPr>
          <p:cNvPr id="42" name="Text 39"/>
          <p:cNvSpPr/>
          <p:nvPr/>
        </p:nvSpPr>
        <p:spPr>
          <a:xfrm>
            <a:off x="577215" y="4257040"/>
            <a:ext cx="4064000" cy="769441"/>
          </a:xfrm>
          <a:prstGeom prst="rect">
            <a:avLst/>
          </a:prstGeom>
          <a:noFill/>
          <a:ln/>
        </p:spPr>
        <p:txBody>
          <a:bodyPr wrap="square" lIns="91440" tIns="45720" rIns="91440" bIns="45720" rtlCol="0" anchor="t">
            <a:spAutoFit/>
          </a:bodyPr>
          <a:lstStyle/>
          <a:p>
            <a:pPr>
              <a:lnSpc>
                <a:spcPct val="100000"/>
              </a:lnSpc>
            </a:pPr>
            <a:r>
              <a:rPr lang="en-US" sz="4400" dirty="0">
                <a:solidFill>
                  <a:srgbClr val="D9D9D9"/>
                </a:solidFill>
                <a:latin typeface="MiSans" pitchFamily="34" charset="0"/>
                <a:ea typeface="MiSans" pitchFamily="34" charset="-122"/>
                <a:cs typeface="MiSans" pitchFamily="34" charset="-120"/>
              </a:rPr>
              <a:t>CONTENIDOS</a:t>
            </a:r>
            <a:endParaRPr lang="en-US" sz="1200" dirty="0"/>
          </a:p>
        </p:txBody>
      </p:sp>
      <p:sp>
        <p:nvSpPr>
          <p:cNvPr id="43" name="Text 40"/>
          <p:cNvSpPr/>
          <p:nvPr/>
        </p:nvSpPr>
        <p:spPr>
          <a:xfrm>
            <a:off x="5632450" y="184150"/>
            <a:ext cx="772795" cy="507365"/>
          </a:xfrm>
          <a:prstGeom prst="rect">
            <a:avLst/>
          </a:prstGeom>
          <a:noFill/>
          <a:ln/>
        </p:spPr>
        <p:txBody>
          <a:bodyPr wrap="square" lIns="91440" tIns="45720" rIns="91440" bIns="45720" rtlCol="0" anchor="t"/>
          <a:lstStyle/>
          <a:p>
            <a:pPr algn="ctr">
              <a:lnSpc>
                <a:spcPct val="100000"/>
              </a:lnSpc>
            </a:pPr>
            <a:r>
              <a:rPr lang="en-US" sz="2800" b="1" dirty="0">
                <a:solidFill>
                  <a:srgbClr val="1E1C0D"/>
                </a:solidFill>
                <a:latin typeface="MiSans" pitchFamily="34" charset="0"/>
                <a:ea typeface="MiSans" pitchFamily="34" charset="-122"/>
                <a:cs typeface="MiSans" pitchFamily="34" charset="-120"/>
              </a:rPr>
              <a:t>01</a:t>
            </a:r>
            <a:endParaRPr lang="en-US" sz="1400" dirty="0"/>
          </a:p>
        </p:txBody>
      </p:sp>
      <p:sp>
        <p:nvSpPr>
          <p:cNvPr id="44" name="Text 41"/>
          <p:cNvSpPr/>
          <p:nvPr/>
        </p:nvSpPr>
        <p:spPr>
          <a:xfrm>
            <a:off x="6424930" y="240030"/>
            <a:ext cx="4887595" cy="400110"/>
          </a:xfrm>
          <a:prstGeom prst="rect">
            <a:avLst/>
          </a:prstGeom>
          <a:noFill/>
          <a:ln/>
        </p:spPr>
        <p:txBody>
          <a:bodyPr wrap="square" lIns="91440" tIns="45720" rIns="91440" bIns="45720" rtlCol="0" anchor="t">
            <a:spAutoFit/>
          </a:bodyPr>
          <a:lstStyle/>
          <a:p>
            <a:pPr>
              <a:lnSpc>
                <a:spcPct val="100000"/>
              </a:lnSpc>
            </a:pPr>
            <a:r>
              <a:rPr lang="en-US" sz="2000" b="1" dirty="0">
                <a:solidFill>
                  <a:srgbClr val="3E3A1C"/>
                </a:solidFill>
                <a:latin typeface="MiSans" pitchFamily="34" charset="0"/>
                <a:ea typeface="MiSans" pitchFamily="34" charset="-122"/>
                <a:cs typeface="MiSans" pitchFamily="34" charset="-120"/>
              </a:rPr>
              <a:t>Más allá del mercado</a:t>
            </a:r>
            <a:endParaRPr lang="en-US" sz="1400" dirty="0"/>
          </a:p>
        </p:txBody>
      </p:sp>
      <p:sp>
        <p:nvSpPr>
          <p:cNvPr id="45" name="Text 42"/>
          <p:cNvSpPr/>
          <p:nvPr/>
        </p:nvSpPr>
        <p:spPr>
          <a:xfrm>
            <a:off x="5655945" y="771134"/>
            <a:ext cx="772795" cy="507365"/>
          </a:xfrm>
          <a:prstGeom prst="rect">
            <a:avLst/>
          </a:prstGeom>
          <a:noFill/>
          <a:ln/>
        </p:spPr>
        <p:txBody>
          <a:bodyPr wrap="square" lIns="91440" tIns="45720" rIns="91440" bIns="45720" rtlCol="0" anchor="t"/>
          <a:lstStyle/>
          <a:p>
            <a:pPr algn="ctr">
              <a:lnSpc>
                <a:spcPct val="100000"/>
              </a:lnSpc>
            </a:pPr>
            <a:r>
              <a:rPr lang="en-US" sz="2800" b="1" dirty="0">
                <a:solidFill>
                  <a:srgbClr val="1E1C0D"/>
                </a:solidFill>
                <a:latin typeface="MiSans" pitchFamily="34" charset="0"/>
                <a:ea typeface="MiSans" pitchFamily="34" charset="-122"/>
                <a:cs typeface="MiSans" pitchFamily="34" charset="-120"/>
              </a:rPr>
              <a:t>02</a:t>
            </a:r>
            <a:endParaRPr lang="en-US" sz="1400" dirty="0"/>
          </a:p>
        </p:txBody>
      </p:sp>
      <p:sp>
        <p:nvSpPr>
          <p:cNvPr id="46" name="Text 43"/>
          <p:cNvSpPr/>
          <p:nvPr/>
        </p:nvSpPr>
        <p:spPr>
          <a:xfrm>
            <a:off x="6448425" y="827014"/>
            <a:ext cx="4887595" cy="400110"/>
          </a:xfrm>
          <a:prstGeom prst="rect">
            <a:avLst/>
          </a:prstGeom>
          <a:noFill/>
          <a:ln/>
        </p:spPr>
        <p:txBody>
          <a:bodyPr wrap="square" lIns="91440" tIns="45720" rIns="91440" bIns="45720" rtlCol="0" anchor="t">
            <a:spAutoFit/>
          </a:bodyPr>
          <a:lstStyle/>
          <a:p>
            <a:pPr>
              <a:lnSpc>
                <a:spcPct val="100000"/>
              </a:lnSpc>
            </a:pPr>
            <a:r>
              <a:rPr lang="en-US" sz="2000" b="1" dirty="0">
                <a:solidFill>
                  <a:srgbClr val="3E3A1C"/>
                </a:solidFill>
                <a:latin typeface="MiSans" pitchFamily="34" charset="0"/>
                <a:ea typeface="MiSans" pitchFamily="34" charset="-122"/>
                <a:cs typeface="MiSans" pitchFamily="34" charset="-120"/>
              </a:rPr>
              <a:t>Salario mínimo</a:t>
            </a:r>
            <a:endParaRPr lang="en-US" sz="1400" dirty="0"/>
          </a:p>
        </p:txBody>
      </p:sp>
      <p:sp>
        <p:nvSpPr>
          <p:cNvPr id="49" name="Text 46"/>
          <p:cNvSpPr/>
          <p:nvPr/>
        </p:nvSpPr>
        <p:spPr>
          <a:xfrm>
            <a:off x="5647690" y="1965862"/>
            <a:ext cx="772795" cy="507365"/>
          </a:xfrm>
          <a:prstGeom prst="rect">
            <a:avLst/>
          </a:prstGeom>
          <a:noFill/>
          <a:ln/>
        </p:spPr>
        <p:txBody>
          <a:bodyPr wrap="square" lIns="91440" tIns="45720" rIns="91440" bIns="45720" rtlCol="0" anchor="t"/>
          <a:lstStyle/>
          <a:p>
            <a:pPr algn="ctr">
              <a:lnSpc>
                <a:spcPct val="100000"/>
              </a:lnSpc>
            </a:pPr>
            <a:r>
              <a:rPr lang="en-US" sz="2800" b="1" dirty="0">
                <a:solidFill>
                  <a:srgbClr val="1E1C0D"/>
                </a:solidFill>
                <a:latin typeface="MiSans" pitchFamily="34" charset="0"/>
                <a:ea typeface="MiSans" pitchFamily="34" charset="-122"/>
                <a:cs typeface="MiSans" pitchFamily="34" charset="-120"/>
              </a:rPr>
              <a:t>04</a:t>
            </a:r>
            <a:endParaRPr lang="en-US" sz="1400" dirty="0"/>
          </a:p>
        </p:txBody>
      </p:sp>
      <p:sp>
        <p:nvSpPr>
          <p:cNvPr id="50" name="Text 47"/>
          <p:cNvSpPr/>
          <p:nvPr/>
        </p:nvSpPr>
        <p:spPr>
          <a:xfrm>
            <a:off x="6440170" y="2021742"/>
            <a:ext cx="4887595" cy="400110"/>
          </a:xfrm>
          <a:prstGeom prst="rect">
            <a:avLst/>
          </a:prstGeom>
          <a:noFill/>
          <a:ln/>
        </p:spPr>
        <p:txBody>
          <a:bodyPr wrap="square" lIns="91440" tIns="45720" rIns="91440" bIns="45720" rtlCol="0" anchor="t">
            <a:spAutoFit/>
          </a:bodyPr>
          <a:lstStyle/>
          <a:p>
            <a:pPr>
              <a:lnSpc>
                <a:spcPct val="100000"/>
              </a:lnSpc>
            </a:pPr>
            <a:r>
              <a:rPr lang="en-US" sz="2000" b="1" dirty="0">
                <a:solidFill>
                  <a:srgbClr val="3E3A1C"/>
                </a:solidFill>
                <a:latin typeface="MiSans" pitchFamily="34" charset="0"/>
                <a:ea typeface="MiSans" pitchFamily="34" charset="-122"/>
                <a:cs typeface="MiSans" pitchFamily="34" charset="-120"/>
              </a:rPr>
              <a:t>Brecha de género</a:t>
            </a:r>
            <a:endParaRPr lang="en-US" sz="1400" dirty="0"/>
          </a:p>
        </p:txBody>
      </p:sp>
      <p:sp>
        <p:nvSpPr>
          <p:cNvPr id="51" name="Text 48"/>
          <p:cNvSpPr/>
          <p:nvPr/>
        </p:nvSpPr>
        <p:spPr>
          <a:xfrm>
            <a:off x="5655945" y="2516752"/>
            <a:ext cx="772795" cy="507365"/>
          </a:xfrm>
          <a:prstGeom prst="rect">
            <a:avLst/>
          </a:prstGeom>
          <a:noFill/>
          <a:ln/>
        </p:spPr>
        <p:txBody>
          <a:bodyPr wrap="square" lIns="91440" tIns="45720" rIns="91440" bIns="45720" rtlCol="0" anchor="t"/>
          <a:lstStyle/>
          <a:p>
            <a:pPr algn="ctr">
              <a:lnSpc>
                <a:spcPct val="100000"/>
              </a:lnSpc>
            </a:pPr>
            <a:r>
              <a:rPr lang="en-US" sz="2800" b="1" dirty="0">
                <a:solidFill>
                  <a:srgbClr val="1E1C0D"/>
                </a:solidFill>
                <a:latin typeface="MiSans" pitchFamily="34" charset="0"/>
                <a:ea typeface="MiSans" pitchFamily="34" charset="-122"/>
                <a:cs typeface="MiSans" pitchFamily="34" charset="-120"/>
              </a:rPr>
              <a:t>05</a:t>
            </a:r>
            <a:endParaRPr lang="en-US" sz="1400" dirty="0"/>
          </a:p>
        </p:txBody>
      </p:sp>
      <p:sp>
        <p:nvSpPr>
          <p:cNvPr id="52" name="Text 49"/>
          <p:cNvSpPr/>
          <p:nvPr/>
        </p:nvSpPr>
        <p:spPr>
          <a:xfrm>
            <a:off x="6448425" y="2572632"/>
            <a:ext cx="4887595" cy="400110"/>
          </a:xfrm>
          <a:prstGeom prst="rect">
            <a:avLst/>
          </a:prstGeom>
          <a:noFill/>
          <a:ln/>
        </p:spPr>
        <p:txBody>
          <a:bodyPr wrap="square" lIns="91440" tIns="45720" rIns="91440" bIns="45720" rtlCol="0" anchor="t">
            <a:spAutoFit/>
          </a:bodyPr>
          <a:lstStyle/>
          <a:p>
            <a:pPr>
              <a:lnSpc>
                <a:spcPct val="100000"/>
              </a:lnSpc>
            </a:pPr>
            <a:r>
              <a:rPr lang="en-US" sz="2000" b="1" dirty="0">
                <a:solidFill>
                  <a:srgbClr val="3E3A1C"/>
                </a:solidFill>
                <a:latin typeface="MiSans" pitchFamily="34" charset="0"/>
                <a:ea typeface="MiSans" pitchFamily="34" charset="-122"/>
                <a:cs typeface="MiSans" pitchFamily="34" charset="-120"/>
              </a:rPr>
              <a:t>Empleo vs. salarios</a:t>
            </a:r>
            <a:endParaRPr lang="en-US" sz="1400" dirty="0"/>
          </a:p>
        </p:txBody>
      </p:sp>
      <p:sp>
        <p:nvSpPr>
          <p:cNvPr id="53" name="Text 50"/>
          <p:cNvSpPr/>
          <p:nvPr/>
        </p:nvSpPr>
        <p:spPr>
          <a:xfrm>
            <a:off x="5628005" y="3121658"/>
            <a:ext cx="772795" cy="507365"/>
          </a:xfrm>
          <a:prstGeom prst="rect">
            <a:avLst/>
          </a:prstGeom>
          <a:noFill/>
          <a:ln/>
        </p:spPr>
        <p:txBody>
          <a:bodyPr wrap="square" lIns="91440" tIns="45720" rIns="91440" bIns="45720" rtlCol="0" anchor="t"/>
          <a:lstStyle/>
          <a:p>
            <a:pPr algn="ctr">
              <a:lnSpc>
                <a:spcPct val="100000"/>
              </a:lnSpc>
            </a:pPr>
            <a:r>
              <a:rPr lang="en-US" sz="2800" b="1" dirty="0">
                <a:solidFill>
                  <a:srgbClr val="1E1C0D"/>
                </a:solidFill>
                <a:latin typeface="MiSans" pitchFamily="34" charset="0"/>
                <a:ea typeface="MiSans" pitchFamily="34" charset="-122"/>
                <a:cs typeface="MiSans" pitchFamily="34" charset="-120"/>
              </a:rPr>
              <a:t>06</a:t>
            </a:r>
            <a:endParaRPr lang="en-US" sz="1400" dirty="0"/>
          </a:p>
        </p:txBody>
      </p:sp>
      <p:sp>
        <p:nvSpPr>
          <p:cNvPr id="54" name="Text 51"/>
          <p:cNvSpPr/>
          <p:nvPr/>
        </p:nvSpPr>
        <p:spPr>
          <a:xfrm>
            <a:off x="6420485" y="3177538"/>
            <a:ext cx="4887595" cy="400110"/>
          </a:xfrm>
          <a:prstGeom prst="rect">
            <a:avLst/>
          </a:prstGeom>
          <a:noFill/>
          <a:ln/>
        </p:spPr>
        <p:txBody>
          <a:bodyPr wrap="square" lIns="91440" tIns="45720" rIns="91440" bIns="45720" rtlCol="0" anchor="t">
            <a:spAutoFit/>
          </a:bodyPr>
          <a:lstStyle/>
          <a:p>
            <a:pPr>
              <a:lnSpc>
                <a:spcPct val="100000"/>
              </a:lnSpc>
            </a:pPr>
            <a:r>
              <a:rPr lang="en-US" sz="2000" b="1" dirty="0">
                <a:solidFill>
                  <a:srgbClr val="3E3A1C"/>
                </a:solidFill>
                <a:latin typeface="MiSans" pitchFamily="34" charset="0"/>
                <a:ea typeface="MiSans" pitchFamily="34" charset="-122"/>
                <a:cs typeface="MiSans" pitchFamily="34" charset="-120"/>
              </a:rPr>
              <a:t>Retos futuros</a:t>
            </a:r>
            <a:endParaRPr lang="en-US" sz="1400" dirty="0"/>
          </a:p>
        </p:txBody>
      </p:sp>
      <p:sp>
        <p:nvSpPr>
          <p:cNvPr id="59" name="Shape 37">
            <a:extLst>
              <a:ext uri="{FF2B5EF4-FFF2-40B4-BE49-F238E27FC236}">
                <a16:creationId xmlns:a16="http://schemas.microsoft.com/office/drawing/2014/main" id="{7AB9E5F3-8CA5-F218-052C-A1503FA2BF55}"/>
              </a:ext>
            </a:extLst>
          </p:cNvPr>
          <p:cNvSpPr/>
          <p:nvPr/>
        </p:nvSpPr>
        <p:spPr>
          <a:xfrm>
            <a:off x="5565140" y="3717923"/>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a:ln/>
        </p:spPr>
        <p:txBody>
          <a:bodyPr/>
          <a:lstStyle/>
          <a:p>
            <a:endParaRPr lang="es-ES" sz="1600"/>
          </a:p>
        </p:txBody>
      </p:sp>
      <p:sp>
        <p:nvSpPr>
          <p:cNvPr id="60" name="Text 38">
            <a:extLst>
              <a:ext uri="{FF2B5EF4-FFF2-40B4-BE49-F238E27FC236}">
                <a16:creationId xmlns:a16="http://schemas.microsoft.com/office/drawing/2014/main" id="{0E0FA463-852B-D8DF-18BA-3E07722F9B92}"/>
              </a:ext>
            </a:extLst>
          </p:cNvPr>
          <p:cNvSpPr/>
          <p:nvPr/>
        </p:nvSpPr>
        <p:spPr>
          <a:xfrm>
            <a:off x="5545455" y="3635023"/>
            <a:ext cx="381000" cy="381000"/>
          </a:xfrm>
          <a:prstGeom prst="rect">
            <a:avLst/>
          </a:prstGeom>
          <a:noFill/>
          <a:ln/>
        </p:spPr>
        <p:txBody>
          <a:bodyPr wrap="square" lIns="45720" tIns="91440" rIns="91440" bIns="45720" rtlCol="0" anchor="ctr"/>
          <a:lstStyle/>
          <a:p>
            <a:pPr>
              <a:lnSpc>
                <a:spcPct val="100000"/>
              </a:lnSpc>
            </a:pPr>
            <a:endParaRPr lang="en-US" sz="1400" dirty="0"/>
          </a:p>
        </p:txBody>
      </p:sp>
      <p:sp>
        <p:nvSpPr>
          <p:cNvPr id="61" name="Text 50">
            <a:extLst>
              <a:ext uri="{FF2B5EF4-FFF2-40B4-BE49-F238E27FC236}">
                <a16:creationId xmlns:a16="http://schemas.microsoft.com/office/drawing/2014/main" id="{7FDC65F8-595F-FC5C-1820-231A83B3EEB5}"/>
              </a:ext>
            </a:extLst>
          </p:cNvPr>
          <p:cNvSpPr/>
          <p:nvPr/>
        </p:nvSpPr>
        <p:spPr>
          <a:xfrm>
            <a:off x="5628005" y="3723923"/>
            <a:ext cx="772795" cy="507365"/>
          </a:xfrm>
          <a:prstGeom prst="rect">
            <a:avLst/>
          </a:prstGeom>
          <a:noFill/>
          <a:ln/>
        </p:spPr>
        <p:txBody>
          <a:bodyPr wrap="square" lIns="91440" tIns="45720" rIns="91440" bIns="45720" rtlCol="0" anchor="t"/>
          <a:lstStyle/>
          <a:p>
            <a:pPr algn="ctr">
              <a:lnSpc>
                <a:spcPct val="100000"/>
              </a:lnSpc>
            </a:pPr>
            <a:r>
              <a:rPr lang="en-US" sz="2800" b="1" dirty="0">
                <a:solidFill>
                  <a:srgbClr val="1E1C0D"/>
                </a:solidFill>
                <a:latin typeface="MiSans" pitchFamily="34" charset="0"/>
                <a:ea typeface="MiSans" pitchFamily="34" charset="-122"/>
                <a:cs typeface="MiSans" pitchFamily="34" charset="-120"/>
              </a:rPr>
              <a:t>07</a:t>
            </a:r>
            <a:endParaRPr lang="en-US" sz="1400" dirty="0"/>
          </a:p>
        </p:txBody>
      </p:sp>
      <p:sp>
        <p:nvSpPr>
          <p:cNvPr id="62" name="Text 51">
            <a:extLst>
              <a:ext uri="{FF2B5EF4-FFF2-40B4-BE49-F238E27FC236}">
                <a16:creationId xmlns:a16="http://schemas.microsoft.com/office/drawing/2014/main" id="{40C57102-61AB-2510-49C1-4D610DDD7CCE}"/>
              </a:ext>
            </a:extLst>
          </p:cNvPr>
          <p:cNvSpPr/>
          <p:nvPr/>
        </p:nvSpPr>
        <p:spPr>
          <a:xfrm>
            <a:off x="6420485" y="3779803"/>
            <a:ext cx="4887595" cy="400110"/>
          </a:xfrm>
          <a:prstGeom prst="rect">
            <a:avLst/>
          </a:prstGeom>
          <a:noFill/>
          <a:ln/>
        </p:spPr>
        <p:txBody>
          <a:bodyPr wrap="square" lIns="91440" tIns="45720" rIns="91440" bIns="45720" rtlCol="0" anchor="t">
            <a:spAutoFit/>
          </a:bodyPr>
          <a:lstStyle/>
          <a:p>
            <a:pPr>
              <a:lnSpc>
                <a:spcPct val="100000"/>
              </a:lnSpc>
            </a:pPr>
            <a:r>
              <a:rPr lang="en-US" sz="2000" b="1" dirty="0" err="1">
                <a:solidFill>
                  <a:srgbClr val="3E3A1C"/>
                </a:solidFill>
                <a:latin typeface="MiSans" pitchFamily="34" charset="0"/>
                <a:ea typeface="MiSans" pitchFamily="34" charset="-122"/>
                <a:cs typeface="MiSans" pitchFamily="34" charset="-120"/>
              </a:rPr>
              <a:t>Reformas</a:t>
            </a:r>
            <a:r>
              <a:rPr lang="en-US" sz="2000" b="1" dirty="0">
                <a:solidFill>
                  <a:srgbClr val="3E3A1C"/>
                </a:solidFill>
                <a:latin typeface="MiSans" pitchFamily="34" charset="0"/>
                <a:ea typeface="MiSans" pitchFamily="34" charset="-122"/>
                <a:cs typeface="MiSans" pitchFamily="34" charset="-120"/>
              </a:rPr>
              <a:t> </a:t>
            </a:r>
            <a:r>
              <a:rPr lang="en-US" sz="2000" b="1" dirty="0" err="1">
                <a:solidFill>
                  <a:srgbClr val="3E3A1C"/>
                </a:solidFill>
                <a:latin typeface="MiSans" pitchFamily="34" charset="0"/>
                <a:ea typeface="MiSans" pitchFamily="34" charset="-122"/>
                <a:cs typeface="MiSans" pitchFamily="34" charset="-120"/>
              </a:rPr>
              <a:t>pendientes</a:t>
            </a:r>
            <a:endParaRPr lang="en-US" sz="2000" b="1" dirty="0">
              <a:solidFill>
                <a:srgbClr val="3E3A1C"/>
              </a:solidFill>
              <a:latin typeface="MiSans" pitchFamily="34" charset="0"/>
              <a:ea typeface="MiSans" pitchFamily="34" charset="-122"/>
              <a:cs typeface="MiSans" pitchFamily="34" charset="-120"/>
            </a:endParaRPr>
          </a:p>
        </p:txBody>
      </p:sp>
      <p:sp>
        <p:nvSpPr>
          <p:cNvPr id="63" name="Shape 37">
            <a:extLst>
              <a:ext uri="{FF2B5EF4-FFF2-40B4-BE49-F238E27FC236}">
                <a16:creationId xmlns:a16="http://schemas.microsoft.com/office/drawing/2014/main" id="{FC56BE50-1AC2-05AB-6D78-192A83D994D9}"/>
              </a:ext>
            </a:extLst>
          </p:cNvPr>
          <p:cNvSpPr/>
          <p:nvPr/>
        </p:nvSpPr>
        <p:spPr>
          <a:xfrm>
            <a:off x="5565140" y="4224519"/>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a:ln/>
        </p:spPr>
        <p:txBody>
          <a:bodyPr/>
          <a:lstStyle/>
          <a:p>
            <a:endParaRPr lang="es-ES" sz="1600"/>
          </a:p>
        </p:txBody>
      </p:sp>
      <p:sp>
        <p:nvSpPr>
          <p:cNvPr id="64" name="Text 38">
            <a:extLst>
              <a:ext uri="{FF2B5EF4-FFF2-40B4-BE49-F238E27FC236}">
                <a16:creationId xmlns:a16="http://schemas.microsoft.com/office/drawing/2014/main" id="{7DB6997D-1CE1-7E3B-5EA0-634F66D07486}"/>
              </a:ext>
            </a:extLst>
          </p:cNvPr>
          <p:cNvSpPr/>
          <p:nvPr/>
        </p:nvSpPr>
        <p:spPr>
          <a:xfrm>
            <a:off x="5549900" y="5736434"/>
            <a:ext cx="381000" cy="381000"/>
          </a:xfrm>
          <a:prstGeom prst="rect">
            <a:avLst/>
          </a:prstGeom>
          <a:noFill/>
          <a:ln/>
        </p:spPr>
        <p:txBody>
          <a:bodyPr wrap="square" lIns="45720" tIns="91440" rIns="91440" bIns="45720" rtlCol="0" anchor="ctr"/>
          <a:lstStyle/>
          <a:p>
            <a:pPr>
              <a:lnSpc>
                <a:spcPct val="100000"/>
              </a:lnSpc>
            </a:pPr>
            <a:endParaRPr lang="en-US" sz="1400" dirty="0"/>
          </a:p>
        </p:txBody>
      </p:sp>
      <p:sp>
        <p:nvSpPr>
          <p:cNvPr id="65" name="Text 50">
            <a:extLst>
              <a:ext uri="{FF2B5EF4-FFF2-40B4-BE49-F238E27FC236}">
                <a16:creationId xmlns:a16="http://schemas.microsoft.com/office/drawing/2014/main" id="{6840F085-E8A8-7B9C-A856-0654611FB78C}"/>
              </a:ext>
            </a:extLst>
          </p:cNvPr>
          <p:cNvSpPr/>
          <p:nvPr/>
        </p:nvSpPr>
        <p:spPr>
          <a:xfrm>
            <a:off x="5647690" y="4313419"/>
            <a:ext cx="772795" cy="507365"/>
          </a:xfrm>
          <a:prstGeom prst="rect">
            <a:avLst/>
          </a:prstGeom>
          <a:noFill/>
          <a:ln/>
        </p:spPr>
        <p:txBody>
          <a:bodyPr wrap="square" lIns="91440" tIns="45720" rIns="91440" bIns="45720" rtlCol="0" anchor="t"/>
          <a:lstStyle/>
          <a:p>
            <a:pPr algn="ctr">
              <a:lnSpc>
                <a:spcPct val="100000"/>
              </a:lnSpc>
            </a:pPr>
            <a:r>
              <a:rPr lang="en-US" sz="2800" b="1" dirty="0">
                <a:solidFill>
                  <a:srgbClr val="1E1C0D"/>
                </a:solidFill>
                <a:latin typeface="MiSans" pitchFamily="34" charset="0"/>
                <a:ea typeface="MiSans" pitchFamily="34" charset="-122"/>
                <a:cs typeface="MiSans" pitchFamily="34" charset="-120"/>
              </a:rPr>
              <a:t>08</a:t>
            </a:r>
            <a:endParaRPr lang="en-US" sz="1400" dirty="0"/>
          </a:p>
        </p:txBody>
      </p:sp>
      <p:sp>
        <p:nvSpPr>
          <p:cNvPr id="66" name="Text 51">
            <a:extLst>
              <a:ext uri="{FF2B5EF4-FFF2-40B4-BE49-F238E27FC236}">
                <a16:creationId xmlns:a16="http://schemas.microsoft.com/office/drawing/2014/main" id="{34B41E14-E3F6-C5D8-3F6E-2DD93A4F1A11}"/>
              </a:ext>
            </a:extLst>
          </p:cNvPr>
          <p:cNvSpPr/>
          <p:nvPr/>
        </p:nvSpPr>
        <p:spPr>
          <a:xfrm>
            <a:off x="6440170" y="4369299"/>
            <a:ext cx="4887595" cy="615553"/>
          </a:xfrm>
          <a:prstGeom prst="rect">
            <a:avLst/>
          </a:prstGeom>
          <a:noFill/>
          <a:ln/>
        </p:spPr>
        <p:txBody>
          <a:bodyPr wrap="square" lIns="91440" tIns="45720" rIns="91440" bIns="45720" rtlCol="0" anchor="t">
            <a:spAutoFit/>
          </a:bodyPr>
          <a:lstStyle/>
          <a:p>
            <a:r>
              <a:rPr lang="en-US" sz="2000" b="1" dirty="0" err="1">
                <a:solidFill>
                  <a:srgbClr val="3E3A1C"/>
                </a:solidFill>
                <a:latin typeface="MiSans" panose="020B0604020202020204" charset="-122"/>
                <a:ea typeface="MiSans" panose="020B0604020202020204" charset="-122"/>
                <a:cs typeface="MiSans" panose="020B0604020202020204" charset="-122"/>
              </a:rPr>
              <a:t>Lecciones</a:t>
            </a:r>
            <a:r>
              <a:rPr lang="en-US" sz="2000" b="1" dirty="0">
                <a:solidFill>
                  <a:srgbClr val="3E3A1C"/>
                </a:solidFill>
                <a:latin typeface="MiSans" panose="020B0604020202020204" charset="-122"/>
                <a:ea typeface="MiSans" panose="020B0604020202020204" charset="-122"/>
                <a:cs typeface="MiSans" panose="020B0604020202020204" charset="-122"/>
              </a:rPr>
              <a:t> clave</a:t>
            </a:r>
            <a:endParaRPr lang="en-US" sz="2000" dirty="0">
              <a:latin typeface="MiSans" panose="020B0604020202020204" charset="-122"/>
              <a:ea typeface="MiSans" panose="020B0604020202020204" charset="-122"/>
              <a:cs typeface="MiSans" panose="020B0604020202020204" charset="-122"/>
            </a:endParaRPr>
          </a:p>
          <a:p>
            <a:pPr>
              <a:lnSpc>
                <a:spcPct val="100000"/>
              </a:lnSpc>
            </a:pPr>
            <a:endParaRPr lang="en-US" sz="1400" dirty="0"/>
          </a:p>
        </p:txBody>
      </p:sp>
      <p:sp>
        <p:nvSpPr>
          <p:cNvPr id="67" name="Shape 31">
            <a:extLst>
              <a:ext uri="{FF2B5EF4-FFF2-40B4-BE49-F238E27FC236}">
                <a16:creationId xmlns:a16="http://schemas.microsoft.com/office/drawing/2014/main" id="{4298A929-48E5-930D-1219-A41A167CA0A1}"/>
              </a:ext>
            </a:extLst>
          </p:cNvPr>
          <p:cNvSpPr/>
          <p:nvPr/>
        </p:nvSpPr>
        <p:spPr>
          <a:xfrm>
            <a:off x="5553710" y="1269471"/>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a:ln/>
        </p:spPr>
        <p:txBody>
          <a:bodyPr/>
          <a:lstStyle/>
          <a:p>
            <a:endParaRPr lang="es-ES" sz="1600"/>
          </a:p>
        </p:txBody>
      </p:sp>
      <p:sp>
        <p:nvSpPr>
          <p:cNvPr id="68" name="Text 32">
            <a:extLst>
              <a:ext uri="{FF2B5EF4-FFF2-40B4-BE49-F238E27FC236}">
                <a16:creationId xmlns:a16="http://schemas.microsoft.com/office/drawing/2014/main" id="{287A521A-D481-F5F8-0BFB-4CD0325DAFF5}"/>
              </a:ext>
            </a:extLst>
          </p:cNvPr>
          <p:cNvSpPr/>
          <p:nvPr/>
        </p:nvSpPr>
        <p:spPr>
          <a:xfrm>
            <a:off x="5510530" y="1390413"/>
            <a:ext cx="381000" cy="381000"/>
          </a:xfrm>
          <a:prstGeom prst="rect">
            <a:avLst/>
          </a:prstGeom>
          <a:noFill/>
          <a:ln/>
        </p:spPr>
        <p:txBody>
          <a:bodyPr wrap="square" lIns="45720" tIns="91440" rIns="91440" bIns="45720" rtlCol="0" anchor="ctr"/>
          <a:lstStyle/>
          <a:p>
            <a:pPr>
              <a:lnSpc>
                <a:spcPct val="100000"/>
              </a:lnSpc>
            </a:pPr>
            <a:endParaRPr lang="en-US" sz="1400" dirty="0"/>
          </a:p>
        </p:txBody>
      </p:sp>
      <p:sp>
        <p:nvSpPr>
          <p:cNvPr id="69" name="Text 44">
            <a:extLst>
              <a:ext uri="{FF2B5EF4-FFF2-40B4-BE49-F238E27FC236}">
                <a16:creationId xmlns:a16="http://schemas.microsoft.com/office/drawing/2014/main" id="{0E84F971-554A-0D42-8627-6D6C038B4D56}"/>
              </a:ext>
            </a:extLst>
          </p:cNvPr>
          <p:cNvSpPr/>
          <p:nvPr/>
        </p:nvSpPr>
        <p:spPr>
          <a:xfrm>
            <a:off x="5636260" y="1358371"/>
            <a:ext cx="772795" cy="507365"/>
          </a:xfrm>
          <a:prstGeom prst="rect">
            <a:avLst/>
          </a:prstGeom>
          <a:noFill/>
          <a:ln/>
        </p:spPr>
        <p:txBody>
          <a:bodyPr wrap="square" lIns="91440" tIns="45720" rIns="91440" bIns="45720" rtlCol="0" anchor="t"/>
          <a:lstStyle/>
          <a:p>
            <a:pPr algn="ctr">
              <a:lnSpc>
                <a:spcPct val="100000"/>
              </a:lnSpc>
            </a:pPr>
            <a:r>
              <a:rPr lang="en-US" sz="2800" b="1" dirty="0">
                <a:solidFill>
                  <a:srgbClr val="1E1C0D"/>
                </a:solidFill>
                <a:latin typeface="MiSans" pitchFamily="34" charset="0"/>
                <a:ea typeface="MiSans" pitchFamily="34" charset="-122"/>
                <a:cs typeface="MiSans" pitchFamily="34" charset="-120"/>
              </a:rPr>
              <a:t>03</a:t>
            </a:r>
            <a:endParaRPr lang="en-US" sz="1400" dirty="0"/>
          </a:p>
        </p:txBody>
      </p:sp>
      <p:sp>
        <p:nvSpPr>
          <p:cNvPr id="70" name="Text 45">
            <a:extLst>
              <a:ext uri="{FF2B5EF4-FFF2-40B4-BE49-F238E27FC236}">
                <a16:creationId xmlns:a16="http://schemas.microsoft.com/office/drawing/2014/main" id="{60D0A1F7-0CBB-B173-A89E-D9DBA721B163}"/>
              </a:ext>
            </a:extLst>
          </p:cNvPr>
          <p:cNvSpPr/>
          <p:nvPr/>
        </p:nvSpPr>
        <p:spPr>
          <a:xfrm>
            <a:off x="6428740" y="1414251"/>
            <a:ext cx="4887595" cy="400110"/>
          </a:xfrm>
          <a:prstGeom prst="rect">
            <a:avLst/>
          </a:prstGeom>
          <a:noFill/>
          <a:ln/>
        </p:spPr>
        <p:txBody>
          <a:bodyPr wrap="square" lIns="91440" tIns="45720" rIns="91440" bIns="45720" rtlCol="0" anchor="t">
            <a:spAutoFit/>
          </a:bodyPr>
          <a:lstStyle/>
          <a:p>
            <a:pPr>
              <a:lnSpc>
                <a:spcPct val="100000"/>
              </a:lnSpc>
            </a:pPr>
            <a:r>
              <a:rPr lang="en-US" sz="2000" b="1" dirty="0">
                <a:solidFill>
                  <a:srgbClr val="3E3A1C"/>
                </a:solidFill>
                <a:latin typeface="MiSans" pitchFamily="34" charset="0"/>
                <a:ea typeface="MiSans" pitchFamily="34" charset="-122"/>
                <a:cs typeface="MiSans" pitchFamily="34" charset="-120"/>
              </a:rPr>
              <a:t>Moderación salarial</a:t>
            </a:r>
            <a:endParaRPr lang="en-US" sz="1400" dirty="0"/>
          </a:p>
        </p:txBody>
      </p:sp>
      <p:sp>
        <p:nvSpPr>
          <p:cNvPr id="71" name="Shape 37">
            <a:extLst>
              <a:ext uri="{FF2B5EF4-FFF2-40B4-BE49-F238E27FC236}">
                <a16:creationId xmlns:a16="http://schemas.microsoft.com/office/drawing/2014/main" id="{62415362-7FCA-A052-71B5-C1ACDAB0195A}"/>
              </a:ext>
            </a:extLst>
          </p:cNvPr>
          <p:cNvSpPr/>
          <p:nvPr/>
        </p:nvSpPr>
        <p:spPr>
          <a:xfrm>
            <a:off x="5553710" y="4684685"/>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a:ln/>
        </p:spPr>
        <p:txBody>
          <a:bodyPr/>
          <a:lstStyle/>
          <a:p>
            <a:endParaRPr lang="es-ES" sz="1600"/>
          </a:p>
        </p:txBody>
      </p:sp>
      <p:sp>
        <p:nvSpPr>
          <p:cNvPr id="72" name="Text 50">
            <a:extLst>
              <a:ext uri="{FF2B5EF4-FFF2-40B4-BE49-F238E27FC236}">
                <a16:creationId xmlns:a16="http://schemas.microsoft.com/office/drawing/2014/main" id="{F73FFA87-24CD-FDD7-906C-F4B675290613}"/>
              </a:ext>
            </a:extLst>
          </p:cNvPr>
          <p:cNvSpPr/>
          <p:nvPr/>
        </p:nvSpPr>
        <p:spPr>
          <a:xfrm>
            <a:off x="5636260" y="4773585"/>
            <a:ext cx="772795" cy="507365"/>
          </a:xfrm>
          <a:prstGeom prst="rect">
            <a:avLst/>
          </a:prstGeom>
          <a:noFill/>
          <a:ln/>
        </p:spPr>
        <p:txBody>
          <a:bodyPr wrap="square" lIns="91440" tIns="45720" rIns="91440" bIns="45720" rtlCol="0" anchor="t"/>
          <a:lstStyle/>
          <a:p>
            <a:pPr algn="ctr">
              <a:lnSpc>
                <a:spcPct val="100000"/>
              </a:lnSpc>
            </a:pPr>
            <a:r>
              <a:rPr lang="en-US" sz="2800" b="1" dirty="0">
                <a:solidFill>
                  <a:srgbClr val="1E1C0D"/>
                </a:solidFill>
                <a:latin typeface="MiSans" pitchFamily="34" charset="0"/>
                <a:ea typeface="MiSans" pitchFamily="34" charset="-122"/>
                <a:cs typeface="MiSans" pitchFamily="34" charset="-120"/>
              </a:rPr>
              <a:t>09</a:t>
            </a:r>
            <a:endParaRPr lang="en-US" sz="1400" dirty="0"/>
          </a:p>
        </p:txBody>
      </p:sp>
      <p:sp>
        <p:nvSpPr>
          <p:cNvPr id="73" name="Text 51">
            <a:extLst>
              <a:ext uri="{FF2B5EF4-FFF2-40B4-BE49-F238E27FC236}">
                <a16:creationId xmlns:a16="http://schemas.microsoft.com/office/drawing/2014/main" id="{2C92E2D0-8439-F072-A8F5-1277E5E73339}"/>
              </a:ext>
            </a:extLst>
          </p:cNvPr>
          <p:cNvSpPr/>
          <p:nvPr/>
        </p:nvSpPr>
        <p:spPr>
          <a:xfrm>
            <a:off x="6428740" y="4829465"/>
            <a:ext cx="4887595" cy="400110"/>
          </a:xfrm>
          <a:prstGeom prst="rect">
            <a:avLst/>
          </a:prstGeom>
          <a:noFill/>
          <a:ln/>
        </p:spPr>
        <p:txBody>
          <a:bodyPr wrap="square" lIns="91440" tIns="45720" rIns="91440" bIns="45720" rtlCol="0" anchor="t">
            <a:spAutoFit/>
          </a:bodyPr>
          <a:lstStyle/>
          <a:p>
            <a:r>
              <a:rPr lang="en-US" sz="2000" b="1" dirty="0">
                <a:solidFill>
                  <a:srgbClr val="3E3A1C"/>
                </a:solidFill>
                <a:latin typeface="MiSans" pitchFamily="34" charset="0"/>
                <a:ea typeface="MiSans" pitchFamily="34" charset="-122"/>
                <a:cs typeface="MiSans" pitchFamily="34" charset="-120"/>
              </a:rPr>
              <a:t>Cierre</a:t>
            </a:r>
            <a:endParaRPr lang="en-US" sz="14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a:ln/>
        </p:spPr>
        <p:txBody>
          <a:bodyPr/>
          <a:lstStyle/>
          <a:p>
            <a:endParaRPr lang="es-ES"/>
          </a:p>
        </p:txBody>
      </p:sp>
      <p:sp>
        <p:nvSpPr>
          <p:cNvPr id="5" name="Text 3"/>
          <p:cNvSpPr/>
          <p:nvPr/>
        </p:nvSpPr>
        <p:spPr>
          <a:xfrm>
            <a:off x="4445" y="0"/>
            <a:ext cx="12187555" cy="687578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a:ln/>
        </p:spPr>
        <p:txBody>
          <a:bodyPr/>
          <a:lstStyle/>
          <a:p>
            <a:endParaRPr lang="es-ES"/>
          </a:p>
        </p:txBody>
      </p:sp>
      <p:sp>
        <p:nvSpPr>
          <p:cNvPr id="7" name="Text 5"/>
          <p:cNvSpPr/>
          <p:nvPr/>
        </p:nvSpPr>
        <p:spPr>
          <a:xfrm>
            <a:off x="85280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9" name="Text 7"/>
          <p:cNvSpPr/>
          <p:nvPr/>
        </p:nvSpPr>
        <p:spPr>
          <a:xfrm>
            <a:off x="113665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a:ln/>
        </p:spPr>
        <p:txBody>
          <a:bodyPr/>
          <a:lstStyle/>
          <a:p>
            <a:endParaRPr lang="es-ES"/>
          </a:p>
        </p:txBody>
      </p:sp>
      <p:sp>
        <p:nvSpPr>
          <p:cNvPr id="11" name="Text 9"/>
          <p:cNvSpPr/>
          <p:nvPr/>
        </p:nvSpPr>
        <p:spPr>
          <a:xfrm>
            <a:off x="142049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3" name="Text 11"/>
          <p:cNvSpPr/>
          <p:nvPr/>
        </p:nvSpPr>
        <p:spPr>
          <a:xfrm>
            <a:off x="170434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a:ln/>
        </p:spPr>
        <p:txBody>
          <a:bodyPr/>
          <a:lstStyle/>
          <a:p>
            <a:endParaRPr lang="es-ES"/>
          </a:p>
        </p:txBody>
      </p:sp>
      <p:sp>
        <p:nvSpPr>
          <p:cNvPr id="15" name="Text 13"/>
          <p:cNvSpPr/>
          <p:nvPr/>
        </p:nvSpPr>
        <p:spPr>
          <a:xfrm>
            <a:off x="198818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7" name="Text 15"/>
          <p:cNvSpPr/>
          <p:nvPr/>
        </p:nvSpPr>
        <p:spPr>
          <a:xfrm>
            <a:off x="227203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a:ln/>
        </p:spPr>
        <p:txBody>
          <a:bodyPr/>
          <a:lstStyle/>
          <a:p>
            <a:endParaRPr lang="es-ES"/>
          </a:p>
        </p:txBody>
      </p:sp>
      <p:sp>
        <p:nvSpPr>
          <p:cNvPr id="19" name="Text 17"/>
          <p:cNvSpPr/>
          <p:nvPr/>
        </p:nvSpPr>
        <p:spPr>
          <a:xfrm>
            <a:off x="11456035" y="38163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a:ln/>
        </p:spPr>
        <p:txBody>
          <a:bodyPr/>
          <a:lstStyle/>
          <a:p>
            <a:endParaRPr lang="es-ES"/>
          </a:p>
        </p:txBody>
      </p:sp>
      <p:sp>
        <p:nvSpPr>
          <p:cNvPr id="21" name="Text 19"/>
          <p:cNvSpPr/>
          <p:nvPr/>
        </p:nvSpPr>
        <p:spPr>
          <a:xfrm>
            <a:off x="11456035" y="501650"/>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a:ln/>
        </p:spPr>
        <p:txBody>
          <a:bodyPr/>
          <a:lstStyle/>
          <a:p>
            <a:endParaRPr lang="es-ES"/>
          </a:p>
        </p:txBody>
      </p:sp>
      <p:sp>
        <p:nvSpPr>
          <p:cNvPr id="23" name="Text 21"/>
          <p:cNvSpPr/>
          <p:nvPr/>
        </p:nvSpPr>
        <p:spPr>
          <a:xfrm>
            <a:off x="11456035" y="62166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txBody>
          <a:bodyPr/>
          <a:lstStyle/>
          <a:p>
            <a:endParaRPr lang="es-ES"/>
          </a:p>
        </p:txBody>
      </p:sp>
      <p:sp>
        <p:nvSpPr>
          <p:cNvPr id="25" name="Shape 23"/>
          <p:cNvSpPr/>
          <p:nvPr/>
        </p:nvSpPr>
        <p:spPr>
          <a:xfrm>
            <a:off x="852805" y="6177280"/>
            <a:ext cx="259080" cy="259080"/>
          </a:xfrm>
          <a:prstGeom prst="ellipse">
            <a:avLst/>
          </a:prstGeom>
          <a:solidFill>
            <a:srgbClr val="FFFFFF"/>
          </a:solidFill>
          <a:ln/>
        </p:spPr>
        <p:txBody>
          <a:bodyPr/>
          <a:lstStyle/>
          <a:p>
            <a:endParaRPr lang="es-ES"/>
          </a:p>
        </p:txBody>
      </p:sp>
      <p:sp>
        <p:nvSpPr>
          <p:cNvPr id="26" name="Text 24"/>
          <p:cNvSpPr/>
          <p:nvPr/>
        </p:nvSpPr>
        <p:spPr>
          <a:xfrm>
            <a:off x="852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txBody>
          <a:bodyPr/>
          <a:lstStyle/>
          <a:p>
            <a:endParaRPr lang="es-ES"/>
          </a:p>
        </p:txBody>
      </p:sp>
      <p:sp>
        <p:nvSpPr>
          <p:cNvPr id="28" name="Text 26"/>
          <p:cNvSpPr/>
          <p:nvPr/>
        </p:nvSpPr>
        <p:spPr>
          <a:xfrm>
            <a:off x="979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Shape 27"/>
          <p:cNvSpPr/>
          <p:nvPr/>
        </p:nvSpPr>
        <p:spPr>
          <a:xfrm>
            <a:off x="541655" y="2687320"/>
            <a:ext cx="11172825" cy="2306955"/>
          </a:xfrm>
          <a:prstGeom prst="rect">
            <a:avLst/>
          </a:prstGeom>
          <a:solidFill>
            <a:srgbClr val="000000">
              <a:alpha val="0"/>
            </a:srgbClr>
          </a:solidFill>
          <a:ln/>
        </p:spPr>
        <p:txBody>
          <a:bodyPr/>
          <a:lstStyle/>
          <a:p>
            <a:endParaRPr lang="es-ES"/>
          </a:p>
        </p:txBody>
      </p:sp>
      <p:sp>
        <p:nvSpPr>
          <p:cNvPr id="30" name="Text 28"/>
          <p:cNvSpPr/>
          <p:nvPr/>
        </p:nvSpPr>
        <p:spPr>
          <a:xfrm>
            <a:off x="541655" y="2687320"/>
            <a:ext cx="11172825" cy="2306955"/>
          </a:xfrm>
          <a:prstGeom prst="rect">
            <a:avLst/>
          </a:prstGeom>
          <a:noFill/>
          <a:ln/>
        </p:spPr>
        <p:txBody>
          <a:bodyPr wrap="square" lIns="45720" tIns="91440" rIns="91440" bIns="45720" rtlCol="0" anchor="t"/>
          <a:lstStyle/>
          <a:p>
            <a:pPr algn="ctr">
              <a:lnSpc>
                <a:spcPct val="100000"/>
              </a:lnSpc>
            </a:pPr>
            <a:r>
              <a:rPr lang="en-US" sz="7200" b="1" dirty="0">
                <a:solidFill>
                  <a:srgbClr val="FFFFFF"/>
                </a:solidFill>
                <a:latin typeface="MiSans" pitchFamily="34" charset="0"/>
                <a:ea typeface="MiSans" pitchFamily="34" charset="-122"/>
                <a:cs typeface="MiSans" pitchFamily="34" charset="-120"/>
              </a:rPr>
              <a:t>Más allá del mercado</a:t>
            </a:r>
            <a:endParaRPr lang="en-US" sz="1600" dirty="0"/>
          </a:p>
        </p:txBody>
      </p:sp>
      <p:sp>
        <p:nvSpPr>
          <p:cNvPr id="31" name="Text 29"/>
          <p:cNvSpPr/>
          <p:nvPr/>
        </p:nvSpPr>
        <p:spPr>
          <a:xfrm>
            <a:off x="2515235" y="1350010"/>
            <a:ext cx="7161530" cy="1104900"/>
          </a:xfrm>
          <a:prstGeom prst="rect">
            <a:avLst/>
          </a:prstGeom>
          <a:noFill/>
          <a:ln/>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0"/>
                <a:ea typeface="MiSans" pitchFamily="34" charset="-122"/>
                <a:cs typeface="MiSans" pitchFamily="34" charset="-120"/>
              </a:rPr>
              <a:t>01</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a:lnSpc>
                <a:spcPct val="100000"/>
              </a:lnSpc>
            </a:pPr>
            <a:endParaRPr lang="en-US" sz="1600" dirty="0"/>
          </a:p>
        </p:txBody>
      </p:sp>
      <p:sp>
        <p:nvSpPr>
          <p:cNvPr id="4" name="Text 2"/>
          <p:cNvSpPr/>
          <p:nvPr/>
        </p:nvSpPr>
        <p:spPr>
          <a:xfrm>
            <a:off x="582930" y="471805"/>
            <a:ext cx="10151745" cy="487561"/>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El salario no se fija solo</a:t>
            </a:r>
            <a:endParaRPr lang="en-US" sz="1600" dirty="0"/>
          </a:p>
        </p:txBody>
      </p:sp>
      <p:sp>
        <p:nvSpPr>
          <p:cNvPr id="5" name="Shape 3"/>
          <p:cNvSpPr/>
          <p:nvPr/>
        </p:nvSpPr>
        <p:spPr>
          <a:xfrm rot="16200000" flipH="1" flipV="1">
            <a:off x="6010275" y="692785"/>
            <a:ext cx="6849110" cy="5517515"/>
          </a:xfrm>
          <a:prstGeom prst="round2DiagRect">
            <a:avLst>
              <a:gd name="adj1" fmla="val 0"/>
              <a:gd name="adj2" fmla="val 0"/>
            </a:avLst>
          </a:prstGeom>
          <a:solidFill>
            <a:srgbClr val="402E7F"/>
          </a:solidFill>
          <a:ln/>
        </p:spPr>
        <p:txBody>
          <a:bodyPr/>
          <a:lstStyle/>
          <a:p>
            <a:endParaRPr lang="es-ES"/>
          </a:p>
        </p:txBody>
      </p:sp>
      <p:sp>
        <p:nvSpPr>
          <p:cNvPr id="6" name="Text 4"/>
          <p:cNvSpPr/>
          <p:nvPr/>
        </p:nvSpPr>
        <p:spPr>
          <a:xfrm rot="16200000">
            <a:off x="6010275" y="692785"/>
            <a:ext cx="6849110" cy="5517515"/>
          </a:xfrm>
          <a:prstGeom prst="rect">
            <a:avLst/>
          </a:prstGeom>
          <a:noFill/>
          <a:ln/>
        </p:spPr>
        <p:txBody>
          <a:bodyPr wrap="square" lIns="45720" tIns="91440" rIns="91440" bIns="45720" rtlCol="0" anchor="ctr"/>
          <a:lstStyle/>
          <a:p>
            <a:pPr>
              <a:lnSpc>
                <a:spcPct val="100000"/>
              </a:lnSpc>
            </a:pPr>
            <a:endParaRPr lang="en-US" sz="1600" dirty="0"/>
          </a:p>
        </p:txBody>
      </p:sp>
      <p:sp>
        <p:nvSpPr>
          <p:cNvPr id="7" name="Shape 5"/>
          <p:cNvSpPr/>
          <p:nvPr/>
        </p:nvSpPr>
        <p:spPr>
          <a:xfrm>
            <a:off x="7224615" y="3744595"/>
            <a:ext cx="4536000" cy="0"/>
          </a:xfrm>
          <a:prstGeom prst="line">
            <a:avLst/>
          </a:prstGeom>
          <a:noFill/>
          <a:ln w="12700">
            <a:solidFill>
              <a:srgbClr val="FFFFFF"/>
            </a:solidFill>
            <a:prstDash val="dash"/>
            <a:headEnd type="none"/>
            <a:tailEnd type="none"/>
          </a:ln>
        </p:spPr>
        <p:txBody>
          <a:bodyPr/>
          <a:lstStyle/>
          <a:p>
            <a:endParaRPr lang="es-ES"/>
          </a:p>
        </p:txBody>
      </p:sp>
      <p:pic>
        <p:nvPicPr>
          <p:cNvPr id="8" name="Image 0" descr="https://kimi-img.moonshot.cn/pub/slides/slides_tmpl/image/25-09-08-15:08:36-d2v81t5nfo2stf9dkdjg.png"/>
          <p:cNvPicPr>
            <a:picLocks noChangeAspect="1"/>
          </p:cNvPicPr>
          <p:nvPr/>
        </p:nvPicPr>
        <p:blipFill>
          <a:blip r:embed="rId3"/>
          <a:srcRect t="54" b="54"/>
          <a:stretch/>
        </p:blipFill>
        <p:spPr>
          <a:xfrm>
            <a:off x="885825" y="1289050"/>
            <a:ext cx="5475605" cy="2910840"/>
          </a:xfrm>
          <a:prstGeom prst="rect">
            <a:avLst/>
          </a:prstGeom>
        </p:spPr>
      </p:pic>
      <p:sp>
        <p:nvSpPr>
          <p:cNvPr id="9" name="Text 6"/>
          <p:cNvSpPr/>
          <p:nvPr/>
        </p:nvSpPr>
        <p:spPr>
          <a:xfrm>
            <a:off x="918210" y="4307205"/>
            <a:ext cx="5264665" cy="303411"/>
          </a:xfrm>
          <a:prstGeom prst="rect">
            <a:avLst/>
          </a:prstGeom>
          <a:noFill/>
          <a:ln/>
        </p:spPr>
        <p:txBody>
          <a:bodyPr wrap="square" lIns="91440" tIns="45720" rIns="91440" bIns="4572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Complejidad de la fijación salarial</a:t>
            </a:r>
            <a:endParaRPr lang="en-US" sz="1600" dirty="0"/>
          </a:p>
        </p:txBody>
      </p:sp>
      <p:sp>
        <p:nvSpPr>
          <p:cNvPr id="10" name="Text 7"/>
          <p:cNvSpPr/>
          <p:nvPr/>
        </p:nvSpPr>
        <p:spPr>
          <a:xfrm>
            <a:off x="918210" y="4706620"/>
            <a:ext cx="5276850" cy="1755378"/>
          </a:xfrm>
          <a:prstGeom prst="rect">
            <a:avLst/>
          </a:prstGeom>
          <a:noFill/>
          <a:ln/>
        </p:spPr>
        <p:txBody>
          <a:bodyPr wrap="square" lIns="91440" tIns="45720" rIns="91440" bIns="45720" rtlCol="0" anchor="t">
            <a:spAutoFit/>
          </a:bodyPr>
          <a:lstStyle/>
          <a:p>
            <a:pPr>
              <a:lnSpc>
                <a:spcPct val="120000"/>
              </a:lnSpc>
            </a:pPr>
            <a:r>
              <a:rPr lang="en-US" sz="1600" dirty="0">
                <a:solidFill>
                  <a:srgbClr val="1E1C0D"/>
                </a:solidFill>
                <a:latin typeface="MiSans" pitchFamily="34" charset="0"/>
                <a:ea typeface="MiSans" pitchFamily="34" charset="-122"/>
                <a:cs typeface="MiSans" pitchFamily="34" charset="-120"/>
              </a:rPr>
              <a:t>La determinación de salarios es compleja y va más allá de la oferta y demanda. Factores como intervención gubernamental, sindicatos y empresas influyen en la fijación de salarios, creando un entramado institucional que afecta a todos los trabajadores.</a:t>
            </a:r>
            <a:endParaRPr lang="en-US" sz="1600" dirty="0"/>
          </a:p>
        </p:txBody>
      </p:sp>
      <p:sp>
        <p:nvSpPr>
          <p:cNvPr id="11" name="Text 8"/>
          <p:cNvSpPr/>
          <p:nvPr/>
        </p:nvSpPr>
        <p:spPr>
          <a:xfrm>
            <a:off x="7181215" y="1233805"/>
            <a:ext cx="4612125" cy="303411"/>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Corrección de fallos de mercado</a:t>
            </a:r>
            <a:endParaRPr lang="en-US" sz="1600" dirty="0"/>
          </a:p>
        </p:txBody>
      </p:sp>
      <p:sp>
        <p:nvSpPr>
          <p:cNvPr id="12" name="Text 9"/>
          <p:cNvSpPr/>
          <p:nvPr/>
        </p:nvSpPr>
        <p:spPr>
          <a:xfrm>
            <a:off x="7181215" y="1633220"/>
            <a:ext cx="4622800" cy="1170186"/>
          </a:xfrm>
          <a:prstGeom prst="rect">
            <a:avLst/>
          </a:prstGeom>
          <a:noFill/>
          <a:ln/>
        </p:spPr>
        <p:txBody>
          <a:bodyPr wrap="square" lIns="91440" tIns="45720" rIns="91440" bIns="45720" rtlCol="0" anchor="t">
            <a:spAutoFit/>
          </a:bodyPr>
          <a:lstStyle/>
          <a:p>
            <a:pPr>
              <a:lnSpc>
                <a:spcPct val="120000"/>
              </a:lnSpc>
            </a:pPr>
            <a:r>
              <a:rPr lang="en-US" sz="1600" dirty="0">
                <a:solidFill>
                  <a:srgbClr val="FFFFFF"/>
                </a:solidFill>
                <a:latin typeface="MiSans" pitchFamily="34" charset="0"/>
                <a:ea typeface="MiSans" pitchFamily="34" charset="-122"/>
                <a:cs typeface="MiSans" pitchFamily="34" charset="-120"/>
              </a:rPr>
              <a:t>El mercado laboral presenta fallos como asimetrías de información y poder monopsónico. La intervención pública busca corregir estos fallos para evitar explotación y garantizar salarios justos y condiciones de vida dignas para los trabajadores.</a:t>
            </a:r>
            <a:endParaRPr lang="en-US" sz="1600" dirty="0"/>
          </a:p>
        </p:txBody>
      </p:sp>
      <p:sp>
        <p:nvSpPr>
          <p:cNvPr id="13" name="Text 10"/>
          <p:cNvSpPr/>
          <p:nvPr/>
        </p:nvSpPr>
        <p:spPr>
          <a:xfrm>
            <a:off x="7181215" y="3966845"/>
            <a:ext cx="4612125" cy="398780"/>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Equidad y protección social</a:t>
            </a:r>
            <a:endParaRPr lang="en-US" sz="1600" dirty="0"/>
          </a:p>
        </p:txBody>
      </p:sp>
      <p:sp>
        <p:nvSpPr>
          <p:cNvPr id="14" name="Text 11"/>
          <p:cNvSpPr/>
          <p:nvPr/>
        </p:nvSpPr>
        <p:spPr>
          <a:xfrm>
            <a:off x="7181215" y="4366260"/>
            <a:ext cx="4622800" cy="1861185"/>
          </a:xfrm>
          <a:prstGeom prst="rect">
            <a:avLst/>
          </a:prstGeom>
          <a:noFill/>
          <a:ln/>
        </p:spPr>
        <p:txBody>
          <a:bodyPr wrap="square" lIns="91440" tIns="45720" rIns="91440" bIns="45720" rtlCol="0" anchor="t">
            <a:spAutoFit/>
          </a:bodyPr>
          <a:lstStyle/>
          <a:p>
            <a:pPr>
              <a:lnSpc>
                <a:spcPct val="120000"/>
              </a:lnSpc>
            </a:pPr>
            <a:r>
              <a:rPr lang="en-US" sz="1600" dirty="0">
                <a:solidFill>
                  <a:srgbClr val="FFFFFF"/>
                </a:solidFill>
                <a:latin typeface="MiSans" pitchFamily="34" charset="0"/>
                <a:ea typeface="MiSans" pitchFamily="34" charset="-122"/>
                <a:cs typeface="MiSans" pitchFamily="34" charset="-120"/>
              </a:rPr>
              <a:t>Las políticas salariales buscan reducir la desigualdad y combatir la pobreza laboral. La sociedad considera legítimo establecer estándares mínimos para asegurar niveles de vida dignos, independientemente del poder de negociación de los trabajadores.</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0" y="4266565"/>
            <a:ext cx="12192000" cy="2591435"/>
          </a:xfrm>
          <a:prstGeom prst="rect">
            <a:avLst/>
          </a:prstGeom>
          <a:solidFill>
            <a:srgbClr val="402E7F"/>
          </a:solidFill>
          <a:ln/>
        </p:spPr>
        <p:txBody>
          <a:bodyPr/>
          <a:lstStyle/>
          <a:p>
            <a:endParaRPr lang="es-ES"/>
          </a:p>
        </p:txBody>
      </p:sp>
      <p:sp>
        <p:nvSpPr>
          <p:cNvPr id="5" name="Text 3"/>
          <p:cNvSpPr/>
          <p:nvPr/>
        </p:nvSpPr>
        <p:spPr>
          <a:xfrm>
            <a:off x="0" y="4266565"/>
            <a:ext cx="12192000" cy="25914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Text 4"/>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Por qué interviene el Estado</a:t>
            </a:r>
            <a:endParaRPr lang="en-US" sz="1600" dirty="0"/>
          </a:p>
        </p:txBody>
      </p:sp>
      <p:pic>
        <p:nvPicPr>
          <p:cNvPr id="7" name="Image 0" descr="https://kimi-img.moonshot.cn/pub/slides/slides_tmpl/image/25-09-08-15:08:36-d2v81t5nfo2stf9dkdkg.png"/>
          <p:cNvPicPr>
            <a:picLocks noChangeAspect="1"/>
          </p:cNvPicPr>
          <p:nvPr/>
        </p:nvPicPr>
        <p:blipFill>
          <a:blip r:embed="rId3"/>
          <a:srcRect t="117" b="117"/>
          <a:stretch/>
        </p:blipFill>
        <p:spPr>
          <a:xfrm>
            <a:off x="847090" y="1393825"/>
            <a:ext cx="4114165" cy="2712720"/>
          </a:xfrm>
          <a:prstGeom prst="rect">
            <a:avLst/>
          </a:prstGeom>
        </p:spPr>
      </p:pic>
      <p:sp>
        <p:nvSpPr>
          <p:cNvPr id="8" name="Text 5"/>
          <p:cNvSpPr/>
          <p:nvPr/>
        </p:nvSpPr>
        <p:spPr>
          <a:xfrm>
            <a:off x="5011420" y="1511300"/>
            <a:ext cx="6310800" cy="460375"/>
          </a:xfrm>
          <a:prstGeom prst="rect">
            <a:avLst/>
          </a:prstGeom>
          <a:noFill/>
          <a:ln/>
        </p:spPr>
        <p:txBody>
          <a:bodyPr wrap="square" lIns="91440" tIns="45720" rIns="91440" bIns="45720" rtlCol="0" anchor="t">
            <a:spAutoFit/>
          </a:bodyPr>
          <a:lstStyle/>
          <a:p>
            <a:pPr>
              <a:lnSpc>
                <a:spcPct val="100000"/>
              </a:lnSpc>
            </a:pPr>
            <a:r>
              <a:rPr lang="en-US" sz="2400" b="1" dirty="0">
                <a:solidFill>
                  <a:srgbClr val="1E1C0D"/>
                </a:solidFill>
                <a:latin typeface="MiSans" pitchFamily="34" charset="0"/>
                <a:ea typeface="MiSans" pitchFamily="34" charset="-122"/>
                <a:cs typeface="MiSans" pitchFamily="34" charset="-120"/>
              </a:rPr>
              <a:t>Justificación económica</a:t>
            </a:r>
            <a:endParaRPr lang="en-US" sz="1600" dirty="0"/>
          </a:p>
        </p:txBody>
      </p:sp>
      <p:sp>
        <p:nvSpPr>
          <p:cNvPr id="9" name="Text 6"/>
          <p:cNvSpPr/>
          <p:nvPr/>
        </p:nvSpPr>
        <p:spPr>
          <a:xfrm>
            <a:off x="5041265" y="2008505"/>
            <a:ext cx="6309995" cy="1889760"/>
          </a:xfrm>
          <a:prstGeom prst="rect">
            <a:avLst/>
          </a:prstGeom>
          <a:noFill/>
          <a:ln/>
        </p:spPr>
        <p:txBody>
          <a:bodyPr wrap="square" lIns="91440" tIns="45720" rIns="91440" bIns="45720" rtlCol="0" anchor="t">
            <a:spAutoFit/>
          </a:bodyPr>
          <a:lstStyle/>
          <a:p>
            <a:pPr>
              <a:lnSpc>
                <a:spcPct val="130000"/>
              </a:lnSpc>
            </a:pPr>
            <a:r>
              <a:rPr lang="en-US" sz="1800" dirty="0">
                <a:solidFill>
                  <a:srgbClr val="1E1C0D"/>
                </a:solidFill>
                <a:latin typeface="MiSans" pitchFamily="34" charset="0"/>
                <a:ea typeface="MiSans" pitchFamily="34" charset="-122"/>
                <a:cs typeface="MiSans" pitchFamily="34" charset="-120"/>
              </a:rPr>
              <a:t>El mercado laboral no opera como un mercado perfectamente competitivo. La intervención pública puede mejorar los resultados del mercado, especialmente en contextos de monopsonio u oligopsonio, donde los salarios pueden estar por debajo de la productividad marginal de los trabajadores.</a:t>
            </a:r>
            <a:endParaRPr lang="en-US" sz="1600" dirty="0"/>
          </a:p>
        </p:txBody>
      </p:sp>
      <p:sp>
        <p:nvSpPr>
          <p:cNvPr id="10" name="Text 7"/>
          <p:cNvSpPr/>
          <p:nvPr/>
        </p:nvSpPr>
        <p:spPr>
          <a:xfrm>
            <a:off x="847090" y="4481830"/>
            <a:ext cx="10515600" cy="521970"/>
          </a:xfrm>
          <a:prstGeom prst="rect">
            <a:avLst/>
          </a:prstGeom>
          <a:noFill/>
          <a:ln/>
        </p:spPr>
        <p:txBody>
          <a:bodyPr wrap="square" lIns="91440" tIns="45720" rIns="91440" bIns="45720" rtlCol="0" anchor="t">
            <a:spAutoFit/>
          </a:bodyPr>
          <a:lstStyle/>
          <a:p>
            <a:pPr>
              <a:lnSpc>
                <a:spcPct val="100000"/>
              </a:lnSpc>
            </a:pPr>
            <a:r>
              <a:rPr lang="en-US" sz="2800" b="1" dirty="0">
                <a:solidFill>
                  <a:srgbClr val="FFFFFF"/>
                </a:solidFill>
                <a:latin typeface="MiSans" pitchFamily="34" charset="0"/>
                <a:ea typeface="MiSans" pitchFamily="34" charset="-122"/>
                <a:cs typeface="MiSans" pitchFamily="34" charset="-120"/>
              </a:rPr>
              <a:t>Justificación social</a:t>
            </a:r>
            <a:endParaRPr lang="en-US" sz="1600" dirty="0"/>
          </a:p>
        </p:txBody>
      </p:sp>
      <p:sp>
        <p:nvSpPr>
          <p:cNvPr id="11" name="Text 8"/>
          <p:cNvSpPr/>
          <p:nvPr/>
        </p:nvSpPr>
        <p:spPr>
          <a:xfrm>
            <a:off x="847090" y="5080000"/>
            <a:ext cx="10514330" cy="1170305"/>
          </a:xfrm>
          <a:prstGeom prst="rect">
            <a:avLst/>
          </a:prstGeom>
          <a:noFill/>
          <a:ln/>
        </p:spPr>
        <p:txBody>
          <a:bodyPr wrap="square" lIns="91440" tIns="45720" rIns="91440" bIns="45720" rtlCol="0" anchor="t">
            <a:spAutoFit/>
          </a:bodyPr>
          <a:lstStyle/>
          <a:p>
            <a:pPr>
              <a:lnSpc>
                <a:spcPct val="130000"/>
              </a:lnSpc>
            </a:pPr>
            <a:r>
              <a:rPr lang="en-US" sz="1800" dirty="0">
                <a:solidFill>
                  <a:srgbClr val="FFFFFF"/>
                </a:solidFill>
                <a:latin typeface="MiSans" pitchFamily="34" charset="0"/>
                <a:ea typeface="MiSans" pitchFamily="34" charset="-122"/>
                <a:cs typeface="MiSans" pitchFamily="34" charset="-120"/>
              </a:rPr>
              <a:t>Los salarios son la principal fuente de ingresos para la mayoría de los hogares. La intervención del Estado busca garantizar niveles de vida dignos y reducir la desigualdad salarial, que ha aumentado en muchos países desarrollados en las últimas décadas.</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11522165" y="363995"/>
            <a:ext cx="337899" cy="0"/>
          </a:xfrm>
          <a:prstGeom prst="line">
            <a:avLst/>
          </a:prstGeom>
          <a:noFill/>
          <a:ln w="19050">
            <a:solidFill>
              <a:srgbClr val="FFFFFF"/>
            </a:solidFill>
            <a:prstDash val="solid"/>
            <a:headEnd type="none"/>
            <a:tailEnd type="none"/>
          </a:ln>
        </p:spPr>
        <p:txBody>
          <a:bodyPr/>
          <a:lstStyle/>
          <a:p>
            <a:endParaRPr lang="es-ES"/>
          </a:p>
        </p:txBody>
      </p:sp>
      <p:sp>
        <p:nvSpPr>
          <p:cNvPr id="5" name="Shape 3"/>
          <p:cNvSpPr/>
          <p:nvPr/>
        </p:nvSpPr>
        <p:spPr>
          <a:xfrm>
            <a:off x="11522165" y="485529"/>
            <a:ext cx="337899" cy="0"/>
          </a:xfrm>
          <a:prstGeom prst="line">
            <a:avLst/>
          </a:prstGeom>
          <a:noFill/>
          <a:ln w="19050">
            <a:solidFill>
              <a:srgbClr val="FFFFFF"/>
            </a:solidFill>
            <a:prstDash val="solid"/>
            <a:headEnd type="none"/>
            <a:tailEnd type="none"/>
          </a:ln>
        </p:spPr>
        <p:txBody>
          <a:bodyPr/>
          <a:lstStyle/>
          <a:p>
            <a:endParaRPr lang="es-ES"/>
          </a:p>
        </p:txBody>
      </p:sp>
      <p:sp>
        <p:nvSpPr>
          <p:cNvPr id="6" name="Shape 4"/>
          <p:cNvSpPr/>
          <p:nvPr/>
        </p:nvSpPr>
        <p:spPr>
          <a:xfrm>
            <a:off x="11522165" y="607063"/>
            <a:ext cx="337899" cy="0"/>
          </a:xfrm>
          <a:prstGeom prst="line">
            <a:avLst/>
          </a:prstGeom>
          <a:noFill/>
          <a:ln w="19050">
            <a:solidFill>
              <a:srgbClr val="FFFFFF"/>
            </a:solidFill>
            <a:prstDash val="solid"/>
            <a:headEnd type="none"/>
            <a:tailEnd type="none"/>
          </a:ln>
        </p:spPr>
        <p:txBody>
          <a:bodyPr/>
          <a:lstStyle/>
          <a:p>
            <a:endParaRPr lang="es-ES"/>
          </a:p>
        </p:txBody>
      </p:sp>
      <p:sp>
        <p:nvSpPr>
          <p:cNvPr id="7" name="Shape 5"/>
          <p:cNvSpPr/>
          <p:nvPr/>
        </p:nvSpPr>
        <p:spPr>
          <a:xfrm>
            <a:off x="11522165" y="485529"/>
            <a:ext cx="337899" cy="0"/>
          </a:xfrm>
          <a:prstGeom prst="line">
            <a:avLst/>
          </a:prstGeom>
          <a:noFill/>
          <a:ln w="19050">
            <a:solidFill>
              <a:srgbClr val="402E7F"/>
            </a:solidFill>
            <a:prstDash val="solid"/>
            <a:headEnd type="none"/>
            <a:tailEnd type="none"/>
          </a:ln>
        </p:spPr>
        <p:txBody>
          <a:bodyPr/>
          <a:lstStyle/>
          <a:p>
            <a:endParaRPr lang="es-ES"/>
          </a:p>
        </p:txBody>
      </p:sp>
      <p:sp>
        <p:nvSpPr>
          <p:cNvPr id="8" name="Shape 6"/>
          <p:cNvSpPr/>
          <p:nvPr/>
        </p:nvSpPr>
        <p:spPr>
          <a:xfrm>
            <a:off x="11522165" y="607063"/>
            <a:ext cx="337899" cy="0"/>
          </a:xfrm>
          <a:prstGeom prst="line">
            <a:avLst/>
          </a:prstGeom>
          <a:noFill/>
          <a:ln w="19050">
            <a:solidFill>
              <a:srgbClr val="402E7F"/>
            </a:solidFill>
            <a:prstDash val="solid"/>
            <a:headEnd type="none"/>
            <a:tailEnd type="none"/>
          </a:ln>
        </p:spPr>
        <p:txBody>
          <a:bodyPr/>
          <a:lstStyle/>
          <a:p>
            <a:endParaRPr lang="es-ES"/>
          </a:p>
        </p:txBody>
      </p:sp>
      <p:sp>
        <p:nvSpPr>
          <p:cNvPr id="9" name="Shape 7"/>
          <p:cNvSpPr/>
          <p:nvPr/>
        </p:nvSpPr>
        <p:spPr>
          <a:xfrm>
            <a:off x="11522165" y="728597"/>
            <a:ext cx="337899" cy="0"/>
          </a:xfrm>
          <a:prstGeom prst="line">
            <a:avLst/>
          </a:prstGeom>
          <a:noFill/>
          <a:ln w="19050">
            <a:solidFill>
              <a:srgbClr val="402E7F"/>
            </a:solidFill>
            <a:prstDash val="solid"/>
            <a:headEnd type="none"/>
            <a:tailEnd type="none"/>
          </a:ln>
        </p:spPr>
        <p:txBody>
          <a:bodyPr/>
          <a:lstStyle/>
          <a:p>
            <a:endParaRPr lang="es-ES"/>
          </a:p>
        </p:txBody>
      </p:sp>
      <p:sp>
        <p:nvSpPr>
          <p:cNvPr id="10" name="Shape 8"/>
          <p:cNvSpPr/>
          <p:nvPr/>
        </p:nvSpPr>
        <p:spPr>
          <a:xfrm>
            <a:off x="320803" y="3645416"/>
            <a:ext cx="3464275" cy="616314"/>
          </a:xfrm>
          <a:prstGeom prst="roundRect">
            <a:avLst>
              <a:gd name="adj" fmla="val 50000"/>
            </a:avLst>
          </a:prstGeom>
          <a:solidFill>
            <a:srgbClr val="402E7F"/>
          </a:solidFill>
          <a:ln w="38100">
            <a:solidFill>
              <a:srgbClr val="FFFFFF"/>
            </a:solidFill>
            <a:prstDash val="solid"/>
          </a:ln>
        </p:spPr>
        <p:txBody>
          <a:bodyPr/>
          <a:lstStyle/>
          <a:p>
            <a:endParaRPr lang="es-ES"/>
          </a:p>
        </p:txBody>
      </p:sp>
      <p:sp>
        <p:nvSpPr>
          <p:cNvPr id="11" name="Text 9"/>
          <p:cNvSpPr/>
          <p:nvPr/>
        </p:nvSpPr>
        <p:spPr>
          <a:xfrm>
            <a:off x="320803" y="3645416"/>
            <a:ext cx="3464275" cy="616314"/>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2554733" y="3645416"/>
            <a:ext cx="3874769" cy="616351"/>
          </a:xfrm>
          <a:prstGeom prst="roundRect">
            <a:avLst>
              <a:gd name="adj" fmla="val 50000"/>
            </a:avLst>
          </a:prstGeom>
          <a:solidFill>
            <a:srgbClr val="402E7F"/>
          </a:solidFill>
          <a:ln w="38100">
            <a:solidFill>
              <a:srgbClr val="FFFFFF"/>
            </a:solidFill>
            <a:prstDash val="solid"/>
          </a:ln>
        </p:spPr>
        <p:txBody>
          <a:bodyPr/>
          <a:lstStyle/>
          <a:p>
            <a:endParaRPr lang="es-ES"/>
          </a:p>
        </p:txBody>
      </p:sp>
      <p:sp>
        <p:nvSpPr>
          <p:cNvPr id="13" name="Text 11"/>
          <p:cNvSpPr/>
          <p:nvPr/>
        </p:nvSpPr>
        <p:spPr>
          <a:xfrm>
            <a:off x="2554733" y="3645416"/>
            <a:ext cx="3874769" cy="616351"/>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5769061" y="3645416"/>
            <a:ext cx="3464275" cy="616314"/>
          </a:xfrm>
          <a:prstGeom prst="roundRect">
            <a:avLst>
              <a:gd name="adj" fmla="val 50000"/>
            </a:avLst>
          </a:prstGeom>
          <a:solidFill>
            <a:srgbClr val="402E7F"/>
          </a:solidFill>
          <a:ln w="38100">
            <a:solidFill>
              <a:srgbClr val="FFFFFF"/>
            </a:solidFill>
            <a:prstDash val="solid"/>
          </a:ln>
        </p:spPr>
        <p:txBody>
          <a:bodyPr/>
          <a:lstStyle/>
          <a:p>
            <a:endParaRPr lang="es-ES"/>
          </a:p>
        </p:txBody>
      </p:sp>
      <p:sp>
        <p:nvSpPr>
          <p:cNvPr id="15" name="Text 13"/>
          <p:cNvSpPr/>
          <p:nvPr/>
        </p:nvSpPr>
        <p:spPr>
          <a:xfrm>
            <a:off x="5769061" y="3645416"/>
            <a:ext cx="3464275" cy="616314"/>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4"/>
          <p:cNvSpPr/>
          <p:nvPr/>
        </p:nvSpPr>
        <p:spPr>
          <a:xfrm>
            <a:off x="7872224" y="3645416"/>
            <a:ext cx="4005580" cy="616351"/>
          </a:xfrm>
          <a:prstGeom prst="roundRect">
            <a:avLst>
              <a:gd name="adj" fmla="val 50000"/>
            </a:avLst>
          </a:prstGeom>
          <a:solidFill>
            <a:srgbClr val="402E7F"/>
          </a:solidFill>
          <a:ln w="38100">
            <a:solidFill>
              <a:srgbClr val="FFFFFF"/>
            </a:solidFill>
            <a:prstDash val="solid"/>
          </a:ln>
        </p:spPr>
        <p:txBody>
          <a:bodyPr/>
          <a:lstStyle/>
          <a:p>
            <a:endParaRPr lang="es-ES"/>
          </a:p>
        </p:txBody>
      </p:sp>
      <p:sp>
        <p:nvSpPr>
          <p:cNvPr id="17" name="Text 15"/>
          <p:cNvSpPr/>
          <p:nvPr/>
        </p:nvSpPr>
        <p:spPr>
          <a:xfrm>
            <a:off x="7872224" y="3645416"/>
            <a:ext cx="4005580" cy="616351"/>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6"/>
          <p:cNvSpPr/>
          <p:nvPr/>
        </p:nvSpPr>
        <p:spPr>
          <a:xfrm>
            <a:off x="428931" y="3755664"/>
            <a:ext cx="386050" cy="396722"/>
          </a:xfrm>
          <a:prstGeom prst="ellipse">
            <a:avLst/>
          </a:prstGeom>
          <a:solidFill>
            <a:srgbClr val="E9E7F6"/>
          </a:solidFill>
          <a:ln w="9525">
            <a:solidFill>
              <a:srgbClr val="273F5B"/>
            </a:solidFill>
            <a:prstDash val="solid"/>
          </a:ln>
        </p:spPr>
        <p:txBody>
          <a:bodyPr/>
          <a:lstStyle/>
          <a:p>
            <a:endParaRPr lang="es-ES"/>
          </a:p>
        </p:txBody>
      </p:sp>
      <p:sp>
        <p:nvSpPr>
          <p:cNvPr id="19" name="Text 17"/>
          <p:cNvSpPr/>
          <p:nvPr/>
        </p:nvSpPr>
        <p:spPr>
          <a:xfrm>
            <a:off x="428931" y="3755664"/>
            <a:ext cx="386050" cy="396722"/>
          </a:xfrm>
          <a:prstGeom prst="rect">
            <a:avLst/>
          </a:prstGeom>
          <a:noFill/>
          <a:ln/>
        </p:spPr>
        <p:txBody>
          <a:bodyPr wrap="square" lIns="45720" tIns="91440" rIns="91440" bIns="45720" rtlCol="0" anchor="ctr"/>
          <a:lstStyle/>
          <a:p>
            <a:pPr>
              <a:lnSpc>
                <a:spcPct val="100000"/>
              </a:lnSpc>
            </a:pPr>
            <a:endParaRPr lang="en-US" sz="1600" dirty="0"/>
          </a:p>
        </p:txBody>
      </p:sp>
      <p:sp>
        <p:nvSpPr>
          <p:cNvPr id="20" name="Shape 18"/>
          <p:cNvSpPr/>
          <p:nvPr/>
        </p:nvSpPr>
        <p:spPr>
          <a:xfrm>
            <a:off x="2660756" y="3747852"/>
            <a:ext cx="386050" cy="396722"/>
          </a:xfrm>
          <a:prstGeom prst="ellipse">
            <a:avLst/>
          </a:prstGeom>
          <a:solidFill>
            <a:srgbClr val="E9E7F6"/>
          </a:solidFill>
          <a:ln w="9525">
            <a:solidFill>
              <a:srgbClr val="273F5B"/>
            </a:solidFill>
            <a:prstDash val="solid"/>
          </a:ln>
        </p:spPr>
        <p:txBody>
          <a:bodyPr/>
          <a:lstStyle/>
          <a:p>
            <a:endParaRPr lang="es-ES"/>
          </a:p>
        </p:txBody>
      </p:sp>
      <p:sp>
        <p:nvSpPr>
          <p:cNvPr id="21" name="Text 19"/>
          <p:cNvSpPr/>
          <p:nvPr/>
        </p:nvSpPr>
        <p:spPr>
          <a:xfrm>
            <a:off x="2660756" y="3747852"/>
            <a:ext cx="386050" cy="396722"/>
          </a:xfrm>
          <a:prstGeom prst="rect">
            <a:avLst/>
          </a:prstGeom>
          <a:noFill/>
          <a:ln/>
        </p:spPr>
        <p:txBody>
          <a:bodyPr wrap="square" lIns="45720" tIns="91440" rIns="91440" bIns="45720" rtlCol="0" anchor="ctr"/>
          <a:lstStyle/>
          <a:p>
            <a:pPr>
              <a:lnSpc>
                <a:spcPct val="100000"/>
              </a:lnSpc>
            </a:pPr>
            <a:endParaRPr lang="en-US" sz="1600" dirty="0"/>
          </a:p>
        </p:txBody>
      </p:sp>
      <p:sp>
        <p:nvSpPr>
          <p:cNvPr id="22" name="Shape 20"/>
          <p:cNvSpPr/>
          <p:nvPr/>
        </p:nvSpPr>
        <p:spPr>
          <a:xfrm>
            <a:off x="5906279" y="3755664"/>
            <a:ext cx="386050" cy="396722"/>
          </a:xfrm>
          <a:prstGeom prst="ellipse">
            <a:avLst/>
          </a:prstGeom>
          <a:solidFill>
            <a:srgbClr val="E9E7F6"/>
          </a:solidFill>
          <a:ln w="9525">
            <a:solidFill>
              <a:srgbClr val="273F5B"/>
            </a:solidFill>
            <a:prstDash val="solid"/>
          </a:ln>
        </p:spPr>
        <p:txBody>
          <a:bodyPr/>
          <a:lstStyle/>
          <a:p>
            <a:endParaRPr lang="es-ES"/>
          </a:p>
        </p:txBody>
      </p:sp>
      <p:sp>
        <p:nvSpPr>
          <p:cNvPr id="23" name="Text 21"/>
          <p:cNvSpPr/>
          <p:nvPr/>
        </p:nvSpPr>
        <p:spPr>
          <a:xfrm>
            <a:off x="5906279" y="3755664"/>
            <a:ext cx="386050" cy="396722"/>
          </a:xfrm>
          <a:prstGeom prst="rect">
            <a:avLst/>
          </a:prstGeom>
          <a:noFill/>
          <a:ln/>
        </p:spPr>
        <p:txBody>
          <a:bodyPr wrap="square" lIns="45720" tIns="91440" rIns="91440" bIns="45720" rtlCol="0" anchor="ctr"/>
          <a:lstStyle/>
          <a:p>
            <a:pPr>
              <a:lnSpc>
                <a:spcPct val="100000"/>
              </a:lnSpc>
            </a:pPr>
            <a:endParaRPr lang="en-US" sz="1600" dirty="0"/>
          </a:p>
        </p:txBody>
      </p:sp>
      <p:sp>
        <p:nvSpPr>
          <p:cNvPr id="24" name="Shape 22"/>
          <p:cNvSpPr/>
          <p:nvPr/>
        </p:nvSpPr>
        <p:spPr>
          <a:xfrm>
            <a:off x="7978446" y="3747852"/>
            <a:ext cx="386050" cy="396722"/>
          </a:xfrm>
          <a:prstGeom prst="ellipse">
            <a:avLst/>
          </a:prstGeom>
          <a:solidFill>
            <a:srgbClr val="E9E7F6"/>
          </a:solidFill>
          <a:ln w="9525">
            <a:solidFill>
              <a:srgbClr val="273F5B"/>
            </a:solidFill>
            <a:prstDash val="solid"/>
          </a:ln>
        </p:spPr>
        <p:txBody>
          <a:bodyPr/>
          <a:lstStyle/>
          <a:p>
            <a:endParaRPr lang="es-ES"/>
          </a:p>
        </p:txBody>
      </p:sp>
      <p:sp>
        <p:nvSpPr>
          <p:cNvPr id="25" name="Text 23"/>
          <p:cNvSpPr/>
          <p:nvPr/>
        </p:nvSpPr>
        <p:spPr>
          <a:xfrm>
            <a:off x="7978446" y="3747852"/>
            <a:ext cx="386050" cy="396722"/>
          </a:xfrm>
          <a:prstGeom prst="rect">
            <a:avLst/>
          </a:prstGeom>
          <a:noFill/>
          <a:ln/>
        </p:spPr>
        <p:txBody>
          <a:bodyPr wrap="square" lIns="45720" tIns="91440" rIns="91440" bIns="45720" rtlCol="0" anchor="ctr"/>
          <a:lstStyle/>
          <a:p>
            <a:pPr>
              <a:lnSpc>
                <a:spcPct val="100000"/>
              </a:lnSpc>
            </a:pPr>
            <a:endParaRPr lang="en-US" sz="1600" dirty="0"/>
          </a:p>
        </p:txBody>
      </p:sp>
      <p:sp>
        <p:nvSpPr>
          <p:cNvPr id="26" name="Shape 24"/>
          <p:cNvSpPr/>
          <p:nvPr/>
        </p:nvSpPr>
        <p:spPr>
          <a:xfrm>
            <a:off x="11351526" y="3755664"/>
            <a:ext cx="386050" cy="396722"/>
          </a:xfrm>
          <a:prstGeom prst="ellipse">
            <a:avLst/>
          </a:prstGeom>
          <a:solidFill>
            <a:srgbClr val="E9E7F6"/>
          </a:solidFill>
          <a:ln w="9525">
            <a:solidFill>
              <a:srgbClr val="273F5B"/>
            </a:solidFill>
            <a:prstDash val="solid"/>
          </a:ln>
        </p:spPr>
        <p:txBody>
          <a:bodyPr/>
          <a:lstStyle/>
          <a:p>
            <a:endParaRPr lang="es-ES"/>
          </a:p>
        </p:txBody>
      </p:sp>
      <p:sp>
        <p:nvSpPr>
          <p:cNvPr id="27" name="Text 25"/>
          <p:cNvSpPr/>
          <p:nvPr/>
        </p:nvSpPr>
        <p:spPr>
          <a:xfrm>
            <a:off x="11351526" y="3755664"/>
            <a:ext cx="386050" cy="396722"/>
          </a:xfrm>
          <a:prstGeom prst="rect">
            <a:avLst/>
          </a:prstGeom>
          <a:noFill/>
          <a:ln/>
        </p:spPr>
        <p:txBody>
          <a:bodyPr wrap="square" lIns="45720" tIns="91440" rIns="91440" bIns="45720" rtlCol="0" anchor="ctr"/>
          <a:lstStyle/>
          <a:p>
            <a:pPr>
              <a:lnSpc>
                <a:spcPct val="100000"/>
              </a:lnSpc>
            </a:pPr>
            <a:endParaRPr lang="en-US" sz="1600" dirty="0"/>
          </a:p>
        </p:txBody>
      </p:sp>
      <p:sp>
        <p:nvSpPr>
          <p:cNvPr id="28" name="Shape 26"/>
          <p:cNvSpPr/>
          <p:nvPr/>
        </p:nvSpPr>
        <p:spPr>
          <a:xfrm flipV="1">
            <a:off x="553429" y="1609822"/>
            <a:ext cx="19655" cy="1954860"/>
          </a:xfrm>
          <a:prstGeom prst="line">
            <a:avLst/>
          </a:prstGeom>
          <a:noFill/>
          <a:ln w="12700">
            <a:gradFill flip="none" rotWithShape="1">
              <a:gsLst>
                <a:gs pos="0">
                  <a:srgbClr val="402E7F">
                    <a:alpha val="0"/>
                  </a:srgbClr>
                </a:gs>
                <a:gs pos="100000">
                  <a:srgbClr val="402E7F"/>
                </a:gs>
              </a:gsLst>
              <a:lin ang="5400000" scaled="1"/>
            </a:gradFill>
            <a:prstDash val="solid"/>
            <a:headEnd type="oval"/>
            <a:tailEnd type="oval"/>
          </a:ln>
        </p:spPr>
        <p:txBody>
          <a:bodyPr/>
          <a:lstStyle/>
          <a:p>
            <a:endParaRPr lang="es-ES"/>
          </a:p>
        </p:txBody>
      </p:sp>
      <p:sp>
        <p:nvSpPr>
          <p:cNvPr id="29" name="Shape 27"/>
          <p:cNvSpPr/>
          <p:nvPr/>
        </p:nvSpPr>
        <p:spPr>
          <a:xfrm>
            <a:off x="465255" y="1503811"/>
            <a:ext cx="209498" cy="215568"/>
          </a:xfrm>
          <a:prstGeom prst="ellipse">
            <a:avLst/>
          </a:prstGeom>
          <a:solidFill>
            <a:srgbClr val="000000">
              <a:alpha val="0"/>
            </a:srgbClr>
          </a:solidFill>
          <a:ln w="19050">
            <a:solidFill>
              <a:srgbClr val="402E7F"/>
            </a:solidFill>
            <a:prstDash val="solid"/>
          </a:ln>
        </p:spPr>
        <p:txBody>
          <a:bodyPr/>
          <a:lstStyle/>
          <a:p>
            <a:endParaRPr lang="es-ES"/>
          </a:p>
        </p:txBody>
      </p:sp>
      <p:sp>
        <p:nvSpPr>
          <p:cNvPr id="30" name="Text 28"/>
          <p:cNvSpPr/>
          <p:nvPr/>
        </p:nvSpPr>
        <p:spPr>
          <a:xfrm>
            <a:off x="465255" y="1503811"/>
            <a:ext cx="209498" cy="215568"/>
          </a:xfrm>
          <a:prstGeom prst="rect">
            <a:avLst/>
          </a:prstGeom>
          <a:noFill/>
          <a:ln/>
        </p:spPr>
        <p:txBody>
          <a:bodyPr wrap="square" lIns="45720" tIns="91440" rIns="91440" bIns="45720" rtlCol="0" anchor="ctr"/>
          <a:lstStyle/>
          <a:p>
            <a:pPr>
              <a:lnSpc>
                <a:spcPct val="100000"/>
              </a:lnSpc>
            </a:pPr>
            <a:endParaRPr lang="en-US" sz="1600" dirty="0"/>
          </a:p>
        </p:txBody>
      </p:sp>
      <p:sp>
        <p:nvSpPr>
          <p:cNvPr id="31" name="Shape 29"/>
          <p:cNvSpPr/>
          <p:nvPr/>
        </p:nvSpPr>
        <p:spPr>
          <a:xfrm flipV="1">
            <a:off x="6084215" y="1639372"/>
            <a:ext cx="10145" cy="1817666"/>
          </a:xfrm>
          <a:prstGeom prst="line">
            <a:avLst/>
          </a:prstGeom>
          <a:noFill/>
          <a:ln w="12700">
            <a:gradFill flip="none" rotWithShape="1">
              <a:gsLst>
                <a:gs pos="0">
                  <a:srgbClr val="402E7F">
                    <a:alpha val="0"/>
                  </a:srgbClr>
                </a:gs>
                <a:gs pos="100000">
                  <a:srgbClr val="402E7F"/>
                </a:gs>
              </a:gsLst>
              <a:lin ang="5400000" scaled="1"/>
            </a:gradFill>
            <a:prstDash val="solid"/>
            <a:headEnd type="oval"/>
            <a:tailEnd type="oval"/>
          </a:ln>
        </p:spPr>
        <p:txBody>
          <a:bodyPr/>
          <a:lstStyle/>
          <a:p>
            <a:endParaRPr lang="es-ES"/>
          </a:p>
        </p:txBody>
      </p:sp>
      <p:sp>
        <p:nvSpPr>
          <p:cNvPr id="32" name="Shape 30"/>
          <p:cNvSpPr/>
          <p:nvPr/>
        </p:nvSpPr>
        <p:spPr>
          <a:xfrm>
            <a:off x="5986530" y="1533327"/>
            <a:ext cx="209498" cy="215637"/>
          </a:xfrm>
          <a:prstGeom prst="ellipse">
            <a:avLst/>
          </a:prstGeom>
          <a:solidFill>
            <a:srgbClr val="000000">
              <a:alpha val="0"/>
            </a:srgbClr>
          </a:solidFill>
          <a:ln w="19050">
            <a:solidFill>
              <a:srgbClr val="402E7F"/>
            </a:solidFill>
            <a:prstDash val="solid"/>
          </a:ln>
        </p:spPr>
        <p:txBody>
          <a:bodyPr/>
          <a:lstStyle/>
          <a:p>
            <a:endParaRPr lang="es-ES"/>
          </a:p>
        </p:txBody>
      </p:sp>
      <p:sp>
        <p:nvSpPr>
          <p:cNvPr id="33" name="Text 31"/>
          <p:cNvSpPr/>
          <p:nvPr/>
        </p:nvSpPr>
        <p:spPr>
          <a:xfrm>
            <a:off x="5986530" y="1533327"/>
            <a:ext cx="209498" cy="215637"/>
          </a:xfrm>
          <a:prstGeom prst="rect">
            <a:avLst/>
          </a:prstGeom>
          <a:noFill/>
          <a:ln/>
        </p:spPr>
        <p:txBody>
          <a:bodyPr wrap="square" lIns="45720" tIns="91440" rIns="91440" bIns="45720" rtlCol="0" anchor="ctr"/>
          <a:lstStyle/>
          <a:p>
            <a:pPr>
              <a:lnSpc>
                <a:spcPct val="100000"/>
              </a:lnSpc>
            </a:pPr>
            <a:endParaRPr lang="en-US" sz="1600" dirty="0"/>
          </a:p>
        </p:txBody>
      </p:sp>
      <p:sp>
        <p:nvSpPr>
          <p:cNvPr id="34" name="Shape 32"/>
          <p:cNvSpPr/>
          <p:nvPr/>
        </p:nvSpPr>
        <p:spPr>
          <a:xfrm flipV="1">
            <a:off x="2660878" y="4388083"/>
            <a:ext cx="0" cy="1859898"/>
          </a:xfrm>
          <a:prstGeom prst="line">
            <a:avLst/>
          </a:prstGeom>
          <a:noFill/>
          <a:ln w="12700">
            <a:gradFill flip="none" rotWithShape="1">
              <a:gsLst>
                <a:gs pos="0">
                  <a:srgbClr val="402E7F">
                    <a:alpha val="0"/>
                  </a:srgbClr>
                </a:gs>
                <a:gs pos="100000">
                  <a:srgbClr val="402E7F"/>
                </a:gs>
              </a:gsLst>
              <a:lin ang="5400000" scaled="1"/>
            </a:gradFill>
            <a:prstDash val="solid"/>
            <a:headEnd type="oval"/>
            <a:tailEnd type="oval"/>
          </a:ln>
        </p:spPr>
        <p:txBody>
          <a:bodyPr/>
          <a:lstStyle/>
          <a:p>
            <a:endParaRPr lang="es-ES"/>
          </a:p>
        </p:txBody>
      </p:sp>
      <p:sp>
        <p:nvSpPr>
          <p:cNvPr id="35" name="Shape 33"/>
          <p:cNvSpPr/>
          <p:nvPr/>
        </p:nvSpPr>
        <p:spPr>
          <a:xfrm>
            <a:off x="2554317" y="4281733"/>
            <a:ext cx="209498" cy="215635"/>
          </a:xfrm>
          <a:prstGeom prst="ellipse">
            <a:avLst/>
          </a:prstGeom>
          <a:solidFill>
            <a:srgbClr val="000000">
              <a:alpha val="0"/>
            </a:srgbClr>
          </a:solidFill>
          <a:ln w="19050">
            <a:solidFill>
              <a:srgbClr val="402E7F"/>
            </a:solidFill>
            <a:prstDash val="solid"/>
          </a:ln>
        </p:spPr>
        <p:txBody>
          <a:bodyPr/>
          <a:lstStyle/>
          <a:p>
            <a:endParaRPr lang="es-ES"/>
          </a:p>
        </p:txBody>
      </p:sp>
      <p:sp>
        <p:nvSpPr>
          <p:cNvPr id="36" name="Text 34"/>
          <p:cNvSpPr/>
          <p:nvPr/>
        </p:nvSpPr>
        <p:spPr>
          <a:xfrm>
            <a:off x="2554317" y="4281733"/>
            <a:ext cx="209498" cy="215635"/>
          </a:xfrm>
          <a:prstGeom prst="rect">
            <a:avLst/>
          </a:prstGeom>
          <a:noFill/>
          <a:ln/>
        </p:spPr>
        <p:txBody>
          <a:bodyPr wrap="square" lIns="45720" tIns="91440" rIns="91440" bIns="45720" rtlCol="0" anchor="ctr"/>
          <a:lstStyle/>
          <a:p>
            <a:pPr>
              <a:lnSpc>
                <a:spcPct val="100000"/>
              </a:lnSpc>
            </a:pPr>
            <a:endParaRPr lang="en-US" sz="1600" dirty="0"/>
          </a:p>
        </p:txBody>
      </p:sp>
      <p:sp>
        <p:nvSpPr>
          <p:cNvPr id="37" name="Shape 35"/>
          <p:cNvSpPr/>
          <p:nvPr/>
        </p:nvSpPr>
        <p:spPr>
          <a:xfrm flipV="1">
            <a:off x="7977934" y="4417631"/>
            <a:ext cx="0" cy="1895458"/>
          </a:xfrm>
          <a:prstGeom prst="line">
            <a:avLst/>
          </a:prstGeom>
          <a:noFill/>
          <a:ln w="12700">
            <a:gradFill flip="none" rotWithShape="1">
              <a:gsLst>
                <a:gs pos="0">
                  <a:srgbClr val="402E7F">
                    <a:alpha val="0"/>
                  </a:srgbClr>
                </a:gs>
                <a:gs pos="100000">
                  <a:srgbClr val="402E7F"/>
                </a:gs>
              </a:gsLst>
              <a:lin ang="5400000" scaled="1"/>
            </a:gradFill>
            <a:prstDash val="solid"/>
            <a:headEnd type="oval"/>
            <a:tailEnd type="oval"/>
          </a:ln>
        </p:spPr>
        <p:txBody>
          <a:bodyPr/>
          <a:lstStyle/>
          <a:p>
            <a:endParaRPr lang="es-ES"/>
          </a:p>
        </p:txBody>
      </p:sp>
      <p:sp>
        <p:nvSpPr>
          <p:cNvPr id="38" name="Shape 36"/>
          <p:cNvSpPr/>
          <p:nvPr/>
        </p:nvSpPr>
        <p:spPr>
          <a:xfrm>
            <a:off x="7872008" y="4304304"/>
            <a:ext cx="209498" cy="215634"/>
          </a:xfrm>
          <a:prstGeom prst="ellipse">
            <a:avLst/>
          </a:prstGeom>
          <a:solidFill>
            <a:srgbClr val="000000">
              <a:alpha val="0"/>
            </a:srgbClr>
          </a:solidFill>
          <a:ln w="19050">
            <a:solidFill>
              <a:srgbClr val="402E7F"/>
            </a:solidFill>
            <a:prstDash val="solid"/>
          </a:ln>
        </p:spPr>
        <p:txBody>
          <a:bodyPr/>
          <a:lstStyle/>
          <a:p>
            <a:endParaRPr lang="es-ES"/>
          </a:p>
        </p:txBody>
      </p:sp>
      <p:sp>
        <p:nvSpPr>
          <p:cNvPr id="39" name="Text 37"/>
          <p:cNvSpPr/>
          <p:nvPr/>
        </p:nvSpPr>
        <p:spPr>
          <a:xfrm>
            <a:off x="7872008" y="4304304"/>
            <a:ext cx="209498" cy="215634"/>
          </a:xfrm>
          <a:prstGeom prst="rect">
            <a:avLst/>
          </a:prstGeom>
          <a:noFill/>
          <a:ln/>
        </p:spPr>
        <p:txBody>
          <a:bodyPr wrap="square" lIns="45720" tIns="91440" rIns="91440" bIns="45720" rtlCol="0" anchor="ctr"/>
          <a:lstStyle/>
          <a:p>
            <a:pPr>
              <a:lnSpc>
                <a:spcPct val="100000"/>
              </a:lnSpc>
            </a:pPr>
            <a:endParaRPr lang="en-US" sz="1600" dirty="0"/>
          </a:p>
        </p:txBody>
      </p:sp>
      <p:sp>
        <p:nvSpPr>
          <p:cNvPr id="40" name="Text 38"/>
          <p:cNvSpPr/>
          <p:nvPr/>
        </p:nvSpPr>
        <p:spPr>
          <a:xfrm>
            <a:off x="582930" y="312420"/>
            <a:ext cx="8682990"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Objetivos en conflicto</a:t>
            </a:r>
            <a:endParaRPr lang="en-US" sz="1600" dirty="0"/>
          </a:p>
        </p:txBody>
      </p:sp>
      <p:sp>
        <p:nvSpPr>
          <p:cNvPr id="41" name="Shape 39"/>
          <p:cNvSpPr/>
          <p:nvPr/>
        </p:nvSpPr>
        <p:spPr>
          <a:xfrm>
            <a:off x="0" y="6644005"/>
            <a:ext cx="12206605" cy="259080"/>
          </a:xfrm>
          <a:prstGeom prst="rect">
            <a:avLst/>
          </a:prstGeom>
          <a:solidFill>
            <a:srgbClr val="402E7F"/>
          </a:solidFill>
          <a:ln/>
        </p:spPr>
        <p:txBody>
          <a:bodyPr/>
          <a:lstStyle/>
          <a:p>
            <a:endParaRPr lang="es-ES"/>
          </a:p>
        </p:txBody>
      </p:sp>
      <p:sp>
        <p:nvSpPr>
          <p:cNvPr id="42" name="Text 40"/>
          <p:cNvSpPr/>
          <p:nvPr/>
        </p:nvSpPr>
        <p:spPr>
          <a:xfrm>
            <a:off x="0" y="6644005"/>
            <a:ext cx="12206605"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43" name="Text 41"/>
          <p:cNvSpPr/>
          <p:nvPr/>
        </p:nvSpPr>
        <p:spPr>
          <a:xfrm>
            <a:off x="893445" y="1576705"/>
            <a:ext cx="4385945" cy="428625"/>
          </a:xfrm>
          <a:prstGeom prst="rect">
            <a:avLst/>
          </a:prstGeom>
          <a:noFill/>
          <a:ln/>
        </p:spPr>
        <p:txBody>
          <a:bodyPr wrap="square" lIns="91440" tIns="45720" rIns="91440" bIns="45720" rtlCol="0" anchor="t"/>
          <a:lstStyle/>
          <a:p>
            <a:pPr>
              <a:lnSpc>
                <a:spcPct val="100000"/>
              </a:lnSpc>
            </a:pPr>
            <a:r>
              <a:rPr lang="en-US" sz="1800" b="1" dirty="0">
                <a:solidFill>
                  <a:srgbClr val="402E7F"/>
                </a:solidFill>
                <a:latin typeface="MiSans" pitchFamily="34" charset="0"/>
                <a:ea typeface="MiSans" pitchFamily="34" charset="-122"/>
                <a:cs typeface="MiSans" pitchFamily="34" charset="-120"/>
              </a:rPr>
              <a:t>Protección de los más vulnerables</a:t>
            </a:r>
            <a:endParaRPr lang="en-US" sz="1600" dirty="0"/>
          </a:p>
        </p:txBody>
      </p:sp>
      <p:sp>
        <p:nvSpPr>
          <p:cNvPr id="44" name="Text 42"/>
          <p:cNvSpPr/>
          <p:nvPr/>
        </p:nvSpPr>
        <p:spPr>
          <a:xfrm>
            <a:off x="893445" y="1938020"/>
            <a:ext cx="4385945" cy="1631315"/>
          </a:xfrm>
          <a:prstGeom prst="rect">
            <a:avLst/>
          </a:prstGeom>
          <a:noFill/>
          <a:ln/>
        </p:spPr>
        <p:txBody>
          <a:bodyPr wrap="square" lIns="91440" tIns="45720" rIns="91440" bIns="45720" rtlCol="0" anchor="t"/>
          <a:lstStyle/>
          <a:p>
            <a:pPr>
              <a:lnSpc>
                <a:spcPct val="120000"/>
              </a:lnSpc>
            </a:pPr>
            <a:r>
              <a:rPr lang="en-US" sz="1400" dirty="0">
                <a:solidFill>
                  <a:srgbClr val="1E1C0D"/>
                </a:solidFill>
                <a:latin typeface="MiSans" pitchFamily="34" charset="0"/>
                <a:ea typeface="MiSans" pitchFamily="34" charset="-122"/>
                <a:cs typeface="MiSans" pitchFamily="34" charset="-120"/>
              </a:rPr>
              <a:t>Un objetivo fundamental es proteger a los trabajadores con menos poder de negociación, estableciendo un suelo salarial que evite la explotación y garantice condiciones mínimas de dignidad.</a:t>
            </a:r>
            <a:endParaRPr lang="en-US" sz="1600" dirty="0"/>
          </a:p>
        </p:txBody>
      </p:sp>
      <p:sp>
        <p:nvSpPr>
          <p:cNvPr id="45" name="Text 43"/>
          <p:cNvSpPr/>
          <p:nvPr/>
        </p:nvSpPr>
        <p:spPr>
          <a:xfrm>
            <a:off x="6554470" y="1532890"/>
            <a:ext cx="4385945" cy="428625"/>
          </a:xfrm>
          <a:prstGeom prst="rect">
            <a:avLst/>
          </a:prstGeom>
          <a:noFill/>
          <a:ln/>
        </p:spPr>
        <p:txBody>
          <a:bodyPr wrap="square" lIns="91440" tIns="45720" rIns="91440" bIns="45720" rtlCol="0" anchor="t"/>
          <a:lstStyle/>
          <a:p>
            <a:pPr>
              <a:lnSpc>
                <a:spcPct val="100000"/>
              </a:lnSpc>
            </a:pPr>
            <a:r>
              <a:rPr lang="en-US" sz="1800" b="1" dirty="0">
                <a:solidFill>
                  <a:srgbClr val="402E7F"/>
                </a:solidFill>
                <a:latin typeface="MiSans" pitchFamily="34" charset="0"/>
                <a:ea typeface="MiSans" pitchFamily="34" charset="-122"/>
                <a:cs typeface="MiSans" pitchFamily="34" charset="-120"/>
              </a:rPr>
              <a:t>Reducción de la desigualdad</a:t>
            </a:r>
            <a:endParaRPr lang="en-US" sz="1600" dirty="0"/>
          </a:p>
        </p:txBody>
      </p:sp>
      <p:sp>
        <p:nvSpPr>
          <p:cNvPr id="46" name="Text 44"/>
          <p:cNvSpPr/>
          <p:nvPr/>
        </p:nvSpPr>
        <p:spPr>
          <a:xfrm>
            <a:off x="6554470" y="1894205"/>
            <a:ext cx="4385945" cy="1631315"/>
          </a:xfrm>
          <a:prstGeom prst="rect">
            <a:avLst/>
          </a:prstGeom>
          <a:noFill/>
          <a:ln/>
        </p:spPr>
        <p:txBody>
          <a:bodyPr wrap="square" lIns="91440" tIns="45720" rIns="91440" bIns="45720" rtlCol="0" anchor="t"/>
          <a:lstStyle/>
          <a:p>
            <a:pPr>
              <a:lnSpc>
                <a:spcPct val="120000"/>
              </a:lnSpc>
            </a:pPr>
            <a:r>
              <a:rPr lang="en-US" sz="1400" dirty="0">
                <a:solidFill>
                  <a:srgbClr val="1E1C0D"/>
                </a:solidFill>
                <a:latin typeface="MiSans" pitchFamily="34" charset="0"/>
                <a:ea typeface="MiSans" pitchFamily="34" charset="-122"/>
                <a:cs typeface="MiSans" pitchFamily="34" charset="-120"/>
              </a:rPr>
              <a:t>Otro objetivo es reducir la desigualdad salarial y la pobreza, aspirando a una distribución más equitativa de la renta generada en el proceso productivo.</a:t>
            </a:r>
            <a:endParaRPr lang="en-US" sz="1600" dirty="0"/>
          </a:p>
        </p:txBody>
      </p:sp>
      <p:sp>
        <p:nvSpPr>
          <p:cNvPr id="47" name="Text 45"/>
          <p:cNvSpPr/>
          <p:nvPr/>
        </p:nvSpPr>
        <p:spPr>
          <a:xfrm>
            <a:off x="2964815" y="4382135"/>
            <a:ext cx="4385945" cy="428625"/>
          </a:xfrm>
          <a:prstGeom prst="rect">
            <a:avLst/>
          </a:prstGeom>
          <a:noFill/>
          <a:ln/>
        </p:spPr>
        <p:txBody>
          <a:bodyPr wrap="square" lIns="91440" tIns="45720" rIns="91440" bIns="45720" rtlCol="0" anchor="t"/>
          <a:lstStyle/>
          <a:p>
            <a:pPr>
              <a:lnSpc>
                <a:spcPct val="100000"/>
              </a:lnSpc>
            </a:pPr>
            <a:r>
              <a:rPr lang="en-US" sz="1800" b="1" dirty="0">
                <a:solidFill>
                  <a:srgbClr val="402E7F"/>
                </a:solidFill>
                <a:latin typeface="MiSans" pitchFamily="34" charset="0"/>
                <a:ea typeface="MiSans" pitchFamily="34" charset="-122"/>
                <a:cs typeface="MiSans" pitchFamily="34" charset="-120"/>
              </a:rPr>
              <a:t>Efectos sobre el empleo</a:t>
            </a:r>
            <a:endParaRPr lang="en-US" sz="1600" dirty="0"/>
          </a:p>
        </p:txBody>
      </p:sp>
      <p:sp>
        <p:nvSpPr>
          <p:cNvPr id="48" name="Text 46"/>
          <p:cNvSpPr/>
          <p:nvPr/>
        </p:nvSpPr>
        <p:spPr>
          <a:xfrm>
            <a:off x="2964815" y="4743450"/>
            <a:ext cx="4385945" cy="1631315"/>
          </a:xfrm>
          <a:prstGeom prst="rect">
            <a:avLst/>
          </a:prstGeom>
          <a:noFill/>
          <a:ln/>
        </p:spPr>
        <p:txBody>
          <a:bodyPr wrap="square" lIns="91440" tIns="45720" rIns="91440" bIns="45720" rtlCol="0" anchor="t"/>
          <a:lstStyle/>
          <a:p>
            <a:pPr>
              <a:lnSpc>
                <a:spcPct val="120000"/>
              </a:lnSpc>
            </a:pPr>
            <a:r>
              <a:rPr lang="en-US" sz="1400" dirty="0">
                <a:solidFill>
                  <a:srgbClr val="1E1C0D"/>
                </a:solidFill>
                <a:latin typeface="MiSans" pitchFamily="34" charset="0"/>
                <a:ea typeface="MiSans" pitchFamily="34" charset="-122"/>
                <a:cs typeface="MiSans" pitchFamily="34" charset="-120"/>
              </a:rPr>
              <a:t>Las políticas salariales deben considerar sus efectos sobre la eficiencia económica y el empleo. Incrementos salariales pueden tener efectos adversos sobre la demanda de trabajo, especialmente en sectores intensivos en mano de obra.</a:t>
            </a:r>
            <a:endParaRPr lang="en-US" sz="1600" dirty="0"/>
          </a:p>
        </p:txBody>
      </p:sp>
      <p:sp>
        <p:nvSpPr>
          <p:cNvPr id="49" name="Text 47"/>
          <p:cNvSpPr/>
          <p:nvPr/>
        </p:nvSpPr>
        <p:spPr>
          <a:xfrm>
            <a:off x="8183245" y="4451350"/>
            <a:ext cx="4385945" cy="428625"/>
          </a:xfrm>
          <a:prstGeom prst="rect">
            <a:avLst/>
          </a:prstGeom>
          <a:noFill/>
          <a:ln/>
        </p:spPr>
        <p:txBody>
          <a:bodyPr wrap="square" lIns="91440" tIns="45720" rIns="91440" bIns="45720" rtlCol="0" anchor="t"/>
          <a:lstStyle/>
          <a:p>
            <a:pPr>
              <a:lnSpc>
                <a:spcPct val="100000"/>
              </a:lnSpc>
            </a:pPr>
            <a:r>
              <a:rPr lang="en-US" sz="1800" b="1" dirty="0">
                <a:solidFill>
                  <a:srgbClr val="402E7F"/>
                </a:solidFill>
                <a:latin typeface="MiSans" pitchFamily="34" charset="0"/>
                <a:ea typeface="MiSans" pitchFamily="34" charset="-122"/>
                <a:cs typeface="MiSans" pitchFamily="34" charset="-120"/>
              </a:rPr>
              <a:t>Tensión entre protección y empleo</a:t>
            </a:r>
            <a:endParaRPr lang="en-US" sz="1600" dirty="0"/>
          </a:p>
        </p:txBody>
      </p:sp>
      <p:sp>
        <p:nvSpPr>
          <p:cNvPr id="50" name="Text 48"/>
          <p:cNvSpPr/>
          <p:nvPr/>
        </p:nvSpPr>
        <p:spPr>
          <a:xfrm>
            <a:off x="8183245" y="4812665"/>
            <a:ext cx="3843020" cy="1631315"/>
          </a:xfrm>
          <a:prstGeom prst="rect">
            <a:avLst/>
          </a:prstGeom>
          <a:noFill/>
          <a:ln/>
        </p:spPr>
        <p:txBody>
          <a:bodyPr wrap="square" lIns="91440" tIns="45720" rIns="91440" bIns="45720" rtlCol="0" anchor="t"/>
          <a:lstStyle/>
          <a:p>
            <a:pPr>
              <a:lnSpc>
                <a:spcPct val="120000"/>
              </a:lnSpc>
            </a:pPr>
            <a:r>
              <a:rPr lang="en-US" sz="1400" dirty="0">
                <a:solidFill>
                  <a:srgbClr val="1E1C0D"/>
                </a:solidFill>
                <a:latin typeface="MiSans" pitchFamily="34" charset="0"/>
                <a:ea typeface="MiSans" pitchFamily="34" charset="-122"/>
                <a:cs typeface="MiSans" pitchFamily="34" charset="-120"/>
              </a:rPr>
              <a:t>La tensión entre protección salarial y creación de empleo es central en los debates sobre políticas salariales. Es necesario un análisis cuidadoso de la evidencia empírica para calibrar adecuadamente las intervenciones.</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a:ln/>
        </p:spPr>
        <p:txBody>
          <a:bodyPr/>
          <a:lstStyle/>
          <a:p>
            <a:endParaRPr lang="es-ES"/>
          </a:p>
        </p:txBody>
      </p:sp>
      <p:sp>
        <p:nvSpPr>
          <p:cNvPr id="5" name="Text 3"/>
          <p:cNvSpPr/>
          <p:nvPr/>
        </p:nvSpPr>
        <p:spPr>
          <a:xfrm>
            <a:off x="4445" y="0"/>
            <a:ext cx="12187555" cy="687578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a:ln/>
        </p:spPr>
        <p:txBody>
          <a:bodyPr/>
          <a:lstStyle/>
          <a:p>
            <a:endParaRPr lang="es-ES"/>
          </a:p>
        </p:txBody>
      </p:sp>
      <p:sp>
        <p:nvSpPr>
          <p:cNvPr id="7" name="Text 5"/>
          <p:cNvSpPr/>
          <p:nvPr/>
        </p:nvSpPr>
        <p:spPr>
          <a:xfrm>
            <a:off x="85280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9" name="Text 7"/>
          <p:cNvSpPr/>
          <p:nvPr/>
        </p:nvSpPr>
        <p:spPr>
          <a:xfrm>
            <a:off x="113665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a:ln/>
        </p:spPr>
        <p:txBody>
          <a:bodyPr/>
          <a:lstStyle/>
          <a:p>
            <a:endParaRPr lang="es-ES"/>
          </a:p>
        </p:txBody>
      </p:sp>
      <p:sp>
        <p:nvSpPr>
          <p:cNvPr id="11" name="Text 9"/>
          <p:cNvSpPr/>
          <p:nvPr/>
        </p:nvSpPr>
        <p:spPr>
          <a:xfrm>
            <a:off x="142049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3" name="Text 11"/>
          <p:cNvSpPr/>
          <p:nvPr/>
        </p:nvSpPr>
        <p:spPr>
          <a:xfrm>
            <a:off x="170434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a:ln/>
        </p:spPr>
        <p:txBody>
          <a:bodyPr/>
          <a:lstStyle/>
          <a:p>
            <a:endParaRPr lang="es-ES"/>
          </a:p>
        </p:txBody>
      </p:sp>
      <p:sp>
        <p:nvSpPr>
          <p:cNvPr id="15" name="Text 13"/>
          <p:cNvSpPr/>
          <p:nvPr/>
        </p:nvSpPr>
        <p:spPr>
          <a:xfrm>
            <a:off x="198818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7" name="Text 15"/>
          <p:cNvSpPr/>
          <p:nvPr/>
        </p:nvSpPr>
        <p:spPr>
          <a:xfrm>
            <a:off x="227203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a:ln/>
        </p:spPr>
        <p:txBody>
          <a:bodyPr/>
          <a:lstStyle/>
          <a:p>
            <a:endParaRPr lang="es-ES"/>
          </a:p>
        </p:txBody>
      </p:sp>
      <p:sp>
        <p:nvSpPr>
          <p:cNvPr id="19" name="Text 17"/>
          <p:cNvSpPr/>
          <p:nvPr/>
        </p:nvSpPr>
        <p:spPr>
          <a:xfrm>
            <a:off x="11456035" y="38163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a:ln/>
        </p:spPr>
        <p:txBody>
          <a:bodyPr/>
          <a:lstStyle/>
          <a:p>
            <a:endParaRPr lang="es-ES"/>
          </a:p>
        </p:txBody>
      </p:sp>
      <p:sp>
        <p:nvSpPr>
          <p:cNvPr id="21" name="Text 19"/>
          <p:cNvSpPr/>
          <p:nvPr/>
        </p:nvSpPr>
        <p:spPr>
          <a:xfrm>
            <a:off x="11456035" y="501650"/>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a:ln/>
        </p:spPr>
        <p:txBody>
          <a:bodyPr/>
          <a:lstStyle/>
          <a:p>
            <a:endParaRPr lang="es-ES"/>
          </a:p>
        </p:txBody>
      </p:sp>
      <p:sp>
        <p:nvSpPr>
          <p:cNvPr id="23" name="Text 21"/>
          <p:cNvSpPr/>
          <p:nvPr/>
        </p:nvSpPr>
        <p:spPr>
          <a:xfrm>
            <a:off x="11456035" y="62166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txBody>
          <a:bodyPr/>
          <a:lstStyle/>
          <a:p>
            <a:endParaRPr lang="es-ES"/>
          </a:p>
        </p:txBody>
      </p:sp>
      <p:sp>
        <p:nvSpPr>
          <p:cNvPr id="25" name="Shape 23"/>
          <p:cNvSpPr/>
          <p:nvPr/>
        </p:nvSpPr>
        <p:spPr>
          <a:xfrm>
            <a:off x="852805" y="6177280"/>
            <a:ext cx="259080" cy="259080"/>
          </a:xfrm>
          <a:prstGeom prst="ellipse">
            <a:avLst/>
          </a:prstGeom>
          <a:solidFill>
            <a:srgbClr val="FFFFFF"/>
          </a:solidFill>
          <a:ln/>
        </p:spPr>
        <p:txBody>
          <a:bodyPr/>
          <a:lstStyle/>
          <a:p>
            <a:endParaRPr lang="es-ES"/>
          </a:p>
        </p:txBody>
      </p:sp>
      <p:sp>
        <p:nvSpPr>
          <p:cNvPr id="26" name="Text 24"/>
          <p:cNvSpPr/>
          <p:nvPr/>
        </p:nvSpPr>
        <p:spPr>
          <a:xfrm>
            <a:off x="852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txBody>
          <a:bodyPr/>
          <a:lstStyle/>
          <a:p>
            <a:endParaRPr lang="es-ES"/>
          </a:p>
        </p:txBody>
      </p:sp>
      <p:sp>
        <p:nvSpPr>
          <p:cNvPr id="28" name="Text 26"/>
          <p:cNvSpPr/>
          <p:nvPr/>
        </p:nvSpPr>
        <p:spPr>
          <a:xfrm>
            <a:off x="979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Shape 27"/>
          <p:cNvSpPr/>
          <p:nvPr/>
        </p:nvSpPr>
        <p:spPr>
          <a:xfrm>
            <a:off x="541655" y="2687320"/>
            <a:ext cx="11172825" cy="2306955"/>
          </a:xfrm>
          <a:prstGeom prst="rect">
            <a:avLst/>
          </a:prstGeom>
          <a:solidFill>
            <a:srgbClr val="000000">
              <a:alpha val="0"/>
            </a:srgbClr>
          </a:solidFill>
          <a:ln/>
        </p:spPr>
        <p:txBody>
          <a:bodyPr/>
          <a:lstStyle/>
          <a:p>
            <a:endParaRPr lang="es-ES"/>
          </a:p>
        </p:txBody>
      </p:sp>
      <p:sp>
        <p:nvSpPr>
          <p:cNvPr id="30" name="Text 28"/>
          <p:cNvSpPr/>
          <p:nvPr/>
        </p:nvSpPr>
        <p:spPr>
          <a:xfrm>
            <a:off x="541655" y="2687320"/>
            <a:ext cx="11172825" cy="2306955"/>
          </a:xfrm>
          <a:prstGeom prst="rect">
            <a:avLst/>
          </a:prstGeom>
          <a:noFill/>
          <a:ln/>
        </p:spPr>
        <p:txBody>
          <a:bodyPr wrap="square" lIns="45720" tIns="91440" rIns="91440" bIns="45720" rtlCol="0" anchor="t"/>
          <a:lstStyle/>
          <a:p>
            <a:pPr algn="ctr">
              <a:lnSpc>
                <a:spcPct val="100000"/>
              </a:lnSpc>
            </a:pPr>
            <a:r>
              <a:rPr lang="en-US" sz="7200" b="1" dirty="0">
                <a:solidFill>
                  <a:srgbClr val="FFFFFF"/>
                </a:solidFill>
                <a:latin typeface="MiSans" pitchFamily="34" charset="0"/>
                <a:ea typeface="MiSans" pitchFamily="34" charset="-122"/>
                <a:cs typeface="MiSans" pitchFamily="34" charset="-120"/>
              </a:rPr>
              <a:t>Salario mínimo</a:t>
            </a:r>
            <a:endParaRPr lang="en-US" sz="1600" dirty="0"/>
          </a:p>
        </p:txBody>
      </p:sp>
      <p:sp>
        <p:nvSpPr>
          <p:cNvPr id="31" name="Text 29"/>
          <p:cNvSpPr/>
          <p:nvPr/>
        </p:nvSpPr>
        <p:spPr>
          <a:xfrm>
            <a:off x="2515235" y="1350010"/>
            <a:ext cx="7161530" cy="1198880"/>
          </a:xfrm>
          <a:prstGeom prst="rect">
            <a:avLst/>
          </a:prstGeom>
          <a:noFill/>
          <a:ln/>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0"/>
                <a:ea typeface="MiSans" pitchFamily="34" charset="-122"/>
                <a:cs typeface="MiSans" pitchFamily="34" charset="-120"/>
              </a:rPr>
              <a:t>02</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pic>
        <p:nvPicPr>
          <p:cNvPr id="4" name="Image 0" descr="https://kimi-img.moonshot.cn/pub/slides/slides_tmpl/image/25-09-08-15:08:37-d2v81tdnfo2stf9dkdng.png"/>
          <p:cNvPicPr>
            <a:picLocks noChangeAspect="1"/>
          </p:cNvPicPr>
          <p:nvPr/>
        </p:nvPicPr>
        <p:blipFill>
          <a:blip r:embed="rId3"/>
          <a:srcRect l="89" r="89"/>
          <a:stretch/>
        </p:blipFill>
        <p:spPr>
          <a:xfrm>
            <a:off x="748030" y="1678940"/>
            <a:ext cx="3578225" cy="4374515"/>
          </a:xfrm>
          <a:prstGeom prst="rect">
            <a:avLst/>
          </a:prstGeom>
        </p:spPr>
      </p:pic>
      <p:sp>
        <p:nvSpPr>
          <p:cNvPr id="5" name="Shape 2"/>
          <p:cNvSpPr/>
          <p:nvPr/>
        </p:nvSpPr>
        <p:spPr>
          <a:xfrm>
            <a:off x="3981450" y="5556885"/>
            <a:ext cx="668020" cy="727075"/>
          </a:xfrm>
          <a:prstGeom prst="roundRect">
            <a:avLst>
              <a:gd name="adj" fmla="val 10513"/>
            </a:avLst>
          </a:prstGeom>
          <a:solidFill>
            <a:srgbClr val="BC7DB7"/>
          </a:solidFill>
          <a:ln/>
        </p:spPr>
        <p:txBody>
          <a:bodyPr/>
          <a:lstStyle/>
          <a:p>
            <a:endParaRPr lang="es-ES"/>
          </a:p>
        </p:txBody>
      </p:sp>
      <p:sp>
        <p:nvSpPr>
          <p:cNvPr id="6" name="Text 3"/>
          <p:cNvSpPr/>
          <p:nvPr/>
        </p:nvSpPr>
        <p:spPr>
          <a:xfrm>
            <a:off x="3981450" y="5556885"/>
            <a:ext cx="668020" cy="727075"/>
          </a:xfrm>
          <a:prstGeom prst="rect">
            <a:avLst/>
          </a:prstGeom>
          <a:noFill/>
          <a:ln/>
        </p:spPr>
        <p:txBody>
          <a:bodyPr wrap="square" lIns="45720" tIns="91440" rIns="91440" bIns="45720" rtlCol="0" anchor="ctr"/>
          <a:lstStyle/>
          <a:p>
            <a:pPr>
              <a:lnSpc>
                <a:spcPct val="100000"/>
              </a:lnSpc>
            </a:pPr>
            <a:endParaRPr lang="en-US" sz="1600" dirty="0"/>
          </a:p>
        </p:txBody>
      </p:sp>
      <p:sp>
        <p:nvSpPr>
          <p:cNvPr id="7" name="Shape 4"/>
          <p:cNvSpPr/>
          <p:nvPr/>
        </p:nvSpPr>
        <p:spPr>
          <a:xfrm>
            <a:off x="4871720" y="2914015"/>
            <a:ext cx="3157220" cy="3151505"/>
          </a:xfrm>
          <a:prstGeom prst="roundRect">
            <a:avLst>
              <a:gd name="adj" fmla="val 10513"/>
            </a:avLst>
          </a:prstGeom>
          <a:solidFill>
            <a:srgbClr val="FFFFFF"/>
          </a:solidFill>
          <a:ln w="19050">
            <a:solidFill>
              <a:srgbClr val="D5CDED">
                <a:alpha val="43137"/>
              </a:srgbClr>
            </a:solidFill>
            <a:prstDash val="solid"/>
          </a:ln>
          <a:effectLst>
            <a:outerShdw blurRad="190500" dist="71842" dir="2700000" algn="bl" rotWithShape="0">
              <a:srgbClr val="BC7DB7">
                <a:alpha val="10196"/>
              </a:srgbClr>
            </a:outerShdw>
          </a:effectLst>
        </p:spPr>
        <p:txBody>
          <a:bodyPr/>
          <a:lstStyle/>
          <a:p>
            <a:endParaRPr lang="es-ES"/>
          </a:p>
        </p:txBody>
      </p:sp>
      <p:sp>
        <p:nvSpPr>
          <p:cNvPr id="8" name="Text 5"/>
          <p:cNvSpPr/>
          <p:nvPr/>
        </p:nvSpPr>
        <p:spPr>
          <a:xfrm>
            <a:off x="4871720" y="2914015"/>
            <a:ext cx="3157220" cy="3151505"/>
          </a:xfrm>
          <a:prstGeom prst="rect">
            <a:avLst/>
          </a:prstGeom>
          <a:noFill/>
          <a:ln/>
        </p:spPr>
        <p:txBody>
          <a:bodyPr wrap="square" lIns="45720" tIns="91440" rIns="91440" bIns="45720" rtlCol="0" anchor="ctr"/>
          <a:lstStyle/>
          <a:p>
            <a:pPr>
              <a:lnSpc>
                <a:spcPct val="100000"/>
              </a:lnSpc>
            </a:pPr>
            <a:endParaRPr lang="en-US" sz="1600" dirty="0"/>
          </a:p>
        </p:txBody>
      </p:sp>
      <p:sp>
        <p:nvSpPr>
          <p:cNvPr id="9" name="Shape 6"/>
          <p:cNvSpPr/>
          <p:nvPr/>
        </p:nvSpPr>
        <p:spPr>
          <a:xfrm>
            <a:off x="8293100" y="2939415"/>
            <a:ext cx="3157220" cy="3138805"/>
          </a:xfrm>
          <a:prstGeom prst="roundRect">
            <a:avLst>
              <a:gd name="adj" fmla="val 10513"/>
            </a:avLst>
          </a:prstGeom>
          <a:solidFill>
            <a:srgbClr val="FFFFFF"/>
          </a:solidFill>
          <a:ln w="19050">
            <a:solidFill>
              <a:srgbClr val="D5CDED">
                <a:alpha val="43137"/>
              </a:srgbClr>
            </a:solidFill>
            <a:prstDash val="solid"/>
          </a:ln>
          <a:effectLst>
            <a:outerShdw blurRad="190500" dist="71842" dir="2700000" algn="bl" rotWithShape="0">
              <a:srgbClr val="BC7DB7">
                <a:alpha val="10196"/>
              </a:srgbClr>
            </a:outerShdw>
          </a:effectLst>
        </p:spPr>
        <p:txBody>
          <a:bodyPr/>
          <a:lstStyle/>
          <a:p>
            <a:endParaRPr lang="es-ES"/>
          </a:p>
        </p:txBody>
      </p:sp>
      <p:sp>
        <p:nvSpPr>
          <p:cNvPr id="10" name="Text 7"/>
          <p:cNvSpPr/>
          <p:nvPr/>
        </p:nvSpPr>
        <p:spPr>
          <a:xfrm>
            <a:off x="8293100" y="2939415"/>
            <a:ext cx="3157220" cy="3138805"/>
          </a:xfrm>
          <a:prstGeom prst="rect">
            <a:avLst/>
          </a:prstGeom>
          <a:noFill/>
          <a:ln/>
        </p:spPr>
        <p:txBody>
          <a:bodyPr wrap="square" lIns="45720" tIns="91440" rIns="91440" bIns="45720" rtlCol="0" anchor="ctr"/>
          <a:lstStyle/>
          <a:p>
            <a:pPr>
              <a:lnSpc>
                <a:spcPct val="100000"/>
              </a:lnSpc>
            </a:pPr>
            <a:endParaRPr lang="en-US" sz="1600" dirty="0"/>
          </a:p>
        </p:txBody>
      </p:sp>
      <p:sp>
        <p:nvSpPr>
          <p:cNvPr id="11" name="Shape 8"/>
          <p:cNvSpPr/>
          <p:nvPr/>
        </p:nvSpPr>
        <p:spPr>
          <a:xfrm rot="16200000">
            <a:off x="7311390" y="-882650"/>
            <a:ext cx="199390" cy="5166995"/>
          </a:xfrm>
          <a:prstGeom prst="roundRect">
            <a:avLst>
              <a:gd name="adj" fmla="val 50000"/>
            </a:avLst>
          </a:prstGeom>
          <a:gradFill flip="none" rotWithShape="1">
            <a:gsLst>
              <a:gs pos="0">
                <a:srgbClr val="D5CDED">
                  <a:alpha val="13000"/>
                </a:srgbClr>
              </a:gs>
              <a:gs pos="28000">
                <a:srgbClr val="D5CDED">
                  <a:alpha val="13000"/>
                </a:srgbClr>
              </a:gs>
              <a:gs pos="100000">
                <a:srgbClr val="402E7F"/>
              </a:gs>
            </a:gsLst>
            <a:lin ang="16200000" scaled="1"/>
          </a:gradFill>
          <a:ln/>
        </p:spPr>
        <p:txBody>
          <a:bodyPr/>
          <a:lstStyle/>
          <a:p>
            <a:endParaRPr lang="es-ES"/>
          </a:p>
        </p:txBody>
      </p:sp>
      <p:sp>
        <p:nvSpPr>
          <p:cNvPr id="12" name="Text 9"/>
          <p:cNvSpPr/>
          <p:nvPr/>
        </p:nvSpPr>
        <p:spPr>
          <a:xfrm rot="16200000">
            <a:off x="7311390" y="-882650"/>
            <a:ext cx="199390" cy="5166995"/>
          </a:xfrm>
          <a:prstGeom prst="rect">
            <a:avLst/>
          </a:prstGeom>
          <a:noFill/>
          <a:ln/>
        </p:spPr>
        <p:txBody>
          <a:bodyPr wrap="square" lIns="45720" tIns="91440" rIns="91440" bIns="45720" rtlCol="0" anchor="ctr"/>
          <a:lstStyle/>
          <a:p>
            <a:pPr>
              <a:lnSpc>
                <a:spcPct val="100000"/>
              </a:lnSpc>
            </a:pPr>
            <a:endParaRPr lang="en-US" sz="1600" dirty="0"/>
          </a:p>
        </p:txBody>
      </p:sp>
      <p:sp>
        <p:nvSpPr>
          <p:cNvPr id="13" name="Text 10"/>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Qué es y por qué crece</a:t>
            </a:r>
            <a:endParaRPr lang="en-US" sz="1600" dirty="0"/>
          </a:p>
        </p:txBody>
      </p:sp>
      <p:sp>
        <p:nvSpPr>
          <p:cNvPr id="14" name="Text 11"/>
          <p:cNvSpPr/>
          <p:nvPr/>
        </p:nvSpPr>
        <p:spPr>
          <a:xfrm>
            <a:off x="4802505" y="1123315"/>
            <a:ext cx="4800600" cy="460375"/>
          </a:xfrm>
          <a:prstGeom prst="rect">
            <a:avLst/>
          </a:prstGeom>
          <a:noFill/>
          <a:ln/>
        </p:spPr>
        <p:txBody>
          <a:bodyPr wrap="square" lIns="91440" tIns="45720" rIns="91440" bIns="45720" rtlCol="0" anchor="t">
            <a:spAutoFit/>
          </a:bodyPr>
          <a:lstStyle/>
          <a:p>
            <a:pPr>
              <a:lnSpc>
                <a:spcPct val="100000"/>
              </a:lnSpc>
            </a:pPr>
            <a:r>
              <a:rPr lang="en-US" sz="2400" b="1" dirty="0">
                <a:solidFill>
                  <a:srgbClr val="402E7F"/>
                </a:solidFill>
                <a:latin typeface="MiSans" pitchFamily="34" charset="0"/>
                <a:ea typeface="MiSans" pitchFamily="34" charset="-122"/>
                <a:cs typeface="MiSans" pitchFamily="34" charset="-120"/>
              </a:rPr>
              <a:t>Definición del SMI</a:t>
            </a:r>
            <a:endParaRPr lang="en-US" sz="1600" dirty="0"/>
          </a:p>
        </p:txBody>
      </p:sp>
      <p:sp>
        <p:nvSpPr>
          <p:cNvPr id="15" name="Text 12"/>
          <p:cNvSpPr/>
          <p:nvPr/>
        </p:nvSpPr>
        <p:spPr>
          <a:xfrm>
            <a:off x="4802505" y="1839595"/>
            <a:ext cx="6647815" cy="866140"/>
          </a:xfrm>
          <a:prstGeom prst="rect">
            <a:avLst/>
          </a:prstGeom>
          <a:noFill/>
          <a:ln/>
        </p:spPr>
        <p:txBody>
          <a:bodyPr wrap="square" lIns="91440" tIns="45720" rIns="91440" bIns="45720" rtlCol="0" anchor="t">
            <a:spAutoFit/>
          </a:bodyPr>
          <a:lstStyle/>
          <a:p>
            <a:pPr>
              <a:lnSpc>
                <a:spcPct val="120000"/>
              </a:lnSpc>
            </a:pPr>
            <a:r>
              <a:rPr lang="en-US" sz="1400" dirty="0">
                <a:solidFill>
                  <a:srgbClr val="1E1C0D"/>
                </a:solidFill>
                <a:latin typeface="MiSans" pitchFamily="34" charset="0"/>
                <a:ea typeface="MiSans" pitchFamily="34" charset="-122"/>
                <a:cs typeface="MiSans" pitchFamily="34" charset="-120"/>
              </a:rPr>
              <a:t>El Salario Mínimo Interprofesional (SMI) es el umbral legal mínimo por debajo del cual no puede remunerarse el trabajo. En España, ha experimentado un aumento significativo desde 2018, pasando de 736 € a 1.134 € en 2024.</a:t>
            </a:r>
            <a:endParaRPr lang="en-US" sz="1600" dirty="0"/>
          </a:p>
        </p:txBody>
      </p:sp>
      <p:sp>
        <p:nvSpPr>
          <p:cNvPr id="16" name="Text 13"/>
          <p:cNvSpPr/>
          <p:nvPr/>
        </p:nvSpPr>
        <p:spPr>
          <a:xfrm>
            <a:off x="5049520" y="2997200"/>
            <a:ext cx="2846705" cy="706755"/>
          </a:xfrm>
          <a:prstGeom prst="rect">
            <a:avLst/>
          </a:prstGeom>
          <a:noFill/>
          <a:ln/>
        </p:spPr>
        <p:txBody>
          <a:bodyPr wrap="square" lIns="91440" tIns="45720" rIns="91440" bIns="4572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Objetivo del aumento</a:t>
            </a:r>
            <a:endParaRPr lang="en-US" sz="1600" dirty="0"/>
          </a:p>
        </p:txBody>
      </p:sp>
      <p:sp>
        <p:nvSpPr>
          <p:cNvPr id="17" name="Text 14"/>
          <p:cNvSpPr/>
          <p:nvPr/>
        </p:nvSpPr>
        <p:spPr>
          <a:xfrm>
            <a:off x="5048250" y="3686175"/>
            <a:ext cx="2846070" cy="2158365"/>
          </a:xfrm>
          <a:prstGeom prst="rect">
            <a:avLst/>
          </a:prstGeom>
          <a:noFill/>
          <a:ln/>
        </p:spPr>
        <p:txBody>
          <a:bodyPr wrap="square" lIns="91440" tIns="45720" rIns="91440" bIns="45720" rtlCol="0" anchor="t">
            <a:spAutoFit/>
          </a:bodyPr>
          <a:lstStyle/>
          <a:p>
            <a:pPr>
              <a:lnSpc>
                <a:spcPct val="120000"/>
              </a:lnSpc>
            </a:pPr>
            <a:r>
              <a:rPr lang="en-US" sz="1400" dirty="0">
                <a:solidFill>
                  <a:srgbClr val="1E1C0D"/>
                </a:solidFill>
                <a:latin typeface="MiSans" pitchFamily="34" charset="0"/>
                <a:ea typeface="MiSans" pitchFamily="34" charset="-122"/>
                <a:cs typeface="MiSans" pitchFamily="34" charset="-120"/>
              </a:rPr>
              <a:t>El objetivo de este aumento es alcanzar el 60 % del salario medio, en línea con recomendaciones europeas, para combatir la pobreza laboral y reducir la desigualdad salarial.</a:t>
            </a:r>
            <a:endParaRPr lang="en-US" sz="1600" dirty="0"/>
          </a:p>
        </p:txBody>
      </p:sp>
      <p:sp>
        <p:nvSpPr>
          <p:cNvPr id="18" name="Text 15"/>
          <p:cNvSpPr/>
          <p:nvPr/>
        </p:nvSpPr>
        <p:spPr>
          <a:xfrm>
            <a:off x="8425815" y="2997200"/>
            <a:ext cx="2846705" cy="706755"/>
          </a:xfrm>
          <a:prstGeom prst="rect">
            <a:avLst/>
          </a:prstGeom>
          <a:noFill/>
          <a:ln/>
        </p:spPr>
        <p:txBody>
          <a:bodyPr wrap="square" lIns="91440" tIns="45720" rIns="91440" bIns="4572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Evolución reciente</a:t>
            </a:r>
            <a:endParaRPr lang="en-US" sz="1600" dirty="0"/>
          </a:p>
        </p:txBody>
      </p:sp>
      <p:sp>
        <p:nvSpPr>
          <p:cNvPr id="19" name="Text 16"/>
          <p:cNvSpPr/>
          <p:nvPr/>
        </p:nvSpPr>
        <p:spPr>
          <a:xfrm>
            <a:off x="8424545" y="3686175"/>
            <a:ext cx="2846070" cy="2158365"/>
          </a:xfrm>
          <a:prstGeom prst="rect">
            <a:avLst/>
          </a:prstGeom>
          <a:noFill/>
          <a:ln/>
        </p:spPr>
        <p:txBody>
          <a:bodyPr wrap="square" lIns="91440" tIns="45720" rIns="91440" bIns="45720" rtlCol="0" anchor="t">
            <a:spAutoFit/>
          </a:bodyPr>
          <a:lstStyle/>
          <a:p>
            <a:pPr>
              <a:lnSpc>
                <a:spcPct val="120000"/>
              </a:lnSpc>
            </a:pPr>
            <a:r>
              <a:rPr lang="en-US" sz="1400" dirty="0">
                <a:solidFill>
                  <a:srgbClr val="1E1C0D"/>
                </a:solidFill>
                <a:latin typeface="MiSans" pitchFamily="34" charset="0"/>
                <a:ea typeface="MiSans" pitchFamily="34" charset="-122"/>
                <a:cs typeface="MiSans" pitchFamily="34" charset="-120"/>
              </a:rPr>
              <a:t>Este proceso de revalorización ha elevado el SMI real en más del 50 % entre 2018 y 2026, situándolo en niveles intermedios dentro del contexto europeo.</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n 1" descr="Gráfico&#10;&#10;Descripción generada automáticamente">
            <a:extLst>
              <a:ext uri="{FF2B5EF4-FFF2-40B4-BE49-F238E27FC236}">
                <a16:creationId xmlns:a16="http://schemas.microsoft.com/office/drawing/2014/main" id="{20FB4D8D-C9E7-A431-1BA8-18C92AFB8376}"/>
              </a:ext>
            </a:extLst>
          </p:cNvPr>
          <p:cNvPicPr>
            <a:picLocks noChangeAspect="1"/>
          </p:cNvPicPr>
          <p:nvPr/>
        </p:nvPicPr>
        <p:blipFill>
          <a:blip r:embed="rId2"/>
          <a:stretch>
            <a:fillRect/>
          </a:stretch>
        </p:blipFill>
        <p:spPr>
          <a:xfrm>
            <a:off x="2293226" y="643467"/>
            <a:ext cx="7605548" cy="5571065"/>
          </a:xfrm>
          <a:prstGeom prst="rect">
            <a:avLst/>
          </a:prstGeom>
          <a:ln>
            <a:noFill/>
          </a:ln>
        </p:spPr>
      </p:pic>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319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pic>
        <p:nvPicPr>
          <p:cNvPr id="4" name="Image 0" descr="https://kimi-img.moonshot.cn/pub/slides/slides_tmpl/image/25-09-08-15:08:35-d2v81stnfo2stf9dkdj0.png"/>
          <p:cNvPicPr>
            <a:picLocks noChangeAspect="1"/>
          </p:cNvPicPr>
          <p:nvPr/>
        </p:nvPicPr>
        <p:blipFill>
          <a:blip r:embed="rId3"/>
          <a:srcRect l="8" r="8"/>
          <a:stretch/>
        </p:blipFill>
        <p:spPr>
          <a:xfrm>
            <a:off x="8825865" y="0"/>
            <a:ext cx="3839845" cy="6857365"/>
          </a:xfrm>
          <a:prstGeom prst="rect">
            <a:avLst/>
          </a:prstGeom>
        </p:spPr>
      </p:pic>
      <p:sp>
        <p:nvSpPr>
          <p:cNvPr id="5" name="Text 2"/>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Teoría: ¿destruye empleo?</a:t>
            </a:r>
            <a:endParaRPr lang="en-US" sz="1600" dirty="0"/>
          </a:p>
        </p:txBody>
      </p:sp>
      <p:sp>
        <p:nvSpPr>
          <p:cNvPr id="6" name="Shape 3"/>
          <p:cNvSpPr/>
          <p:nvPr/>
        </p:nvSpPr>
        <p:spPr>
          <a:xfrm>
            <a:off x="893445" y="1535430"/>
            <a:ext cx="9192260" cy="2009140"/>
          </a:xfrm>
          <a:prstGeom prst="rect">
            <a:avLst/>
          </a:prstGeom>
          <a:solidFill>
            <a:srgbClr val="402E7F"/>
          </a:solidFill>
          <a:ln/>
        </p:spPr>
        <p:txBody>
          <a:bodyPr/>
          <a:lstStyle/>
          <a:p>
            <a:endParaRPr lang="es-ES"/>
          </a:p>
        </p:txBody>
      </p:sp>
      <p:sp>
        <p:nvSpPr>
          <p:cNvPr id="7" name="Text 4"/>
          <p:cNvSpPr/>
          <p:nvPr/>
        </p:nvSpPr>
        <p:spPr>
          <a:xfrm>
            <a:off x="893445" y="1535430"/>
            <a:ext cx="9192260" cy="200914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5"/>
          <p:cNvSpPr/>
          <p:nvPr/>
        </p:nvSpPr>
        <p:spPr>
          <a:xfrm>
            <a:off x="893445" y="3765550"/>
            <a:ext cx="9192260" cy="2009140"/>
          </a:xfrm>
          <a:prstGeom prst="rect">
            <a:avLst/>
          </a:prstGeom>
          <a:solidFill>
            <a:srgbClr val="FFFFFF"/>
          </a:solidFill>
          <a:ln w="19050">
            <a:solidFill>
              <a:srgbClr val="402E7F"/>
            </a:solidFill>
            <a:prstDash val="solid"/>
          </a:ln>
        </p:spPr>
        <p:txBody>
          <a:bodyPr/>
          <a:lstStyle/>
          <a:p>
            <a:endParaRPr lang="es-ES"/>
          </a:p>
        </p:txBody>
      </p:sp>
      <p:sp>
        <p:nvSpPr>
          <p:cNvPr id="9" name="Text 6"/>
          <p:cNvSpPr/>
          <p:nvPr/>
        </p:nvSpPr>
        <p:spPr>
          <a:xfrm>
            <a:off x="893445" y="3765550"/>
            <a:ext cx="9192260" cy="200914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Text 7"/>
          <p:cNvSpPr/>
          <p:nvPr/>
        </p:nvSpPr>
        <p:spPr>
          <a:xfrm>
            <a:off x="1184275" y="1768475"/>
            <a:ext cx="8611235" cy="398780"/>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Predicción neoclásica</a:t>
            </a:r>
            <a:endParaRPr lang="en-US" sz="1600" dirty="0"/>
          </a:p>
        </p:txBody>
      </p:sp>
      <p:sp>
        <p:nvSpPr>
          <p:cNvPr id="11" name="Text 8"/>
          <p:cNvSpPr/>
          <p:nvPr/>
        </p:nvSpPr>
        <p:spPr>
          <a:xfrm>
            <a:off x="1184275" y="2143760"/>
            <a:ext cx="8611235" cy="1255395"/>
          </a:xfrm>
          <a:prstGeom prst="rect">
            <a:avLst/>
          </a:prstGeom>
          <a:noFill/>
          <a:ln/>
        </p:spPr>
        <p:txBody>
          <a:bodyPr wrap="square" lIns="91440" tIns="45720" rIns="91440" bIns="45720" rtlCol="0" anchor="t">
            <a:spAutoFit/>
          </a:bodyPr>
          <a:lstStyle/>
          <a:p>
            <a:pPr>
              <a:lnSpc>
                <a:spcPct val="150000"/>
              </a:lnSpc>
            </a:pPr>
            <a:r>
              <a:rPr lang="en-US" sz="1600" dirty="0">
                <a:solidFill>
                  <a:srgbClr val="FFFFFF"/>
                </a:solidFill>
                <a:latin typeface="MiSans" pitchFamily="34" charset="0"/>
                <a:ea typeface="MiSans" pitchFamily="34" charset="-122"/>
                <a:cs typeface="MiSans" pitchFamily="34" charset="-120"/>
              </a:rPr>
              <a:t>El modelo neoclásico predice que un salario mínimo por encima del equilibrio de mercado generará desempleo, ya que las empresas reducirán la demanda de empleo al enfrentarse a costes laborales superiores a la productividad marginal de los trabajadores.</a:t>
            </a:r>
            <a:endParaRPr lang="en-US" sz="1600" dirty="0"/>
          </a:p>
        </p:txBody>
      </p:sp>
      <p:sp>
        <p:nvSpPr>
          <p:cNvPr id="12" name="Text 9"/>
          <p:cNvSpPr/>
          <p:nvPr/>
        </p:nvSpPr>
        <p:spPr>
          <a:xfrm>
            <a:off x="1184275" y="3998595"/>
            <a:ext cx="8611235" cy="398780"/>
          </a:xfrm>
          <a:prstGeom prst="rect">
            <a:avLst/>
          </a:prstGeom>
          <a:noFill/>
          <a:ln/>
        </p:spPr>
        <p:txBody>
          <a:bodyPr wrap="square" lIns="91440" tIns="45720" rIns="91440" bIns="45720" rtlCol="0" anchor="t">
            <a:spAutoFit/>
          </a:bodyPr>
          <a:lstStyle/>
          <a:p>
            <a:pPr>
              <a:lnSpc>
                <a:spcPct val="100000"/>
              </a:lnSpc>
            </a:pPr>
            <a:r>
              <a:rPr lang="en-US" sz="2000" b="1" dirty="0">
                <a:solidFill>
                  <a:srgbClr val="1E1C0D"/>
                </a:solidFill>
                <a:latin typeface="MiSans" pitchFamily="34" charset="0"/>
                <a:ea typeface="MiSans" pitchFamily="34" charset="-122"/>
                <a:cs typeface="MiSans" pitchFamily="34" charset="-120"/>
              </a:rPr>
              <a:t>Modelo de monopsonio</a:t>
            </a:r>
            <a:endParaRPr lang="en-US" sz="1600" dirty="0"/>
          </a:p>
        </p:txBody>
      </p:sp>
      <p:sp>
        <p:nvSpPr>
          <p:cNvPr id="13" name="Text 10"/>
          <p:cNvSpPr/>
          <p:nvPr/>
        </p:nvSpPr>
        <p:spPr>
          <a:xfrm>
            <a:off x="1184275" y="4373880"/>
            <a:ext cx="8611235" cy="400685"/>
          </a:xfrm>
          <a:prstGeom prst="rect">
            <a:avLst/>
          </a:prstGeom>
          <a:noFill/>
          <a:ln/>
        </p:spPr>
        <p:txBody>
          <a:bodyPr wrap="square" lIns="91440" tIns="45720" rIns="91440" bIns="45720" rtlCol="0" anchor="t">
            <a:spAutoFit/>
          </a:bodyPr>
          <a:lstStyle/>
          <a:p>
            <a:pPr>
              <a:lnSpc>
                <a:spcPct val="150000"/>
              </a:lnSpc>
            </a:pPr>
            <a:r>
              <a:rPr lang="en-US" sz="1600" dirty="0">
                <a:solidFill>
                  <a:srgbClr val="1E1C0D"/>
                </a:solidFill>
                <a:latin typeface="MiSans" pitchFamily="34" charset="0"/>
                <a:ea typeface="MiSans" pitchFamily="34" charset="-122"/>
                <a:cs typeface="MiSans" pitchFamily="34" charset="-120"/>
              </a:rPr>
              <a:t>Sin embargo, en contextos de monopsonio, donde unos pocos empleadores dominan el mercado, un salario mínimo puede aumentar tanto los salarios como el empleo, corrigiendo la explotación del poder de mercado.</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Imagen 2">
            <a:extLst>
              <a:ext uri="{FF2B5EF4-FFF2-40B4-BE49-F238E27FC236}">
                <a16:creationId xmlns:a16="http://schemas.microsoft.com/office/drawing/2014/main" id="{50CAF9DF-B6A0-F107-7E1C-06172FD1D25C}"/>
              </a:ext>
            </a:extLst>
          </p:cNvPr>
          <p:cNvPicPr>
            <a:picLocks noChangeAspect="1"/>
          </p:cNvPicPr>
          <p:nvPr/>
        </p:nvPicPr>
        <p:blipFill>
          <a:blip r:embed="rId2"/>
          <a:srcRect l="1315"/>
          <a:stretch>
            <a:fillRect/>
          </a:stretch>
        </p:blipFill>
        <p:spPr>
          <a:xfrm>
            <a:off x="20" y="1282"/>
            <a:ext cx="12191980" cy="6856718"/>
          </a:xfrm>
          <a:prstGeom prst="rect">
            <a:avLst/>
          </a:prstGeom>
        </p:spPr>
      </p:pic>
    </p:spTree>
    <p:extLst>
      <p:ext uri="{BB962C8B-B14F-4D97-AF65-F5344CB8AC3E}">
        <p14:creationId xmlns:p14="http://schemas.microsoft.com/office/powerpoint/2010/main" val="1640248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4" name="Text 2"/>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Evidencia española 2019-2024</a:t>
            </a:r>
            <a:endParaRPr lang="en-US" sz="1600" dirty="0"/>
          </a:p>
        </p:txBody>
      </p:sp>
      <p:sp>
        <p:nvSpPr>
          <p:cNvPr id="5" name="Shape 3"/>
          <p:cNvSpPr/>
          <p:nvPr/>
        </p:nvSpPr>
        <p:spPr>
          <a:xfrm flipH="1" flipV="1">
            <a:off x="-11430" y="6449060"/>
            <a:ext cx="12211685" cy="408940"/>
          </a:xfrm>
          <a:prstGeom prst="round2DiagRect">
            <a:avLst>
              <a:gd name="adj1" fmla="val 0"/>
              <a:gd name="adj2" fmla="val 0"/>
            </a:avLst>
          </a:prstGeom>
          <a:solidFill>
            <a:srgbClr val="402E7F"/>
          </a:solidFill>
          <a:ln/>
        </p:spPr>
        <p:txBody>
          <a:bodyPr/>
          <a:lstStyle/>
          <a:p>
            <a:endParaRPr lang="es-ES"/>
          </a:p>
        </p:txBody>
      </p:sp>
      <p:sp>
        <p:nvSpPr>
          <p:cNvPr id="6" name="Text 4"/>
          <p:cNvSpPr/>
          <p:nvPr/>
        </p:nvSpPr>
        <p:spPr>
          <a:xfrm>
            <a:off x="-11430" y="6449060"/>
            <a:ext cx="12211685" cy="408940"/>
          </a:xfrm>
          <a:prstGeom prst="rect">
            <a:avLst/>
          </a:prstGeom>
          <a:noFill/>
          <a:ln/>
        </p:spPr>
        <p:txBody>
          <a:bodyPr wrap="square" lIns="45720" tIns="91440" rIns="91440" bIns="45720" rtlCol="0" anchor="ctr"/>
          <a:lstStyle/>
          <a:p>
            <a:pPr>
              <a:lnSpc>
                <a:spcPct val="100000"/>
              </a:lnSpc>
            </a:pPr>
            <a:endParaRPr lang="en-US" sz="1600" dirty="0"/>
          </a:p>
        </p:txBody>
      </p:sp>
      <p:sp>
        <p:nvSpPr>
          <p:cNvPr id="7" name="Shape 5"/>
          <p:cNvSpPr/>
          <p:nvPr/>
        </p:nvSpPr>
        <p:spPr>
          <a:xfrm>
            <a:off x="4418330" y="1447800"/>
            <a:ext cx="215265" cy="214630"/>
          </a:xfrm>
          <a:prstGeom prst="ellipse">
            <a:avLst/>
          </a:prstGeom>
          <a:solidFill>
            <a:srgbClr val="402E7F"/>
          </a:solidFill>
          <a:ln/>
        </p:spPr>
        <p:txBody>
          <a:bodyPr/>
          <a:lstStyle/>
          <a:p>
            <a:endParaRPr lang="es-ES"/>
          </a:p>
        </p:txBody>
      </p:sp>
      <p:sp>
        <p:nvSpPr>
          <p:cNvPr id="8" name="Text 6"/>
          <p:cNvSpPr/>
          <p:nvPr/>
        </p:nvSpPr>
        <p:spPr>
          <a:xfrm>
            <a:off x="4418330" y="1447800"/>
            <a:ext cx="215265" cy="214630"/>
          </a:xfrm>
          <a:prstGeom prst="rect">
            <a:avLst/>
          </a:prstGeom>
          <a:noFill/>
          <a:ln/>
        </p:spPr>
        <p:txBody>
          <a:bodyPr wrap="square" lIns="45720" tIns="91440" rIns="91440" bIns="45720" rtlCol="0" anchor="ctr"/>
          <a:lstStyle/>
          <a:p>
            <a:pPr>
              <a:lnSpc>
                <a:spcPct val="100000"/>
              </a:lnSpc>
            </a:pPr>
            <a:endParaRPr lang="en-US" sz="1600" dirty="0"/>
          </a:p>
        </p:txBody>
      </p:sp>
      <p:sp>
        <p:nvSpPr>
          <p:cNvPr id="9" name="Shape 7"/>
          <p:cNvSpPr/>
          <p:nvPr/>
        </p:nvSpPr>
        <p:spPr>
          <a:xfrm>
            <a:off x="4415155" y="3568700"/>
            <a:ext cx="337185" cy="336550"/>
          </a:xfrm>
          <a:prstGeom prst="ellipse">
            <a:avLst/>
          </a:prstGeom>
          <a:solidFill>
            <a:srgbClr val="402E7F"/>
          </a:solidFill>
          <a:ln/>
        </p:spPr>
        <p:txBody>
          <a:bodyPr/>
          <a:lstStyle/>
          <a:p>
            <a:endParaRPr lang="es-ES"/>
          </a:p>
        </p:txBody>
      </p:sp>
      <p:sp>
        <p:nvSpPr>
          <p:cNvPr id="10" name="Text 8"/>
          <p:cNvSpPr/>
          <p:nvPr/>
        </p:nvSpPr>
        <p:spPr>
          <a:xfrm>
            <a:off x="4415155" y="3568700"/>
            <a:ext cx="337185" cy="33655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Shape 9"/>
          <p:cNvSpPr/>
          <p:nvPr/>
        </p:nvSpPr>
        <p:spPr>
          <a:xfrm>
            <a:off x="4383405" y="1523365"/>
            <a:ext cx="7829550" cy="1828800"/>
          </a:xfrm>
          <a:custGeom>
            <a:avLst/>
            <a:gdLst/>
            <a:ahLst/>
            <a:cxnLst/>
            <a:rect l="l" t="t" r="r" b="b"/>
            <a:pathLst>
              <a:path w="7829550" h="1828800">
                <a:moveTo>
                  <a:pt x="0" y="914400"/>
                </a:moveTo>
                <a:cubicBezTo>
                  <a:pt x="0" y="409575"/>
                  <a:pt x="409575" y="0"/>
                  <a:pt x="914400" y="0"/>
                </a:cubicBezTo>
                <a:lnTo>
                  <a:pt x="7829550" y="0"/>
                </a:lnTo>
                <a:lnTo>
                  <a:pt x="7829550" y="1828800"/>
                </a:lnTo>
                <a:lnTo>
                  <a:pt x="914400" y="1828800"/>
                </a:lnTo>
                <a:cubicBezTo>
                  <a:pt x="409575" y="1828800"/>
                  <a:pt x="0" y="1419225"/>
                  <a:pt x="0" y="914400"/>
                </a:cubicBezTo>
                <a:close/>
              </a:path>
            </a:pathLst>
          </a:custGeom>
          <a:solidFill>
            <a:srgbClr val="402E7F"/>
          </a:solidFill>
          <a:ln/>
        </p:spPr>
        <p:txBody>
          <a:bodyPr/>
          <a:lstStyle/>
          <a:p>
            <a:endParaRPr lang="es-ES"/>
          </a:p>
        </p:txBody>
      </p:sp>
      <p:sp>
        <p:nvSpPr>
          <p:cNvPr id="12" name="Text 10"/>
          <p:cNvSpPr/>
          <p:nvPr/>
        </p:nvSpPr>
        <p:spPr>
          <a:xfrm>
            <a:off x="4383405" y="1523365"/>
            <a:ext cx="7829550" cy="1828800"/>
          </a:xfrm>
          <a:prstGeom prst="rect">
            <a:avLst/>
          </a:prstGeom>
          <a:noFill/>
          <a:ln/>
        </p:spPr>
        <p:txBody>
          <a:bodyPr wrap="square" lIns="45720" tIns="91440" rIns="91440" bIns="45720" rtlCol="0" anchor="ctr"/>
          <a:lstStyle/>
          <a:p>
            <a:pPr>
              <a:lnSpc>
                <a:spcPct val="100000"/>
              </a:lnSpc>
            </a:pPr>
            <a:endParaRPr lang="en-US" sz="1600" dirty="0"/>
          </a:p>
        </p:txBody>
      </p:sp>
      <p:sp>
        <p:nvSpPr>
          <p:cNvPr id="13" name="Shape 11"/>
          <p:cNvSpPr/>
          <p:nvPr/>
        </p:nvSpPr>
        <p:spPr>
          <a:xfrm>
            <a:off x="4383405" y="3875405"/>
            <a:ext cx="7829550" cy="1828800"/>
          </a:xfrm>
          <a:custGeom>
            <a:avLst/>
            <a:gdLst/>
            <a:ahLst/>
            <a:cxnLst/>
            <a:rect l="l" t="t" r="r" b="b"/>
            <a:pathLst>
              <a:path w="7829550" h="1828800">
                <a:moveTo>
                  <a:pt x="0" y="914400"/>
                </a:moveTo>
                <a:cubicBezTo>
                  <a:pt x="0" y="409575"/>
                  <a:pt x="409575" y="0"/>
                  <a:pt x="914400" y="0"/>
                </a:cubicBezTo>
                <a:lnTo>
                  <a:pt x="7829550" y="0"/>
                </a:lnTo>
                <a:lnTo>
                  <a:pt x="7829550" y="1828800"/>
                </a:lnTo>
                <a:lnTo>
                  <a:pt x="914400" y="1828800"/>
                </a:lnTo>
                <a:cubicBezTo>
                  <a:pt x="409575" y="1828800"/>
                  <a:pt x="0" y="1419225"/>
                  <a:pt x="0" y="914400"/>
                </a:cubicBezTo>
                <a:close/>
              </a:path>
            </a:pathLst>
          </a:custGeom>
          <a:solidFill>
            <a:srgbClr val="402E7F"/>
          </a:solidFill>
          <a:ln/>
        </p:spPr>
        <p:txBody>
          <a:bodyPr/>
          <a:lstStyle/>
          <a:p>
            <a:endParaRPr lang="es-ES"/>
          </a:p>
        </p:txBody>
      </p:sp>
      <p:sp>
        <p:nvSpPr>
          <p:cNvPr id="14" name="Text 12"/>
          <p:cNvSpPr/>
          <p:nvPr/>
        </p:nvSpPr>
        <p:spPr>
          <a:xfrm>
            <a:off x="4383405" y="3875405"/>
            <a:ext cx="7829550" cy="1828800"/>
          </a:xfrm>
          <a:prstGeom prst="rect">
            <a:avLst/>
          </a:prstGeom>
          <a:noFill/>
          <a:ln/>
        </p:spPr>
        <p:txBody>
          <a:bodyPr wrap="square" lIns="45720" tIns="91440" rIns="91440" bIns="45720" rtlCol="0" anchor="ctr"/>
          <a:lstStyle/>
          <a:p>
            <a:pPr>
              <a:lnSpc>
                <a:spcPct val="100000"/>
              </a:lnSpc>
            </a:pPr>
            <a:endParaRPr lang="en-US" sz="1600" dirty="0"/>
          </a:p>
        </p:txBody>
      </p:sp>
      <p:sp>
        <p:nvSpPr>
          <p:cNvPr id="15" name="Text 13"/>
          <p:cNvSpPr/>
          <p:nvPr/>
        </p:nvSpPr>
        <p:spPr>
          <a:xfrm>
            <a:off x="760730" y="1565275"/>
            <a:ext cx="3185795" cy="829945"/>
          </a:xfrm>
          <a:prstGeom prst="rect">
            <a:avLst/>
          </a:prstGeom>
          <a:noFill/>
          <a:ln/>
        </p:spPr>
        <p:txBody>
          <a:bodyPr wrap="square" lIns="91440" tIns="45720" rIns="91440" bIns="45720" rtlCol="0" anchor="t">
            <a:spAutoFit/>
          </a:bodyPr>
          <a:lstStyle/>
          <a:p>
            <a:pPr>
              <a:lnSpc>
                <a:spcPct val="100000"/>
              </a:lnSpc>
            </a:pPr>
            <a:r>
              <a:rPr lang="en-US" sz="2400" b="1" dirty="0">
                <a:solidFill>
                  <a:srgbClr val="402E7F"/>
                </a:solidFill>
                <a:latin typeface="MiSans" pitchFamily="34" charset="0"/>
                <a:ea typeface="MiSans" pitchFamily="34" charset="-122"/>
                <a:cs typeface="MiSans" pitchFamily="34" charset="-120"/>
              </a:rPr>
              <a:t>Estudios iniciales</a:t>
            </a:r>
            <a:endParaRPr lang="en-US" sz="1600" dirty="0"/>
          </a:p>
        </p:txBody>
      </p:sp>
      <p:sp>
        <p:nvSpPr>
          <p:cNvPr id="16" name="Text 14"/>
          <p:cNvSpPr/>
          <p:nvPr/>
        </p:nvSpPr>
        <p:spPr>
          <a:xfrm>
            <a:off x="760730" y="2376805"/>
            <a:ext cx="3186430" cy="3565525"/>
          </a:xfrm>
          <a:prstGeom prst="rect">
            <a:avLst/>
          </a:prstGeom>
          <a:noFill/>
          <a:ln/>
        </p:spPr>
        <p:txBody>
          <a:bodyPr wrap="square" lIns="91440" tIns="45720" rIns="91440" bIns="45720" rtlCol="0" anchor="t"/>
          <a:lstStyle/>
          <a:p>
            <a:pPr>
              <a:lnSpc>
                <a:spcPct val="130000"/>
              </a:lnSpc>
            </a:pPr>
            <a:r>
              <a:rPr lang="en-US" sz="1800" dirty="0">
                <a:solidFill>
                  <a:srgbClr val="1E1C0D"/>
                </a:solidFill>
                <a:latin typeface="MiSans" pitchFamily="34" charset="0"/>
                <a:ea typeface="MiSans" pitchFamily="34" charset="-122"/>
                <a:cs typeface="MiSans" pitchFamily="34" charset="-120"/>
              </a:rPr>
              <a:t>Los primeros estudios tras el aumento del SMI en 2019 encontraron efectos negativos moderados sobre el empleo, concentrados en jóvenes, temporales y sectores de baja cualificación.</a:t>
            </a:r>
            <a:endParaRPr lang="en-US" sz="1600" dirty="0"/>
          </a:p>
        </p:txBody>
      </p:sp>
      <p:sp>
        <p:nvSpPr>
          <p:cNvPr id="17" name="Text 15"/>
          <p:cNvSpPr/>
          <p:nvPr/>
        </p:nvSpPr>
        <p:spPr>
          <a:xfrm>
            <a:off x="5048250" y="1704975"/>
            <a:ext cx="6750050" cy="398780"/>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Reducción del empleo</a:t>
            </a:r>
            <a:endParaRPr lang="en-US" sz="1600" dirty="0"/>
          </a:p>
        </p:txBody>
      </p:sp>
      <p:sp>
        <p:nvSpPr>
          <p:cNvPr id="18" name="Text 16"/>
          <p:cNvSpPr/>
          <p:nvPr/>
        </p:nvSpPr>
        <p:spPr>
          <a:xfrm>
            <a:off x="5048250" y="2110740"/>
            <a:ext cx="6749415" cy="1060450"/>
          </a:xfrm>
          <a:prstGeom prst="rect">
            <a:avLst/>
          </a:prstGeom>
          <a:noFill/>
          <a:ln/>
        </p:spPr>
        <p:txBody>
          <a:bodyPr wrap="square" lIns="91440" tIns="45720" rIns="91440" bIns="45720" rtlCol="0" anchor="t">
            <a:spAutoFit/>
          </a:bodyPr>
          <a:lstStyle/>
          <a:p>
            <a:pPr>
              <a:lnSpc>
                <a:spcPct val="150000"/>
              </a:lnSpc>
            </a:pPr>
            <a:r>
              <a:rPr lang="en-US" sz="1400" dirty="0">
                <a:solidFill>
                  <a:srgbClr val="FFFFFF"/>
                </a:solidFill>
                <a:latin typeface="MiSans" pitchFamily="34" charset="0"/>
                <a:ea typeface="MiSans" pitchFamily="34" charset="-122"/>
                <a:cs typeface="MiSans" pitchFamily="34" charset="-120"/>
              </a:rPr>
              <a:t>Estimaciones situaban la reducción del empleo entre el 0,6 % y el 1,5 % del total, lo que equivalía a 100.000-200.000 empleos menos de los que se habrían creado sin el aumento.</a:t>
            </a:r>
            <a:endParaRPr lang="en-US" sz="1600" dirty="0"/>
          </a:p>
        </p:txBody>
      </p:sp>
      <p:sp>
        <p:nvSpPr>
          <p:cNvPr id="19" name="Text 17"/>
          <p:cNvSpPr/>
          <p:nvPr/>
        </p:nvSpPr>
        <p:spPr>
          <a:xfrm>
            <a:off x="5048250" y="4057015"/>
            <a:ext cx="6750050" cy="398780"/>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Complicaciones metodológicas</a:t>
            </a:r>
            <a:endParaRPr lang="en-US" sz="1600" dirty="0"/>
          </a:p>
        </p:txBody>
      </p:sp>
      <p:sp>
        <p:nvSpPr>
          <p:cNvPr id="20" name="Text 18"/>
          <p:cNvSpPr/>
          <p:nvPr/>
        </p:nvSpPr>
        <p:spPr>
          <a:xfrm>
            <a:off x="5048250" y="4462780"/>
            <a:ext cx="6749415" cy="1060450"/>
          </a:xfrm>
          <a:prstGeom prst="rect">
            <a:avLst/>
          </a:prstGeom>
          <a:noFill/>
          <a:ln/>
        </p:spPr>
        <p:txBody>
          <a:bodyPr wrap="square" lIns="91440" tIns="45720" rIns="91440" bIns="45720" rtlCol="0" anchor="t">
            <a:spAutoFit/>
          </a:bodyPr>
          <a:lstStyle/>
          <a:p>
            <a:pPr>
              <a:lnSpc>
                <a:spcPct val="150000"/>
              </a:lnSpc>
            </a:pPr>
            <a:r>
              <a:rPr lang="en-US" sz="1400" dirty="0">
                <a:solidFill>
                  <a:srgbClr val="FFFFFF"/>
                </a:solidFill>
                <a:latin typeface="MiSans" pitchFamily="34" charset="0"/>
                <a:ea typeface="MiSans" pitchFamily="34" charset="-122"/>
                <a:cs typeface="MiSans" pitchFamily="34" charset="-120"/>
              </a:rPr>
              <a:t>Sin embargo, estudios posteriores cuestionaron la magnitud de estos efectos, señalando que parte de la reducción podría atribuirse a la desaceleración económica y la pandemia de COVID-19.</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Imagen 2">
            <a:extLst>
              <a:ext uri="{FF2B5EF4-FFF2-40B4-BE49-F238E27FC236}">
                <a16:creationId xmlns:a16="http://schemas.microsoft.com/office/drawing/2014/main" id="{7B6E02AD-169E-08A4-1956-EF62F74E72DB}"/>
              </a:ext>
            </a:extLst>
          </p:cNvPr>
          <p:cNvPicPr>
            <a:picLocks noChangeAspect="1"/>
          </p:cNvPicPr>
          <p:nvPr/>
        </p:nvPicPr>
        <p:blipFill>
          <a:blip r:embed="rId2"/>
          <a:srcRect l="871" r="1" b="1"/>
          <a:stretch>
            <a:fillRect/>
          </a:stretch>
        </p:blipFill>
        <p:spPr>
          <a:xfrm>
            <a:off x="20" y="1282"/>
            <a:ext cx="12191980" cy="6856718"/>
          </a:xfrm>
          <a:prstGeom prst="rect">
            <a:avLst/>
          </a:prstGeom>
        </p:spPr>
      </p:pic>
    </p:spTree>
    <p:extLst>
      <p:ext uri="{BB962C8B-B14F-4D97-AF65-F5344CB8AC3E}">
        <p14:creationId xmlns:p14="http://schemas.microsoft.com/office/powerpoint/2010/main" val="2809644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pic>
        <p:nvPicPr>
          <p:cNvPr id="4" name="Image 0" descr="https://kimi-img.moonshot.cn/pub/slides/slides_tmpl/image/25-09-08-15:08:34-d2v81slnfo2stf9dkdh0.png"/>
          <p:cNvPicPr>
            <a:picLocks noChangeAspect="1"/>
          </p:cNvPicPr>
          <p:nvPr/>
        </p:nvPicPr>
        <p:blipFill>
          <a:blip r:embed="rId3"/>
          <a:srcRect t="67" b="67"/>
          <a:stretch/>
        </p:blipFill>
        <p:spPr>
          <a:xfrm>
            <a:off x="7731125" y="1292225"/>
            <a:ext cx="3686175" cy="2362200"/>
          </a:xfrm>
          <a:prstGeom prst="rect">
            <a:avLst/>
          </a:prstGeom>
        </p:spPr>
      </p:pic>
      <p:sp>
        <p:nvSpPr>
          <p:cNvPr id="5" name="Shape 2"/>
          <p:cNvSpPr/>
          <p:nvPr/>
        </p:nvSpPr>
        <p:spPr>
          <a:xfrm>
            <a:off x="898525" y="3885565"/>
            <a:ext cx="10510520" cy="2442210"/>
          </a:xfrm>
          <a:prstGeom prst="rect">
            <a:avLst/>
          </a:prstGeom>
          <a:solidFill>
            <a:srgbClr val="402E7F"/>
          </a:solidFill>
          <a:ln/>
        </p:spPr>
        <p:txBody>
          <a:bodyPr/>
          <a:lstStyle/>
          <a:p>
            <a:endParaRPr lang="es-ES"/>
          </a:p>
        </p:txBody>
      </p:sp>
      <p:sp>
        <p:nvSpPr>
          <p:cNvPr id="6" name="Text 3"/>
          <p:cNvSpPr/>
          <p:nvPr/>
        </p:nvSpPr>
        <p:spPr>
          <a:xfrm>
            <a:off x="898525" y="3885565"/>
            <a:ext cx="10510520" cy="2442210"/>
          </a:xfrm>
          <a:prstGeom prst="rect">
            <a:avLst/>
          </a:prstGeom>
          <a:noFill/>
          <a:ln/>
        </p:spPr>
        <p:txBody>
          <a:bodyPr wrap="square" lIns="45720" tIns="91440" rIns="91440" bIns="45720" rtlCol="0" anchor="ctr"/>
          <a:lstStyle/>
          <a:p>
            <a:pPr>
              <a:lnSpc>
                <a:spcPct val="100000"/>
              </a:lnSpc>
            </a:pPr>
            <a:endParaRPr lang="en-US" sz="1600" dirty="0"/>
          </a:p>
        </p:txBody>
      </p:sp>
      <p:pic>
        <p:nvPicPr>
          <p:cNvPr id="7" name="Image 1" descr="https://kimi-img.moonshot.cn/pub/slides/slides_tmpl/image/25-09-08-15:08:34-d2v81slnfo2stf9dkdi0.png"/>
          <p:cNvPicPr>
            <a:picLocks noChangeAspect="1"/>
          </p:cNvPicPr>
          <p:nvPr/>
        </p:nvPicPr>
        <p:blipFill>
          <a:blip r:embed="rId4"/>
          <a:srcRect t="28" b="28"/>
          <a:stretch/>
        </p:blipFill>
        <p:spPr>
          <a:xfrm>
            <a:off x="1060450" y="4023360"/>
            <a:ext cx="3415665" cy="2166620"/>
          </a:xfrm>
          <a:prstGeom prst="snip1Rect">
            <a:avLst>
              <a:gd name="adj" fmla="val 0"/>
            </a:avLst>
          </a:prstGeom>
        </p:spPr>
      </p:pic>
      <p:sp>
        <p:nvSpPr>
          <p:cNvPr id="8" name="Text 4"/>
          <p:cNvSpPr/>
          <p:nvPr/>
        </p:nvSpPr>
        <p:spPr>
          <a:xfrm>
            <a:off x="504190" y="444500"/>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Cumplimiento real</a:t>
            </a:r>
            <a:endParaRPr lang="en-US" sz="1600" dirty="0"/>
          </a:p>
        </p:txBody>
      </p:sp>
      <p:sp>
        <p:nvSpPr>
          <p:cNvPr id="9" name="Shape 5"/>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10" name="Text 6"/>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11" name="Text 7"/>
          <p:cNvSpPr/>
          <p:nvPr/>
        </p:nvSpPr>
        <p:spPr>
          <a:xfrm>
            <a:off x="862330" y="1524635"/>
            <a:ext cx="6428855" cy="675640"/>
          </a:xfrm>
          <a:prstGeom prst="rect">
            <a:avLst/>
          </a:prstGeom>
          <a:noFill/>
          <a:ln/>
        </p:spPr>
        <p:txBody>
          <a:bodyPr wrap="square" lIns="91440" tIns="45720" rIns="91440" bIns="45720" rtlCol="0" anchor="ctr"/>
          <a:lstStyle/>
          <a:p>
            <a:pPr>
              <a:lnSpc>
                <a:spcPct val="100000"/>
              </a:lnSpc>
            </a:pPr>
            <a:r>
              <a:rPr lang="en-US" sz="2400" b="1" dirty="0">
                <a:solidFill>
                  <a:srgbClr val="673563"/>
                </a:solidFill>
                <a:latin typeface="MiSans" pitchFamily="34" charset="0"/>
                <a:ea typeface="MiSans" pitchFamily="34" charset="-122"/>
                <a:cs typeface="MiSans" pitchFamily="34" charset="-120"/>
              </a:rPr>
              <a:t>Importancia del cumplimiento</a:t>
            </a:r>
            <a:endParaRPr lang="en-US" sz="1600" dirty="0"/>
          </a:p>
        </p:txBody>
      </p:sp>
      <p:sp>
        <p:nvSpPr>
          <p:cNvPr id="12" name="Text 8"/>
          <p:cNvSpPr/>
          <p:nvPr/>
        </p:nvSpPr>
        <p:spPr>
          <a:xfrm>
            <a:off x="862330" y="2124075"/>
            <a:ext cx="6430615" cy="1324610"/>
          </a:xfrm>
          <a:prstGeom prst="rect">
            <a:avLst/>
          </a:prstGeom>
          <a:noFill/>
          <a:ln/>
        </p:spPr>
        <p:txBody>
          <a:bodyPr wrap="square" lIns="91440" tIns="45720" rIns="91440" bIns="45720" rtlCol="0" anchor="t">
            <a:spAutoFit/>
          </a:bodyPr>
          <a:lstStyle/>
          <a:p>
            <a:pPr>
              <a:lnSpc>
                <a:spcPct val="140000"/>
              </a:lnSpc>
            </a:pPr>
            <a:r>
              <a:rPr lang="en-US" sz="1600" dirty="0">
                <a:solidFill>
                  <a:srgbClr val="1E1C0D"/>
                </a:solidFill>
                <a:latin typeface="MiSans" pitchFamily="34" charset="0"/>
                <a:ea typeface="MiSans" pitchFamily="34" charset="-122"/>
                <a:cs typeface="MiSans" pitchFamily="34" charset="-120"/>
              </a:rPr>
              <a:t>La efectividad del SMI depende del cumplimiento por parte de las empresas. Problemas como la economía sumergida, falsos autónomos y horas extras no declaradas limitan su impacto real.</a:t>
            </a:r>
            <a:endParaRPr lang="en-US" sz="1600" dirty="0"/>
          </a:p>
        </p:txBody>
      </p:sp>
      <p:sp>
        <p:nvSpPr>
          <p:cNvPr id="13" name="Text 9"/>
          <p:cNvSpPr/>
          <p:nvPr/>
        </p:nvSpPr>
        <p:spPr>
          <a:xfrm>
            <a:off x="4784071" y="4145915"/>
            <a:ext cx="6428855" cy="675640"/>
          </a:xfrm>
          <a:prstGeom prst="rect">
            <a:avLst/>
          </a:prstGeom>
          <a:noFill/>
          <a:ln/>
        </p:spPr>
        <p:txBody>
          <a:bodyPr wrap="square" lIns="91440" tIns="45720" rIns="91440" bIns="45720" rtlCol="0" anchor="ctr"/>
          <a:lstStyle/>
          <a:p>
            <a:pPr>
              <a:lnSpc>
                <a:spcPct val="100000"/>
              </a:lnSpc>
            </a:pPr>
            <a:r>
              <a:rPr lang="en-US" sz="2400" b="1" dirty="0">
                <a:solidFill>
                  <a:srgbClr val="FFFFFF"/>
                </a:solidFill>
                <a:latin typeface="MiSans" pitchFamily="34" charset="0"/>
                <a:ea typeface="MiSans" pitchFamily="34" charset="-122"/>
                <a:cs typeface="MiSans" pitchFamily="34" charset="-120"/>
              </a:rPr>
              <a:t>Desafíos en cumplimiento</a:t>
            </a:r>
            <a:endParaRPr lang="en-US" sz="1600" dirty="0"/>
          </a:p>
        </p:txBody>
      </p:sp>
      <p:sp>
        <p:nvSpPr>
          <p:cNvPr id="14" name="Text 10"/>
          <p:cNvSpPr/>
          <p:nvPr/>
        </p:nvSpPr>
        <p:spPr>
          <a:xfrm>
            <a:off x="4784071" y="4745355"/>
            <a:ext cx="6430615" cy="1468755"/>
          </a:xfrm>
          <a:prstGeom prst="rect">
            <a:avLst/>
          </a:prstGeom>
          <a:noFill/>
          <a:ln/>
        </p:spPr>
        <p:txBody>
          <a:bodyPr wrap="square" lIns="91440" tIns="45720" rIns="91440" bIns="45720" rtlCol="0" anchor="t">
            <a:spAutoFit/>
          </a:bodyPr>
          <a:lstStyle/>
          <a:p>
            <a:pPr>
              <a:lnSpc>
                <a:spcPct val="140000"/>
              </a:lnSpc>
            </a:pPr>
            <a:r>
              <a:rPr lang="en-US" sz="1600" dirty="0">
                <a:solidFill>
                  <a:srgbClr val="FFFFFF"/>
                </a:solidFill>
                <a:latin typeface="MiSans" pitchFamily="34" charset="0"/>
                <a:ea typeface="MiSans" pitchFamily="34" charset="-122"/>
                <a:cs typeface="MiSans" pitchFamily="34" charset="-120"/>
              </a:rPr>
              <a:t>La heterogeneidad de efectos entre sectores y regiones refleja diferencias en las capacidades de enforcement. Pequeñas empresas en sectores como la hostelería presentan mayores riesgos de incumplimiento.</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a:ln/>
        </p:spPr>
        <p:txBody>
          <a:bodyPr/>
          <a:lstStyle/>
          <a:p>
            <a:endParaRPr lang="es-ES"/>
          </a:p>
        </p:txBody>
      </p:sp>
      <p:sp>
        <p:nvSpPr>
          <p:cNvPr id="5" name="Text 3"/>
          <p:cNvSpPr/>
          <p:nvPr/>
        </p:nvSpPr>
        <p:spPr>
          <a:xfrm>
            <a:off x="4445" y="0"/>
            <a:ext cx="12187555" cy="687578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a:ln/>
        </p:spPr>
        <p:txBody>
          <a:bodyPr/>
          <a:lstStyle/>
          <a:p>
            <a:endParaRPr lang="es-ES"/>
          </a:p>
        </p:txBody>
      </p:sp>
      <p:sp>
        <p:nvSpPr>
          <p:cNvPr id="7" name="Text 5"/>
          <p:cNvSpPr/>
          <p:nvPr/>
        </p:nvSpPr>
        <p:spPr>
          <a:xfrm>
            <a:off x="85280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9" name="Text 7"/>
          <p:cNvSpPr/>
          <p:nvPr/>
        </p:nvSpPr>
        <p:spPr>
          <a:xfrm>
            <a:off x="113665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a:ln/>
        </p:spPr>
        <p:txBody>
          <a:bodyPr/>
          <a:lstStyle/>
          <a:p>
            <a:endParaRPr lang="es-ES"/>
          </a:p>
        </p:txBody>
      </p:sp>
      <p:sp>
        <p:nvSpPr>
          <p:cNvPr id="11" name="Text 9"/>
          <p:cNvSpPr/>
          <p:nvPr/>
        </p:nvSpPr>
        <p:spPr>
          <a:xfrm>
            <a:off x="142049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3" name="Text 11"/>
          <p:cNvSpPr/>
          <p:nvPr/>
        </p:nvSpPr>
        <p:spPr>
          <a:xfrm>
            <a:off x="170434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a:ln/>
        </p:spPr>
        <p:txBody>
          <a:bodyPr/>
          <a:lstStyle/>
          <a:p>
            <a:endParaRPr lang="es-ES"/>
          </a:p>
        </p:txBody>
      </p:sp>
      <p:sp>
        <p:nvSpPr>
          <p:cNvPr id="15" name="Text 13"/>
          <p:cNvSpPr/>
          <p:nvPr/>
        </p:nvSpPr>
        <p:spPr>
          <a:xfrm>
            <a:off x="198818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7" name="Text 15"/>
          <p:cNvSpPr/>
          <p:nvPr/>
        </p:nvSpPr>
        <p:spPr>
          <a:xfrm>
            <a:off x="227203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a:ln/>
        </p:spPr>
        <p:txBody>
          <a:bodyPr/>
          <a:lstStyle/>
          <a:p>
            <a:endParaRPr lang="es-ES"/>
          </a:p>
        </p:txBody>
      </p:sp>
      <p:sp>
        <p:nvSpPr>
          <p:cNvPr id="19" name="Text 17"/>
          <p:cNvSpPr/>
          <p:nvPr/>
        </p:nvSpPr>
        <p:spPr>
          <a:xfrm>
            <a:off x="11456035" y="38163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a:ln/>
        </p:spPr>
        <p:txBody>
          <a:bodyPr/>
          <a:lstStyle/>
          <a:p>
            <a:endParaRPr lang="es-ES"/>
          </a:p>
        </p:txBody>
      </p:sp>
      <p:sp>
        <p:nvSpPr>
          <p:cNvPr id="21" name="Text 19"/>
          <p:cNvSpPr/>
          <p:nvPr/>
        </p:nvSpPr>
        <p:spPr>
          <a:xfrm>
            <a:off x="11456035" y="501650"/>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a:ln/>
        </p:spPr>
        <p:txBody>
          <a:bodyPr/>
          <a:lstStyle/>
          <a:p>
            <a:endParaRPr lang="es-ES"/>
          </a:p>
        </p:txBody>
      </p:sp>
      <p:sp>
        <p:nvSpPr>
          <p:cNvPr id="23" name="Text 21"/>
          <p:cNvSpPr/>
          <p:nvPr/>
        </p:nvSpPr>
        <p:spPr>
          <a:xfrm>
            <a:off x="11456035" y="62166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txBody>
          <a:bodyPr/>
          <a:lstStyle/>
          <a:p>
            <a:endParaRPr lang="es-ES"/>
          </a:p>
        </p:txBody>
      </p:sp>
      <p:sp>
        <p:nvSpPr>
          <p:cNvPr id="25" name="Shape 23"/>
          <p:cNvSpPr/>
          <p:nvPr/>
        </p:nvSpPr>
        <p:spPr>
          <a:xfrm>
            <a:off x="852805" y="6177280"/>
            <a:ext cx="259080" cy="259080"/>
          </a:xfrm>
          <a:prstGeom prst="ellipse">
            <a:avLst/>
          </a:prstGeom>
          <a:solidFill>
            <a:srgbClr val="FFFFFF"/>
          </a:solidFill>
          <a:ln/>
        </p:spPr>
        <p:txBody>
          <a:bodyPr/>
          <a:lstStyle/>
          <a:p>
            <a:endParaRPr lang="es-ES"/>
          </a:p>
        </p:txBody>
      </p:sp>
      <p:sp>
        <p:nvSpPr>
          <p:cNvPr id="26" name="Text 24"/>
          <p:cNvSpPr/>
          <p:nvPr/>
        </p:nvSpPr>
        <p:spPr>
          <a:xfrm>
            <a:off x="852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txBody>
          <a:bodyPr/>
          <a:lstStyle/>
          <a:p>
            <a:endParaRPr lang="es-ES"/>
          </a:p>
        </p:txBody>
      </p:sp>
      <p:sp>
        <p:nvSpPr>
          <p:cNvPr id="28" name="Text 26"/>
          <p:cNvSpPr/>
          <p:nvPr/>
        </p:nvSpPr>
        <p:spPr>
          <a:xfrm>
            <a:off x="979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Shape 27"/>
          <p:cNvSpPr/>
          <p:nvPr/>
        </p:nvSpPr>
        <p:spPr>
          <a:xfrm>
            <a:off x="541655" y="2687320"/>
            <a:ext cx="11172825" cy="2306955"/>
          </a:xfrm>
          <a:prstGeom prst="rect">
            <a:avLst/>
          </a:prstGeom>
          <a:solidFill>
            <a:srgbClr val="000000">
              <a:alpha val="0"/>
            </a:srgbClr>
          </a:solidFill>
          <a:ln/>
        </p:spPr>
        <p:txBody>
          <a:bodyPr/>
          <a:lstStyle/>
          <a:p>
            <a:endParaRPr lang="es-ES"/>
          </a:p>
        </p:txBody>
      </p:sp>
      <p:sp>
        <p:nvSpPr>
          <p:cNvPr id="30" name="Text 28"/>
          <p:cNvSpPr/>
          <p:nvPr/>
        </p:nvSpPr>
        <p:spPr>
          <a:xfrm>
            <a:off x="541655" y="2687320"/>
            <a:ext cx="11172825" cy="2306955"/>
          </a:xfrm>
          <a:prstGeom prst="rect">
            <a:avLst/>
          </a:prstGeom>
          <a:noFill/>
          <a:ln/>
        </p:spPr>
        <p:txBody>
          <a:bodyPr wrap="square" lIns="45720" tIns="91440" rIns="91440" bIns="45720" rtlCol="0" anchor="t"/>
          <a:lstStyle/>
          <a:p>
            <a:pPr algn="ctr">
              <a:lnSpc>
                <a:spcPct val="100000"/>
              </a:lnSpc>
            </a:pPr>
            <a:r>
              <a:rPr lang="en-US" sz="7200" b="1" dirty="0">
                <a:solidFill>
                  <a:srgbClr val="FFFFFF"/>
                </a:solidFill>
                <a:latin typeface="MiSans" pitchFamily="34" charset="0"/>
                <a:ea typeface="MiSans" pitchFamily="34" charset="-122"/>
                <a:cs typeface="MiSans" pitchFamily="34" charset="-120"/>
              </a:rPr>
              <a:t>Moderación salarial</a:t>
            </a:r>
            <a:endParaRPr lang="en-US" sz="1600" dirty="0"/>
          </a:p>
        </p:txBody>
      </p:sp>
      <p:sp>
        <p:nvSpPr>
          <p:cNvPr id="31" name="Text 29"/>
          <p:cNvSpPr/>
          <p:nvPr/>
        </p:nvSpPr>
        <p:spPr>
          <a:xfrm>
            <a:off x="2515235" y="1350010"/>
            <a:ext cx="7161530" cy="1198880"/>
          </a:xfrm>
          <a:prstGeom prst="rect">
            <a:avLst/>
          </a:prstGeom>
          <a:noFill/>
          <a:ln/>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0"/>
                <a:ea typeface="MiSans" pitchFamily="34" charset="-122"/>
                <a:cs typeface="MiSans" pitchFamily="34" charset="-120"/>
              </a:rPr>
              <a:t>03</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rot="16200000" flipH="1" flipV="1">
            <a:off x="4631055" y="-4632960"/>
            <a:ext cx="2919095" cy="12209145"/>
          </a:xfrm>
          <a:prstGeom prst="round2DiagRect">
            <a:avLst>
              <a:gd name="adj1" fmla="val 0"/>
              <a:gd name="adj2" fmla="val 0"/>
            </a:avLst>
          </a:prstGeom>
          <a:solidFill>
            <a:srgbClr val="402E7F"/>
          </a:solidFill>
          <a:ln/>
        </p:spPr>
        <p:txBody>
          <a:bodyPr/>
          <a:lstStyle/>
          <a:p>
            <a:endParaRPr lang="es-ES"/>
          </a:p>
        </p:txBody>
      </p:sp>
      <p:sp>
        <p:nvSpPr>
          <p:cNvPr id="5" name="Text 3"/>
          <p:cNvSpPr/>
          <p:nvPr/>
        </p:nvSpPr>
        <p:spPr>
          <a:xfrm rot="16200000">
            <a:off x="4631055" y="-4632960"/>
            <a:ext cx="2919095" cy="12209145"/>
          </a:xfrm>
          <a:prstGeom prst="rect">
            <a:avLst/>
          </a:prstGeom>
          <a:noFill/>
          <a:ln/>
        </p:spPr>
        <p:txBody>
          <a:bodyPr wrap="square" lIns="45720" tIns="91440" rIns="91440" bIns="45720" rtlCol="0" anchor="ctr"/>
          <a:lstStyle/>
          <a:p>
            <a:pPr>
              <a:lnSpc>
                <a:spcPct val="100000"/>
              </a:lnSpc>
            </a:pPr>
            <a:endParaRPr lang="en-US" sz="1600" dirty="0"/>
          </a:p>
        </p:txBody>
      </p:sp>
      <p:sp>
        <p:nvSpPr>
          <p:cNvPr id="6" name="Text 4"/>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FFFFFF"/>
                </a:solidFill>
                <a:latin typeface="MiSans" pitchFamily="34" charset="0"/>
                <a:ea typeface="MiSans" pitchFamily="34" charset="-122"/>
                <a:cs typeface="MiSans" pitchFamily="34" charset="-120"/>
              </a:rPr>
              <a:t>Pactos de renta históricos</a:t>
            </a:r>
            <a:endParaRPr lang="en-US" sz="1600" dirty="0"/>
          </a:p>
        </p:txBody>
      </p:sp>
      <p:sp>
        <p:nvSpPr>
          <p:cNvPr id="7" name="Shape 5"/>
          <p:cNvSpPr/>
          <p:nvPr/>
        </p:nvSpPr>
        <p:spPr>
          <a:xfrm rot="5940000">
            <a:off x="292735" y="295275"/>
            <a:ext cx="558800" cy="558800"/>
          </a:xfrm>
          <a:prstGeom prst="donut">
            <a:avLst/>
          </a:prstGeom>
          <a:gradFill flip="none" rotWithShape="1">
            <a:gsLst>
              <a:gs pos="0">
                <a:srgbClr val="FFFFFF"/>
              </a:gs>
              <a:gs pos="54000">
                <a:srgbClr val="FFFFFF">
                  <a:alpha val="0"/>
                </a:srgbClr>
              </a:gs>
              <a:gs pos="100000">
                <a:srgbClr val="FFFFFF">
                  <a:alpha val="0"/>
                </a:srgbClr>
              </a:gs>
            </a:gsLst>
            <a:lin ang="18900000" scaled="1"/>
          </a:gradFill>
          <a:ln/>
        </p:spPr>
        <p:txBody>
          <a:bodyPr/>
          <a:lstStyle/>
          <a:p>
            <a:endParaRPr lang="es-ES"/>
          </a:p>
        </p:txBody>
      </p:sp>
      <p:sp>
        <p:nvSpPr>
          <p:cNvPr id="8" name="Text 6"/>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pic>
        <p:nvPicPr>
          <p:cNvPr id="9" name="Image 0" descr="https://kimi-img.moonshot.cn/pub/slides/slides_tmpl/image/25-09-08-15:08:36-d2v81t5nfo2stf9dkdk0.jpg"/>
          <p:cNvPicPr>
            <a:picLocks noChangeAspect="1"/>
          </p:cNvPicPr>
          <p:nvPr/>
        </p:nvPicPr>
        <p:blipFill>
          <a:blip r:embed="rId3"/>
          <a:srcRect l="48" r="48"/>
          <a:stretch/>
        </p:blipFill>
        <p:spPr>
          <a:xfrm>
            <a:off x="8419465" y="1526540"/>
            <a:ext cx="3337560" cy="4813300"/>
          </a:xfrm>
          <a:prstGeom prst="rect">
            <a:avLst/>
          </a:prstGeom>
        </p:spPr>
      </p:pic>
      <p:sp>
        <p:nvSpPr>
          <p:cNvPr id="10" name="Text 7"/>
          <p:cNvSpPr/>
          <p:nvPr/>
        </p:nvSpPr>
        <p:spPr>
          <a:xfrm>
            <a:off x="648970" y="1334135"/>
            <a:ext cx="7634715" cy="398780"/>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Origen de los pactos</a:t>
            </a:r>
            <a:endParaRPr lang="en-US" sz="1600" dirty="0"/>
          </a:p>
        </p:txBody>
      </p:sp>
      <p:sp>
        <p:nvSpPr>
          <p:cNvPr id="11" name="Text 8"/>
          <p:cNvSpPr/>
          <p:nvPr/>
        </p:nvSpPr>
        <p:spPr>
          <a:xfrm>
            <a:off x="648970" y="1733550"/>
            <a:ext cx="7652385" cy="1050925"/>
          </a:xfrm>
          <a:prstGeom prst="rect">
            <a:avLst/>
          </a:prstGeom>
          <a:noFill/>
          <a:ln/>
        </p:spPr>
        <p:txBody>
          <a:bodyPr wrap="square" lIns="91440" tIns="45720" rIns="91440" bIns="45720" rtlCol="0" anchor="t">
            <a:spAutoFit/>
          </a:bodyPr>
          <a:lstStyle/>
          <a:p>
            <a:pPr>
              <a:lnSpc>
                <a:spcPct val="130000"/>
              </a:lnSpc>
            </a:pPr>
            <a:r>
              <a:rPr lang="en-US" sz="1600" dirty="0">
                <a:solidFill>
                  <a:srgbClr val="FFFFFF"/>
                </a:solidFill>
                <a:latin typeface="MiSans" pitchFamily="34" charset="0"/>
                <a:ea typeface="MiSans" pitchFamily="34" charset="-122"/>
                <a:cs typeface="MiSans" pitchFamily="34" charset="-120"/>
              </a:rPr>
              <a:t>Los Pactos de la Moncloa de 1977 marcaron el inicio de la concertación social en España, estableciendo límites al crecimiento salarial para controlar la inflación y estabilizar la economía.</a:t>
            </a:r>
            <a:endParaRPr lang="en-US" sz="1600" dirty="0"/>
          </a:p>
        </p:txBody>
      </p:sp>
      <p:sp>
        <p:nvSpPr>
          <p:cNvPr id="12" name="Text 9"/>
          <p:cNvSpPr/>
          <p:nvPr/>
        </p:nvSpPr>
        <p:spPr>
          <a:xfrm>
            <a:off x="740410" y="3091815"/>
            <a:ext cx="3333654" cy="706755"/>
          </a:xfrm>
          <a:prstGeom prst="rect">
            <a:avLst/>
          </a:prstGeom>
          <a:noFill/>
          <a:ln/>
        </p:spPr>
        <p:txBody>
          <a:bodyPr wrap="square" lIns="91440" tIns="45720" rIns="91440" bIns="4572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Evolución en los 80</a:t>
            </a:r>
            <a:endParaRPr lang="en-US" sz="1600" dirty="0"/>
          </a:p>
        </p:txBody>
      </p:sp>
      <p:sp>
        <p:nvSpPr>
          <p:cNvPr id="13" name="Text 10"/>
          <p:cNvSpPr/>
          <p:nvPr/>
        </p:nvSpPr>
        <p:spPr>
          <a:xfrm>
            <a:off x="740410" y="3765550"/>
            <a:ext cx="3341370" cy="2494915"/>
          </a:xfrm>
          <a:prstGeom prst="rect">
            <a:avLst/>
          </a:prstGeom>
          <a:noFill/>
          <a:ln/>
        </p:spPr>
        <p:txBody>
          <a:bodyPr wrap="square" lIns="91440" tIns="45720" rIns="91440" bIns="45720" rtlCol="0" anchor="t"/>
          <a:lstStyle/>
          <a:p>
            <a:pPr>
              <a:lnSpc>
                <a:spcPct val="120000"/>
              </a:lnSpc>
            </a:pPr>
            <a:r>
              <a:rPr lang="en-US" sz="1600" dirty="0">
                <a:solidFill>
                  <a:srgbClr val="1E1C0D"/>
                </a:solidFill>
                <a:latin typeface="MiSans" pitchFamily="34" charset="0"/>
                <a:ea typeface="MiSans" pitchFamily="34" charset="-122"/>
                <a:cs typeface="MiSans" pitchFamily="34" charset="-120"/>
              </a:rPr>
              <a:t>Durante los años ochenta, acuerdos como el AMI, ANE y AES establecieron bandas de referencia para el crecimiento salarial, vinculadas a la inflación y la productividad, facilitando la coordinación salarial.</a:t>
            </a:r>
            <a:endParaRPr lang="en-US" sz="1600" dirty="0"/>
          </a:p>
        </p:txBody>
      </p:sp>
      <p:sp>
        <p:nvSpPr>
          <p:cNvPr id="14" name="Text 11"/>
          <p:cNvSpPr/>
          <p:nvPr/>
        </p:nvSpPr>
        <p:spPr>
          <a:xfrm>
            <a:off x="4707890" y="3091815"/>
            <a:ext cx="3333654" cy="706755"/>
          </a:xfrm>
          <a:prstGeom prst="rect">
            <a:avLst/>
          </a:prstGeom>
          <a:noFill/>
          <a:ln/>
        </p:spPr>
        <p:txBody>
          <a:bodyPr wrap="square" lIns="91440" tIns="45720" rIns="91440" bIns="4572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Rol de los agentes sociales</a:t>
            </a:r>
            <a:endParaRPr lang="en-US" sz="1600" dirty="0"/>
          </a:p>
        </p:txBody>
      </p:sp>
      <p:sp>
        <p:nvSpPr>
          <p:cNvPr id="15" name="Text 12"/>
          <p:cNvSpPr/>
          <p:nvPr/>
        </p:nvSpPr>
        <p:spPr>
          <a:xfrm>
            <a:off x="4707890" y="3765550"/>
            <a:ext cx="3341370" cy="2494915"/>
          </a:xfrm>
          <a:prstGeom prst="rect">
            <a:avLst/>
          </a:prstGeom>
          <a:noFill/>
          <a:ln/>
        </p:spPr>
        <p:txBody>
          <a:bodyPr wrap="square" lIns="91440" tIns="45720" rIns="91440" bIns="45720" rtlCol="0" anchor="t"/>
          <a:lstStyle/>
          <a:p>
            <a:pPr>
              <a:lnSpc>
                <a:spcPct val="120000"/>
              </a:lnSpc>
            </a:pPr>
            <a:r>
              <a:rPr lang="en-US" sz="1600" dirty="0">
                <a:solidFill>
                  <a:srgbClr val="1E1C0D"/>
                </a:solidFill>
                <a:latin typeface="MiSans" pitchFamily="34" charset="0"/>
                <a:ea typeface="MiSans" pitchFamily="34" charset="-122"/>
                <a:cs typeface="MiSans" pitchFamily="34" charset="-120"/>
              </a:rPr>
              <a:t>Aunque los acuerdos no eran vinculantes directamente, generaban orientaciones que los negociadores tendían a respetar, respaldadas por el compromiso político del gobierno de implementar medidas económicas y sociales.</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0" y="6028055"/>
            <a:ext cx="12212955" cy="829945"/>
          </a:xfrm>
          <a:prstGeom prst="rect">
            <a:avLst/>
          </a:prstGeom>
          <a:solidFill>
            <a:srgbClr val="402E7F"/>
          </a:solidFill>
          <a:ln/>
        </p:spPr>
        <p:txBody>
          <a:bodyPr/>
          <a:lstStyle/>
          <a:p>
            <a:endParaRPr lang="es-ES"/>
          </a:p>
        </p:txBody>
      </p:sp>
      <p:sp>
        <p:nvSpPr>
          <p:cNvPr id="5" name="Text 3"/>
          <p:cNvSpPr/>
          <p:nvPr/>
        </p:nvSpPr>
        <p:spPr>
          <a:xfrm>
            <a:off x="0" y="6028055"/>
            <a:ext cx="12212955" cy="829945"/>
          </a:xfrm>
          <a:prstGeom prst="rect">
            <a:avLst/>
          </a:prstGeom>
          <a:noFill/>
          <a:ln/>
        </p:spPr>
        <p:txBody>
          <a:bodyPr wrap="square" lIns="45720" tIns="91440" rIns="91440" bIns="45720" rtlCol="0" anchor="ctr"/>
          <a:lstStyle/>
          <a:p>
            <a:pPr>
              <a:lnSpc>
                <a:spcPct val="100000"/>
              </a:lnSpc>
            </a:pPr>
            <a:endParaRPr lang="en-US" sz="1600" dirty="0"/>
          </a:p>
        </p:txBody>
      </p:sp>
      <p:sp>
        <p:nvSpPr>
          <p:cNvPr id="6" name="Text 4"/>
          <p:cNvSpPr/>
          <p:nvPr/>
        </p:nvSpPr>
        <p:spPr>
          <a:xfrm>
            <a:off x="427990" y="45402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Devaluación interna 2008-2014</a:t>
            </a:r>
            <a:endParaRPr lang="en-US" sz="1600" dirty="0"/>
          </a:p>
        </p:txBody>
      </p:sp>
      <p:sp>
        <p:nvSpPr>
          <p:cNvPr id="7" name="Shape 5"/>
          <p:cNvSpPr/>
          <p:nvPr/>
        </p:nvSpPr>
        <p:spPr>
          <a:xfrm>
            <a:off x="781050" y="1346835"/>
            <a:ext cx="4958080" cy="4360545"/>
          </a:xfrm>
          <a:prstGeom prst="roundRect">
            <a:avLst>
              <a:gd name="adj" fmla="val 3153"/>
            </a:avLst>
          </a:prstGeom>
          <a:solidFill>
            <a:srgbClr val="FFFFFF"/>
          </a:solidFill>
          <a:ln w="19050">
            <a:solidFill>
              <a:srgbClr val="402E7F"/>
            </a:solidFill>
            <a:prstDash val="solid"/>
          </a:ln>
        </p:spPr>
        <p:txBody>
          <a:bodyPr/>
          <a:lstStyle/>
          <a:p>
            <a:endParaRPr lang="es-ES"/>
          </a:p>
        </p:txBody>
      </p:sp>
      <p:sp>
        <p:nvSpPr>
          <p:cNvPr id="8" name="Text 6"/>
          <p:cNvSpPr/>
          <p:nvPr/>
        </p:nvSpPr>
        <p:spPr>
          <a:xfrm>
            <a:off x="781050" y="1346835"/>
            <a:ext cx="4958080" cy="4360545"/>
          </a:xfrm>
          <a:prstGeom prst="rect">
            <a:avLst/>
          </a:prstGeom>
          <a:noFill/>
          <a:ln/>
        </p:spPr>
        <p:txBody>
          <a:bodyPr wrap="square" lIns="45720" tIns="91440" rIns="91440" bIns="45720" rtlCol="0" anchor="ctr"/>
          <a:lstStyle/>
          <a:p>
            <a:pPr>
              <a:lnSpc>
                <a:spcPct val="100000"/>
              </a:lnSpc>
            </a:pPr>
            <a:endParaRPr lang="en-US" sz="1600" dirty="0"/>
          </a:p>
        </p:txBody>
      </p:sp>
      <p:sp>
        <p:nvSpPr>
          <p:cNvPr id="9" name="Shape 7"/>
          <p:cNvSpPr/>
          <p:nvPr/>
        </p:nvSpPr>
        <p:spPr>
          <a:xfrm rot="16200000">
            <a:off x="936625" y="1374775"/>
            <a:ext cx="1061085" cy="1005205"/>
          </a:xfrm>
          <a:custGeom>
            <a:avLst/>
            <a:gdLst/>
            <a:ahLst/>
            <a:cxnLst/>
            <a:rect l="l" t="t" r="r" b="b"/>
            <a:pathLst>
              <a:path w="1061085" h="1005205">
                <a:moveTo>
                  <a:pt x="0" y="251460"/>
                </a:moveTo>
                <a:lnTo>
                  <a:pt x="1052195" y="251460"/>
                </a:lnTo>
                <a:lnTo>
                  <a:pt x="1052195" y="0"/>
                </a:lnTo>
                <a:lnTo>
                  <a:pt x="1061085" y="8890"/>
                </a:lnTo>
                <a:lnTo>
                  <a:pt x="1061085" y="996315"/>
                </a:lnTo>
                <a:lnTo>
                  <a:pt x="1052195" y="1005205"/>
                </a:lnTo>
                <a:lnTo>
                  <a:pt x="1052195" y="753745"/>
                </a:lnTo>
                <a:lnTo>
                  <a:pt x="0" y="753745"/>
                </a:lnTo>
                <a:lnTo>
                  <a:pt x="251460" y="502920"/>
                </a:lnTo>
                <a:lnTo>
                  <a:pt x="0" y="251460"/>
                </a:lnTo>
                <a:close/>
              </a:path>
            </a:pathLst>
          </a:custGeom>
          <a:solidFill>
            <a:srgbClr val="402E7F"/>
          </a:solidFill>
          <a:ln/>
        </p:spPr>
        <p:txBody>
          <a:bodyPr/>
          <a:lstStyle/>
          <a:p>
            <a:endParaRPr lang="es-ES"/>
          </a:p>
        </p:txBody>
      </p:sp>
      <p:sp>
        <p:nvSpPr>
          <p:cNvPr id="10" name="Text 8"/>
          <p:cNvSpPr/>
          <p:nvPr/>
        </p:nvSpPr>
        <p:spPr>
          <a:xfrm rot="16200000">
            <a:off x="936625" y="1374775"/>
            <a:ext cx="1061085" cy="1005205"/>
          </a:xfrm>
          <a:prstGeom prst="rect">
            <a:avLst/>
          </a:prstGeom>
          <a:noFill/>
          <a:ln/>
        </p:spPr>
        <p:txBody>
          <a:bodyPr wrap="square" lIns="45720" tIns="91440" rIns="91440" bIns="45720" rtlCol="0" anchor="ctr"/>
          <a:lstStyle/>
          <a:p>
            <a:pPr>
              <a:lnSpc>
                <a:spcPct val="100000"/>
              </a:lnSpc>
            </a:pPr>
            <a:endParaRPr lang="en-US" sz="1600" dirty="0"/>
          </a:p>
        </p:txBody>
      </p:sp>
      <p:sp>
        <p:nvSpPr>
          <p:cNvPr id="11" name="Shape 9"/>
          <p:cNvSpPr/>
          <p:nvPr/>
        </p:nvSpPr>
        <p:spPr>
          <a:xfrm>
            <a:off x="6181090" y="1346835"/>
            <a:ext cx="4958080" cy="4360545"/>
          </a:xfrm>
          <a:prstGeom prst="roundRect">
            <a:avLst>
              <a:gd name="adj" fmla="val 3153"/>
            </a:avLst>
          </a:prstGeom>
          <a:solidFill>
            <a:srgbClr val="FFFFFF"/>
          </a:solidFill>
          <a:ln w="19050">
            <a:solidFill>
              <a:srgbClr val="402E7F"/>
            </a:solidFill>
            <a:prstDash val="solid"/>
          </a:ln>
        </p:spPr>
        <p:txBody>
          <a:bodyPr/>
          <a:lstStyle/>
          <a:p>
            <a:endParaRPr lang="es-ES"/>
          </a:p>
        </p:txBody>
      </p:sp>
      <p:sp>
        <p:nvSpPr>
          <p:cNvPr id="12" name="Text 10"/>
          <p:cNvSpPr/>
          <p:nvPr/>
        </p:nvSpPr>
        <p:spPr>
          <a:xfrm>
            <a:off x="6181090" y="1346835"/>
            <a:ext cx="4958080" cy="4360545"/>
          </a:xfrm>
          <a:prstGeom prst="rect">
            <a:avLst/>
          </a:prstGeom>
          <a:noFill/>
          <a:ln/>
        </p:spPr>
        <p:txBody>
          <a:bodyPr wrap="square" lIns="45720" tIns="91440" rIns="91440" bIns="45720" rtlCol="0" anchor="ctr"/>
          <a:lstStyle/>
          <a:p>
            <a:pPr>
              <a:lnSpc>
                <a:spcPct val="100000"/>
              </a:lnSpc>
            </a:pPr>
            <a:endParaRPr lang="en-US" sz="1600" dirty="0"/>
          </a:p>
        </p:txBody>
      </p:sp>
      <p:sp>
        <p:nvSpPr>
          <p:cNvPr id="13" name="Shape 11"/>
          <p:cNvSpPr/>
          <p:nvPr/>
        </p:nvSpPr>
        <p:spPr>
          <a:xfrm rot="16200000">
            <a:off x="6336665" y="1374775"/>
            <a:ext cx="1061085" cy="1005205"/>
          </a:xfrm>
          <a:custGeom>
            <a:avLst/>
            <a:gdLst/>
            <a:ahLst/>
            <a:cxnLst/>
            <a:rect l="l" t="t" r="r" b="b"/>
            <a:pathLst>
              <a:path w="1061085" h="1005205">
                <a:moveTo>
                  <a:pt x="0" y="251460"/>
                </a:moveTo>
                <a:lnTo>
                  <a:pt x="1052195" y="251460"/>
                </a:lnTo>
                <a:lnTo>
                  <a:pt x="1052195" y="0"/>
                </a:lnTo>
                <a:lnTo>
                  <a:pt x="1061085" y="8890"/>
                </a:lnTo>
                <a:lnTo>
                  <a:pt x="1061085" y="996315"/>
                </a:lnTo>
                <a:lnTo>
                  <a:pt x="1052195" y="1005205"/>
                </a:lnTo>
                <a:lnTo>
                  <a:pt x="1052195" y="753745"/>
                </a:lnTo>
                <a:lnTo>
                  <a:pt x="0" y="753745"/>
                </a:lnTo>
                <a:lnTo>
                  <a:pt x="251460" y="502920"/>
                </a:lnTo>
                <a:lnTo>
                  <a:pt x="0" y="251460"/>
                </a:lnTo>
                <a:close/>
              </a:path>
            </a:pathLst>
          </a:custGeom>
          <a:solidFill>
            <a:srgbClr val="402E7F"/>
          </a:solidFill>
          <a:ln/>
        </p:spPr>
        <p:txBody>
          <a:bodyPr/>
          <a:lstStyle/>
          <a:p>
            <a:endParaRPr lang="es-ES"/>
          </a:p>
        </p:txBody>
      </p:sp>
      <p:sp>
        <p:nvSpPr>
          <p:cNvPr id="14" name="Text 12"/>
          <p:cNvSpPr/>
          <p:nvPr/>
        </p:nvSpPr>
        <p:spPr>
          <a:xfrm rot="16200000">
            <a:off x="6336665" y="1374775"/>
            <a:ext cx="1061085" cy="1005205"/>
          </a:xfrm>
          <a:prstGeom prst="rect">
            <a:avLst/>
          </a:prstGeom>
          <a:noFill/>
          <a:ln/>
        </p:spPr>
        <p:txBody>
          <a:bodyPr wrap="square" lIns="45720" tIns="91440" rIns="91440" bIns="45720" rtlCol="0" anchor="ctr"/>
          <a:lstStyle/>
          <a:p>
            <a:pPr>
              <a:lnSpc>
                <a:spcPct val="100000"/>
              </a:lnSpc>
            </a:pPr>
            <a:endParaRPr lang="en-US" sz="1600" dirty="0"/>
          </a:p>
        </p:txBody>
      </p:sp>
      <p:sp>
        <p:nvSpPr>
          <p:cNvPr id="15" name="Text 13"/>
          <p:cNvSpPr/>
          <p:nvPr/>
        </p:nvSpPr>
        <p:spPr>
          <a:xfrm>
            <a:off x="1727200" y="1641475"/>
            <a:ext cx="3681730" cy="829945"/>
          </a:xfrm>
          <a:prstGeom prst="rect">
            <a:avLst/>
          </a:prstGeom>
          <a:noFill/>
          <a:ln/>
        </p:spPr>
        <p:txBody>
          <a:bodyPr wrap="square" lIns="91440" tIns="45720" rIns="91440" bIns="45720" rtlCol="0" anchor="t">
            <a:spAutoFit/>
          </a:bodyPr>
          <a:lstStyle/>
          <a:p>
            <a:pPr>
              <a:lnSpc>
                <a:spcPct val="100000"/>
              </a:lnSpc>
            </a:pPr>
            <a:r>
              <a:rPr lang="en-US" sz="2400" b="1" dirty="0">
                <a:solidFill>
                  <a:srgbClr val="402E7F"/>
                </a:solidFill>
                <a:latin typeface="MiSans" pitchFamily="34" charset="0"/>
                <a:ea typeface="MiSans" pitchFamily="34" charset="-122"/>
                <a:cs typeface="MiSans" pitchFamily="34" charset="-120"/>
              </a:rPr>
              <a:t>Contexto de la crisis</a:t>
            </a:r>
            <a:endParaRPr lang="en-US" sz="1600" dirty="0"/>
          </a:p>
        </p:txBody>
      </p:sp>
      <p:sp>
        <p:nvSpPr>
          <p:cNvPr id="16" name="Text 14"/>
          <p:cNvSpPr/>
          <p:nvPr/>
        </p:nvSpPr>
        <p:spPr>
          <a:xfrm>
            <a:off x="1129665" y="2572385"/>
            <a:ext cx="4279265" cy="2956560"/>
          </a:xfrm>
          <a:prstGeom prst="rect">
            <a:avLst/>
          </a:prstGeom>
          <a:noFill/>
          <a:ln/>
        </p:spPr>
        <p:txBody>
          <a:bodyPr wrap="square" lIns="91440" tIns="45720" rIns="91440" bIns="45720" rtlCol="0" anchor="t"/>
          <a:lstStyle/>
          <a:p>
            <a:pPr>
              <a:lnSpc>
                <a:spcPct val="130000"/>
              </a:lnSpc>
            </a:pPr>
            <a:r>
              <a:rPr lang="en-US" sz="2000" dirty="0">
                <a:solidFill>
                  <a:srgbClr val="1E1C0D"/>
                </a:solidFill>
                <a:latin typeface="MiSans" pitchFamily="34" charset="0"/>
                <a:ea typeface="MiSans" pitchFamily="34" charset="-122"/>
                <a:cs typeface="MiSans" pitchFamily="34" charset="-120"/>
              </a:rPr>
              <a:t>Durante la crisis financiera de 2008, España recurrió a la devaluación interna para recuperar competitividad, ya que no podía depreciar la moneda dentro del euro.</a:t>
            </a:r>
            <a:endParaRPr lang="en-US" sz="1600" dirty="0"/>
          </a:p>
        </p:txBody>
      </p:sp>
      <p:sp>
        <p:nvSpPr>
          <p:cNvPr id="17" name="Text 15"/>
          <p:cNvSpPr/>
          <p:nvPr/>
        </p:nvSpPr>
        <p:spPr>
          <a:xfrm>
            <a:off x="7127240" y="1641475"/>
            <a:ext cx="3681730" cy="829945"/>
          </a:xfrm>
          <a:prstGeom prst="rect">
            <a:avLst/>
          </a:prstGeom>
          <a:noFill/>
          <a:ln/>
        </p:spPr>
        <p:txBody>
          <a:bodyPr wrap="square" lIns="91440" tIns="45720" rIns="91440" bIns="45720" rtlCol="0" anchor="t">
            <a:spAutoFit/>
          </a:bodyPr>
          <a:lstStyle/>
          <a:p>
            <a:pPr>
              <a:lnSpc>
                <a:spcPct val="100000"/>
              </a:lnSpc>
            </a:pPr>
            <a:r>
              <a:rPr lang="en-US" sz="2400" b="1" dirty="0">
                <a:solidFill>
                  <a:srgbClr val="402E7F"/>
                </a:solidFill>
                <a:latin typeface="MiSans" pitchFamily="34" charset="0"/>
                <a:ea typeface="MiSans" pitchFamily="34" charset="-122"/>
                <a:cs typeface="MiSans" pitchFamily="34" charset="-120"/>
              </a:rPr>
              <a:t>Efectos económicos</a:t>
            </a:r>
            <a:endParaRPr lang="en-US" sz="1600" dirty="0"/>
          </a:p>
        </p:txBody>
      </p:sp>
      <p:sp>
        <p:nvSpPr>
          <p:cNvPr id="18" name="Text 16"/>
          <p:cNvSpPr/>
          <p:nvPr/>
        </p:nvSpPr>
        <p:spPr>
          <a:xfrm>
            <a:off x="6529705" y="2572385"/>
            <a:ext cx="4279265" cy="2956560"/>
          </a:xfrm>
          <a:prstGeom prst="rect">
            <a:avLst/>
          </a:prstGeom>
          <a:noFill/>
          <a:ln/>
        </p:spPr>
        <p:txBody>
          <a:bodyPr wrap="square" lIns="91440" tIns="45720" rIns="91440" bIns="45720" rtlCol="0" anchor="t"/>
          <a:lstStyle/>
          <a:p>
            <a:pPr>
              <a:lnSpc>
                <a:spcPct val="130000"/>
              </a:lnSpc>
            </a:pPr>
            <a:r>
              <a:rPr lang="en-US" sz="2000" dirty="0">
                <a:solidFill>
                  <a:srgbClr val="1E1C0D"/>
                </a:solidFill>
                <a:latin typeface="MiSans" pitchFamily="34" charset="0"/>
                <a:ea typeface="MiSans" pitchFamily="34" charset="-122"/>
                <a:cs typeface="MiSans" pitchFamily="34" charset="-120"/>
              </a:rPr>
              <a:t>Los salarios nominales cayeron un 3 % y los reales un 7 % entre 2008 y 2014, lo que permitió una ganancia de competitividad y un reequilibrio de la balanza por cuenta corriente, pero también redujo la demanda interna.</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9091295" y="6985"/>
            <a:ext cx="2895600" cy="6823710"/>
          </a:xfrm>
          <a:prstGeom prst="parallelogram">
            <a:avLst/>
          </a:prstGeom>
          <a:gradFill flip="none" rotWithShape="1">
            <a:gsLst>
              <a:gs pos="0">
                <a:srgbClr val="D7B1D4"/>
              </a:gs>
              <a:gs pos="34000">
                <a:srgbClr val="BC7DB7"/>
              </a:gs>
              <a:gs pos="100000">
                <a:srgbClr val="30225F"/>
              </a:gs>
            </a:gsLst>
            <a:lin ang="13500000" scaled="1"/>
          </a:gradFill>
          <a:ln/>
        </p:spPr>
        <p:txBody>
          <a:bodyPr/>
          <a:lstStyle/>
          <a:p>
            <a:endParaRPr lang="es-ES"/>
          </a:p>
        </p:txBody>
      </p:sp>
      <p:sp>
        <p:nvSpPr>
          <p:cNvPr id="5" name="Text 3"/>
          <p:cNvSpPr/>
          <p:nvPr/>
        </p:nvSpPr>
        <p:spPr>
          <a:xfrm>
            <a:off x="9091295" y="6985"/>
            <a:ext cx="2895600" cy="6823710"/>
          </a:xfrm>
          <a:prstGeom prst="rect">
            <a:avLst/>
          </a:prstGeom>
          <a:noFill/>
          <a:ln/>
        </p:spPr>
        <p:txBody>
          <a:bodyPr wrap="square" lIns="45720" tIns="91440" rIns="91440" bIns="45720" rtlCol="0" anchor="ctr"/>
          <a:lstStyle/>
          <a:p>
            <a:pPr>
              <a:lnSpc>
                <a:spcPct val="100000"/>
              </a:lnSpc>
            </a:pPr>
            <a:endParaRPr lang="en-US" sz="1600" dirty="0"/>
          </a:p>
        </p:txBody>
      </p:sp>
      <p:sp>
        <p:nvSpPr>
          <p:cNvPr id="6" name="Text 4"/>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Reparto de la torta</a:t>
            </a:r>
            <a:endParaRPr lang="en-US" sz="1600" dirty="0"/>
          </a:p>
        </p:txBody>
      </p:sp>
      <p:sp>
        <p:nvSpPr>
          <p:cNvPr id="7" name="Shape 5"/>
          <p:cNvSpPr/>
          <p:nvPr/>
        </p:nvSpPr>
        <p:spPr>
          <a:xfrm>
            <a:off x="795655" y="2548890"/>
            <a:ext cx="3215640" cy="3182620"/>
          </a:xfrm>
          <a:prstGeom prst="rect">
            <a:avLst/>
          </a:prstGeom>
          <a:solidFill>
            <a:srgbClr val="FFFFFF"/>
          </a:solidFill>
          <a:ln w="19050">
            <a:solidFill>
              <a:srgbClr val="402E7F"/>
            </a:solidFill>
            <a:prstDash val="solid"/>
          </a:ln>
        </p:spPr>
        <p:txBody>
          <a:bodyPr/>
          <a:lstStyle/>
          <a:p>
            <a:endParaRPr lang="es-ES"/>
          </a:p>
        </p:txBody>
      </p:sp>
      <p:sp>
        <p:nvSpPr>
          <p:cNvPr id="8" name="Text 6"/>
          <p:cNvSpPr/>
          <p:nvPr/>
        </p:nvSpPr>
        <p:spPr>
          <a:xfrm>
            <a:off x="795655" y="2548890"/>
            <a:ext cx="3215640" cy="3182620"/>
          </a:xfrm>
          <a:prstGeom prst="rect">
            <a:avLst/>
          </a:prstGeom>
          <a:noFill/>
          <a:ln/>
        </p:spPr>
        <p:txBody>
          <a:bodyPr wrap="square" lIns="45720" tIns="91440" rIns="91440" bIns="45720" rtlCol="0" anchor="ctr"/>
          <a:lstStyle/>
          <a:p>
            <a:pPr>
              <a:lnSpc>
                <a:spcPct val="100000"/>
              </a:lnSpc>
            </a:pPr>
            <a:endParaRPr lang="en-US" sz="1600" dirty="0"/>
          </a:p>
        </p:txBody>
      </p:sp>
      <p:sp>
        <p:nvSpPr>
          <p:cNvPr id="9" name="Shape 7"/>
          <p:cNvSpPr/>
          <p:nvPr/>
        </p:nvSpPr>
        <p:spPr>
          <a:xfrm>
            <a:off x="795655" y="1725295"/>
            <a:ext cx="3215640" cy="762000"/>
          </a:xfrm>
          <a:prstGeom prst="rect">
            <a:avLst/>
          </a:prstGeom>
          <a:solidFill>
            <a:srgbClr val="402E7F"/>
          </a:solidFill>
          <a:ln/>
        </p:spPr>
        <p:txBody>
          <a:bodyPr/>
          <a:lstStyle/>
          <a:p>
            <a:endParaRPr lang="es-ES"/>
          </a:p>
        </p:txBody>
      </p:sp>
      <p:sp>
        <p:nvSpPr>
          <p:cNvPr id="10" name="Text 8"/>
          <p:cNvSpPr/>
          <p:nvPr/>
        </p:nvSpPr>
        <p:spPr>
          <a:xfrm>
            <a:off x="795655" y="1725295"/>
            <a:ext cx="3215640" cy="76200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Shape 9"/>
          <p:cNvSpPr/>
          <p:nvPr/>
        </p:nvSpPr>
        <p:spPr>
          <a:xfrm>
            <a:off x="4313555" y="2548890"/>
            <a:ext cx="3215640" cy="3182620"/>
          </a:xfrm>
          <a:prstGeom prst="rect">
            <a:avLst/>
          </a:prstGeom>
          <a:solidFill>
            <a:srgbClr val="FFFFFF"/>
          </a:solidFill>
          <a:ln w="19050">
            <a:solidFill>
              <a:srgbClr val="402E7F"/>
            </a:solidFill>
            <a:prstDash val="solid"/>
          </a:ln>
        </p:spPr>
        <p:txBody>
          <a:bodyPr/>
          <a:lstStyle/>
          <a:p>
            <a:endParaRPr lang="es-ES"/>
          </a:p>
        </p:txBody>
      </p:sp>
      <p:sp>
        <p:nvSpPr>
          <p:cNvPr id="12" name="Text 10"/>
          <p:cNvSpPr/>
          <p:nvPr/>
        </p:nvSpPr>
        <p:spPr>
          <a:xfrm>
            <a:off x="4313555" y="2548890"/>
            <a:ext cx="3215640" cy="3182620"/>
          </a:xfrm>
          <a:prstGeom prst="rect">
            <a:avLst/>
          </a:prstGeom>
          <a:noFill/>
          <a:ln/>
        </p:spPr>
        <p:txBody>
          <a:bodyPr wrap="square" lIns="45720" tIns="91440" rIns="91440" bIns="45720" rtlCol="0" anchor="ctr"/>
          <a:lstStyle/>
          <a:p>
            <a:pPr>
              <a:lnSpc>
                <a:spcPct val="100000"/>
              </a:lnSpc>
            </a:pPr>
            <a:endParaRPr lang="en-US" sz="1600" dirty="0"/>
          </a:p>
        </p:txBody>
      </p:sp>
      <p:sp>
        <p:nvSpPr>
          <p:cNvPr id="13" name="Shape 11"/>
          <p:cNvSpPr/>
          <p:nvPr/>
        </p:nvSpPr>
        <p:spPr>
          <a:xfrm>
            <a:off x="4313555" y="1725295"/>
            <a:ext cx="3215640" cy="762000"/>
          </a:xfrm>
          <a:prstGeom prst="rect">
            <a:avLst/>
          </a:prstGeom>
          <a:solidFill>
            <a:srgbClr val="402E7F"/>
          </a:solidFill>
          <a:ln/>
        </p:spPr>
        <p:txBody>
          <a:bodyPr/>
          <a:lstStyle/>
          <a:p>
            <a:endParaRPr lang="es-ES"/>
          </a:p>
        </p:txBody>
      </p:sp>
      <p:sp>
        <p:nvSpPr>
          <p:cNvPr id="14" name="Text 12"/>
          <p:cNvSpPr/>
          <p:nvPr/>
        </p:nvSpPr>
        <p:spPr>
          <a:xfrm>
            <a:off x="4313555" y="1725295"/>
            <a:ext cx="3215640" cy="762000"/>
          </a:xfrm>
          <a:prstGeom prst="rect">
            <a:avLst/>
          </a:prstGeom>
          <a:noFill/>
          <a:ln/>
        </p:spPr>
        <p:txBody>
          <a:bodyPr wrap="square" lIns="45720" tIns="91440" rIns="91440" bIns="45720" rtlCol="0" anchor="ctr"/>
          <a:lstStyle/>
          <a:p>
            <a:pPr>
              <a:lnSpc>
                <a:spcPct val="100000"/>
              </a:lnSpc>
            </a:pPr>
            <a:endParaRPr lang="en-US" sz="1600" dirty="0"/>
          </a:p>
        </p:txBody>
      </p:sp>
      <p:sp>
        <p:nvSpPr>
          <p:cNvPr id="15" name="Shape 13"/>
          <p:cNvSpPr/>
          <p:nvPr/>
        </p:nvSpPr>
        <p:spPr>
          <a:xfrm>
            <a:off x="7831455" y="2548890"/>
            <a:ext cx="3215640" cy="3182620"/>
          </a:xfrm>
          <a:prstGeom prst="rect">
            <a:avLst/>
          </a:prstGeom>
          <a:solidFill>
            <a:srgbClr val="FFFFFF"/>
          </a:solidFill>
          <a:ln w="19050">
            <a:solidFill>
              <a:srgbClr val="402E7F"/>
            </a:solidFill>
            <a:prstDash val="solid"/>
          </a:ln>
        </p:spPr>
        <p:txBody>
          <a:bodyPr/>
          <a:lstStyle/>
          <a:p>
            <a:endParaRPr lang="es-ES"/>
          </a:p>
        </p:txBody>
      </p:sp>
      <p:sp>
        <p:nvSpPr>
          <p:cNvPr id="16" name="Text 14"/>
          <p:cNvSpPr/>
          <p:nvPr/>
        </p:nvSpPr>
        <p:spPr>
          <a:xfrm>
            <a:off x="7831455" y="2548890"/>
            <a:ext cx="3215640" cy="318262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Shape 15"/>
          <p:cNvSpPr/>
          <p:nvPr/>
        </p:nvSpPr>
        <p:spPr>
          <a:xfrm>
            <a:off x="7831455" y="1725295"/>
            <a:ext cx="3215640" cy="762000"/>
          </a:xfrm>
          <a:prstGeom prst="rect">
            <a:avLst/>
          </a:prstGeom>
          <a:solidFill>
            <a:srgbClr val="402E7F"/>
          </a:solidFill>
          <a:ln/>
        </p:spPr>
        <p:txBody>
          <a:bodyPr/>
          <a:lstStyle/>
          <a:p>
            <a:endParaRPr lang="es-ES"/>
          </a:p>
        </p:txBody>
      </p:sp>
      <p:sp>
        <p:nvSpPr>
          <p:cNvPr id="18" name="Text 16"/>
          <p:cNvSpPr/>
          <p:nvPr/>
        </p:nvSpPr>
        <p:spPr>
          <a:xfrm>
            <a:off x="7831455" y="1725295"/>
            <a:ext cx="3215640" cy="762000"/>
          </a:xfrm>
          <a:prstGeom prst="rect">
            <a:avLst/>
          </a:prstGeom>
          <a:noFill/>
          <a:ln/>
        </p:spPr>
        <p:txBody>
          <a:bodyPr wrap="square" lIns="45720" tIns="91440" rIns="91440" bIns="45720" rtlCol="0" anchor="ctr"/>
          <a:lstStyle/>
          <a:p>
            <a:pPr>
              <a:lnSpc>
                <a:spcPct val="100000"/>
              </a:lnSpc>
            </a:pPr>
            <a:endParaRPr lang="en-US" sz="1600" dirty="0"/>
          </a:p>
        </p:txBody>
      </p:sp>
      <p:sp>
        <p:nvSpPr>
          <p:cNvPr id="19" name="Text 17"/>
          <p:cNvSpPr/>
          <p:nvPr/>
        </p:nvSpPr>
        <p:spPr>
          <a:xfrm>
            <a:off x="932815" y="1778000"/>
            <a:ext cx="2941320" cy="706755"/>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Redistribución hacia el capital</a:t>
            </a:r>
            <a:endParaRPr lang="en-US" sz="1600" dirty="0"/>
          </a:p>
        </p:txBody>
      </p:sp>
      <p:sp>
        <p:nvSpPr>
          <p:cNvPr id="20" name="Text 18"/>
          <p:cNvSpPr/>
          <p:nvPr/>
        </p:nvSpPr>
        <p:spPr>
          <a:xfrm>
            <a:off x="922020" y="2700020"/>
            <a:ext cx="2941955" cy="2971165"/>
          </a:xfrm>
          <a:prstGeom prst="rect">
            <a:avLst/>
          </a:prstGeom>
          <a:noFill/>
          <a:ln/>
        </p:spPr>
        <p:txBody>
          <a:bodyPr wrap="square" lIns="91440" tIns="45720" rIns="91440" bIns="45720" rtlCol="0" anchor="t">
            <a:spAutoFit/>
          </a:bodyPr>
          <a:lstStyle/>
          <a:p>
            <a:pPr>
              <a:lnSpc>
                <a:spcPct val="130000"/>
              </a:lnSpc>
            </a:pPr>
            <a:r>
              <a:rPr lang="en-US" sz="1600" dirty="0">
                <a:solidFill>
                  <a:srgbClr val="1E1C0D"/>
                </a:solidFill>
                <a:latin typeface="MiSans" pitchFamily="34" charset="0"/>
                <a:ea typeface="MiSans" pitchFamily="34" charset="-122"/>
                <a:cs typeface="MiSans" pitchFamily="34" charset="-120"/>
              </a:rPr>
              <a:t>La moderación salarial durante la crisis llevó a una redistribución de la renta del trabajo hacia el capital, reflejando tanto la contención salarial como la recuperación de márgenes empresariales.</a:t>
            </a:r>
            <a:endParaRPr lang="en-US" sz="1600" dirty="0"/>
          </a:p>
        </p:txBody>
      </p:sp>
      <p:sp>
        <p:nvSpPr>
          <p:cNvPr id="21" name="Text 19"/>
          <p:cNvSpPr/>
          <p:nvPr/>
        </p:nvSpPr>
        <p:spPr>
          <a:xfrm>
            <a:off x="4450715" y="1778000"/>
            <a:ext cx="2941320" cy="706755"/>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Debate político y académico</a:t>
            </a:r>
            <a:endParaRPr lang="en-US" sz="1600" dirty="0"/>
          </a:p>
        </p:txBody>
      </p:sp>
      <p:sp>
        <p:nvSpPr>
          <p:cNvPr id="22" name="Text 20"/>
          <p:cNvSpPr/>
          <p:nvPr/>
        </p:nvSpPr>
        <p:spPr>
          <a:xfrm>
            <a:off x="4439920" y="2700020"/>
            <a:ext cx="2941955" cy="2971165"/>
          </a:xfrm>
          <a:prstGeom prst="rect">
            <a:avLst/>
          </a:prstGeom>
          <a:noFill/>
          <a:ln/>
        </p:spPr>
        <p:txBody>
          <a:bodyPr wrap="square" lIns="91440" tIns="45720" rIns="91440" bIns="45720" rtlCol="0" anchor="t">
            <a:spAutoFit/>
          </a:bodyPr>
          <a:lstStyle/>
          <a:p>
            <a:pPr>
              <a:lnSpc>
                <a:spcPct val="130000"/>
              </a:lnSpc>
            </a:pPr>
            <a:r>
              <a:rPr lang="en-US" sz="1600" dirty="0">
                <a:solidFill>
                  <a:srgbClr val="1E1C0D"/>
                </a:solidFill>
                <a:latin typeface="MiSans" pitchFamily="34" charset="0"/>
                <a:ea typeface="MiSans" pitchFamily="34" charset="-122"/>
                <a:cs typeface="MiSans" pitchFamily="34" charset="-120"/>
              </a:rPr>
              <a:t>Este reparto generó un intenso debate sobre si el fortalecimiento de los márgenes empresariales era necesario para estimular la inversión o si exacerbaba la desigualdad.</a:t>
            </a:r>
            <a:endParaRPr lang="en-US" sz="1600" dirty="0"/>
          </a:p>
        </p:txBody>
      </p:sp>
      <p:sp>
        <p:nvSpPr>
          <p:cNvPr id="23" name="Text 21"/>
          <p:cNvSpPr/>
          <p:nvPr/>
        </p:nvSpPr>
        <p:spPr>
          <a:xfrm>
            <a:off x="7968615" y="1778000"/>
            <a:ext cx="2941320" cy="706755"/>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Efectos en desigualdad</a:t>
            </a:r>
            <a:endParaRPr lang="en-US" sz="1600" dirty="0"/>
          </a:p>
        </p:txBody>
      </p:sp>
      <p:sp>
        <p:nvSpPr>
          <p:cNvPr id="24" name="Text 22"/>
          <p:cNvSpPr/>
          <p:nvPr/>
        </p:nvSpPr>
        <p:spPr>
          <a:xfrm>
            <a:off x="7957820" y="2700020"/>
            <a:ext cx="2941955" cy="2971165"/>
          </a:xfrm>
          <a:prstGeom prst="rect">
            <a:avLst/>
          </a:prstGeom>
          <a:noFill/>
          <a:ln/>
        </p:spPr>
        <p:txBody>
          <a:bodyPr wrap="square" lIns="91440" tIns="45720" rIns="91440" bIns="45720" rtlCol="0" anchor="t">
            <a:spAutoFit/>
          </a:bodyPr>
          <a:lstStyle/>
          <a:p>
            <a:pPr>
              <a:lnSpc>
                <a:spcPct val="130000"/>
              </a:lnSpc>
            </a:pPr>
            <a:r>
              <a:rPr lang="en-US" sz="1600" dirty="0">
                <a:solidFill>
                  <a:srgbClr val="1E1C0D"/>
                </a:solidFill>
                <a:latin typeface="MiSans" pitchFamily="34" charset="0"/>
                <a:ea typeface="MiSans" pitchFamily="34" charset="-122"/>
                <a:cs typeface="MiSans" pitchFamily="34" charset="-120"/>
              </a:rPr>
              <a:t>Aunque la desigualdad salarial se redujo inicialmente, la desigualdad total de renta aumentó debido al incremento del desempleo, concentrando la pérdida de ingresos en hogares más vulnerables.</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a:ln/>
        </p:spPr>
        <p:txBody>
          <a:bodyPr/>
          <a:lstStyle/>
          <a:p>
            <a:endParaRPr lang="es-ES"/>
          </a:p>
        </p:txBody>
      </p:sp>
      <p:sp>
        <p:nvSpPr>
          <p:cNvPr id="5" name="Text 3"/>
          <p:cNvSpPr/>
          <p:nvPr/>
        </p:nvSpPr>
        <p:spPr>
          <a:xfrm>
            <a:off x="4445" y="0"/>
            <a:ext cx="12187555" cy="687578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a:ln/>
        </p:spPr>
        <p:txBody>
          <a:bodyPr/>
          <a:lstStyle/>
          <a:p>
            <a:endParaRPr lang="es-ES"/>
          </a:p>
        </p:txBody>
      </p:sp>
      <p:sp>
        <p:nvSpPr>
          <p:cNvPr id="7" name="Text 5"/>
          <p:cNvSpPr/>
          <p:nvPr/>
        </p:nvSpPr>
        <p:spPr>
          <a:xfrm>
            <a:off x="85280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9" name="Text 7"/>
          <p:cNvSpPr/>
          <p:nvPr/>
        </p:nvSpPr>
        <p:spPr>
          <a:xfrm>
            <a:off x="113665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a:ln/>
        </p:spPr>
        <p:txBody>
          <a:bodyPr/>
          <a:lstStyle/>
          <a:p>
            <a:endParaRPr lang="es-ES"/>
          </a:p>
        </p:txBody>
      </p:sp>
      <p:sp>
        <p:nvSpPr>
          <p:cNvPr id="11" name="Text 9"/>
          <p:cNvSpPr/>
          <p:nvPr/>
        </p:nvSpPr>
        <p:spPr>
          <a:xfrm>
            <a:off x="142049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3" name="Text 11"/>
          <p:cNvSpPr/>
          <p:nvPr/>
        </p:nvSpPr>
        <p:spPr>
          <a:xfrm>
            <a:off x="170434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a:ln/>
        </p:spPr>
        <p:txBody>
          <a:bodyPr/>
          <a:lstStyle/>
          <a:p>
            <a:endParaRPr lang="es-ES"/>
          </a:p>
        </p:txBody>
      </p:sp>
      <p:sp>
        <p:nvSpPr>
          <p:cNvPr id="15" name="Text 13"/>
          <p:cNvSpPr/>
          <p:nvPr/>
        </p:nvSpPr>
        <p:spPr>
          <a:xfrm>
            <a:off x="198818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7" name="Text 15"/>
          <p:cNvSpPr/>
          <p:nvPr/>
        </p:nvSpPr>
        <p:spPr>
          <a:xfrm>
            <a:off x="227203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a:ln/>
        </p:spPr>
        <p:txBody>
          <a:bodyPr/>
          <a:lstStyle/>
          <a:p>
            <a:endParaRPr lang="es-ES"/>
          </a:p>
        </p:txBody>
      </p:sp>
      <p:sp>
        <p:nvSpPr>
          <p:cNvPr id="19" name="Text 17"/>
          <p:cNvSpPr/>
          <p:nvPr/>
        </p:nvSpPr>
        <p:spPr>
          <a:xfrm>
            <a:off x="11456035" y="38163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a:ln/>
        </p:spPr>
        <p:txBody>
          <a:bodyPr/>
          <a:lstStyle/>
          <a:p>
            <a:endParaRPr lang="es-ES"/>
          </a:p>
        </p:txBody>
      </p:sp>
      <p:sp>
        <p:nvSpPr>
          <p:cNvPr id="21" name="Text 19"/>
          <p:cNvSpPr/>
          <p:nvPr/>
        </p:nvSpPr>
        <p:spPr>
          <a:xfrm>
            <a:off x="11456035" y="501650"/>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a:ln/>
        </p:spPr>
        <p:txBody>
          <a:bodyPr/>
          <a:lstStyle/>
          <a:p>
            <a:endParaRPr lang="es-ES"/>
          </a:p>
        </p:txBody>
      </p:sp>
      <p:sp>
        <p:nvSpPr>
          <p:cNvPr id="23" name="Text 21"/>
          <p:cNvSpPr/>
          <p:nvPr/>
        </p:nvSpPr>
        <p:spPr>
          <a:xfrm>
            <a:off x="11456035" y="62166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txBody>
          <a:bodyPr/>
          <a:lstStyle/>
          <a:p>
            <a:endParaRPr lang="es-ES"/>
          </a:p>
        </p:txBody>
      </p:sp>
      <p:sp>
        <p:nvSpPr>
          <p:cNvPr id="25" name="Shape 23"/>
          <p:cNvSpPr/>
          <p:nvPr/>
        </p:nvSpPr>
        <p:spPr>
          <a:xfrm>
            <a:off x="852805" y="6177280"/>
            <a:ext cx="259080" cy="259080"/>
          </a:xfrm>
          <a:prstGeom prst="ellipse">
            <a:avLst/>
          </a:prstGeom>
          <a:solidFill>
            <a:srgbClr val="FFFFFF"/>
          </a:solidFill>
          <a:ln/>
        </p:spPr>
        <p:txBody>
          <a:bodyPr/>
          <a:lstStyle/>
          <a:p>
            <a:endParaRPr lang="es-ES"/>
          </a:p>
        </p:txBody>
      </p:sp>
      <p:sp>
        <p:nvSpPr>
          <p:cNvPr id="26" name="Text 24"/>
          <p:cNvSpPr/>
          <p:nvPr/>
        </p:nvSpPr>
        <p:spPr>
          <a:xfrm>
            <a:off x="852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txBody>
          <a:bodyPr/>
          <a:lstStyle/>
          <a:p>
            <a:endParaRPr lang="es-ES"/>
          </a:p>
        </p:txBody>
      </p:sp>
      <p:sp>
        <p:nvSpPr>
          <p:cNvPr id="28" name="Text 26"/>
          <p:cNvSpPr/>
          <p:nvPr/>
        </p:nvSpPr>
        <p:spPr>
          <a:xfrm>
            <a:off x="979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Shape 27"/>
          <p:cNvSpPr/>
          <p:nvPr/>
        </p:nvSpPr>
        <p:spPr>
          <a:xfrm>
            <a:off x="541655" y="2687320"/>
            <a:ext cx="11172825" cy="2306955"/>
          </a:xfrm>
          <a:prstGeom prst="rect">
            <a:avLst/>
          </a:prstGeom>
          <a:solidFill>
            <a:srgbClr val="000000">
              <a:alpha val="0"/>
            </a:srgbClr>
          </a:solidFill>
          <a:ln/>
        </p:spPr>
        <p:txBody>
          <a:bodyPr/>
          <a:lstStyle/>
          <a:p>
            <a:endParaRPr lang="es-ES"/>
          </a:p>
        </p:txBody>
      </p:sp>
      <p:sp>
        <p:nvSpPr>
          <p:cNvPr id="30" name="Text 28"/>
          <p:cNvSpPr/>
          <p:nvPr/>
        </p:nvSpPr>
        <p:spPr>
          <a:xfrm>
            <a:off x="541655" y="2687320"/>
            <a:ext cx="11172825" cy="2306955"/>
          </a:xfrm>
          <a:prstGeom prst="rect">
            <a:avLst/>
          </a:prstGeom>
          <a:noFill/>
          <a:ln/>
        </p:spPr>
        <p:txBody>
          <a:bodyPr wrap="square" lIns="45720" tIns="91440" rIns="91440" bIns="45720" rtlCol="0" anchor="t"/>
          <a:lstStyle/>
          <a:p>
            <a:pPr algn="ctr">
              <a:lnSpc>
                <a:spcPct val="100000"/>
              </a:lnSpc>
            </a:pPr>
            <a:r>
              <a:rPr lang="en-US" sz="7200" b="1" dirty="0">
                <a:solidFill>
                  <a:srgbClr val="FFFFFF"/>
                </a:solidFill>
                <a:latin typeface="MiSans" pitchFamily="34" charset="0"/>
                <a:ea typeface="MiSans" pitchFamily="34" charset="-122"/>
                <a:cs typeface="MiSans" pitchFamily="34" charset="-120"/>
              </a:rPr>
              <a:t>Brecha de género</a:t>
            </a:r>
            <a:endParaRPr lang="en-US" sz="1600" dirty="0"/>
          </a:p>
        </p:txBody>
      </p:sp>
      <p:sp>
        <p:nvSpPr>
          <p:cNvPr id="31" name="Text 29"/>
          <p:cNvSpPr/>
          <p:nvPr/>
        </p:nvSpPr>
        <p:spPr>
          <a:xfrm>
            <a:off x="2515235" y="1350010"/>
            <a:ext cx="7161530" cy="1198880"/>
          </a:xfrm>
          <a:prstGeom prst="rect">
            <a:avLst/>
          </a:prstGeom>
          <a:noFill/>
          <a:ln/>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0"/>
                <a:ea typeface="MiSans" pitchFamily="34" charset="-122"/>
                <a:cs typeface="MiSans" pitchFamily="34" charset="-120"/>
              </a:rPr>
              <a:t>04</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4" name="Text 2"/>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18 % menos por hora, 24 % al año</a:t>
            </a:r>
            <a:endParaRPr lang="en-US" sz="1600" dirty="0"/>
          </a:p>
        </p:txBody>
      </p:sp>
      <p:sp>
        <p:nvSpPr>
          <p:cNvPr id="5" name="Shape 3"/>
          <p:cNvSpPr/>
          <p:nvPr/>
        </p:nvSpPr>
        <p:spPr>
          <a:xfrm flipH="1" flipV="1">
            <a:off x="-11430" y="6449060"/>
            <a:ext cx="12211685" cy="408940"/>
          </a:xfrm>
          <a:prstGeom prst="round2DiagRect">
            <a:avLst>
              <a:gd name="adj1" fmla="val 0"/>
              <a:gd name="adj2" fmla="val 0"/>
            </a:avLst>
          </a:prstGeom>
          <a:solidFill>
            <a:srgbClr val="402E7F"/>
          </a:solidFill>
          <a:ln/>
        </p:spPr>
        <p:txBody>
          <a:bodyPr/>
          <a:lstStyle/>
          <a:p>
            <a:endParaRPr lang="es-ES"/>
          </a:p>
        </p:txBody>
      </p:sp>
      <p:sp>
        <p:nvSpPr>
          <p:cNvPr id="6" name="Text 4"/>
          <p:cNvSpPr/>
          <p:nvPr/>
        </p:nvSpPr>
        <p:spPr>
          <a:xfrm>
            <a:off x="-11430" y="6449060"/>
            <a:ext cx="12211685" cy="408940"/>
          </a:xfrm>
          <a:prstGeom prst="rect">
            <a:avLst/>
          </a:prstGeom>
          <a:noFill/>
          <a:ln/>
        </p:spPr>
        <p:txBody>
          <a:bodyPr wrap="square" lIns="45720" tIns="91440" rIns="91440" bIns="45720" rtlCol="0" anchor="ctr"/>
          <a:lstStyle/>
          <a:p>
            <a:pPr>
              <a:lnSpc>
                <a:spcPct val="100000"/>
              </a:lnSpc>
            </a:pPr>
            <a:endParaRPr lang="en-US" sz="1600" dirty="0"/>
          </a:p>
        </p:txBody>
      </p:sp>
      <p:pic>
        <p:nvPicPr>
          <p:cNvPr id="7" name="Image 0" descr="https://kimi-img.moonshot.cn/pub/slides/slides_tmpl/image/25-09-08-15:08:37-d2v81tdnfo2stf9dkdm0.png"/>
          <p:cNvPicPr>
            <a:picLocks noChangeAspect="1"/>
          </p:cNvPicPr>
          <p:nvPr/>
        </p:nvPicPr>
        <p:blipFill>
          <a:blip r:embed="rId3"/>
          <a:srcRect t="9" b="9"/>
          <a:stretch/>
        </p:blipFill>
        <p:spPr>
          <a:xfrm>
            <a:off x="762000" y="1295400"/>
            <a:ext cx="3500755" cy="2362200"/>
          </a:xfrm>
          <a:prstGeom prst="rect">
            <a:avLst/>
          </a:prstGeom>
        </p:spPr>
      </p:pic>
      <p:pic>
        <p:nvPicPr>
          <p:cNvPr id="8" name="Image 1" descr="https://kimi-img.moonshot.cn/pub/slides/slides_tmpl/image/25-09-08-15:08:37-d2v81tdnfo2stf9dkdlg.png"/>
          <p:cNvPicPr>
            <a:picLocks noChangeAspect="1"/>
          </p:cNvPicPr>
          <p:nvPr/>
        </p:nvPicPr>
        <p:blipFill>
          <a:blip r:embed="rId4"/>
          <a:srcRect t="9" b="9"/>
          <a:stretch/>
        </p:blipFill>
        <p:spPr>
          <a:xfrm>
            <a:off x="7929880" y="1295400"/>
            <a:ext cx="3500755" cy="2362200"/>
          </a:xfrm>
          <a:prstGeom prst="rect">
            <a:avLst/>
          </a:prstGeom>
        </p:spPr>
      </p:pic>
      <p:pic>
        <p:nvPicPr>
          <p:cNvPr id="9" name="Image 2" descr="https://kimi-img.moonshot.cn/pub/slides/slides_tmpl/image/25-09-08-15:08:37-d2v81tdnfo2stf9dkdn0.png"/>
          <p:cNvPicPr>
            <a:picLocks noChangeAspect="1"/>
          </p:cNvPicPr>
          <p:nvPr/>
        </p:nvPicPr>
        <p:blipFill>
          <a:blip r:embed="rId5"/>
          <a:srcRect t="9" b="9"/>
          <a:stretch/>
        </p:blipFill>
        <p:spPr>
          <a:xfrm>
            <a:off x="4378960" y="3855720"/>
            <a:ext cx="3500755" cy="2362200"/>
          </a:xfrm>
          <a:prstGeom prst="rect">
            <a:avLst/>
          </a:prstGeom>
        </p:spPr>
      </p:pic>
      <p:sp>
        <p:nvSpPr>
          <p:cNvPr id="10" name="Text 5"/>
          <p:cNvSpPr/>
          <p:nvPr/>
        </p:nvSpPr>
        <p:spPr>
          <a:xfrm>
            <a:off x="4415155" y="1295400"/>
            <a:ext cx="3501390" cy="526415"/>
          </a:xfrm>
          <a:prstGeom prst="rect">
            <a:avLst/>
          </a:prstGeom>
          <a:noFill/>
          <a:ln/>
        </p:spPr>
        <p:txBody>
          <a:bodyPr wrap="square" lIns="91440" tIns="45720" rIns="91440" bIns="45720" rtlCol="0" anchor="t"/>
          <a:lstStyle/>
          <a:p>
            <a:pPr algn="ctr">
              <a:lnSpc>
                <a:spcPct val="100000"/>
              </a:lnSpc>
            </a:pPr>
            <a:r>
              <a:rPr lang="en-US" sz="1800" b="1" dirty="0">
                <a:solidFill>
                  <a:srgbClr val="402E7F"/>
                </a:solidFill>
                <a:latin typeface="MiSans" pitchFamily="34" charset="0"/>
                <a:ea typeface="MiSans" pitchFamily="34" charset="-122"/>
                <a:cs typeface="MiSans" pitchFamily="34" charset="-120"/>
              </a:rPr>
              <a:t>Magnitud de la brecha</a:t>
            </a:r>
            <a:endParaRPr lang="en-US" sz="1600" dirty="0"/>
          </a:p>
        </p:txBody>
      </p:sp>
      <p:sp>
        <p:nvSpPr>
          <p:cNvPr id="11" name="Text 6"/>
          <p:cNvSpPr/>
          <p:nvPr/>
        </p:nvSpPr>
        <p:spPr>
          <a:xfrm>
            <a:off x="4415155" y="1663065"/>
            <a:ext cx="3501390" cy="2004695"/>
          </a:xfrm>
          <a:prstGeom prst="rect">
            <a:avLst/>
          </a:prstGeom>
          <a:noFill/>
          <a:ln/>
        </p:spPr>
        <p:txBody>
          <a:bodyPr wrap="square" lIns="91440" tIns="45720" rIns="91440" bIns="45720" rtlCol="0" anchor="t"/>
          <a:lstStyle/>
          <a:p>
            <a:pPr>
              <a:lnSpc>
                <a:spcPct val="150000"/>
              </a:lnSpc>
            </a:pPr>
            <a:r>
              <a:rPr lang="en-US" sz="1400" dirty="0">
                <a:solidFill>
                  <a:srgbClr val="1E1C0D"/>
                </a:solidFill>
                <a:latin typeface="MiSans" pitchFamily="34" charset="0"/>
                <a:ea typeface="MiSans" pitchFamily="34" charset="-122"/>
                <a:cs typeface="MiSans" pitchFamily="34" charset="-120"/>
              </a:rPr>
              <a:t>La brecha salarial en España se ha reducido lentamente, situándose en 2025 en un 18-20 % en términos de salario por hora y un 24-26 % en ingresos anuales.</a:t>
            </a:r>
            <a:endParaRPr lang="en-US" sz="1600" dirty="0"/>
          </a:p>
        </p:txBody>
      </p:sp>
      <p:sp>
        <p:nvSpPr>
          <p:cNvPr id="12" name="Text 7"/>
          <p:cNvSpPr/>
          <p:nvPr/>
        </p:nvSpPr>
        <p:spPr>
          <a:xfrm>
            <a:off x="801370" y="3879850"/>
            <a:ext cx="3501390" cy="526415"/>
          </a:xfrm>
          <a:prstGeom prst="rect">
            <a:avLst/>
          </a:prstGeom>
          <a:noFill/>
          <a:ln/>
        </p:spPr>
        <p:txBody>
          <a:bodyPr wrap="square" lIns="91440" tIns="45720" rIns="91440" bIns="45720" rtlCol="0" anchor="t"/>
          <a:lstStyle/>
          <a:p>
            <a:pPr algn="ctr">
              <a:lnSpc>
                <a:spcPct val="100000"/>
              </a:lnSpc>
            </a:pPr>
            <a:r>
              <a:rPr lang="en-US" sz="1800" b="1" dirty="0">
                <a:solidFill>
                  <a:srgbClr val="402E7F"/>
                </a:solidFill>
                <a:latin typeface="MiSans" pitchFamily="34" charset="0"/>
                <a:ea typeface="MiSans" pitchFamily="34" charset="-122"/>
                <a:cs typeface="MiSans" pitchFamily="34" charset="-120"/>
              </a:rPr>
              <a:t>Diferencia entre mediciones</a:t>
            </a:r>
            <a:endParaRPr lang="en-US" sz="1600" dirty="0"/>
          </a:p>
        </p:txBody>
      </p:sp>
      <p:sp>
        <p:nvSpPr>
          <p:cNvPr id="13" name="Text 8"/>
          <p:cNvSpPr/>
          <p:nvPr/>
        </p:nvSpPr>
        <p:spPr>
          <a:xfrm>
            <a:off x="801370" y="4247515"/>
            <a:ext cx="3501390" cy="2004695"/>
          </a:xfrm>
          <a:prstGeom prst="rect">
            <a:avLst/>
          </a:prstGeom>
          <a:noFill/>
          <a:ln/>
        </p:spPr>
        <p:txBody>
          <a:bodyPr wrap="square" lIns="91440" tIns="45720" rIns="91440" bIns="45720" rtlCol="0" anchor="t"/>
          <a:lstStyle/>
          <a:p>
            <a:pPr>
              <a:lnSpc>
                <a:spcPct val="150000"/>
              </a:lnSpc>
            </a:pPr>
            <a:r>
              <a:rPr lang="en-US" sz="1400" dirty="0">
                <a:solidFill>
                  <a:srgbClr val="1E1C0D"/>
                </a:solidFill>
                <a:latin typeface="MiSans" pitchFamily="34" charset="0"/>
                <a:ea typeface="MiSans" pitchFamily="34" charset="-122"/>
                <a:cs typeface="MiSans" pitchFamily="34" charset="-120"/>
              </a:rPr>
              <a:t>La diferencia entre mediciones horarias y anuales refleja que las mujeres trabajan menos horas al año debido a mayores tasas de empleo a tiempo parcial y responsabilidades de cuidados.</a:t>
            </a:r>
            <a:endParaRPr lang="en-US" sz="1600" dirty="0"/>
          </a:p>
        </p:txBody>
      </p:sp>
      <p:sp>
        <p:nvSpPr>
          <p:cNvPr id="14" name="Text 9"/>
          <p:cNvSpPr/>
          <p:nvPr/>
        </p:nvSpPr>
        <p:spPr>
          <a:xfrm>
            <a:off x="7969250" y="3879850"/>
            <a:ext cx="3501390" cy="526415"/>
          </a:xfrm>
          <a:prstGeom prst="rect">
            <a:avLst/>
          </a:prstGeom>
          <a:noFill/>
          <a:ln/>
        </p:spPr>
        <p:txBody>
          <a:bodyPr wrap="square" lIns="91440" tIns="45720" rIns="91440" bIns="45720" rtlCol="0" anchor="t"/>
          <a:lstStyle/>
          <a:p>
            <a:pPr algn="ctr">
              <a:lnSpc>
                <a:spcPct val="100000"/>
              </a:lnSpc>
            </a:pPr>
            <a:r>
              <a:rPr lang="en-US" sz="1800" b="1" dirty="0">
                <a:solidFill>
                  <a:srgbClr val="402E7F"/>
                </a:solidFill>
                <a:latin typeface="MiSans" pitchFamily="34" charset="0"/>
                <a:ea typeface="MiSans" pitchFamily="34" charset="-122"/>
                <a:cs typeface="MiSans" pitchFamily="34" charset="-120"/>
              </a:rPr>
              <a:t>Comparativa internacional</a:t>
            </a:r>
            <a:endParaRPr lang="en-US" sz="1600" dirty="0"/>
          </a:p>
        </p:txBody>
      </p:sp>
      <p:sp>
        <p:nvSpPr>
          <p:cNvPr id="15" name="Text 10"/>
          <p:cNvSpPr/>
          <p:nvPr/>
        </p:nvSpPr>
        <p:spPr>
          <a:xfrm>
            <a:off x="7969250" y="4247515"/>
            <a:ext cx="3501390" cy="2004695"/>
          </a:xfrm>
          <a:prstGeom prst="rect">
            <a:avLst/>
          </a:prstGeom>
          <a:noFill/>
          <a:ln/>
        </p:spPr>
        <p:txBody>
          <a:bodyPr wrap="square" lIns="91440" tIns="45720" rIns="91440" bIns="45720" rtlCol="0" anchor="t"/>
          <a:lstStyle/>
          <a:p>
            <a:pPr>
              <a:lnSpc>
                <a:spcPct val="150000"/>
              </a:lnSpc>
            </a:pPr>
            <a:r>
              <a:rPr lang="en-US" sz="1400" dirty="0">
                <a:solidFill>
                  <a:srgbClr val="1E1C0D"/>
                </a:solidFill>
                <a:latin typeface="MiSans" pitchFamily="34" charset="0"/>
                <a:ea typeface="MiSans" pitchFamily="34" charset="-122"/>
                <a:cs typeface="MiSans" pitchFamily="34" charset="-120"/>
              </a:rPr>
              <a:t>En perspectiva comparada, España se sitúa en posiciones intermedias dentro de la UE, con una brecha inferior a países como Alemania y Reino Unido, pero superior a Italia y Bélgica.</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288925" y="1409065"/>
            <a:ext cx="4622165" cy="5182235"/>
          </a:xfrm>
          <a:prstGeom prst="rect">
            <a:avLst/>
          </a:prstGeom>
          <a:gradFill flip="none" rotWithShape="1">
            <a:gsLst>
              <a:gs pos="0">
                <a:srgbClr val="673563"/>
              </a:gs>
              <a:gs pos="100000">
                <a:srgbClr val="9B5095"/>
              </a:gs>
            </a:gsLst>
            <a:lin ang="0" scaled="1"/>
          </a:gradFill>
          <a:ln/>
        </p:spPr>
        <p:txBody>
          <a:bodyPr/>
          <a:lstStyle/>
          <a:p>
            <a:endParaRPr lang="es-ES"/>
          </a:p>
        </p:txBody>
      </p:sp>
      <p:sp>
        <p:nvSpPr>
          <p:cNvPr id="5" name="Text 3"/>
          <p:cNvSpPr/>
          <p:nvPr/>
        </p:nvSpPr>
        <p:spPr>
          <a:xfrm>
            <a:off x="288925" y="1409065"/>
            <a:ext cx="4622165" cy="5182235"/>
          </a:xfrm>
          <a:prstGeom prst="rect">
            <a:avLst/>
          </a:prstGeom>
          <a:noFill/>
          <a:ln/>
        </p:spPr>
        <p:txBody>
          <a:bodyPr wrap="square" lIns="45720" tIns="91440" rIns="91440" bIns="45720" rtlCol="0" anchor="ctr"/>
          <a:lstStyle/>
          <a:p>
            <a:pPr>
              <a:lnSpc>
                <a:spcPct val="100000"/>
              </a:lnSpc>
            </a:pPr>
            <a:endParaRPr lang="en-US" sz="1600" dirty="0"/>
          </a:p>
        </p:txBody>
      </p:sp>
      <p:pic>
        <p:nvPicPr>
          <p:cNvPr id="6" name="Image 0" descr="https://kimi-img.moonshot.cn/pub/slides/slides_tmpl/image/25-09-08-15:08:34-d2v81slnfo2stf9dkdhg.png"/>
          <p:cNvPicPr>
            <a:picLocks noChangeAspect="1"/>
          </p:cNvPicPr>
          <p:nvPr/>
        </p:nvPicPr>
        <p:blipFill>
          <a:blip r:embed="rId3"/>
          <a:srcRect l="60" r="60"/>
          <a:stretch/>
        </p:blipFill>
        <p:spPr>
          <a:xfrm>
            <a:off x="0" y="1565275"/>
            <a:ext cx="4749165" cy="5292725"/>
          </a:xfrm>
          <a:prstGeom prst="rect">
            <a:avLst/>
          </a:prstGeom>
        </p:spPr>
      </p:pic>
      <p:sp>
        <p:nvSpPr>
          <p:cNvPr id="7" name="Text 4"/>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Segregación, no solo discriminación</a:t>
            </a:r>
            <a:endParaRPr lang="en-US" sz="1600" dirty="0"/>
          </a:p>
        </p:txBody>
      </p:sp>
      <p:sp>
        <p:nvSpPr>
          <p:cNvPr id="8" name="Shape 5"/>
          <p:cNvSpPr/>
          <p:nvPr/>
        </p:nvSpPr>
        <p:spPr>
          <a:xfrm rot="16200000" flipH="1" flipV="1">
            <a:off x="10252710" y="60960"/>
            <a:ext cx="2007870" cy="1886585"/>
          </a:xfrm>
          <a:prstGeom prst="round2DiagRect">
            <a:avLst>
              <a:gd name="adj1" fmla="val 0"/>
              <a:gd name="adj2" fmla="val 0"/>
            </a:avLst>
          </a:prstGeom>
          <a:solidFill>
            <a:srgbClr val="402E7F"/>
          </a:solidFill>
          <a:ln/>
        </p:spPr>
        <p:txBody>
          <a:bodyPr/>
          <a:lstStyle/>
          <a:p>
            <a:endParaRPr lang="es-ES"/>
          </a:p>
        </p:txBody>
      </p:sp>
      <p:sp>
        <p:nvSpPr>
          <p:cNvPr id="9" name="Text 6"/>
          <p:cNvSpPr/>
          <p:nvPr/>
        </p:nvSpPr>
        <p:spPr>
          <a:xfrm rot="16200000">
            <a:off x="10252710" y="60960"/>
            <a:ext cx="2007870" cy="1886585"/>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7"/>
          <p:cNvSpPr/>
          <p:nvPr/>
        </p:nvSpPr>
        <p:spPr>
          <a:xfrm>
            <a:off x="5348605" y="1423670"/>
            <a:ext cx="6152515" cy="2171065"/>
          </a:xfrm>
          <a:prstGeom prst="rect">
            <a:avLst/>
          </a:prstGeom>
          <a:solidFill>
            <a:srgbClr val="FFFFFF"/>
          </a:solidFill>
          <a:ln w="19050">
            <a:solidFill>
              <a:srgbClr val="402E7F"/>
            </a:solidFill>
            <a:prstDash val="solid"/>
          </a:ln>
        </p:spPr>
        <p:txBody>
          <a:bodyPr/>
          <a:lstStyle/>
          <a:p>
            <a:endParaRPr lang="es-ES"/>
          </a:p>
        </p:txBody>
      </p:sp>
      <p:sp>
        <p:nvSpPr>
          <p:cNvPr id="11" name="Text 8"/>
          <p:cNvSpPr/>
          <p:nvPr/>
        </p:nvSpPr>
        <p:spPr>
          <a:xfrm>
            <a:off x="5348605" y="1423670"/>
            <a:ext cx="6152515" cy="2171065"/>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9"/>
          <p:cNvSpPr/>
          <p:nvPr/>
        </p:nvSpPr>
        <p:spPr>
          <a:xfrm>
            <a:off x="5348605" y="3867150"/>
            <a:ext cx="6152515" cy="2171065"/>
          </a:xfrm>
          <a:prstGeom prst="rect">
            <a:avLst/>
          </a:prstGeom>
          <a:solidFill>
            <a:srgbClr val="FFFFFF"/>
          </a:solidFill>
          <a:ln w="19050">
            <a:solidFill>
              <a:srgbClr val="402E7F"/>
            </a:solidFill>
            <a:prstDash val="solid"/>
          </a:ln>
        </p:spPr>
        <p:txBody>
          <a:bodyPr/>
          <a:lstStyle/>
          <a:p>
            <a:endParaRPr lang="es-ES"/>
          </a:p>
        </p:txBody>
      </p:sp>
      <p:sp>
        <p:nvSpPr>
          <p:cNvPr id="13" name="Text 10"/>
          <p:cNvSpPr/>
          <p:nvPr/>
        </p:nvSpPr>
        <p:spPr>
          <a:xfrm>
            <a:off x="5348605" y="3867150"/>
            <a:ext cx="6152515" cy="2171065"/>
          </a:xfrm>
          <a:prstGeom prst="rect">
            <a:avLst/>
          </a:prstGeom>
          <a:noFill/>
          <a:ln/>
        </p:spPr>
        <p:txBody>
          <a:bodyPr wrap="square" lIns="45720" tIns="91440" rIns="91440" bIns="45720" rtlCol="0" anchor="ctr"/>
          <a:lstStyle/>
          <a:p>
            <a:pPr>
              <a:lnSpc>
                <a:spcPct val="100000"/>
              </a:lnSpc>
            </a:pPr>
            <a:endParaRPr lang="en-US" sz="1600" dirty="0"/>
          </a:p>
        </p:txBody>
      </p:sp>
      <p:sp>
        <p:nvSpPr>
          <p:cNvPr id="14" name="Text 11"/>
          <p:cNvSpPr/>
          <p:nvPr/>
        </p:nvSpPr>
        <p:spPr>
          <a:xfrm>
            <a:off x="5523230" y="1579880"/>
            <a:ext cx="5800725" cy="398780"/>
          </a:xfrm>
          <a:prstGeom prst="rect">
            <a:avLst/>
          </a:prstGeom>
          <a:noFill/>
          <a:ln/>
        </p:spPr>
        <p:txBody>
          <a:bodyPr wrap="square" lIns="91440" tIns="45720" rIns="91440" bIns="4572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Brecha ajustada vs. no ajustada</a:t>
            </a:r>
            <a:endParaRPr lang="en-US" sz="1600" dirty="0"/>
          </a:p>
        </p:txBody>
      </p:sp>
      <p:sp>
        <p:nvSpPr>
          <p:cNvPr id="15" name="Text 12"/>
          <p:cNvSpPr/>
          <p:nvPr/>
        </p:nvSpPr>
        <p:spPr>
          <a:xfrm>
            <a:off x="5542480" y="1880870"/>
            <a:ext cx="5705757" cy="1390650"/>
          </a:xfrm>
          <a:prstGeom prst="rect">
            <a:avLst/>
          </a:prstGeom>
          <a:noFill/>
          <a:ln/>
        </p:spPr>
        <p:txBody>
          <a:bodyPr wrap="square" lIns="91440" tIns="45720" rIns="91440" bIns="45720" rtlCol="0" anchor="t">
            <a:spAutoFit/>
          </a:bodyPr>
          <a:lstStyle/>
          <a:p>
            <a:pPr>
              <a:lnSpc>
                <a:spcPct val="170000"/>
              </a:lnSpc>
            </a:pPr>
            <a:r>
              <a:rPr lang="en-US" sz="1400" dirty="0">
                <a:solidFill>
                  <a:srgbClr val="1E1C0D"/>
                </a:solidFill>
                <a:latin typeface="MiSans" pitchFamily="34" charset="0"/>
                <a:ea typeface="MiSans" pitchFamily="34" charset="-122"/>
                <a:cs typeface="MiSans" pitchFamily="34" charset="-120"/>
              </a:rPr>
              <a:t>La brecha ajustada, que controla por ocupación, sector y experiencia, se reduce drásticamente al 5-8 %, revelando que la mayor parte de la diferencia no refleja discriminación directa.</a:t>
            </a:r>
            <a:endParaRPr lang="en-US" sz="1600" dirty="0"/>
          </a:p>
        </p:txBody>
      </p:sp>
      <p:sp>
        <p:nvSpPr>
          <p:cNvPr id="16" name="Text 13"/>
          <p:cNvSpPr/>
          <p:nvPr/>
        </p:nvSpPr>
        <p:spPr>
          <a:xfrm>
            <a:off x="5523230" y="4023360"/>
            <a:ext cx="5800725" cy="398780"/>
          </a:xfrm>
          <a:prstGeom prst="rect">
            <a:avLst/>
          </a:prstGeom>
          <a:noFill/>
          <a:ln/>
        </p:spPr>
        <p:txBody>
          <a:bodyPr wrap="square" lIns="91440" tIns="45720" rIns="91440" bIns="4572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Factores explicativos</a:t>
            </a:r>
            <a:endParaRPr lang="en-US" sz="1600" dirty="0"/>
          </a:p>
        </p:txBody>
      </p:sp>
      <p:sp>
        <p:nvSpPr>
          <p:cNvPr id="17" name="Text 14"/>
          <p:cNvSpPr/>
          <p:nvPr/>
        </p:nvSpPr>
        <p:spPr>
          <a:xfrm>
            <a:off x="5542480" y="4324350"/>
            <a:ext cx="5705757" cy="1555750"/>
          </a:xfrm>
          <a:prstGeom prst="rect">
            <a:avLst/>
          </a:prstGeom>
          <a:noFill/>
          <a:ln/>
        </p:spPr>
        <p:txBody>
          <a:bodyPr wrap="square" lIns="91440" tIns="45720" rIns="91440" bIns="45720" rtlCol="0" anchor="t">
            <a:spAutoFit/>
          </a:bodyPr>
          <a:lstStyle/>
          <a:p>
            <a:pPr>
              <a:lnSpc>
                <a:spcPct val="170000"/>
              </a:lnSpc>
            </a:pPr>
            <a:r>
              <a:rPr lang="en-US" sz="1400" dirty="0">
                <a:solidFill>
                  <a:srgbClr val="1E1C0D"/>
                </a:solidFill>
                <a:latin typeface="MiSans" pitchFamily="34" charset="0"/>
                <a:ea typeface="MiSans" pitchFamily="34" charset="-122"/>
                <a:cs typeface="MiSans" pitchFamily="34" charset="-120"/>
              </a:rPr>
              <a:t>La segregación ocupacional horizontal y vertical, así como diferencias en patrones de participación laboral vinculadas a roles de género, explican la mayor parte de la brecha salarial.</a:t>
            </a:r>
            <a:endParaRPr lang="en-US" sz="16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417534" y="5721442"/>
            <a:ext cx="11356932" cy="776542"/>
          </a:xfrm>
          <a:prstGeom prst="roundRect">
            <a:avLst>
              <a:gd name="adj" fmla="val 0"/>
            </a:avLst>
          </a:prstGeom>
          <a:gradFill flip="none" rotWithShape="1">
            <a:gsLst>
              <a:gs pos="0">
                <a:srgbClr val="30225F"/>
              </a:gs>
              <a:gs pos="8000">
                <a:srgbClr val="30225F"/>
              </a:gs>
              <a:gs pos="92000">
                <a:srgbClr val="BC7DB7"/>
              </a:gs>
              <a:gs pos="100000">
                <a:srgbClr val="BC7DB7"/>
              </a:gs>
            </a:gsLst>
            <a:lin ang="2700000" scaled="1"/>
          </a:gradFill>
          <a:ln/>
        </p:spPr>
        <p:txBody>
          <a:bodyPr/>
          <a:lstStyle/>
          <a:p>
            <a:endParaRPr lang="es-ES"/>
          </a:p>
        </p:txBody>
      </p:sp>
      <p:sp>
        <p:nvSpPr>
          <p:cNvPr id="5" name="Text 3"/>
          <p:cNvSpPr/>
          <p:nvPr/>
        </p:nvSpPr>
        <p:spPr>
          <a:xfrm>
            <a:off x="417534" y="5721442"/>
            <a:ext cx="11356932" cy="776542"/>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417535" y="4550678"/>
            <a:ext cx="11356932" cy="1170764"/>
          </a:xfrm>
          <a:prstGeom prst="trapezoid">
            <a:avLst>
              <a:gd name="adj" fmla="val 79999"/>
            </a:avLst>
          </a:prstGeom>
          <a:gradFill flip="none" rotWithShape="1">
            <a:gsLst>
              <a:gs pos="0">
                <a:srgbClr val="D5CDED">
                  <a:alpha val="0"/>
                </a:srgbClr>
              </a:gs>
              <a:gs pos="27000">
                <a:srgbClr val="D5CDED">
                  <a:alpha val="0"/>
                </a:srgbClr>
              </a:gs>
              <a:gs pos="100000">
                <a:srgbClr val="6B51C1"/>
              </a:gs>
            </a:gsLst>
            <a:lin ang="5400000" scaled="1"/>
          </a:gradFill>
          <a:ln/>
        </p:spPr>
        <p:txBody>
          <a:bodyPr/>
          <a:lstStyle/>
          <a:p>
            <a:endParaRPr lang="es-ES"/>
          </a:p>
        </p:txBody>
      </p:sp>
      <p:sp>
        <p:nvSpPr>
          <p:cNvPr id="7" name="Text 5"/>
          <p:cNvSpPr/>
          <p:nvPr/>
        </p:nvSpPr>
        <p:spPr>
          <a:xfrm>
            <a:off x="417535" y="4550678"/>
            <a:ext cx="11356932" cy="1170764"/>
          </a:xfrm>
          <a:prstGeom prst="rect">
            <a:avLst/>
          </a:prstGeom>
          <a:noFill/>
          <a:ln/>
        </p:spPr>
        <p:txBody>
          <a:bodyPr wrap="square" lIns="45720" tIns="91440" rIns="91440" bIns="45720" rtlCol="0" anchor="ctr"/>
          <a:lstStyle/>
          <a:p>
            <a:pPr>
              <a:lnSpc>
                <a:spcPct val="100000"/>
              </a:lnSpc>
            </a:pPr>
            <a:endParaRPr lang="en-US" sz="1600" dirty="0"/>
          </a:p>
        </p:txBody>
      </p:sp>
      <p:pic>
        <p:nvPicPr>
          <p:cNvPr id="8" name="Image 0" descr="https://kimi-img.moonshot.cn/pub/slides/slides_tmpl/image/25-09-08-15:08:36-d2v81t5nfo2stf9dkdl0.png"/>
          <p:cNvPicPr>
            <a:picLocks noChangeAspect="1"/>
          </p:cNvPicPr>
          <p:nvPr/>
        </p:nvPicPr>
        <p:blipFill>
          <a:blip r:embed="rId3"/>
          <a:stretch>
            <a:fillRect/>
          </a:stretch>
        </p:blipFill>
        <p:spPr>
          <a:xfrm>
            <a:off x="911225" y="1329055"/>
            <a:ext cx="10369550" cy="4199890"/>
          </a:xfrm>
          <a:prstGeom prst="rect">
            <a:avLst/>
          </a:prstGeom>
        </p:spPr>
      </p:pic>
      <p:sp>
        <p:nvSpPr>
          <p:cNvPr id="9" name="Text 6"/>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Maternidad = brecha vitalicia</a:t>
            </a:r>
            <a:endParaRPr lang="en-US" sz="1600" dirty="0"/>
          </a:p>
        </p:txBody>
      </p:sp>
      <p:sp>
        <p:nvSpPr>
          <p:cNvPr id="10" name="Text 7"/>
          <p:cNvSpPr/>
          <p:nvPr/>
        </p:nvSpPr>
        <p:spPr>
          <a:xfrm>
            <a:off x="1071880" y="1616710"/>
            <a:ext cx="3058795" cy="431165"/>
          </a:xfrm>
          <a:prstGeom prst="rect">
            <a:avLst/>
          </a:prstGeom>
          <a:noFill/>
          <a:ln/>
        </p:spPr>
        <p:txBody>
          <a:bodyPr wrap="square" lIns="91440" tIns="45720" rIns="91440" bIns="45720" rtlCol="0" anchor="t"/>
          <a:lstStyle/>
          <a:p>
            <a:pPr>
              <a:lnSpc>
                <a:spcPct val="100000"/>
              </a:lnSpc>
            </a:pPr>
            <a:r>
              <a:rPr lang="en-US" sz="1600" b="1" dirty="0">
                <a:solidFill>
                  <a:srgbClr val="FFFFFF"/>
                </a:solidFill>
                <a:latin typeface="MiSans" pitchFamily="34" charset="0"/>
                <a:ea typeface="MiSans" pitchFamily="34" charset="-122"/>
                <a:cs typeface="MiSans" pitchFamily="34" charset="-120"/>
              </a:rPr>
              <a:t>Efecto de la maternidad</a:t>
            </a:r>
            <a:endParaRPr lang="en-US" sz="1600" dirty="0"/>
          </a:p>
        </p:txBody>
      </p:sp>
      <p:sp>
        <p:nvSpPr>
          <p:cNvPr id="11" name="Text 8"/>
          <p:cNvSpPr/>
          <p:nvPr/>
        </p:nvSpPr>
        <p:spPr>
          <a:xfrm>
            <a:off x="1234440" y="2388235"/>
            <a:ext cx="2833370" cy="2868930"/>
          </a:xfrm>
          <a:prstGeom prst="rect">
            <a:avLst/>
          </a:prstGeom>
          <a:noFill/>
          <a:ln/>
        </p:spPr>
        <p:txBody>
          <a:bodyPr wrap="square" lIns="91440" tIns="45720" rIns="91440" bIns="45720" rtlCol="0" anchor="t"/>
          <a:lstStyle/>
          <a:p>
            <a:pPr>
              <a:lnSpc>
                <a:spcPct val="150000"/>
              </a:lnSpc>
            </a:pPr>
            <a:r>
              <a:rPr lang="en-US" sz="1400" dirty="0">
                <a:solidFill>
                  <a:srgbClr val="1E1C0D"/>
                </a:solidFill>
                <a:latin typeface="MiSans" pitchFamily="34" charset="0"/>
                <a:ea typeface="MiSans" pitchFamily="34" charset="-122"/>
                <a:cs typeface="MiSans" pitchFamily="34" charset="-120"/>
              </a:rPr>
              <a:t>Las trayectorias salariales de hombres y mujeres son similares hasta el nacimiento del primer hijo. A partir de ahí, las madres experimentan una reducción o estancamiento salarial.</a:t>
            </a:r>
            <a:endParaRPr lang="en-US" sz="1600" dirty="0"/>
          </a:p>
        </p:txBody>
      </p:sp>
      <p:sp>
        <p:nvSpPr>
          <p:cNvPr id="12" name="Text 9"/>
          <p:cNvSpPr/>
          <p:nvPr/>
        </p:nvSpPr>
        <p:spPr>
          <a:xfrm>
            <a:off x="4551680" y="1591945"/>
            <a:ext cx="3058795" cy="431165"/>
          </a:xfrm>
          <a:prstGeom prst="rect">
            <a:avLst/>
          </a:prstGeom>
          <a:noFill/>
          <a:ln/>
        </p:spPr>
        <p:txBody>
          <a:bodyPr wrap="square" lIns="91440" tIns="45720" rIns="91440" bIns="45720" rtlCol="0" anchor="t"/>
          <a:lstStyle/>
          <a:p>
            <a:pPr>
              <a:lnSpc>
                <a:spcPct val="100000"/>
              </a:lnSpc>
            </a:pPr>
            <a:r>
              <a:rPr lang="en-US" sz="1600" b="1" dirty="0">
                <a:solidFill>
                  <a:srgbClr val="FFFFFF"/>
                </a:solidFill>
                <a:latin typeface="MiSans" pitchFamily="34" charset="0"/>
                <a:ea typeface="MiSans" pitchFamily="34" charset="-122"/>
                <a:cs typeface="MiSans" pitchFamily="34" charset="-120"/>
              </a:rPr>
              <a:t>Child penalty</a:t>
            </a:r>
            <a:endParaRPr lang="en-US" sz="1600" dirty="0"/>
          </a:p>
        </p:txBody>
      </p:sp>
      <p:sp>
        <p:nvSpPr>
          <p:cNvPr id="13" name="Text 10"/>
          <p:cNvSpPr/>
          <p:nvPr/>
        </p:nvSpPr>
        <p:spPr>
          <a:xfrm>
            <a:off x="4650740" y="2388235"/>
            <a:ext cx="2833370" cy="2868930"/>
          </a:xfrm>
          <a:prstGeom prst="rect">
            <a:avLst/>
          </a:prstGeom>
          <a:noFill/>
          <a:ln/>
        </p:spPr>
        <p:txBody>
          <a:bodyPr wrap="square" lIns="91440" tIns="45720" rIns="91440" bIns="45720" rtlCol="0" anchor="t"/>
          <a:lstStyle/>
          <a:p>
            <a:pPr>
              <a:lnSpc>
                <a:spcPct val="150000"/>
              </a:lnSpc>
            </a:pPr>
            <a:r>
              <a:rPr lang="en-US" sz="1400" dirty="0">
                <a:solidFill>
                  <a:srgbClr val="1E1C0D"/>
                </a:solidFill>
                <a:latin typeface="MiSans" pitchFamily="34" charset="0"/>
                <a:ea typeface="MiSans" pitchFamily="34" charset="-122"/>
                <a:cs typeface="MiSans" pitchFamily="34" charset="-120"/>
              </a:rPr>
              <a:t>La penalización por maternidad explica entre el 30 % y el 40 % de la brecha salarial total a lo largo del ciclo vital, debido a reducciones de jornada y cambios a empleos menos remunerados.</a:t>
            </a:r>
            <a:endParaRPr lang="en-US" sz="1600" dirty="0"/>
          </a:p>
        </p:txBody>
      </p:sp>
      <p:sp>
        <p:nvSpPr>
          <p:cNvPr id="14" name="Text 11"/>
          <p:cNvSpPr/>
          <p:nvPr/>
        </p:nvSpPr>
        <p:spPr>
          <a:xfrm>
            <a:off x="8032115" y="1602105"/>
            <a:ext cx="3058795" cy="431165"/>
          </a:xfrm>
          <a:prstGeom prst="rect">
            <a:avLst/>
          </a:prstGeom>
          <a:noFill/>
          <a:ln/>
        </p:spPr>
        <p:txBody>
          <a:bodyPr wrap="square" lIns="91440" tIns="45720" rIns="91440" bIns="45720" rtlCol="0" anchor="t"/>
          <a:lstStyle/>
          <a:p>
            <a:pPr>
              <a:lnSpc>
                <a:spcPct val="100000"/>
              </a:lnSpc>
            </a:pPr>
            <a:r>
              <a:rPr lang="en-US" sz="1600" b="1" dirty="0">
                <a:solidFill>
                  <a:srgbClr val="FFFFFF"/>
                </a:solidFill>
                <a:latin typeface="MiSans" pitchFamily="34" charset="0"/>
                <a:ea typeface="MiSans" pitchFamily="34" charset="-122"/>
                <a:cs typeface="MiSans" pitchFamily="34" charset="-120"/>
              </a:rPr>
              <a:t>Consecuencias a largo plazo</a:t>
            </a:r>
            <a:endParaRPr lang="en-US" sz="1600" dirty="0"/>
          </a:p>
        </p:txBody>
      </p:sp>
      <p:sp>
        <p:nvSpPr>
          <p:cNvPr id="15" name="Text 12"/>
          <p:cNvSpPr/>
          <p:nvPr/>
        </p:nvSpPr>
        <p:spPr>
          <a:xfrm>
            <a:off x="8124190" y="2433955"/>
            <a:ext cx="2833370" cy="2868930"/>
          </a:xfrm>
          <a:prstGeom prst="rect">
            <a:avLst/>
          </a:prstGeom>
          <a:noFill/>
          <a:ln/>
        </p:spPr>
        <p:txBody>
          <a:bodyPr wrap="square" lIns="91440" tIns="45720" rIns="91440" bIns="45720" rtlCol="0" anchor="t"/>
          <a:lstStyle/>
          <a:p>
            <a:pPr>
              <a:lnSpc>
                <a:spcPct val="150000"/>
              </a:lnSpc>
            </a:pPr>
            <a:r>
              <a:rPr lang="en-US" sz="1400" dirty="0">
                <a:solidFill>
                  <a:srgbClr val="1E1C0D"/>
                </a:solidFill>
                <a:latin typeface="MiSans" pitchFamily="34" charset="0"/>
                <a:ea typeface="MiSans" pitchFamily="34" charset="-122"/>
                <a:cs typeface="MiSans" pitchFamily="34" charset="-120"/>
              </a:rPr>
              <a:t>Esta brecha se agrava con el tiempo, ya que las madres tienen menos oportunidades de promoción y acceso a formación, lo que perpetúa la desigualdad salarial.</a:t>
            </a:r>
            <a:endParaRPr lang="en-US" sz="16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4" name="Text 2"/>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Registros y auditorías</a:t>
            </a:r>
            <a:endParaRPr lang="en-US" sz="1600" dirty="0"/>
          </a:p>
        </p:txBody>
      </p:sp>
      <p:pic>
        <p:nvPicPr>
          <p:cNvPr id="5" name="Image 0" descr="https://kimi-img.moonshot.cn/pub/slides/slides_tmpl/image/25-09-08-15:08:35-d2v81stnfo2stf9dkdig.png"/>
          <p:cNvPicPr>
            <a:picLocks noChangeAspect="1"/>
          </p:cNvPicPr>
          <p:nvPr/>
        </p:nvPicPr>
        <p:blipFill>
          <a:blip r:embed="rId3"/>
          <a:srcRect l="39" r="39"/>
          <a:stretch/>
        </p:blipFill>
        <p:spPr>
          <a:xfrm flipH="1">
            <a:off x="8098790" y="0"/>
            <a:ext cx="4093210" cy="6868160"/>
          </a:xfrm>
          <a:prstGeom prst="rect">
            <a:avLst/>
          </a:prstGeom>
        </p:spPr>
      </p:pic>
      <p:sp>
        <p:nvSpPr>
          <p:cNvPr id="6" name="Shape 3"/>
          <p:cNvSpPr/>
          <p:nvPr/>
        </p:nvSpPr>
        <p:spPr>
          <a:xfrm rot="420000">
            <a:off x="1048385" y="1708150"/>
            <a:ext cx="2916555" cy="4195445"/>
          </a:xfrm>
          <a:prstGeom prst="roundRect">
            <a:avLst>
              <a:gd name="adj" fmla="val 8509"/>
            </a:avLst>
          </a:prstGeom>
          <a:solidFill>
            <a:srgbClr val="BC7DB7"/>
          </a:solidFill>
          <a:ln/>
        </p:spPr>
        <p:txBody>
          <a:bodyPr/>
          <a:lstStyle/>
          <a:p>
            <a:endParaRPr lang="es-ES"/>
          </a:p>
        </p:txBody>
      </p:sp>
      <p:sp>
        <p:nvSpPr>
          <p:cNvPr id="7" name="Text 4"/>
          <p:cNvSpPr/>
          <p:nvPr/>
        </p:nvSpPr>
        <p:spPr>
          <a:xfrm rot="420000">
            <a:off x="1048385" y="1708150"/>
            <a:ext cx="2916555" cy="419544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5"/>
          <p:cNvSpPr/>
          <p:nvPr/>
        </p:nvSpPr>
        <p:spPr>
          <a:xfrm>
            <a:off x="1040130" y="1708150"/>
            <a:ext cx="2916555" cy="4195445"/>
          </a:xfrm>
          <a:prstGeom prst="roundRect">
            <a:avLst>
              <a:gd name="adj" fmla="val 8509"/>
            </a:avLst>
          </a:prstGeom>
          <a:solidFill>
            <a:srgbClr val="FFFFFF"/>
          </a:solidFill>
          <a:ln w="19050">
            <a:solidFill>
              <a:srgbClr val="D5CDED"/>
            </a:solidFill>
            <a:prstDash val="solid"/>
          </a:ln>
        </p:spPr>
        <p:txBody>
          <a:bodyPr/>
          <a:lstStyle/>
          <a:p>
            <a:endParaRPr lang="es-ES"/>
          </a:p>
        </p:txBody>
      </p:sp>
      <p:sp>
        <p:nvSpPr>
          <p:cNvPr id="9" name="Text 6"/>
          <p:cNvSpPr/>
          <p:nvPr/>
        </p:nvSpPr>
        <p:spPr>
          <a:xfrm>
            <a:off x="1040130" y="1708150"/>
            <a:ext cx="2916555" cy="4195445"/>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7"/>
          <p:cNvSpPr/>
          <p:nvPr/>
        </p:nvSpPr>
        <p:spPr>
          <a:xfrm>
            <a:off x="1243330" y="1798320"/>
            <a:ext cx="296545" cy="296544"/>
          </a:xfrm>
          <a:custGeom>
            <a:avLst/>
            <a:gdLst/>
            <a:ahLst/>
            <a:cxnLst/>
            <a:rect l="l" t="t" r="r" b="b"/>
            <a:pathLst>
              <a:path w="296545" h="296544">
                <a:moveTo>
                  <a:pt x="148273" y="0"/>
                </a:moveTo>
                <a:cubicBezTo>
                  <a:pt x="230161" y="0"/>
                  <a:pt x="296545" y="66384"/>
                  <a:pt x="296545" y="148272"/>
                </a:cubicBezTo>
                <a:cubicBezTo>
                  <a:pt x="295924" y="152707"/>
                  <a:pt x="297165" y="156770"/>
                  <a:pt x="294681" y="161577"/>
                </a:cubicBezTo>
                <a:cubicBezTo>
                  <a:pt x="292197" y="166385"/>
                  <a:pt x="290268" y="168058"/>
                  <a:pt x="287874" y="170305"/>
                </a:cubicBezTo>
                <a:lnTo>
                  <a:pt x="169680" y="288499"/>
                </a:lnTo>
                <a:cubicBezTo>
                  <a:pt x="166594" y="290696"/>
                  <a:pt x="163880" y="292894"/>
                  <a:pt x="160422" y="295091"/>
                </a:cubicBezTo>
                <a:cubicBezTo>
                  <a:pt x="156963" y="297289"/>
                  <a:pt x="152322" y="296060"/>
                  <a:pt x="148273" y="296544"/>
                </a:cubicBezTo>
                <a:cubicBezTo>
                  <a:pt x="66384" y="296544"/>
                  <a:pt x="0" y="230160"/>
                  <a:pt x="0" y="148272"/>
                </a:cubicBezTo>
                <a:cubicBezTo>
                  <a:pt x="0" y="66384"/>
                  <a:pt x="66384" y="0"/>
                  <a:pt x="148273" y="0"/>
                </a:cubicBezTo>
                <a:close/>
              </a:path>
            </a:pathLst>
          </a:custGeom>
          <a:gradFill flip="none" rotWithShape="1">
            <a:gsLst>
              <a:gs pos="0">
                <a:srgbClr val="9B5095"/>
              </a:gs>
              <a:gs pos="5000">
                <a:srgbClr val="9B5095"/>
              </a:gs>
              <a:gs pos="64000">
                <a:srgbClr val="673563"/>
              </a:gs>
              <a:gs pos="100000">
                <a:srgbClr val="673563"/>
              </a:gs>
            </a:gsLst>
            <a:lin ang="2700000" scaled="1"/>
          </a:gradFill>
          <a:ln/>
        </p:spPr>
        <p:txBody>
          <a:bodyPr/>
          <a:lstStyle/>
          <a:p>
            <a:endParaRPr lang="es-ES"/>
          </a:p>
        </p:txBody>
      </p:sp>
      <p:sp>
        <p:nvSpPr>
          <p:cNvPr id="11" name="Text 8"/>
          <p:cNvSpPr/>
          <p:nvPr/>
        </p:nvSpPr>
        <p:spPr>
          <a:xfrm>
            <a:off x="1243330" y="1798320"/>
            <a:ext cx="296545" cy="296544"/>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9"/>
          <p:cNvSpPr/>
          <p:nvPr/>
        </p:nvSpPr>
        <p:spPr>
          <a:xfrm rot="21600000">
            <a:off x="1403354" y="1961818"/>
            <a:ext cx="132025" cy="132024"/>
          </a:xfrm>
          <a:custGeom>
            <a:avLst/>
            <a:gdLst/>
            <a:ahLst/>
            <a:cxnLst/>
            <a:rect l="l" t="t" r="r" b="b"/>
            <a:pathLst>
              <a:path w="132025" h="132024">
                <a:moveTo>
                  <a:pt x="132025" y="0"/>
                </a:moveTo>
                <a:cubicBezTo>
                  <a:pt x="128818" y="4804"/>
                  <a:pt x="127614" y="6477"/>
                  <a:pt x="125223" y="8722"/>
                </a:cubicBezTo>
                <a:lnTo>
                  <a:pt x="91179" y="42766"/>
                </a:lnTo>
                <a:lnTo>
                  <a:pt x="91179" y="42766"/>
                </a:lnTo>
                <a:lnTo>
                  <a:pt x="8722" y="125222"/>
                </a:lnTo>
                <a:cubicBezTo>
                  <a:pt x="6477" y="127614"/>
                  <a:pt x="4804" y="128817"/>
                  <a:pt x="0" y="132024"/>
                </a:cubicBezTo>
                <a:cubicBezTo>
                  <a:pt x="7440" y="122744"/>
                  <a:pt x="13881" y="115174"/>
                  <a:pt x="14746" y="100542"/>
                </a:cubicBezTo>
                <a:cubicBezTo>
                  <a:pt x="15179" y="93225"/>
                  <a:pt x="13987" y="81844"/>
                  <a:pt x="15794" y="69311"/>
                </a:cubicBezTo>
                <a:lnTo>
                  <a:pt x="16673" y="65086"/>
                </a:lnTo>
                <a:lnTo>
                  <a:pt x="16587" y="65000"/>
                </a:lnTo>
                <a:lnTo>
                  <a:pt x="17218" y="62462"/>
                </a:lnTo>
                <a:lnTo>
                  <a:pt x="17784" y="59742"/>
                </a:lnTo>
                <a:lnTo>
                  <a:pt x="18135" y="58780"/>
                </a:lnTo>
                <a:lnTo>
                  <a:pt x="18923" y="55614"/>
                </a:lnTo>
                <a:cubicBezTo>
                  <a:pt x="21401" y="48177"/>
                  <a:pt x="25215" y="41053"/>
                  <a:pt x="31175" y="34837"/>
                </a:cubicBezTo>
                <a:lnTo>
                  <a:pt x="33055" y="33054"/>
                </a:lnTo>
                <a:lnTo>
                  <a:pt x="34838" y="31175"/>
                </a:lnTo>
                <a:cubicBezTo>
                  <a:pt x="41053" y="25215"/>
                  <a:pt x="48177" y="21401"/>
                  <a:pt x="55615" y="18922"/>
                </a:cubicBezTo>
                <a:lnTo>
                  <a:pt x="58780" y="18135"/>
                </a:lnTo>
                <a:lnTo>
                  <a:pt x="59742" y="17784"/>
                </a:lnTo>
                <a:lnTo>
                  <a:pt x="62463" y="17218"/>
                </a:lnTo>
                <a:lnTo>
                  <a:pt x="65000" y="16587"/>
                </a:lnTo>
                <a:lnTo>
                  <a:pt x="65086" y="16673"/>
                </a:lnTo>
                <a:lnTo>
                  <a:pt x="69312" y="15794"/>
                </a:lnTo>
                <a:cubicBezTo>
                  <a:pt x="81844" y="13987"/>
                  <a:pt x="93226" y="15179"/>
                  <a:pt x="100542" y="14746"/>
                </a:cubicBezTo>
                <a:cubicBezTo>
                  <a:pt x="115175" y="13880"/>
                  <a:pt x="122744" y="7440"/>
                  <a:pt x="132025" y="0"/>
                </a:cubicBezTo>
                <a:close/>
              </a:path>
            </a:pathLst>
          </a:custGeom>
          <a:gradFill flip="none" rotWithShape="1">
            <a:gsLst>
              <a:gs pos="0">
                <a:srgbClr val="D9D9D9"/>
              </a:gs>
              <a:gs pos="18000">
                <a:srgbClr val="D9D9D9"/>
              </a:gs>
              <a:gs pos="35000">
                <a:srgbClr val="FFFFFF"/>
              </a:gs>
              <a:gs pos="50000">
                <a:srgbClr val="D9D9D9"/>
              </a:gs>
              <a:gs pos="100000">
                <a:srgbClr val="D9D9D9"/>
              </a:gs>
            </a:gsLst>
            <a:lin ang="2700000" scaled="1"/>
          </a:gradFill>
          <a:ln/>
          <a:effectLst>
            <a:outerShdw blurRad="381000" dist="50800" dir="2700000" algn="bl" rotWithShape="0">
              <a:srgbClr val="000000">
                <a:alpha val="40000"/>
              </a:srgbClr>
            </a:outerShdw>
          </a:effectLst>
        </p:spPr>
        <p:txBody>
          <a:bodyPr/>
          <a:lstStyle/>
          <a:p>
            <a:endParaRPr lang="es-ES"/>
          </a:p>
        </p:txBody>
      </p:sp>
      <p:sp>
        <p:nvSpPr>
          <p:cNvPr id="13" name="Text 10"/>
          <p:cNvSpPr/>
          <p:nvPr/>
        </p:nvSpPr>
        <p:spPr>
          <a:xfrm rot="21600000">
            <a:off x="1403354" y="1961818"/>
            <a:ext cx="132025" cy="132024"/>
          </a:xfrm>
          <a:prstGeom prst="rect">
            <a:avLst/>
          </a:prstGeom>
          <a:noFill/>
          <a:ln/>
        </p:spPr>
        <p:txBody>
          <a:bodyPr wrap="square" lIns="45720" tIns="91440" rIns="91440" bIns="45720" rtlCol="0" anchor="ctr"/>
          <a:lstStyle/>
          <a:p>
            <a:pPr>
              <a:lnSpc>
                <a:spcPct val="100000"/>
              </a:lnSpc>
            </a:pPr>
            <a:endParaRPr lang="en-US" sz="1600" dirty="0"/>
          </a:p>
        </p:txBody>
      </p:sp>
      <p:sp>
        <p:nvSpPr>
          <p:cNvPr id="14" name="Text 11"/>
          <p:cNvSpPr/>
          <p:nvPr/>
        </p:nvSpPr>
        <p:spPr>
          <a:xfrm>
            <a:off x="1348991" y="1841034"/>
            <a:ext cx="133047" cy="307171"/>
          </a:xfrm>
          <a:prstGeom prst="rect">
            <a:avLst/>
          </a:prstGeom>
          <a:noFill/>
          <a:ln/>
        </p:spPr>
        <p:txBody>
          <a:bodyPr wrap="square" lIns="0" tIns="0" rIns="0" bIns="0" rtlCol="0" anchor="t">
            <a:spAutoFit/>
          </a:bodyPr>
          <a:lstStyle/>
          <a:p>
            <a:pPr>
              <a:lnSpc>
                <a:spcPct val="100000"/>
              </a:lnSpc>
            </a:pPr>
            <a:r>
              <a:rPr lang="en-US" sz="1800" dirty="0">
                <a:solidFill>
                  <a:srgbClr val="1E1C0D"/>
                </a:solidFill>
                <a:latin typeface="MiSans" pitchFamily="34" charset="0"/>
                <a:ea typeface="MiSans" pitchFamily="34" charset="-122"/>
                <a:cs typeface="MiSans" pitchFamily="34" charset="-120"/>
              </a:rPr>
              <a:t> </a:t>
            </a:r>
            <a:endParaRPr lang="en-US" sz="1600" dirty="0"/>
          </a:p>
        </p:txBody>
      </p:sp>
      <p:sp>
        <p:nvSpPr>
          <p:cNvPr id="15" name="Shape 12"/>
          <p:cNvSpPr/>
          <p:nvPr/>
        </p:nvSpPr>
        <p:spPr>
          <a:xfrm rot="420000">
            <a:off x="4571365" y="1708150"/>
            <a:ext cx="2916555" cy="4195445"/>
          </a:xfrm>
          <a:prstGeom prst="roundRect">
            <a:avLst>
              <a:gd name="adj" fmla="val 8509"/>
            </a:avLst>
          </a:prstGeom>
          <a:solidFill>
            <a:srgbClr val="BC7DB7"/>
          </a:solidFill>
          <a:ln/>
        </p:spPr>
        <p:txBody>
          <a:bodyPr/>
          <a:lstStyle/>
          <a:p>
            <a:endParaRPr lang="es-ES"/>
          </a:p>
        </p:txBody>
      </p:sp>
      <p:sp>
        <p:nvSpPr>
          <p:cNvPr id="16" name="Text 13"/>
          <p:cNvSpPr/>
          <p:nvPr/>
        </p:nvSpPr>
        <p:spPr>
          <a:xfrm rot="420000">
            <a:off x="4571365" y="1708150"/>
            <a:ext cx="2916555" cy="4195445"/>
          </a:xfrm>
          <a:prstGeom prst="rect">
            <a:avLst/>
          </a:prstGeom>
          <a:noFill/>
          <a:ln/>
        </p:spPr>
        <p:txBody>
          <a:bodyPr wrap="square" lIns="45720" tIns="91440" rIns="91440" bIns="45720" rtlCol="0" anchor="ctr"/>
          <a:lstStyle/>
          <a:p>
            <a:pPr>
              <a:lnSpc>
                <a:spcPct val="100000"/>
              </a:lnSpc>
            </a:pPr>
            <a:endParaRPr lang="en-US" sz="1600" dirty="0"/>
          </a:p>
        </p:txBody>
      </p:sp>
      <p:sp>
        <p:nvSpPr>
          <p:cNvPr id="17" name="Shape 14"/>
          <p:cNvSpPr/>
          <p:nvPr/>
        </p:nvSpPr>
        <p:spPr>
          <a:xfrm>
            <a:off x="4563110" y="1708150"/>
            <a:ext cx="2916555" cy="4195445"/>
          </a:xfrm>
          <a:prstGeom prst="roundRect">
            <a:avLst>
              <a:gd name="adj" fmla="val 8509"/>
            </a:avLst>
          </a:prstGeom>
          <a:solidFill>
            <a:srgbClr val="FFFFFF"/>
          </a:solidFill>
          <a:ln w="19050">
            <a:solidFill>
              <a:srgbClr val="D5CDED"/>
            </a:solidFill>
            <a:prstDash val="solid"/>
          </a:ln>
        </p:spPr>
        <p:txBody>
          <a:bodyPr/>
          <a:lstStyle/>
          <a:p>
            <a:endParaRPr lang="es-ES"/>
          </a:p>
        </p:txBody>
      </p:sp>
      <p:sp>
        <p:nvSpPr>
          <p:cNvPr id="18" name="Text 15"/>
          <p:cNvSpPr/>
          <p:nvPr/>
        </p:nvSpPr>
        <p:spPr>
          <a:xfrm>
            <a:off x="4563110" y="1708150"/>
            <a:ext cx="2916555" cy="4195445"/>
          </a:xfrm>
          <a:prstGeom prst="rect">
            <a:avLst/>
          </a:prstGeom>
          <a:noFill/>
          <a:ln/>
        </p:spPr>
        <p:txBody>
          <a:bodyPr wrap="square" lIns="45720" tIns="91440" rIns="91440" bIns="45720" rtlCol="0" anchor="ctr"/>
          <a:lstStyle/>
          <a:p>
            <a:pPr>
              <a:lnSpc>
                <a:spcPct val="100000"/>
              </a:lnSpc>
            </a:pPr>
            <a:endParaRPr lang="en-US" sz="1600" dirty="0"/>
          </a:p>
        </p:txBody>
      </p:sp>
      <p:sp>
        <p:nvSpPr>
          <p:cNvPr id="19" name="Shape 16"/>
          <p:cNvSpPr/>
          <p:nvPr/>
        </p:nvSpPr>
        <p:spPr>
          <a:xfrm>
            <a:off x="4766310" y="1798320"/>
            <a:ext cx="296545" cy="296544"/>
          </a:xfrm>
          <a:custGeom>
            <a:avLst/>
            <a:gdLst/>
            <a:ahLst/>
            <a:cxnLst/>
            <a:rect l="l" t="t" r="r" b="b"/>
            <a:pathLst>
              <a:path w="296545" h="296544">
                <a:moveTo>
                  <a:pt x="148273" y="0"/>
                </a:moveTo>
                <a:cubicBezTo>
                  <a:pt x="230161" y="0"/>
                  <a:pt x="296545" y="66384"/>
                  <a:pt x="296545" y="148272"/>
                </a:cubicBezTo>
                <a:cubicBezTo>
                  <a:pt x="295924" y="152707"/>
                  <a:pt x="297165" y="156770"/>
                  <a:pt x="294681" y="161577"/>
                </a:cubicBezTo>
                <a:cubicBezTo>
                  <a:pt x="292197" y="166385"/>
                  <a:pt x="290268" y="168058"/>
                  <a:pt x="287874" y="170305"/>
                </a:cubicBezTo>
                <a:lnTo>
                  <a:pt x="169680" y="288499"/>
                </a:lnTo>
                <a:cubicBezTo>
                  <a:pt x="166594" y="290696"/>
                  <a:pt x="163880" y="292894"/>
                  <a:pt x="160422" y="295091"/>
                </a:cubicBezTo>
                <a:cubicBezTo>
                  <a:pt x="156963" y="297289"/>
                  <a:pt x="152322" y="296060"/>
                  <a:pt x="148273" y="296544"/>
                </a:cubicBezTo>
                <a:cubicBezTo>
                  <a:pt x="66384" y="296544"/>
                  <a:pt x="0" y="230160"/>
                  <a:pt x="0" y="148272"/>
                </a:cubicBezTo>
                <a:cubicBezTo>
                  <a:pt x="0" y="66384"/>
                  <a:pt x="66384" y="0"/>
                  <a:pt x="148273" y="0"/>
                </a:cubicBezTo>
                <a:close/>
              </a:path>
            </a:pathLst>
          </a:custGeom>
          <a:gradFill flip="none" rotWithShape="1">
            <a:gsLst>
              <a:gs pos="0">
                <a:srgbClr val="9B5095"/>
              </a:gs>
              <a:gs pos="5000">
                <a:srgbClr val="9B5095"/>
              </a:gs>
              <a:gs pos="64000">
                <a:srgbClr val="673563"/>
              </a:gs>
              <a:gs pos="100000">
                <a:srgbClr val="673563"/>
              </a:gs>
            </a:gsLst>
            <a:lin ang="2700000" scaled="1"/>
          </a:gradFill>
          <a:ln/>
        </p:spPr>
        <p:txBody>
          <a:bodyPr/>
          <a:lstStyle/>
          <a:p>
            <a:endParaRPr lang="es-ES"/>
          </a:p>
        </p:txBody>
      </p:sp>
      <p:sp>
        <p:nvSpPr>
          <p:cNvPr id="20" name="Text 17"/>
          <p:cNvSpPr/>
          <p:nvPr/>
        </p:nvSpPr>
        <p:spPr>
          <a:xfrm>
            <a:off x="4766310" y="1798320"/>
            <a:ext cx="296545" cy="296544"/>
          </a:xfrm>
          <a:prstGeom prst="rect">
            <a:avLst/>
          </a:prstGeom>
          <a:noFill/>
          <a:ln/>
        </p:spPr>
        <p:txBody>
          <a:bodyPr wrap="square" lIns="45720" tIns="91440" rIns="91440" bIns="45720" rtlCol="0" anchor="ctr"/>
          <a:lstStyle/>
          <a:p>
            <a:pPr>
              <a:lnSpc>
                <a:spcPct val="100000"/>
              </a:lnSpc>
            </a:pPr>
            <a:endParaRPr lang="en-US" sz="1600" dirty="0"/>
          </a:p>
        </p:txBody>
      </p:sp>
      <p:sp>
        <p:nvSpPr>
          <p:cNvPr id="21" name="Shape 18"/>
          <p:cNvSpPr/>
          <p:nvPr/>
        </p:nvSpPr>
        <p:spPr>
          <a:xfrm rot="21600000">
            <a:off x="4926334" y="1961818"/>
            <a:ext cx="132025" cy="132024"/>
          </a:xfrm>
          <a:custGeom>
            <a:avLst/>
            <a:gdLst/>
            <a:ahLst/>
            <a:cxnLst/>
            <a:rect l="l" t="t" r="r" b="b"/>
            <a:pathLst>
              <a:path w="132025" h="132024">
                <a:moveTo>
                  <a:pt x="132025" y="0"/>
                </a:moveTo>
                <a:cubicBezTo>
                  <a:pt x="128818" y="4804"/>
                  <a:pt x="127614" y="6477"/>
                  <a:pt x="125223" y="8722"/>
                </a:cubicBezTo>
                <a:lnTo>
                  <a:pt x="91179" y="42766"/>
                </a:lnTo>
                <a:lnTo>
                  <a:pt x="91179" y="42766"/>
                </a:lnTo>
                <a:lnTo>
                  <a:pt x="8722" y="125222"/>
                </a:lnTo>
                <a:cubicBezTo>
                  <a:pt x="6477" y="127614"/>
                  <a:pt x="4804" y="128817"/>
                  <a:pt x="0" y="132024"/>
                </a:cubicBezTo>
                <a:cubicBezTo>
                  <a:pt x="7440" y="122744"/>
                  <a:pt x="13881" y="115174"/>
                  <a:pt x="14746" y="100542"/>
                </a:cubicBezTo>
                <a:cubicBezTo>
                  <a:pt x="15179" y="93225"/>
                  <a:pt x="13987" y="81844"/>
                  <a:pt x="15794" y="69311"/>
                </a:cubicBezTo>
                <a:lnTo>
                  <a:pt x="16673" y="65086"/>
                </a:lnTo>
                <a:lnTo>
                  <a:pt x="16587" y="65000"/>
                </a:lnTo>
                <a:lnTo>
                  <a:pt x="17218" y="62462"/>
                </a:lnTo>
                <a:lnTo>
                  <a:pt x="17784" y="59742"/>
                </a:lnTo>
                <a:lnTo>
                  <a:pt x="18135" y="58780"/>
                </a:lnTo>
                <a:lnTo>
                  <a:pt x="18923" y="55614"/>
                </a:lnTo>
                <a:cubicBezTo>
                  <a:pt x="21401" y="48177"/>
                  <a:pt x="25215" y="41053"/>
                  <a:pt x="31175" y="34837"/>
                </a:cubicBezTo>
                <a:lnTo>
                  <a:pt x="33055" y="33054"/>
                </a:lnTo>
                <a:lnTo>
                  <a:pt x="34838" y="31175"/>
                </a:lnTo>
                <a:cubicBezTo>
                  <a:pt x="41053" y="25215"/>
                  <a:pt x="48177" y="21401"/>
                  <a:pt x="55615" y="18922"/>
                </a:cubicBezTo>
                <a:lnTo>
                  <a:pt x="58780" y="18135"/>
                </a:lnTo>
                <a:lnTo>
                  <a:pt x="59742" y="17784"/>
                </a:lnTo>
                <a:lnTo>
                  <a:pt x="62463" y="17218"/>
                </a:lnTo>
                <a:lnTo>
                  <a:pt x="65000" y="16587"/>
                </a:lnTo>
                <a:lnTo>
                  <a:pt x="65086" y="16673"/>
                </a:lnTo>
                <a:lnTo>
                  <a:pt x="69312" y="15794"/>
                </a:lnTo>
                <a:cubicBezTo>
                  <a:pt x="81844" y="13987"/>
                  <a:pt x="93226" y="15179"/>
                  <a:pt x="100542" y="14746"/>
                </a:cubicBezTo>
                <a:cubicBezTo>
                  <a:pt x="115175" y="13880"/>
                  <a:pt x="122744" y="7440"/>
                  <a:pt x="132025" y="0"/>
                </a:cubicBezTo>
                <a:close/>
              </a:path>
            </a:pathLst>
          </a:custGeom>
          <a:gradFill flip="none" rotWithShape="1">
            <a:gsLst>
              <a:gs pos="0">
                <a:srgbClr val="D9D9D9"/>
              </a:gs>
              <a:gs pos="18000">
                <a:srgbClr val="D9D9D9"/>
              </a:gs>
              <a:gs pos="35000">
                <a:srgbClr val="FFFFFF"/>
              </a:gs>
              <a:gs pos="50000">
                <a:srgbClr val="D9D9D9"/>
              </a:gs>
              <a:gs pos="100000">
                <a:srgbClr val="D9D9D9"/>
              </a:gs>
            </a:gsLst>
            <a:lin ang="2700000" scaled="1"/>
          </a:gradFill>
          <a:ln/>
          <a:effectLst>
            <a:outerShdw blurRad="381000" dist="50800" dir="2700000" algn="bl" rotWithShape="0">
              <a:srgbClr val="000000">
                <a:alpha val="40000"/>
              </a:srgbClr>
            </a:outerShdw>
          </a:effectLst>
        </p:spPr>
        <p:txBody>
          <a:bodyPr/>
          <a:lstStyle/>
          <a:p>
            <a:endParaRPr lang="es-ES"/>
          </a:p>
        </p:txBody>
      </p:sp>
      <p:sp>
        <p:nvSpPr>
          <p:cNvPr id="22" name="Text 19"/>
          <p:cNvSpPr/>
          <p:nvPr/>
        </p:nvSpPr>
        <p:spPr>
          <a:xfrm rot="21600000">
            <a:off x="4926334" y="1961818"/>
            <a:ext cx="132025" cy="132024"/>
          </a:xfrm>
          <a:prstGeom prst="rect">
            <a:avLst/>
          </a:prstGeom>
          <a:noFill/>
          <a:ln/>
        </p:spPr>
        <p:txBody>
          <a:bodyPr wrap="square" lIns="45720" tIns="91440" rIns="91440" bIns="45720" rtlCol="0" anchor="ctr"/>
          <a:lstStyle/>
          <a:p>
            <a:pPr>
              <a:lnSpc>
                <a:spcPct val="100000"/>
              </a:lnSpc>
            </a:pPr>
            <a:endParaRPr lang="en-US" sz="1600" dirty="0"/>
          </a:p>
        </p:txBody>
      </p:sp>
      <p:sp>
        <p:nvSpPr>
          <p:cNvPr id="23" name="Text 20"/>
          <p:cNvSpPr/>
          <p:nvPr/>
        </p:nvSpPr>
        <p:spPr>
          <a:xfrm>
            <a:off x="4871971" y="1841034"/>
            <a:ext cx="133047" cy="307171"/>
          </a:xfrm>
          <a:prstGeom prst="rect">
            <a:avLst/>
          </a:prstGeom>
          <a:noFill/>
          <a:ln/>
        </p:spPr>
        <p:txBody>
          <a:bodyPr wrap="square" lIns="0" tIns="0" rIns="0" bIns="0" rtlCol="0" anchor="t">
            <a:spAutoFit/>
          </a:bodyPr>
          <a:lstStyle/>
          <a:p>
            <a:pPr>
              <a:lnSpc>
                <a:spcPct val="100000"/>
              </a:lnSpc>
            </a:pPr>
            <a:r>
              <a:rPr lang="en-US" sz="1800" dirty="0">
                <a:solidFill>
                  <a:srgbClr val="1E1C0D"/>
                </a:solidFill>
                <a:latin typeface="MiSans" pitchFamily="34" charset="0"/>
                <a:ea typeface="MiSans" pitchFamily="34" charset="-122"/>
                <a:cs typeface="MiSans" pitchFamily="34" charset="-120"/>
              </a:rPr>
              <a:t> </a:t>
            </a:r>
            <a:endParaRPr lang="en-US" sz="1600" dirty="0"/>
          </a:p>
        </p:txBody>
      </p:sp>
      <p:sp>
        <p:nvSpPr>
          <p:cNvPr id="24" name="Text 21"/>
          <p:cNvSpPr/>
          <p:nvPr/>
        </p:nvSpPr>
        <p:spPr>
          <a:xfrm>
            <a:off x="1207770" y="2204085"/>
            <a:ext cx="2446020" cy="615315"/>
          </a:xfrm>
          <a:prstGeom prst="rect">
            <a:avLst/>
          </a:prstGeom>
          <a:noFill/>
          <a:ln/>
        </p:spPr>
        <p:txBody>
          <a:bodyPr wrap="square" lIns="0" tIns="0" rIns="0" bIns="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Marco normativo</a:t>
            </a:r>
            <a:endParaRPr lang="en-US" sz="1600" dirty="0"/>
          </a:p>
        </p:txBody>
      </p:sp>
      <p:sp>
        <p:nvSpPr>
          <p:cNvPr id="25" name="Text 22"/>
          <p:cNvSpPr/>
          <p:nvPr/>
        </p:nvSpPr>
        <p:spPr>
          <a:xfrm>
            <a:off x="1170305" y="2847340"/>
            <a:ext cx="2666365" cy="2875915"/>
          </a:xfrm>
          <a:prstGeom prst="rect">
            <a:avLst/>
          </a:prstGeom>
          <a:noFill/>
          <a:ln/>
        </p:spPr>
        <p:txBody>
          <a:bodyPr wrap="square" lIns="91440" tIns="45720" rIns="91440" bIns="45720" rtlCol="0" anchor="t"/>
          <a:lstStyle/>
          <a:p>
            <a:pPr>
              <a:lnSpc>
                <a:spcPct val="150000"/>
              </a:lnSpc>
            </a:pPr>
            <a:r>
              <a:rPr lang="en-US" sz="1400" dirty="0">
                <a:solidFill>
                  <a:srgbClr val="1E1C0D"/>
                </a:solidFill>
                <a:latin typeface="MiSans" pitchFamily="34" charset="0"/>
                <a:ea typeface="MiSans" pitchFamily="34" charset="-122"/>
                <a:cs typeface="MiSans" pitchFamily="34" charset="-120"/>
              </a:rPr>
              <a:t>El Real Decreto 902/2020 obliga a empresas de más de 50 trabajadores a elaborar registros retributivos y auditorías salariales si la brecha supera el 25 %.</a:t>
            </a:r>
            <a:endParaRPr lang="en-US" sz="1600" dirty="0"/>
          </a:p>
        </p:txBody>
      </p:sp>
      <p:sp>
        <p:nvSpPr>
          <p:cNvPr id="26" name="Text 23"/>
          <p:cNvSpPr/>
          <p:nvPr/>
        </p:nvSpPr>
        <p:spPr>
          <a:xfrm>
            <a:off x="4730750" y="2204085"/>
            <a:ext cx="2446020" cy="615315"/>
          </a:xfrm>
          <a:prstGeom prst="rect">
            <a:avLst/>
          </a:prstGeom>
          <a:noFill/>
          <a:ln/>
        </p:spPr>
        <p:txBody>
          <a:bodyPr wrap="square" lIns="0" tIns="0" rIns="0" bIns="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Limitaciones de las políticas</a:t>
            </a:r>
            <a:endParaRPr lang="en-US" sz="1600" dirty="0"/>
          </a:p>
        </p:txBody>
      </p:sp>
      <p:sp>
        <p:nvSpPr>
          <p:cNvPr id="27" name="Text 24"/>
          <p:cNvSpPr/>
          <p:nvPr/>
        </p:nvSpPr>
        <p:spPr>
          <a:xfrm>
            <a:off x="4693285" y="2847340"/>
            <a:ext cx="2666365" cy="2875915"/>
          </a:xfrm>
          <a:prstGeom prst="rect">
            <a:avLst/>
          </a:prstGeom>
          <a:noFill/>
          <a:ln/>
        </p:spPr>
        <p:txBody>
          <a:bodyPr wrap="square" lIns="91440" tIns="45720" rIns="91440" bIns="45720" rtlCol="0" anchor="t"/>
          <a:lstStyle/>
          <a:p>
            <a:pPr>
              <a:lnSpc>
                <a:spcPct val="150000"/>
              </a:lnSpc>
            </a:pPr>
            <a:r>
              <a:rPr lang="en-US" sz="1400" dirty="0">
                <a:solidFill>
                  <a:srgbClr val="1E1C0D"/>
                </a:solidFill>
                <a:latin typeface="MiSans" pitchFamily="34" charset="0"/>
                <a:ea typeface="MiSans" pitchFamily="34" charset="-122"/>
                <a:cs typeface="MiSans" pitchFamily="34" charset="-120"/>
              </a:rPr>
              <a:t>Aunque estos instrumentos detectan desigualdades por igual trabajo, no abordan la segregación ocupacional ni la desigualdad en la distribución de cuidados.</a:t>
            </a:r>
            <a:endParaRPr lang="en-US" sz="160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n 1">
            <a:extLst>
              <a:ext uri="{FF2B5EF4-FFF2-40B4-BE49-F238E27FC236}">
                <a16:creationId xmlns:a16="http://schemas.microsoft.com/office/drawing/2014/main" id="{C362D3B9-E470-09D1-F1B6-CD48108B622E}"/>
              </a:ext>
            </a:extLst>
          </p:cNvPr>
          <p:cNvPicPr>
            <a:picLocks noChangeAspect="1"/>
          </p:cNvPicPr>
          <p:nvPr/>
        </p:nvPicPr>
        <p:blipFill>
          <a:blip r:embed="rId2"/>
          <a:stretch>
            <a:fillRect/>
          </a:stretch>
        </p:blipFill>
        <p:spPr>
          <a:xfrm>
            <a:off x="643467" y="1111673"/>
            <a:ext cx="10905066" cy="4634652"/>
          </a:xfrm>
          <a:prstGeom prst="rect">
            <a:avLst/>
          </a:prstGeom>
          <a:ln>
            <a:noFill/>
          </a:ln>
        </p:spPr>
      </p:pic>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32365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Imagen 2">
            <a:extLst>
              <a:ext uri="{FF2B5EF4-FFF2-40B4-BE49-F238E27FC236}">
                <a16:creationId xmlns:a16="http://schemas.microsoft.com/office/drawing/2014/main" id="{379A7CF0-52CB-88EA-CC29-AF56F3B4AEEF}"/>
              </a:ext>
            </a:extLst>
          </p:cNvPr>
          <p:cNvPicPr>
            <a:picLocks noChangeAspect="1"/>
          </p:cNvPicPr>
          <p:nvPr/>
        </p:nvPicPr>
        <p:blipFill>
          <a:blip r:embed="rId2"/>
          <a:srcRect r="872" b="1"/>
          <a:stretch>
            <a:fillRect/>
          </a:stretch>
        </p:blipFill>
        <p:spPr>
          <a:xfrm>
            <a:off x="20" y="1282"/>
            <a:ext cx="12191980" cy="6856718"/>
          </a:xfrm>
          <a:prstGeom prst="rect">
            <a:avLst/>
          </a:prstGeom>
        </p:spPr>
      </p:pic>
    </p:spTree>
    <p:extLst>
      <p:ext uri="{BB962C8B-B14F-4D97-AF65-F5344CB8AC3E}">
        <p14:creationId xmlns:p14="http://schemas.microsoft.com/office/powerpoint/2010/main" val="1789726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a:ln/>
        </p:spPr>
        <p:txBody>
          <a:bodyPr/>
          <a:lstStyle/>
          <a:p>
            <a:endParaRPr lang="es-ES"/>
          </a:p>
        </p:txBody>
      </p:sp>
      <p:sp>
        <p:nvSpPr>
          <p:cNvPr id="5" name="Text 3"/>
          <p:cNvSpPr/>
          <p:nvPr/>
        </p:nvSpPr>
        <p:spPr>
          <a:xfrm>
            <a:off x="4445" y="0"/>
            <a:ext cx="12187555" cy="687578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a:ln/>
        </p:spPr>
        <p:txBody>
          <a:bodyPr/>
          <a:lstStyle/>
          <a:p>
            <a:endParaRPr lang="es-ES"/>
          </a:p>
        </p:txBody>
      </p:sp>
      <p:sp>
        <p:nvSpPr>
          <p:cNvPr id="7" name="Text 5"/>
          <p:cNvSpPr/>
          <p:nvPr/>
        </p:nvSpPr>
        <p:spPr>
          <a:xfrm>
            <a:off x="85280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9" name="Text 7"/>
          <p:cNvSpPr/>
          <p:nvPr/>
        </p:nvSpPr>
        <p:spPr>
          <a:xfrm>
            <a:off x="113665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a:ln/>
        </p:spPr>
        <p:txBody>
          <a:bodyPr/>
          <a:lstStyle/>
          <a:p>
            <a:endParaRPr lang="es-ES"/>
          </a:p>
        </p:txBody>
      </p:sp>
      <p:sp>
        <p:nvSpPr>
          <p:cNvPr id="11" name="Text 9"/>
          <p:cNvSpPr/>
          <p:nvPr/>
        </p:nvSpPr>
        <p:spPr>
          <a:xfrm>
            <a:off x="142049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3" name="Text 11"/>
          <p:cNvSpPr/>
          <p:nvPr/>
        </p:nvSpPr>
        <p:spPr>
          <a:xfrm>
            <a:off x="170434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a:ln/>
        </p:spPr>
        <p:txBody>
          <a:bodyPr/>
          <a:lstStyle/>
          <a:p>
            <a:endParaRPr lang="es-ES"/>
          </a:p>
        </p:txBody>
      </p:sp>
      <p:sp>
        <p:nvSpPr>
          <p:cNvPr id="15" name="Text 13"/>
          <p:cNvSpPr/>
          <p:nvPr/>
        </p:nvSpPr>
        <p:spPr>
          <a:xfrm>
            <a:off x="198818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7" name="Text 15"/>
          <p:cNvSpPr/>
          <p:nvPr/>
        </p:nvSpPr>
        <p:spPr>
          <a:xfrm>
            <a:off x="227203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a:ln/>
        </p:spPr>
        <p:txBody>
          <a:bodyPr/>
          <a:lstStyle/>
          <a:p>
            <a:endParaRPr lang="es-ES"/>
          </a:p>
        </p:txBody>
      </p:sp>
      <p:sp>
        <p:nvSpPr>
          <p:cNvPr id="19" name="Text 17"/>
          <p:cNvSpPr/>
          <p:nvPr/>
        </p:nvSpPr>
        <p:spPr>
          <a:xfrm>
            <a:off x="11456035" y="38163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a:ln/>
        </p:spPr>
        <p:txBody>
          <a:bodyPr/>
          <a:lstStyle/>
          <a:p>
            <a:endParaRPr lang="es-ES"/>
          </a:p>
        </p:txBody>
      </p:sp>
      <p:sp>
        <p:nvSpPr>
          <p:cNvPr id="21" name="Text 19"/>
          <p:cNvSpPr/>
          <p:nvPr/>
        </p:nvSpPr>
        <p:spPr>
          <a:xfrm>
            <a:off x="11456035" y="501650"/>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a:ln/>
        </p:spPr>
        <p:txBody>
          <a:bodyPr/>
          <a:lstStyle/>
          <a:p>
            <a:endParaRPr lang="es-ES"/>
          </a:p>
        </p:txBody>
      </p:sp>
      <p:sp>
        <p:nvSpPr>
          <p:cNvPr id="23" name="Text 21"/>
          <p:cNvSpPr/>
          <p:nvPr/>
        </p:nvSpPr>
        <p:spPr>
          <a:xfrm>
            <a:off x="11456035" y="62166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txBody>
          <a:bodyPr/>
          <a:lstStyle/>
          <a:p>
            <a:endParaRPr lang="es-ES"/>
          </a:p>
        </p:txBody>
      </p:sp>
      <p:sp>
        <p:nvSpPr>
          <p:cNvPr id="25" name="Shape 23"/>
          <p:cNvSpPr/>
          <p:nvPr/>
        </p:nvSpPr>
        <p:spPr>
          <a:xfrm>
            <a:off x="852805" y="6177280"/>
            <a:ext cx="259080" cy="259080"/>
          </a:xfrm>
          <a:prstGeom prst="ellipse">
            <a:avLst/>
          </a:prstGeom>
          <a:solidFill>
            <a:srgbClr val="FFFFFF"/>
          </a:solidFill>
          <a:ln/>
        </p:spPr>
        <p:txBody>
          <a:bodyPr/>
          <a:lstStyle/>
          <a:p>
            <a:endParaRPr lang="es-ES"/>
          </a:p>
        </p:txBody>
      </p:sp>
      <p:sp>
        <p:nvSpPr>
          <p:cNvPr id="26" name="Text 24"/>
          <p:cNvSpPr/>
          <p:nvPr/>
        </p:nvSpPr>
        <p:spPr>
          <a:xfrm>
            <a:off x="852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txBody>
          <a:bodyPr/>
          <a:lstStyle/>
          <a:p>
            <a:endParaRPr lang="es-ES"/>
          </a:p>
        </p:txBody>
      </p:sp>
      <p:sp>
        <p:nvSpPr>
          <p:cNvPr id="28" name="Text 26"/>
          <p:cNvSpPr/>
          <p:nvPr/>
        </p:nvSpPr>
        <p:spPr>
          <a:xfrm>
            <a:off x="979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Shape 27"/>
          <p:cNvSpPr/>
          <p:nvPr/>
        </p:nvSpPr>
        <p:spPr>
          <a:xfrm>
            <a:off x="541655" y="2687320"/>
            <a:ext cx="11172825" cy="2306955"/>
          </a:xfrm>
          <a:prstGeom prst="rect">
            <a:avLst/>
          </a:prstGeom>
          <a:solidFill>
            <a:srgbClr val="000000">
              <a:alpha val="0"/>
            </a:srgbClr>
          </a:solidFill>
          <a:ln/>
        </p:spPr>
        <p:txBody>
          <a:bodyPr/>
          <a:lstStyle/>
          <a:p>
            <a:endParaRPr lang="es-ES"/>
          </a:p>
        </p:txBody>
      </p:sp>
      <p:sp>
        <p:nvSpPr>
          <p:cNvPr id="30" name="Text 28"/>
          <p:cNvSpPr/>
          <p:nvPr/>
        </p:nvSpPr>
        <p:spPr>
          <a:xfrm>
            <a:off x="541655" y="2687320"/>
            <a:ext cx="11172825" cy="2306955"/>
          </a:xfrm>
          <a:prstGeom prst="rect">
            <a:avLst/>
          </a:prstGeom>
          <a:noFill/>
          <a:ln/>
        </p:spPr>
        <p:txBody>
          <a:bodyPr wrap="square" lIns="45720" tIns="91440" rIns="91440" bIns="45720" rtlCol="0" anchor="t"/>
          <a:lstStyle/>
          <a:p>
            <a:pPr algn="ctr">
              <a:lnSpc>
                <a:spcPct val="100000"/>
              </a:lnSpc>
            </a:pPr>
            <a:r>
              <a:rPr lang="en-US" sz="7200" b="1" dirty="0">
                <a:solidFill>
                  <a:srgbClr val="FFFFFF"/>
                </a:solidFill>
                <a:latin typeface="MiSans" pitchFamily="34" charset="0"/>
                <a:ea typeface="MiSans" pitchFamily="34" charset="-122"/>
                <a:cs typeface="MiSans" pitchFamily="34" charset="-120"/>
              </a:rPr>
              <a:t>Empleo vs. salarios</a:t>
            </a:r>
            <a:endParaRPr lang="en-US" sz="1600" dirty="0"/>
          </a:p>
        </p:txBody>
      </p:sp>
      <p:sp>
        <p:nvSpPr>
          <p:cNvPr id="31" name="Text 29"/>
          <p:cNvSpPr/>
          <p:nvPr/>
        </p:nvSpPr>
        <p:spPr>
          <a:xfrm>
            <a:off x="2515235" y="1350010"/>
            <a:ext cx="7161530" cy="1198880"/>
          </a:xfrm>
          <a:prstGeom prst="rect">
            <a:avLst/>
          </a:prstGeom>
          <a:noFill/>
          <a:ln/>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0"/>
                <a:ea typeface="MiSans" pitchFamily="34" charset="-122"/>
                <a:cs typeface="MiSans" pitchFamily="34" charset="-120"/>
              </a:rPr>
              <a:t>05</a:t>
            </a:r>
            <a:endParaRPr lang="en-US" sz="1600" dirty="0"/>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a:lnSpc>
                <a:spcPct val="100000"/>
              </a:lnSpc>
            </a:pPr>
            <a:endParaRPr lang="en-US" sz="1600" dirty="0"/>
          </a:p>
        </p:txBody>
      </p:sp>
      <p:sp>
        <p:nvSpPr>
          <p:cNvPr id="4" name="Text 2"/>
          <p:cNvSpPr/>
          <p:nvPr/>
        </p:nvSpPr>
        <p:spPr>
          <a:xfrm>
            <a:off x="582930" y="47180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Elasticidad: cuánto destruye</a:t>
            </a:r>
            <a:endParaRPr lang="en-US" sz="1600" dirty="0"/>
          </a:p>
        </p:txBody>
      </p:sp>
      <p:sp>
        <p:nvSpPr>
          <p:cNvPr id="5" name="Shape 3"/>
          <p:cNvSpPr/>
          <p:nvPr/>
        </p:nvSpPr>
        <p:spPr>
          <a:xfrm rot="16200000" flipH="1" flipV="1">
            <a:off x="6010275" y="692785"/>
            <a:ext cx="6849110" cy="5517515"/>
          </a:xfrm>
          <a:prstGeom prst="round2DiagRect">
            <a:avLst>
              <a:gd name="adj1" fmla="val 0"/>
              <a:gd name="adj2" fmla="val 0"/>
            </a:avLst>
          </a:prstGeom>
          <a:solidFill>
            <a:srgbClr val="402E7F"/>
          </a:solidFill>
          <a:ln/>
        </p:spPr>
        <p:txBody>
          <a:bodyPr/>
          <a:lstStyle/>
          <a:p>
            <a:endParaRPr lang="es-ES"/>
          </a:p>
        </p:txBody>
      </p:sp>
      <p:sp>
        <p:nvSpPr>
          <p:cNvPr id="6" name="Text 4"/>
          <p:cNvSpPr/>
          <p:nvPr/>
        </p:nvSpPr>
        <p:spPr>
          <a:xfrm rot="16200000">
            <a:off x="6010275" y="692785"/>
            <a:ext cx="6849110" cy="5517515"/>
          </a:xfrm>
          <a:prstGeom prst="rect">
            <a:avLst/>
          </a:prstGeom>
          <a:noFill/>
          <a:ln/>
        </p:spPr>
        <p:txBody>
          <a:bodyPr wrap="square" lIns="45720" tIns="91440" rIns="91440" bIns="45720" rtlCol="0" anchor="ctr"/>
          <a:lstStyle/>
          <a:p>
            <a:pPr>
              <a:lnSpc>
                <a:spcPct val="100000"/>
              </a:lnSpc>
            </a:pPr>
            <a:endParaRPr lang="en-US" sz="1600" dirty="0"/>
          </a:p>
        </p:txBody>
      </p:sp>
      <p:sp>
        <p:nvSpPr>
          <p:cNvPr id="7" name="Shape 5"/>
          <p:cNvSpPr/>
          <p:nvPr/>
        </p:nvSpPr>
        <p:spPr>
          <a:xfrm>
            <a:off x="7224615" y="3744595"/>
            <a:ext cx="4536000" cy="0"/>
          </a:xfrm>
          <a:prstGeom prst="line">
            <a:avLst/>
          </a:prstGeom>
          <a:noFill/>
          <a:ln w="12700">
            <a:solidFill>
              <a:srgbClr val="FFFFFF"/>
            </a:solidFill>
            <a:prstDash val="dash"/>
            <a:headEnd type="none"/>
            <a:tailEnd type="none"/>
          </a:ln>
        </p:spPr>
        <p:txBody>
          <a:bodyPr/>
          <a:lstStyle/>
          <a:p>
            <a:endParaRPr lang="es-ES"/>
          </a:p>
        </p:txBody>
      </p:sp>
      <p:pic>
        <p:nvPicPr>
          <p:cNvPr id="8" name="Image 0" descr="https://kimi-img.moonshot.cn/pub/slides/slides_tmpl/image/25-09-08-15:08:36-d2v81t5nfo2stf9dkdjg.png"/>
          <p:cNvPicPr>
            <a:picLocks noChangeAspect="1"/>
          </p:cNvPicPr>
          <p:nvPr/>
        </p:nvPicPr>
        <p:blipFill>
          <a:blip r:embed="rId3"/>
          <a:srcRect t="54" b="54"/>
          <a:stretch/>
        </p:blipFill>
        <p:spPr>
          <a:xfrm>
            <a:off x="885825" y="1289050"/>
            <a:ext cx="5475605" cy="2910840"/>
          </a:xfrm>
          <a:prstGeom prst="rect">
            <a:avLst/>
          </a:prstGeom>
        </p:spPr>
      </p:pic>
      <p:sp>
        <p:nvSpPr>
          <p:cNvPr id="9" name="Text 6"/>
          <p:cNvSpPr/>
          <p:nvPr/>
        </p:nvSpPr>
        <p:spPr>
          <a:xfrm>
            <a:off x="918210" y="4307205"/>
            <a:ext cx="5264665" cy="398780"/>
          </a:xfrm>
          <a:prstGeom prst="rect">
            <a:avLst/>
          </a:prstGeom>
          <a:noFill/>
          <a:ln/>
        </p:spPr>
        <p:txBody>
          <a:bodyPr wrap="square" lIns="91440" tIns="45720" rIns="91440" bIns="4572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Elasticidad empleo-salario</a:t>
            </a:r>
            <a:endParaRPr lang="en-US" sz="1600" dirty="0"/>
          </a:p>
        </p:txBody>
      </p:sp>
      <p:sp>
        <p:nvSpPr>
          <p:cNvPr id="10" name="Text 7"/>
          <p:cNvSpPr/>
          <p:nvPr/>
        </p:nvSpPr>
        <p:spPr>
          <a:xfrm>
            <a:off x="918210" y="4706620"/>
            <a:ext cx="5276850" cy="1565910"/>
          </a:xfrm>
          <a:prstGeom prst="rect">
            <a:avLst/>
          </a:prstGeom>
          <a:noFill/>
          <a:ln/>
        </p:spPr>
        <p:txBody>
          <a:bodyPr wrap="square" lIns="91440" tIns="45720" rIns="91440" bIns="45720" rtlCol="0" anchor="t">
            <a:spAutoFit/>
          </a:bodyPr>
          <a:lstStyle/>
          <a:p>
            <a:pPr>
              <a:lnSpc>
                <a:spcPct val="120000"/>
              </a:lnSpc>
            </a:pPr>
            <a:r>
              <a:rPr lang="en-US" sz="1600" dirty="0">
                <a:solidFill>
                  <a:srgbClr val="1E1C0D"/>
                </a:solidFill>
                <a:latin typeface="MiSans" pitchFamily="34" charset="0"/>
                <a:ea typeface="MiSans" pitchFamily="34" charset="-122"/>
                <a:cs typeface="MiSans" pitchFamily="34" charset="-120"/>
              </a:rPr>
              <a:t>Estimaciones para España sitúan la elasticidad empleo-salario entre -0,3 y -0,5. Un aumento del 10 % en costes laborales reduce el empleo entre un 3 % y un 5 %.</a:t>
            </a:r>
            <a:endParaRPr lang="en-US" sz="1600" dirty="0"/>
          </a:p>
        </p:txBody>
      </p:sp>
      <p:sp>
        <p:nvSpPr>
          <p:cNvPr id="11" name="Text 8"/>
          <p:cNvSpPr/>
          <p:nvPr/>
        </p:nvSpPr>
        <p:spPr>
          <a:xfrm>
            <a:off x="7181215" y="1233805"/>
            <a:ext cx="4612125" cy="398780"/>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Efectos heterogéneos</a:t>
            </a:r>
            <a:endParaRPr lang="en-US" sz="1600" dirty="0"/>
          </a:p>
        </p:txBody>
      </p:sp>
      <p:sp>
        <p:nvSpPr>
          <p:cNvPr id="12" name="Text 9"/>
          <p:cNvSpPr/>
          <p:nvPr/>
        </p:nvSpPr>
        <p:spPr>
          <a:xfrm>
            <a:off x="7181215" y="1633220"/>
            <a:ext cx="4622800" cy="1688465"/>
          </a:xfrm>
          <a:prstGeom prst="rect">
            <a:avLst/>
          </a:prstGeom>
          <a:noFill/>
          <a:ln/>
        </p:spPr>
        <p:txBody>
          <a:bodyPr wrap="square" lIns="91440" tIns="45720" rIns="91440" bIns="45720" rtlCol="0" anchor="t">
            <a:spAutoFit/>
          </a:bodyPr>
          <a:lstStyle/>
          <a:p>
            <a:pPr>
              <a:lnSpc>
                <a:spcPct val="120000"/>
              </a:lnSpc>
            </a:pPr>
            <a:r>
              <a:rPr lang="en-US" sz="1600" dirty="0">
                <a:solidFill>
                  <a:srgbClr val="FFFFFF"/>
                </a:solidFill>
                <a:latin typeface="MiSans" pitchFamily="34" charset="0"/>
                <a:ea typeface="MiSans" pitchFamily="34" charset="-122"/>
                <a:cs typeface="MiSans" pitchFamily="34" charset="-120"/>
              </a:rPr>
              <a:t>El efecto es más pronunciado en sectores intensivos en mano de obra de baja cualificación, como la hostelería, y entre jóvenes sin cualificar, revelando una heterogeneidad crucial.</a:t>
            </a:r>
            <a:endParaRPr lang="en-US" sz="1600" dirty="0"/>
          </a:p>
        </p:txBody>
      </p:sp>
      <p:sp>
        <p:nvSpPr>
          <p:cNvPr id="13" name="Text 10"/>
          <p:cNvSpPr/>
          <p:nvPr/>
        </p:nvSpPr>
        <p:spPr>
          <a:xfrm>
            <a:off x="7181215" y="3966845"/>
            <a:ext cx="4612125" cy="398780"/>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Importancia de la heterogeneidad</a:t>
            </a:r>
            <a:endParaRPr lang="en-US" sz="1600" dirty="0"/>
          </a:p>
        </p:txBody>
      </p:sp>
      <p:sp>
        <p:nvSpPr>
          <p:cNvPr id="14" name="Text 11"/>
          <p:cNvSpPr/>
          <p:nvPr/>
        </p:nvSpPr>
        <p:spPr>
          <a:xfrm>
            <a:off x="7181215" y="4366260"/>
            <a:ext cx="4622800" cy="1861185"/>
          </a:xfrm>
          <a:prstGeom prst="rect">
            <a:avLst/>
          </a:prstGeom>
          <a:noFill/>
          <a:ln/>
        </p:spPr>
        <p:txBody>
          <a:bodyPr wrap="square" lIns="91440" tIns="45720" rIns="91440" bIns="45720" rtlCol="0" anchor="t">
            <a:spAutoFit/>
          </a:bodyPr>
          <a:lstStyle/>
          <a:p>
            <a:pPr>
              <a:lnSpc>
                <a:spcPct val="120000"/>
              </a:lnSpc>
            </a:pPr>
            <a:r>
              <a:rPr lang="en-US" sz="1600" dirty="0">
                <a:solidFill>
                  <a:srgbClr val="FFFFFF"/>
                </a:solidFill>
                <a:latin typeface="MiSans" pitchFamily="34" charset="0"/>
                <a:ea typeface="MiSans" pitchFamily="34" charset="-122"/>
                <a:cs typeface="MiSans" pitchFamily="34" charset="-120"/>
              </a:rPr>
              <a:t>La heterogeneidad en la elasticidad es esencial para diseñar políticas salariales que no afecten negativamente a los colectivos más vulnerables.</a:t>
            </a:r>
            <a:endParaRPr lang="en-US" sz="1600" dirty="0"/>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793750" y="1776730"/>
            <a:ext cx="10858500" cy="3921125"/>
          </a:xfrm>
          <a:prstGeom prst="roundRect">
            <a:avLst>
              <a:gd name="adj" fmla="val 5208"/>
            </a:avLst>
          </a:prstGeom>
          <a:gradFill flip="none" rotWithShape="1">
            <a:gsLst>
              <a:gs pos="0">
                <a:srgbClr val="D7B1D4"/>
              </a:gs>
              <a:gs pos="34000">
                <a:srgbClr val="BC7DB7"/>
              </a:gs>
              <a:gs pos="100000">
                <a:srgbClr val="30225F"/>
              </a:gs>
            </a:gsLst>
            <a:lin ang="13500000" scaled="1"/>
          </a:gradFill>
          <a:ln/>
        </p:spPr>
        <p:txBody>
          <a:bodyPr/>
          <a:lstStyle/>
          <a:p>
            <a:endParaRPr lang="es-ES"/>
          </a:p>
        </p:txBody>
      </p:sp>
      <p:sp>
        <p:nvSpPr>
          <p:cNvPr id="5" name="Text 3"/>
          <p:cNvSpPr/>
          <p:nvPr/>
        </p:nvSpPr>
        <p:spPr>
          <a:xfrm>
            <a:off x="793750" y="1776730"/>
            <a:ext cx="10858500" cy="392112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666750" y="1649730"/>
            <a:ext cx="10858500" cy="3921125"/>
          </a:xfrm>
          <a:prstGeom prst="roundRect">
            <a:avLst>
              <a:gd name="adj" fmla="val 5208"/>
            </a:avLst>
          </a:prstGeom>
          <a:solidFill>
            <a:srgbClr val="FFFFFF"/>
          </a:solidFill>
          <a:ln w="19050">
            <a:solidFill>
              <a:srgbClr val="402E7F"/>
            </a:solidFill>
            <a:prstDash val="solid"/>
          </a:ln>
        </p:spPr>
        <p:txBody>
          <a:bodyPr/>
          <a:lstStyle/>
          <a:p>
            <a:endParaRPr lang="es-ES"/>
          </a:p>
        </p:txBody>
      </p:sp>
      <p:sp>
        <p:nvSpPr>
          <p:cNvPr id="7" name="Text 5"/>
          <p:cNvSpPr/>
          <p:nvPr/>
        </p:nvSpPr>
        <p:spPr>
          <a:xfrm>
            <a:off x="666750" y="1649730"/>
            <a:ext cx="10858500" cy="3921125"/>
          </a:xfrm>
          <a:prstGeom prst="rect">
            <a:avLst/>
          </a:prstGeom>
          <a:noFill/>
          <a:ln/>
        </p:spPr>
        <p:txBody>
          <a:bodyPr wrap="square" lIns="45720" tIns="91440" rIns="91440" bIns="45720" rtlCol="0" anchor="ctr"/>
          <a:lstStyle/>
          <a:p>
            <a:pPr>
              <a:lnSpc>
                <a:spcPct val="100000"/>
              </a:lnSpc>
            </a:pPr>
            <a:endParaRPr lang="en-US" sz="1600" dirty="0"/>
          </a:p>
        </p:txBody>
      </p:sp>
      <p:pic>
        <p:nvPicPr>
          <p:cNvPr id="8" name="Image 0" descr="https://kimi-img.moonshot.cn/pub/slides/slides_tmpl/image/25-09-08-15:08:33-d2v81sdnfo2stf9dkdfg.png"/>
          <p:cNvPicPr>
            <a:picLocks noChangeAspect="1"/>
          </p:cNvPicPr>
          <p:nvPr/>
        </p:nvPicPr>
        <p:blipFill>
          <a:blip r:embed="rId3"/>
          <a:srcRect l="40" r="40"/>
          <a:stretch/>
        </p:blipFill>
        <p:spPr>
          <a:xfrm>
            <a:off x="4176078" y="1257300"/>
            <a:ext cx="3839845" cy="4786630"/>
          </a:xfrm>
          <a:prstGeom prst="roundRect">
            <a:avLst>
              <a:gd name="adj" fmla="val 4762"/>
            </a:avLst>
          </a:prstGeom>
        </p:spPr>
      </p:pic>
      <p:sp>
        <p:nvSpPr>
          <p:cNvPr id="9" name="Text 6"/>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Proteger a los de dentro</a:t>
            </a:r>
            <a:endParaRPr lang="en-US" sz="1600" dirty="0"/>
          </a:p>
        </p:txBody>
      </p:sp>
      <p:sp>
        <p:nvSpPr>
          <p:cNvPr id="10" name="Shape 7"/>
          <p:cNvSpPr/>
          <p:nvPr/>
        </p:nvSpPr>
        <p:spPr>
          <a:xfrm rot="16200000" flipH="1" flipV="1">
            <a:off x="5789295" y="455295"/>
            <a:ext cx="615950" cy="12192000"/>
          </a:xfrm>
          <a:prstGeom prst="round2DiagRect">
            <a:avLst>
              <a:gd name="adj1" fmla="val 0"/>
              <a:gd name="adj2" fmla="val 0"/>
            </a:avLst>
          </a:prstGeom>
          <a:solidFill>
            <a:srgbClr val="402E7F"/>
          </a:solidFill>
          <a:ln/>
        </p:spPr>
        <p:txBody>
          <a:bodyPr/>
          <a:lstStyle/>
          <a:p>
            <a:endParaRPr lang="es-ES"/>
          </a:p>
        </p:txBody>
      </p:sp>
      <p:sp>
        <p:nvSpPr>
          <p:cNvPr id="11" name="Text 8"/>
          <p:cNvSpPr/>
          <p:nvPr/>
        </p:nvSpPr>
        <p:spPr>
          <a:xfrm rot="16200000">
            <a:off x="5789295" y="455295"/>
            <a:ext cx="615950" cy="1219200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Text 9"/>
          <p:cNvSpPr/>
          <p:nvPr/>
        </p:nvSpPr>
        <p:spPr>
          <a:xfrm>
            <a:off x="1005840" y="1909445"/>
            <a:ext cx="2906820" cy="645160"/>
          </a:xfrm>
          <a:prstGeom prst="rect">
            <a:avLst/>
          </a:prstGeom>
          <a:noFill/>
          <a:ln/>
        </p:spPr>
        <p:txBody>
          <a:bodyPr wrap="square" lIns="91440" tIns="45720" rIns="91440" bIns="45720" rtlCol="0" anchor="t">
            <a:spAutoFit/>
          </a:bodyPr>
          <a:lstStyle/>
          <a:p>
            <a:pPr>
              <a:lnSpc>
                <a:spcPct val="100000"/>
              </a:lnSpc>
            </a:pPr>
            <a:r>
              <a:rPr lang="en-US" sz="1800" b="1" dirty="0">
                <a:solidFill>
                  <a:srgbClr val="402E7F"/>
                </a:solidFill>
                <a:latin typeface="MiSans" pitchFamily="34" charset="0"/>
                <a:ea typeface="MiSans" pitchFamily="34" charset="-122"/>
                <a:cs typeface="MiSans" pitchFamily="34" charset="-120"/>
              </a:rPr>
              <a:t>Trade-off equidad-empleo</a:t>
            </a:r>
            <a:endParaRPr lang="en-US" sz="1600" dirty="0"/>
          </a:p>
        </p:txBody>
      </p:sp>
      <p:sp>
        <p:nvSpPr>
          <p:cNvPr id="13" name="Text 10"/>
          <p:cNvSpPr/>
          <p:nvPr/>
        </p:nvSpPr>
        <p:spPr>
          <a:xfrm>
            <a:off x="1005840" y="2496820"/>
            <a:ext cx="2907665" cy="680720"/>
          </a:xfrm>
          <a:prstGeom prst="rect">
            <a:avLst/>
          </a:prstGeom>
          <a:noFill/>
          <a:ln/>
        </p:spPr>
        <p:txBody>
          <a:bodyPr wrap="square" lIns="91440" tIns="45720" rIns="91440" bIns="45720" rtlCol="0" anchor="t">
            <a:spAutoFit/>
          </a:bodyPr>
          <a:lstStyle/>
          <a:p>
            <a:pPr>
              <a:lnSpc>
                <a:spcPct val="150000"/>
              </a:lnSpc>
            </a:pPr>
            <a:r>
              <a:rPr lang="en-US" sz="1400" dirty="0">
                <a:solidFill>
                  <a:srgbClr val="1E1C0D"/>
                </a:solidFill>
                <a:latin typeface="MiSans" pitchFamily="34" charset="0"/>
                <a:ea typeface="MiSans" pitchFamily="34" charset="-122"/>
                <a:cs typeface="MiSans" pitchFamily="34" charset="-120"/>
              </a:rPr>
              <a:t>Salarios mínimos elevados y convenios sectoriales protegen a los ocupados, pero pueden encarecer la entrada de outsiders, como parados, jóvenes y migrantes.</a:t>
            </a:r>
            <a:endParaRPr lang="en-US" sz="1600" dirty="0"/>
          </a:p>
        </p:txBody>
      </p:sp>
      <p:sp>
        <p:nvSpPr>
          <p:cNvPr id="14" name="Text 11"/>
          <p:cNvSpPr/>
          <p:nvPr/>
        </p:nvSpPr>
        <p:spPr>
          <a:xfrm>
            <a:off x="8265160" y="1909445"/>
            <a:ext cx="2906820" cy="645160"/>
          </a:xfrm>
          <a:prstGeom prst="rect">
            <a:avLst/>
          </a:prstGeom>
          <a:noFill/>
          <a:ln/>
        </p:spPr>
        <p:txBody>
          <a:bodyPr wrap="square" lIns="91440" tIns="45720" rIns="91440" bIns="45720" rtlCol="0" anchor="t">
            <a:spAutoFit/>
          </a:bodyPr>
          <a:lstStyle/>
          <a:p>
            <a:pPr>
              <a:lnSpc>
                <a:spcPct val="100000"/>
              </a:lnSpc>
            </a:pPr>
            <a:r>
              <a:rPr lang="en-US" sz="1800" b="1" dirty="0">
                <a:solidFill>
                  <a:srgbClr val="402E7F"/>
                </a:solidFill>
                <a:latin typeface="MiSans" pitchFamily="34" charset="0"/>
                <a:ea typeface="MiSans" pitchFamily="34" charset="-122"/>
                <a:cs typeface="MiSans" pitchFamily="34" charset="-120"/>
              </a:rPr>
              <a:t>Calibración de políticas</a:t>
            </a:r>
            <a:endParaRPr lang="en-US" sz="1600" dirty="0"/>
          </a:p>
        </p:txBody>
      </p:sp>
      <p:sp>
        <p:nvSpPr>
          <p:cNvPr id="15" name="Text 12"/>
          <p:cNvSpPr/>
          <p:nvPr/>
        </p:nvSpPr>
        <p:spPr>
          <a:xfrm>
            <a:off x="8265160" y="2496820"/>
            <a:ext cx="2907665" cy="2676525"/>
          </a:xfrm>
          <a:prstGeom prst="rect">
            <a:avLst/>
          </a:prstGeom>
          <a:noFill/>
          <a:ln/>
        </p:spPr>
        <p:txBody>
          <a:bodyPr wrap="square" lIns="91440" tIns="45720" rIns="91440" bIns="45720" rtlCol="0" anchor="t">
            <a:spAutoFit/>
          </a:bodyPr>
          <a:lstStyle/>
          <a:p>
            <a:pPr>
              <a:lnSpc>
                <a:spcPct val="150000"/>
              </a:lnSpc>
            </a:pPr>
            <a:r>
              <a:rPr lang="en-US" sz="1400" dirty="0">
                <a:solidFill>
                  <a:srgbClr val="1E1C0D"/>
                </a:solidFill>
                <a:latin typeface="MiSans" pitchFamily="34" charset="0"/>
                <a:ea typeface="MiSans" pitchFamily="34" charset="-122"/>
                <a:cs typeface="MiSans" pitchFamily="34" charset="-120"/>
              </a:rPr>
              <a:t>El reto es calibrar las políticas para que la protección de los trabajadores ocupados no se convierta en una barrera para la inclusión de los más vulnerables.</a:t>
            </a:r>
            <a:endParaRPr lang="en-US" sz="1600" dirty="0"/>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rot="16200000" flipH="1" flipV="1">
            <a:off x="4631055" y="-4632960"/>
            <a:ext cx="2919095" cy="12209145"/>
          </a:xfrm>
          <a:prstGeom prst="round2DiagRect">
            <a:avLst>
              <a:gd name="adj1" fmla="val 0"/>
              <a:gd name="adj2" fmla="val 0"/>
            </a:avLst>
          </a:prstGeom>
          <a:solidFill>
            <a:srgbClr val="402E7F"/>
          </a:solidFill>
          <a:ln/>
        </p:spPr>
        <p:txBody>
          <a:bodyPr/>
          <a:lstStyle/>
          <a:p>
            <a:endParaRPr lang="es-ES"/>
          </a:p>
        </p:txBody>
      </p:sp>
      <p:sp>
        <p:nvSpPr>
          <p:cNvPr id="5" name="Text 3"/>
          <p:cNvSpPr/>
          <p:nvPr/>
        </p:nvSpPr>
        <p:spPr>
          <a:xfrm rot="16200000">
            <a:off x="4631055" y="-4632960"/>
            <a:ext cx="2919095" cy="12209145"/>
          </a:xfrm>
          <a:prstGeom prst="rect">
            <a:avLst/>
          </a:prstGeom>
          <a:noFill/>
          <a:ln/>
        </p:spPr>
        <p:txBody>
          <a:bodyPr wrap="square" lIns="45720" tIns="91440" rIns="91440" bIns="45720" rtlCol="0" anchor="ctr"/>
          <a:lstStyle/>
          <a:p>
            <a:pPr>
              <a:lnSpc>
                <a:spcPct val="100000"/>
              </a:lnSpc>
            </a:pPr>
            <a:endParaRPr lang="en-US" sz="1600" dirty="0"/>
          </a:p>
        </p:txBody>
      </p:sp>
      <p:sp>
        <p:nvSpPr>
          <p:cNvPr id="6" name="Text 4"/>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FFFFFF"/>
                </a:solidFill>
                <a:latin typeface="MiSans" pitchFamily="34" charset="0"/>
                <a:ea typeface="MiSans" pitchFamily="34" charset="-122"/>
                <a:cs typeface="MiSans" pitchFamily="34" charset="-120"/>
              </a:rPr>
              <a:t>Combinar, no aislar</a:t>
            </a:r>
            <a:endParaRPr lang="en-US" sz="1600" dirty="0"/>
          </a:p>
        </p:txBody>
      </p:sp>
      <p:sp>
        <p:nvSpPr>
          <p:cNvPr id="7" name="Shape 5"/>
          <p:cNvSpPr/>
          <p:nvPr/>
        </p:nvSpPr>
        <p:spPr>
          <a:xfrm rot="5940000">
            <a:off x="292735" y="295275"/>
            <a:ext cx="558800" cy="558800"/>
          </a:xfrm>
          <a:prstGeom prst="donut">
            <a:avLst/>
          </a:prstGeom>
          <a:gradFill flip="none" rotWithShape="1">
            <a:gsLst>
              <a:gs pos="0">
                <a:srgbClr val="FFFFFF"/>
              </a:gs>
              <a:gs pos="54000">
                <a:srgbClr val="FFFFFF">
                  <a:alpha val="0"/>
                </a:srgbClr>
              </a:gs>
              <a:gs pos="100000">
                <a:srgbClr val="FFFFFF">
                  <a:alpha val="0"/>
                </a:srgbClr>
              </a:gs>
            </a:gsLst>
            <a:lin ang="18900000" scaled="1"/>
          </a:gradFill>
          <a:ln/>
        </p:spPr>
        <p:txBody>
          <a:bodyPr/>
          <a:lstStyle/>
          <a:p>
            <a:endParaRPr lang="es-ES"/>
          </a:p>
        </p:txBody>
      </p:sp>
      <p:sp>
        <p:nvSpPr>
          <p:cNvPr id="8" name="Text 6"/>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pic>
        <p:nvPicPr>
          <p:cNvPr id="9" name="Image 0" descr="https://kimi-img.moonshot.cn/pub/slides/slides_tmpl/image/25-09-08-15:08:36-d2v81t5nfo2stf9dkdk0.jpg"/>
          <p:cNvPicPr>
            <a:picLocks noChangeAspect="1"/>
          </p:cNvPicPr>
          <p:nvPr/>
        </p:nvPicPr>
        <p:blipFill>
          <a:blip r:embed="rId3"/>
          <a:srcRect l="48" r="48"/>
          <a:stretch/>
        </p:blipFill>
        <p:spPr>
          <a:xfrm>
            <a:off x="8419465" y="1526540"/>
            <a:ext cx="3337560" cy="4813300"/>
          </a:xfrm>
          <a:prstGeom prst="rect">
            <a:avLst/>
          </a:prstGeom>
        </p:spPr>
      </p:pic>
      <p:sp>
        <p:nvSpPr>
          <p:cNvPr id="10" name="Text 7"/>
          <p:cNvSpPr/>
          <p:nvPr/>
        </p:nvSpPr>
        <p:spPr>
          <a:xfrm>
            <a:off x="648970" y="1334135"/>
            <a:ext cx="7634715" cy="398780"/>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Importancia de la coordinación</a:t>
            </a:r>
            <a:endParaRPr lang="en-US" sz="1600" dirty="0"/>
          </a:p>
        </p:txBody>
      </p:sp>
      <p:sp>
        <p:nvSpPr>
          <p:cNvPr id="11" name="Text 8"/>
          <p:cNvSpPr/>
          <p:nvPr/>
        </p:nvSpPr>
        <p:spPr>
          <a:xfrm>
            <a:off x="648970" y="1733550"/>
            <a:ext cx="7652385" cy="1050925"/>
          </a:xfrm>
          <a:prstGeom prst="rect">
            <a:avLst/>
          </a:prstGeom>
          <a:noFill/>
          <a:ln/>
        </p:spPr>
        <p:txBody>
          <a:bodyPr wrap="square" lIns="91440" tIns="45720" rIns="91440" bIns="45720" rtlCol="0" anchor="t">
            <a:spAutoFit/>
          </a:bodyPr>
          <a:lstStyle/>
          <a:p>
            <a:pPr>
              <a:lnSpc>
                <a:spcPct val="130000"/>
              </a:lnSpc>
            </a:pPr>
            <a:r>
              <a:rPr lang="en-US" sz="1600" dirty="0">
                <a:solidFill>
                  <a:srgbClr val="FFFFFF"/>
                </a:solidFill>
                <a:latin typeface="MiSans" pitchFamily="34" charset="0"/>
                <a:ea typeface="MiSans" pitchFamily="34" charset="-122"/>
                <a:cs typeface="MiSans" pitchFamily="34" charset="-120"/>
              </a:rPr>
              <a:t>La efectividad de las políticas salariales depende de su interacción con otras instituciones laborales, como protección social y políticas activas de empleo.</a:t>
            </a:r>
            <a:endParaRPr lang="en-US" sz="1600" dirty="0"/>
          </a:p>
        </p:txBody>
      </p:sp>
      <p:sp>
        <p:nvSpPr>
          <p:cNvPr id="12" name="Text 9"/>
          <p:cNvSpPr/>
          <p:nvPr/>
        </p:nvSpPr>
        <p:spPr>
          <a:xfrm>
            <a:off x="740410" y="3091815"/>
            <a:ext cx="3333654" cy="706755"/>
          </a:xfrm>
          <a:prstGeom prst="rect">
            <a:avLst/>
          </a:prstGeom>
          <a:noFill/>
          <a:ln/>
        </p:spPr>
        <p:txBody>
          <a:bodyPr wrap="square" lIns="91440" tIns="45720" rIns="91440" bIns="4572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Modelos internacionales</a:t>
            </a:r>
            <a:endParaRPr lang="en-US" sz="1600" dirty="0"/>
          </a:p>
        </p:txBody>
      </p:sp>
      <p:sp>
        <p:nvSpPr>
          <p:cNvPr id="13" name="Text 10"/>
          <p:cNvSpPr/>
          <p:nvPr/>
        </p:nvSpPr>
        <p:spPr>
          <a:xfrm>
            <a:off x="740410" y="3765550"/>
            <a:ext cx="3341370" cy="2494915"/>
          </a:xfrm>
          <a:prstGeom prst="rect">
            <a:avLst/>
          </a:prstGeom>
          <a:noFill/>
          <a:ln/>
        </p:spPr>
        <p:txBody>
          <a:bodyPr wrap="square" lIns="91440" tIns="45720" rIns="91440" bIns="45720" rtlCol="0" anchor="t"/>
          <a:lstStyle/>
          <a:p>
            <a:pPr>
              <a:lnSpc>
                <a:spcPct val="120000"/>
              </a:lnSpc>
            </a:pPr>
            <a:r>
              <a:rPr lang="en-US" sz="1600" dirty="0">
                <a:solidFill>
                  <a:srgbClr val="1E1C0D"/>
                </a:solidFill>
                <a:latin typeface="MiSans" pitchFamily="34" charset="0"/>
                <a:ea typeface="MiSans" pitchFamily="34" charset="-122"/>
                <a:cs typeface="MiSans" pitchFamily="34" charset="-120"/>
              </a:rPr>
              <a:t>Países nórdicos combinan moderación salarial, protección social generosa y políticas activas intensivas, logrando baja desigualdad y bajo desempleo.</a:t>
            </a:r>
            <a:endParaRPr lang="en-US" sz="1600" dirty="0"/>
          </a:p>
        </p:txBody>
      </p:sp>
      <p:sp>
        <p:nvSpPr>
          <p:cNvPr id="14" name="Text 11"/>
          <p:cNvSpPr/>
          <p:nvPr/>
        </p:nvSpPr>
        <p:spPr>
          <a:xfrm>
            <a:off x="4707890" y="3091815"/>
            <a:ext cx="3333654" cy="706755"/>
          </a:xfrm>
          <a:prstGeom prst="rect">
            <a:avLst/>
          </a:prstGeom>
          <a:noFill/>
          <a:ln/>
        </p:spPr>
        <p:txBody>
          <a:bodyPr wrap="square" lIns="91440" tIns="45720" rIns="91440" bIns="4572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Lección para España</a:t>
            </a:r>
            <a:endParaRPr lang="en-US" sz="1600" dirty="0"/>
          </a:p>
        </p:txBody>
      </p:sp>
      <p:sp>
        <p:nvSpPr>
          <p:cNvPr id="15" name="Text 12"/>
          <p:cNvSpPr/>
          <p:nvPr/>
        </p:nvSpPr>
        <p:spPr>
          <a:xfrm>
            <a:off x="4707890" y="3765550"/>
            <a:ext cx="3341370" cy="2494915"/>
          </a:xfrm>
          <a:prstGeom prst="rect">
            <a:avLst/>
          </a:prstGeom>
          <a:noFill/>
          <a:ln/>
        </p:spPr>
        <p:txBody>
          <a:bodyPr wrap="square" lIns="91440" tIns="45720" rIns="91440" bIns="45720" rtlCol="0" anchor="t"/>
          <a:lstStyle/>
          <a:p>
            <a:pPr>
              <a:lnSpc>
                <a:spcPct val="120000"/>
              </a:lnSpc>
            </a:pPr>
            <a:r>
              <a:rPr lang="en-US" sz="1600" dirty="0">
                <a:solidFill>
                  <a:srgbClr val="1E1C0D"/>
                </a:solidFill>
                <a:latin typeface="MiSans" pitchFamily="34" charset="0"/>
                <a:ea typeface="MiSans" pitchFamily="34" charset="-122"/>
                <a:cs typeface="MiSans" pitchFamily="34" charset="-120"/>
              </a:rPr>
              <a:t>España debe avanzar hacia una negociación colectiva más descentralizada y coordinada, combinando salarios con formación y protección social para equilibrar equidad y empleo.</a:t>
            </a:r>
            <a:endParaRPr lang="en-US" sz="1600" dirty="0"/>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a:ln/>
        </p:spPr>
        <p:txBody>
          <a:bodyPr/>
          <a:lstStyle/>
          <a:p>
            <a:endParaRPr lang="es-ES"/>
          </a:p>
        </p:txBody>
      </p:sp>
      <p:sp>
        <p:nvSpPr>
          <p:cNvPr id="5" name="Text 3"/>
          <p:cNvSpPr/>
          <p:nvPr/>
        </p:nvSpPr>
        <p:spPr>
          <a:xfrm>
            <a:off x="4445" y="0"/>
            <a:ext cx="12187555" cy="687578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a:ln/>
        </p:spPr>
        <p:txBody>
          <a:bodyPr/>
          <a:lstStyle/>
          <a:p>
            <a:endParaRPr lang="es-ES"/>
          </a:p>
        </p:txBody>
      </p:sp>
      <p:sp>
        <p:nvSpPr>
          <p:cNvPr id="7" name="Text 5"/>
          <p:cNvSpPr/>
          <p:nvPr/>
        </p:nvSpPr>
        <p:spPr>
          <a:xfrm>
            <a:off x="85280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9" name="Text 7"/>
          <p:cNvSpPr/>
          <p:nvPr/>
        </p:nvSpPr>
        <p:spPr>
          <a:xfrm>
            <a:off x="113665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a:ln/>
        </p:spPr>
        <p:txBody>
          <a:bodyPr/>
          <a:lstStyle/>
          <a:p>
            <a:endParaRPr lang="es-ES"/>
          </a:p>
        </p:txBody>
      </p:sp>
      <p:sp>
        <p:nvSpPr>
          <p:cNvPr id="11" name="Text 9"/>
          <p:cNvSpPr/>
          <p:nvPr/>
        </p:nvSpPr>
        <p:spPr>
          <a:xfrm>
            <a:off x="142049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3" name="Text 11"/>
          <p:cNvSpPr/>
          <p:nvPr/>
        </p:nvSpPr>
        <p:spPr>
          <a:xfrm>
            <a:off x="170434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a:ln/>
        </p:spPr>
        <p:txBody>
          <a:bodyPr/>
          <a:lstStyle/>
          <a:p>
            <a:endParaRPr lang="es-ES"/>
          </a:p>
        </p:txBody>
      </p:sp>
      <p:sp>
        <p:nvSpPr>
          <p:cNvPr id="15" name="Text 13"/>
          <p:cNvSpPr/>
          <p:nvPr/>
        </p:nvSpPr>
        <p:spPr>
          <a:xfrm>
            <a:off x="198818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7" name="Text 15"/>
          <p:cNvSpPr/>
          <p:nvPr/>
        </p:nvSpPr>
        <p:spPr>
          <a:xfrm>
            <a:off x="227203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a:ln/>
        </p:spPr>
        <p:txBody>
          <a:bodyPr/>
          <a:lstStyle/>
          <a:p>
            <a:endParaRPr lang="es-ES"/>
          </a:p>
        </p:txBody>
      </p:sp>
      <p:sp>
        <p:nvSpPr>
          <p:cNvPr id="19" name="Text 17"/>
          <p:cNvSpPr/>
          <p:nvPr/>
        </p:nvSpPr>
        <p:spPr>
          <a:xfrm>
            <a:off x="11456035" y="38163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a:ln/>
        </p:spPr>
        <p:txBody>
          <a:bodyPr/>
          <a:lstStyle/>
          <a:p>
            <a:endParaRPr lang="es-ES"/>
          </a:p>
        </p:txBody>
      </p:sp>
      <p:sp>
        <p:nvSpPr>
          <p:cNvPr id="21" name="Text 19"/>
          <p:cNvSpPr/>
          <p:nvPr/>
        </p:nvSpPr>
        <p:spPr>
          <a:xfrm>
            <a:off x="11456035" y="501650"/>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a:ln/>
        </p:spPr>
        <p:txBody>
          <a:bodyPr/>
          <a:lstStyle/>
          <a:p>
            <a:endParaRPr lang="es-ES"/>
          </a:p>
        </p:txBody>
      </p:sp>
      <p:sp>
        <p:nvSpPr>
          <p:cNvPr id="23" name="Text 21"/>
          <p:cNvSpPr/>
          <p:nvPr/>
        </p:nvSpPr>
        <p:spPr>
          <a:xfrm>
            <a:off x="11456035" y="62166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txBody>
          <a:bodyPr/>
          <a:lstStyle/>
          <a:p>
            <a:endParaRPr lang="es-ES"/>
          </a:p>
        </p:txBody>
      </p:sp>
      <p:sp>
        <p:nvSpPr>
          <p:cNvPr id="25" name="Shape 23"/>
          <p:cNvSpPr/>
          <p:nvPr/>
        </p:nvSpPr>
        <p:spPr>
          <a:xfrm>
            <a:off x="852805" y="6177280"/>
            <a:ext cx="259080" cy="259080"/>
          </a:xfrm>
          <a:prstGeom prst="ellipse">
            <a:avLst/>
          </a:prstGeom>
          <a:solidFill>
            <a:srgbClr val="FFFFFF"/>
          </a:solidFill>
          <a:ln/>
        </p:spPr>
        <p:txBody>
          <a:bodyPr/>
          <a:lstStyle/>
          <a:p>
            <a:endParaRPr lang="es-ES"/>
          </a:p>
        </p:txBody>
      </p:sp>
      <p:sp>
        <p:nvSpPr>
          <p:cNvPr id="26" name="Text 24"/>
          <p:cNvSpPr/>
          <p:nvPr/>
        </p:nvSpPr>
        <p:spPr>
          <a:xfrm>
            <a:off x="852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txBody>
          <a:bodyPr/>
          <a:lstStyle/>
          <a:p>
            <a:endParaRPr lang="es-ES"/>
          </a:p>
        </p:txBody>
      </p:sp>
      <p:sp>
        <p:nvSpPr>
          <p:cNvPr id="28" name="Text 26"/>
          <p:cNvSpPr/>
          <p:nvPr/>
        </p:nvSpPr>
        <p:spPr>
          <a:xfrm>
            <a:off x="979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Shape 27"/>
          <p:cNvSpPr/>
          <p:nvPr/>
        </p:nvSpPr>
        <p:spPr>
          <a:xfrm>
            <a:off x="541655" y="2687320"/>
            <a:ext cx="11172825" cy="2306955"/>
          </a:xfrm>
          <a:prstGeom prst="rect">
            <a:avLst/>
          </a:prstGeom>
          <a:solidFill>
            <a:srgbClr val="000000">
              <a:alpha val="0"/>
            </a:srgbClr>
          </a:solidFill>
          <a:ln/>
        </p:spPr>
        <p:txBody>
          <a:bodyPr/>
          <a:lstStyle/>
          <a:p>
            <a:endParaRPr lang="es-ES"/>
          </a:p>
        </p:txBody>
      </p:sp>
      <p:sp>
        <p:nvSpPr>
          <p:cNvPr id="30" name="Text 28"/>
          <p:cNvSpPr/>
          <p:nvPr/>
        </p:nvSpPr>
        <p:spPr>
          <a:xfrm>
            <a:off x="541655" y="2687320"/>
            <a:ext cx="11172825" cy="2306955"/>
          </a:xfrm>
          <a:prstGeom prst="rect">
            <a:avLst/>
          </a:prstGeom>
          <a:noFill/>
          <a:ln/>
        </p:spPr>
        <p:txBody>
          <a:bodyPr wrap="square" lIns="45720" tIns="91440" rIns="91440" bIns="45720" rtlCol="0" anchor="t"/>
          <a:lstStyle/>
          <a:p>
            <a:pPr algn="ctr">
              <a:lnSpc>
                <a:spcPct val="100000"/>
              </a:lnSpc>
            </a:pPr>
            <a:r>
              <a:rPr lang="en-US" sz="7200" b="1" dirty="0">
                <a:solidFill>
                  <a:srgbClr val="FFFFFF"/>
                </a:solidFill>
                <a:latin typeface="MiSans" pitchFamily="34" charset="0"/>
                <a:ea typeface="MiSans" pitchFamily="34" charset="-122"/>
                <a:cs typeface="MiSans" pitchFamily="34" charset="-120"/>
              </a:rPr>
              <a:t>Retos futuros</a:t>
            </a:r>
            <a:endParaRPr lang="en-US" sz="1600" dirty="0"/>
          </a:p>
        </p:txBody>
      </p:sp>
      <p:sp>
        <p:nvSpPr>
          <p:cNvPr id="31" name="Text 29"/>
          <p:cNvSpPr/>
          <p:nvPr/>
        </p:nvSpPr>
        <p:spPr>
          <a:xfrm>
            <a:off x="2515235" y="1350010"/>
            <a:ext cx="7161530" cy="1198880"/>
          </a:xfrm>
          <a:prstGeom prst="rect">
            <a:avLst/>
          </a:prstGeom>
          <a:noFill/>
          <a:ln/>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0"/>
                <a:ea typeface="MiSans" pitchFamily="34" charset="-122"/>
                <a:cs typeface="MiSans" pitchFamily="34" charset="-120"/>
              </a:rPr>
              <a:t>06</a:t>
            </a:r>
            <a:endParaRPr lang="en-US" sz="1600" dirty="0"/>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pic>
        <p:nvPicPr>
          <p:cNvPr id="4" name="Image 0" descr="https://kimi-img.moonshot.cn/pub/slides/slides_tmpl/image/25-09-08-15:08:34-d2v81slnfo2stf9dkdh0.png"/>
          <p:cNvPicPr>
            <a:picLocks noChangeAspect="1"/>
          </p:cNvPicPr>
          <p:nvPr/>
        </p:nvPicPr>
        <p:blipFill>
          <a:blip r:embed="rId3"/>
          <a:srcRect t="67" b="67"/>
          <a:stretch/>
        </p:blipFill>
        <p:spPr>
          <a:xfrm>
            <a:off x="7731125" y="1292225"/>
            <a:ext cx="3686175" cy="2362200"/>
          </a:xfrm>
          <a:prstGeom prst="rect">
            <a:avLst/>
          </a:prstGeom>
        </p:spPr>
      </p:pic>
      <p:sp>
        <p:nvSpPr>
          <p:cNvPr id="5" name="Shape 2"/>
          <p:cNvSpPr/>
          <p:nvPr/>
        </p:nvSpPr>
        <p:spPr>
          <a:xfrm>
            <a:off x="898525" y="3885565"/>
            <a:ext cx="10510520" cy="2442210"/>
          </a:xfrm>
          <a:prstGeom prst="rect">
            <a:avLst/>
          </a:prstGeom>
          <a:solidFill>
            <a:srgbClr val="402E7F"/>
          </a:solidFill>
          <a:ln/>
        </p:spPr>
        <p:txBody>
          <a:bodyPr/>
          <a:lstStyle/>
          <a:p>
            <a:endParaRPr lang="es-ES"/>
          </a:p>
        </p:txBody>
      </p:sp>
      <p:sp>
        <p:nvSpPr>
          <p:cNvPr id="6" name="Text 3"/>
          <p:cNvSpPr/>
          <p:nvPr/>
        </p:nvSpPr>
        <p:spPr>
          <a:xfrm>
            <a:off x="898525" y="3885565"/>
            <a:ext cx="10510520" cy="2442210"/>
          </a:xfrm>
          <a:prstGeom prst="rect">
            <a:avLst/>
          </a:prstGeom>
          <a:noFill/>
          <a:ln/>
        </p:spPr>
        <p:txBody>
          <a:bodyPr wrap="square" lIns="45720" tIns="91440" rIns="91440" bIns="45720" rtlCol="0" anchor="ctr"/>
          <a:lstStyle/>
          <a:p>
            <a:pPr>
              <a:lnSpc>
                <a:spcPct val="100000"/>
              </a:lnSpc>
            </a:pPr>
            <a:endParaRPr lang="en-US" sz="1600" dirty="0"/>
          </a:p>
        </p:txBody>
      </p:sp>
      <p:pic>
        <p:nvPicPr>
          <p:cNvPr id="7" name="Image 1" descr="https://kimi-img.moonshot.cn/pub/slides/slides_tmpl/image/25-09-08-15:08:34-d2v81slnfo2stf9dkdi0.png"/>
          <p:cNvPicPr>
            <a:picLocks noChangeAspect="1"/>
          </p:cNvPicPr>
          <p:nvPr/>
        </p:nvPicPr>
        <p:blipFill>
          <a:blip r:embed="rId4"/>
          <a:srcRect t="28" b="28"/>
          <a:stretch/>
        </p:blipFill>
        <p:spPr>
          <a:xfrm>
            <a:off x="1060450" y="4023360"/>
            <a:ext cx="3415665" cy="2166620"/>
          </a:xfrm>
          <a:prstGeom prst="snip1Rect">
            <a:avLst>
              <a:gd name="adj" fmla="val 0"/>
            </a:avLst>
          </a:prstGeom>
        </p:spPr>
      </p:pic>
      <p:sp>
        <p:nvSpPr>
          <p:cNvPr id="8" name="Text 4"/>
          <p:cNvSpPr/>
          <p:nvPr/>
        </p:nvSpPr>
        <p:spPr>
          <a:xfrm>
            <a:off x="504190" y="444500"/>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Digitalización y desigualdad</a:t>
            </a:r>
            <a:endParaRPr lang="en-US" sz="1600" dirty="0"/>
          </a:p>
        </p:txBody>
      </p:sp>
      <p:sp>
        <p:nvSpPr>
          <p:cNvPr id="9" name="Shape 5"/>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10" name="Text 6"/>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11" name="Text 7"/>
          <p:cNvSpPr/>
          <p:nvPr/>
        </p:nvSpPr>
        <p:spPr>
          <a:xfrm>
            <a:off x="862330" y="1524635"/>
            <a:ext cx="6428855" cy="675640"/>
          </a:xfrm>
          <a:prstGeom prst="rect">
            <a:avLst/>
          </a:prstGeom>
          <a:noFill/>
          <a:ln/>
        </p:spPr>
        <p:txBody>
          <a:bodyPr wrap="square" lIns="91440" tIns="45720" rIns="91440" bIns="45720" rtlCol="0" anchor="ctr"/>
          <a:lstStyle/>
          <a:p>
            <a:pPr>
              <a:lnSpc>
                <a:spcPct val="100000"/>
              </a:lnSpc>
            </a:pPr>
            <a:r>
              <a:rPr lang="en-US" sz="2400" b="1" dirty="0">
                <a:solidFill>
                  <a:srgbClr val="673563"/>
                </a:solidFill>
                <a:latin typeface="MiSans" pitchFamily="34" charset="0"/>
                <a:ea typeface="MiSans" pitchFamily="34" charset="-122"/>
                <a:cs typeface="MiSans" pitchFamily="34" charset="-120"/>
              </a:rPr>
              <a:t>Impacto de la digitalización</a:t>
            </a:r>
            <a:endParaRPr lang="en-US" sz="1600" dirty="0"/>
          </a:p>
        </p:txBody>
      </p:sp>
      <p:sp>
        <p:nvSpPr>
          <p:cNvPr id="12" name="Text 8"/>
          <p:cNvSpPr/>
          <p:nvPr/>
        </p:nvSpPr>
        <p:spPr>
          <a:xfrm>
            <a:off x="862330" y="2124075"/>
            <a:ext cx="6430615" cy="1324610"/>
          </a:xfrm>
          <a:prstGeom prst="rect">
            <a:avLst/>
          </a:prstGeom>
          <a:noFill/>
          <a:ln/>
        </p:spPr>
        <p:txBody>
          <a:bodyPr wrap="square" lIns="91440" tIns="45720" rIns="91440" bIns="45720" rtlCol="0" anchor="t">
            <a:spAutoFit/>
          </a:bodyPr>
          <a:lstStyle/>
          <a:p>
            <a:pPr>
              <a:lnSpc>
                <a:spcPct val="140000"/>
              </a:lnSpc>
            </a:pPr>
            <a:r>
              <a:rPr lang="en-US" sz="1600" dirty="0">
                <a:solidFill>
                  <a:srgbClr val="1E1C0D"/>
                </a:solidFill>
                <a:latin typeface="MiSans" pitchFamily="34" charset="0"/>
                <a:ea typeface="MiSans" pitchFamily="34" charset="-122"/>
                <a:cs typeface="MiSans" pitchFamily="34" charset="-120"/>
              </a:rPr>
              <a:t>La digitalización y la automatización incrementan la prima salarial por cualificaciones, amenazando con ampliar las desigualdades y desplazar a trabajadores en ocupaciones rutinarias.</a:t>
            </a:r>
            <a:endParaRPr lang="en-US" sz="1600" dirty="0"/>
          </a:p>
        </p:txBody>
      </p:sp>
      <p:sp>
        <p:nvSpPr>
          <p:cNvPr id="13" name="Text 9"/>
          <p:cNvSpPr/>
          <p:nvPr/>
        </p:nvSpPr>
        <p:spPr>
          <a:xfrm>
            <a:off x="4784071" y="4145915"/>
            <a:ext cx="6428855" cy="675640"/>
          </a:xfrm>
          <a:prstGeom prst="rect">
            <a:avLst/>
          </a:prstGeom>
          <a:noFill/>
          <a:ln/>
        </p:spPr>
        <p:txBody>
          <a:bodyPr wrap="square" lIns="91440" tIns="45720" rIns="91440" bIns="45720" rtlCol="0" anchor="ctr"/>
          <a:lstStyle/>
          <a:p>
            <a:pPr>
              <a:lnSpc>
                <a:spcPct val="100000"/>
              </a:lnSpc>
            </a:pPr>
            <a:r>
              <a:rPr lang="en-US" sz="2400" b="1" dirty="0">
                <a:solidFill>
                  <a:srgbClr val="FFFFFF"/>
                </a:solidFill>
                <a:latin typeface="MiSans" pitchFamily="34" charset="0"/>
                <a:ea typeface="MiSans" pitchFamily="34" charset="-122"/>
                <a:cs typeface="MiSans" pitchFamily="34" charset="-120"/>
              </a:rPr>
              <a:t>Necesidad de políticas</a:t>
            </a:r>
            <a:endParaRPr lang="en-US" sz="1600" dirty="0"/>
          </a:p>
        </p:txBody>
      </p:sp>
      <p:sp>
        <p:nvSpPr>
          <p:cNvPr id="14" name="Text 10"/>
          <p:cNvSpPr/>
          <p:nvPr/>
        </p:nvSpPr>
        <p:spPr>
          <a:xfrm>
            <a:off x="4784071" y="4745355"/>
            <a:ext cx="6430615" cy="1468755"/>
          </a:xfrm>
          <a:prstGeom prst="rect">
            <a:avLst/>
          </a:prstGeom>
          <a:noFill/>
          <a:ln/>
        </p:spPr>
        <p:txBody>
          <a:bodyPr wrap="square" lIns="91440" tIns="45720" rIns="91440" bIns="45720" rtlCol="0" anchor="t">
            <a:spAutoFit/>
          </a:bodyPr>
          <a:lstStyle/>
          <a:p>
            <a:pPr>
              <a:lnSpc>
                <a:spcPct val="140000"/>
              </a:lnSpc>
            </a:pPr>
            <a:r>
              <a:rPr lang="en-US" sz="1600" dirty="0">
                <a:solidFill>
                  <a:srgbClr val="FFFFFF"/>
                </a:solidFill>
                <a:latin typeface="MiSans" pitchFamily="34" charset="0"/>
                <a:ea typeface="MiSans" pitchFamily="34" charset="-122"/>
                <a:cs typeface="MiSans" pitchFamily="34" charset="-120"/>
              </a:rPr>
              <a:t>Sin políticas de reconversión profesional, la brecha entre altos y bajos salarios se agrava, y las normas tradicionales pierden eficacia frente a plataformas y algoritmos.</a:t>
            </a:r>
            <a:endParaRPr lang="en-US" sz="1600" dirty="0"/>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4" name="Text 2"/>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Trabajo plataforma y falsos autónomos</a:t>
            </a:r>
            <a:endParaRPr lang="en-US" sz="1600" dirty="0"/>
          </a:p>
        </p:txBody>
      </p:sp>
      <p:sp>
        <p:nvSpPr>
          <p:cNvPr id="5" name="Shape 3"/>
          <p:cNvSpPr/>
          <p:nvPr/>
        </p:nvSpPr>
        <p:spPr>
          <a:xfrm flipH="1" flipV="1">
            <a:off x="-11430" y="6449060"/>
            <a:ext cx="12211685" cy="408940"/>
          </a:xfrm>
          <a:prstGeom prst="round2DiagRect">
            <a:avLst>
              <a:gd name="adj1" fmla="val 0"/>
              <a:gd name="adj2" fmla="val 0"/>
            </a:avLst>
          </a:prstGeom>
          <a:solidFill>
            <a:srgbClr val="402E7F"/>
          </a:solidFill>
          <a:ln/>
        </p:spPr>
        <p:txBody>
          <a:bodyPr/>
          <a:lstStyle/>
          <a:p>
            <a:endParaRPr lang="es-ES"/>
          </a:p>
        </p:txBody>
      </p:sp>
      <p:sp>
        <p:nvSpPr>
          <p:cNvPr id="6" name="Text 4"/>
          <p:cNvSpPr/>
          <p:nvPr/>
        </p:nvSpPr>
        <p:spPr>
          <a:xfrm>
            <a:off x="-11430" y="6449060"/>
            <a:ext cx="12211685" cy="408940"/>
          </a:xfrm>
          <a:prstGeom prst="rect">
            <a:avLst/>
          </a:prstGeom>
          <a:noFill/>
          <a:ln/>
        </p:spPr>
        <p:txBody>
          <a:bodyPr wrap="square" lIns="45720" tIns="91440" rIns="91440" bIns="45720" rtlCol="0" anchor="ctr"/>
          <a:lstStyle/>
          <a:p>
            <a:pPr>
              <a:lnSpc>
                <a:spcPct val="100000"/>
              </a:lnSpc>
            </a:pPr>
            <a:endParaRPr lang="en-US" sz="1600" dirty="0"/>
          </a:p>
        </p:txBody>
      </p:sp>
      <p:sp>
        <p:nvSpPr>
          <p:cNvPr id="7" name="Shape 5"/>
          <p:cNvSpPr/>
          <p:nvPr/>
        </p:nvSpPr>
        <p:spPr>
          <a:xfrm>
            <a:off x="4418330" y="1447800"/>
            <a:ext cx="215265" cy="214630"/>
          </a:xfrm>
          <a:prstGeom prst="ellipse">
            <a:avLst/>
          </a:prstGeom>
          <a:solidFill>
            <a:srgbClr val="402E7F"/>
          </a:solidFill>
          <a:ln/>
        </p:spPr>
        <p:txBody>
          <a:bodyPr/>
          <a:lstStyle/>
          <a:p>
            <a:endParaRPr lang="es-ES"/>
          </a:p>
        </p:txBody>
      </p:sp>
      <p:sp>
        <p:nvSpPr>
          <p:cNvPr id="8" name="Text 6"/>
          <p:cNvSpPr/>
          <p:nvPr/>
        </p:nvSpPr>
        <p:spPr>
          <a:xfrm>
            <a:off x="4418330" y="1447800"/>
            <a:ext cx="215265" cy="214630"/>
          </a:xfrm>
          <a:prstGeom prst="rect">
            <a:avLst/>
          </a:prstGeom>
          <a:noFill/>
          <a:ln/>
        </p:spPr>
        <p:txBody>
          <a:bodyPr wrap="square" lIns="45720" tIns="91440" rIns="91440" bIns="45720" rtlCol="0" anchor="ctr"/>
          <a:lstStyle/>
          <a:p>
            <a:pPr>
              <a:lnSpc>
                <a:spcPct val="100000"/>
              </a:lnSpc>
            </a:pPr>
            <a:endParaRPr lang="en-US" sz="1600" dirty="0"/>
          </a:p>
        </p:txBody>
      </p:sp>
      <p:sp>
        <p:nvSpPr>
          <p:cNvPr id="9" name="Shape 7"/>
          <p:cNvSpPr/>
          <p:nvPr/>
        </p:nvSpPr>
        <p:spPr>
          <a:xfrm>
            <a:off x="4415155" y="3568700"/>
            <a:ext cx="337185" cy="336550"/>
          </a:xfrm>
          <a:prstGeom prst="ellipse">
            <a:avLst/>
          </a:prstGeom>
          <a:solidFill>
            <a:srgbClr val="402E7F"/>
          </a:solidFill>
          <a:ln/>
        </p:spPr>
        <p:txBody>
          <a:bodyPr/>
          <a:lstStyle/>
          <a:p>
            <a:endParaRPr lang="es-ES"/>
          </a:p>
        </p:txBody>
      </p:sp>
      <p:sp>
        <p:nvSpPr>
          <p:cNvPr id="10" name="Text 8"/>
          <p:cNvSpPr/>
          <p:nvPr/>
        </p:nvSpPr>
        <p:spPr>
          <a:xfrm>
            <a:off x="4415155" y="3568700"/>
            <a:ext cx="337185" cy="33655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Shape 9"/>
          <p:cNvSpPr/>
          <p:nvPr/>
        </p:nvSpPr>
        <p:spPr>
          <a:xfrm>
            <a:off x="4383405" y="1523365"/>
            <a:ext cx="7829550" cy="1828800"/>
          </a:xfrm>
          <a:custGeom>
            <a:avLst/>
            <a:gdLst/>
            <a:ahLst/>
            <a:cxnLst/>
            <a:rect l="l" t="t" r="r" b="b"/>
            <a:pathLst>
              <a:path w="7829550" h="1828800">
                <a:moveTo>
                  <a:pt x="0" y="914400"/>
                </a:moveTo>
                <a:cubicBezTo>
                  <a:pt x="0" y="409575"/>
                  <a:pt x="409575" y="0"/>
                  <a:pt x="914400" y="0"/>
                </a:cubicBezTo>
                <a:lnTo>
                  <a:pt x="7829550" y="0"/>
                </a:lnTo>
                <a:lnTo>
                  <a:pt x="7829550" y="1828800"/>
                </a:lnTo>
                <a:lnTo>
                  <a:pt x="914400" y="1828800"/>
                </a:lnTo>
                <a:cubicBezTo>
                  <a:pt x="409575" y="1828800"/>
                  <a:pt x="0" y="1419225"/>
                  <a:pt x="0" y="914400"/>
                </a:cubicBezTo>
                <a:close/>
              </a:path>
            </a:pathLst>
          </a:custGeom>
          <a:solidFill>
            <a:srgbClr val="402E7F"/>
          </a:solidFill>
          <a:ln/>
        </p:spPr>
        <p:txBody>
          <a:bodyPr/>
          <a:lstStyle/>
          <a:p>
            <a:endParaRPr lang="es-ES"/>
          </a:p>
        </p:txBody>
      </p:sp>
      <p:sp>
        <p:nvSpPr>
          <p:cNvPr id="12" name="Text 10"/>
          <p:cNvSpPr/>
          <p:nvPr/>
        </p:nvSpPr>
        <p:spPr>
          <a:xfrm>
            <a:off x="4383405" y="1523365"/>
            <a:ext cx="7829550" cy="1828800"/>
          </a:xfrm>
          <a:prstGeom prst="rect">
            <a:avLst/>
          </a:prstGeom>
          <a:noFill/>
          <a:ln/>
        </p:spPr>
        <p:txBody>
          <a:bodyPr wrap="square" lIns="45720" tIns="91440" rIns="91440" bIns="45720" rtlCol="0" anchor="ctr"/>
          <a:lstStyle/>
          <a:p>
            <a:pPr>
              <a:lnSpc>
                <a:spcPct val="100000"/>
              </a:lnSpc>
            </a:pPr>
            <a:endParaRPr lang="en-US" sz="1600" dirty="0"/>
          </a:p>
        </p:txBody>
      </p:sp>
      <p:sp>
        <p:nvSpPr>
          <p:cNvPr id="13" name="Shape 11"/>
          <p:cNvSpPr/>
          <p:nvPr/>
        </p:nvSpPr>
        <p:spPr>
          <a:xfrm>
            <a:off x="4383405" y="3875405"/>
            <a:ext cx="7829550" cy="1828800"/>
          </a:xfrm>
          <a:custGeom>
            <a:avLst/>
            <a:gdLst/>
            <a:ahLst/>
            <a:cxnLst/>
            <a:rect l="l" t="t" r="r" b="b"/>
            <a:pathLst>
              <a:path w="7829550" h="1828800">
                <a:moveTo>
                  <a:pt x="0" y="914400"/>
                </a:moveTo>
                <a:cubicBezTo>
                  <a:pt x="0" y="409575"/>
                  <a:pt x="409575" y="0"/>
                  <a:pt x="914400" y="0"/>
                </a:cubicBezTo>
                <a:lnTo>
                  <a:pt x="7829550" y="0"/>
                </a:lnTo>
                <a:lnTo>
                  <a:pt x="7829550" y="1828800"/>
                </a:lnTo>
                <a:lnTo>
                  <a:pt x="914400" y="1828800"/>
                </a:lnTo>
                <a:cubicBezTo>
                  <a:pt x="409575" y="1828800"/>
                  <a:pt x="0" y="1419225"/>
                  <a:pt x="0" y="914400"/>
                </a:cubicBezTo>
                <a:close/>
              </a:path>
            </a:pathLst>
          </a:custGeom>
          <a:solidFill>
            <a:srgbClr val="402E7F"/>
          </a:solidFill>
          <a:ln/>
        </p:spPr>
        <p:txBody>
          <a:bodyPr/>
          <a:lstStyle/>
          <a:p>
            <a:endParaRPr lang="es-ES"/>
          </a:p>
        </p:txBody>
      </p:sp>
      <p:sp>
        <p:nvSpPr>
          <p:cNvPr id="14" name="Text 12"/>
          <p:cNvSpPr/>
          <p:nvPr/>
        </p:nvSpPr>
        <p:spPr>
          <a:xfrm>
            <a:off x="4383405" y="3875405"/>
            <a:ext cx="7829550" cy="1828800"/>
          </a:xfrm>
          <a:prstGeom prst="rect">
            <a:avLst/>
          </a:prstGeom>
          <a:noFill/>
          <a:ln/>
        </p:spPr>
        <p:txBody>
          <a:bodyPr wrap="square" lIns="45720" tIns="91440" rIns="91440" bIns="45720" rtlCol="0" anchor="ctr"/>
          <a:lstStyle/>
          <a:p>
            <a:pPr>
              <a:lnSpc>
                <a:spcPct val="100000"/>
              </a:lnSpc>
            </a:pPr>
            <a:endParaRPr lang="en-US" sz="1600" dirty="0"/>
          </a:p>
        </p:txBody>
      </p:sp>
      <p:sp>
        <p:nvSpPr>
          <p:cNvPr id="15" name="Text 13"/>
          <p:cNvSpPr/>
          <p:nvPr/>
        </p:nvSpPr>
        <p:spPr>
          <a:xfrm>
            <a:off x="760730" y="1565275"/>
            <a:ext cx="3185795" cy="829945"/>
          </a:xfrm>
          <a:prstGeom prst="rect">
            <a:avLst/>
          </a:prstGeom>
          <a:noFill/>
          <a:ln/>
        </p:spPr>
        <p:txBody>
          <a:bodyPr wrap="square" lIns="91440" tIns="45720" rIns="91440" bIns="45720" rtlCol="0" anchor="t">
            <a:spAutoFit/>
          </a:bodyPr>
          <a:lstStyle/>
          <a:p>
            <a:pPr>
              <a:lnSpc>
                <a:spcPct val="100000"/>
              </a:lnSpc>
            </a:pPr>
            <a:r>
              <a:rPr lang="en-US" sz="2400" b="1" dirty="0">
                <a:solidFill>
                  <a:srgbClr val="402E7F"/>
                </a:solidFill>
                <a:latin typeface="MiSans" pitchFamily="34" charset="0"/>
                <a:ea typeface="MiSans" pitchFamily="34" charset="-122"/>
                <a:cs typeface="MiSans" pitchFamily="34" charset="-120"/>
              </a:rPr>
              <a:t>Nuevas formas de trabajo</a:t>
            </a:r>
            <a:endParaRPr lang="en-US" sz="1600" dirty="0"/>
          </a:p>
        </p:txBody>
      </p:sp>
      <p:sp>
        <p:nvSpPr>
          <p:cNvPr id="16" name="Text 14"/>
          <p:cNvSpPr/>
          <p:nvPr/>
        </p:nvSpPr>
        <p:spPr>
          <a:xfrm>
            <a:off x="760730" y="2376805"/>
            <a:ext cx="3186430" cy="3565525"/>
          </a:xfrm>
          <a:prstGeom prst="rect">
            <a:avLst/>
          </a:prstGeom>
          <a:noFill/>
          <a:ln/>
        </p:spPr>
        <p:txBody>
          <a:bodyPr wrap="square" lIns="91440" tIns="45720" rIns="91440" bIns="45720" rtlCol="0" anchor="t"/>
          <a:lstStyle/>
          <a:p>
            <a:pPr>
              <a:lnSpc>
                <a:spcPct val="130000"/>
              </a:lnSpc>
            </a:pPr>
            <a:r>
              <a:rPr lang="en-US" sz="1800" dirty="0">
                <a:solidFill>
                  <a:srgbClr val="1E1C0D"/>
                </a:solidFill>
                <a:latin typeface="MiSans" pitchFamily="34" charset="0"/>
                <a:ea typeface="MiSans" pitchFamily="34" charset="-122"/>
                <a:cs typeface="MiSans" pitchFamily="34" charset="-120"/>
              </a:rPr>
              <a:t>Las apps de reparto y transporte clasifican a trabajadores como autónomos para eludir el SMI y convenios colectivos, lo que cuestiona la aplicabilidad de políticas salariales convencionales.</a:t>
            </a:r>
            <a:endParaRPr lang="en-US" sz="1600" dirty="0"/>
          </a:p>
        </p:txBody>
      </p:sp>
      <p:sp>
        <p:nvSpPr>
          <p:cNvPr id="17" name="Text 15"/>
          <p:cNvSpPr/>
          <p:nvPr/>
        </p:nvSpPr>
        <p:spPr>
          <a:xfrm>
            <a:off x="5048250" y="1704975"/>
            <a:ext cx="6750050" cy="398780"/>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Reforma legal necesaria</a:t>
            </a:r>
            <a:endParaRPr lang="en-US" sz="1600" dirty="0"/>
          </a:p>
        </p:txBody>
      </p:sp>
      <p:sp>
        <p:nvSpPr>
          <p:cNvPr id="18" name="Text 16"/>
          <p:cNvSpPr/>
          <p:nvPr/>
        </p:nvSpPr>
        <p:spPr>
          <a:xfrm>
            <a:off x="5048250" y="2110740"/>
            <a:ext cx="6749415" cy="1060450"/>
          </a:xfrm>
          <a:prstGeom prst="rect">
            <a:avLst/>
          </a:prstGeom>
          <a:noFill/>
          <a:ln/>
        </p:spPr>
        <p:txBody>
          <a:bodyPr wrap="square" lIns="91440" tIns="45720" rIns="91440" bIns="45720" rtlCol="0" anchor="t">
            <a:spAutoFit/>
          </a:bodyPr>
          <a:lstStyle/>
          <a:p>
            <a:pPr>
              <a:lnSpc>
                <a:spcPct val="150000"/>
              </a:lnSpc>
            </a:pPr>
            <a:r>
              <a:rPr lang="en-US" sz="1400" dirty="0">
                <a:solidFill>
                  <a:srgbClr val="FFFFFF"/>
                </a:solidFill>
                <a:latin typeface="MiSans" pitchFamily="34" charset="0"/>
                <a:ea typeface="MiSans" pitchFamily="34" charset="-122"/>
                <a:cs typeface="MiSans" pitchFamily="34" charset="-120"/>
              </a:rPr>
              <a:t>La reforma legal debe extender la protección salarial sin destruir la flexibilidad real de estos modelos emergentes, equilibrando derechos y viabilidad.</a:t>
            </a:r>
            <a:endParaRPr lang="en-US" sz="1600" dirty="0"/>
          </a:p>
        </p:txBody>
      </p:sp>
      <p:sp>
        <p:nvSpPr>
          <p:cNvPr id="19" name="Text 17"/>
          <p:cNvSpPr/>
          <p:nvPr/>
        </p:nvSpPr>
        <p:spPr>
          <a:xfrm>
            <a:off x="5048250" y="4057015"/>
            <a:ext cx="6750050" cy="398780"/>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Impacto en protección</a:t>
            </a:r>
            <a:endParaRPr lang="en-US" sz="1600" dirty="0"/>
          </a:p>
        </p:txBody>
      </p:sp>
      <p:sp>
        <p:nvSpPr>
          <p:cNvPr id="20" name="Text 18"/>
          <p:cNvSpPr/>
          <p:nvPr/>
        </p:nvSpPr>
        <p:spPr>
          <a:xfrm>
            <a:off x="5048250" y="4462780"/>
            <a:ext cx="6749415" cy="1060450"/>
          </a:xfrm>
          <a:prstGeom prst="rect">
            <a:avLst/>
          </a:prstGeom>
          <a:noFill/>
          <a:ln/>
        </p:spPr>
        <p:txBody>
          <a:bodyPr wrap="square" lIns="91440" tIns="45720" rIns="91440" bIns="45720" rtlCol="0" anchor="t">
            <a:spAutoFit/>
          </a:bodyPr>
          <a:lstStyle/>
          <a:p>
            <a:pPr>
              <a:lnSpc>
                <a:spcPct val="150000"/>
              </a:lnSpc>
            </a:pPr>
            <a:r>
              <a:rPr lang="en-US" sz="1400" dirty="0">
                <a:solidFill>
                  <a:srgbClr val="FFFFFF"/>
                </a:solidFill>
                <a:latin typeface="MiSans" pitchFamily="34" charset="0"/>
                <a:ea typeface="MiSans" pitchFamily="34" charset="-122"/>
                <a:cs typeface="MiSans" pitchFamily="34" charset="-120"/>
              </a:rPr>
              <a:t>Sin reformas, los trabajadores de plataformas pueden quedar fuera del alcance de políticas salariales, lo que perpetúa la precariedad laboral.</a:t>
            </a:r>
            <a:endParaRPr lang="en-US" sz="1600" dirty="0"/>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pic>
        <p:nvPicPr>
          <p:cNvPr id="4" name="Image 0" descr="https://kimi-img.moonshot.cn/pub/slides/slides_tmpl/image/25-09-08-15:08:35-d2v81stnfo2stf9dkdj0.png"/>
          <p:cNvPicPr>
            <a:picLocks noChangeAspect="1"/>
          </p:cNvPicPr>
          <p:nvPr/>
        </p:nvPicPr>
        <p:blipFill>
          <a:blip r:embed="rId3"/>
          <a:srcRect l="8" r="8"/>
          <a:stretch/>
        </p:blipFill>
        <p:spPr>
          <a:xfrm>
            <a:off x="8825865" y="0"/>
            <a:ext cx="3839845" cy="6857365"/>
          </a:xfrm>
          <a:prstGeom prst="rect">
            <a:avLst/>
          </a:prstGeom>
        </p:spPr>
      </p:pic>
      <p:sp>
        <p:nvSpPr>
          <p:cNvPr id="5" name="Text 2"/>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Envejecimiento y cotizaciones</a:t>
            </a:r>
            <a:endParaRPr lang="en-US" sz="1600" dirty="0"/>
          </a:p>
        </p:txBody>
      </p:sp>
      <p:sp>
        <p:nvSpPr>
          <p:cNvPr id="6" name="Shape 3"/>
          <p:cNvSpPr/>
          <p:nvPr/>
        </p:nvSpPr>
        <p:spPr>
          <a:xfrm>
            <a:off x="893445" y="1535430"/>
            <a:ext cx="9192260" cy="2009140"/>
          </a:xfrm>
          <a:prstGeom prst="rect">
            <a:avLst/>
          </a:prstGeom>
          <a:solidFill>
            <a:srgbClr val="402E7F"/>
          </a:solidFill>
          <a:ln/>
        </p:spPr>
        <p:txBody>
          <a:bodyPr/>
          <a:lstStyle/>
          <a:p>
            <a:endParaRPr lang="es-ES"/>
          </a:p>
        </p:txBody>
      </p:sp>
      <p:sp>
        <p:nvSpPr>
          <p:cNvPr id="7" name="Text 4"/>
          <p:cNvSpPr/>
          <p:nvPr/>
        </p:nvSpPr>
        <p:spPr>
          <a:xfrm>
            <a:off x="893445" y="1535430"/>
            <a:ext cx="9192260" cy="200914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5"/>
          <p:cNvSpPr/>
          <p:nvPr/>
        </p:nvSpPr>
        <p:spPr>
          <a:xfrm>
            <a:off x="893445" y="3765550"/>
            <a:ext cx="9192260" cy="2009140"/>
          </a:xfrm>
          <a:prstGeom prst="rect">
            <a:avLst/>
          </a:prstGeom>
          <a:solidFill>
            <a:srgbClr val="FFFFFF"/>
          </a:solidFill>
          <a:ln w="19050">
            <a:solidFill>
              <a:srgbClr val="402E7F"/>
            </a:solidFill>
            <a:prstDash val="solid"/>
          </a:ln>
        </p:spPr>
        <p:txBody>
          <a:bodyPr/>
          <a:lstStyle/>
          <a:p>
            <a:endParaRPr lang="es-ES"/>
          </a:p>
        </p:txBody>
      </p:sp>
      <p:sp>
        <p:nvSpPr>
          <p:cNvPr id="9" name="Text 6"/>
          <p:cNvSpPr/>
          <p:nvPr/>
        </p:nvSpPr>
        <p:spPr>
          <a:xfrm>
            <a:off x="893445" y="3765550"/>
            <a:ext cx="9192260" cy="200914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Text 7"/>
          <p:cNvSpPr/>
          <p:nvPr/>
        </p:nvSpPr>
        <p:spPr>
          <a:xfrm>
            <a:off x="1184275" y="1768475"/>
            <a:ext cx="8611235" cy="398780"/>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Presión sobre cotizaciones</a:t>
            </a:r>
            <a:endParaRPr lang="en-US" sz="1600" dirty="0"/>
          </a:p>
        </p:txBody>
      </p:sp>
      <p:sp>
        <p:nvSpPr>
          <p:cNvPr id="11" name="Text 8"/>
          <p:cNvSpPr/>
          <p:nvPr/>
        </p:nvSpPr>
        <p:spPr>
          <a:xfrm>
            <a:off x="1184275" y="2143760"/>
            <a:ext cx="8611235" cy="1255395"/>
          </a:xfrm>
          <a:prstGeom prst="rect">
            <a:avLst/>
          </a:prstGeom>
          <a:noFill/>
          <a:ln/>
        </p:spPr>
        <p:txBody>
          <a:bodyPr wrap="square" lIns="91440" tIns="45720" rIns="91440" bIns="45720" rtlCol="0" anchor="t">
            <a:spAutoFit/>
          </a:bodyPr>
          <a:lstStyle/>
          <a:p>
            <a:pPr>
              <a:lnSpc>
                <a:spcPct val="150000"/>
              </a:lnSpc>
            </a:pPr>
            <a:r>
              <a:rPr lang="en-US" sz="1600" dirty="0">
                <a:solidFill>
                  <a:srgbClr val="FFFFFF"/>
                </a:solidFill>
                <a:latin typeface="MiSans" pitchFamily="34" charset="0"/>
                <a:ea typeface="MiSans" pitchFamily="34" charset="-122"/>
                <a:cs typeface="MiSans" pitchFamily="34" charset="-120"/>
              </a:rPr>
              <a:t>El envejecimiento poblacional presiona los costes laborales a través de cotizaciones sociales, exigiendo un recalibrado del equilibrio entre protección social y competitividad.</a:t>
            </a:r>
            <a:endParaRPr lang="en-US" sz="1600" dirty="0"/>
          </a:p>
        </p:txBody>
      </p:sp>
      <p:sp>
        <p:nvSpPr>
          <p:cNvPr id="12" name="Text 9"/>
          <p:cNvSpPr/>
          <p:nvPr/>
        </p:nvSpPr>
        <p:spPr>
          <a:xfrm>
            <a:off x="1184275" y="3998595"/>
            <a:ext cx="8611235" cy="398780"/>
          </a:xfrm>
          <a:prstGeom prst="rect">
            <a:avLst/>
          </a:prstGeom>
          <a:noFill/>
          <a:ln/>
        </p:spPr>
        <p:txBody>
          <a:bodyPr wrap="square" lIns="91440" tIns="45720" rIns="91440" bIns="45720" rtlCol="0" anchor="t">
            <a:spAutoFit/>
          </a:bodyPr>
          <a:lstStyle/>
          <a:p>
            <a:pPr>
              <a:lnSpc>
                <a:spcPct val="100000"/>
              </a:lnSpc>
            </a:pPr>
            <a:r>
              <a:rPr lang="en-US" sz="2000" b="1" dirty="0">
                <a:solidFill>
                  <a:srgbClr val="1E1C0D"/>
                </a:solidFill>
                <a:latin typeface="MiSans" pitchFamily="34" charset="0"/>
                <a:ea typeface="MiSans" pitchFamily="34" charset="-122"/>
                <a:cs typeface="MiSans" pitchFamily="34" charset="-120"/>
              </a:rPr>
              <a:t>Necesidad de reforma</a:t>
            </a:r>
            <a:endParaRPr lang="en-US" sz="1600" dirty="0"/>
          </a:p>
        </p:txBody>
      </p:sp>
      <p:sp>
        <p:nvSpPr>
          <p:cNvPr id="13" name="Text 10"/>
          <p:cNvSpPr/>
          <p:nvPr/>
        </p:nvSpPr>
        <p:spPr>
          <a:xfrm>
            <a:off x="1184275" y="4373880"/>
            <a:ext cx="8611235" cy="400685"/>
          </a:xfrm>
          <a:prstGeom prst="rect">
            <a:avLst/>
          </a:prstGeom>
          <a:noFill/>
          <a:ln/>
        </p:spPr>
        <p:txBody>
          <a:bodyPr wrap="square" lIns="91440" tIns="45720" rIns="91440" bIns="45720" rtlCol="0" anchor="t">
            <a:spAutoFit/>
          </a:bodyPr>
          <a:lstStyle/>
          <a:p>
            <a:pPr>
              <a:lnSpc>
                <a:spcPct val="150000"/>
              </a:lnSpc>
            </a:pPr>
            <a:r>
              <a:rPr lang="en-US" sz="1600" dirty="0">
                <a:solidFill>
                  <a:srgbClr val="1E1C0D"/>
                </a:solidFill>
                <a:latin typeface="MiSans" pitchFamily="34" charset="0"/>
                <a:ea typeface="MiSans" pitchFamily="34" charset="-122"/>
                <a:cs typeface="MiSans" pitchFamily="34" charset="-120"/>
              </a:rPr>
              <a:t>Se requiere revisar el reparto entre trabajo, capital y consumo para financiar la protección social sin erosionar la competitividad económica.</a:t>
            </a:r>
            <a:endParaRPr lang="en-US" sz="1600" dirty="0"/>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a:ln/>
        </p:spPr>
        <p:txBody>
          <a:bodyPr/>
          <a:lstStyle/>
          <a:p>
            <a:endParaRPr lang="es-ES"/>
          </a:p>
        </p:txBody>
      </p:sp>
      <p:sp>
        <p:nvSpPr>
          <p:cNvPr id="5" name="Text 3"/>
          <p:cNvSpPr/>
          <p:nvPr/>
        </p:nvSpPr>
        <p:spPr>
          <a:xfrm>
            <a:off x="4445" y="0"/>
            <a:ext cx="12187555" cy="687578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a:ln/>
        </p:spPr>
        <p:txBody>
          <a:bodyPr/>
          <a:lstStyle/>
          <a:p>
            <a:endParaRPr lang="es-ES"/>
          </a:p>
        </p:txBody>
      </p:sp>
      <p:sp>
        <p:nvSpPr>
          <p:cNvPr id="7" name="Text 5"/>
          <p:cNvSpPr/>
          <p:nvPr/>
        </p:nvSpPr>
        <p:spPr>
          <a:xfrm>
            <a:off x="85280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9" name="Text 7"/>
          <p:cNvSpPr/>
          <p:nvPr/>
        </p:nvSpPr>
        <p:spPr>
          <a:xfrm>
            <a:off x="113665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a:ln/>
        </p:spPr>
        <p:txBody>
          <a:bodyPr/>
          <a:lstStyle/>
          <a:p>
            <a:endParaRPr lang="es-ES"/>
          </a:p>
        </p:txBody>
      </p:sp>
      <p:sp>
        <p:nvSpPr>
          <p:cNvPr id="11" name="Text 9"/>
          <p:cNvSpPr/>
          <p:nvPr/>
        </p:nvSpPr>
        <p:spPr>
          <a:xfrm>
            <a:off x="142049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3" name="Text 11"/>
          <p:cNvSpPr/>
          <p:nvPr/>
        </p:nvSpPr>
        <p:spPr>
          <a:xfrm>
            <a:off x="170434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a:ln/>
        </p:spPr>
        <p:txBody>
          <a:bodyPr/>
          <a:lstStyle/>
          <a:p>
            <a:endParaRPr lang="es-ES"/>
          </a:p>
        </p:txBody>
      </p:sp>
      <p:sp>
        <p:nvSpPr>
          <p:cNvPr id="15" name="Text 13"/>
          <p:cNvSpPr/>
          <p:nvPr/>
        </p:nvSpPr>
        <p:spPr>
          <a:xfrm>
            <a:off x="198818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7" name="Text 15"/>
          <p:cNvSpPr/>
          <p:nvPr/>
        </p:nvSpPr>
        <p:spPr>
          <a:xfrm>
            <a:off x="227203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a:ln/>
        </p:spPr>
        <p:txBody>
          <a:bodyPr/>
          <a:lstStyle/>
          <a:p>
            <a:endParaRPr lang="es-ES"/>
          </a:p>
        </p:txBody>
      </p:sp>
      <p:sp>
        <p:nvSpPr>
          <p:cNvPr id="19" name="Text 17"/>
          <p:cNvSpPr/>
          <p:nvPr/>
        </p:nvSpPr>
        <p:spPr>
          <a:xfrm>
            <a:off x="11456035" y="38163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a:ln/>
        </p:spPr>
        <p:txBody>
          <a:bodyPr/>
          <a:lstStyle/>
          <a:p>
            <a:endParaRPr lang="es-ES"/>
          </a:p>
        </p:txBody>
      </p:sp>
      <p:sp>
        <p:nvSpPr>
          <p:cNvPr id="21" name="Text 19"/>
          <p:cNvSpPr/>
          <p:nvPr/>
        </p:nvSpPr>
        <p:spPr>
          <a:xfrm>
            <a:off x="11456035" y="501650"/>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a:ln/>
        </p:spPr>
        <p:txBody>
          <a:bodyPr/>
          <a:lstStyle/>
          <a:p>
            <a:endParaRPr lang="es-ES"/>
          </a:p>
        </p:txBody>
      </p:sp>
      <p:sp>
        <p:nvSpPr>
          <p:cNvPr id="23" name="Text 21"/>
          <p:cNvSpPr/>
          <p:nvPr/>
        </p:nvSpPr>
        <p:spPr>
          <a:xfrm>
            <a:off x="11456035" y="62166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txBody>
          <a:bodyPr/>
          <a:lstStyle/>
          <a:p>
            <a:endParaRPr lang="es-ES"/>
          </a:p>
        </p:txBody>
      </p:sp>
      <p:sp>
        <p:nvSpPr>
          <p:cNvPr id="25" name="Shape 23"/>
          <p:cNvSpPr/>
          <p:nvPr/>
        </p:nvSpPr>
        <p:spPr>
          <a:xfrm>
            <a:off x="852805" y="6177280"/>
            <a:ext cx="259080" cy="259080"/>
          </a:xfrm>
          <a:prstGeom prst="ellipse">
            <a:avLst/>
          </a:prstGeom>
          <a:solidFill>
            <a:srgbClr val="FFFFFF"/>
          </a:solidFill>
          <a:ln/>
        </p:spPr>
        <p:txBody>
          <a:bodyPr/>
          <a:lstStyle/>
          <a:p>
            <a:endParaRPr lang="es-ES"/>
          </a:p>
        </p:txBody>
      </p:sp>
      <p:sp>
        <p:nvSpPr>
          <p:cNvPr id="26" name="Text 24"/>
          <p:cNvSpPr/>
          <p:nvPr/>
        </p:nvSpPr>
        <p:spPr>
          <a:xfrm>
            <a:off x="852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txBody>
          <a:bodyPr/>
          <a:lstStyle/>
          <a:p>
            <a:endParaRPr lang="es-ES"/>
          </a:p>
        </p:txBody>
      </p:sp>
      <p:sp>
        <p:nvSpPr>
          <p:cNvPr id="28" name="Text 26"/>
          <p:cNvSpPr/>
          <p:nvPr/>
        </p:nvSpPr>
        <p:spPr>
          <a:xfrm>
            <a:off x="979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Shape 27"/>
          <p:cNvSpPr/>
          <p:nvPr/>
        </p:nvSpPr>
        <p:spPr>
          <a:xfrm>
            <a:off x="541655" y="2687320"/>
            <a:ext cx="11172825" cy="2306955"/>
          </a:xfrm>
          <a:prstGeom prst="rect">
            <a:avLst/>
          </a:prstGeom>
          <a:solidFill>
            <a:srgbClr val="000000">
              <a:alpha val="0"/>
            </a:srgbClr>
          </a:solidFill>
          <a:ln/>
        </p:spPr>
        <p:txBody>
          <a:bodyPr/>
          <a:lstStyle/>
          <a:p>
            <a:endParaRPr lang="es-ES"/>
          </a:p>
        </p:txBody>
      </p:sp>
      <p:sp>
        <p:nvSpPr>
          <p:cNvPr id="30" name="Text 28"/>
          <p:cNvSpPr/>
          <p:nvPr/>
        </p:nvSpPr>
        <p:spPr>
          <a:xfrm>
            <a:off x="541655" y="2687320"/>
            <a:ext cx="11172825" cy="2306955"/>
          </a:xfrm>
          <a:prstGeom prst="rect">
            <a:avLst/>
          </a:prstGeom>
          <a:noFill/>
          <a:ln/>
        </p:spPr>
        <p:txBody>
          <a:bodyPr wrap="square" lIns="45720" tIns="91440" rIns="91440" bIns="45720" rtlCol="0" anchor="t"/>
          <a:lstStyle/>
          <a:p>
            <a:pPr algn="ctr">
              <a:lnSpc>
                <a:spcPct val="100000"/>
              </a:lnSpc>
            </a:pPr>
            <a:r>
              <a:rPr lang="en-US" sz="7200" b="1" dirty="0">
                <a:solidFill>
                  <a:srgbClr val="FFFFFF"/>
                </a:solidFill>
                <a:latin typeface="MiSans" pitchFamily="34" charset="0"/>
                <a:ea typeface="MiSans" pitchFamily="34" charset="-122"/>
                <a:cs typeface="MiSans" pitchFamily="34" charset="-120"/>
              </a:rPr>
              <a:t>Reformas pendientes</a:t>
            </a:r>
            <a:endParaRPr lang="en-US" sz="1600" dirty="0"/>
          </a:p>
        </p:txBody>
      </p:sp>
      <p:sp>
        <p:nvSpPr>
          <p:cNvPr id="31" name="Text 29"/>
          <p:cNvSpPr/>
          <p:nvPr/>
        </p:nvSpPr>
        <p:spPr>
          <a:xfrm>
            <a:off x="2515235" y="1350010"/>
            <a:ext cx="7161530" cy="1198880"/>
          </a:xfrm>
          <a:prstGeom prst="rect">
            <a:avLst/>
          </a:prstGeom>
          <a:noFill/>
          <a:ln/>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0"/>
                <a:ea typeface="MiSans" pitchFamily="34" charset="-122"/>
                <a:cs typeface="MiSans" pitchFamily="34" charset="-120"/>
              </a:rPr>
              <a:t>07</a:t>
            </a:r>
            <a:endParaRPr lang="en-US" sz="1600" dirty="0"/>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4" name="Text 2"/>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Negociar cerca de la empresa</a:t>
            </a:r>
            <a:endParaRPr lang="en-US" sz="1600" dirty="0"/>
          </a:p>
        </p:txBody>
      </p:sp>
      <p:sp>
        <p:nvSpPr>
          <p:cNvPr id="5" name="Shape 3"/>
          <p:cNvSpPr/>
          <p:nvPr/>
        </p:nvSpPr>
        <p:spPr>
          <a:xfrm flipH="1" flipV="1">
            <a:off x="-11430" y="6449060"/>
            <a:ext cx="12211685" cy="408940"/>
          </a:xfrm>
          <a:prstGeom prst="round2DiagRect">
            <a:avLst>
              <a:gd name="adj1" fmla="val 0"/>
              <a:gd name="adj2" fmla="val 0"/>
            </a:avLst>
          </a:prstGeom>
          <a:solidFill>
            <a:srgbClr val="402E7F"/>
          </a:solidFill>
          <a:ln/>
        </p:spPr>
        <p:txBody>
          <a:bodyPr/>
          <a:lstStyle/>
          <a:p>
            <a:endParaRPr lang="es-ES"/>
          </a:p>
        </p:txBody>
      </p:sp>
      <p:sp>
        <p:nvSpPr>
          <p:cNvPr id="6" name="Text 4"/>
          <p:cNvSpPr/>
          <p:nvPr/>
        </p:nvSpPr>
        <p:spPr>
          <a:xfrm>
            <a:off x="-11430" y="6449060"/>
            <a:ext cx="12211685" cy="408940"/>
          </a:xfrm>
          <a:prstGeom prst="rect">
            <a:avLst/>
          </a:prstGeom>
          <a:noFill/>
          <a:ln/>
        </p:spPr>
        <p:txBody>
          <a:bodyPr wrap="square" lIns="45720" tIns="91440" rIns="91440" bIns="45720" rtlCol="0" anchor="ctr"/>
          <a:lstStyle/>
          <a:p>
            <a:pPr>
              <a:lnSpc>
                <a:spcPct val="100000"/>
              </a:lnSpc>
            </a:pPr>
            <a:endParaRPr lang="en-US" sz="1600" dirty="0"/>
          </a:p>
        </p:txBody>
      </p:sp>
      <p:pic>
        <p:nvPicPr>
          <p:cNvPr id="7" name="Image 0" descr="https://kimi-img.moonshot.cn/pub/slides/slides_tmpl/image/25-09-08-15:08:37-d2v81tdnfo2stf9dkdm0.png"/>
          <p:cNvPicPr>
            <a:picLocks noChangeAspect="1"/>
          </p:cNvPicPr>
          <p:nvPr/>
        </p:nvPicPr>
        <p:blipFill>
          <a:blip r:embed="rId3"/>
          <a:srcRect t="9" b="9"/>
          <a:stretch/>
        </p:blipFill>
        <p:spPr>
          <a:xfrm>
            <a:off x="762000" y="1295400"/>
            <a:ext cx="3500755" cy="2362200"/>
          </a:xfrm>
          <a:prstGeom prst="rect">
            <a:avLst/>
          </a:prstGeom>
        </p:spPr>
      </p:pic>
      <p:pic>
        <p:nvPicPr>
          <p:cNvPr id="8" name="Image 1" descr="https://kimi-img.moonshot.cn/pub/slides/slides_tmpl/image/25-09-08-15:08:37-d2v81tdnfo2stf9dkdlg.png"/>
          <p:cNvPicPr>
            <a:picLocks noChangeAspect="1"/>
          </p:cNvPicPr>
          <p:nvPr/>
        </p:nvPicPr>
        <p:blipFill>
          <a:blip r:embed="rId4"/>
          <a:srcRect t="9" b="9"/>
          <a:stretch/>
        </p:blipFill>
        <p:spPr>
          <a:xfrm>
            <a:off x="7929880" y="1295400"/>
            <a:ext cx="3500755" cy="2362200"/>
          </a:xfrm>
          <a:prstGeom prst="rect">
            <a:avLst/>
          </a:prstGeom>
        </p:spPr>
      </p:pic>
      <p:pic>
        <p:nvPicPr>
          <p:cNvPr id="9" name="Image 2" descr="https://kimi-img.moonshot.cn/pub/slides/slides_tmpl/image/25-09-08-15:08:37-d2v81tdnfo2stf9dkdn0.png"/>
          <p:cNvPicPr>
            <a:picLocks noChangeAspect="1"/>
          </p:cNvPicPr>
          <p:nvPr/>
        </p:nvPicPr>
        <p:blipFill>
          <a:blip r:embed="rId5"/>
          <a:srcRect t="9" b="9"/>
          <a:stretch/>
        </p:blipFill>
        <p:spPr>
          <a:xfrm>
            <a:off x="4378960" y="3855720"/>
            <a:ext cx="3500755" cy="2362200"/>
          </a:xfrm>
          <a:prstGeom prst="rect">
            <a:avLst/>
          </a:prstGeom>
        </p:spPr>
      </p:pic>
      <p:sp>
        <p:nvSpPr>
          <p:cNvPr id="10" name="Text 5"/>
          <p:cNvSpPr/>
          <p:nvPr/>
        </p:nvSpPr>
        <p:spPr>
          <a:xfrm>
            <a:off x="4415155" y="1295400"/>
            <a:ext cx="3501390" cy="526415"/>
          </a:xfrm>
          <a:prstGeom prst="rect">
            <a:avLst/>
          </a:prstGeom>
          <a:noFill/>
          <a:ln/>
        </p:spPr>
        <p:txBody>
          <a:bodyPr wrap="square" lIns="91440" tIns="45720" rIns="91440" bIns="45720" rtlCol="0" anchor="t"/>
          <a:lstStyle/>
          <a:p>
            <a:pPr algn="ctr">
              <a:lnSpc>
                <a:spcPct val="100000"/>
              </a:lnSpc>
            </a:pPr>
            <a:r>
              <a:rPr lang="en-US" sz="1800" b="1" dirty="0">
                <a:solidFill>
                  <a:srgbClr val="402E7F"/>
                </a:solidFill>
                <a:latin typeface="MiSans" pitchFamily="34" charset="0"/>
                <a:ea typeface="MiSans" pitchFamily="34" charset="-122"/>
                <a:cs typeface="MiSans" pitchFamily="34" charset="-120"/>
              </a:rPr>
              <a:t>Descentralización de la negociación</a:t>
            </a:r>
            <a:endParaRPr lang="en-US" sz="1600" dirty="0"/>
          </a:p>
        </p:txBody>
      </p:sp>
      <p:sp>
        <p:nvSpPr>
          <p:cNvPr id="11" name="Text 6"/>
          <p:cNvSpPr/>
          <p:nvPr/>
        </p:nvSpPr>
        <p:spPr>
          <a:xfrm>
            <a:off x="4415155" y="1663065"/>
            <a:ext cx="3501390" cy="2004695"/>
          </a:xfrm>
          <a:prstGeom prst="rect">
            <a:avLst/>
          </a:prstGeom>
          <a:noFill/>
          <a:ln/>
        </p:spPr>
        <p:txBody>
          <a:bodyPr wrap="square" lIns="91440" tIns="45720" rIns="91440" bIns="45720" rtlCol="0" anchor="t"/>
          <a:lstStyle/>
          <a:p>
            <a:pPr>
              <a:lnSpc>
                <a:spcPct val="150000"/>
              </a:lnSpc>
            </a:pPr>
            <a:r>
              <a:rPr lang="en-US" sz="1400" dirty="0">
                <a:solidFill>
                  <a:srgbClr val="1E1C0D"/>
                </a:solidFill>
                <a:latin typeface="MiSans" pitchFamily="34" charset="0"/>
                <a:ea typeface="MiSans" pitchFamily="34" charset="-122"/>
                <a:cs typeface="MiSans" pitchFamily="34" charset="-120"/>
              </a:rPr>
              <a:t>Descentralizar la negociación hacia convenios de empresa, manteniendo coordenadas sectoriales, permite vincular salarios a la productividad real y adaptarse a coyunturas divergentes.</a:t>
            </a:r>
            <a:endParaRPr lang="en-US" sz="1600" dirty="0"/>
          </a:p>
        </p:txBody>
      </p:sp>
      <p:sp>
        <p:nvSpPr>
          <p:cNvPr id="12" name="Text 7"/>
          <p:cNvSpPr/>
          <p:nvPr/>
        </p:nvSpPr>
        <p:spPr>
          <a:xfrm>
            <a:off x="801370" y="3879850"/>
            <a:ext cx="3501390" cy="526415"/>
          </a:xfrm>
          <a:prstGeom prst="rect">
            <a:avLst/>
          </a:prstGeom>
          <a:noFill/>
          <a:ln/>
        </p:spPr>
        <p:txBody>
          <a:bodyPr wrap="square" lIns="91440" tIns="45720" rIns="91440" bIns="45720" rtlCol="0" anchor="t"/>
          <a:lstStyle/>
          <a:p>
            <a:pPr algn="ctr">
              <a:lnSpc>
                <a:spcPct val="100000"/>
              </a:lnSpc>
            </a:pPr>
            <a:r>
              <a:rPr lang="en-US" sz="1800" b="1" dirty="0">
                <a:solidFill>
                  <a:srgbClr val="402E7F"/>
                </a:solidFill>
                <a:latin typeface="MiSans" pitchFamily="34" charset="0"/>
                <a:ea typeface="MiSans" pitchFamily="34" charset="-122"/>
                <a:cs typeface="MiSans" pitchFamily="34" charset="-120"/>
              </a:rPr>
              <a:t>Beneficios de la descentralización</a:t>
            </a:r>
            <a:endParaRPr lang="en-US" sz="1600" dirty="0"/>
          </a:p>
        </p:txBody>
      </p:sp>
      <p:sp>
        <p:nvSpPr>
          <p:cNvPr id="13" name="Text 8"/>
          <p:cNvSpPr/>
          <p:nvPr/>
        </p:nvSpPr>
        <p:spPr>
          <a:xfrm>
            <a:off x="801370" y="4247515"/>
            <a:ext cx="3501390" cy="2004695"/>
          </a:xfrm>
          <a:prstGeom prst="rect">
            <a:avLst/>
          </a:prstGeom>
          <a:noFill/>
          <a:ln/>
        </p:spPr>
        <p:txBody>
          <a:bodyPr wrap="square" lIns="91440" tIns="45720" rIns="91440" bIns="45720" rtlCol="0" anchor="t"/>
          <a:lstStyle/>
          <a:p>
            <a:pPr>
              <a:lnSpc>
                <a:spcPct val="150000"/>
              </a:lnSpc>
            </a:pPr>
            <a:r>
              <a:rPr lang="en-US" sz="1400" dirty="0">
                <a:solidFill>
                  <a:srgbClr val="1E1C0D"/>
                </a:solidFill>
                <a:latin typeface="MiSans" pitchFamily="34" charset="0"/>
                <a:ea typeface="MiSans" pitchFamily="34" charset="-122"/>
                <a:cs typeface="MiSans" pitchFamily="34" charset="-120"/>
              </a:rPr>
              <a:t>Esta descentralización facilita la adaptación a contextos locales y sectoriales, sin sacrificar la cobertura universal ni la protección de los trabajadores más vulnerables.</a:t>
            </a:r>
            <a:endParaRPr lang="en-US" sz="1600" dirty="0"/>
          </a:p>
        </p:txBody>
      </p:sp>
      <p:sp>
        <p:nvSpPr>
          <p:cNvPr id="14" name="Text 9"/>
          <p:cNvSpPr/>
          <p:nvPr/>
        </p:nvSpPr>
        <p:spPr>
          <a:xfrm>
            <a:off x="7969250" y="3879850"/>
            <a:ext cx="3501390" cy="526415"/>
          </a:xfrm>
          <a:prstGeom prst="rect">
            <a:avLst/>
          </a:prstGeom>
          <a:noFill/>
          <a:ln/>
        </p:spPr>
        <p:txBody>
          <a:bodyPr wrap="square" lIns="91440" tIns="45720" rIns="91440" bIns="45720" rtlCol="0" anchor="t"/>
          <a:lstStyle/>
          <a:p>
            <a:pPr algn="ctr">
              <a:lnSpc>
                <a:spcPct val="100000"/>
              </a:lnSpc>
            </a:pPr>
            <a:r>
              <a:rPr lang="en-US" sz="1800" b="1" dirty="0">
                <a:solidFill>
                  <a:srgbClr val="402E7F"/>
                </a:solidFill>
                <a:latin typeface="MiSans" pitchFamily="34" charset="0"/>
                <a:ea typeface="MiSans" pitchFamily="34" charset="-122"/>
                <a:cs typeface="MiSans" pitchFamily="34" charset="-120"/>
              </a:rPr>
              <a:t>Equilibrio entre flexibilidad y protección</a:t>
            </a:r>
            <a:endParaRPr lang="en-US" sz="1600" dirty="0"/>
          </a:p>
        </p:txBody>
      </p:sp>
      <p:sp>
        <p:nvSpPr>
          <p:cNvPr id="15" name="Text 10"/>
          <p:cNvSpPr/>
          <p:nvPr/>
        </p:nvSpPr>
        <p:spPr>
          <a:xfrm>
            <a:off x="7969250" y="4247515"/>
            <a:ext cx="3501390" cy="2004695"/>
          </a:xfrm>
          <a:prstGeom prst="rect">
            <a:avLst/>
          </a:prstGeom>
          <a:noFill/>
          <a:ln/>
        </p:spPr>
        <p:txBody>
          <a:bodyPr wrap="square" lIns="91440" tIns="45720" rIns="91440" bIns="45720" rtlCol="0" anchor="t"/>
          <a:lstStyle/>
          <a:p>
            <a:pPr>
              <a:lnSpc>
                <a:spcPct val="150000"/>
              </a:lnSpc>
            </a:pPr>
            <a:r>
              <a:rPr lang="en-US" sz="1400" dirty="0">
                <a:solidFill>
                  <a:srgbClr val="1E1C0D"/>
                </a:solidFill>
                <a:latin typeface="MiSans" pitchFamily="34" charset="0"/>
                <a:ea typeface="MiSans" pitchFamily="34" charset="-122"/>
                <a:cs typeface="MiSans" pitchFamily="34" charset="-120"/>
              </a:rPr>
              <a:t>El objetivo es encontrar un equilibrio que combine flexibilidad empresarial con la necesidad de proteger a los trabajadores en un entorno económico cambiante.</a:t>
            </a:r>
            <a:endParaRPr lang="en-US" sz="1600" dirty="0"/>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0" y="4266565"/>
            <a:ext cx="12192000" cy="2591435"/>
          </a:xfrm>
          <a:prstGeom prst="rect">
            <a:avLst/>
          </a:prstGeom>
          <a:solidFill>
            <a:srgbClr val="402E7F"/>
          </a:solidFill>
          <a:ln/>
        </p:spPr>
        <p:txBody>
          <a:bodyPr/>
          <a:lstStyle/>
          <a:p>
            <a:endParaRPr lang="es-ES"/>
          </a:p>
        </p:txBody>
      </p:sp>
      <p:sp>
        <p:nvSpPr>
          <p:cNvPr id="5" name="Text 3"/>
          <p:cNvSpPr/>
          <p:nvPr/>
        </p:nvSpPr>
        <p:spPr>
          <a:xfrm>
            <a:off x="0" y="4266565"/>
            <a:ext cx="12192000" cy="25914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Text 4"/>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Salario mínimo regional</a:t>
            </a:r>
            <a:endParaRPr lang="en-US" sz="1600" dirty="0"/>
          </a:p>
        </p:txBody>
      </p:sp>
      <p:pic>
        <p:nvPicPr>
          <p:cNvPr id="7" name="Image 0" descr="https://kimi-img.moonshot.cn/pub/slides/slides_tmpl/image/25-09-08-15:08:36-d2v81t5nfo2stf9dkdkg.png"/>
          <p:cNvPicPr>
            <a:picLocks noChangeAspect="1"/>
          </p:cNvPicPr>
          <p:nvPr/>
        </p:nvPicPr>
        <p:blipFill>
          <a:blip r:embed="rId3"/>
          <a:srcRect t="117" b="117"/>
          <a:stretch/>
        </p:blipFill>
        <p:spPr>
          <a:xfrm>
            <a:off x="847090" y="1393825"/>
            <a:ext cx="4114165" cy="2712720"/>
          </a:xfrm>
          <a:prstGeom prst="rect">
            <a:avLst/>
          </a:prstGeom>
        </p:spPr>
      </p:pic>
      <p:sp>
        <p:nvSpPr>
          <p:cNvPr id="8" name="Text 5"/>
          <p:cNvSpPr/>
          <p:nvPr/>
        </p:nvSpPr>
        <p:spPr>
          <a:xfrm>
            <a:off x="5011420" y="1511300"/>
            <a:ext cx="6310800" cy="460375"/>
          </a:xfrm>
          <a:prstGeom prst="rect">
            <a:avLst/>
          </a:prstGeom>
          <a:noFill/>
          <a:ln/>
        </p:spPr>
        <p:txBody>
          <a:bodyPr wrap="square" lIns="91440" tIns="45720" rIns="91440" bIns="45720" rtlCol="0" anchor="t">
            <a:spAutoFit/>
          </a:bodyPr>
          <a:lstStyle/>
          <a:p>
            <a:pPr>
              <a:lnSpc>
                <a:spcPct val="100000"/>
              </a:lnSpc>
            </a:pPr>
            <a:r>
              <a:rPr lang="en-US" sz="2400" b="1" dirty="0">
                <a:solidFill>
                  <a:srgbClr val="1E1C0D"/>
                </a:solidFill>
                <a:latin typeface="MiSans" pitchFamily="34" charset="0"/>
                <a:ea typeface="MiSans" pitchFamily="34" charset="-122"/>
                <a:cs typeface="MiSans" pitchFamily="34" charset="-120"/>
              </a:rPr>
              <a:t>Necesidad de salarios mínimos regionales</a:t>
            </a:r>
            <a:endParaRPr lang="en-US" sz="1600" dirty="0"/>
          </a:p>
        </p:txBody>
      </p:sp>
      <p:sp>
        <p:nvSpPr>
          <p:cNvPr id="9" name="Text 6"/>
          <p:cNvSpPr/>
          <p:nvPr/>
        </p:nvSpPr>
        <p:spPr>
          <a:xfrm>
            <a:off x="5041265" y="2008505"/>
            <a:ext cx="6309995" cy="1889760"/>
          </a:xfrm>
          <a:prstGeom prst="rect">
            <a:avLst/>
          </a:prstGeom>
          <a:noFill/>
          <a:ln/>
        </p:spPr>
        <p:txBody>
          <a:bodyPr wrap="square" lIns="91440" tIns="45720" rIns="91440" bIns="45720" rtlCol="0" anchor="t">
            <a:spAutoFit/>
          </a:bodyPr>
          <a:lstStyle/>
          <a:p>
            <a:pPr>
              <a:lnSpc>
                <a:spcPct val="130000"/>
              </a:lnSpc>
            </a:pPr>
            <a:r>
              <a:rPr lang="en-US" sz="1800" dirty="0">
                <a:solidFill>
                  <a:srgbClr val="1E1C0D"/>
                </a:solidFill>
                <a:latin typeface="MiSans" pitchFamily="34" charset="0"/>
                <a:ea typeface="MiSans" pitchFamily="34" charset="-122"/>
                <a:cs typeface="MiSans" pitchFamily="34" charset="-120"/>
              </a:rPr>
              <a:t>Un SMI único puede ser ineficaz en regiones de menor productividad. Introducir bandas regionales o sectoriales reduce el riesgo de destrucción de empleo sin renunciar a la dignidad nacional.</a:t>
            </a:r>
            <a:endParaRPr lang="en-US" sz="1600" dirty="0"/>
          </a:p>
        </p:txBody>
      </p:sp>
      <p:sp>
        <p:nvSpPr>
          <p:cNvPr id="10" name="Text 7"/>
          <p:cNvSpPr/>
          <p:nvPr/>
        </p:nvSpPr>
        <p:spPr>
          <a:xfrm>
            <a:off x="847090" y="4481830"/>
            <a:ext cx="10515600" cy="521970"/>
          </a:xfrm>
          <a:prstGeom prst="rect">
            <a:avLst/>
          </a:prstGeom>
          <a:noFill/>
          <a:ln/>
        </p:spPr>
        <p:txBody>
          <a:bodyPr wrap="square" lIns="91440" tIns="45720" rIns="91440" bIns="45720" rtlCol="0" anchor="t">
            <a:spAutoFit/>
          </a:bodyPr>
          <a:lstStyle/>
          <a:p>
            <a:pPr>
              <a:lnSpc>
                <a:spcPct val="100000"/>
              </a:lnSpc>
            </a:pPr>
            <a:r>
              <a:rPr lang="en-US" sz="2800" b="1" dirty="0">
                <a:solidFill>
                  <a:srgbClr val="FFFFFF"/>
                </a:solidFill>
                <a:latin typeface="MiSans" pitchFamily="34" charset="0"/>
                <a:ea typeface="MiSans" pitchFamily="34" charset="-122"/>
                <a:cs typeface="MiSans" pitchFamily="34" charset="-120"/>
              </a:rPr>
              <a:t>Impacto en cohesión territorial</a:t>
            </a:r>
            <a:endParaRPr lang="en-US" sz="1600" dirty="0"/>
          </a:p>
        </p:txBody>
      </p:sp>
      <p:sp>
        <p:nvSpPr>
          <p:cNvPr id="11" name="Text 8"/>
          <p:cNvSpPr/>
          <p:nvPr/>
        </p:nvSpPr>
        <p:spPr>
          <a:xfrm>
            <a:off x="847090" y="5080000"/>
            <a:ext cx="10514330" cy="1170305"/>
          </a:xfrm>
          <a:prstGeom prst="rect">
            <a:avLst/>
          </a:prstGeom>
          <a:noFill/>
          <a:ln/>
        </p:spPr>
        <p:txBody>
          <a:bodyPr wrap="square" lIns="91440" tIns="45720" rIns="91440" bIns="45720" rtlCol="0" anchor="t">
            <a:spAutoFit/>
          </a:bodyPr>
          <a:lstStyle/>
          <a:p>
            <a:pPr>
              <a:lnSpc>
                <a:spcPct val="130000"/>
              </a:lnSpc>
            </a:pPr>
            <a:r>
              <a:rPr lang="en-US" sz="1800" dirty="0">
                <a:solidFill>
                  <a:srgbClr val="FFFFFF"/>
                </a:solidFill>
                <a:latin typeface="MiSans" pitchFamily="34" charset="0"/>
                <a:ea typeface="MiSans" pitchFamily="34" charset="-122"/>
                <a:cs typeface="MiSans" pitchFamily="34" charset="-120"/>
              </a:rPr>
              <a:t>Este enfoque regional puede contribuir a la cohesión territorial al adaptar la protección salarial a las realidades económicas locales.</a:t>
            </a:r>
            <a:endParaRPr lang="en-US" sz="1600" dirty="0"/>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pic>
        <p:nvPicPr>
          <p:cNvPr id="4" name="Image 0" descr="https://kimi-img.moonshot.cn/pub/slides/slides_tmpl/image/25-09-08-15:08:37-d2v81tdnfo2stf9dkdng.png"/>
          <p:cNvPicPr>
            <a:picLocks noChangeAspect="1"/>
          </p:cNvPicPr>
          <p:nvPr/>
        </p:nvPicPr>
        <p:blipFill>
          <a:blip r:embed="rId3"/>
          <a:srcRect l="89" r="89"/>
          <a:stretch/>
        </p:blipFill>
        <p:spPr>
          <a:xfrm>
            <a:off x="748030" y="1678940"/>
            <a:ext cx="3578225" cy="4374515"/>
          </a:xfrm>
          <a:prstGeom prst="rect">
            <a:avLst/>
          </a:prstGeom>
        </p:spPr>
      </p:pic>
      <p:sp>
        <p:nvSpPr>
          <p:cNvPr id="5" name="Shape 2"/>
          <p:cNvSpPr/>
          <p:nvPr/>
        </p:nvSpPr>
        <p:spPr>
          <a:xfrm>
            <a:off x="3981450" y="5556885"/>
            <a:ext cx="668020" cy="727075"/>
          </a:xfrm>
          <a:prstGeom prst="roundRect">
            <a:avLst>
              <a:gd name="adj" fmla="val 10513"/>
            </a:avLst>
          </a:prstGeom>
          <a:solidFill>
            <a:srgbClr val="BC7DB7"/>
          </a:solidFill>
          <a:ln/>
        </p:spPr>
        <p:txBody>
          <a:bodyPr/>
          <a:lstStyle/>
          <a:p>
            <a:endParaRPr lang="es-ES"/>
          </a:p>
        </p:txBody>
      </p:sp>
      <p:sp>
        <p:nvSpPr>
          <p:cNvPr id="6" name="Text 3"/>
          <p:cNvSpPr/>
          <p:nvPr/>
        </p:nvSpPr>
        <p:spPr>
          <a:xfrm>
            <a:off x="3981450" y="5556885"/>
            <a:ext cx="668020" cy="727075"/>
          </a:xfrm>
          <a:prstGeom prst="rect">
            <a:avLst/>
          </a:prstGeom>
          <a:noFill/>
          <a:ln/>
        </p:spPr>
        <p:txBody>
          <a:bodyPr wrap="square" lIns="45720" tIns="91440" rIns="91440" bIns="45720" rtlCol="0" anchor="ctr"/>
          <a:lstStyle/>
          <a:p>
            <a:pPr>
              <a:lnSpc>
                <a:spcPct val="100000"/>
              </a:lnSpc>
            </a:pPr>
            <a:endParaRPr lang="en-US" sz="1600" dirty="0"/>
          </a:p>
        </p:txBody>
      </p:sp>
      <p:sp>
        <p:nvSpPr>
          <p:cNvPr id="7" name="Shape 4"/>
          <p:cNvSpPr/>
          <p:nvPr/>
        </p:nvSpPr>
        <p:spPr>
          <a:xfrm>
            <a:off x="4871720" y="2914015"/>
            <a:ext cx="3157220" cy="3151505"/>
          </a:xfrm>
          <a:prstGeom prst="roundRect">
            <a:avLst>
              <a:gd name="adj" fmla="val 10513"/>
            </a:avLst>
          </a:prstGeom>
          <a:solidFill>
            <a:srgbClr val="FFFFFF"/>
          </a:solidFill>
          <a:ln w="19050">
            <a:solidFill>
              <a:srgbClr val="D5CDED">
                <a:alpha val="43137"/>
              </a:srgbClr>
            </a:solidFill>
            <a:prstDash val="solid"/>
          </a:ln>
          <a:effectLst>
            <a:outerShdw blurRad="190500" dist="71842" dir="2700000" algn="bl" rotWithShape="0">
              <a:srgbClr val="BC7DB7">
                <a:alpha val="10196"/>
              </a:srgbClr>
            </a:outerShdw>
          </a:effectLst>
        </p:spPr>
        <p:txBody>
          <a:bodyPr/>
          <a:lstStyle/>
          <a:p>
            <a:endParaRPr lang="es-ES"/>
          </a:p>
        </p:txBody>
      </p:sp>
      <p:sp>
        <p:nvSpPr>
          <p:cNvPr id="8" name="Text 5"/>
          <p:cNvSpPr/>
          <p:nvPr/>
        </p:nvSpPr>
        <p:spPr>
          <a:xfrm>
            <a:off x="4871720" y="2914015"/>
            <a:ext cx="3157220" cy="3151505"/>
          </a:xfrm>
          <a:prstGeom prst="rect">
            <a:avLst/>
          </a:prstGeom>
          <a:noFill/>
          <a:ln/>
        </p:spPr>
        <p:txBody>
          <a:bodyPr wrap="square" lIns="45720" tIns="91440" rIns="91440" bIns="45720" rtlCol="0" anchor="ctr"/>
          <a:lstStyle/>
          <a:p>
            <a:pPr>
              <a:lnSpc>
                <a:spcPct val="100000"/>
              </a:lnSpc>
            </a:pPr>
            <a:endParaRPr lang="en-US" sz="1600" dirty="0"/>
          </a:p>
        </p:txBody>
      </p:sp>
      <p:sp>
        <p:nvSpPr>
          <p:cNvPr id="9" name="Shape 6"/>
          <p:cNvSpPr/>
          <p:nvPr/>
        </p:nvSpPr>
        <p:spPr>
          <a:xfrm>
            <a:off x="8293100" y="2939415"/>
            <a:ext cx="3157220" cy="3138805"/>
          </a:xfrm>
          <a:prstGeom prst="roundRect">
            <a:avLst>
              <a:gd name="adj" fmla="val 10513"/>
            </a:avLst>
          </a:prstGeom>
          <a:solidFill>
            <a:srgbClr val="FFFFFF"/>
          </a:solidFill>
          <a:ln w="19050">
            <a:solidFill>
              <a:srgbClr val="D5CDED">
                <a:alpha val="43137"/>
              </a:srgbClr>
            </a:solidFill>
            <a:prstDash val="solid"/>
          </a:ln>
          <a:effectLst>
            <a:outerShdw blurRad="190500" dist="71842" dir="2700000" algn="bl" rotWithShape="0">
              <a:srgbClr val="BC7DB7">
                <a:alpha val="10196"/>
              </a:srgbClr>
            </a:outerShdw>
          </a:effectLst>
        </p:spPr>
        <p:txBody>
          <a:bodyPr/>
          <a:lstStyle/>
          <a:p>
            <a:endParaRPr lang="es-ES"/>
          </a:p>
        </p:txBody>
      </p:sp>
      <p:sp>
        <p:nvSpPr>
          <p:cNvPr id="10" name="Text 7"/>
          <p:cNvSpPr/>
          <p:nvPr/>
        </p:nvSpPr>
        <p:spPr>
          <a:xfrm>
            <a:off x="8293100" y="2939415"/>
            <a:ext cx="3157220" cy="3138805"/>
          </a:xfrm>
          <a:prstGeom prst="rect">
            <a:avLst/>
          </a:prstGeom>
          <a:noFill/>
          <a:ln/>
        </p:spPr>
        <p:txBody>
          <a:bodyPr wrap="square" lIns="45720" tIns="91440" rIns="91440" bIns="45720" rtlCol="0" anchor="ctr"/>
          <a:lstStyle/>
          <a:p>
            <a:pPr>
              <a:lnSpc>
                <a:spcPct val="100000"/>
              </a:lnSpc>
            </a:pPr>
            <a:endParaRPr lang="en-US" sz="1600" dirty="0"/>
          </a:p>
        </p:txBody>
      </p:sp>
      <p:sp>
        <p:nvSpPr>
          <p:cNvPr id="11" name="Shape 8"/>
          <p:cNvSpPr/>
          <p:nvPr/>
        </p:nvSpPr>
        <p:spPr>
          <a:xfrm rot="16200000">
            <a:off x="7311390" y="-882650"/>
            <a:ext cx="199390" cy="5166995"/>
          </a:xfrm>
          <a:prstGeom prst="roundRect">
            <a:avLst>
              <a:gd name="adj" fmla="val 50000"/>
            </a:avLst>
          </a:prstGeom>
          <a:gradFill flip="none" rotWithShape="1">
            <a:gsLst>
              <a:gs pos="0">
                <a:srgbClr val="D5CDED">
                  <a:alpha val="13000"/>
                </a:srgbClr>
              </a:gs>
              <a:gs pos="28000">
                <a:srgbClr val="D5CDED">
                  <a:alpha val="13000"/>
                </a:srgbClr>
              </a:gs>
              <a:gs pos="100000">
                <a:srgbClr val="402E7F"/>
              </a:gs>
            </a:gsLst>
            <a:lin ang="16200000" scaled="1"/>
          </a:gradFill>
          <a:ln/>
        </p:spPr>
        <p:txBody>
          <a:bodyPr/>
          <a:lstStyle/>
          <a:p>
            <a:endParaRPr lang="es-ES"/>
          </a:p>
        </p:txBody>
      </p:sp>
      <p:sp>
        <p:nvSpPr>
          <p:cNvPr id="12" name="Text 9"/>
          <p:cNvSpPr/>
          <p:nvPr/>
        </p:nvSpPr>
        <p:spPr>
          <a:xfrm rot="16200000">
            <a:off x="7311390" y="-882650"/>
            <a:ext cx="199390" cy="5166995"/>
          </a:xfrm>
          <a:prstGeom prst="rect">
            <a:avLst/>
          </a:prstGeom>
          <a:noFill/>
          <a:ln/>
        </p:spPr>
        <p:txBody>
          <a:bodyPr wrap="square" lIns="45720" tIns="91440" rIns="91440" bIns="45720" rtlCol="0" anchor="ctr"/>
          <a:lstStyle/>
          <a:p>
            <a:pPr>
              <a:lnSpc>
                <a:spcPct val="100000"/>
              </a:lnSpc>
            </a:pPr>
            <a:endParaRPr lang="en-US" sz="1600" dirty="0"/>
          </a:p>
        </p:txBody>
      </p:sp>
      <p:sp>
        <p:nvSpPr>
          <p:cNvPr id="13" name="Text 10"/>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Permisos parentales iguales</a:t>
            </a:r>
            <a:endParaRPr lang="en-US" sz="1600" dirty="0"/>
          </a:p>
        </p:txBody>
      </p:sp>
      <p:sp>
        <p:nvSpPr>
          <p:cNvPr id="14" name="Text 11"/>
          <p:cNvSpPr/>
          <p:nvPr/>
        </p:nvSpPr>
        <p:spPr>
          <a:xfrm>
            <a:off x="4802505" y="1123315"/>
            <a:ext cx="4800600" cy="460375"/>
          </a:xfrm>
          <a:prstGeom prst="rect">
            <a:avLst/>
          </a:prstGeom>
          <a:noFill/>
          <a:ln/>
        </p:spPr>
        <p:txBody>
          <a:bodyPr wrap="square" lIns="91440" tIns="45720" rIns="91440" bIns="45720" rtlCol="0" anchor="t">
            <a:spAutoFit/>
          </a:bodyPr>
          <a:lstStyle/>
          <a:p>
            <a:pPr>
              <a:lnSpc>
                <a:spcPct val="100000"/>
              </a:lnSpc>
            </a:pPr>
            <a:r>
              <a:rPr lang="en-US" sz="2400" b="1" dirty="0">
                <a:solidFill>
                  <a:srgbClr val="402E7F"/>
                </a:solidFill>
                <a:latin typeface="MiSans" pitchFamily="34" charset="0"/>
                <a:ea typeface="MiSans" pitchFamily="34" charset="-122"/>
                <a:cs typeface="MiSans" pitchFamily="34" charset="-120"/>
              </a:rPr>
              <a:t>Importancia de la igualdad</a:t>
            </a:r>
            <a:endParaRPr lang="en-US" sz="1600" dirty="0"/>
          </a:p>
        </p:txBody>
      </p:sp>
      <p:sp>
        <p:nvSpPr>
          <p:cNvPr id="15" name="Text 12"/>
          <p:cNvSpPr/>
          <p:nvPr/>
        </p:nvSpPr>
        <p:spPr>
          <a:xfrm>
            <a:off x="4802505" y="1839595"/>
            <a:ext cx="6647815" cy="866140"/>
          </a:xfrm>
          <a:prstGeom prst="rect">
            <a:avLst/>
          </a:prstGeom>
          <a:noFill/>
          <a:ln/>
        </p:spPr>
        <p:txBody>
          <a:bodyPr wrap="square" lIns="91440" tIns="45720" rIns="91440" bIns="45720" rtlCol="0" anchor="t">
            <a:spAutoFit/>
          </a:bodyPr>
          <a:lstStyle/>
          <a:p>
            <a:pPr>
              <a:lnSpc>
                <a:spcPct val="120000"/>
              </a:lnSpc>
            </a:pPr>
            <a:r>
              <a:rPr lang="en-US" sz="1400" dirty="0">
                <a:solidFill>
                  <a:srgbClr val="1E1C0D"/>
                </a:solidFill>
                <a:latin typeface="MiSans" pitchFamily="34" charset="0"/>
                <a:ea typeface="MiSans" pitchFamily="34" charset="-122"/>
                <a:cs typeface="MiSans" pitchFamily="34" charset="-120"/>
              </a:rPr>
              <a:t>Reducir la brecha de género exige repartir responsabilidades de cuidados. Permisos parentales igualitarios e intransferibles son esenciales para que la maternidad no penalice la carrera profesional.</a:t>
            </a:r>
            <a:endParaRPr lang="en-US" sz="1600" dirty="0"/>
          </a:p>
        </p:txBody>
      </p:sp>
      <p:sp>
        <p:nvSpPr>
          <p:cNvPr id="16" name="Text 13"/>
          <p:cNvSpPr/>
          <p:nvPr/>
        </p:nvSpPr>
        <p:spPr>
          <a:xfrm>
            <a:off x="5049520" y="2997200"/>
            <a:ext cx="2846705" cy="706755"/>
          </a:xfrm>
          <a:prstGeom prst="rect">
            <a:avLst/>
          </a:prstGeom>
          <a:noFill/>
          <a:ln/>
        </p:spPr>
        <p:txBody>
          <a:bodyPr wrap="square" lIns="91440" tIns="45720" rIns="91440" bIns="4572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Impacto en la brecha salarial</a:t>
            </a:r>
            <a:endParaRPr lang="en-US" sz="1600" dirty="0"/>
          </a:p>
        </p:txBody>
      </p:sp>
      <p:sp>
        <p:nvSpPr>
          <p:cNvPr id="17" name="Text 14"/>
          <p:cNvSpPr/>
          <p:nvPr/>
        </p:nvSpPr>
        <p:spPr>
          <a:xfrm>
            <a:off x="5048250" y="3686175"/>
            <a:ext cx="2846070" cy="2158365"/>
          </a:xfrm>
          <a:prstGeom prst="rect">
            <a:avLst/>
          </a:prstGeom>
          <a:noFill/>
          <a:ln/>
        </p:spPr>
        <p:txBody>
          <a:bodyPr wrap="square" lIns="91440" tIns="45720" rIns="91440" bIns="45720" rtlCol="0" anchor="t">
            <a:spAutoFit/>
          </a:bodyPr>
          <a:lstStyle/>
          <a:p>
            <a:pPr>
              <a:lnSpc>
                <a:spcPct val="120000"/>
              </a:lnSpc>
            </a:pPr>
            <a:r>
              <a:rPr lang="en-US" sz="1400" dirty="0">
                <a:solidFill>
                  <a:srgbClr val="1E1C0D"/>
                </a:solidFill>
                <a:latin typeface="MiSans" pitchFamily="34" charset="0"/>
                <a:ea typeface="MiSans" pitchFamily="34" charset="-122"/>
                <a:cs typeface="MiSans" pitchFamily="34" charset="-120"/>
              </a:rPr>
              <a:t>Estos permisos pueden reducir la brecha salarial al permitir que las mujeres mantengan trayectorias profesionales similares a las de los hombres.</a:t>
            </a:r>
            <a:endParaRPr lang="en-US" sz="1600" dirty="0"/>
          </a:p>
        </p:txBody>
      </p:sp>
      <p:sp>
        <p:nvSpPr>
          <p:cNvPr id="18" name="Text 15"/>
          <p:cNvSpPr/>
          <p:nvPr/>
        </p:nvSpPr>
        <p:spPr>
          <a:xfrm>
            <a:off x="8425815" y="2997200"/>
            <a:ext cx="2846705" cy="706755"/>
          </a:xfrm>
          <a:prstGeom prst="rect">
            <a:avLst/>
          </a:prstGeom>
          <a:noFill/>
          <a:ln/>
        </p:spPr>
        <p:txBody>
          <a:bodyPr wrap="square" lIns="91440" tIns="45720" rIns="91440" bIns="4572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Complementar con servicios</a:t>
            </a:r>
            <a:endParaRPr lang="en-US" sz="1600" dirty="0"/>
          </a:p>
        </p:txBody>
      </p:sp>
      <p:sp>
        <p:nvSpPr>
          <p:cNvPr id="19" name="Text 16"/>
          <p:cNvSpPr/>
          <p:nvPr/>
        </p:nvSpPr>
        <p:spPr>
          <a:xfrm>
            <a:off x="8424545" y="3686175"/>
            <a:ext cx="2846070" cy="2158365"/>
          </a:xfrm>
          <a:prstGeom prst="rect">
            <a:avLst/>
          </a:prstGeom>
          <a:noFill/>
          <a:ln/>
        </p:spPr>
        <p:txBody>
          <a:bodyPr wrap="square" lIns="91440" tIns="45720" rIns="91440" bIns="45720" rtlCol="0" anchor="t">
            <a:spAutoFit/>
          </a:bodyPr>
          <a:lstStyle/>
          <a:p>
            <a:pPr>
              <a:lnSpc>
                <a:spcPct val="120000"/>
              </a:lnSpc>
            </a:pPr>
            <a:r>
              <a:rPr lang="en-US" sz="1400" dirty="0">
                <a:solidFill>
                  <a:srgbClr val="1E1C0D"/>
                </a:solidFill>
                <a:latin typeface="MiSans" pitchFamily="34" charset="0"/>
                <a:ea typeface="MiSans" pitchFamily="34" charset="-122"/>
                <a:cs typeface="MiSans" pitchFamily="34" charset="-120"/>
              </a:rPr>
              <a:t>Además, servicios universales de guardería y horarios escolares coherentes con la jornada laboral son fundamentales para facilitar la conciliación.</a:t>
            </a:r>
            <a:endParaRPr lang="en-US" sz="1600" dirty="0"/>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0" y="6028055"/>
            <a:ext cx="12212955" cy="829945"/>
          </a:xfrm>
          <a:prstGeom prst="rect">
            <a:avLst/>
          </a:prstGeom>
          <a:solidFill>
            <a:srgbClr val="402E7F"/>
          </a:solidFill>
          <a:ln/>
        </p:spPr>
        <p:txBody>
          <a:bodyPr/>
          <a:lstStyle/>
          <a:p>
            <a:endParaRPr lang="es-ES"/>
          </a:p>
        </p:txBody>
      </p:sp>
      <p:sp>
        <p:nvSpPr>
          <p:cNvPr id="5" name="Text 3"/>
          <p:cNvSpPr/>
          <p:nvPr/>
        </p:nvSpPr>
        <p:spPr>
          <a:xfrm>
            <a:off x="0" y="6028055"/>
            <a:ext cx="12212955" cy="829945"/>
          </a:xfrm>
          <a:prstGeom prst="rect">
            <a:avLst/>
          </a:prstGeom>
          <a:noFill/>
          <a:ln/>
        </p:spPr>
        <p:txBody>
          <a:bodyPr wrap="square" lIns="45720" tIns="91440" rIns="91440" bIns="45720" rtlCol="0" anchor="ctr"/>
          <a:lstStyle/>
          <a:p>
            <a:pPr>
              <a:lnSpc>
                <a:spcPct val="100000"/>
              </a:lnSpc>
            </a:pPr>
            <a:endParaRPr lang="en-US" sz="1600" dirty="0"/>
          </a:p>
        </p:txBody>
      </p:sp>
      <p:sp>
        <p:nvSpPr>
          <p:cNvPr id="6" name="Text 4"/>
          <p:cNvSpPr/>
          <p:nvPr/>
        </p:nvSpPr>
        <p:spPr>
          <a:xfrm>
            <a:off x="427990" y="45402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Transiciones activas</a:t>
            </a:r>
            <a:endParaRPr lang="en-US" sz="1600" dirty="0"/>
          </a:p>
        </p:txBody>
      </p:sp>
      <p:sp>
        <p:nvSpPr>
          <p:cNvPr id="7" name="Shape 5"/>
          <p:cNvSpPr/>
          <p:nvPr/>
        </p:nvSpPr>
        <p:spPr>
          <a:xfrm>
            <a:off x="781050" y="1346835"/>
            <a:ext cx="4958080" cy="4360545"/>
          </a:xfrm>
          <a:prstGeom prst="roundRect">
            <a:avLst>
              <a:gd name="adj" fmla="val 3153"/>
            </a:avLst>
          </a:prstGeom>
          <a:solidFill>
            <a:srgbClr val="FFFFFF"/>
          </a:solidFill>
          <a:ln w="19050">
            <a:solidFill>
              <a:srgbClr val="402E7F"/>
            </a:solidFill>
            <a:prstDash val="solid"/>
          </a:ln>
        </p:spPr>
        <p:txBody>
          <a:bodyPr/>
          <a:lstStyle/>
          <a:p>
            <a:endParaRPr lang="es-ES"/>
          </a:p>
        </p:txBody>
      </p:sp>
      <p:sp>
        <p:nvSpPr>
          <p:cNvPr id="8" name="Text 6"/>
          <p:cNvSpPr/>
          <p:nvPr/>
        </p:nvSpPr>
        <p:spPr>
          <a:xfrm>
            <a:off x="781050" y="1346835"/>
            <a:ext cx="4958080" cy="4360545"/>
          </a:xfrm>
          <a:prstGeom prst="rect">
            <a:avLst/>
          </a:prstGeom>
          <a:noFill/>
          <a:ln/>
        </p:spPr>
        <p:txBody>
          <a:bodyPr wrap="square" lIns="45720" tIns="91440" rIns="91440" bIns="45720" rtlCol="0" anchor="ctr"/>
          <a:lstStyle/>
          <a:p>
            <a:pPr>
              <a:lnSpc>
                <a:spcPct val="100000"/>
              </a:lnSpc>
            </a:pPr>
            <a:endParaRPr lang="en-US" sz="1600" dirty="0"/>
          </a:p>
        </p:txBody>
      </p:sp>
      <p:sp>
        <p:nvSpPr>
          <p:cNvPr id="9" name="Shape 7"/>
          <p:cNvSpPr/>
          <p:nvPr/>
        </p:nvSpPr>
        <p:spPr>
          <a:xfrm rot="16200000">
            <a:off x="936625" y="1374775"/>
            <a:ext cx="1061085" cy="1005205"/>
          </a:xfrm>
          <a:custGeom>
            <a:avLst/>
            <a:gdLst/>
            <a:ahLst/>
            <a:cxnLst/>
            <a:rect l="l" t="t" r="r" b="b"/>
            <a:pathLst>
              <a:path w="1061085" h="1005205">
                <a:moveTo>
                  <a:pt x="0" y="251460"/>
                </a:moveTo>
                <a:lnTo>
                  <a:pt x="1052195" y="251460"/>
                </a:lnTo>
                <a:lnTo>
                  <a:pt x="1052195" y="0"/>
                </a:lnTo>
                <a:lnTo>
                  <a:pt x="1061085" y="8890"/>
                </a:lnTo>
                <a:lnTo>
                  <a:pt x="1061085" y="996315"/>
                </a:lnTo>
                <a:lnTo>
                  <a:pt x="1052195" y="1005205"/>
                </a:lnTo>
                <a:lnTo>
                  <a:pt x="1052195" y="753745"/>
                </a:lnTo>
                <a:lnTo>
                  <a:pt x="0" y="753745"/>
                </a:lnTo>
                <a:lnTo>
                  <a:pt x="251460" y="502920"/>
                </a:lnTo>
                <a:lnTo>
                  <a:pt x="0" y="251460"/>
                </a:lnTo>
                <a:close/>
              </a:path>
            </a:pathLst>
          </a:custGeom>
          <a:solidFill>
            <a:srgbClr val="402E7F"/>
          </a:solidFill>
          <a:ln/>
        </p:spPr>
        <p:txBody>
          <a:bodyPr/>
          <a:lstStyle/>
          <a:p>
            <a:endParaRPr lang="es-ES"/>
          </a:p>
        </p:txBody>
      </p:sp>
      <p:sp>
        <p:nvSpPr>
          <p:cNvPr id="10" name="Text 8"/>
          <p:cNvSpPr/>
          <p:nvPr/>
        </p:nvSpPr>
        <p:spPr>
          <a:xfrm rot="16200000">
            <a:off x="936625" y="1374775"/>
            <a:ext cx="1061085" cy="1005205"/>
          </a:xfrm>
          <a:prstGeom prst="rect">
            <a:avLst/>
          </a:prstGeom>
          <a:noFill/>
          <a:ln/>
        </p:spPr>
        <p:txBody>
          <a:bodyPr wrap="square" lIns="45720" tIns="91440" rIns="91440" bIns="45720" rtlCol="0" anchor="ctr"/>
          <a:lstStyle/>
          <a:p>
            <a:pPr>
              <a:lnSpc>
                <a:spcPct val="100000"/>
              </a:lnSpc>
            </a:pPr>
            <a:endParaRPr lang="en-US" sz="1600" dirty="0"/>
          </a:p>
        </p:txBody>
      </p:sp>
      <p:sp>
        <p:nvSpPr>
          <p:cNvPr id="11" name="Shape 9"/>
          <p:cNvSpPr/>
          <p:nvPr/>
        </p:nvSpPr>
        <p:spPr>
          <a:xfrm>
            <a:off x="6181090" y="1346835"/>
            <a:ext cx="4958080" cy="4360545"/>
          </a:xfrm>
          <a:prstGeom prst="roundRect">
            <a:avLst>
              <a:gd name="adj" fmla="val 3153"/>
            </a:avLst>
          </a:prstGeom>
          <a:solidFill>
            <a:srgbClr val="FFFFFF"/>
          </a:solidFill>
          <a:ln w="19050">
            <a:solidFill>
              <a:srgbClr val="402E7F"/>
            </a:solidFill>
            <a:prstDash val="solid"/>
          </a:ln>
        </p:spPr>
        <p:txBody>
          <a:bodyPr/>
          <a:lstStyle/>
          <a:p>
            <a:endParaRPr lang="es-ES"/>
          </a:p>
        </p:txBody>
      </p:sp>
      <p:sp>
        <p:nvSpPr>
          <p:cNvPr id="12" name="Text 10"/>
          <p:cNvSpPr/>
          <p:nvPr/>
        </p:nvSpPr>
        <p:spPr>
          <a:xfrm>
            <a:off x="6181090" y="1346835"/>
            <a:ext cx="4958080" cy="4360545"/>
          </a:xfrm>
          <a:prstGeom prst="rect">
            <a:avLst/>
          </a:prstGeom>
          <a:noFill/>
          <a:ln/>
        </p:spPr>
        <p:txBody>
          <a:bodyPr wrap="square" lIns="45720" tIns="91440" rIns="91440" bIns="45720" rtlCol="0" anchor="ctr"/>
          <a:lstStyle/>
          <a:p>
            <a:pPr>
              <a:lnSpc>
                <a:spcPct val="100000"/>
              </a:lnSpc>
            </a:pPr>
            <a:endParaRPr lang="en-US" sz="1600" dirty="0"/>
          </a:p>
        </p:txBody>
      </p:sp>
      <p:sp>
        <p:nvSpPr>
          <p:cNvPr id="13" name="Shape 11"/>
          <p:cNvSpPr/>
          <p:nvPr/>
        </p:nvSpPr>
        <p:spPr>
          <a:xfrm rot="16200000">
            <a:off x="6336665" y="1374775"/>
            <a:ext cx="1061085" cy="1005205"/>
          </a:xfrm>
          <a:custGeom>
            <a:avLst/>
            <a:gdLst/>
            <a:ahLst/>
            <a:cxnLst/>
            <a:rect l="l" t="t" r="r" b="b"/>
            <a:pathLst>
              <a:path w="1061085" h="1005205">
                <a:moveTo>
                  <a:pt x="0" y="251460"/>
                </a:moveTo>
                <a:lnTo>
                  <a:pt x="1052195" y="251460"/>
                </a:lnTo>
                <a:lnTo>
                  <a:pt x="1052195" y="0"/>
                </a:lnTo>
                <a:lnTo>
                  <a:pt x="1061085" y="8890"/>
                </a:lnTo>
                <a:lnTo>
                  <a:pt x="1061085" y="996315"/>
                </a:lnTo>
                <a:lnTo>
                  <a:pt x="1052195" y="1005205"/>
                </a:lnTo>
                <a:lnTo>
                  <a:pt x="1052195" y="753745"/>
                </a:lnTo>
                <a:lnTo>
                  <a:pt x="0" y="753745"/>
                </a:lnTo>
                <a:lnTo>
                  <a:pt x="251460" y="502920"/>
                </a:lnTo>
                <a:lnTo>
                  <a:pt x="0" y="251460"/>
                </a:lnTo>
                <a:close/>
              </a:path>
            </a:pathLst>
          </a:custGeom>
          <a:solidFill>
            <a:srgbClr val="402E7F"/>
          </a:solidFill>
          <a:ln/>
        </p:spPr>
        <p:txBody>
          <a:bodyPr/>
          <a:lstStyle/>
          <a:p>
            <a:endParaRPr lang="es-ES"/>
          </a:p>
        </p:txBody>
      </p:sp>
      <p:sp>
        <p:nvSpPr>
          <p:cNvPr id="14" name="Text 12"/>
          <p:cNvSpPr/>
          <p:nvPr/>
        </p:nvSpPr>
        <p:spPr>
          <a:xfrm rot="16200000">
            <a:off x="6336665" y="1374775"/>
            <a:ext cx="1061085" cy="1005205"/>
          </a:xfrm>
          <a:prstGeom prst="rect">
            <a:avLst/>
          </a:prstGeom>
          <a:noFill/>
          <a:ln/>
        </p:spPr>
        <p:txBody>
          <a:bodyPr wrap="square" lIns="45720" tIns="91440" rIns="91440" bIns="45720" rtlCol="0" anchor="ctr"/>
          <a:lstStyle/>
          <a:p>
            <a:pPr>
              <a:lnSpc>
                <a:spcPct val="100000"/>
              </a:lnSpc>
            </a:pPr>
            <a:endParaRPr lang="en-US" sz="1600" dirty="0"/>
          </a:p>
        </p:txBody>
      </p:sp>
      <p:sp>
        <p:nvSpPr>
          <p:cNvPr id="15" name="Text 13"/>
          <p:cNvSpPr/>
          <p:nvPr/>
        </p:nvSpPr>
        <p:spPr>
          <a:xfrm>
            <a:off x="1727200" y="1641475"/>
            <a:ext cx="3681730" cy="829945"/>
          </a:xfrm>
          <a:prstGeom prst="rect">
            <a:avLst/>
          </a:prstGeom>
          <a:noFill/>
          <a:ln/>
        </p:spPr>
        <p:txBody>
          <a:bodyPr wrap="square" lIns="91440" tIns="45720" rIns="91440" bIns="45720" rtlCol="0" anchor="t">
            <a:spAutoFit/>
          </a:bodyPr>
          <a:lstStyle/>
          <a:p>
            <a:pPr>
              <a:lnSpc>
                <a:spcPct val="100000"/>
              </a:lnSpc>
            </a:pPr>
            <a:r>
              <a:rPr lang="en-US" sz="2400" b="1" dirty="0">
                <a:solidFill>
                  <a:srgbClr val="402E7F"/>
                </a:solidFill>
                <a:latin typeface="MiSans" pitchFamily="34" charset="0"/>
                <a:ea typeface="MiSans" pitchFamily="34" charset="-122"/>
                <a:cs typeface="MiSans" pitchFamily="34" charset="-120"/>
              </a:rPr>
              <a:t>Formación y transiciones</a:t>
            </a:r>
            <a:endParaRPr lang="en-US" sz="1600" dirty="0"/>
          </a:p>
        </p:txBody>
      </p:sp>
      <p:sp>
        <p:nvSpPr>
          <p:cNvPr id="16" name="Text 14"/>
          <p:cNvSpPr/>
          <p:nvPr/>
        </p:nvSpPr>
        <p:spPr>
          <a:xfrm>
            <a:off x="1129665" y="2572385"/>
            <a:ext cx="4279265" cy="2956560"/>
          </a:xfrm>
          <a:prstGeom prst="rect">
            <a:avLst/>
          </a:prstGeom>
          <a:noFill/>
          <a:ln/>
        </p:spPr>
        <p:txBody>
          <a:bodyPr wrap="square" lIns="91440" tIns="45720" rIns="91440" bIns="45720" rtlCol="0" anchor="t"/>
          <a:lstStyle/>
          <a:p>
            <a:pPr>
              <a:lnSpc>
                <a:spcPct val="130000"/>
              </a:lnSpc>
            </a:pPr>
            <a:r>
              <a:rPr lang="en-US" sz="2000" dirty="0">
                <a:solidFill>
                  <a:srgbClr val="1E1C0D"/>
                </a:solidFill>
                <a:latin typeface="MiSans" pitchFamily="34" charset="0"/>
                <a:ea typeface="MiSans" pitchFamily="34" charset="-122"/>
                <a:cs typeface="MiSans" pitchFamily="34" charset="-120"/>
              </a:rPr>
              <a:t>Combinar salarios ajustados con formación intensiva y subsidios por reconversión permite que los trabajadores mantengan ingresos durante transiciones laborales.</a:t>
            </a:r>
            <a:endParaRPr lang="en-US" sz="1600" dirty="0"/>
          </a:p>
        </p:txBody>
      </p:sp>
      <p:sp>
        <p:nvSpPr>
          <p:cNvPr id="17" name="Text 15"/>
          <p:cNvSpPr/>
          <p:nvPr/>
        </p:nvSpPr>
        <p:spPr>
          <a:xfrm>
            <a:off x="7127240" y="1641475"/>
            <a:ext cx="3681730" cy="829945"/>
          </a:xfrm>
          <a:prstGeom prst="rect">
            <a:avLst/>
          </a:prstGeom>
          <a:noFill/>
          <a:ln/>
        </p:spPr>
        <p:txBody>
          <a:bodyPr wrap="square" lIns="91440" tIns="45720" rIns="91440" bIns="45720" rtlCol="0" anchor="t">
            <a:spAutoFit/>
          </a:bodyPr>
          <a:lstStyle/>
          <a:p>
            <a:pPr>
              <a:lnSpc>
                <a:spcPct val="100000"/>
              </a:lnSpc>
            </a:pPr>
            <a:r>
              <a:rPr lang="en-US" sz="2400" b="1" dirty="0">
                <a:solidFill>
                  <a:srgbClr val="402E7F"/>
                </a:solidFill>
                <a:latin typeface="MiSans" pitchFamily="34" charset="0"/>
                <a:ea typeface="MiSans" pitchFamily="34" charset="-122"/>
                <a:cs typeface="MiSans" pitchFamily="34" charset="-120"/>
              </a:rPr>
              <a:t>Facilitar nuevas oportunidades</a:t>
            </a:r>
            <a:endParaRPr lang="en-US" sz="1600" dirty="0"/>
          </a:p>
        </p:txBody>
      </p:sp>
      <p:sp>
        <p:nvSpPr>
          <p:cNvPr id="18" name="Text 16"/>
          <p:cNvSpPr/>
          <p:nvPr/>
        </p:nvSpPr>
        <p:spPr>
          <a:xfrm>
            <a:off x="6529705" y="2572385"/>
            <a:ext cx="4279265" cy="2956560"/>
          </a:xfrm>
          <a:prstGeom prst="rect">
            <a:avLst/>
          </a:prstGeom>
          <a:noFill/>
          <a:ln/>
        </p:spPr>
        <p:txBody>
          <a:bodyPr wrap="square" lIns="91440" tIns="45720" rIns="91440" bIns="45720" rtlCol="0" anchor="t"/>
          <a:lstStyle/>
          <a:p>
            <a:pPr>
              <a:lnSpc>
                <a:spcPct val="130000"/>
              </a:lnSpc>
            </a:pPr>
            <a:r>
              <a:rPr lang="en-US" sz="2000" dirty="0">
                <a:solidFill>
                  <a:srgbClr val="1E1C0D"/>
                </a:solidFill>
                <a:latin typeface="MiSans" pitchFamily="34" charset="0"/>
                <a:ea typeface="MiSans" pitchFamily="34" charset="-122"/>
                <a:cs typeface="MiSans" pitchFamily="34" charset="-120"/>
              </a:rPr>
              <a:t>La protección debe acompañar los cambios tecnológicos y económicos, facilitando que los desplazados accedan a nuevas oportunidades de empleo.</a:t>
            </a:r>
            <a:endParaRPr lang="en-US" sz="1600" dirty="0"/>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a:ln/>
        </p:spPr>
        <p:txBody>
          <a:bodyPr/>
          <a:lstStyle/>
          <a:p>
            <a:endParaRPr lang="es-ES"/>
          </a:p>
        </p:txBody>
      </p:sp>
      <p:sp>
        <p:nvSpPr>
          <p:cNvPr id="5" name="Text 3"/>
          <p:cNvSpPr/>
          <p:nvPr/>
        </p:nvSpPr>
        <p:spPr>
          <a:xfrm>
            <a:off x="4445" y="0"/>
            <a:ext cx="12187555" cy="687578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a:ln/>
        </p:spPr>
        <p:txBody>
          <a:bodyPr/>
          <a:lstStyle/>
          <a:p>
            <a:endParaRPr lang="es-ES"/>
          </a:p>
        </p:txBody>
      </p:sp>
      <p:sp>
        <p:nvSpPr>
          <p:cNvPr id="7" name="Text 5"/>
          <p:cNvSpPr/>
          <p:nvPr/>
        </p:nvSpPr>
        <p:spPr>
          <a:xfrm>
            <a:off x="85280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9" name="Text 7"/>
          <p:cNvSpPr/>
          <p:nvPr/>
        </p:nvSpPr>
        <p:spPr>
          <a:xfrm>
            <a:off x="113665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a:ln/>
        </p:spPr>
        <p:txBody>
          <a:bodyPr/>
          <a:lstStyle/>
          <a:p>
            <a:endParaRPr lang="es-ES"/>
          </a:p>
        </p:txBody>
      </p:sp>
      <p:sp>
        <p:nvSpPr>
          <p:cNvPr id="11" name="Text 9"/>
          <p:cNvSpPr/>
          <p:nvPr/>
        </p:nvSpPr>
        <p:spPr>
          <a:xfrm>
            <a:off x="142049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3" name="Text 11"/>
          <p:cNvSpPr/>
          <p:nvPr/>
        </p:nvSpPr>
        <p:spPr>
          <a:xfrm>
            <a:off x="170434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a:ln/>
        </p:spPr>
        <p:txBody>
          <a:bodyPr/>
          <a:lstStyle/>
          <a:p>
            <a:endParaRPr lang="es-ES"/>
          </a:p>
        </p:txBody>
      </p:sp>
      <p:sp>
        <p:nvSpPr>
          <p:cNvPr id="15" name="Text 13"/>
          <p:cNvSpPr/>
          <p:nvPr/>
        </p:nvSpPr>
        <p:spPr>
          <a:xfrm>
            <a:off x="198818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7" name="Text 15"/>
          <p:cNvSpPr/>
          <p:nvPr/>
        </p:nvSpPr>
        <p:spPr>
          <a:xfrm>
            <a:off x="227203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a:ln/>
        </p:spPr>
        <p:txBody>
          <a:bodyPr/>
          <a:lstStyle/>
          <a:p>
            <a:endParaRPr lang="es-ES"/>
          </a:p>
        </p:txBody>
      </p:sp>
      <p:sp>
        <p:nvSpPr>
          <p:cNvPr id="19" name="Text 17"/>
          <p:cNvSpPr/>
          <p:nvPr/>
        </p:nvSpPr>
        <p:spPr>
          <a:xfrm>
            <a:off x="11456035" y="38163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a:ln/>
        </p:spPr>
        <p:txBody>
          <a:bodyPr/>
          <a:lstStyle/>
          <a:p>
            <a:endParaRPr lang="es-ES"/>
          </a:p>
        </p:txBody>
      </p:sp>
      <p:sp>
        <p:nvSpPr>
          <p:cNvPr id="21" name="Text 19"/>
          <p:cNvSpPr/>
          <p:nvPr/>
        </p:nvSpPr>
        <p:spPr>
          <a:xfrm>
            <a:off x="11456035" y="501650"/>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a:ln/>
        </p:spPr>
        <p:txBody>
          <a:bodyPr/>
          <a:lstStyle/>
          <a:p>
            <a:endParaRPr lang="es-ES"/>
          </a:p>
        </p:txBody>
      </p:sp>
      <p:sp>
        <p:nvSpPr>
          <p:cNvPr id="23" name="Text 21"/>
          <p:cNvSpPr/>
          <p:nvPr/>
        </p:nvSpPr>
        <p:spPr>
          <a:xfrm>
            <a:off x="11456035" y="62166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txBody>
          <a:bodyPr/>
          <a:lstStyle/>
          <a:p>
            <a:endParaRPr lang="es-ES"/>
          </a:p>
        </p:txBody>
      </p:sp>
      <p:sp>
        <p:nvSpPr>
          <p:cNvPr id="25" name="Shape 23"/>
          <p:cNvSpPr/>
          <p:nvPr/>
        </p:nvSpPr>
        <p:spPr>
          <a:xfrm>
            <a:off x="852805" y="6177280"/>
            <a:ext cx="259080" cy="259080"/>
          </a:xfrm>
          <a:prstGeom prst="ellipse">
            <a:avLst/>
          </a:prstGeom>
          <a:solidFill>
            <a:srgbClr val="FFFFFF"/>
          </a:solidFill>
          <a:ln/>
        </p:spPr>
        <p:txBody>
          <a:bodyPr/>
          <a:lstStyle/>
          <a:p>
            <a:endParaRPr lang="es-ES"/>
          </a:p>
        </p:txBody>
      </p:sp>
      <p:sp>
        <p:nvSpPr>
          <p:cNvPr id="26" name="Text 24"/>
          <p:cNvSpPr/>
          <p:nvPr/>
        </p:nvSpPr>
        <p:spPr>
          <a:xfrm>
            <a:off x="852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txBody>
          <a:bodyPr/>
          <a:lstStyle/>
          <a:p>
            <a:endParaRPr lang="es-ES"/>
          </a:p>
        </p:txBody>
      </p:sp>
      <p:sp>
        <p:nvSpPr>
          <p:cNvPr id="28" name="Text 26"/>
          <p:cNvSpPr/>
          <p:nvPr/>
        </p:nvSpPr>
        <p:spPr>
          <a:xfrm>
            <a:off x="979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Shape 27"/>
          <p:cNvSpPr/>
          <p:nvPr/>
        </p:nvSpPr>
        <p:spPr>
          <a:xfrm>
            <a:off x="541655" y="2687320"/>
            <a:ext cx="11172825" cy="2306955"/>
          </a:xfrm>
          <a:prstGeom prst="rect">
            <a:avLst/>
          </a:prstGeom>
          <a:solidFill>
            <a:srgbClr val="000000">
              <a:alpha val="0"/>
            </a:srgbClr>
          </a:solidFill>
          <a:ln/>
        </p:spPr>
        <p:txBody>
          <a:bodyPr/>
          <a:lstStyle/>
          <a:p>
            <a:endParaRPr lang="es-ES"/>
          </a:p>
        </p:txBody>
      </p:sp>
      <p:sp>
        <p:nvSpPr>
          <p:cNvPr id="30" name="Text 28"/>
          <p:cNvSpPr/>
          <p:nvPr/>
        </p:nvSpPr>
        <p:spPr>
          <a:xfrm>
            <a:off x="541655" y="2687320"/>
            <a:ext cx="11172825" cy="2306955"/>
          </a:xfrm>
          <a:prstGeom prst="rect">
            <a:avLst/>
          </a:prstGeom>
          <a:noFill/>
          <a:ln/>
        </p:spPr>
        <p:txBody>
          <a:bodyPr wrap="square" lIns="45720" tIns="91440" rIns="91440" bIns="45720" rtlCol="0" anchor="t"/>
          <a:lstStyle/>
          <a:p>
            <a:pPr algn="ctr">
              <a:lnSpc>
                <a:spcPct val="100000"/>
              </a:lnSpc>
            </a:pPr>
            <a:r>
              <a:rPr lang="en-US" sz="7200" b="1" dirty="0">
                <a:solidFill>
                  <a:srgbClr val="FFFFFF"/>
                </a:solidFill>
                <a:latin typeface="MiSans" pitchFamily="34" charset="0"/>
                <a:ea typeface="MiSans" pitchFamily="34" charset="-122"/>
                <a:cs typeface="MiSans" pitchFamily="34" charset="-120"/>
              </a:rPr>
              <a:t>Lecciones clave</a:t>
            </a:r>
            <a:endParaRPr lang="en-US" sz="1600" dirty="0"/>
          </a:p>
        </p:txBody>
      </p:sp>
      <p:sp>
        <p:nvSpPr>
          <p:cNvPr id="31" name="Text 29"/>
          <p:cNvSpPr/>
          <p:nvPr/>
        </p:nvSpPr>
        <p:spPr>
          <a:xfrm>
            <a:off x="2515235" y="1350010"/>
            <a:ext cx="7161530" cy="1198880"/>
          </a:xfrm>
          <a:prstGeom prst="rect">
            <a:avLst/>
          </a:prstGeom>
          <a:noFill/>
          <a:ln/>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0"/>
                <a:ea typeface="MiSans" pitchFamily="34" charset="-122"/>
                <a:cs typeface="MiSans" pitchFamily="34" charset="-120"/>
              </a:rPr>
              <a:t>08</a:t>
            </a:r>
            <a:endParaRPr lang="en-US" sz="1600" dirty="0"/>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9091295" y="6985"/>
            <a:ext cx="2895600" cy="6823710"/>
          </a:xfrm>
          <a:prstGeom prst="parallelogram">
            <a:avLst/>
          </a:prstGeom>
          <a:gradFill flip="none" rotWithShape="1">
            <a:gsLst>
              <a:gs pos="0">
                <a:srgbClr val="D7B1D4"/>
              </a:gs>
              <a:gs pos="34000">
                <a:srgbClr val="BC7DB7"/>
              </a:gs>
              <a:gs pos="100000">
                <a:srgbClr val="30225F"/>
              </a:gs>
            </a:gsLst>
            <a:lin ang="13500000" scaled="1"/>
          </a:gradFill>
          <a:ln/>
        </p:spPr>
        <p:txBody>
          <a:bodyPr/>
          <a:lstStyle/>
          <a:p>
            <a:endParaRPr lang="es-ES"/>
          </a:p>
        </p:txBody>
      </p:sp>
      <p:sp>
        <p:nvSpPr>
          <p:cNvPr id="5" name="Text 3"/>
          <p:cNvSpPr/>
          <p:nvPr/>
        </p:nvSpPr>
        <p:spPr>
          <a:xfrm>
            <a:off x="9091295" y="6985"/>
            <a:ext cx="2895600" cy="6823710"/>
          </a:xfrm>
          <a:prstGeom prst="rect">
            <a:avLst/>
          </a:prstGeom>
          <a:noFill/>
          <a:ln/>
        </p:spPr>
        <p:txBody>
          <a:bodyPr wrap="square" lIns="45720" tIns="91440" rIns="91440" bIns="45720" rtlCol="0" anchor="ctr"/>
          <a:lstStyle/>
          <a:p>
            <a:pPr>
              <a:lnSpc>
                <a:spcPct val="100000"/>
              </a:lnSpc>
            </a:pPr>
            <a:endParaRPr lang="en-US" sz="1600" dirty="0"/>
          </a:p>
        </p:txBody>
      </p:sp>
      <p:sp>
        <p:nvSpPr>
          <p:cNvPr id="6" name="Text 4"/>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No hay modelo único</a:t>
            </a:r>
            <a:endParaRPr lang="en-US" sz="1600" dirty="0"/>
          </a:p>
        </p:txBody>
      </p:sp>
      <p:sp>
        <p:nvSpPr>
          <p:cNvPr id="7" name="Shape 5"/>
          <p:cNvSpPr/>
          <p:nvPr/>
        </p:nvSpPr>
        <p:spPr>
          <a:xfrm>
            <a:off x="795655" y="2548890"/>
            <a:ext cx="3215640" cy="3182620"/>
          </a:xfrm>
          <a:prstGeom prst="rect">
            <a:avLst/>
          </a:prstGeom>
          <a:solidFill>
            <a:srgbClr val="FFFFFF"/>
          </a:solidFill>
          <a:ln w="19050">
            <a:solidFill>
              <a:srgbClr val="402E7F"/>
            </a:solidFill>
            <a:prstDash val="solid"/>
          </a:ln>
        </p:spPr>
        <p:txBody>
          <a:bodyPr/>
          <a:lstStyle/>
          <a:p>
            <a:endParaRPr lang="es-ES"/>
          </a:p>
        </p:txBody>
      </p:sp>
      <p:sp>
        <p:nvSpPr>
          <p:cNvPr id="8" name="Text 6"/>
          <p:cNvSpPr/>
          <p:nvPr/>
        </p:nvSpPr>
        <p:spPr>
          <a:xfrm>
            <a:off x="795655" y="2548890"/>
            <a:ext cx="3215640" cy="3182620"/>
          </a:xfrm>
          <a:prstGeom prst="rect">
            <a:avLst/>
          </a:prstGeom>
          <a:noFill/>
          <a:ln/>
        </p:spPr>
        <p:txBody>
          <a:bodyPr wrap="square" lIns="45720" tIns="91440" rIns="91440" bIns="45720" rtlCol="0" anchor="ctr"/>
          <a:lstStyle/>
          <a:p>
            <a:pPr>
              <a:lnSpc>
                <a:spcPct val="100000"/>
              </a:lnSpc>
            </a:pPr>
            <a:endParaRPr lang="en-US" sz="1600" dirty="0"/>
          </a:p>
        </p:txBody>
      </p:sp>
      <p:sp>
        <p:nvSpPr>
          <p:cNvPr id="9" name="Shape 7"/>
          <p:cNvSpPr/>
          <p:nvPr/>
        </p:nvSpPr>
        <p:spPr>
          <a:xfrm>
            <a:off x="795655" y="1725295"/>
            <a:ext cx="3215640" cy="762000"/>
          </a:xfrm>
          <a:prstGeom prst="rect">
            <a:avLst/>
          </a:prstGeom>
          <a:solidFill>
            <a:srgbClr val="402E7F"/>
          </a:solidFill>
          <a:ln/>
        </p:spPr>
        <p:txBody>
          <a:bodyPr/>
          <a:lstStyle/>
          <a:p>
            <a:endParaRPr lang="es-ES"/>
          </a:p>
        </p:txBody>
      </p:sp>
      <p:sp>
        <p:nvSpPr>
          <p:cNvPr id="10" name="Text 8"/>
          <p:cNvSpPr/>
          <p:nvPr/>
        </p:nvSpPr>
        <p:spPr>
          <a:xfrm>
            <a:off x="795655" y="1725295"/>
            <a:ext cx="3215640" cy="76200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Shape 9"/>
          <p:cNvSpPr/>
          <p:nvPr/>
        </p:nvSpPr>
        <p:spPr>
          <a:xfrm>
            <a:off x="4313555" y="2548890"/>
            <a:ext cx="3215640" cy="3182620"/>
          </a:xfrm>
          <a:prstGeom prst="rect">
            <a:avLst/>
          </a:prstGeom>
          <a:solidFill>
            <a:srgbClr val="FFFFFF"/>
          </a:solidFill>
          <a:ln w="19050">
            <a:solidFill>
              <a:srgbClr val="402E7F"/>
            </a:solidFill>
            <a:prstDash val="solid"/>
          </a:ln>
        </p:spPr>
        <p:txBody>
          <a:bodyPr/>
          <a:lstStyle/>
          <a:p>
            <a:endParaRPr lang="es-ES"/>
          </a:p>
        </p:txBody>
      </p:sp>
      <p:sp>
        <p:nvSpPr>
          <p:cNvPr id="12" name="Text 10"/>
          <p:cNvSpPr/>
          <p:nvPr/>
        </p:nvSpPr>
        <p:spPr>
          <a:xfrm>
            <a:off x="4313555" y="2548890"/>
            <a:ext cx="3215640" cy="3182620"/>
          </a:xfrm>
          <a:prstGeom prst="rect">
            <a:avLst/>
          </a:prstGeom>
          <a:noFill/>
          <a:ln/>
        </p:spPr>
        <p:txBody>
          <a:bodyPr wrap="square" lIns="45720" tIns="91440" rIns="91440" bIns="45720" rtlCol="0" anchor="ctr"/>
          <a:lstStyle/>
          <a:p>
            <a:pPr>
              <a:lnSpc>
                <a:spcPct val="100000"/>
              </a:lnSpc>
            </a:pPr>
            <a:endParaRPr lang="en-US" sz="1600" dirty="0"/>
          </a:p>
        </p:txBody>
      </p:sp>
      <p:sp>
        <p:nvSpPr>
          <p:cNvPr id="13" name="Shape 11"/>
          <p:cNvSpPr/>
          <p:nvPr/>
        </p:nvSpPr>
        <p:spPr>
          <a:xfrm>
            <a:off x="4313555" y="1725295"/>
            <a:ext cx="3215640" cy="762000"/>
          </a:xfrm>
          <a:prstGeom prst="rect">
            <a:avLst/>
          </a:prstGeom>
          <a:solidFill>
            <a:srgbClr val="402E7F"/>
          </a:solidFill>
          <a:ln/>
        </p:spPr>
        <p:txBody>
          <a:bodyPr/>
          <a:lstStyle/>
          <a:p>
            <a:endParaRPr lang="es-ES"/>
          </a:p>
        </p:txBody>
      </p:sp>
      <p:sp>
        <p:nvSpPr>
          <p:cNvPr id="14" name="Text 12"/>
          <p:cNvSpPr/>
          <p:nvPr/>
        </p:nvSpPr>
        <p:spPr>
          <a:xfrm>
            <a:off x="4313555" y="1725295"/>
            <a:ext cx="3215640" cy="762000"/>
          </a:xfrm>
          <a:prstGeom prst="rect">
            <a:avLst/>
          </a:prstGeom>
          <a:noFill/>
          <a:ln/>
        </p:spPr>
        <p:txBody>
          <a:bodyPr wrap="square" lIns="45720" tIns="91440" rIns="91440" bIns="45720" rtlCol="0" anchor="ctr"/>
          <a:lstStyle/>
          <a:p>
            <a:pPr>
              <a:lnSpc>
                <a:spcPct val="100000"/>
              </a:lnSpc>
            </a:pPr>
            <a:endParaRPr lang="en-US" sz="1600" dirty="0"/>
          </a:p>
        </p:txBody>
      </p:sp>
      <p:sp>
        <p:nvSpPr>
          <p:cNvPr id="15" name="Shape 13"/>
          <p:cNvSpPr/>
          <p:nvPr/>
        </p:nvSpPr>
        <p:spPr>
          <a:xfrm>
            <a:off x="7831455" y="2548890"/>
            <a:ext cx="3215640" cy="3182620"/>
          </a:xfrm>
          <a:prstGeom prst="rect">
            <a:avLst/>
          </a:prstGeom>
          <a:solidFill>
            <a:srgbClr val="FFFFFF"/>
          </a:solidFill>
          <a:ln w="19050">
            <a:solidFill>
              <a:srgbClr val="402E7F"/>
            </a:solidFill>
            <a:prstDash val="solid"/>
          </a:ln>
        </p:spPr>
        <p:txBody>
          <a:bodyPr/>
          <a:lstStyle/>
          <a:p>
            <a:endParaRPr lang="es-ES"/>
          </a:p>
        </p:txBody>
      </p:sp>
      <p:sp>
        <p:nvSpPr>
          <p:cNvPr id="16" name="Text 14"/>
          <p:cNvSpPr/>
          <p:nvPr/>
        </p:nvSpPr>
        <p:spPr>
          <a:xfrm>
            <a:off x="7831455" y="2548890"/>
            <a:ext cx="3215640" cy="318262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Shape 15"/>
          <p:cNvSpPr/>
          <p:nvPr/>
        </p:nvSpPr>
        <p:spPr>
          <a:xfrm>
            <a:off x="7831455" y="1725295"/>
            <a:ext cx="3215640" cy="762000"/>
          </a:xfrm>
          <a:prstGeom prst="rect">
            <a:avLst/>
          </a:prstGeom>
          <a:solidFill>
            <a:srgbClr val="402E7F"/>
          </a:solidFill>
          <a:ln/>
        </p:spPr>
        <p:txBody>
          <a:bodyPr/>
          <a:lstStyle/>
          <a:p>
            <a:endParaRPr lang="es-ES"/>
          </a:p>
        </p:txBody>
      </p:sp>
      <p:sp>
        <p:nvSpPr>
          <p:cNvPr id="18" name="Text 16"/>
          <p:cNvSpPr/>
          <p:nvPr/>
        </p:nvSpPr>
        <p:spPr>
          <a:xfrm>
            <a:off x="7831455" y="1725295"/>
            <a:ext cx="3215640" cy="762000"/>
          </a:xfrm>
          <a:prstGeom prst="rect">
            <a:avLst/>
          </a:prstGeom>
          <a:noFill/>
          <a:ln/>
        </p:spPr>
        <p:txBody>
          <a:bodyPr wrap="square" lIns="45720" tIns="91440" rIns="91440" bIns="45720" rtlCol="0" anchor="ctr"/>
          <a:lstStyle/>
          <a:p>
            <a:pPr>
              <a:lnSpc>
                <a:spcPct val="100000"/>
              </a:lnSpc>
            </a:pPr>
            <a:endParaRPr lang="en-US" sz="1600" dirty="0"/>
          </a:p>
        </p:txBody>
      </p:sp>
      <p:sp>
        <p:nvSpPr>
          <p:cNvPr id="19" name="Text 17"/>
          <p:cNvSpPr/>
          <p:nvPr/>
        </p:nvSpPr>
        <p:spPr>
          <a:xfrm>
            <a:off x="932815" y="1778000"/>
            <a:ext cx="2941320" cy="706755"/>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Diversidad de modelos</a:t>
            </a:r>
            <a:endParaRPr lang="en-US" sz="1600" dirty="0"/>
          </a:p>
        </p:txBody>
      </p:sp>
      <p:sp>
        <p:nvSpPr>
          <p:cNvPr id="20" name="Text 18"/>
          <p:cNvSpPr/>
          <p:nvPr/>
        </p:nvSpPr>
        <p:spPr>
          <a:xfrm>
            <a:off x="922020" y="2700020"/>
            <a:ext cx="2941955" cy="2971165"/>
          </a:xfrm>
          <a:prstGeom prst="rect">
            <a:avLst/>
          </a:prstGeom>
          <a:noFill/>
          <a:ln/>
        </p:spPr>
        <p:txBody>
          <a:bodyPr wrap="square" lIns="91440" tIns="45720" rIns="91440" bIns="45720" rtlCol="0" anchor="t">
            <a:spAutoFit/>
          </a:bodyPr>
          <a:lstStyle/>
          <a:p>
            <a:pPr>
              <a:lnSpc>
                <a:spcPct val="130000"/>
              </a:lnSpc>
            </a:pPr>
            <a:r>
              <a:rPr lang="en-US" sz="1600" dirty="0">
                <a:solidFill>
                  <a:srgbClr val="1E1C0D"/>
                </a:solidFill>
                <a:latin typeface="MiSans" pitchFamily="34" charset="0"/>
                <a:ea typeface="MiSans" pitchFamily="34" charset="-122"/>
                <a:cs typeface="MiSans" pitchFamily="34" charset="-120"/>
              </a:rPr>
              <a:t>Países como los nórdicos, Alemania y los anglosajones logran combinaciones distintas de equidad y empleo, lo que demuestra que no hay un modelo único de éxito.</a:t>
            </a:r>
            <a:endParaRPr lang="en-US" sz="1600" dirty="0"/>
          </a:p>
        </p:txBody>
      </p:sp>
      <p:sp>
        <p:nvSpPr>
          <p:cNvPr id="21" name="Text 19"/>
          <p:cNvSpPr/>
          <p:nvPr/>
        </p:nvSpPr>
        <p:spPr>
          <a:xfrm>
            <a:off x="4450715" y="1778000"/>
            <a:ext cx="2941320" cy="706755"/>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Importancia de la coherencia</a:t>
            </a:r>
            <a:endParaRPr lang="en-US" sz="1600" dirty="0"/>
          </a:p>
        </p:txBody>
      </p:sp>
      <p:sp>
        <p:nvSpPr>
          <p:cNvPr id="22" name="Text 20"/>
          <p:cNvSpPr/>
          <p:nvPr/>
        </p:nvSpPr>
        <p:spPr>
          <a:xfrm>
            <a:off x="4439920" y="2700020"/>
            <a:ext cx="2941955" cy="2971165"/>
          </a:xfrm>
          <a:prstGeom prst="rect">
            <a:avLst/>
          </a:prstGeom>
          <a:noFill/>
          <a:ln/>
        </p:spPr>
        <p:txBody>
          <a:bodyPr wrap="square" lIns="91440" tIns="45720" rIns="91440" bIns="45720" rtlCol="0" anchor="t">
            <a:spAutoFit/>
          </a:bodyPr>
          <a:lstStyle/>
          <a:p>
            <a:pPr>
              <a:lnSpc>
                <a:spcPct val="130000"/>
              </a:lnSpc>
            </a:pPr>
            <a:r>
              <a:rPr lang="en-US" sz="1600" dirty="0">
                <a:solidFill>
                  <a:srgbClr val="1E1C0D"/>
                </a:solidFill>
                <a:latin typeface="MiSans" pitchFamily="34" charset="0"/>
                <a:ea typeface="MiSans" pitchFamily="34" charset="-122"/>
                <a:cs typeface="MiSans" pitchFamily="34" charset="-120"/>
              </a:rPr>
              <a:t>Las políticas salariales deben ser coherentes con otras instituciones de protección, fiscalidad y formación para lograr resultados positivos.</a:t>
            </a:r>
            <a:endParaRPr lang="en-US" sz="1600" dirty="0"/>
          </a:p>
        </p:txBody>
      </p:sp>
      <p:sp>
        <p:nvSpPr>
          <p:cNvPr id="23" name="Text 21"/>
          <p:cNvSpPr/>
          <p:nvPr/>
        </p:nvSpPr>
        <p:spPr>
          <a:xfrm>
            <a:off x="7968615" y="1778000"/>
            <a:ext cx="2941320" cy="706755"/>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Adaptación al contexto</a:t>
            </a:r>
            <a:endParaRPr lang="en-US" sz="1600" dirty="0"/>
          </a:p>
        </p:txBody>
      </p:sp>
      <p:sp>
        <p:nvSpPr>
          <p:cNvPr id="24" name="Text 22"/>
          <p:cNvSpPr/>
          <p:nvPr/>
        </p:nvSpPr>
        <p:spPr>
          <a:xfrm>
            <a:off x="7957820" y="2700020"/>
            <a:ext cx="2941955" cy="2971165"/>
          </a:xfrm>
          <a:prstGeom prst="rect">
            <a:avLst/>
          </a:prstGeom>
          <a:noFill/>
          <a:ln/>
        </p:spPr>
        <p:txBody>
          <a:bodyPr wrap="square" lIns="91440" tIns="45720" rIns="91440" bIns="45720" rtlCol="0" anchor="t">
            <a:spAutoFit/>
          </a:bodyPr>
          <a:lstStyle/>
          <a:p>
            <a:pPr>
              <a:lnSpc>
                <a:spcPct val="130000"/>
              </a:lnSpc>
            </a:pPr>
            <a:r>
              <a:rPr lang="en-US" sz="1600" dirty="0">
                <a:solidFill>
                  <a:srgbClr val="1E1C0D"/>
                </a:solidFill>
                <a:latin typeface="MiSans" pitchFamily="34" charset="0"/>
                <a:ea typeface="MiSans" pitchFamily="34" charset="-122"/>
                <a:cs typeface="MiSans" pitchFamily="34" charset="-120"/>
              </a:rPr>
              <a:t>España debe adaptar estas lecciones internacionales a su contexto específico, evitando copiar modelos mecánicamente.</a:t>
            </a:r>
            <a:endParaRPr lang="en-US" sz="1600" dirty="0"/>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4" name="Text 2"/>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Calibrar, no maximizar</a:t>
            </a:r>
            <a:endParaRPr lang="en-US" sz="1600" dirty="0"/>
          </a:p>
        </p:txBody>
      </p:sp>
      <p:pic>
        <p:nvPicPr>
          <p:cNvPr id="5" name="Image 0" descr="https://kimi-img.moonshot.cn/pub/slides/slides_tmpl/image/25-09-08-15:08:35-d2v81stnfo2stf9dkdig.png"/>
          <p:cNvPicPr>
            <a:picLocks noChangeAspect="1"/>
          </p:cNvPicPr>
          <p:nvPr/>
        </p:nvPicPr>
        <p:blipFill>
          <a:blip r:embed="rId3"/>
          <a:srcRect l="39" r="39"/>
          <a:stretch/>
        </p:blipFill>
        <p:spPr>
          <a:xfrm flipH="1">
            <a:off x="8098790" y="0"/>
            <a:ext cx="4093210" cy="6868160"/>
          </a:xfrm>
          <a:prstGeom prst="rect">
            <a:avLst/>
          </a:prstGeom>
        </p:spPr>
      </p:pic>
      <p:sp>
        <p:nvSpPr>
          <p:cNvPr id="6" name="Shape 3"/>
          <p:cNvSpPr/>
          <p:nvPr/>
        </p:nvSpPr>
        <p:spPr>
          <a:xfrm rot="420000">
            <a:off x="1048385" y="1708150"/>
            <a:ext cx="2916555" cy="4195445"/>
          </a:xfrm>
          <a:prstGeom prst="roundRect">
            <a:avLst>
              <a:gd name="adj" fmla="val 8509"/>
            </a:avLst>
          </a:prstGeom>
          <a:solidFill>
            <a:srgbClr val="BC7DB7"/>
          </a:solidFill>
          <a:ln/>
        </p:spPr>
        <p:txBody>
          <a:bodyPr/>
          <a:lstStyle/>
          <a:p>
            <a:endParaRPr lang="es-ES"/>
          </a:p>
        </p:txBody>
      </p:sp>
      <p:sp>
        <p:nvSpPr>
          <p:cNvPr id="7" name="Text 4"/>
          <p:cNvSpPr/>
          <p:nvPr/>
        </p:nvSpPr>
        <p:spPr>
          <a:xfrm rot="420000">
            <a:off x="1048385" y="1708150"/>
            <a:ext cx="2916555" cy="419544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5"/>
          <p:cNvSpPr/>
          <p:nvPr/>
        </p:nvSpPr>
        <p:spPr>
          <a:xfrm>
            <a:off x="1040130" y="1708150"/>
            <a:ext cx="2916555" cy="4195445"/>
          </a:xfrm>
          <a:prstGeom prst="roundRect">
            <a:avLst>
              <a:gd name="adj" fmla="val 8509"/>
            </a:avLst>
          </a:prstGeom>
          <a:solidFill>
            <a:srgbClr val="FFFFFF"/>
          </a:solidFill>
          <a:ln w="19050">
            <a:solidFill>
              <a:srgbClr val="D5CDED"/>
            </a:solidFill>
            <a:prstDash val="solid"/>
          </a:ln>
        </p:spPr>
        <p:txBody>
          <a:bodyPr/>
          <a:lstStyle/>
          <a:p>
            <a:endParaRPr lang="es-ES"/>
          </a:p>
        </p:txBody>
      </p:sp>
      <p:sp>
        <p:nvSpPr>
          <p:cNvPr id="9" name="Text 6"/>
          <p:cNvSpPr/>
          <p:nvPr/>
        </p:nvSpPr>
        <p:spPr>
          <a:xfrm>
            <a:off x="1040130" y="1708150"/>
            <a:ext cx="2916555" cy="4195445"/>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7"/>
          <p:cNvSpPr/>
          <p:nvPr/>
        </p:nvSpPr>
        <p:spPr>
          <a:xfrm>
            <a:off x="1243330" y="1798320"/>
            <a:ext cx="296545" cy="296544"/>
          </a:xfrm>
          <a:custGeom>
            <a:avLst/>
            <a:gdLst/>
            <a:ahLst/>
            <a:cxnLst/>
            <a:rect l="l" t="t" r="r" b="b"/>
            <a:pathLst>
              <a:path w="296545" h="296544">
                <a:moveTo>
                  <a:pt x="148273" y="0"/>
                </a:moveTo>
                <a:cubicBezTo>
                  <a:pt x="230161" y="0"/>
                  <a:pt x="296545" y="66384"/>
                  <a:pt x="296545" y="148272"/>
                </a:cubicBezTo>
                <a:cubicBezTo>
                  <a:pt x="295924" y="152707"/>
                  <a:pt x="297165" y="156770"/>
                  <a:pt x="294681" y="161577"/>
                </a:cubicBezTo>
                <a:cubicBezTo>
                  <a:pt x="292197" y="166385"/>
                  <a:pt x="290268" y="168058"/>
                  <a:pt x="287874" y="170305"/>
                </a:cubicBezTo>
                <a:lnTo>
                  <a:pt x="169680" y="288499"/>
                </a:lnTo>
                <a:cubicBezTo>
                  <a:pt x="166594" y="290696"/>
                  <a:pt x="163880" y="292894"/>
                  <a:pt x="160422" y="295091"/>
                </a:cubicBezTo>
                <a:cubicBezTo>
                  <a:pt x="156963" y="297289"/>
                  <a:pt x="152322" y="296060"/>
                  <a:pt x="148273" y="296544"/>
                </a:cubicBezTo>
                <a:cubicBezTo>
                  <a:pt x="66384" y="296544"/>
                  <a:pt x="0" y="230160"/>
                  <a:pt x="0" y="148272"/>
                </a:cubicBezTo>
                <a:cubicBezTo>
                  <a:pt x="0" y="66384"/>
                  <a:pt x="66384" y="0"/>
                  <a:pt x="148273" y="0"/>
                </a:cubicBezTo>
                <a:close/>
              </a:path>
            </a:pathLst>
          </a:custGeom>
          <a:gradFill flip="none" rotWithShape="1">
            <a:gsLst>
              <a:gs pos="0">
                <a:srgbClr val="9B5095"/>
              </a:gs>
              <a:gs pos="5000">
                <a:srgbClr val="9B5095"/>
              </a:gs>
              <a:gs pos="64000">
                <a:srgbClr val="673563"/>
              </a:gs>
              <a:gs pos="100000">
                <a:srgbClr val="673563"/>
              </a:gs>
            </a:gsLst>
            <a:lin ang="2700000" scaled="1"/>
          </a:gradFill>
          <a:ln/>
        </p:spPr>
        <p:txBody>
          <a:bodyPr/>
          <a:lstStyle/>
          <a:p>
            <a:endParaRPr lang="es-ES"/>
          </a:p>
        </p:txBody>
      </p:sp>
      <p:sp>
        <p:nvSpPr>
          <p:cNvPr id="11" name="Text 8"/>
          <p:cNvSpPr/>
          <p:nvPr/>
        </p:nvSpPr>
        <p:spPr>
          <a:xfrm>
            <a:off x="1243330" y="1798320"/>
            <a:ext cx="296545" cy="296544"/>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9"/>
          <p:cNvSpPr/>
          <p:nvPr/>
        </p:nvSpPr>
        <p:spPr>
          <a:xfrm rot="21600000">
            <a:off x="1403354" y="1961818"/>
            <a:ext cx="132025" cy="132024"/>
          </a:xfrm>
          <a:custGeom>
            <a:avLst/>
            <a:gdLst/>
            <a:ahLst/>
            <a:cxnLst/>
            <a:rect l="l" t="t" r="r" b="b"/>
            <a:pathLst>
              <a:path w="132025" h="132024">
                <a:moveTo>
                  <a:pt x="132025" y="0"/>
                </a:moveTo>
                <a:cubicBezTo>
                  <a:pt x="128818" y="4804"/>
                  <a:pt x="127614" y="6477"/>
                  <a:pt x="125223" y="8722"/>
                </a:cubicBezTo>
                <a:lnTo>
                  <a:pt x="91179" y="42766"/>
                </a:lnTo>
                <a:lnTo>
                  <a:pt x="91179" y="42766"/>
                </a:lnTo>
                <a:lnTo>
                  <a:pt x="8722" y="125222"/>
                </a:lnTo>
                <a:cubicBezTo>
                  <a:pt x="6477" y="127614"/>
                  <a:pt x="4804" y="128817"/>
                  <a:pt x="0" y="132024"/>
                </a:cubicBezTo>
                <a:cubicBezTo>
                  <a:pt x="7440" y="122744"/>
                  <a:pt x="13881" y="115174"/>
                  <a:pt x="14746" y="100542"/>
                </a:cubicBezTo>
                <a:cubicBezTo>
                  <a:pt x="15179" y="93225"/>
                  <a:pt x="13987" y="81844"/>
                  <a:pt x="15794" y="69311"/>
                </a:cubicBezTo>
                <a:lnTo>
                  <a:pt x="16673" y="65086"/>
                </a:lnTo>
                <a:lnTo>
                  <a:pt x="16587" y="65000"/>
                </a:lnTo>
                <a:lnTo>
                  <a:pt x="17218" y="62462"/>
                </a:lnTo>
                <a:lnTo>
                  <a:pt x="17784" y="59742"/>
                </a:lnTo>
                <a:lnTo>
                  <a:pt x="18135" y="58780"/>
                </a:lnTo>
                <a:lnTo>
                  <a:pt x="18923" y="55614"/>
                </a:lnTo>
                <a:cubicBezTo>
                  <a:pt x="21401" y="48177"/>
                  <a:pt x="25215" y="41053"/>
                  <a:pt x="31175" y="34837"/>
                </a:cubicBezTo>
                <a:lnTo>
                  <a:pt x="33055" y="33054"/>
                </a:lnTo>
                <a:lnTo>
                  <a:pt x="34838" y="31175"/>
                </a:lnTo>
                <a:cubicBezTo>
                  <a:pt x="41053" y="25215"/>
                  <a:pt x="48177" y="21401"/>
                  <a:pt x="55615" y="18922"/>
                </a:cubicBezTo>
                <a:lnTo>
                  <a:pt x="58780" y="18135"/>
                </a:lnTo>
                <a:lnTo>
                  <a:pt x="59742" y="17784"/>
                </a:lnTo>
                <a:lnTo>
                  <a:pt x="62463" y="17218"/>
                </a:lnTo>
                <a:lnTo>
                  <a:pt x="65000" y="16587"/>
                </a:lnTo>
                <a:lnTo>
                  <a:pt x="65086" y="16673"/>
                </a:lnTo>
                <a:lnTo>
                  <a:pt x="69312" y="15794"/>
                </a:lnTo>
                <a:cubicBezTo>
                  <a:pt x="81844" y="13987"/>
                  <a:pt x="93226" y="15179"/>
                  <a:pt x="100542" y="14746"/>
                </a:cubicBezTo>
                <a:cubicBezTo>
                  <a:pt x="115175" y="13880"/>
                  <a:pt x="122744" y="7440"/>
                  <a:pt x="132025" y="0"/>
                </a:cubicBezTo>
                <a:close/>
              </a:path>
            </a:pathLst>
          </a:custGeom>
          <a:gradFill flip="none" rotWithShape="1">
            <a:gsLst>
              <a:gs pos="0">
                <a:srgbClr val="D9D9D9"/>
              </a:gs>
              <a:gs pos="18000">
                <a:srgbClr val="D9D9D9"/>
              </a:gs>
              <a:gs pos="35000">
                <a:srgbClr val="FFFFFF"/>
              </a:gs>
              <a:gs pos="50000">
                <a:srgbClr val="D9D9D9"/>
              </a:gs>
              <a:gs pos="100000">
                <a:srgbClr val="D9D9D9"/>
              </a:gs>
            </a:gsLst>
            <a:lin ang="2700000" scaled="1"/>
          </a:gradFill>
          <a:ln/>
          <a:effectLst>
            <a:outerShdw blurRad="381000" dist="50800" dir="2700000" algn="bl" rotWithShape="0">
              <a:srgbClr val="000000">
                <a:alpha val="40000"/>
              </a:srgbClr>
            </a:outerShdw>
          </a:effectLst>
        </p:spPr>
        <p:txBody>
          <a:bodyPr/>
          <a:lstStyle/>
          <a:p>
            <a:endParaRPr lang="es-ES"/>
          </a:p>
        </p:txBody>
      </p:sp>
      <p:sp>
        <p:nvSpPr>
          <p:cNvPr id="13" name="Text 10"/>
          <p:cNvSpPr/>
          <p:nvPr/>
        </p:nvSpPr>
        <p:spPr>
          <a:xfrm rot="21600000">
            <a:off x="1403354" y="1961818"/>
            <a:ext cx="132025" cy="132024"/>
          </a:xfrm>
          <a:prstGeom prst="rect">
            <a:avLst/>
          </a:prstGeom>
          <a:noFill/>
          <a:ln/>
        </p:spPr>
        <p:txBody>
          <a:bodyPr wrap="square" lIns="45720" tIns="91440" rIns="91440" bIns="45720" rtlCol="0" anchor="ctr"/>
          <a:lstStyle/>
          <a:p>
            <a:pPr>
              <a:lnSpc>
                <a:spcPct val="100000"/>
              </a:lnSpc>
            </a:pPr>
            <a:endParaRPr lang="en-US" sz="1600" dirty="0"/>
          </a:p>
        </p:txBody>
      </p:sp>
      <p:sp>
        <p:nvSpPr>
          <p:cNvPr id="14" name="Text 11"/>
          <p:cNvSpPr/>
          <p:nvPr/>
        </p:nvSpPr>
        <p:spPr>
          <a:xfrm>
            <a:off x="1348991" y="1841034"/>
            <a:ext cx="133047" cy="307171"/>
          </a:xfrm>
          <a:prstGeom prst="rect">
            <a:avLst/>
          </a:prstGeom>
          <a:noFill/>
          <a:ln/>
        </p:spPr>
        <p:txBody>
          <a:bodyPr wrap="square" lIns="0" tIns="0" rIns="0" bIns="0" rtlCol="0" anchor="t">
            <a:spAutoFit/>
          </a:bodyPr>
          <a:lstStyle/>
          <a:p>
            <a:pPr>
              <a:lnSpc>
                <a:spcPct val="100000"/>
              </a:lnSpc>
            </a:pPr>
            <a:r>
              <a:rPr lang="en-US" sz="1800" dirty="0">
                <a:solidFill>
                  <a:srgbClr val="1E1C0D"/>
                </a:solidFill>
                <a:latin typeface="MiSans" pitchFamily="34" charset="0"/>
                <a:ea typeface="MiSans" pitchFamily="34" charset="-122"/>
                <a:cs typeface="MiSans" pitchFamily="34" charset="-120"/>
              </a:rPr>
              <a:t> </a:t>
            </a:r>
            <a:endParaRPr lang="en-US" sz="1600" dirty="0"/>
          </a:p>
        </p:txBody>
      </p:sp>
      <p:sp>
        <p:nvSpPr>
          <p:cNvPr id="15" name="Shape 12"/>
          <p:cNvSpPr/>
          <p:nvPr/>
        </p:nvSpPr>
        <p:spPr>
          <a:xfrm rot="420000">
            <a:off x="4571365" y="1708150"/>
            <a:ext cx="2916555" cy="4195445"/>
          </a:xfrm>
          <a:prstGeom prst="roundRect">
            <a:avLst>
              <a:gd name="adj" fmla="val 8509"/>
            </a:avLst>
          </a:prstGeom>
          <a:solidFill>
            <a:srgbClr val="BC7DB7"/>
          </a:solidFill>
          <a:ln/>
        </p:spPr>
        <p:txBody>
          <a:bodyPr/>
          <a:lstStyle/>
          <a:p>
            <a:endParaRPr lang="es-ES"/>
          </a:p>
        </p:txBody>
      </p:sp>
      <p:sp>
        <p:nvSpPr>
          <p:cNvPr id="16" name="Text 13"/>
          <p:cNvSpPr/>
          <p:nvPr/>
        </p:nvSpPr>
        <p:spPr>
          <a:xfrm rot="420000">
            <a:off x="4571365" y="1708150"/>
            <a:ext cx="2916555" cy="4195445"/>
          </a:xfrm>
          <a:prstGeom prst="rect">
            <a:avLst/>
          </a:prstGeom>
          <a:noFill/>
          <a:ln/>
        </p:spPr>
        <p:txBody>
          <a:bodyPr wrap="square" lIns="45720" tIns="91440" rIns="91440" bIns="45720" rtlCol="0" anchor="ctr"/>
          <a:lstStyle/>
          <a:p>
            <a:pPr>
              <a:lnSpc>
                <a:spcPct val="100000"/>
              </a:lnSpc>
            </a:pPr>
            <a:endParaRPr lang="en-US" sz="1600" dirty="0"/>
          </a:p>
        </p:txBody>
      </p:sp>
      <p:sp>
        <p:nvSpPr>
          <p:cNvPr id="17" name="Shape 14"/>
          <p:cNvSpPr/>
          <p:nvPr/>
        </p:nvSpPr>
        <p:spPr>
          <a:xfrm>
            <a:off x="4563110" y="1708150"/>
            <a:ext cx="2916555" cy="4195445"/>
          </a:xfrm>
          <a:prstGeom prst="roundRect">
            <a:avLst>
              <a:gd name="adj" fmla="val 8509"/>
            </a:avLst>
          </a:prstGeom>
          <a:solidFill>
            <a:srgbClr val="FFFFFF"/>
          </a:solidFill>
          <a:ln w="19050">
            <a:solidFill>
              <a:srgbClr val="D5CDED"/>
            </a:solidFill>
            <a:prstDash val="solid"/>
          </a:ln>
        </p:spPr>
        <p:txBody>
          <a:bodyPr/>
          <a:lstStyle/>
          <a:p>
            <a:endParaRPr lang="es-ES"/>
          </a:p>
        </p:txBody>
      </p:sp>
      <p:sp>
        <p:nvSpPr>
          <p:cNvPr id="18" name="Text 15"/>
          <p:cNvSpPr/>
          <p:nvPr/>
        </p:nvSpPr>
        <p:spPr>
          <a:xfrm>
            <a:off x="4563110" y="1708150"/>
            <a:ext cx="2916555" cy="4195445"/>
          </a:xfrm>
          <a:prstGeom prst="rect">
            <a:avLst/>
          </a:prstGeom>
          <a:noFill/>
          <a:ln/>
        </p:spPr>
        <p:txBody>
          <a:bodyPr wrap="square" lIns="45720" tIns="91440" rIns="91440" bIns="45720" rtlCol="0" anchor="ctr"/>
          <a:lstStyle/>
          <a:p>
            <a:pPr>
              <a:lnSpc>
                <a:spcPct val="100000"/>
              </a:lnSpc>
            </a:pPr>
            <a:endParaRPr lang="en-US" sz="1600" dirty="0"/>
          </a:p>
        </p:txBody>
      </p:sp>
      <p:sp>
        <p:nvSpPr>
          <p:cNvPr id="19" name="Shape 16"/>
          <p:cNvSpPr/>
          <p:nvPr/>
        </p:nvSpPr>
        <p:spPr>
          <a:xfrm>
            <a:off x="4766310" y="1798320"/>
            <a:ext cx="296545" cy="296544"/>
          </a:xfrm>
          <a:custGeom>
            <a:avLst/>
            <a:gdLst/>
            <a:ahLst/>
            <a:cxnLst/>
            <a:rect l="l" t="t" r="r" b="b"/>
            <a:pathLst>
              <a:path w="296545" h="296544">
                <a:moveTo>
                  <a:pt x="148273" y="0"/>
                </a:moveTo>
                <a:cubicBezTo>
                  <a:pt x="230161" y="0"/>
                  <a:pt x="296545" y="66384"/>
                  <a:pt x="296545" y="148272"/>
                </a:cubicBezTo>
                <a:cubicBezTo>
                  <a:pt x="295924" y="152707"/>
                  <a:pt x="297165" y="156770"/>
                  <a:pt x="294681" y="161577"/>
                </a:cubicBezTo>
                <a:cubicBezTo>
                  <a:pt x="292197" y="166385"/>
                  <a:pt x="290268" y="168058"/>
                  <a:pt x="287874" y="170305"/>
                </a:cubicBezTo>
                <a:lnTo>
                  <a:pt x="169680" y="288499"/>
                </a:lnTo>
                <a:cubicBezTo>
                  <a:pt x="166594" y="290696"/>
                  <a:pt x="163880" y="292894"/>
                  <a:pt x="160422" y="295091"/>
                </a:cubicBezTo>
                <a:cubicBezTo>
                  <a:pt x="156963" y="297289"/>
                  <a:pt x="152322" y="296060"/>
                  <a:pt x="148273" y="296544"/>
                </a:cubicBezTo>
                <a:cubicBezTo>
                  <a:pt x="66384" y="296544"/>
                  <a:pt x="0" y="230160"/>
                  <a:pt x="0" y="148272"/>
                </a:cubicBezTo>
                <a:cubicBezTo>
                  <a:pt x="0" y="66384"/>
                  <a:pt x="66384" y="0"/>
                  <a:pt x="148273" y="0"/>
                </a:cubicBezTo>
                <a:close/>
              </a:path>
            </a:pathLst>
          </a:custGeom>
          <a:gradFill flip="none" rotWithShape="1">
            <a:gsLst>
              <a:gs pos="0">
                <a:srgbClr val="9B5095"/>
              </a:gs>
              <a:gs pos="5000">
                <a:srgbClr val="9B5095"/>
              </a:gs>
              <a:gs pos="64000">
                <a:srgbClr val="673563"/>
              </a:gs>
              <a:gs pos="100000">
                <a:srgbClr val="673563"/>
              </a:gs>
            </a:gsLst>
            <a:lin ang="2700000" scaled="1"/>
          </a:gradFill>
          <a:ln/>
        </p:spPr>
        <p:txBody>
          <a:bodyPr/>
          <a:lstStyle/>
          <a:p>
            <a:endParaRPr lang="es-ES"/>
          </a:p>
        </p:txBody>
      </p:sp>
      <p:sp>
        <p:nvSpPr>
          <p:cNvPr id="20" name="Text 17"/>
          <p:cNvSpPr/>
          <p:nvPr/>
        </p:nvSpPr>
        <p:spPr>
          <a:xfrm>
            <a:off x="4766310" y="1798320"/>
            <a:ext cx="296545" cy="296544"/>
          </a:xfrm>
          <a:prstGeom prst="rect">
            <a:avLst/>
          </a:prstGeom>
          <a:noFill/>
          <a:ln/>
        </p:spPr>
        <p:txBody>
          <a:bodyPr wrap="square" lIns="45720" tIns="91440" rIns="91440" bIns="45720" rtlCol="0" anchor="ctr"/>
          <a:lstStyle/>
          <a:p>
            <a:pPr>
              <a:lnSpc>
                <a:spcPct val="100000"/>
              </a:lnSpc>
            </a:pPr>
            <a:endParaRPr lang="en-US" sz="1600" dirty="0"/>
          </a:p>
        </p:txBody>
      </p:sp>
      <p:sp>
        <p:nvSpPr>
          <p:cNvPr id="21" name="Shape 18"/>
          <p:cNvSpPr/>
          <p:nvPr/>
        </p:nvSpPr>
        <p:spPr>
          <a:xfrm rot="21600000">
            <a:off x="4926334" y="1961818"/>
            <a:ext cx="132025" cy="132024"/>
          </a:xfrm>
          <a:custGeom>
            <a:avLst/>
            <a:gdLst/>
            <a:ahLst/>
            <a:cxnLst/>
            <a:rect l="l" t="t" r="r" b="b"/>
            <a:pathLst>
              <a:path w="132025" h="132024">
                <a:moveTo>
                  <a:pt x="132025" y="0"/>
                </a:moveTo>
                <a:cubicBezTo>
                  <a:pt x="128818" y="4804"/>
                  <a:pt x="127614" y="6477"/>
                  <a:pt x="125223" y="8722"/>
                </a:cubicBezTo>
                <a:lnTo>
                  <a:pt x="91179" y="42766"/>
                </a:lnTo>
                <a:lnTo>
                  <a:pt x="91179" y="42766"/>
                </a:lnTo>
                <a:lnTo>
                  <a:pt x="8722" y="125222"/>
                </a:lnTo>
                <a:cubicBezTo>
                  <a:pt x="6477" y="127614"/>
                  <a:pt x="4804" y="128817"/>
                  <a:pt x="0" y="132024"/>
                </a:cubicBezTo>
                <a:cubicBezTo>
                  <a:pt x="7440" y="122744"/>
                  <a:pt x="13881" y="115174"/>
                  <a:pt x="14746" y="100542"/>
                </a:cubicBezTo>
                <a:cubicBezTo>
                  <a:pt x="15179" y="93225"/>
                  <a:pt x="13987" y="81844"/>
                  <a:pt x="15794" y="69311"/>
                </a:cubicBezTo>
                <a:lnTo>
                  <a:pt x="16673" y="65086"/>
                </a:lnTo>
                <a:lnTo>
                  <a:pt x="16587" y="65000"/>
                </a:lnTo>
                <a:lnTo>
                  <a:pt x="17218" y="62462"/>
                </a:lnTo>
                <a:lnTo>
                  <a:pt x="17784" y="59742"/>
                </a:lnTo>
                <a:lnTo>
                  <a:pt x="18135" y="58780"/>
                </a:lnTo>
                <a:lnTo>
                  <a:pt x="18923" y="55614"/>
                </a:lnTo>
                <a:cubicBezTo>
                  <a:pt x="21401" y="48177"/>
                  <a:pt x="25215" y="41053"/>
                  <a:pt x="31175" y="34837"/>
                </a:cubicBezTo>
                <a:lnTo>
                  <a:pt x="33055" y="33054"/>
                </a:lnTo>
                <a:lnTo>
                  <a:pt x="34838" y="31175"/>
                </a:lnTo>
                <a:cubicBezTo>
                  <a:pt x="41053" y="25215"/>
                  <a:pt x="48177" y="21401"/>
                  <a:pt x="55615" y="18922"/>
                </a:cubicBezTo>
                <a:lnTo>
                  <a:pt x="58780" y="18135"/>
                </a:lnTo>
                <a:lnTo>
                  <a:pt x="59742" y="17784"/>
                </a:lnTo>
                <a:lnTo>
                  <a:pt x="62463" y="17218"/>
                </a:lnTo>
                <a:lnTo>
                  <a:pt x="65000" y="16587"/>
                </a:lnTo>
                <a:lnTo>
                  <a:pt x="65086" y="16673"/>
                </a:lnTo>
                <a:lnTo>
                  <a:pt x="69312" y="15794"/>
                </a:lnTo>
                <a:cubicBezTo>
                  <a:pt x="81844" y="13987"/>
                  <a:pt x="93226" y="15179"/>
                  <a:pt x="100542" y="14746"/>
                </a:cubicBezTo>
                <a:cubicBezTo>
                  <a:pt x="115175" y="13880"/>
                  <a:pt x="122744" y="7440"/>
                  <a:pt x="132025" y="0"/>
                </a:cubicBezTo>
                <a:close/>
              </a:path>
            </a:pathLst>
          </a:custGeom>
          <a:gradFill flip="none" rotWithShape="1">
            <a:gsLst>
              <a:gs pos="0">
                <a:srgbClr val="D9D9D9"/>
              </a:gs>
              <a:gs pos="18000">
                <a:srgbClr val="D9D9D9"/>
              </a:gs>
              <a:gs pos="35000">
                <a:srgbClr val="FFFFFF"/>
              </a:gs>
              <a:gs pos="50000">
                <a:srgbClr val="D9D9D9"/>
              </a:gs>
              <a:gs pos="100000">
                <a:srgbClr val="D9D9D9"/>
              </a:gs>
            </a:gsLst>
            <a:lin ang="2700000" scaled="1"/>
          </a:gradFill>
          <a:ln/>
          <a:effectLst>
            <a:outerShdw blurRad="381000" dist="50800" dir="2700000" algn="bl" rotWithShape="0">
              <a:srgbClr val="000000">
                <a:alpha val="40000"/>
              </a:srgbClr>
            </a:outerShdw>
          </a:effectLst>
        </p:spPr>
        <p:txBody>
          <a:bodyPr/>
          <a:lstStyle/>
          <a:p>
            <a:endParaRPr lang="es-ES"/>
          </a:p>
        </p:txBody>
      </p:sp>
      <p:sp>
        <p:nvSpPr>
          <p:cNvPr id="22" name="Text 19"/>
          <p:cNvSpPr/>
          <p:nvPr/>
        </p:nvSpPr>
        <p:spPr>
          <a:xfrm rot="21600000">
            <a:off x="4926334" y="1961818"/>
            <a:ext cx="132025" cy="132024"/>
          </a:xfrm>
          <a:prstGeom prst="rect">
            <a:avLst/>
          </a:prstGeom>
          <a:noFill/>
          <a:ln/>
        </p:spPr>
        <p:txBody>
          <a:bodyPr wrap="square" lIns="45720" tIns="91440" rIns="91440" bIns="45720" rtlCol="0" anchor="ctr"/>
          <a:lstStyle/>
          <a:p>
            <a:pPr>
              <a:lnSpc>
                <a:spcPct val="100000"/>
              </a:lnSpc>
            </a:pPr>
            <a:endParaRPr lang="en-US" sz="1600" dirty="0"/>
          </a:p>
        </p:txBody>
      </p:sp>
      <p:sp>
        <p:nvSpPr>
          <p:cNvPr id="23" name="Text 20"/>
          <p:cNvSpPr/>
          <p:nvPr/>
        </p:nvSpPr>
        <p:spPr>
          <a:xfrm>
            <a:off x="4871971" y="1841034"/>
            <a:ext cx="133047" cy="307171"/>
          </a:xfrm>
          <a:prstGeom prst="rect">
            <a:avLst/>
          </a:prstGeom>
          <a:noFill/>
          <a:ln/>
        </p:spPr>
        <p:txBody>
          <a:bodyPr wrap="square" lIns="0" tIns="0" rIns="0" bIns="0" rtlCol="0" anchor="t">
            <a:spAutoFit/>
          </a:bodyPr>
          <a:lstStyle/>
          <a:p>
            <a:pPr>
              <a:lnSpc>
                <a:spcPct val="100000"/>
              </a:lnSpc>
            </a:pPr>
            <a:r>
              <a:rPr lang="en-US" sz="1800" dirty="0">
                <a:solidFill>
                  <a:srgbClr val="1E1C0D"/>
                </a:solidFill>
                <a:latin typeface="MiSans" pitchFamily="34" charset="0"/>
                <a:ea typeface="MiSans" pitchFamily="34" charset="-122"/>
                <a:cs typeface="MiSans" pitchFamily="34" charset="-120"/>
              </a:rPr>
              <a:t> </a:t>
            </a:r>
            <a:endParaRPr lang="en-US" sz="1600" dirty="0"/>
          </a:p>
        </p:txBody>
      </p:sp>
      <p:sp>
        <p:nvSpPr>
          <p:cNvPr id="24" name="Text 21"/>
          <p:cNvSpPr/>
          <p:nvPr/>
        </p:nvSpPr>
        <p:spPr>
          <a:xfrm>
            <a:off x="1207770" y="2204085"/>
            <a:ext cx="2446020" cy="615315"/>
          </a:xfrm>
          <a:prstGeom prst="rect">
            <a:avLst/>
          </a:prstGeom>
          <a:noFill/>
          <a:ln/>
        </p:spPr>
        <p:txBody>
          <a:bodyPr wrap="square" lIns="0" tIns="0" rIns="0" bIns="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Riesgos de subidas excesivas</a:t>
            </a:r>
            <a:endParaRPr lang="en-US" sz="1600" dirty="0"/>
          </a:p>
        </p:txBody>
      </p:sp>
      <p:sp>
        <p:nvSpPr>
          <p:cNvPr id="25" name="Text 22"/>
          <p:cNvSpPr/>
          <p:nvPr/>
        </p:nvSpPr>
        <p:spPr>
          <a:xfrm>
            <a:off x="1170305" y="2847340"/>
            <a:ext cx="2666365" cy="2875915"/>
          </a:xfrm>
          <a:prstGeom prst="rect">
            <a:avLst/>
          </a:prstGeom>
          <a:noFill/>
          <a:ln/>
        </p:spPr>
        <p:txBody>
          <a:bodyPr wrap="square" lIns="91440" tIns="45720" rIns="91440" bIns="45720" rtlCol="0" anchor="t"/>
          <a:lstStyle/>
          <a:p>
            <a:pPr>
              <a:lnSpc>
                <a:spcPct val="150000"/>
              </a:lnSpc>
            </a:pPr>
            <a:r>
              <a:rPr lang="en-US" sz="1400" dirty="0">
                <a:solidFill>
                  <a:srgbClr val="1E1C0D"/>
                </a:solidFill>
                <a:latin typeface="MiSans" pitchFamily="34" charset="0"/>
                <a:ea typeface="MiSans" pitchFamily="34" charset="-122"/>
                <a:cs typeface="MiSans" pitchFamily="34" charset="-120"/>
              </a:rPr>
              <a:t>Subir el SMI o blindar convenios sin límite puede proteger menos y excluir más, especialmente a los colectivos más vulnerables.</a:t>
            </a:r>
            <a:endParaRPr lang="en-US" sz="1600" dirty="0"/>
          </a:p>
        </p:txBody>
      </p:sp>
      <p:sp>
        <p:nvSpPr>
          <p:cNvPr id="26" name="Text 23"/>
          <p:cNvSpPr/>
          <p:nvPr/>
        </p:nvSpPr>
        <p:spPr>
          <a:xfrm>
            <a:off x="4730750" y="2204085"/>
            <a:ext cx="2446020" cy="615315"/>
          </a:xfrm>
          <a:prstGeom prst="rect">
            <a:avLst/>
          </a:prstGeom>
          <a:noFill/>
          <a:ln/>
        </p:spPr>
        <p:txBody>
          <a:bodyPr wrap="square" lIns="0" tIns="0" rIns="0" bIns="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Importancia de la calibración</a:t>
            </a:r>
            <a:endParaRPr lang="en-US" sz="1600" dirty="0"/>
          </a:p>
        </p:txBody>
      </p:sp>
      <p:sp>
        <p:nvSpPr>
          <p:cNvPr id="27" name="Text 24"/>
          <p:cNvSpPr/>
          <p:nvPr/>
        </p:nvSpPr>
        <p:spPr>
          <a:xfrm>
            <a:off x="4693285" y="2847340"/>
            <a:ext cx="2666365" cy="2875915"/>
          </a:xfrm>
          <a:prstGeom prst="rect">
            <a:avLst/>
          </a:prstGeom>
          <a:noFill/>
          <a:ln/>
        </p:spPr>
        <p:txBody>
          <a:bodyPr wrap="square" lIns="91440" tIns="45720" rIns="91440" bIns="45720" rtlCol="0" anchor="t"/>
          <a:lstStyle/>
          <a:p>
            <a:pPr>
              <a:lnSpc>
                <a:spcPct val="150000"/>
              </a:lnSpc>
            </a:pPr>
            <a:r>
              <a:rPr lang="en-US" sz="1400" dirty="0">
                <a:solidFill>
                  <a:srgbClr val="1E1C0D"/>
                </a:solidFill>
                <a:latin typeface="MiSans" pitchFamily="34" charset="0"/>
                <a:ea typeface="MiSans" pitchFamily="34" charset="-122"/>
                <a:cs typeface="MiSans" pitchFamily="34" charset="-120"/>
              </a:rPr>
              <a:t>La calibración cuidadosa que considere efectos heterogéneos sobre empleo juvenil y regional es esencial para que la protección sea efectiva.</a:t>
            </a:r>
            <a:endParaRPr lang="en-US" sz="1600" dirty="0"/>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417534" y="5721442"/>
            <a:ext cx="11356932" cy="776542"/>
          </a:xfrm>
          <a:prstGeom prst="roundRect">
            <a:avLst>
              <a:gd name="adj" fmla="val 0"/>
            </a:avLst>
          </a:prstGeom>
          <a:gradFill flip="none" rotWithShape="1">
            <a:gsLst>
              <a:gs pos="0">
                <a:srgbClr val="30225F"/>
              </a:gs>
              <a:gs pos="8000">
                <a:srgbClr val="30225F"/>
              </a:gs>
              <a:gs pos="92000">
                <a:srgbClr val="BC7DB7"/>
              </a:gs>
              <a:gs pos="100000">
                <a:srgbClr val="BC7DB7"/>
              </a:gs>
            </a:gsLst>
            <a:lin ang="2700000" scaled="1"/>
          </a:gradFill>
          <a:ln/>
        </p:spPr>
        <p:txBody>
          <a:bodyPr/>
          <a:lstStyle/>
          <a:p>
            <a:endParaRPr lang="es-ES"/>
          </a:p>
        </p:txBody>
      </p:sp>
      <p:sp>
        <p:nvSpPr>
          <p:cNvPr id="5" name="Text 3"/>
          <p:cNvSpPr/>
          <p:nvPr/>
        </p:nvSpPr>
        <p:spPr>
          <a:xfrm>
            <a:off x="417534" y="5721442"/>
            <a:ext cx="11356932" cy="776542"/>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417535" y="4550678"/>
            <a:ext cx="11356932" cy="1170764"/>
          </a:xfrm>
          <a:prstGeom prst="trapezoid">
            <a:avLst>
              <a:gd name="adj" fmla="val 79999"/>
            </a:avLst>
          </a:prstGeom>
          <a:gradFill flip="none" rotWithShape="1">
            <a:gsLst>
              <a:gs pos="0">
                <a:srgbClr val="D5CDED">
                  <a:alpha val="0"/>
                </a:srgbClr>
              </a:gs>
              <a:gs pos="27000">
                <a:srgbClr val="D5CDED">
                  <a:alpha val="0"/>
                </a:srgbClr>
              </a:gs>
              <a:gs pos="100000">
                <a:srgbClr val="6B51C1"/>
              </a:gs>
            </a:gsLst>
            <a:lin ang="5400000" scaled="1"/>
          </a:gradFill>
          <a:ln/>
        </p:spPr>
        <p:txBody>
          <a:bodyPr/>
          <a:lstStyle/>
          <a:p>
            <a:endParaRPr lang="es-ES"/>
          </a:p>
        </p:txBody>
      </p:sp>
      <p:sp>
        <p:nvSpPr>
          <p:cNvPr id="7" name="Text 5"/>
          <p:cNvSpPr/>
          <p:nvPr/>
        </p:nvSpPr>
        <p:spPr>
          <a:xfrm>
            <a:off x="417535" y="4550678"/>
            <a:ext cx="11356932" cy="1170764"/>
          </a:xfrm>
          <a:prstGeom prst="rect">
            <a:avLst/>
          </a:prstGeom>
          <a:noFill/>
          <a:ln/>
        </p:spPr>
        <p:txBody>
          <a:bodyPr wrap="square" lIns="45720" tIns="91440" rIns="91440" bIns="45720" rtlCol="0" anchor="ctr"/>
          <a:lstStyle/>
          <a:p>
            <a:pPr>
              <a:lnSpc>
                <a:spcPct val="100000"/>
              </a:lnSpc>
            </a:pPr>
            <a:endParaRPr lang="en-US" sz="1600" dirty="0"/>
          </a:p>
        </p:txBody>
      </p:sp>
      <p:pic>
        <p:nvPicPr>
          <p:cNvPr id="8" name="Image 0" descr="https://kimi-img.moonshot.cn/pub/slides/slides_tmpl/image/25-09-08-15:08:36-d2v81t5nfo2stf9dkdl0.png"/>
          <p:cNvPicPr>
            <a:picLocks noChangeAspect="1"/>
          </p:cNvPicPr>
          <p:nvPr/>
        </p:nvPicPr>
        <p:blipFill>
          <a:blip r:embed="rId3"/>
          <a:stretch>
            <a:fillRect/>
          </a:stretch>
        </p:blipFill>
        <p:spPr>
          <a:xfrm>
            <a:off x="911225" y="1329055"/>
            <a:ext cx="10369550" cy="4199890"/>
          </a:xfrm>
          <a:prstGeom prst="rect">
            <a:avLst/>
          </a:prstGeom>
        </p:spPr>
      </p:pic>
      <p:sp>
        <p:nvSpPr>
          <p:cNvPr id="9" name="Text 6"/>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Integrar, no añadir</a:t>
            </a:r>
            <a:endParaRPr lang="en-US" sz="1600" dirty="0"/>
          </a:p>
        </p:txBody>
      </p:sp>
      <p:sp>
        <p:nvSpPr>
          <p:cNvPr id="10" name="Text 7"/>
          <p:cNvSpPr/>
          <p:nvPr/>
        </p:nvSpPr>
        <p:spPr>
          <a:xfrm>
            <a:off x="1071880" y="1616710"/>
            <a:ext cx="3058795" cy="431165"/>
          </a:xfrm>
          <a:prstGeom prst="rect">
            <a:avLst/>
          </a:prstGeom>
          <a:noFill/>
          <a:ln/>
        </p:spPr>
        <p:txBody>
          <a:bodyPr wrap="square" lIns="91440" tIns="45720" rIns="91440" bIns="45720" rtlCol="0" anchor="t"/>
          <a:lstStyle/>
          <a:p>
            <a:pPr>
              <a:lnSpc>
                <a:spcPct val="100000"/>
              </a:lnSpc>
            </a:pPr>
            <a:r>
              <a:rPr lang="en-US" sz="1600" b="1" dirty="0">
                <a:solidFill>
                  <a:srgbClr val="FFFFFF"/>
                </a:solidFill>
                <a:latin typeface="MiSans" pitchFamily="34" charset="0"/>
                <a:ea typeface="MiSans" pitchFamily="34" charset="-122"/>
                <a:cs typeface="MiSans" pitchFamily="34" charset="-120"/>
              </a:rPr>
              <a:t>Necesidad de integración</a:t>
            </a:r>
            <a:endParaRPr lang="en-US" sz="1600" dirty="0"/>
          </a:p>
        </p:txBody>
      </p:sp>
      <p:sp>
        <p:nvSpPr>
          <p:cNvPr id="11" name="Text 8"/>
          <p:cNvSpPr/>
          <p:nvPr/>
        </p:nvSpPr>
        <p:spPr>
          <a:xfrm>
            <a:off x="1234440" y="2388235"/>
            <a:ext cx="2833370" cy="2868930"/>
          </a:xfrm>
          <a:prstGeom prst="rect">
            <a:avLst/>
          </a:prstGeom>
          <a:noFill/>
          <a:ln/>
        </p:spPr>
        <p:txBody>
          <a:bodyPr wrap="square" lIns="91440" tIns="45720" rIns="91440" bIns="45720" rtlCol="0" anchor="t"/>
          <a:lstStyle/>
          <a:p>
            <a:pPr>
              <a:lnSpc>
                <a:spcPct val="150000"/>
              </a:lnSpc>
            </a:pPr>
            <a:r>
              <a:rPr lang="en-US" sz="1400" dirty="0">
                <a:solidFill>
                  <a:srgbClr val="1E1C0D"/>
                </a:solidFill>
                <a:latin typeface="MiSans" pitchFamily="34" charset="0"/>
                <a:ea typeface="MiSans" pitchFamily="34" charset="-122"/>
                <a:cs typeface="MiSans" pitchFamily="34" charset="-120"/>
              </a:rPr>
              <a:t>Reformas aisladas pueden chocar entre sí. Salarios, pensiones, formación y servicios deben diseñarse de forma coordinada para lograr un sistema coherente.</a:t>
            </a:r>
            <a:endParaRPr lang="en-US" sz="1600" dirty="0"/>
          </a:p>
        </p:txBody>
      </p:sp>
      <p:sp>
        <p:nvSpPr>
          <p:cNvPr id="12" name="Text 9"/>
          <p:cNvSpPr/>
          <p:nvPr/>
        </p:nvSpPr>
        <p:spPr>
          <a:xfrm>
            <a:off x="4551680" y="1591945"/>
            <a:ext cx="3058795" cy="431165"/>
          </a:xfrm>
          <a:prstGeom prst="rect">
            <a:avLst/>
          </a:prstGeom>
          <a:noFill/>
          <a:ln/>
        </p:spPr>
        <p:txBody>
          <a:bodyPr wrap="square" lIns="91440" tIns="45720" rIns="91440" bIns="45720" rtlCol="0" anchor="t"/>
          <a:lstStyle/>
          <a:p>
            <a:pPr>
              <a:lnSpc>
                <a:spcPct val="100000"/>
              </a:lnSpc>
            </a:pPr>
            <a:r>
              <a:rPr lang="en-US" sz="1600" b="1" dirty="0">
                <a:solidFill>
                  <a:srgbClr val="FFFFFF"/>
                </a:solidFill>
                <a:latin typeface="MiSans" pitchFamily="34" charset="0"/>
                <a:ea typeface="MiSans" pitchFamily="34" charset="-122"/>
                <a:cs typeface="MiSans" pitchFamily="34" charset="-120"/>
              </a:rPr>
              <a:t>Beneficios de la integración</a:t>
            </a:r>
            <a:endParaRPr lang="en-US" sz="1600" dirty="0"/>
          </a:p>
        </p:txBody>
      </p:sp>
      <p:sp>
        <p:nvSpPr>
          <p:cNvPr id="13" name="Text 10"/>
          <p:cNvSpPr/>
          <p:nvPr/>
        </p:nvSpPr>
        <p:spPr>
          <a:xfrm>
            <a:off x="4650740" y="2388235"/>
            <a:ext cx="2833370" cy="2868930"/>
          </a:xfrm>
          <a:prstGeom prst="rect">
            <a:avLst/>
          </a:prstGeom>
          <a:noFill/>
          <a:ln/>
        </p:spPr>
        <p:txBody>
          <a:bodyPr wrap="square" lIns="91440" tIns="45720" rIns="91440" bIns="45720" rtlCol="0" anchor="t"/>
          <a:lstStyle/>
          <a:p>
            <a:pPr>
              <a:lnSpc>
                <a:spcPct val="150000"/>
              </a:lnSpc>
            </a:pPr>
            <a:r>
              <a:rPr lang="en-US" sz="1400" dirty="0">
                <a:solidFill>
                  <a:srgbClr val="1E1C0D"/>
                </a:solidFill>
                <a:latin typeface="MiSans" pitchFamily="34" charset="0"/>
                <a:ea typeface="MiSans" pitchFamily="34" charset="-122"/>
                <a:cs typeface="MiSans" pitchFamily="34" charset="-120"/>
              </a:rPr>
              <a:t>Un enfoque integrado permite que el ajuste en una área no desequilibre otra, construyendo un sistema equilibrado de protección, competitividad e inclusión.</a:t>
            </a:r>
            <a:endParaRPr lang="en-US" sz="1600" dirty="0"/>
          </a:p>
        </p:txBody>
      </p:sp>
      <p:sp>
        <p:nvSpPr>
          <p:cNvPr id="14" name="Text 11"/>
          <p:cNvSpPr/>
          <p:nvPr/>
        </p:nvSpPr>
        <p:spPr>
          <a:xfrm>
            <a:off x="8032115" y="1602105"/>
            <a:ext cx="3058795" cy="431165"/>
          </a:xfrm>
          <a:prstGeom prst="rect">
            <a:avLst/>
          </a:prstGeom>
          <a:noFill/>
          <a:ln/>
        </p:spPr>
        <p:txBody>
          <a:bodyPr wrap="square" lIns="91440" tIns="45720" rIns="91440" bIns="45720" rtlCol="0" anchor="t"/>
          <a:lstStyle/>
          <a:p>
            <a:pPr>
              <a:lnSpc>
                <a:spcPct val="100000"/>
              </a:lnSpc>
            </a:pPr>
            <a:r>
              <a:rPr lang="en-US" sz="1600" b="1" dirty="0">
                <a:solidFill>
                  <a:srgbClr val="FFFFFF"/>
                </a:solidFill>
                <a:latin typeface="MiSans" pitchFamily="34" charset="0"/>
                <a:ea typeface="MiSans" pitchFamily="34" charset="-122"/>
                <a:cs typeface="MiSans" pitchFamily="34" charset="-120"/>
              </a:rPr>
              <a:t>Pacto social renovado</a:t>
            </a:r>
            <a:endParaRPr lang="en-US" sz="1600" dirty="0"/>
          </a:p>
        </p:txBody>
      </p:sp>
      <p:sp>
        <p:nvSpPr>
          <p:cNvPr id="15" name="Text 12"/>
          <p:cNvSpPr/>
          <p:nvPr/>
        </p:nvSpPr>
        <p:spPr>
          <a:xfrm>
            <a:off x="8124190" y="2433955"/>
            <a:ext cx="2833370" cy="2868930"/>
          </a:xfrm>
          <a:prstGeom prst="rect">
            <a:avLst/>
          </a:prstGeom>
          <a:noFill/>
          <a:ln/>
        </p:spPr>
        <p:txBody>
          <a:bodyPr wrap="square" lIns="91440" tIns="45720" rIns="91440" bIns="45720" rtlCol="0" anchor="t"/>
          <a:lstStyle/>
          <a:p>
            <a:pPr>
              <a:lnSpc>
                <a:spcPct val="150000"/>
              </a:lnSpc>
            </a:pPr>
            <a:r>
              <a:rPr lang="en-US" sz="1400" dirty="0">
                <a:solidFill>
                  <a:srgbClr val="1E1C0D"/>
                </a:solidFill>
                <a:latin typeface="MiSans" pitchFamily="34" charset="0"/>
                <a:ea typeface="MiSans" pitchFamily="34" charset="-122"/>
                <a:cs typeface="MiSans" pitchFamily="34" charset="-120"/>
              </a:rPr>
              <a:t>Este enfoque integrado requiere un pacto social renovado que combine protección salarial con otras políticas públicas para enfrentar los desafíos actuales.</a:t>
            </a:r>
            <a:endParaRPr lang="en-US" sz="1600" dirty="0"/>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288925" y="1409065"/>
            <a:ext cx="4622165" cy="5182235"/>
          </a:xfrm>
          <a:prstGeom prst="rect">
            <a:avLst/>
          </a:prstGeom>
          <a:gradFill flip="none" rotWithShape="1">
            <a:gsLst>
              <a:gs pos="0">
                <a:srgbClr val="673563"/>
              </a:gs>
              <a:gs pos="100000">
                <a:srgbClr val="9B5095"/>
              </a:gs>
            </a:gsLst>
            <a:lin ang="0" scaled="1"/>
          </a:gradFill>
          <a:ln/>
        </p:spPr>
        <p:txBody>
          <a:bodyPr/>
          <a:lstStyle/>
          <a:p>
            <a:endParaRPr lang="es-ES"/>
          </a:p>
        </p:txBody>
      </p:sp>
      <p:sp>
        <p:nvSpPr>
          <p:cNvPr id="5" name="Text 3"/>
          <p:cNvSpPr/>
          <p:nvPr/>
        </p:nvSpPr>
        <p:spPr>
          <a:xfrm>
            <a:off x="288925" y="1409065"/>
            <a:ext cx="4622165" cy="5182235"/>
          </a:xfrm>
          <a:prstGeom prst="rect">
            <a:avLst/>
          </a:prstGeom>
          <a:noFill/>
          <a:ln/>
        </p:spPr>
        <p:txBody>
          <a:bodyPr wrap="square" lIns="45720" tIns="91440" rIns="91440" bIns="45720" rtlCol="0" anchor="ctr"/>
          <a:lstStyle/>
          <a:p>
            <a:pPr>
              <a:lnSpc>
                <a:spcPct val="100000"/>
              </a:lnSpc>
            </a:pPr>
            <a:endParaRPr lang="en-US" sz="1600" dirty="0"/>
          </a:p>
        </p:txBody>
      </p:sp>
      <p:pic>
        <p:nvPicPr>
          <p:cNvPr id="6" name="Image 0" descr="https://kimi-img.moonshot.cn/pub/slides/slides_tmpl/image/25-09-08-15:08:34-d2v81slnfo2stf9dkdhg.png"/>
          <p:cNvPicPr>
            <a:picLocks noChangeAspect="1"/>
          </p:cNvPicPr>
          <p:nvPr/>
        </p:nvPicPr>
        <p:blipFill>
          <a:blip r:embed="rId3"/>
          <a:srcRect l="60" r="60"/>
          <a:stretch/>
        </p:blipFill>
        <p:spPr>
          <a:xfrm>
            <a:off x="0" y="1565275"/>
            <a:ext cx="4749165" cy="5292725"/>
          </a:xfrm>
          <a:prstGeom prst="rect">
            <a:avLst/>
          </a:prstGeom>
        </p:spPr>
      </p:pic>
      <p:sp>
        <p:nvSpPr>
          <p:cNvPr id="7" name="Text 4"/>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Medir para ajustar</a:t>
            </a:r>
            <a:endParaRPr lang="en-US" sz="1600" dirty="0"/>
          </a:p>
        </p:txBody>
      </p:sp>
      <p:sp>
        <p:nvSpPr>
          <p:cNvPr id="8" name="Shape 5"/>
          <p:cNvSpPr/>
          <p:nvPr/>
        </p:nvSpPr>
        <p:spPr>
          <a:xfrm rot="16200000" flipH="1" flipV="1">
            <a:off x="10252710" y="60960"/>
            <a:ext cx="2007870" cy="1886585"/>
          </a:xfrm>
          <a:prstGeom prst="round2DiagRect">
            <a:avLst>
              <a:gd name="adj1" fmla="val 0"/>
              <a:gd name="adj2" fmla="val 0"/>
            </a:avLst>
          </a:prstGeom>
          <a:solidFill>
            <a:srgbClr val="402E7F"/>
          </a:solidFill>
          <a:ln/>
        </p:spPr>
        <p:txBody>
          <a:bodyPr/>
          <a:lstStyle/>
          <a:p>
            <a:endParaRPr lang="es-ES"/>
          </a:p>
        </p:txBody>
      </p:sp>
      <p:sp>
        <p:nvSpPr>
          <p:cNvPr id="9" name="Text 6"/>
          <p:cNvSpPr/>
          <p:nvPr/>
        </p:nvSpPr>
        <p:spPr>
          <a:xfrm rot="16200000">
            <a:off x="10252710" y="60960"/>
            <a:ext cx="2007870" cy="1886585"/>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7"/>
          <p:cNvSpPr/>
          <p:nvPr/>
        </p:nvSpPr>
        <p:spPr>
          <a:xfrm>
            <a:off x="5348605" y="1423670"/>
            <a:ext cx="6152515" cy="2171065"/>
          </a:xfrm>
          <a:prstGeom prst="rect">
            <a:avLst/>
          </a:prstGeom>
          <a:solidFill>
            <a:srgbClr val="FFFFFF"/>
          </a:solidFill>
          <a:ln w="19050">
            <a:solidFill>
              <a:srgbClr val="402E7F"/>
            </a:solidFill>
            <a:prstDash val="solid"/>
          </a:ln>
        </p:spPr>
        <p:txBody>
          <a:bodyPr/>
          <a:lstStyle/>
          <a:p>
            <a:endParaRPr lang="es-ES"/>
          </a:p>
        </p:txBody>
      </p:sp>
      <p:sp>
        <p:nvSpPr>
          <p:cNvPr id="11" name="Text 8"/>
          <p:cNvSpPr/>
          <p:nvPr/>
        </p:nvSpPr>
        <p:spPr>
          <a:xfrm>
            <a:off x="5348605" y="1423670"/>
            <a:ext cx="6152515" cy="2171065"/>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9"/>
          <p:cNvSpPr/>
          <p:nvPr/>
        </p:nvSpPr>
        <p:spPr>
          <a:xfrm>
            <a:off x="5348605" y="3867150"/>
            <a:ext cx="6152515" cy="2171065"/>
          </a:xfrm>
          <a:prstGeom prst="rect">
            <a:avLst/>
          </a:prstGeom>
          <a:solidFill>
            <a:srgbClr val="FFFFFF"/>
          </a:solidFill>
          <a:ln w="19050">
            <a:solidFill>
              <a:srgbClr val="402E7F"/>
            </a:solidFill>
            <a:prstDash val="solid"/>
          </a:ln>
        </p:spPr>
        <p:txBody>
          <a:bodyPr/>
          <a:lstStyle/>
          <a:p>
            <a:endParaRPr lang="es-ES"/>
          </a:p>
        </p:txBody>
      </p:sp>
      <p:sp>
        <p:nvSpPr>
          <p:cNvPr id="13" name="Text 10"/>
          <p:cNvSpPr/>
          <p:nvPr/>
        </p:nvSpPr>
        <p:spPr>
          <a:xfrm>
            <a:off x="5348605" y="3867150"/>
            <a:ext cx="6152515" cy="2171065"/>
          </a:xfrm>
          <a:prstGeom prst="rect">
            <a:avLst/>
          </a:prstGeom>
          <a:noFill/>
          <a:ln/>
        </p:spPr>
        <p:txBody>
          <a:bodyPr wrap="square" lIns="45720" tIns="91440" rIns="91440" bIns="45720" rtlCol="0" anchor="ctr"/>
          <a:lstStyle/>
          <a:p>
            <a:pPr>
              <a:lnSpc>
                <a:spcPct val="100000"/>
              </a:lnSpc>
            </a:pPr>
            <a:endParaRPr lang="en-US" sz="1600" dirty="0"/>
          </a:p>
        </p:txBody>
      </p:sp>
      <p:sp>
        <p:nvSpPr>
          <p:cNvPr id="14" name="Text 11"/>
          <p:cNvSpPr/>
          <p:nvPr/>
        </p:nvSpPr>
        <p:spPr>
          <a:xfrm>
            <a:off x="5523230" y="1579880"/>
            <a:ext cx="5800725" cy="398780"/>
          </a:xfrm>
          <a:prstGeom prst="rect">
            <a:avLst/>
          </a:prstGeom>
          <a:noFill/>
          <a:ln/>
        </p:spPr>
        <p:txBody>
          <a:bodyPr wrap="square" lIns="91440" tIns="45720" rIns="91440" bIns="4572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Importancia de la evidencia</a:t>
            </a:r>
            <a:endParaRPr lang="en-US" sz="1600" dirty="0"/>
          </a:p>
        </p:txBody>
      </p:sp>
      <p:sp>
        <p:nvSpPr>
          <p:cNvPr id="15" name="Text 12"/>
          <p:cNvSpPr/>
          <p:nvPr/>
        </p:nvSpPr>
        <p:spPr>
          <a:xfrm>
            <a:off x="5542480" y="1880870"/>
            <a:ext cx="5705757" cy="1390650"/>
          </a:xfrm>
          <a:prstGeom prst="rect">
            <a:avLst/>
          </a:prstGeom>
          <a:noFill/>
          <a:ln/>
        </p:spPr>
        <p:txBody>
          <a:bodyPr wrap="square" lIns="91440" tIns="45720" rIns="91440" bIns="45720" rtlCol="0" anchor="t">
            <a:spAutoFit/>
          </a:bodyPr>
          <a:lstStyle/>
          <a:p>
            <a:pPr>
              <a:lnSpc>
                <a:spcPct val="170000"/>
              </a:lnSpc>
            </a:pPr>
            <a:r>
              <a:rPr lang="en-US" sz="1400" dirty="0">
                <a:solidFill>
                  <a:srgbClr val="1E1C0D"/>
                </a:solidFill>
                <a:latin typeface="MiSans" pitchFamily="34" charset="0"/>
                <a:ea typeface="MiSans" pitchFamily="34" charset="-122"/>
                <a:cs typeface="MiSans" pitchFamily="34" charset="-120"/>
              </a:rPr>
              <a:t>La evidencia empírica rigurosa debe guiar las decisiones políticas para evitar que buenas intenciones generen resultados contraproducentes.</a:t>
            </a:r>
            <a:endParaRPr lang="en-US" sz="1600" dirty="0"/>
          </a:p>
        </p:txBody>
      </p:sp>
      <p:sp>
        <p:nvSpPr>
          <p:cNvPr id="16" name="Text 13"/>
          <p:cNvSpPr/>
          <p:nvPr/>
        </p:nvSpPr>
        <p:spPr>
          <a:xfrm>
            <a:off x="5523230" y="4023360"/>
            <a:ext cx="5800725" cy="398780"/>
          </a:xfrm>
          <a:prstGeom prst="rect">
            <a:avLst/>
          </a:prstGeom>
          <a:noFill/>
          <a:ln/>
        </p:spPr>
        <p:txBody>
          <a:bodyPr wrap="square" lIns="91440" tIns="45720" rIns="91440" bIns="4572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Evaluación continua</a:t>
            </a:r>
            <a:endParaRPr lang="en-US" sz="1600" dirty="0"/>
          </a:p>
        </p:txBody>
      </p:sp>
      <p:sp>
        <p:nvSpPr>
          <p:cNvPr id="17" name="Text 14"/>
          <p:cNvSpPr/>
          <p:nvPr/>
        </p:nvSpPr>
        <p:spPr>
          <a:xfrm>
            <a:off x="5542480" y="4324350"/>
            <a:ext cx="5705757" cy="1555750"/>
          </a:xfrm>
          <a:prstGeom prst="rect">
            <a:avLst/>
          </a:prstGeom>
          <a:noFill/>
          <a:ln/>
        </p:spPr>
        <p:txBody>
          <a:bodyPr wrap="square" lIns="91440" tIns="45720" rIns="91440" bIns="45720" rtlCol="0" anchor="t">
            <a:spAutoFit/>
          </a:bodyPr>
          <a:lstStyle/>
          <a:p>
            <a:pPr>
              <a:lnSpc>
                <a:spcPct val="170000"/>
              </a:lnSpc>
            </a:pPr>
            <a:r>
              <a:rPr lang="en-US" sz="1400" dirty="0">
                <a:solidFill>
                  <a:srgbClr val="1E1C0D"/>
                </a:solidFill>
                <a:latin typeface="MiSans" pitchFamily="34" charset="0"/>
                <a:ea typeface="MiSans" pitchFamily="34" charset="-122"/>
                <a:cs typeface="MiSans" pitchFamily="34" charset="-120"/>
              </a:rPr>
              <a:t>Evaluar efectos sobre empleo, pobreza y desigualdad permite corregir desvíos y ajustar políticas para beneficiar a los trabajadores más necesitados.</a:t>
            </a:r>
            <a:endParaRPr lang="en-US" sz="1600" dirty="0"/>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a:ln/>
        </p:spPr>
        <p:txBody>
          <a:bodyPr/>
          <a:lstStyle/>
          <a:p>
            <a:endParaRPr lang="es-ES"/>
          </a:p>
        </p:txBody>
      </p:sp>
      <p:sp>
        <p:nvSpPr>
          <p:cNvPr id="5" name="Text 3"/>
          <p:cNvSpPr/>
          <p:nvPr/>
        </p:nvSpPr>
        <p:spPr>
          <a:xfrm>
            <a:off x="4445" y="0"/>
            <a:ext cx="12187555" cy="687578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a:ln/>
        </p:spPr>
        <p:txBody>
          <a:bodyPr/>
          <a:lstStyle/>
          <a:p>
            <a:endParaRPr lang="es-ES"/>
          </a:p>
        </p:txBody>
      </p:sp>
      <p:sp>
        <p:nvSpPr>
          <p:cNvPr id="7" name="Text 5"/>
          <p:cNvSpPr/>
          <p:nvPr/>
        </p:nvSpPr>
        <p:spPr>
          <a:xfrm>
            <a:off x="85280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9" name="Text 7"/>
          <p:cNvSpPr/>
          <p:nvPr/>
        </p:nvSpPr>
        <p:spPr>
          <a:xfrm>
            <a:off x="113665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a:ln/>
        </p:spPr>
        <p:txBody>
          <a:bodyPr/>
          <a:lstStyle/>
          <a:p>
            <a:endParaRPr lang="es-ES"/>
          </a:p>
        </p:txBody>
      </p:sp>
      <p:sp>
        <p:nvSpPr>
          <p:cNvPr id="11" name="Text 9"/>
          <p:cNvSpPr/>
          <p:nvPr/>
        </p:nvSpPr>
        <p:spPr>
          <a:xfrm>
            <a:off x="142049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3" name="Text 11"/>
          <p:cNvSpPr/>
          <p:nvPr/>
        </p:nvSpPr>
        <p:spPr>
          <a:xfrm>
            <a:off x="170434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a:ln/>
        </p:spPr>
        <p:txBody>
          <a:bodyPr/>
          <a:lstStyle/>
          <a:p>
            <a:endParaRPr lang="es-ES"/>
          </a:p>
        </p:txBody>
      </p:sp>
      <p:sp>
        <p:nvSpPr>
          <p:cNvPr id="15" name="Text 13"/>
          <p:cNvSpPr/>
          <p:nvPr/>
        </p:nvSpPr>
        <p:spPr>
          <a:xfrm>
            <a:off x="198818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7" name="Text 15"/>
          <p:cNvSpPr/>
          <p:nvPr/>
        </p:nvSpPr>
        <p:spPr>
          <a:xfrm>
            <a:off x="227203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a:ln/>
        </p:spPr>
        <p:txBody>
          <a:bodyPr/>
          <a:lstStyle/>
          <a:p>
            <a:endParaRPr lang="es-ES"/>
          </a:p>
        </p:txBody>
      </p:sp>
      <p:sp>
        <p:nvSpPr>
          <p:cNvPr id="19" name="Text 17"/>
          <p:cNvSpPr/>
          <p:nvPr/>
        </p:nvSpPr>
        <p:spPr>
          <a:xfrm>
            <a:off x="11456035" y="38163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a:ln/>
        </p:spPr>
        <p:txBody>
          <a:bodyPr/>
          <a:lstStyle/>
          <a:p>
            <a:endParaRPr lang="es-ES"/>
          </a:p>
        </p:txBody>
      </p:sp>
      <p:sp>
        <p:nvSpPr>
          <p:cNvPr id="21" name="Text 19"/>
          <p:cNvSpPr/>
          <p:nvPr/>
        </p:nvSpPr>
        <p:spPr>
          <a:xfrm>
            <a:off x="11456035" y="501650"/>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a:ln/>
        </p:spPr>
        <p:txBody>
          <a:bodyPr/>
          <a:lstStyle/>
          <a:p>
            <a:endParaRPr lang="es-ES"/>
          </a:p>
        </p:txBody>
      </p:sp>
      <p:sp>
        <p:nvSpPr>
          <p:cNvPr id="23" name="Text 21"/>
          <p:cNvSpPr/>
          <p:nvPr/>
        </p:nvSpPr>
        <p:spPr>
          <a:xfrm>
            <a:off x="11456035" y="62166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txBody>
          <a:bodyPr/>
          <a:lstStyle/>
          <a:p>
            <a:endParaRPr lang="es-ES"/>
          </a:p>
        </p:txBody>
      </p:sp>
      <p:sp>
        <p:nvSpPr>
          <p:cNvPr id="25" name="Shape 23"/>
          <p:cNvSpPr/>
          <p:nvPr/>
        </p:nvSpPr>
        <p:spPr>
          <a:xfrm>
            <a:off x="852805" y="6177280"/>
            <a:ext cx="259080" cy="259080"/>
          </a:xfrm>
          <a:prstGeom prst="ellipse">
            <a:avLst/>
          </a:prstGeom>
          <a:solidFill>
            <a:srgbClr val="FFFFFF"/>
          </a:solidFill>
          <a:ln/>
        </p:spPr>
        <p:txBody>
          <a:bodyPr/>
          <a:lstStyle/>
          <a:p>
            <a:endParaRPr lang="es-ES"/>
          </a:p>
        </p:txBody>
      </p:sp>
      <p:sp>
        <p:nvSpPr>
          <p:cNvPr id="26" name="Text 24"/>
          <p:cNvSpPr/>
          <p:nvPr/>
        </p:nvSpPr>
        <p:spPr>
          <a:xfrm>
            <a:off x="852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txBody>
          <a:bodyPr/>
          <a:lstStyle/>
          <a:p>
            <a:endParaRPr lang="es-ES"/>
          </a:p>
        </p:txBody>
      </p:sp>
      <p:sp>
        <p:nvSpPr>
          <p:cNvPr id="28" name="Text 26"/>
          <p:cNvSpPr/>
          <p:nvPr/>
        </p:nvSpPr>
        <p:spPr>
          <a:xfrm>
            <a:off x="979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Shape 27"/>
          <p:cNvSpPr/>
          <p:nvPr/>
        </p:nvSpPr>
        <p:spPr>
          <a:xfrm>
            <a:off x="541655" y="2687320"/>
            <a:ext cx="11172825" cy="2306955"/>
          </a:xfrm>
          <a:prstGeom prst="rect">
            <a:avLst/>
          </a:prstGeom>
          <a:solidFill>
            <a:srgbClr val="000000">
              <a:alpha val="0"/>
            </a:srgbClr>
          </a:solidFill>
          <a:ln/>
        </p:spPr>
        <p:txBody>
          <a:bodyPr/>
          <a:lstStyle/>
          <a:p>
            <a:endParaRPr lang="es-ES"/>
          </a:p>
        </p:txBody>
      </p:sp>
      <p:sp>
        <p:nvSpPr>
          <p:cNvPr id="30" name="Text 28"/>
          <p:cNvSpPr/>
          <p:nvPr/>
        </p:nvSpPr>
        <p:spPr>
          <a:xfrm>
            <a:off x="541655" y="2687320"/>
            <a:ext cx="11172825" cy="2306955"/>
          </a:xfrm>
          <a:prstGeom prst="rect">
            <a:avLst/>
          </a:prstGeom>
          <a:noFill/>
          <a:ln/>
        </p:spPr>
        <p:txBody>
          <a:bodyPr wrap="square" lIns="45720" tIns="91440" rIns="91440" bIns="45720" rtlCol="0" anchor="t"/>
          <a:lstStyle/>
          <a:p>
            <a:pPr algn="ctr">
              <a:lnSpc>
                <a:spcPct val="100000"/>
              </a:lnSpc>
            </a:pPr>
            <a:r>
              <a:rPr lang="en-US" sz="7200" b="1" dirty="0">
                <a:solidFill>
                  <a:srgbClr val="FFFFFF"/>
                </a:solidFill>
                <a:latin typeface="MiSans" pitchFamily="34" charset="0"/>
                <a:ea typeface="MiSans" pitchFamily="34" charset="-122"/>
                <a:cs typeface="MiSans" pitchFamily="34" charset="-120"/>
              </a:rPr>
              <a:t>Cierre</a:t>
            </a:r>
            <a:endParaRPr lang="en-US" sz="1600" dirty="0"/>
          </a:p>
        </p:txBody>
      </p:sp>
      <p:sp>
        <p:nvSpPr>
          <p:cNvPr id="31" name="Text 29"/>
          <p:cNvSpPr/>
          <p:nvPr/>
        </p:nvSpPr>
        <p:spPr>
          <a:xfrm>
            <a:off x="2515235" y="1350010"/>
            <a:ext cx="7161530" cy="1198880"/>
          </a:xfrm>
          <a:prstGeom prst="rect">
            <a:avLst/>
          </a:prstGeom>
          <a:noFill/>
          <a:ln/>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0"/>
                <a:ea typeface="MiSans" pitchFamily="34" charset="-122"/>
                <a:cs typeface="MiSans" pitchFamily="34" charset="-120"/>
              </a:rPr>
              <a:t>09</a:t>
            </a:r>
            <a:endParaRPr lang="en-US" sz="1600" dirty="0"/>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rot="16200000" flipH="1" flipV="1">
            <a:off x="4631055" y="-4632960"/>
            <a:ext cx="2919095" cy="12209145"/>
          </a:xfrm>
          <a:prstGeom prst="round2DiagRect">
            <a:avLst>
              <a:gd name="adj1" fmla="val 0"/>
              <a:gd name="adj2" fmla="val 0"/>
            </a:avLst>
          </a:prstGeom>
          <a:solidFill>
            <a:srgbClr val="402E7F"/>
          </a:solidFill>
          <a:ln/>
        </p:spPr>
        <p:txBody>
          <a:bodyPr/>
          <a:lstStyle/>
          <a:p>
            <a:endParaRPr lang="es-ES"/>
          </a:p>
        </p:txBody>
      </p:sp>
      <p:sp>
        <p:nvSpPr>
          <p:cNvPr id="5" name="Text 3"/>
          <p:cNvSpPr/>
          <p:nvPr/>
        </p:nvSpPr>
        <p:spPr>
          <a:xfrm rot="16200000">
            <a:off x="4631055" y="-4632960"/>
            <a:ext cx="2919095" cy="12209145"/>
          </a:xfrm>
          <a:prstGeom prst="rect">
            <a:avLst/>
          </a:prstGeom>
          <a:noFill/>
          <a:ln/>
        </p:spPr>
        <p:txBody>
          <a:bodyPr wrap="square" lIns="45720" tIns="91440" rIns="91440" bIns="45720" rtlCol="0" anchor="ctr"/>
          <a:lstStyle/>
          <a:p>
            <a:pPr>
              <a:lnSpc>
                <a:spcPct val="100000"/>
              </a:lnSpc>
            </a:pPr>
            <a:endParaRPr lang="en-US" sz="1600" dirty="0"/>
          </a:p>
        </p:txBody>
      </p:sp>
      <p:sp>
        <p:nvSpPr>
          <p:cNvPr id="6" name="Text 4"/>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FFFFFF"/>
                </a:solidFill>
                <a:latin typeface="MiSans" pitchFamily="34" charset="0"/>
                <a:ea typeface="MiSans" pitchFamily="34" charset="-122"/>
                <a:cs typeface="MiSans" pitchFamily="34" charset="-120"/>
              </a:rPr>
              <a:t>Balance 2025</a:t>
            </a:r>
            <a:endParaRPr lang="en-US" sz="1600" dirty="0"/>
          </a:p>
        </p:txBody>
      </p:sp>
      <p:sp>
        <p:nvSpPr>
          <p:cNvPr id="7" name="Shape 5"/>
          <p:cNvSpPr/>
          <p:nvPr/>
        </p:nvSpPr>
        <p:spPr>
          <a:xfrm rot="5940000">
            <a:off x="292735" y="295275"/>
            <a:ext cx="558800" cy="558800"/>
          </a:xfrm>
          <a:prstGeom prst="donut">
            <a:avLst/>
          </a:prstGeom>
          <a:gradFill flip="none" rotWithShape="1">
            <a:gsLst>
              <a:gs pos="0">
                <a:srgbClr val="FFFFFF"/>
              </a:gs>
              <a:gs pos="54000">
                <a:srgbClr val="FFFFFF">
                  <a:alpha val="0"/>
                </a:srgbClr>
              </a:gs>
              <a:gs pos="100000">
                <a:srgbClr val="FFFFFF">
                  <a:alpha val="0"/>
                </a:srgbClr>
              </a:gs>
            </a:gsLst>
            <a:lin ang="18900000" scaled="1"/>
          </a:gradFill>
          <a:ln/>
        </p:spPr>
        <p:txBody>
          <a:bodyPr/>
          <a:lstStyle/>
          <a:p>
            <a:endParaRPr lang="es-ES"/>
          </a:p>
        </p:txBody>
      </p:sp>
      <p:sp>
        <p:nvSpPr>
          <p:cNvPr id="8" name="Text 6"/>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pic>
        <p:nvPicPr>
          <p:cNvPr id="9" name="Image 0" descr="https://kimi-img.moonshot.cn/pub/slides/slides_tmpl/image/25-09-08-15:08:36-d2v81t5nfo2stf9dkdk0.jpg"/>
          <p:cNvPicPr>
            <a:picLocks noChangeAspect="1"/>
          </p:cNvPicPr>
          <p:nvPr/>
        </p:nvPicPr>
        <p:blipFill>
          <a:blip r:embed="rId3"/>
          <a:srcRect l="48" r="48"/>
          <a:stretch/>
        </p:blipFill>
        <p:spPr>
          <a:xfrm>
            <a:off x="8419465" y="1526540"/>
            <a:ext cx="3337560" cy="4813300"/>
          </a:xfrm>
          <a:prstGeom prst="rect">
            <a:avLst/>
          </a:prstGeom>
        </p:spPr>
      </p:pic>
      <p:sp>
        <p:nvSpPr>
          <p:cNvPr id="10" name="Text 7"/>
          <p:cNvSpPr/>
          <p:nvPr/>
        </p:nvSpPr>
        <p:spPr>
          <a:xfrm>
            <a:off x="648970" y="1334135"/>
            <a:ext cx="7634715" cy="398780"/>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Sans" pitchFamily="34" charset="0"/>
                <a:ea typeface="MiSans" pitchFamily="34" charset="-122"/>
                <a:cs typeface="MiSans" pitchFamily="34" charset="-120"/>
              </a:rPr>
              <a:t>Logros y desafíos</a:t>
            </a:r>
            <a:endParaRPr lang="en-US" sz="1600" dirty="0"/>
          </a:p>
        </p:txBody>
      </p:sp>
      <p:sp>
        <p:nvSpPr>
          <p:cNvPr id="11" name="Text 8"/>
          <p:cNvSpPr/>
          <p:nvPr/>
        </p:nvSpPr>
        <p:spPr>
          <a:xfrm>
            <a:off x="648970" y="1733550"/>
            <a:ext cx="7652385" cy="1050925"/>
          </a:xfrm>
          <a:prstGeom prst="rect">
            <a:avLst/>
          </a:prstGeom>
          <a:noFill/>
          <a:ln/>
        </p:spPr>
        <p:txBody>
          <a:bodyPr wrap="square" lIns="91440" tIns="45720" rIns="91440" bIns="45720" rtlCol="0" anchor="t">
            <a:spAutoFit/>
          </a:bodyPr>
          <a:lstStyle/>
          <a:p>
            <a:pPr>
              <a:lnSpc>
                <a:spcPct val="130000"/>
              </a:lnSpc>
            </a:pPr>
            <a:r>
              <a:rPr lang="en-US" sz="1600" dirty="0">
                <a:solidFill>
                  <a:srgbClr val="FFFFFF"/>
                </a:solidFill>
                <a:latin typeface="MiSans" pitchFamily="34" charset="0"/>
                <a:ea typeface="MiSans" pitchFamily="34" charset="-122"/>
                <a:cs typeface="MiSans" pitchFamily="34" charset="-120"/>
              </a:rPr>
              <a:t>España ha avanzado en protección salarial y transparencia de género, pero mantiene desempleo estructural alto y desconexión entre salarios y productividad.</a:t>
            </a:r>
            <a:endParaRPr lang="en-US" sz="1600" dirty="0"/>
          </a:p>
        </p:txBody>
      </p:sp>
      <p:sp>
        <p:nvSpPr>
          <p:cNvPr id="12" name="Text 9"/>
          <p:cNvSpPr/>
          <p:nvPr/>
        </p:nvSpPr>
        <p:spPr>
          <a:xfrm>
            <a:off x="740410" y="3091815"/>
            <a:ext cx="3333654" cy="706755"/>
          </a:xfrm>
          <a:prstGeom prst="rect">
            <a:avLst/>
          </a:prstGeom>
          <a:noFill/>
          <a:ln/>
        </p:spPr>
        <p:txBody>
          <a:bodyPr wrap="square" lIns="91440" tIns="45720" rIns="91440" bIns="4572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Necesidad de reformas</a:t>
            </a:r>
            <a:endParaRPr lang="en-US" sz="1600" dirty="0"/>
          </a:p>
        </p:txBody>
      </p:sp>
      <p:sp>
        <p:nvSpPr>
          <p:cNvPr id="13" name="Text 10"/>
          <p:cNvSpPr/>
          <p:nvPr/>
        </p:nvSpPr>
        <p:spPr>
          <a:xfrm>
            <a:off x="740410" y="3765550"/>
            <a:ext cx="3341370" cy="2494915"/>
          </a:xfrm>
          <a:prstGeom prst="rect">
            <a:avLst/>
          </a:prstGeom>
          <a:noFill/>
          <a:ln/>
        </p:spPr>
        <p:txBody>
          <a:bodyPr wrap="square" lIns="91440" tIns="45720" rIns="91440" bIns="45720" rtlCol="0" anchor="t"/>
          <a:lstStyle/>
          <a:p>
            <a:pPr>
              <a:lnSpc>
                <a:spcPct val="120000"/>
              </a:lnSpc>
            </a:pPr>
            <a:r>
              <a:rPr lang="en-US" sz="1600" dirty="0">
                <a:solidFill>
                  <a:srgbClr val="1E1C0D"/>
                </a:solidFill>
                <a:latin typeface="MiSans" pitchFamily="34" charset="0"/>
                <a:ea typeface="MiSans" pitchFamily="34" charset="-122"/>
                <a:cs typeface="MiSans" pitchFamily="34" charset="-120"/>
              </a:rPr>
              <a:t>El reto es compatibilizar la dignidad salarial, la equidad y la creación de empleo sin repetir ciclos de ajuste brusco que afectan a los más vulnerables.</a:t>
            </a:r>
            <a:endParaRPr lang="en-US" sz="1600" dirty="0"/>
          </a:p>
        </p:txBody>
      </p:sp>
      <p:sp>
        <p:nvSpPr>
          <p:cNvPr id="14" name="Text 11"/>
          <p:cNvSpPr/>
          <p:nvPr/>
        </p:nvSpPr>
        <p:spPr>
          <a:xfrm>
            <a:off x="4707890" y="3091815"/>
            <a:ext cx="3333654" cy="706755"/>
          </a:xfrm>
          <a:prstGeom prst="rect">
            <a:avLst/>
          </a:prstGeom>
          <a:noFill/>
          <a:ln/>
        </p:spPr>
        <p:txBody>
          <a:bodyPr wrap="square" lIns="91440" tIns="45720" rIns="91440" bIns="45720" rtlCol="0" anchor="t">
            <a:spAutoFit/>
          </a:bodyPr>
          <a:lstStyle/>
          <a:p>
            <a:pPr>
              <a:lnSpc>
                <a:spcPct val="100000"/>
              </a:lnSpc>
            </a:pPr>
            <a:r>
              <a:rPr lang="en-US" sz="2000" b="1" dirty="0">
                <a:solidFill>
                  <a:srgbClr val="402E7F"/>
                </a:solidFill>
                <a:latin typeface="MiSans" pitchFamily="34" charset="0"/>
                <a:ea typeface="MiSans" pitchFamily="34" charset="-122"/>
                <a:cs typeface="MiSans" pitchFamily="34" charset="-120"/>
              </a:rPr>
              <a:t>Agenda pendiente</a:t>
            </a:r>
            <a:endParaRPr lang="en-US" sz="1600" dirty="0"/>
          </a:p>
        </p:txBody>
      </p:sp>
      <p:sp>
        <p:nvSpPr>
          <p:cNvPr id="15" name="Text 12"/>
          <p:cNvSpPr/>
          <p:nvPr/>
        </p:nvSpPr>
        <p:spPr>
          <a:xfrm>
            <a:off x="4707890" y="3765550"/>
            <a:ext cx="3341370" cy="2494915"/>
          </a:xfrm>
          <a:prstGeom prst="rect">
            <a:avLst/>
          </a:prstGeom>
          <a:noFill/>
          <a:ln/>
        </p:spPr>
        <p:txBody>
          <a:bodyPr wrap="square" lIns="91440" tIns="45720" rIns="91440" bIns="45720" rtlCol="0" anchor="t"/>
          <a:lstStyle/>
          <a:p>
            <a:pPr>
              <a:lnSpc>
                <a:spcPct val="120000"/>
              </a:lnSpc>
            </a:pPr>
            <a:r>
              <a:rPr lang="en-US" sz="1600" dirty="0">
                <a:solidFill>
                  <a:srgbClr val="1E1C0D"/>
                </a:solidFill>
                <a:latin typeface="MiSans" pitchFamily="34" charset="0"/>
                <a:ea typeface="MiSans" pitchFamily="34" charset="-122"/>
                <a:cs typeface="MiSans" pitchFamily="34" charset="-120"/>
              </a:rPr>
              <a:t>Se requieren reformas integrales que combinen flexibilidad, protección y formación para construir un mercado laboral equitativo y eficiente.</a:t>
            </a:r>
            <a:endParaRPr lang="en-US" sz="1600" dirty="0"/>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292735" y="29527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793750" y="1776730"/>
            <a:ext cx="10858500" cy="3921125"/>
          </a:xfrm>
          <a:prstGeom prst="roundRect">
            <a:avLst>
              <a:gd name="adj" fmla="val 5208"/>
            </a:avLst>
          </a:prstGeom>
          <a:gradFill flip="none" rotWithShape="1">
            <a:gsLst>
              <a:gs pos="0">
                <a:srgbClr val="D7B1D4"/>
              </a:gs>
              <a:gs pos="34000">
                <a:srgbClr val="BC7DB7"/>
              </a:gs>
              <a:gs pos="100000">
                <a:srgbClr val="30225F"/>
              </a:gs>
            </a:gsLst>
            <a:lin ang="13500000" scaled="1"/>
          </a:gradFill>
          <a:ln/>
        </p:spPr>
        <p:txBody>
          <a:bodyPr/>
          <a:lstStyle/>
          <a:p>
            <a:endParaRPr lang="es-ES"/>
          </a:p>
        </p:txBody>
      </p:sp>
      <p:sp>
        <p:nvSpPr>
          <p:cNvPr id="5" name="Text 3"/>
          <p:cNvSpPr/>
          <p:nvPr/>
        </p:nvSpPr>
        <p:spPr>
          <a:xfrm>
            <a:off x="793750" y="1776730"/>
            <a:ext cx="10858500" cy="392112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666750" y="1649730"/>
            <a:ext cx="10858500" cy="3921125"/>
          </a:xfrm>
          <a:prstGeom prst="roundRect">
            <a:avLst>
              <a:gd name="adj" fmla="val 5208"/>
            </a:avLst>
          </a:prstGeom>
          <a:solidFill>
            <a:srgbClr val="FFFFFF"/>
          </a:solidFill>
          <a:ln w="19050">
            <a:solidFill>
              <a:srgbClr val="402E7F"/>
            </a:solidFill>
            <a:prstDash val="solid"/>
          </a:ln>
        </p:spPr>
        <p:txBody>
          <a:bodyPr/>
          <a:lstStyle/>
          <a:p>
            <a:endParaRPr lang="es-ES"/>
          </a:p>
        </p:txBody>
      </p:sp>
      <p:sp>
        <p:nvSpPr>
          <p:cNvPr id="7" name="Text 5"/>
          <p:cNvSpPr/>
          <p:nvPr/>
        </p:nvSpPr>
        <p:spPr>
          <a:xfrm>
            <a:off x="666750" y="1649730"/>
            <a:ext cx="10858500" cy="3921125"/>
          </a:xfrm>
          <a:prstGeom prst="rect">
            <a:avLst/>
          </a:prstGeom>
          <a:noFill/>
          <a:ln/>
        </p:spPr>
        <p:txBody>
          <a:bodyPr wrap="square" lIns="45720" tIns="91440" rIns="91440" bIns="45720" rtlCol="0" anchor="ctr"/>
          <a:lstStyle/>
          <a:p>
            <a:pPr>
              <a:lnSpc>
                <a:spcPct val="100000"/>
              </a:lnSpc>
            </a:pPr>
            <a:endParaRPr lang="en-US" sz="1600" dirty="0"/>
          </a:p>
        </p:txBody>
      </p:sp>
      <p:pic>
        <p:nvPicPr>
          <p:cNvPr id="8" name="Image 0" descr="https://kimi-img.moonshot.cn/pub/slides/slides_tmpl/image/25-09-08-15:08:33-d2v81sdnfo2stf9dkdfg.png"/>
          <p:cNvPicPr>
            <a:picLocks noChangeAspect="1"/>
          </p:cNvPicPr>
          <p:nvPr/>
        </p:nvPicPr>
        <p:blipFill>
          <a:blip r:embed="rId3"/>
          <a:srcRect l="40" r="40"/>
          <a:stretch/>
        </p:blipFill>
        <p:spPr>
          <a:xfrm>
            <a:off x="4176078" y="1257300"/>
            <a:ext cx="3839845" cy="4786630"/>
          </a:xfrm>
          <a:prstGeom prst="roundRect">
            <a:avLst>
              <a:gd name="adj" fmla="val 4762"/>
            </a:avLst>
          </a:prstGeom>
        </p:spPr>
      </p:pic>
      <p:sp>
        <p:nvSpPr>
          <p:cNvPr id="9" name="Text 6"/>
          <p:cNvSpPr/>
          <p:nvPr/>
        </p:nvSpPr>
        <p:spPr>
          <a:xfrm>
            <a:off x="582930" y="455295"/>
            <a:ext cx="10151745"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0"/>
                <a:ea typeface="MiSans" pitchFamily="34" charset="-122"/>
                <a:cs typeface="MiSans" pitchFamily="34" charset="-120"/>
              </a:rPr>
              <a:t>Agenda 2030</a:t>
            </a:r>
            <a:endParaRPr lang="en-US" sz="1600" dirty="0"/>
          </a:p>
        </p:txBody>
      </p:sp>
      <p:sp>
        <p:nvSpPr>
          <p:cNvPr id="10" name="Shape 7"/>
          <p:cNvSpPr/>
          <p:nvPr/>
        </p:nvSpPr>
        <p:spPr>
          <a:xfrm rot="16200000" flipH="1" flipV="1">
            <a:off x="5789295" y="455295"/>
            <a:ext cx="615950" cy="12192000"/>
          </a:xfrm>
          <a:prstGeom prst="round2DiagRect">
            <a:avLst>
              <a:gd name="adj1" fmla="val 0"/>
              <a:gd name="adj2" fmla="val 0"/>
            </a:avLst>
          </a:prstGeom>
          <a:solidFill>
            <a:srgbClr val="402E7F"/>
          </a:solidFill>
          <a:ln/>
        </p:spPr>
        <p:txBody>
          <a:bodyPr/>
          <a:lstStyle/>
          <a:p>
            <a:endParaRPr lang="es-ES"/>
          </a:p>
        </p:txBody>
      </p:sp>
      <p:sp>
        <p:nvSpPr>
          <p:cNvPr id="11" name="Text 8"/>
          <p:cNvSpPr/>
          <p:nvPr/>
        </p:nvSpPr>
        <p:spPr>
          <a:xfrm rot="16200000">
            <a:off x="5789295" y="455295"/>
            <a:ext cx="615950" cy="1219200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Text 9"/>
          <p:cNvSpPr/>
          <p:nvPr/>
        </p:nvSpPr>
        <p:spPr>
          <a:xfrm>
            <a:off x="1005840" y="1909445"/>
            <a:ext cx="2906820" cy="645160"/>
          </a:xfrm>
          <a:prstGeom prst="rect">
            <a:avLst/>
          </a:prstGeom>
          <a:noFill/>
          <a:ln/>
        </p:spPr>
        <p:txBody>
          <a:bodyPr wrap="square" lIns="91440" tIns="45720" rIns="91440" bIns="45720" rtlCol="0" anchor="t">
            <a:spAutoFit/>
          </a:bodyPr>
          <a:lstStyle/>
          <a:p>
            <a:pPr>
              <a:lnSpc>
                <a:spcPct val="100000"/>
              </a:lnSpc>
            </a:pPr>
            <a:r>
              <a:rPr lang="en-US" sz="1800" b="1" dirty="0">
                <a:solidFill>
                  <a:srgbClr val="402E7F"/>
                </a:solidFill>
                <a:latin typeface="MiSans" pitchFamily="34" charset="0"/>
                <a:ea typeface="MiSans" pitchFamily="34" charset="-122"/>
                <a:cs typeface="MiSans" pitchFamily="34" charset="-120"/>
              </a:rPr>
              <a:t>Objetivos para 2030</a:t>
            </a:r>
            <a:endParaRPr lang="en-US" sz="1600" dirty="0"/>
          </a:p>
        </p:txBody>
      </p:sp>
      <p:sp>
        <p:nvSpPr>
          <p:cNvPr id="13" name="Text 10"/>
          <p:cNvSpPr/>
          <p:nvPr/>
        </p:nvSpPr>
        <p:spPr>
          <a:xfrm>
            <a:off x="1005840" y="2496820"/>
            <a:ext cx="2907665" cy="680720"/>
          </a:xfrm>
          <a:prstGeom prst="rect">
            <a:avLst/>
          </a:prstGeom>
          <a:noFill/>
          <a:ln/>
        </p:spPr>
        <p:txBody>
          <a:bodyPr wrap="square" lIns="91440" tIns="45720" rIns="91440" bIns="45720" rtlCol="0" anchor="t">
            <a:spAutoFit/>
          </a:bodyPr>
          <a:lstStyle/>
          <a:p>
            <a:pPr>
              <a:lnSpc>
                <a:spcPct val="150000"/>
              </a:lnSpc>
            </a:pPr>
            <a:r>
              <a:rPr lang="en-US" sz="1400" dirty="0">
                <a:solidFill>
                  <a:srgbClr val="1E1C0D"/>
                </a:solidFill>
                <a:latin typeface="MiSans" pitchFamily="34" charset="0"/>
                <a:ea typeface="MiSans" pitchFamily="34" charset="-122"/>
                <a:cs typeface="MiSans" pitchFamily="34" charset="-120"/>
              </a:rPr>
              <a:t>Alcanzar el 60 % del SMI, reducir la brecha de género al 10 % y bajar el paro juvenil por debajo del 20 % son objetivos clave para 2030.</a:t>
            </a:r>
            <a:endParaRPr lang="en-US" sz="1600" dirty="0"/>
          </a:p>
        </p:txBody>
      </p:sp>
      <p:sp>
        <p:nvSpPr>
          <p:cNvPr id="14" name="Text 11"/>
          <p:cNvSpPr/>
          <p:nvPr/>
        </p:nvSpPr>
        <p:spPr>
          <a:xfrm>
            <a:off x="8265160" y="1909445"/>
            <a:ext cx="2906820" cy="645160"/>
          </a:xfrm>
          <a:prstGeom prst="rect">
            <a:avLst/>
          </a:prstGeom>
          <a:noFill/>
          <a:ln/>
        </p:spPr>
        <p:txBody>
          <a:bodyPr wrap="square" lIns="91440" tIns="45720" rIns="91440" bIns="45720" rtlCol="0" anchor="t">
            <a:spAutoFit/>
          </a:bodyPr>
          <a:lstStyle/>
          <a:p>
            <a:pPr>
              <a:lnSpc>
                <a:spcPct val="100000"/>
              </a:lnSpc>
            </a:pPr>
            <a:r>
              <a:rPr lang="en-US" sz="1800" b="1" dirty="0">
                <a:solidFill>
                  <a:srgbClr val="402E7F"/>
                </a:solidFill>
                <a:latin typeface="MiSans" pitchFamily="34" charset="0"/>
                <a:ea typeface="MiSans" pitchFamily="34" charset="-122"/>
                <a:cs typeface="MiSans" pitchFamily="34" charset="-120"/>
              </a:rPr>
              <a:t>Acciones necesarias</a:t>
            </a:r>
            <a:endParaRPr lang="en-US" sz="1600" dirty="0"/>
          </a:p>
        </p:txBody>
      </p:sp>
      <p:sp>
        <p:nvSpPr>
          <p:cNvPr id="15" name="Text 12"/>
          <p:cNvSpPr/>
          <p:nvPr/>
        </p:nvSpPr>
        <p:spPr>
          <a:xfrm>
            <a:off x="8265160" y="2496820"/>
            <a:ext cx="2907665" cy="2676525"/>
          </a:xfrm>
          <a:prstGeom prst="rect">
            <a:avLst/>
          </a:prstGeom>
          <a:noFill/>
          <a:ln/>
        </p:spPr>
        <p:txBody>
          <a:bodyPr wrap="square" lIns="91440" tIns="45720" rIns="91440" bIns="45720" rtlCol="0" anchor="t">
            <a:spAutoFit/>
          </a:bodyPr>
          <a:lstStyle/>
          <a:p>
            <a:pPr>
              <a:lnSpc>
                <a:spcPct val="150000"/>
              </a:lnSpc>
            </a:pPr>
            <a:r>
              <a:rPr lang="en-US" sz="1400" dirty="0">
                <a:solidFill>
                  <a:srgbClr val="1E1C0D"/>
                </a:solidFill>
                <a:latin typeface="MiSans" pitchFamily="34" charset="0"/>
                <a:ea typeface="MiSans" pitchFamily="34" charset="-122"/>
                <a:cs typeface="MiSans" pitchFamily="34" charset="-120"/>
              </a:rPr>
              <a:t>Esto requiere negociación descentralizada, servicios de cuidado universales, transiciones activas y fiscalidad sostenible en un pacto social renovado.</a:t>
            </a:r>
            <a:endParaRPr lang="en-US" sz="1600" dirty="0"/>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a:ln/>
        </p:spPr>
        <p:txBody>
          <a:bodyPr/>
          <a:lstStyle/>
          <a:p>
            <a:endParaRPr lang="es-ES"/>
          </a:p>
        </p:txBody>
      </p:sp>
      <p:sp>
        <p:nvSpPr>
          <p:cNvPr id="3" name="Text 1"/>
          <p:cNvSpPr/>
          <p:nvPr/>
        </p:nvSpPr>
        <p:spPr>
          <a:xfrm rot="5940000">
            <a:off x="367665" y="335915"/>
            <a:ext cx="558800" cy="594995"/>
          </a:xfrm>
          <a:prstGeom prst="rect">
            <a:avLst/>
          </a:prstGeom>
          <a:noFill/>
          <a:ln/>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a:ln/>
        </p:spPr>
        <p:txBody>
          <a:bodyPr/>
          <a:lstStyle/>
          <a:p>
            <a:endParaRPr lang="es-ES"/>
          </a:p>
        </p:txBody>
      </p:sp>
      <p:sp>
        <p:nvSpPr>
          <p:cNvPr id="5" name="Text 3"/>
          <p:cNvSpPr/>
          <p:nvPr/>
        </p:nvSpPr>
        <p:spPr>
          <a:xfrm>
            <a:off x="4445" y="0"/>
            <a:ext cx="12187555" cy="687578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a:ln/>
        </p:spPr>
        <p:txBody>
          <a:bodyPr/>
          <a:lstStyle/>
          <a:p>
            <a:endParaRPr lang="es-ES"/>
          </a:p>
        </p:txBody>
      </p:sp>
      <p:sp>
        <p:nvSpPr>
          <p:cNvPr id="7" name="Text 5"/>
          <p:cNvSpPr/>
          <p:nvPr/>
        </p:nvSpPr>
        <p:spPr>
          <a:xfrm>
            <a:off x="85280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9" name="Text 7"/>
          <p:cNvSpPr/>
          <p:nvPr/>
        </p:nvSpPr>
        <p:spPr>
          <a:xfrm>
            <a:off x="113665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a:ln/>
        </p:spPr>
        <p:txBody>
          <a:bodyPr/>
          <a:lstStyle/>
          <a:p>
            <a:endParaRPr lang="es-ES"/>
          </a:p>
        </p:txBody>
      </p:sp>
      <p:sp>
        <p:nvSpPr>
          <p:cNvPr id="11" name="Text 9"/>
          <p:cNvSpPr/>
          <p:nvPr/>
        </p:nvSpPr>
        <p:spPr>
          <a:xfrm>
            <a:off x="142049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3" name="Text 11"/>
          <p:cNvSpPr/>
          <p:nvPr/>
        </p:nvSpPr>
        <p:spPr>
          <a:xfrm>
            <a:off x="170434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a:ln/>
        </p:spPr>
        <p:txBody>
          <a:bodyPr/>
          <a:lstStyle/>
          <a:p>
            <a:endParaRPr lang="es-ES"/>
          </a:p>
        </p:txBody>
      </p:sp>
      <p:sp>
        <p:nvSpPr>
          <p:cNvPr id="15" name="Text 13"/>
          <p:cNvSpPr/>
          <p:nvPr/>
        </p:nvSpPr>
        <p:spPr>
          <a:xfrm>
            <a:off x="1988185"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txBody>
          <a:bodyPr/>
          <a:lstStyle/>
          <a:p>
            <a:endParaRPr lang="es-ES"/>
          </a:p>
        </p:txBody>
      </p:sp>
      <p:sp>
        <p:nvSpPr>
          <p:cNvPr id="17" name="Text 15"/>
          <p:cNvSpPr/>
          <p:nvPr/>
        </p:nvSpPr>
        <p:spPr>
          <a:xfrm>
            <a:off x="2272030" y="469900"/>
            <a:ext cx="106680" cy="106680"/>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a:ln/>
        </p:spPr>
        <p:txBody>
          <a:bodyPr/>
          <a:lstStyle/>
          <a:p>
            <a:endParaRPr lang="es-ES"/>
          </a:p>
        </p:txBody>
      </p:sp>
      <p:sp>
        <p:nvSpPr>
          <p:cNvPr id="19" name="Text 17"/>
          <p:cNvSpPr/>
          <p:nvPr/>
        </p:nvSpPr>
        <p:spPr>
          <a:xfrm>
            <a:off x="11456035" y="38163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a:ln/>
        </p:spPr>
        <p:txBody>
          <a:bodyPr/>
          <a:lstStyle/>
          <a:p>
            <a:endParaRPr lang="es-ES"/>
          </a:p>
        </p:txBody>
      </p:sp>
      <p:sp>
        <p:nvSpPr>
          <p:cNvPr id="21" name="Text 19"/>
          <p:cNvSpPr/>
          <p:nvPr/>
        </p:nvSpPr>
        <p:spPr>
          <a:xfrm>
            <a:off x="11456035" y="501650"/>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a:ln/>
        </p:spPr>
        <p:txBody>
          <a:bodyPr/>
          <a:lstStyle/>
          <a:p>
            <a:endParaRPr lang="es-ES"/>
          </a:p>
        </p:txBody>
      </p:sp>
      <p:sp>
        <p:nvSpPr>
          <p:cNvPr id="23" name="Text 21"/>
          <p:cNvSpPr/>
          <p:nvPr/>
        </p:nvSpPr>
        <p:spPr>
          <a:xfrm>
            <a:off x="11456035" y="621665"/>
            <a:ext cx="351155" cy="43815"/>
          </a:xfrm>
          <a:prstGeom prst="rect">
            <a:avLst/>
          </a:prstGeom>
          <a:noFill/>
          <a:ln/>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txBody>
          <a:bodyPr/>
          <a:lstStyle/>
          <a:p>
            <a:endParaRPr lang="es-ES"/>
          </a:p>
        </p:txBody>
      </p:sp>
      <p:sp>
        <p:nvSpPr>
          <p:cNvPr id="25" name="Shape 23"/>
          <p:cNvSpPr/>
          <p:nvPr/>
        </p:nvSpPr>
        <p:spPr>
          <a:xfrm>
            <a:off x="852805" y="6177280"/>
            <a:ext cx="259080" cy="259080"/>
          </a:xfrm>
          <a:prstGeom prst="ellipse">
            <a:avLst/>
          </a:prstGeom>
          <a:solidFill>
            <a:srgbClr val="FFFFFF"/>
          </a:solidFill>
          <a:ln/>
        </p:spPr>
        <p:txBody>
          <a:bodyPr/>
          <a:lstStyle/>
          <a:p>
            <a:endParaRPr lang="es-ES"/>
          </a:p>
        </p:txBody>
      </p:sp>
      <p:sp>
        <p:nvSpPr>
          <p:cNvPr id="26" name="Text 24"/>
          <p:cNvSpPr/>
          <p:nvPr/>
        </p:nvSpPr>
        <p:spPr>
          <a:xfrm>
            <a:off x="852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txBody>
          <a:bodyPr/>
          <a:lstStyle/>
          <a:p>
            <a:endParaRPr lang="es-ES"/>
          </a:p>
        </p:txBody>
      </p:sp>
      <p:sp>
        <p:nvSpPr>
          <p:cNvPr id="28" name="Text 26"/>
          <p:cNvSpPr/>
          <p:nvPr/>
        </p:nvSpPr>
        <p:spPr>
          <a:xfrm>
            <a:off x="979805" y="6177280"/>
            <a:ext cx="259080" cy="25908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Text 27"/>
          <p:cNvSpPr/>
          <p:nvPr/>
        </p:nvSpPr>
        <p:spPr>
          <a:xfrm>
            <a:off x="1527175" y="2022475"/>
            <a:ext cx="9594850" cy="1811655"/>
          </a:xfrm>
          <a:prstGeom prst="rect">
            <a:avLst/>
          </a:prstGeom>
          <a:noFill/>
          <a:ln/>
        </p:spPr>
        <p:txBody>
          <a:bodyPr wrap="square" lIns="91440" tIns="45720" rIns="91440" bIns="45720" rtlCol="0" anchor="t"/>
          <a:lstStyle/>
          <a:p>
            <a:pPr algn="ctr">
              <a:lnSpc>
                <a:spcPct val="100000"/>
              </a:lnSpc>
            </a:pPr>
            <a:r>
              <a:rPr lang="en-US" sz="11500" b="1" dirty="0">
                <a:solidFill>
                  <a:srgbClr val="FFFFFF"/>
                </a:solidFill>
                <a:latin typeface="MiSans" pitchFamily="34" charset="0"/>
                <a:ea typeface="MiSans" pitchFamily="34" charset="-122"/>
                <a:cs typeface="MiSans" pitchFamily="34" charset="-120"/>
              </a:rPr>
              <a:t>GRACIAS!!!</a:t>
            </a:r>
            <a:endParaRPr lang="en-US" sz="1600" dirty="0"/>
          </a:p>
        </p:txBody>
      </p:sp>
      <p:sp>
        <p:nvSpPr>
          <p:cNvPr id="31" name="Text 29"/>
          <p:cNvSpPr/>
          <p:nvPr/>
        </p:nvSpPr>
        <p:spPr>
          <a:xfrm>
            <a:off x="3875723" y="4495165"/>
            <a:ext cx="2057400" cy="518160"/>
          </a:xfrm>
          <a:prstGeom prst="rect">
            <a:avLst/>
          </a:prstGeom>
          <a:noFill/>
          <a:ln/>
        </p:spPr>
        <p:txBody>
          <a:bodyPr wrap="square" lIns="45720" tIns="91440" rIns="91440" bIns="45720" rtlCol="0" anchor="ctr"/>
          <a:lstStyle/>
          <a:p>
            <a:pPr>
              <a:lnSpc>
                <a:spcPct val="100000"/>
              </a:lnSpc>
            </a:pPr>
            <a:endParaRPr lang="en-US" sz="1600" dirty="0"/>
          </a:p>
        </p:txBody>
      </p:sp>
      <p:sp>
        <p:nvSpPr>
          <p:cNvPr id="34" name="Text 32"/>
          <p:cNvSpPr/>
          <p:nvPr/>
        </p:nvSpPr>
        <p:spPr>
          <a:xfrm>
            <a:off x="6258243" y="4495165"/>
            <a:ext cx="2057400" cy="518160"/>
          </a:xfrm>
          <a:prstGeom prst="rect">
            <a:avLst/>
          </a:prstGeom>
          <a:noFill/>
          <a:ln/>
        </p:spPr>
        <p:txBody>
          <a:bodyPr wrap="square" lIns="45720" tIns="91440" rIns="91440" bIns="45720" rtlCol="0" anchor="ctr"/>
          <a:lstStyle/>
          <a:p>
            <a:pPr>
              <a:lnSpc>
                <a:spcPct val="100000"/>
              </a:lnSpc>
            </a:pP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1E1C0D"/>
      </a:dk1>
      <a:lt1>
        <a:srgbClr val="FFFFFF"/>
      </a:lt1>
      <a:dk2>
        <a:srgbClr val="DC62FA"/>
      </a:dk2>
      <a:lt2>
        <a:srgbClr val="E8DBCE"/>
      </a:lt2>
      <a:accent1>
        <a:srgbClr val="402E7F"/>
      </a:accent1>
      <a:accent2>
        <a:srgbClr val="BC7DB7"/>
      </a:accent2>
      <a:accent3>
        <a:srgbClr val="AF9DCD"/>
      </a:accent3>
      <a:accent4>
        <a:srgbClr val="FFFFFF"/>
      </a:accent4>
      <a:accent5>
        <a:srgbClr val="1E1C0D"/>
      </a:accent5>
      <a:accent6>
        <a:srgbClr val="00B0F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TotalTime>
  <Words>2676</Words>
  <Application>Microsoft Office PowerPoint</Application>
  <PresentationFormat>Panorámica</PresentationFormat>
  <Paragraphs>270</Paragraphs>
  <Slides>47</Slides>
  <Notes>42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47</vt:i4>
      </vt:variant>
    </vt:vector>
  </HeadingPairs>
  <TitlesOfParts>
    <vt:vector size="50" baseType="lpstr">
      <vt:lpstr>MiSans</vt:lpstr>
      <vt:lpstr>Arial</vt:lpstr>
      <vt:lpstr>Custom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Políticas que moldean tu salario</dc:title>
  <dc:subject>Políticas que moldean tu salario</dc:subject>
  <dc:creator>Kimi</dc:creator>
  <cp:lastModifiedBy>Manuel Alejandro Hidalgo Perez</cp:lastModifiedBy>
  <cp:revision>6</cp:revision>
  <dcterms:created xsi:type="dcterms:W3CDTF">2025-11-19T11:11:46Z</dcterms:created>
  <dcterms:modified xsi:type="dcterms:W3CDTF">2025-11-24T06:14:58Z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{"Label":"Políticas que moldean tu salario","ContentProducer":"001191110108MACG2KBH8F10000","ProduceID":"d4eq68udmauhv3blqqh0","ReservedCode1":"","ContentPropagator":"001191110108MACG2KBH8F20000","PropagateID":"d4eq68udmauhv3blqqh0","ReservedCode2":""}</vt:lpwstr>
  </property>
</Properties>
</file>