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56"/>
  </p:notesMasterIdLst>
  <p:sldIdLst>
    <p:sldId id="256" r:id="rId2"/>
    <p:sldId id="257" r:id="rId3"/>
    <p:sldId id="258" r:id="rId4"/>
    <p:sldId id="259" r:id="rId5"/>
    <p:sldId id="294" r:id="rId6"/>
    <p:sldId id="260" r:id="rId7"/>
    <p:sldId id="261" r:id="rId8"/>
    <p:sldId id="295" r:id="rId9"/>
    <p:sldId id="262" r:id="rId10"/>
    <p:sldId id="263" r:id="rId11"/>
    <p:sldId id="264" r:id="rId12"/>
    <p:sldId id="265" r:id="rId13"/>
    <p:sldId id="266" r:id="rId14"/>
    <p:sldId id="267" r:id="rId15"/>
    <p:sldId id="268" r:id="rId16"/>
    <p:sldId id="269" r:id="rId17"/>
    <p:sldId id="270" r:id="rId18"/>
    <p:sldId id="271" r:id="rId19"/>
    <p:sldId id="272" r:id="rId20"/>
    <p:sldId id="296" r:id="rId21"/>
    <p:sldId id="273" r:id="rId22"/>
    <p:sldId id="297"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98" r:id="rId36"/>
    <p:sldId id="299" r:id="rId37"/>
    <p:sldId id="300" r:id="rId38"/>
    <p:sldId id="287" r:id="rId39"/>
    <p:sldId id="301" r:id="rId40"/>
    <p:sldId id="288" r:id="rId41"/>
    <p:sldId id="302" r:id="rId42"/>
    <p:sldId id="303" r:id="rId43"/>
    <p:sldId id="304" r:id="rId44"/>
    <p:sldId id="305" r:id="rId45"/>
    <p:sldId id="306" r:id="rId46"/>
    <p:sldId id="309" r:id="rId47"/>
    <p:sldId id="308" r:id="rId48"/>
    <p:sldId id="307" r:id="rId49"/>
    <p:sldId id="289" r:id="rId50"/>
    <p:sldId id="286" r:id="rId51"/>
    <p:sldId id="290" r:id="rId52"/>
    <p:sldId id="291" r:id="rId53"/>
    <p:sldId id="292" r:id="rId54"/>
    <p:sldId id="293" r:id="rId55"/>
  </p:sldIdLst>
  <p:sldSz cx="12192000" cy="6858000"/>
  <p:notesSz cx="6858000" cy="12192000"/>
  <p:embeddedFontLst>
    <p:embeddedFont>
      <p:font typeface="MiSans" panose="020B0604020202020204" charset="-122"/>
      <p:regular r:id="rId57"/>
    </p:embeddedFont>
    <p:embeddedFont>
      <p:font typeface="Noto Sans SC" panose="020B0600070205080204" pitchFamily="34" charset="-128"/>
      <p:regular r:id="rId58"/>
    </p:embeddedFont>
  </p:embeddedFontLst>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2.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8703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7700233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1868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6E2BA-747F-7190-2E7A-4CA649A6DA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FC3CB6-B034-1B3C-A2FD-FBBDF12993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C6F759-A0F7-478D-C1C3-BF24EBCA34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DF6F1D-0E65-54AA-13B6-670EBF47F9AF}"/>
              </a:ext>
            </a:extLst>
          </p:cNvPr>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7754395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5.jp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15.jpg"/><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748155" y="1262062"/>
            <a:ext cx="8588375" cy="1771015"/>
          </a:xfrm>
          <a:prstGeom prst="rect">
            <a:avLst/>
          </a:prstGeom>
          <a:noFill/>
          <a:ln/>
        </p:spPr>
        <p:txBody>
          <a:bodyPr wrap="square" lIns="91440" tIns="45720" rIns="91440" bIns="45720" rtlCol="0" anchor="ctr"/>
          <a:lstStyle/>
          <a:p>
            <a:pPr marL="0" indent="0" algn="ctr">
              <a:lnSpc>
                <a:spcPct val="100000"/>
              </a:lnSpc>
              <a:buNone/>
            </a:pPr>
            <a:r>
              <a:rPr lang="en-US" sz="3200" b="1" dirty="0">
                <a:solidFill>
                  <a:srgbClr val="000000"/>
                </a:solidFill>
                <a:latin typeface="MiSans" pitchFamily="34" charset="0"/>
                <a:ea typeface="MiSans" pitchFamily="34" charset="-122"/>
                <a:cs typeface="MiSans" pitchFamily="34" charset="-120"/>
              </a:rPr>
              <a:t>Tema 4.</a:t>
            </a:r>
            <a:endParaRPr lang="en-US" sz="1050" dirty="0"/>
          </a:p>
          <a:p>
            <a:pPr marL="0" indent="0" algn="ctr">
              <a:lnSpc>
                <a:spcPct val="100000"/>
              </a:lnSpc>
              <a:buNone/>
            </a:pPr>
            <a:r>
              <a:rPr lang="en-US" sz="3200" b="1" dirty="0">
                <a:solidFill>
                  <a:srgbClr val="000000"/>
                </a:solidFill>
                <a:latin typeface="MiSans" pitchFamily="34" charset="0"/>
                <a:ea typeface="MiSans" pitchFamily="34" charset="-122"/>
                <a:cs typeface="MiSans" pitchFamily="34" charset="-120"/>
              </a:rPr>
              <a:t> Flexibilidad Laboral y Protección del Empleo</a:t>
            </a:r>
            <a:endParaRPr lang="en-US" sz="1050" dirty="0"/>
          </a:p>
        </p:txBody>
      </p:sp>
      <p:sp>
        <p:nvSpPr>
          <p:cNvPr id="3" name="Shape 1"/>
          <p:cNvSpPr/>
          <p:nvPr/>
        </p:nvSpPr>
        <p:spPr>
          <a:xfrm>
            <a:off x="2675255" y="1055370"/>
            <a:ext cx="337185" cy="337185"/>
          </a:xfrm>
          <a:prstGeom prst="ellipse">
            <a:avLst/>
          </a:prstGeom>
          <a:solidFill>
            <a:srgbClr val="FFFFFF"/>
          </a:solidFill>
          <a:ln w="19050">
            <a:solidFill>
              <a:srgbClr val="00B0F0"/>
            </a:solidFill>
            <a:prstDash val="solid"/>
          </a:ln>
        </p:spPr>
        <p:txBody>
          <a:bodyPr/>
          <a:lstStyle/>
          <a:p>
            <a:endParaRPr lang="es-ES"/>
          </a:p>
        </p:txBody>
      </p:sp>
      <p:sp>
        <p:nvSpPr>
          <p:cNvPr id="4" name="Text 2"/>
          <p:cNvSpPr/>
          <p:nvPr/>
        </p:nvSpPr>
        <p:spPr>
          <a:xfrm>
            <a:off x="2675255" y="1055370"/>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5" name="Shape 3"/>
          <p:cNvSpPr/>
          <p:nvPr/>
        </p:nvSpPr>
        <p:spPr>
          <a:xfrm>
            <a:off x="3635375" y="1055370"/>
            <a:ext cx="337185" cy="337185"/>
          </a:xfrm>
          <a:prstGeom prst="ellipse">
            <a:avLst/>
          </a:prstGeom>
          <a:solidFill>
            <a:srgbClr val="FFFFFF"/>
          </a:solidFill>
          <a:ln w="19050">
            <a:solidFill>
              <a:srgbClr val="00B0F0"/>
            </a:solidFill>
            <a:prstDash val="solid"/>
          </a:ln>
        </p:spPr>
        <p:txBody>
          <a:bodyPr/>
          <a:lstStyle/>
          <a:p>
            <a:endParaRPr lang="es-ES"/>
          </a:p>
        </p:txBody>
      </p:sp>
      <p:sp>
        <p:nvSpPr>
          <p:cNvPr id="6" name="Text 4"/>
          <p:cNvSpPr/>
          <p:nvPr/>
        </p:nvSpPr>
        <p:spPr>
          <a:xfrm>
            <a:off x="3635375" y="1055370"/>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7" name="Shape 5"/>
          <p:cNvSpPr/>
          <p:nvPr/>
        </p:nvSpPr>
        <p:spPr>
          <a:xfrm>
            <a:off x="3155315" y="1055370"/>
            <a:ext cx="337185" cy="337185"/>
          </a:xfrm>
          <a:prstGeom prst="ellipse">
            <a:avLst/>
          </a:prstGeom>
          <a:solidFill>
            <a:srgbClr val="00B0F0"/>
          </a:solidFill>
          <a:ln w="19050">
            <a:solidFill>
              <a:srgbClr val="FFFFFF"/>
            </a:solidFill>
            <a:prstDash val="solid"/>
          </a:ln>
        </p:spPr>
        <p:txBody>
          <a:bodyPr/>
          <a:lstStyle/>
          <a:p>
            <a:endParaRPr lang="es-ES"/>
          </a:p>
        </p:txBody>
      </p:sp>
      <p:sp>
        <p:nvSpPr>
          <p:cNvPr id="8" name="Text 6"/>
          <p:cNvSpPr/>
          <p:nvPr/>
        </p:nvSpPr>
        <p:spPr>
          <a:xfrm>
            <a:off x="3155315" y="1055370"/>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9" name="Shape 7"/>
          <p:cNvSpPr/>
          <p:nvPr/>
        </p:nvSpPr>
        <p:spPr>
          <a:xfrm>
            <a:off x="4115435" y="1055370"/>
            <a:ext cx="337185" cy="337185"/>
          </a:xfrm>
          <a:prstGeom prst="ellipse">
            <a:avLst/>
          </a:prstGeom>
          <a:solidFill>
            <a:srgbClr val="00B0F0"/>
          </a:solidFill>
          <a:ln w="19050">
            <a:solidFill>
              <a:srgbClr val="FFFFFF"/>
            </a:solidFill>
            <a:prstDash val="solid"/>
          </a:ln>
        </p:spPr>
        <p:txBody>
          <a:bodyPr/>
          <a:lstStyle/>
          <a:p>
            <a:endParaRPr lang="es-ES"/>
          </a:p>
        </p:txBody>
      </p:sp>
      <p:sp>
        <p:nvSpPr>
          <p:cNvPr id="10" name="Text 8"/>
          <p:cNvSpPr/>
          <p:nvPr/>
        </p:nvSpPr>
        <p:spPr>
          <a:xfrm>
            <a:off x="4115435" y="1055370"/>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Shape 9"/>
          <p:cNvSpPr/>
          <p:nvPr/>
        </p:nvSpPr>
        <p:spPr>
          <a:xfrm>
            <a:off x="291465" y="6075045"/>
            <a:ext cx="607496" cy="0"/>
          </a:xfrm>
          <a:prstGeom prst="line">
            <a:avLst/>
          </a:prstGeom>
          <a:noFill/>
          <a:ln w="57150">
            <a:solidFill>
              <a:srgbClr val="00B0F0"/>
            </a:solidFill>
            <a:prstDash val="solid"/>
            <a:headEnd type="none"/>
            <a:tailEnd type="none"/>
          </a:ln>
        </p:spPr>
        <p:txBody>
          <a:bodyPr/>
          <a:lstStyle/>
          <a:p>
            <a:endParaRPr lang="es-ES"/>
          </a:p>
        </p:txBody>
      </p:sp>
      <p:sp>
        <p:nvSpPr>
          <p:cNvPr id="12" name="Shape 10"/>
          <p:cNvSpPr/>
          <p:nvPr/>
        </p:nvSpPr>
        <p:spPr>
          <a:xfrm>
            <a:off x="291465" y="6308725"/>
            <a:ext cx="607496" cy="0"/>
          </a:xfrm>
          <a:prstGeom prst="line">
            <a:avLst/>
          </a:prstGeom>
          <a:noFill/>
          <a:ln w="57150">
            <a:solidFill>
              <a:srgbClr val="00B0F0"/>
            </a:solidFill>
            <a:prstDash val="solid"/>
            <a:headEnd type="none"/>
            <a:tailEnd type="none"/>
          </a:ln>
        </p:spPr>
        <p:txBody>
          <a:bodyPr/>
          <a:lstStyle/>
          <a:p>
            <a:endParaRPr lang="es-ES"/>
          </a:p>
        </p:txBody>
      </p:sp>
      <p:sp>
        <p:nvSpPr>
          <p:cNvPr id="13" name="Shape 11"/>
          <p:cNvSpPr/>
          <p:nvPr/>
        </p:nvSpPr>
        <p:spPr>
          <a:xfrm>
            <a:off x="291465" y="6542405"/>
            <a:ext cx="607496" cy="0"/>
          </a:xfrm>
          <a:prstGeom prst="line">
            <a:avLst/>
          </a:prstGeom>
          <a:noFill/>
          <a:ln w="57150">
            <a:solidFill>
              <a:srgbClr val="00B0F0"/>
            </a:solidFill>
            <a:prstDash val="solid"/>
            <a:headEnd type="none"/>
            <a:tailEnd type="none"/>
          </a:ln>
        </p:spPr>
        <p:txBody>
          <a:bodyPr/>
          <a:lstStyle/>
          <a:p>
            <a:endParaRPr lang="es-ES"/>
          </a:p>
        </p:txBody>
      </p:sp>
      <p:sp>
        <p:nvSpPr>
          <p:cNvPr id="14" name="Shape 12"/>
          <p:cNvSpPr/>
          <p:nvPr/>
        </p:nvSpPr>
        <p:spPr>
          <a:xfrm>
            <a:off x="4888230" y="1223645"/>
            <a:ext cx="5448300" cy="0"/>
          </a:xfrm>
          <a:prstGeom prst="line">
            <a:avLst/>
          </a:prstGeom>
          <a:noFill/>
          <a:ln w="57150">
            <a:solidFill>
              <a:srgbClr val="00B0F0"/>
            </a:solidFill>
            <a:prstDash val="solid"/>
            <a:headEnd type="none"/>
            <a:tailEnd type="none"/>
          </a:ln>
        </p:spPr>
        <p:txBody>
          <a:bodyPr/>
          <a:lstStyle/>
          <a:p>
            <a:endParaRPr lang="es-ES"/>
          </a:p>
        </p:txBody>
      </p:sp>
      <p:sp>
        <p:nvSpPr>
          <p:cNvPr id="15" name="Shape 13"/>
          <p:cNvSpPr/>
          <p:nvPr/>
        </p:nvSpPr>
        <p:spPr>
          <a:xfrm>
            <a:off x="1588770" y="2950845"/>
            <a:ext cx="8747760" cy="0"/>
          </a:xfrm>
          <a:prstGeom prst="line">
            <a:avLst/>
          </a:prstGeom>
          <a:noFill/>
          <a:ln w="57150">
            <a:solidFill>
              <a:srgbClr val="00B0F0"/>
            </a:solidFill>
            <a:prstDash val="solid"/>
            <a:headEnd type="none"/>
            <a:tailEnd type="none"/>
          </a:ln>
        </p:spPr>
        <p:txBody>
          <a:bodyPr/>
          <a:lstStyle/>
          <a:p>
            <a:endParaRPr lang="es-ES"/>
          </a:p>
        </p:txBody>
      </p:sp>
      <p:sp>
        <p:nvSpPr>
          <p:cNvPr id="16" name="Shape 14"/>
          <p:cNvSpPr/>
          <p:nvPr/>
        </p:nvSpPr>
        <p:spPr>
          <a:xfrm>
            <a:off x="10342245" y="1207135"/>
            <a:ext cx="0" cy="1758950"/>
          </a:xfrm>
          <a:prstGeom prst="line">
            <a:avLst/>
          </a:prstGeom>
          <a:noFill/>
          <a:ln w="57150">
            <a:solidFill>
              <a:srgbClr val="00B0F0"/>
            </a:solidFill>
            <a:prstDash val="solid"/>
            <a:headEnd type="none"/>
            <a:tailEnd type="none"/>
          </a:ln>
        </p:spPr>
        <p:txBody>
          <a:bodyPr/>
          <a:lstStyle/>
          <a:p>
            <a:endParaRPr lang="es-ES"/>
          </a:p>
        </p:txBody>
      </p:sp>
      <p:sp>
        <p:nvSpPr>
          <p:cNvPr id="17" name="Shape 15"/>
          <p:cNvSpPr/>
          <p:nvPr/>
        </p:nvSpPr>
        <p:spPr>
          <a:xfrm>
            <a:off x="1583055" y="1223645"/>
            <a:ext cx="0" cy="1758950"/>
          </a:xfrm>
          <a:prstGeom prst="line">
            <a:avLst/>
          </a:prstGeom>
          <a:noFill/>
          <a:ln w="57150">
            <a:solidFill>
              <a:srgbClr val="00B0F0"/>
            </a:solidFill>
            <a:prstDash val="solid"/>
            <a:headEnd type="none"/>
            <a:tailEnd type="none"/>
          </a:ln>
        </p:spPr>
        <p:txBody>
          <a:bodyPr/>
          <a:lstStyle/>
          <a:p>
            <a:endParaRPr lang="es-ES"/>
          </a:p>
        </p:txBody>
      </p:sp>
      <p:sp>
        <p:nvSpPr>
          <p:cNvPr id="18" name="Shape 16"/>
          <p:cNvSpPr/>
          <p:nvPr/>
        </p:nvSpPr>
        <p:spPr>
          <a:xfrm>
            <a:off x="1557020" y="1210945"/>
            <a:ext cx="742315" cy="0"/>
          </a:xfrm>
          <a:prstGeom prst="line">
            <a:avLst/>
          </a:prstGeom>
          <a:noFill/>
          <a:ln w="57150">
            <a:solidFill>
              <a:srgbClr val="00B0F0"/>
            </a:solidFill>
            <a:prstDash val="solid"/>
            <a:headEnd type="none"/>
            <a:tailEnd type="none"/>
          </a:ln>
        </p:spPr>
        <p:txBody>
          <a:bodyPr/>
          <a:lstStyle/>
          <a:p>
            <a:endParaRPr lang="es-ES"/>
          </a:p>
        </p:txBody>
      </p:sp>
      <p:pic>
        <p:nvPicPr>
          <p:cNvPr id="19" name="Image 0" descr="https://kimi-img.moonshot.cn/pub/slides/slides_tmpl/image/25-08-27-19:57:41-d2nf5d98bjvh7rlivslg.png"/>
          <p:cNvPicPr>
            <a:picLocks noChangeAspect="1"/>
          </p:cNvPicPr>
          <p:nvPr/>
        </p:nvPicPr>
        <p:blipFill>
          <a:blip r:embed="rId3"/>
          <a:srcRect b="42278"/>
          <a:stretch/>
        </p:blipFill>
        <p:spPr>
          <a:xfrm>
            <a:off x="2338070" y="2733675"/>
            <a:ext cx="7030085" cy="4124325"/>
          </a:xfrm>
          <a:prstGeom prst="rect">
            <a:avLst/>
          </a:prstGeom>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79190" y="716280"/>
            <a:ext cx="5186045" cy="507365"/>
          </a:xfrm>
          <a:prstGeom prst="roundRect">
            <a:avLst>
              <a:gd name="adj" fmla="val 50000"/>
            </a:avLst>
          </a:prstGeom>
          <a:solidFill>
            <a:srgbClr val="000000"/>
          </a:solidFill>
          <a:ln w="6350">
            <a:solidFill>
              <a:srgbClr val="000000"/>
            </a:solidFill>
            <a:prstDash val="solid"/>
          </a:ln>
        </p:spPr>
        <p:txBody>
          <a:bodyPr/>
          <a:lstStyle/>
          <a:p>
            <a:endParaRPr lang="es-ES"/>
          </a:p>
        </p:txBody>
      </p:sp>
      <p:sp>
        <p:nvSpPr>
          <p:cNvPr id="3" name="Text 1"/>
          <p:cNvSpPr/>
          <p:nvPr/>
        </p:nvSpPr>
        <p:spPr>
          <a:xfrm>
            <a:off x="3679190" y="716280"/>
            <a:ext cx="5186045" cy="50736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4721860" y="824230"/>
            <a:ext cx="0" cy="303530"/>
          </a:xfrm>
          <a:prstGeom prst="line">
            <a:avLst/>
          </a:prstGeom>
          <a:noFill/>
          <a:ln w="76200">
            <a:solidFill>
              <a:srgbClr val="FFFFFF"/>
            </a:solidFill>
            <a:prstDash val="solid"/>
            <a:headEnd type="none"/>
            <a:tailEnd type="none"/>
          </a:ln>
        </p:spPr>
        <p:txBody>
          <a:bodyPr/>
          <a:lstStyle/>
          <a:p>
            <a:endParaRPr lang="es-ES"/>
          </a:p>
        </p:txBody>
      </p:sp>
      <p:sp>
        <p:nvSpPr>
          <p:cNvPr id="5" name="Shape 3"/>
          <p:cNvSpPr/>
          <p:nvPr/>
        </p:nvSpPr>
        <p:spPr>
          <a:xfrm>
            <a:off x="3679190" y="1602740"/>
            <a:ext cx="5186045" cy="507365"/>
          </a:xfrm>
          <a:prstGeom prst="roundRect">
            <a:avLst>
              <a:gd name="adj" fmla="val 50000"/>
            </a:avLst>
          </a:prstGeom>
          <a:solidFill>
            <a:srgbClr val="00B0F0"/>
          </a:solidFill>
          <a:ln w="6350">
            <a:solidFill>
              <a:srgbClr val="000000"/>
            </a:solidFill>
            <a:prstDash val="solid"/>
          </a:ln>
        </p:spPr>
        <p:txBody>
          <a:bodyPr/>
          <a:lstStyle/>
          <a:p>
            <a:endParaRPr lang="es-ES"/>
          </a:p>
        </p:txBody>
      </p:sp>
      <p:sp>
        <p:nvSpPr>
          <p:cNvPr id="6" name="Text 4"/>
          <p:cNvSpPr/>
          <p:nvPr/>
        </p:nvSpPr>
        <p:spPr>
          <a:xfrm>
            <a:off x="3679190" y="1602740"/>
            <a:ext cx="5186045" cy="50736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7" name="Shape 5"/>
          <p:cNvSpPr/>
          <p:nvPr/>
        </p:nvSpPr>
        <p:spPr>
          <a:xfrm>
            <a:off x="4721860" y="1710690"/>
            <a:ext cx="0" cy="303530"/>
          </a:xfrm>
          <a:prstGeom prst="line">
            <a:avLst/>
          </a:prstGeom>
          <a:noFill/>
          <a:ln w="76200">
            <a:solidFill>
              <a:srgbClr val="000000"/>
            </a:solidFill>
            <a:prstDash val="solid"/>
            <a:headEnd type="none"/>
            <a:tailEnd type="none"/>
          </a:ln>
        </p:spPr>
        <p:txBody>
          <a:bodyPr/>
          <a:lstStyle/>
          <a:p>
            <a:endParaRPr lang="es-ES"/>
          </a:p>
        </p:txBody>
      </p:sp>
      <p:sp>
        <p:nvSpPr>
          <p:cNvPr id="8" name="Shape 6"/>
          <p:cNvSpPr/>
          <p:nvPr/>
        </p:nvSpPr>
        <p:spPr>
          <a:xfrm>
            <a:off x="3679190" y="3363595"/>
            <a:ext cx="5186045" cy="507365"/>
          </a:xfrm>
          <a:prstGeom prst="roundRect">
            <a:avLst>
              <a:gd name="adj" fmla="val 50000"/>
            </a:avLst>
          </a:prstGeom>
          <a:solidFill>
            <a:srgbClr val="00B0F0"/>
          </a:solidFill>
          <a:ln w="6350">
            <a:solidFill>
              <a:srgbClr val="000000"/>
            </a:solidFill>
            <a:prstDash val="solid"/>
          </a:ln>
        </p:spPr>
        <p:txBody>
          <a:bodyPr/>
          <a:lstStyle/>
          <a:p>
            <a:endParaRPr lang="es-ES"/>
          </a:p>
        </p:txBody>
      </p:sp>
      <p:sp>
        <p:nvSpPr>
          <p:cNvPr id="9" name="Text 7"/>
          <p:cNvSpPr/>
          <p:nvPr/>
        </p:nvSpPr>
        <p:spPr>
          <a:xfrm>
            <a:off x="3679190" y="3363595"/>
            <a:ext cx="5186045" cy="50736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a:off x="4721860" y="3471545"/>
            <a:ext cx="0" cy="303530"/>
          </a:xfrm>
          <a:prstGeom prst="line">
            <a:avLst/>
          </a:prstGeom>
          <a:noFill/>
          <a:ln w="76200">
            <a:solidFill>
              <a:srgbClr val="000000"/>
            </a:solidFill>
            <a:prstDash val="solid"/>
            <a:headEnd type="none"/>
            <a:tailEnd type="none"/>
          </a:ln>
        </p:spPr>
        <p:txBody>
          <a:bodyPr/>
          <a:lstStyle/>
          <a:p>
            <a:endParaRPr lang="es-ES"/>
          </a:p>
        </p:txBody>
      </p:sp>
      <p:sp>
        <p:nvSpPr>
          <p:cNvPr id="11" name="Shape 9"/>
          <p:cNvSpPr/>
          <p:nvPr/>
        </p:nvSpPr>
        <p:spPr>
          <a:xfrm>
            <a:off x="3679190" y="5147945"/>
            <a:ext cx="5186045" cy="507365"/>
          </a:xfrm>
          <a:prstGeom prst="roundRect">
            <a:avLst>
              <a:gd name="adj" fmla="val 50000"/>
            </a:avLst>
          </a:prstGeom>
          <a:solidFill>
            <a:srgbClr val="00B0F0"/>
          </a:solidFill>
          <a:ln w="6350">
            <a:solidFill>
              <a:srgbClr val="000000"/>
            </a:solidFill>
            <a:prstDash val="solid"/>
          </a:ln>
        </p:spPr>
        <p:txBody>
          <a:bodyPr/>
          <a:lstStyle/>
          <a:p>
            <a:endParaRPr lang="es-ES"/>
          </a:p>
        </p:txBody>
      </p:sp>
      <p:sp>
        <p:nvSpPr>
          <p:cNvPr id="12" name="Text 10"/>
          <p:cNvSpPr/>
          <p:nvPr/>
        </p:nvSpPr>
        <p:spPr>
          <a:xfrm>
            <a:off x="3679190" y="5147945"/>
            <a:ext cx="5186045" cy="50736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3" name="Shape 11"/>
          <p:cNvSpPr/>
          <p:nvPr/>
        </p:nvSpPr>
        <p:spPr>
          <a:xfrm>
            <a:off x="4721860" y="5255895"/>
            <a:ext cx="0" cy="303530"/>
          </a:xfrm>
          <a:prstGeom prst="line">
            <a:avLst/>
          </a:prstGeom>
          <a:noFill/>
          <a:ln w="76200">
            <a:solidFill>
              <a:srgbClr val="000000"/>
            </a:solidFill>
            <a:prstDash val="solid"/>
            <a:headEnd type="none"/>
            <a:tailEnd type="none"/>
          </a:ln>
        </p:spPr>
        <p:txBody>
          <a:bodyPr/>
          <a:lstStyle/>
          <a:p>
            <a:endParaRPr lang="es-ES"/>
          </a:p>
        </p:txBody>
      </p:sp>
      <p:sp>
        <p:nvSpPr>
          <p:cNvPr id="14" name="Shape 12"/>
          <p:cNvSpPr/>
          <p:nvPr/>
        </p:nvSpPr>
        <p:spPr>
          <a:xfrm>
            <a:off x="-24130" y="6262370"/>
            <a:ext cx="12216130" cy="468630"/>
          </a:xfrm>
          <a:prstGeom prst="rect">
            <a:avLst/>
          </a:prstGeom>
          <a:solidFill>
            <a:srgbClr val="00B0F0"/>
          </a:solidFill>
          <a:ln/>
        </p:spPr>
        <p:txBody>
          <a:bodyPr/>
          <a:lstStyle/>
          <a:p>
            <a:endParaRPr lang="es-ES"/>
          </a:p>
        </p:txBody>
      </p:sp>
      <p:sp>
        <p:nvSpPr>
          <p:cNvPr id="15" name="Text 13"/>
          <p:cNvSpPr/>
          <p:nvPr/>
        </p:nvSpPr>
        <p:spPr>
          <a:xfrm>
            <a:off x="-24130" y="6262370"/>
            <a:ext cx="12216130" cy="46863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3679190" y="2466340"/>
            <a:ext cx="5186045" cy="507365"/>
          </a:xfrm>
          <a:prstGeom prst="roundRect">
            <a:avLst>
              <a:gd name="adj" fmla="val 50000"/>
            </a:avLst>
          </a:prstGeom>
          <a:solidFill>
            <a:srgbClr val="000000"/>
          </a:solidFill>
          <a:ln w="6350">
            <a:solidFill>
              <a:srgbClr val="000000"/>
            </a:solidFill>
            <a:prstDash val="solid"/>
          </a:ln>
        </p:spPr>
        <p:txBody>
          <a:bodyPr/>
          <a:lstStyle/>
          <a:p>
            <a:endParaRPr lang="es-ES"/>
          </a:p>
        </p:txBody>
      </p:sp>
      <p:sp>
        <p:nvSpPr>
          <p:cNvPr id="17" name="Text 15"/>
          <p:cNvSpPr/>
          <p:nvPr/>
        </p:nvSpPr>
        <p:spPr>
          <a:xfrm>
            <a:off x="3679190" y="2466340"/>
            <a:ext cx="5186045" cy="50736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Shape 16"/>
          <p:cNvSpPr/>
          <p:nvPr/>
        </p:nvSpPr>
        <p:spPr>
          <a:xfrm>
            <a:off x="4721860" y="2574290"/>
            <a:ext cx="0" cy="303530"/>
          </a:xfrm>
          <a:prstGeom prst="line">
            <a:avLst/>
          </a:prstGeom>
          <a:noFill/>
          <a:ln w="76200">
            <a:solidFill>
              <a:srgbClr val="FFFFFF"/>
            </a:solidFill>
            <a:prstDash val="solid"/>
            <a:headEnd type="none"/>
            <a:tailEnd type="none"/>
          </a:ln>
        </p:spPr>
        <p:txBody>
          <a:bodyPr/>
          <a:lstStyle/>
          <a:p>
            <a:endParaRPr lang="es-ES"/>
          </a:p>
        </p:txBody>
      </p:sp>
      <p:sp>
        <p:nvSpPr>
          <p:cNvPr id="19" name="Shape 17"/>
          <p:cNvSpPr/>
          <p:nvPr/>
        </p:nvSpPr>
        <p:spPr>
          <a:xfrm>
            <a:off x="3679190" y="4261485"/>
            <a:ext cx="5186045" cy="507365"/>
          </a:xfrm>
          <a:prstGeom prst="roundRect">
            <a:avLst>
              <a:gd name="adj" fmla="val 50000"/>
            </a:avLst>
          </a:prstGeom>
          <a:solidFill>
            <a:srgbClr val="000000"/>
          </a:solidFill>
          <a:ln w="6350">
            <a:solidFill>
              <a:srgbClr val="000000"/>
            </a:solidFill>
            <a:prstDash val="solid"/>
          </a:ln>
        </p:spPr>
        <p:txBody>
          <a:bodyPr/>
          <a:lstStyle/>
          <a:p>
            <a:endParaRPr lang="es-ES"/>
          </a:p>
        </p:txBody>
      </p:sp>
      <p:sp>
        <p:nvSpPr>
          <p:cNvPr id="20" name="Text 18"/>
          <p:cNvSpPr/>
          <p:nvPr/>
        </p:nvSpPr>
        <p:spPr>
          <a:xfrm>
            <a:off x="3679190" y="4261485"/>
            <a:ext cx="5186045" cy="50736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1" name="Shape 19"/>
          <p:cNvSpPr/>
          <p:nvPr/>
        </p:nvSpPr>
        <p:spPr>
          <a:xfrm>
            <a:off x="4721860" y="4369435"/>
            <a:ext cx="0" cy="303530"/>
          </a:xfrm>
          <a:prstGeom prst="line">
            <a:avLst/>
          </a:prstGeom>
          <a:noFill/>
          <a:ln w="76200">
            <a:solidFill>
              <a:srgbClr val="FFFFFF"/>
            </a:solidFill>
            <a:prstDash val="solid"/>
            <a:headEnd type="none"/>
            <a:tailEnd type="none"/>
          </a:ln>
        </p:spPr>
        <p:txBody>
          <a:bodyPr/>
          <a:lstStyle/>
          <a:p>
            <a:endParaRPr lang="es-ES"/>
          </a:p>
        </p:txBody>
      </p:sp>
      <p:pic>
        <p:nvPicPr>
          <p:cNvPr id="22" name="Image 0" descr="https://kimi-img.moonshot.cn/pub/slides/slides_tmpl/image/25-08-27-19:57:41-d2nf5d98bjvh7rlivsl0.png"/>
          <p:cNvPicPr>
            <a:picLocks noChangeAspect="1"/>
          </p:cNvPicPr>
          <p:nvPr/>
        </p:nvPicPr>
        <p:blipFill>
          <a:blip r:embed="rId3"/>
          <a:stretch>
            <a:fillRect/>
          </a:stretch>
        </p:blipFill>
        <p:spPr>
          <a:xfrm>
            <a:off x="9222740" y="2921810"/>
            <a:ext cx="2205964" cy="2817320"/>
          </a:xfrm>
          <a:prstGeom prst="rect">
            <a:avLst/>
          </a:prstGeom>
        </p:spPr>
      </p:pic>
      <p:pic>
        <p:nvPicPr>
          <p:cNvPr id="23" name="Image 1" descr="https://kimi-img.moonshot.cn/pub/slides/slides_tmpl/image/25-08-27-19:57:41-d2nf5d98bjvh7rlivskg.png"/>
          <p:cNvPicPr>
            <a:picLocks noChangeAspect="1"/>
          </p:cNvPicPr>
          <p:nvPr/>
        </p:nvPicPr>
        <p:blipFill>
          <a:blip r:embed="rId4"/>
          <a:stretch>
            <a:fillRect/>
          </a:stretch>
        </p:blipFill>
        <p:spPr>
          <a:xfrm>
            <a:off x="9289754" y="1165860"/>
            <a:ext cx="2034775" cy="2595541"/>
          </a:xfrm>
          <a:prstGeom prst="rect">
            <a:avLst/>
          </a:prstGeom>
        </p:spPr>
      </p:pic>
      <p:sp>
        <p:nvSpPr>
          <p:cNvPr id="24" name="Shape 20"/>
          <p:cNvSpPr/>
          <p:nvPr/>
        </p:nvSpPr>
        <p:spPr>
          <a:xfrm>
            <a:off x="291465" y="202565"/>
            <a:ext cx="337185" cy="337185"/>
          </a:xfrm>
          <a:prstGeom prst="ellipse">
            <a:avLst/>
          </a:prstGeom>
          <a:solidFill>
            <a:srgbClr val="FFFFFF"/>
          </a:solidFill>
          <a:ln w="19050">
            <a:solidFill>
              <a:srgbClr val="00B0F0"/>
            </a:solidFill>
            <a:prstDash val="solid"/>
          </a:ln>
        </p:spPr>
        <p:txBody>
          <a:bodyPr/>
          <a:lstStyle/>
          <a:p>
            <a:endParaRPr lang="es-ES"/>
          </a:p>
        </p:txBody>
      </p:sp>
      <p:sp>
        <p:nvSpPr>
          <p:cNvPr id="25" name="Text 21"/>
          <p:cNvSpPr/>
          <p:nvPr/>
        </p:nvSpPr>
        <p:spPr>
          <a:xfrm>
            <a:off x="29146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6" name="Shape 22"/>
          <p:cNvSpPr/>
          <p:nvPr/>
        </p:nvSpPr>
        <p:spPr>
          <a:xfrm>
            <a:off x="1251585" y="202565"/>
            <a:ext cx="337185" cy="337185"/>
          </a:xfrm>
          <a:prstGeom prst="ellipse">
            <a:avLst/>
          </a:prstGeom>
          <a:solidFill>
            <a:srgbClr val="FFFFFF"/>
          </a:solidFill>
          <a:ln w="19050">
            <a:solidFill>
              <a:srgbClr val="00B0F0"/>
            </a:solidFill>
            <a:prstDash val="solid"/>
          </a:ln>
        </p:spPr>
        <p:txBody>
          <a:bodyPr/>
          <a:lstStyle/>
          <a:p>
            <a:endParaRPr lang="es-ES"/>
          </a:p>
        </p:txBody>
      </p:sp>
      <p:sp>
        <p:nvSpPr>
          <p:cNvPr id="27" name="Text 23"/>
          <p:cNvSpPr/>
          <p:nvPr/>
        </p:nvSpPr>
        <p:spPr>
          <a:xfrm>
            <a:off x="125158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8" name="Shape 24"/>
          <p:cNvSpPr/>
          <p:nvPr/>
        </p:nvSpPr>
        <p:spPr>
          <a:xfrm>
            <a:off x="771525" y="202565"/>
            <a:ext cx="337185" cy="337185"/>
          </a:xfrm>
          <a:prstGeom prst="ellipse">
            <a:avLst/>
          </a:prstGeom>
          <a:solidFill>
            <a:srgbClr val="00B0F0"/>
          </a:solidFill>
          <a:ln w="19050">
            <a:solidFill>
              <a:srgbClr val="FFFFFF"/>
            </a:solidFill>
            <a:prstDash val="solid"/>
          </a:ln>
        </p:spPr>
        <p:txBody>
          <a:bodyPr/>
          <a:lstStyle/>
          <a:p>
            <a:endParaRPr lang="es-ES"/>
          </a:p>
        </p:txBody>
      </p:sp>
      <p:sp>
        <p:nvSpPr>
          <p:cNvPr id="29" name="Text 25"/>
          <p:cNvSpPr/>
          <p:nvPr/>
        </p:nvSpPr>
        <p:spPr>
          <a:xfrm>
            <a:off x="77152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30" name="Shape 26"/>
          <p:cNvSpPr/>
          <p:nvPr/>
        </p:nvSpPr>
        <p:spPr>
          <a:xfrm>
            <a:off x="1731645" y="202565"/>
            <a:ext cx="337185" cy="337185"/>
          </a:xfrm>
          <a:prstGeom prst="ellipse">
            <a:avLst/>
          </a:prstGeom>
          <a:solidFill>
            <a:srgbClr val="00B0F0"/>
          </a:solidFill>
          <a:ln w="19050">
            <a:solidFill>
              <a:srgbClr val="FFFFFF"/>
            </a:solidFill>
            <a:prstDash val="solid"/>
          </a:ln>
        </p:spPr>
        <p:txBody>
          <a:bodyPr/>
          <a:lstStyle/>
          <a:p>
            <a:endParaRPr lang="es-ES"/>
          </a:p>
        </p:txBody>
      </p:sp>
      <p:sp>
        <p:nvSpPr>
          <p:cNvPr id="31" name="Text 27"/>
          <p:cNvSpPr/>
          <p:nvPr/>
        </p:nvSpPr>
        <p:spPr>
          <a:xfrm>
            <a:off x="173164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32" name="Shape 28"/>
          <p:cNvSpPr/>
          <p:nvPr/>
        </p:nvSpPr>
        <p:spPr>
          <a:xfrm>
            <a:off x="-24130" y="6479540"/>
            <a:ext cx="12216130" cy="377825"/>
          </a:xfrm>
          <a:prstGeom prst="rect">
            <a:avLst/>
          </a:prstGeom>
          <a:solidFill>
            <a:srgbClr val="000000"/>
          </a:solidFill>
          <a:ln/>
        </p:spPr>
        <p:txBody>
          <a:bodyPr/>
          <a:lstStyle/>
          <a:p>
            <a:endParaRPr lang="es-ES"/>
          </a:p>
        </p:txBody>
      </p:sp>
      <p:sp>
        <p:nvSpPr>
          <p:cNvPr id="33" name="Text 29"/>
          <p:cNvSpPr/>
          <p:nvPr/>
        </p:nvSpPr>
        <p:spPr>
          <a:xfrm>
            <a:off x="-24130" y="6479540"/>
            <a:ext cx="12216130" cy="37782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35" name="Text 30"/>
          <p:cNvSpPr/>
          <p:nvPr/>
        </p:nvSpPr>
        <p:spPr>
          <a:xfrm>
            <a:off x="3806825" y="675640"/>
            <a:ext cx="847090" cy="562570"/>
          </a:xfrm>
          <a:prstGeom prst="rect">
            <a:avLst/>
          </a:prstGeom>
          <a:noFill/>
          <a:ln/>
        </p:spPr>
        <p:txBody>
          <a:bodyPr wrap="square" lIns="91440" tIns="45720" rIns="91440" bIns="45720" rtlCol="0" anchor="t">
            <a:spAutoFit/>
          </a:bodyPr>
          <a:lstStyle/>
          <a:p>
            <a:pPr marL="0" indent="0" algn="ctr">
              <a:lnSpc>
                <a:spcPct val="100000"/>
              </a:lnSpc>
              <a:buNone/>
            </a:pPr>
            <a:r>
              <a:rPr lang="en-US" sz="3600" dirty="0">
                <a:solidFill>
                  <a:srgbClr val="FFFFFF"/>
                </a:solidFill>
                <a:latin typeface="MiSans" pitchFamily="34" charset="0"/>
                <a:ea typeface="MiSans" pitchFamily="34" charset="-122"/>
                <a:cs typeface="MiSans" pitchFamily="34" charset="-120"/>
              </a:rPr>
              <a:t>01</a:t>
            </a:r>
            <a:endParaRPr lang="en-US" sz="1600" dirty="0"/>
          </a:p>
        </p:txBody>
      </p:sp>
      <p:sp>
        <p:nvSpPr>
          <p:cNvPr id="36" name="Text 31"/>
          <p:cNvSpPr/>
          <p:nvPr/>
        </p:nvSpPr>
        <p:spPr>
          <a:xfrm>
            <a:off x="4885055" y="767080"/>
            <a:ext cx="3784600" cy="303411"/>
          </a:xfrm>
          <a:prstGeom prst="rect">
            <a:avLst/>
          </a:prstGeom>
          <a:noFill/>
          <a:ln/>
        </p:spPr>
        <p:txBody>
          <a:bodyPr wrap="square" lIns="91440" tIns="45720" rIns="91440" bIns="45720" rtlCol="0" anchor="t">
            <a:spAutoFit/>
          </a:bodyPr>
          <a:lstStyle/>
          <a:p>
            <a:pPr marL="0" indent="0">
              <a:lnSpc>
                <a:spcPct val="100000"/>
              </a:lnSpc>
              <a:buNone/>
            </a:pPr>
            <a:r>
              <a:rPr lang="en-US" sz="2000" dirty="0">
                <a:solidFill>
                  <a:srgbClr val="FFFFFF"/>
                </a:solidFill>
                <a:latin typeface="MiSans" pitchFamily="34" charset="0"/>
                <a:ea typeface="MiSans" pitchFamily="34" charset="-122"/>
                <a:cs typeface="MiSans" pitchFamily="34" charset="-120"/>
              </a:rPr>
              <a:t>Introducción y Conceptos</a:t>
            </a:r>
            <a:endParaRPr lang="en-US" sz="1600" dirty="0"/>
          </a:p>
        </p:txBody>
      </p:sp>
      <p:sp>
        <p:nvSpPr>
          <p:cNvPr id="37" name="Text 32"/>
          <p:cNvSpPr/>
          <p:nvPr/>
        </p:nvSpPr>
        <p:spPr>
          <a:xfrm>
            <a:off x="3806825" y="1562100"/>
            <a:ext cx="847090" cy="562570"/>
          </a:xfrm>
          <a:prstGeom prst="rect">
            <a:avLst/>
          </a:prstGeom>
          <a:noFill/>
          <a:ln/>
        </p:spPr>
        <p:txBody>
          <a:bodyPr wrap="square" lIns="91440" tIns="45720" rIns="91440" bIns="45720" rtlCol="0" anchor="t">
            <a:spAutoFit/>
          </a:bodyPr>
          <a:lstStyle/>
          <a:p>
            <a:pPr marL="0" indent="0" algn="ctr">
              <a:lnSpc>
                <a:spcPct val="100000"/>
              </a:lnSpc>
              <a:buNone/>
            </a:pPr>
            <a:r>
              <a:rPr lang="en-US" sz="3600" dirty="0">
                <a:solidFill>
                  <a:srgbClr val="000000"/>
                </a:solidFill>
                <a:latin typeface="MiSans" pitchFamily="34" charset="0"/>
                <a:ea typeface="MiSans" pitchFamily="34" charset="-122"/>
                <a:cs typeface="MiSans" pitchFamily="34" charset="-120"/>
              </a:rPr>
              <a:t>02</a:t>
            </a:r>
            <a:endParaRPr lang="en-US" sz="1600" dirty="0"/>
          </a:p>
        </p:txBody>
      </p:sp>
      <p:sp>
        <p:nvSpPr>
          <p:cNvPr id="38" name="Text 33"/>
          <p:cNvSpPr/>
          <p:nvPr/>
        </p:nvSpPr>
        <p:spPr>
          <a:xfrm>
            <a:off x="4885055" y="1653540"/>
            <a:ext cx="3784600" cy="303411"/>
          </a:xfrm>
          <a:prstGeom prst="rect">
            <a:avLst/>
          </a:prstGeom>
          <a:noFill/>
          <a:ln/>
        </p:spPr>
        <p:txBody>
          <a:bodyPr wrap="square" lIns="91440" tIns="45720" rIns="91440" bIns="45720" rtlCol="0" anchor="t">
            <a:spAutoFit/>
          </a:bodyPr>
          <a:lstStyle/>
          <a:p>
            <a:pPr marL="0" indent="0">
              <a:lnSpc>
                <a:spcPct val="100000"/>
              </a:lnSpc>
              <a:buNone/>
            </a:pPr>
            <a:r>
              <a:rPr lang="en-US" sz="2000" dirty="0">
                <a:solidFill>
                  <a:srgbClr val="000000"/>
                </a:solidFill>
                <a:latin typeface="MiSans" pitchFamily="34" charset="0"/>
                <a:ea typeface="MiSans" pitchFamily="34" charset="-122"/>
                <a:cs typeface="MiSans" pitchFamily="34" charset="-120"/>
              </a:rPr>
              <a:t>Flexibilidad Externa</a:t>
            </a:r>
            <a:endParaRPr lang="en-US" sz="1600" dirty="0"/>
          </a:p>
        </p:txBody>
      </p:sp>
      <p:sp>
        <p:nvSpPr>
          <p:cNvPr id="39" name="Text 34"/>
          <p:cNvSpPr/>
          <p:nvPr/>
        </p:nvSpPr>
        <p:spPr>
          <a:xfrm>
            <a:off x="3806825" y="2425700"/>
            <a:ext cx="847090" cy="562570"/>
          </a:xfrm>
          <a:prstGeom prst="rect">
            <a:avLst/>
          </a:prstGeom>
          <a:noFill/>
          <a:ln/>
        </p:spPr>
        <p:txBody>
          <a:bodyPr wrap="square" lIns="91440" tIns="45720" rIns="91440" bIns="45720" rtlCol="0" anchor="t">
            <a:spAutoFit/>
          </a:bodyPr>
          <a:lstStyle/>
          <a:p>
            <a:pPr marL="0" indent="0" algn="ctr">
              <a:lnSpc>
                <a:spcPct val="100000"/>
              </a:lnSpc>
              <a:buNone/>
            </a:pPr>
            <a:r>
              <a:rPr lang="en-US" sz="3600" dirty="0">
                <a:solidFill>
                  <a:srgbClr val="FFFFFF"/>
                </a:solidFill>
                <a:latin typeface="MiSans" pitchFamily="34" charset="0"/>
                <a:ea typeface="MiSans" pitchFamily="34" charset="-122"/>
                <a:cs typeface="MiSans" pitchFamily="34" charset="-120"/>
              </a:rPr>
              <a:t>03</a:t>
            </a:r>
            <a:endParaRPr lang="en-US" sz="1600" dirty="0"/>
          </a:p>
        </p:txBody>
      </p:sp>
      <p:sp>
        <p:nvSpPr>
          <p:cNvPr id="40" name="Text 35"/>
          <p:cNvSpPr/>
          <p:nvPr/>
        </p:nvSpPr>
        <p:spPr>
          <a:xfrm>
            <a:off x="4885055" y="2517140"/>
            <a:ext cx="3784600" cy="303411"/>
          </a:xfrm>
          <a:prstGeom prst="rect">
            <a:avLst/>
          </a:prstGeom>
          <a:noFill/>
          <a:ln/>
        </p:spPr>
        <p:txBody>
          <a:bodyPr wrap="square" lIns="91440" tIns="45720" rIns="91440" bIns="45720" rtlCol="0" anchor="t">
            <a:spAutoFit/>
          </a:bodyPr>
          <a:lstStyle/>
          <a:p>
            <a:pPr marL="0" indent="0">
              <a:lnSpc>
                <a:spcPct val="100000"/>
              </a:lnSpc>
              <a:buNone/>
            </a:pPr>
            <a:r>
              <a:rPr lang="en-US" sz="2000" dirty="0">
                <a:solidFill>
                  <a:srgbClr val="FFFFFF"/>
                </a:solidFill>
                <a:latin typeface="MiSans" pitchFamily="34" charset="0"/>
                <a:ea typeface="MiSans" pitchFamily="34" charset="-122"/>
                <a:cs typeface="MiSans" pitchFamily="34" charset="-120"/>
              </a:rPr>
              <a:t>Índice EPL de la OCDE</a:t>
            </a:r>
            <a:endParaRPr lang="en-US" sz="1600" dirty="0"/>
          </a:p>
        </p:txBody>
      </p:sp>
      <p:sp>
        <p:nvSpPr>
          <p:cNvPr id="41" name="Text 36"/>
          <p:cNvSpPr/>
          <p:nvPr/>
        </p:nvSpPr>
        <p:spPr>
          <a:xfrm>
            <a:off x="3806825" y="3322955"/>
            <a:ext cx="847090" cy="562570"/>
          </a:xfrm>
          <a:prstGeom prst="rect">
            <a:avLst/>
          </a:prstGeom>
          <a:noFill/>
          <a:ln/>
        </p:spPr>
        <p:txBody>
          <a:bodyPr wrap="square" lIns="91440" tIns="45720" rIns="91440" bIns="45720" rtlCol="0" anchor="t">
            <a:spAutoFit/>
          </a:bodyPr>
          <a:lstStyle/>
          <a:p>
            <a:pPr marL="0" indent="0" algn="ctr">
              <a:lnSpc>
                <a:spcPct val="100000"/>
              </a:lnSpc>
              <a:buNone/>
            </a:pPr>
            <a:r>
              <a:rPr lang="en-US" sz="3600" dirty="0">
                <a:solidFill>
                  <a:srgbClr val="000000"/>
                </a:solidFill>
                <a:latin typeface="MiSans" pitchFamily="34" charset="0"/>
                <a:ea typeface="MiSans" pitchFamily="34" charset="-122"/>
                <a:cs typeface="MiSans" pitchFamily="34" charset="-120"/>
              </a:rPr>
              <a:t>04</a:t>
            </a:r>
            <a:endParaRPr lang="en-US" sz="1600" dirty="0"/>
          </a:p>
        </p:txBody>
      </p:sp>
      <p:sp>
        <p:nvSpPr>
          <p:cNvPr id="42" name="Text 37"/>
          <p:cNvSpPr/>
          <p:nvPr/>
        </p:nvSpPr>
        <p:spPr>
          <a:xfrm>
            <a:off x="4885055" y="3414395"/>
            <a:ext cx="3784600" cy="303411"/>
          </a:xfrm>
          <a:prstGeom prst="rect">
            <a:avLst/>
          </a:prstGeom>
          <a:noFill/>
          <a:ln/>
        </p:spPr>
        <p:txBody>
          <a:bodyPr wrap="square" lIns="91440" tIns="45720" rIns="91440" bIns="45720" rtlCol="0" anchor="t">
            <a:spAutoFit/>
          </a:bodyPr>
          <a:lstStyle/>
          <a:p>
            <a:pPr marL="0" indent="0">
              <a:lnSpc>
                <a:spcPct val="100000"/>
              </a:lnSpc>
              <a:buNone/>
            </a:pPr>
            <a:r>
              <a:rPr lang="en-US" sz="2000" dirty="0">
                <a:solidFill>
                  <a:srgbClr val="000000"/>
                </a:solidFill>
                <a:latin typeface="MiSans" pitchFamily="34" charset="0"/>
                <a:ea typeface="MiSans" pitchFamily="34" charset="-122"/>
                <a:cs typeface="MiSans" pitchFamily="34" charset="-120"/>
              </a:rPr>
              <a:t>Flexibilidad Interna</a:t>
            </a:r>
            <a:endParaRPr lang="en-US" sz="1600" dirty="0"/>
          </a:p>
        </p:txBody>
      </p:sp>
      <p:sp>
        <p:nvSpPr>
          <p:cNvPr id="43" name="Text 38"/>
          <p:cNvSpPr/>
          <p:nvPr/>
        </p:nvSpPr>
        <p:spPr>
          <a:xfrm>
            <a:off x="3806825" y="4220845"/>
            <a:ext cx="847090" cy="562570"/>
          </a:xfrm>
          <a:prstGeom prst="rect">
            <a:avLst/>
          </a:prstGeom>
          <a:noFill/>
          <a:ln/>
        </p:spPr>
        <p:txBody>
          <a:bodyPr wrap="square" lIns="91440" tIns="45720" rIns="91440" bIns="45720" rtlCol="0" anchor="t">
            <a:spAutoFit/>
          </a:bodyPr>
          <a:lstStyle/>
          <a:p>
            <a:pPr marL="0" indent="0" algn="ctr">
              <a:lnSpc>
                <a:spcPct val="100000"/>
              </a:lnSpc>
              <a:buNone/>
            </a:pPr>
            <a:r>
              <a:rPr lang="en-US" sz="3600" dirty="0">
                <a:solidFill>
                  <a:srgbClr val="FFFFFF"/>
                </a:solidFill>
                <a:latin typeface="MiSans" pitchFamily="34" charset="0"/>
                <a:ea typeface="MiSans" pitchFamily="34" charset="-122"/>
                <a:cs typeface="MiSans" pitchFamily="34" charset="-120"/>
              </a:rPr>
              <a:t>05</a:t>
            </a:r>
            <a:endParaRPr lang="en-US" sz="1600" dirty="0"/>
          </a:p>
        </p:txBody>
      </p:sp>
      <p:sp>
        <p:nvSpPr>
          <p:cNvPr id="44" name="Text 39"/>
          <p:cNvSpPr/>
          <p:nvPr/>
        </p:nvSpPr>
        <p:spPr>
          <a:xfrm>
            <a:off x="4885055" y="4312285"/>
            <a:ext cx="3784600" cy="303411"/>
          </a:xfrm>
          <a:prstGeom prst="rect">
            <a:avLst/>
          </a:prstGeom>
          <a:noFill/>
          <a:ln/>
        </p:spPr>
        <p:txBody>
          <a:bodyPr wrap="square" lIns="91440" tIns="45720" rIns="91440" bIns="45720" rtlCol="0" anchor="t">
            <a:spAutoFit/>
          </a:bodyPr>
          <a:lstStyle/>
          <a:p>
            <a:pPr marL="0" indent="0">
              <a:lnSpc>
                <a:spcPct val="100000"/>
              </a:lnSpc>
              <a:buNone/>
            </a:pPr>
            <a:r>
              <a:rPr lang="en-US" sz="2000" dirty="0">
                <a:solidFill>
                  <a:srgbClr val="FFFFFF"/>
                </a:solidFill>
                <a:latin typeface="MiSans" pitchFamily="34" charset="0"/>
                <a:ea typeface="MiSans" pitchFamily="34" charset="-122"/>
                <a:cs typeface="MiSans" pitchFamily="34" charset="-120"/>
              </a:rPr>
              <a:t>Calidad del Empleo</a:t>
            </a:r>
            <a:endParaRPr lang="en-US" sz="1600" dirty="0"/>
          </a:p>
        </p:txBody>
      </p:sp>
      <p:sp>
        <p:nvSpPr>
          <p:cNvPr id="45" name="Text 40"/>
          <p:cNvSpPr/>
          <p:nvPr/>
        </p:nvSpPr>
        <p:spPr>
          <a:xfrm>
            <a:off x="3806825" y="5107305"/>
            <a:ext cx="847090" cy="562570"/>
          </a:xfrm>
          <a:prstGeom prst="rect">
            <a:avLst/>
          </a:prstGeom>
          <a:noFill/>
          <a:ln/>
        </p:spPr>
        <p:txBody>
          <a:bodyPr wrap="square" lIns="91440" tIns="45720" rIns="91440" bIns="45720" rtlCol="0" anchor="t">
            <a:spAutoFit/>
          </a:bodyPr>
          <a:lstStyle/>
          <a:p>
            <a:pPr marL="0" indent="0" algn="ctr">
              <a:lnSpc>
                <a:spcPct val="100000"/>
              </a:lnSpc>
              <a:buNone/>
            </a:pPr>
            <a:r>
              <a:rPr lang="en-US" sz="3600" dirty="0">
                <a:solidFill>
                  <a:srgbClr val="000000"/>
                </a:solidFill>
                <a:latin typeface="MiSans" pitchFamily="34" charset="0"/>
                <a:ea typeface="MiSans" pitchFamily="34" charset="-122"/>
                <a:cs typeface="MiSans" pitchFamily="34" charset="-120"/>
              </a:rPr>
              <a:t>06</a:t>
            </a:r>
            <a:endParaRPr lang="en-US" sz="1600" dirty="0"/>
          </a:p>
        </p:txBody>
      </p:sp>
      <p:sp>
        <p:nvSpPr>
          <p:cNvPr id="46" name="Text 41"/>
          <p:cNvSpPr/>
          <p:nvPr/>
        </p:nvSpPr>
        <p:spPr>
          <a:xfrm>
            <a:off x="4885055" y="5198745"/>
            <a:ext cx="3784600" cy="303411"/>
          </a:xfrm>
          <a:prstGeom prst="rect">
            <a:avLst/>
          </a:prstGeom>
          <a:noFill/>
          <a:ln/>
        </p:spPr>
        <p:txBody>
          <a:bodyPr wrap="square" lIns="91440" tIns="45720" rIns="91440" bIns="45720" rtlCol="0" anchor="t">
            <a:spAutoFit/>
          </a:bodyPr>
          <a:lstStyle/>
          <a:p>
            <a:pPr marL="0" indent="0">
              <a:lnSpc>
                <a:spcPct val="100000"/>
              </a:lnSpc>
              <a:buNone/>
            </a:pPr>
            <a:r>
              <a:rPr lang="en-US" sz="2000" dirty="0">
                <a:solidFill>
                  <a:srgbClr val="000000"/>
                </a:solidFill>
                <a:latin typeface="MiSans" pitchFamily="34" charset="0"/>
                <a:ea typeface="MiSans" pitchFamily="34" charset="-122"/>
                <a:cs typeface="MiSans" pitchFamily="34" charset="-120"/>
              </a:rPr>
              <a:t>Modelo Español y Retos</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19:57:41-d2nf5d98bjvh7rlivsmg.png"/>
          <p:cNvPicPr>
            <a:picLocks noChangeAspect="1"/>
          </p:cNvPicPr>
          <p:nvPr/>
        </p:nvPicPr>
        <p:blipFill>
          <a:blip r:embed="rId3"/>
          <a:stretch>
            <a:fillRect/>
          </a:stretch>
        </p:blipFill>
        <p:spPr>
          <a:xfrm>
            <a:off x="4558665" y="1141095"/>
            <a:ext cx="3619500" cy="3912870"/>
          </a:xfrm>
          <a:prstGeom prst="rect">
            <a:avLst/>
          </a:prstGeom>
        </p:spPr>
      </p:pic>
      <p:sp>
        <p:nvSpPr>
          <p:cNvPr id="3" name="Shape 0"/>
          <p:cNvSpPr/>
          <p:nvPr/>
        </p:nvSpPr>
        <p:spPr>
          <a:xfrm>
            <a:off x="2047240" y="5053965"/>
            <a:ext cx="8642985" cy="1199515"/>
          </a:xfrm>
          <a:prstGeom prst="roundRect">
            <a:avLst>
              <a:gd name="adj" fmla="val 50000"/>
            </a:avLst>
          </a:prstGeom>
          <a:solidFill>
            <a:srgbClr val="00B0F0"/>
          </a:solidFill>
          <a:ln w="57150">
            <a:solidFill>
              <a:srgbClr val="FFFFFF">
                <a:alpha val="0"/>
              </a:srgbClr>
            </a:solidFill>
            <a:prstDash val="solid"/>
          </a:ln>
        </p:spPr>
        <p:txBody>
          <a:bodyPr/>
          <a:lstStyle/>
          <a:p>
            <a:endParaRPr lang="es-ES"/>
          </a:p>
        </p:txBody>
      </p:sp>
      <p:sp>
        <p:nvSpPr>
          <p:cNvPr id="4" name="Text 1"/>
          <p:cNvSpPr/>
          <p:nvPr/>
        </p:nvSpPr>
        <p:spPr>
          <a:xfrm>
            <a:off x="2047240" y="5053965"/>
            <a:ext cx="8642985" cy="11995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a:off x="1920240" y="4884420"/>
            <a:ext cx="8642985" cy="1199515"/>
          </a:xfrm>
          <a:prstGeom prst="roundRect">
            <a:avLst>
              <a:gd name="adj" fmla="val 50000"/>
            </a:avLst>
          </a:prstGeom>
          <a:solidFill>
            <a:srgbClr val="FFFFFF"/>
          </a:solidFill>
          <a:ln w="57150">
            <a:solidFill>
              <a:srgbClr val="000000"/>
            </a:solidFill>
            <a:prstDash val="solid"/>
          </a:ln>
        </p:spPr>
        <p:txBody>
          <a:bodyPr/>
          <a:lstStyle/>
          <a:p>
            <a:endParaRPr lang="es-ES"/>
          </a:p>
        </p:txBody>
      </p:sp>
      <p:sp>
        <p:nvSpPr>
          <p:cNvPr id="6" name="Text 3"/>
          <p:cNvSpPr/>
          <p:nvPr/>
        </p:nvSpPr>
        <p:spPr>
          <a:xfrm>
            <a:off x="1920240" y="4884420"/>
            <a:ext cx="8642985" cy="11995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7" name="Text 4"/>
          <p:cNvSpPr/>
          <p:nvPr/>
        </p:nvSpPr>
        <p:spPr>
          <a:xfrm>
            <a:off x="1920240" y="5045710"/>
            <a:ext cx="8643620" cy="828675"/>
          </a:xfrm>
          <a:prstGeom prst="rect">
            <a:avLst/>
          </a:prstGeom>
          <a:noFill/>
          <a:ln/>
        </p:spPr>
        <p:txBody>
          <a:bodyPr wrap="square" lIns="91440" tIns="45720" rIns="91440" bIns="45720" rtlCol="0" anchor="ctr">
            <a:spAutoFit/>
          </a:bodyPr>
          <a:lstStyle/>
          <a:p>
            <a:pPr marL="0" indent="0" algn="ctr">
              <a:lnSpc>
                <a:spcPct val="100000"/>
              </a:lnSpc>
              <a:buNone/>
            </a:pPr>
            <a:r>
              <a:rPr lang="en-US" sz="5400" b="1" dirty="0">
                <a:solidFill>
                  <a:srgbClr val="000000"/>
                </a:solidFill>
                <a:latin typeface="MiSans" pitchFamily="34" charset="0"/>
                <a:ea typeface="MiSans" pitchFamily="34" charset="-122"/>
                <a:cs typeface="MiSans" pitchFamily="34" charset="-120"/>
              </a:rPr>
              <a:t>Introducción y Conceptos</a:t>
            </a:r>
            <a:endParaRPr lang="en-US" sz="1600" dirty="0"/>
          </a:p>
        </p:txBody>
      </p:sp>
      <p:sp>
        <p:nvSpPr>
          <p:cNvPr id="8" name="Text 5"/>
          <p:cNvSpPr/>
          <p:nvPr/>
        </p:nvSpPr>
        <p:spPr>
          <a:xfrm>
            <a:off x="3447415" y="256898"/>
            <a:ext cx="5640070" cy="1107996"/>
          </a:xfrm>
          <a:prstGeom prst="rect">
            <a:avLst/>
          </a:prstGeom>
          <a:noFill/>
          <a:ln/>
        </p:spPr>
        <p:txBody>
          <a:bodyPr wrap="square" lIns="91440" tIns="45720" rIns="91440" bIns="45720" rtlCol="0" anchor="ctr">
            <a:spAutoFit/>
          </a:bodyPr>
          <a:lstStyle/>
          <a:p>
            <a:pPr marL="0" indent="0" algn="ctr">
              <a:lnSpc>
                <a:spcPct val="100000"/>
              </a:lnSpc>
              <a:buNone/>
            </a:pPr>
            <a:r>
              <a:rPr lang="en-US" sz="6600" b="1" dirty="0">
                <a:solidFill>
                  <a:srgbClr val="000000"/>
                </a:solidFill>
                <a:latin typeface="MiSans" pitchFamily="34" charset="0"/>
                <a:ea typeface="MiSans" pitchFamily="34" charset="-122"/>
                <a:cs typeface="MiSans" pitchFamily="34" charset="-120"/>
              </a:rPr>
              <a:t>PARTE  01</a:t>
            </a:r>
            <a:endParaRPr lang="en-US" sz="1600" dirty="0"/>
          </a:p>
        </p:txBody>
      </p:sp>
      <p:sp>
        <p:nvSpPr>
          <p:cNvPr id="9" name="Shape 6"/>
          <p:cNvSpPr/>
          <p:nvPr/>
        </p:nvSpPr>
        <p:spPr>
          <a:xfrm>
            <a:off x="291465" y="6075045"/>
            <a:ext cx="607496" cy="0"/>
          </a:xfrm>
          <a:prstGeom prst="line">
            <a:avLst/>
          </a:prstGeom>
          <a:noFill/>
          <a:ln w="57150">
            <a:solidFill>
              <a:srgbClr val="00B0F0"/>
            </a:solidFill>
            <a:prstDash val="solid"/>
            <a:headEnd type="none"/>
            <a:tailEnd type="none"/>
          </a:ln>
        </p:spPr>
        <p:txBody>
          <a:bodyPr/>
          <a:lstStyle/>
          <a:p>
            <a:endParaRPr lang="es-ES"/>
          </a:p>
        </p:txBody>
      </p:sp>
      <p:sp>
        <p:nvSpPr>
          <p:cNvPr id="10" name="Shape 7"/>
          <p:cNvSpPr/>
          <p:nvPr/>
        </p:nvSpPr>
        <p:spPr>
          <a:xfrm>
            <a:off x="291465" y="6308725"/>
            <a:ext cx="607496" cy="0"/>
          </a:xfrm>
          <a:prstGeom prst="line">
            <a:avLst/>
          </a:prstGeom>
          <a:noFill/>
          <a:ln w="57150">
            <a:solidFill>
              <a:srgbClr val="00B0F0"/>
            </a:solidFill>
            <a:prstDash val="solid"/>
            <a:headEnd type="none"/>
            <a:tailEnd type="none"/>
          </a:ln>
        </p:spPr>
        <p:txBody>
          <a:bodyPr/>
          <a:lstStyle/>
          <a:p>
            <a:endParaRPr lang="es-ES"/>
          </a:p>
        </p:txBody>
      </p:sp>
      <p:sp>
        <p:nvSpPr>
          <p:cNvPr id="11" name="Shape 8"/>
          <p:cNvSpPr/>
          <p:nvPr/>
        </p:nvSpPr>
        <p:spPr>
          <a:xfrm>
            <a:off x="291465" y="6542405"/>
            <a:ext cx="607496" cy="0"/>
          </a:xfrm>
          <a:prstGeom prst="line">
            <a:avLst/>
          </a:prstGeom>
          <a:noFill/>
          <a:ln w="57150">
            <a:solidFill>
              <a:srgbClr val="00B0F0"/>
            </a:solidFill>
            <a:prstDash val="solid"/>
            <a:headEnd type="none"/>
            <a:tailEnd type="none"/>
          </a:ln>
        </p:spPr>
        <p:txBody>
          <a:bodyPr/>
          <a:lstStyle/>
          <a:p>
            <a:endParaRPr lang="es-ES"/>
          </a:p>
        </p:txBody>
      </p:sp>
      <p:sp>
        <p:nvSpPr>
          <p:cNvPr id="12" name="Shape 9"/>
          <p:cNvSpPr/>
          <p:nvPr/>
        </p:nvSpPr>
        <p:spPr>
          <a:xfrm>
            <a:off x="291465" y="202565"/>
            <a:ext cx="337185" cy="337185"/>
          </a:xfrm>
          <a:prstGeom prst="ellipse">
            <a:avLst/>
          </a:prstGeom>
          <a:solidFill>
            <a:srgbClr val="FFFFFF"/>
          </a:solidFill>
          <a:ln w="19050">
            <a:solidFill>
              <a:srgbClr val="00B0F0"/>
            </a:solidFill>
            <a:prstDash val="solid"/>
          </a:ln>
        </p:spPr>
        <p:txBody>
          <a:bodyPr/>
          <a:lstStyle/>
          <a:p>
            <a:endParaRPr lang="es-ES"/>
          </a:p>
        </p:txBody>
      </p:sp>
      <p:sp>
        <p:nvSpPr>
          <p:cNvPr id="13" name="Text 10"/>
          <p:cNvSpPr/>
          <p:nvPr/>
        </p:nvSpPr>
        <p:spPr>
          <a:xfrm>
            <a:off x="29146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1251585" y="202565"/>
            <a:ext cx="337185" cy="337185"/>
          </a:xfrm>
          <a:prstGeom prst="ellipse">
            <a:avLst/>
          </a:prstGeom>
          <a:solidFill>
            <a:srgbClr val="FFFFFF"/>
          </a:solidFill>
          <a:ln w="19050">
            <a:solidFill>
              <a:srgbClr val="00B0F0"/>
            </a:solidFill>
            <a:prstDash val="solid"/>
          </a:ln>
        </p:spPr>
        <p:txBody>
          <a:bodyPr/>
          <a:lstStyle/>
          <a:p>
            <a:endParaRPr lang="es-ES"/>
          </a:p>
        </p:txBody>
      </p:sp>
      <p:sp>
        <p:nvSpPr>
          <p:cNvPr id="15" name="Text 12"/>
          <p:cNvSpPr/>
          <p:nvPr/>
        </p:nvSpPr>
        <p:spPr>
          <a:xfrm>
            <a:off x="125158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771525" y="202565"/>
            <a:ext cx="337185" cy="337185"/>
          </a:xfrm>
          <a:prstGeom prst="ellipse">
            <a:avLst/>
          </a:prstGeom>
          <a:solidFill>
            <a:srgbClr val="00B0F0"/>
          </a:solidFill>
          <a:ln w="19050">
            <a:solidFill>
              <a:srgbClr val="FFFFFF"/>
            </a:solidFill>
            <a:prstDash val="solid"/>
          </a:ln>
        </p:spPr>
        <p:txBody>
          <a:bodyPr/>
          <a:lstStyle/>
          <a:p>
            <a:endParaRPr lang="es-ES"/>
          </a:p>
        </p:txBody>
      </p:sp>
      <p:sp>
        <p:nvSpPr>
          <p:cNvPr id="17" name="Text 14"/>
          <p:cNvSpPr/>
          <p:nvPr/>
        </p:nvSpPr>
        <p:spPr>
          <a:xfrm>
            <a:off x="77152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Shape 15"/>
          <p:cNvSpPr/>
          <p:nvPr/>
        </p:nvSpPr>
        <p:spPr>
          <a:xfrm>
            <a:off x="1731645" y="202565"/>
            <a:ext cx="337185" cy="337185"/>
          </a:xfrm>
          <a:prstGeom prst="ellipse">
            <a:avLst/>
          </a:prstGeom>
          <a:solidFill>
            <a:srgbClr val="00B0F0"/>
          </a:solidFill>
          <a:ln w="19050">
            <a:solidFill>
              <a:srgbClr val="FFFFFF"/>
            </a:solidFill>
            <a:prstDash val="solid"/>
          </a:ln>
        </p:spPr>
        <p:txBody>
          <a:bodyPr/>
          <a:lstStyle/>
          <a:p>
            <a:endParaRPr lang="es-ES"/>
          </a:p>
        </p:txBody>
      </p:sp>
      <p:sp>
        <p:nvSpPr>
          <p:cNvPr id="19" name="Text 16"/>
          <p:cNvSpPr/>
          <p:nvPr/>
        </p:nvSpPr>
        <p:spPr>
          <a:xfrm>
            <a:off x="173164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142240"/>
            <a:ext cx="7499985" cy="368300"/>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¿Qué es la flexibilidad laboral?</a:t>
            </a:r>
            <a:endParaRPr lang="en-US" sz="1600" dirty="0"/>
          </a:p>
        </p:txBody>
      </p:sp>
      <p:sp>
        <p:nvSpPr>
          <p:cNvPr id="12" name="Shape 10"/>
          <p:cNvSpPr/>
          <p:nvPr/>
        </p:nvSpPr>
        <p:spPr>
          <a:xfrm rot="2460000">
            <a:off x="-155148" y="1289035"/>
            <a:ext cx="4561410" cy="4469691"/>
          </a:xfrm>
          <a:prstGeom prst="arc">
            <a:avLst>
              <a:gd name="adj1" fmla="val 16084999"/>
              <a:gd name="adj2" fmla="val 944742"/>
            </a:avLst>
          </a:prstGeom>
          <a:solidFill>
            <a:srgbClr val="4874CB"/>
          </a:solidFill>
          <a:ln w="19050">
            <a:solidFill>
              <a:srgbClr val="00B0F0"/>
            </a:solidFill>
            <a:prstDash val="solid"/>
          </a:ln>
        </p:spPr>
        <p:txBody>
          <a:bodyPr/>
          <a:lstStyle/>
          <a:p>
            <a:endParaRPr lang="es-ES"/>
          </a:p>
        </p:txBody>
      </p:sp>
      <p:sp>
        <p:nvSpPr>
          <p:cNvPr id="13" name="Text 11"/>
          <p:cNvSpPr/>
          <p:nvPr/>
        </p:nvSpPr>
        <p:spPr>
          <a:xfrm rot="2460000">
            <a:off x="-155148" y="1289035"/>
            <a:ext cx="4561410" cy="4469691"/>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4697730" y="1600835"/>
            <a:ext cx="85725" cy="343535"/>
          </a:xfrm>
          <a:prstGeom prst="rect">
            <a:avLst/>
          </a:prstGeom>
          <a:solidFill>
            <a:srgbClr val="00B0F0"/>
          </a:solidFill>
          <a:ln/>
        </p:spPr>
        <p:txBody>
          <a:bodyPr/>
          <a:lstStyle/>
          <a:p>
            <a:endParaRPr lang="es-ES"/>
          </a:p>
        </p:txBody>
      </p:sp>
      <p:sp>
        <p:nvSpPr>
          <p:cNvPr id="15" name="Text 13"/>
          <p:cNvSpPr/>
          <p:nvPr/>
        </p:nvSpPr>
        <p:spPr>
          <a:xfrm>
            <a:off x="4697730" y="1600835"/>
            <a:ext cx="85725" cy="3435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4750435" y="3711458"/>
            <a:ext cx="6801485" cy="0"/>
          </a:xfrm>
          <a:prstGeom prst="line">
            <a:avLst/>
          </a:prstGeom>
          <a:noFill/>
          <a:ln w="12700">
            <a:solidFill>
              <a:srgbClr val="595959"/>
            </a:solidFill>
            <a:prstDash val="dash"/>
            <a:headEnd type="none"/>
            <a:tailEnd type="none"/>
          </a:ln>
        </p:spPr>
        <p:txBody>
          <a:bodyPr/>
          <a:lstStyle/>
          <a:p>
            <a:endParaRPr lang="es-ES"/>
          </a:p>
        </p:txBody>
      </p:sp>
      <p:sp>
        <p:nvSpPr>
          <p:cNvPr id="17" name="Shape 15"/>
          <p:cNvSpPr/>
          <p:nvPr/>
        </p:nvSpPr>
        <p:spPr>
          <a:xfrm>
            <a:off x="4750435" y="3846195"/>
            <a:ext cx="85725" cy="343535"/>
          </a:xfrm>
          <a:prstGeom prst="rect">
            <a:avLst/>
          </a:prstGeom>
          <a:solidFill>
            <a:srgbClr val="00B0F0"/>
          </a:solidFill>
          <a:ln/>
        </p:spPr>
        <p:txBody>
          <a:bodyPr/>
          <a:lstStyle/>
          <a:p>
            <a:endParaRPr lang="es-ES"/>
          </a:p>
        </p:txBody>
      </p:sp>
      <p:sp>
        <p:nvSpPr>
          <p:cNvPr id="18" name="Text 16"/>
          <p:cNvSpPr/>
          <p:nvPr/>
        </p:nvSpPr>
        <p:spPr>
          <a:xfrm>
            <a:off x="4750435" y="3846195"/>
            <a:ext cx="85725" cy="3435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9" name="Shape 17"/>
          <p:cNvSpPr/>
          <p:nvPr/>
        </p:nvSpPr>
        <p:spPr>
          <a:xfrm>
            <a:off x="4835843" y="6031463"/>
            <a:ext cx="6801485" cy="0"/>
          </a:xfrm>
          <a:prstGeom prst="line">
            <a:avLst/>
          </a:prstGeom>
          <a:noFill/>
          <a:ln w="12700">
            <a:solidFill>
              <a:srgbClr val="595959"/>
            </a:solidFill>
            <a:prstDash val="dash"/>
            <a:headEnd type="none"/>
            <a:tailEnd type="none"/>
          </a:ln>
        </p:spPr>
        <p:txBody>
          <a:bodyPr/>
          <a:lstStyle/>
          <a:p>
            <a:endParaRPr lang="es-ES"/>
          </a:p>
        </p:txBody>
      </p:sp>
      <p:pic>
        <p:nvPicPr>
          <p:cNvPr id="20" name="Image 0" descr="https://kimi-img.moonshot.cn/pub/slides/slides_tmpl/image/25-08-27-19:57:42-d2nf5dh8bjvh7rlivstg.png"/>
          <p:cNvPicPr>
            <a:picLocks noChangeAspect="1"/>
          </p:cNvPicPr>
          <p:nvPr/>
        </p:nvPicPr>
        <p:blipFill>
          <a:blip r:embed="rId3"/>
          <a:stretch>
            <a:fillRect/>
          </a:stretch>
        </p:blipFill>
        <p:spPr>
          <a:xfrm>
            <a:off x="240030" y="1682115"/>
            <a:ext cx="4090670" cy="3498850"/>
          </a:xfrm>
          <a:prstGeom prst="rect">
            <a:avLst/>
          </a:prstGeom>
        </p:spPr>
      </p:pic>
      <p:sp>
        <p:nvSpPr>
          <p:cNvPr id="21" name="Text 18"/>
          <p:cNvSpPr/>
          <p:nvPr/>
        </p:nvSpPr>
        <p:spPr>
          <a:xfrm>
            <a:off x="4783455" y="1551940"/>
            <a:ext cx="6506210" cy="368300"/>
          </a:xfrm>
          <a:prstGeom prst="rect">
            <a:avLst/>
          </a:prstGeom>
          <a:noFill/>
          <a:ln/>
        </p:spPr>
        <p:txBody>
          <a:bodyPr wrap="square" lIns="91440" tIns="45720" rIns="91440" bIns="45720" rtlCol="0" anchor="t">
            <a:spAutoFit/>
          </a:bodyPr>
          <a:lstStyle/>
          <a:p>
            <a:pPr marL="0" indent="0">
              <a:lnSpc>
                <a:spcPct val="100000"/>
              </a:lnSpc>
              <a:buNone/>
            </a:pPr>
            <a:r>
              <a:rPr lang="en-US" sz="2400" dirty="0">
                <a:solidFill>
                  <a:srgbClr val="00B0F0"/>
                </a:solidFill>
                <a:latin typeface="MiSans" pitchFamily="34" charset="0"/>
                <a:ea typeface="MiSans" pitchFamily="34" charset="-122"/>
                <a:cs typeface="MiSans" pitchFamily="34" charset="-120"/>
              </a:rPr>
              <a:t>Definición y contexto</a:t>
            </a:r>
            <a:endParaRPr lang="en-US" sz="1600" dirty="0"/>
          </a:p>
        </p:txBody>
      </p:sp>
      <p:sp>
        <p:nvSpPr>
          <p:cNvPr id="22" name="Text 19"/>
          <p:cNvSpPr/>
          <p:nvPr/>
        </p:nvSpPr>
        <p:spPr>
          <a:xfrm>
            <a:off x="4750435" y="2018030"/>
            <a:ext cx="6790690" cy="1129030"/>
          </a:xfrm>
          <a:prstGeom prst="rect">
            <a:avLst/>
          </a:prstGeom>
          <a:noFill/>
          <a:ln/>
        </p:spPr>
        <p:txBody>
          <a:bodyPr wrap="square" lIns="91440" tIns="45720" rIns="91440" bIns="45720" rtlCol="0" anchor="t"/>
          <a:lstStyle/>
          <a:p>
            <a:pPr marL="0" indent="0">
              <a:lnSpc>
                <a:spcPct val="130000"/>
              </a:lnSpc>
              <a:buNone/>
            </a:pPr>
            <a:r>
              <a:rPr lang="en-US" sz="1600" dirty="0">
                <a:solidFill>
                  <a:srgbClr val="000000"/>
                </a:solidFill>
                <a:latin typeface="MiSans" pitchFamily="34" charset="0"/>
                <a:ea typeface="MiSans" pitchFamily="34" charset="-122"/>
                <a:cs typeface="MiSans" pitchFamily="34" charset="-120"/>
              </a:rPr>
              <a:t>La flexibilidad laboral es la capacidad del mercado de trabajo para adaptarse a cambios económicos, tecnológicos y productivos. Implica ajustar la cantidad de empleo, las condiciones laborales o la organización del trabajo sin generar rigideces que impidan la competitividad empresarial ni la protección de los trabajadores.</a:t>
            </a:r>
            <a:endParaRPr lang="en-US" sz="1600" dirty="0"/>
          </a:p>
        </p:txBody>
      </p:sp>
      <p:sp>
        <p:nvSpPr>
          <p:cNvPr id="23" name="Text 20"/>
          <p:cNvSpPr/>
          <p:nvPr/>
        </p:nvSpPr>
        <p:spPr>
          <a:xfrm>
            <a:off x="4836160" y="3797300"/>
            <a:ext cx="6453505" cy="368300"/>
          </a:xfrm>
          <a:prstGeom prst="rect">
            <a:avLst/>
          </a:prstGeom>
          <a:noFill/>
          <a:ln/>
        </p:spPr>
        <p:txBody>
          <a:bodyPr wrap="square" lIns="91440" tIns="45720" rIns="91440" bIns="45720" rtlCol="0" anchor="t">
            <a:spAutoFit/>
          </a:bodyPr>
          <a:lstStyle/>
          <a:p>
            <a:pPr marL="0" indent="0">
              <a:lnSpc>
                <a:spcPct val="100000"/>
              </a:lnSpc>
              <a:buNone/>
            </a:pPr>
            <a:r>
              <a:rPr lang="en-US" sz="2400" dirty="0">
                <a:solidFill>
                  <a:srgbClr val="00B0F0"/>
                </a:solidFill>
                <a:latin typeface="MiSans" pitchFamily="34" charset="0"/>
                <a:ea typeface="MiSans" pitchFamily="34" charset="-122"/>
                <a:cs typeface="MiSans" pitchFamily="34" charset="-120"/>
              </a:rPr>
              <a:t>Tipos de flexibilidad</a:t>
            </a:r>
            <a:endParaRPr lang="en-US" sz="1600" dirty="0"/>
          </a:p>
        </p:txBody>
      </p:sp>
      <p:sp>
        <p:nvSpPr>
          <p:cNvPr id="24" name="Text 21"/>
          <p:cNvSpPr/>
          <p:nvPr/>
        </p:nvSpPr>
        <p:spPr>
          <a:xfrm>
            <a:off x="4803140" y="4263390"/>
            <a:ext cx="6790690" cy="1129030"/>
          </a:xfrm>
          <a:prstGeom prst="rect">
            <a:avLst/>
          </a:prstGeom>
          <a:noFill/>
          <a:ln/>
        </p:spPr>
        <p:txBody>
          <a:bodyPr wrap="square" lIns="91440" tIns="45720" rIns="91440" bIns="45720" rtlCol="0" anchor="t"/>
          <a:lstStyle/>
          <a:p>
            <a:pPr marL="0" indent="0">
              <a:lnSpc>
                <a:spcPct val="130000"/>
              </a:lnSpc>
              <a:buNone/>
            </a:pPr>
            <a:r>
              <a:rPr lang="en-US" sz="1600" dirty="0">
                <a:solidFill>
                  <a:srgbClr val="000000"/>
                </a:solidFill>
                <a:latin typeface="MiSans" pitchFamily="34" charset="0"/>
                <a:ea typeface="MiSans" pitchFamily="34" charset="-122"/>
                <a:cs typeface="MiSans" pitchFamily="34" charset="-120"/>
              </a:rPr>
              <a:t>Existen dos grandes tipos: la </a:t>
            </a:r>
            <a:r>
              <a:rPr lang="en-US" sz="1600" b="1" u="sng" dirty="0">
                <a:solidFill>
                  <a:srgbClr val="000000"/>
                </a:solidFill>
                <a:latin typeface="MiSans" pitchFamily="34" charset="0"/>
                <a:ea typeface="MiSans" pitchFamily="34" charset="-122"/>
                <a:cs typeface="MiSans" pitchFamily="34" charset="-120"/>
              </a:rPr>
              <a:t>externa</a:t>
            </a:r>
            <a:r>
              <a:rPr lang="en-US" sz="1600" dirty="0">
                <a:solidFill>
                  <a:srgbClr val="000000"/>
                </a:solidFill>
                <a:latin typeface="MiSans" pitchFamily="34" charset="0"/>
                <a:ea typeface="MiSans" pitchFamily="34" charset="-122"/>
                <a:cs typeface="MiSans" pitchFamily="34" charset="-120"/>
              </a:rPr>
              <a:t>, que permite ajustar la plantilla mediante contratación y despido, y la </a:t>
            </a:r>
            <a:r>
              <a:rPr lang="en-US" sz="1600" b="1" u="sng" dirty="0">
                <a:solidFill>
                  <a:srgbClr val="000000"/>
                </a:solidFill>
                <a:latin typeface="MiSans" pitchFamily="34" charset="0"/>
                <a:ea typeface="MiSans" pitchFamily="34" charset="-122"/>
                <a:cs typeface="MiSans" pitchFamily="34" charset="-120"/>
              </a:rPr>
              <a:t>interna</a:t>
            </a:r>
            <a:r>
              <a:rPr lang="en-US" sz="1600" dirty="0">
                <a:solidFill>
                  <a:srgbClr val="000000"/>
                </a:solidFill>
                <a:latin typeface="MiSans" pitchFamily="34" charset="0"/>
                <a:ea typeface="MiSans" pitchFamily="34" charset="-122"/>
                <a:cs typeface="MiSans" pitchFamily="34" charset="-120"/>
              </a:rPr>
              <a:t>, que modifica condiciones como jornada, funciones o salario sin romper el vínculo laboral. Ambas deben combinarse con políticas de protección para garantizar seguridad y equidad.</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Imagen 2" descr="Diagrama&#10;&#10;El contenido generado por IA puede ser incorrecto.">
            <a:extLst>
              <a:ext uri="{FF2B5EF4-FFF2-40B4-BE49-F238E27FC236}">
                <a16:creationId xmlns:a16="http://schemas.microsoft.com/office/drawing/2014/main" id="{E8B7709E-B744-D077-3027-0E82F14C5056}"/>
              </a:ext>
            </a:extLst>
          </p:cNvPr>
          <p:cNvPicPr>
            <a:picLocks noChangeAspect="1"/>
          </p:cNvPicPr>
          <p:nvPr/>
        </p:nvPicPr>
        <p:blipFill>
          <a:blip r:embed="rId2"/>
          <a:srcRect b="1765"/>
          <a:stretch>
            <a:fillRect/>
          </a:stretch>
        </p:blipFill>
        <p:spPr>
          <a:xfrm>
            <a:off x="20" y="1282"/>
            <a:ext cx="12191980" cy="6856718"/>
          </a:xfrm>
          <a:prstGeom prst="rect">
            <a:avLst/>
          </a:prstGeom>
        </p:spPr>
      </p:pic>
    </p:spTree>
    <p:extLst>
      <p:ext uri="{BB962C8B-B14F-4D97-AF65-F5344CB8AC3E}">
        <p14:creationId xmlns:p14="http://schemas.microsoft.com/office/powerpoint/2010/main" val="3741196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142240"/>
            <a:ext cx="7499985" cy="368300"/>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Dimensiones de la flexibilidad</a:t>
            </a:r>
            <a:endParaRPr lang="en-US" sz="1600" dirty="0"/>
          </a:p>
        </p:txBody>
      </p:sp>
      <p:sp>
        <p:nvSpPr>
          <p:cNvPr id="12" name="Shape 10"/>
          <p:cNvSpPr/>
          <p:nvPr/>
        </p:nvSpPr>
        <p:spPr>
          <a:xfrm>
            <a:off x="509905" y="1094105"/>
            <a:ext cx="85725" cy="343535"/>
          </a:xfrm>
          <a:prstGeom prst="rect">
            <a:avLst/>
          </a:prstGeom>
          <a:solidFill>
            <a:srgbClr val="00B0F0"/>
          </a:solidFill>
          <a:ln/>
        </p:spPr>
        <p:txBody>
          <a:bodyPr/>
          <a:lstStyle/>
          <a:p>
            <a:endParaRPr lang="es-ES"/>
          </a:p>
        </p:txBody>
      </p:sp>
      <p:sp>
        <p:nvSpPr>
          <p:cNvPr id="13" name="Text 11"/>
          <p:cNvSpPr/>
          <p:nvPr/>
        </p:nvSpPr>
        <p:spPr>
          <a:xfrm>
            <a:off x="509905" y="1094105"/>
            <a:ext cx="85725" cy="3435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562293" y="2779019"/>
            <a:ext cx="8556625" cy="0"/>
          </a:xfrm>
          <a:prstGeom prst="line">
            <a:avLst/>
          </a:prstGeom>
          <a:noFill/>
          <a:ln w="12700">
            <a:solidFill>
              <a:srgbClr val="595959"/>
            </a:solidFill>
            <a:prstDash val="dash"/>
            <a:headEnd type="none"/>
            <a:tailEnd type="none"/>
          </a:ln>
        </p:spPr>
        <p:txBody>
          <a:bodyPr/>
          <a:lstStyle/>
          <a:p>
            <a:endParaRPr lang="es-ES"/>
          </a:p>
        </p:txBody>
      </p:sp>
      <p:sp>
        <p:nvSpPr>
          <p:cNvPr id="15" name="Shape 13"/>
          <p:cNvSpPr/>
          <p:nvPr/>
        </p:nvSpPr>
        <p:spPr>
          <a:xfrm>
            <a:off x="595630" y="4691885"/>
            <a:ext cx="8556625" cy="0"/>
          </a:xfrm>
          <a:prstGeom prst="line">
            <a:avLst/>
          </a:prstGeom>
          <a:noFill/>
          <a:ln w="12700">
            <a:solidFill>
              <a:srgbClr val="595959"/>
            </a:solidFill>
            <a:prstDash val="dash"/>
            <a:headEnd type="none"/>
            <a:tailEnd type="none"/>
          </a:ln>
        </p:spPr>
        <p:txBody>
          <a:bodyPr/>
          <a:lstStyle/>
          <a:p>
            <a:endParaRPr lang="es-ES"/>
          </a:p>
        </p:txBody>
      </p:sp>
      <p:sp>
        <p:nvSpPr>
          <p:cNvPr id="16" name="Shape 14"/>
          <p:cNvSpPr/>
          <p:nvPr/>
        </p:nvSpPr>
        <p:spPr>
          <a:xfrm>
            <a:off x="562293" y="6588384"/>
            <a:ext cx="8556625" cy="0"/>
          </a:xfrm>
          <a:prstGeom prst="line">
            <a:avLst/>
          </a:prstGeom>
          <a:noFill/>
          <a:ln w="12700">
            <a:solidFill>
              <a:srgbClr val="595959"/>
            </a:solidFill>
            <a:prstDash val="dash"/>
            <a:headEnd type="none"/>
            <a:tailEnd type="none"/>
          </a:ln>
        </p:spPr>
        <p:txBody>
          <a:bodyPr/>
          <a:lstStyle/>
          <a:p>
            <a:endParaRPr lang="es-ES"/>
          </a:p>
        </p:txBody>
      </p:sp>
      <p:pic>
        <p:nvPicPr>
          <p:cNvPr id="17" name="Image 0" descr="https://kimi-img.moonshot.cn/pub/slides/slides_tmpl/image/25-08-27-19:57:43-d2nf5dp8bjvh7rlivt10.png"/>
          <p:cNvPicPr>
            <a:picLocks noChangeAspect="1"/>
          </p:cNvPicPr>
          <p:nvPr/>
        </p:nvPicPr>
        <p:blipFill>
          <a:blip r:embed="rId3"/>
          <a:stretch>
            <a:fillRect/>
          </a:stretch>
        </p:blipFill>
        <p:spPr>
          <a:xfrm>
            <a:off x="9371330" y="1852930"/>
            <a:ext cx="2673985" cy="3923030"/>
          </a:xfrm>
          <a:prstGeom prst="rect">
            <a:avLst/>
          </a:prstGeom>
        </p:spPr>
      </p:pic>
      <p:sp>
        <p:nvSpPr>
          <p:cNvPr id="18" name="Shape 15"/>
          <p:cNvSpPr/>
          <p:nvPr/>
        </p:nvSpPr>
        <p:spPr>
          <a:xfrm>
            <a:off x="509905" y="2901950"/>
            <a:ext cx="85725" cy="343535"/>
          </a:xfrm>
          <a:prstGeom prst="rect">
            <a:avLst/>
          </a:prstGeom>
          <a:solidFill>
            <a:srgbClr val="00B0F0"/>
          </a:solidFill>
          <a:ln/>
        </p:spPr>
        <p:txBody>
          <a:bodyPr/>
          <a:lstStyle/>
          <a:p>
            <a:endParaRPr lang="es-ES"/>
          </a:p>
        </p:txBody>
      </p:sp>
      <p:sp>
        <p:nvSpPr>
          <p:cNvPr id="19" name="Text 16"/>
          <p:cNvSpPr/>
          <p:nvPr/>
        </p:nvSpPr>
        <p:spPr>
          <a:xfrm>
            <a:off x="509905" y="2901950"/>
            <a:ext cx="85725" cy="3435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0" name="Shape 17"/>
          <p:cNvSpPr/>
          <p:nvPr/>
        </p:nvSpPr>
        <p:spPr>
          <a:xfrm>
            <a:off x="509905" y="4848225"/>
            <a:ext cx="85725" cy="343535"/>
          </a:xfrm>
          <a:prstGeom prst="rect">
            <a:avLst/>
          </a:prstGeom>
          <a:solidFill>
            <a:srgbClr val="00B0F0"/>
          </a:solidFill>
          <a:ln/>
        </p:spPr>
        <p:txBody>
          <a:bodyPr/>
          <a:lstStyle/>
          <a:p>
            <a:endParaRPr lang="es-ES"/>
          </a:p>
        </p:txBody>
      </p:sp>
      <p:sp>
        <p:nvSpPr>
          <p:cNvPr id="21" name="Text 18"/>
          <p:cNvSpPr/>
          <p:nvPr/>
        </p:nvSpPr>
        <p:spPr>
          <a:xfrm>
            <a:off x="509905" y="4848225"/>
            <a:ext cx="85725" cy="3435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2" name="Text 19"/>
          <p:cNvSpPr/>
          <p:nvPr/>
        </p:nvSpPr>
        <p:spPr>
          <a:xfrm>
            <a:off x="595313" y="1045319"/>
            <a:ext cx="4358640" cy="368300"/>
          </a:xfrm>
          <a:prstGeom prst="rect">
            <a:avLst/>
          </a:prstGeom>
          <a:noFill/>
          <a:ln/>
        </p:spPr>
        <p:txBody>
          <a:bodyPr wrap="square" lIns="91440" tIns="45720" rIns="91440" bIns="45720" rtlCol="0" anchor="t">
            <a:spAutoFit/>
          </a:bodyPr>
          <a:lstStyle/>
          <a:p>
            <a:pPr marL="0" indent="0">
              <a:lnSpc>
                <a:spcPct val="100000"/>
              </a:lnSpc>
              <a:buNone/>
            </a:pPr>
            <a:r>
              <a:rPr lang="en-US" sz="2400" dirty="0">
                <a:solidFill>
                  <a:srgbClr val="00B0F0"/>
                </a:solidFill>
                <a:latin typeface="MiSans" pitchFamily="34" charset="0"/>
                <a:ea typeface="MiSans" pitchFamily="34" charset="-122"/>
                <a:cs typeface="MiSans" pitchFamily="34" charset="-120"/>
              </a:rPr>
              <a:t>Flexibilidad externa</a:t>
            </a:r>
            <a:endParaRPr lang="en-US" sz="1600" dirty="0"/>
          </a:p>
        </p:txBody>
      </p:sp>
      <p:sp>
        <p:nvSpPr>
          <p:cNvPr id="23" name="Text 20"/>
          <p:cNvSpPr/>
          <p:nvPr/>
        </p:nvSpPr>
        <p:spPr>
          <a:xfrm>
            <a:off x="552767" y="1371115"/>
            <a:ext cx="8551545" cy="1143000"/>
          </a:xfrm>
          <a:prstGeom prst="rect">
            <a:avLst/>
          </a:prstGeom>
          <a:noFill/>
          <a:ln/>
        </p:spPr>
        <p:txBody>
          <a:bodyPr wrap="square" lIns="91440" tIns="45720" rIns="91440" bIns="45720" rtlCol="0" anchor="t"/>
          <a:lstStyle/>
          <a:p>
            <a:pPr marL="0" indent="0">
              <a:lnSpc>
                <a:spcPct val="130000"/>
              </a:lnSpc>
              <a:buNone/>
            </a:pPr>
            <a:r>
              <a:rPr lang="en-US" sz="1600" dirty="0">
                <a:solidFill>
                  <a:srgbClr val="000000"/>
                </a:solidFill>
                <a:latin typeface="MiSans" pitchFamily="34" charset="0"/>
                <a:ea typeface="MiSans" pitchFamily="34" charset="-122"/>
                <a:cs typeface="MiSans" pitchFamily="34" charset="-120"/>
              </a:rPr>
              <a:t>Se refiere a la capacidad de las empresas para contratar y despedir trabajadores según sus necesidades productivas. Se regula a través de tipos de contrato, causas de despido, indemnizaciones y procedimientos legales que determinan el coste y la agilidad de los ajustes de plantilla.</a:t>
            </a:r>
            <a:endParaRPr lang="en-US" sz="1600" dirty="0"/>
          </a:p>
        </p:txBody>
      </p:sp>
      <p:sp>
        <p:nvSpPr>
          <p:cNvPr id="24" name="Text 21"/>
          <p:cNvSpPr/>
          <p:nvPr/>
        </p:nvSpPr>
        <p:spPr>
          <a:xfrm>
            <a:off x="595313" y="2853164"/>
            <a:ext cx="4358640" cy="368300"/>
          </a:xfrm>
          <a:prstGeom prst="rect">
            <a:avLst/>
          </a:prstGeom>
          <a:noFill/>
          <a:ln/>
        </p:spPr>
        <p:txBody>
          <a:bodyPr wrap="square" lIns="91440" tIns="45720" rIns="91440" bIns="45720" rtlCol="0" anchor="t">
            <a:spAutoFit/>
          </a:bodyPr>
          <a:lstStyle/>
          <a:p>
            <a:pPr marL="0" indent="0">
              <a:lnSpc>
                <a:spcPct val="100000"/>
              </a:lnSpc>
              <a:buNone/>
            </a:pPr>
            <a:r>
              <a:rPr lang="en-US" sz="2400" dirty="0">
                <a:solidFill>
                  <a:srgbClr val="00B0F0"/>
                </a:solidFill>
                <a:latin typeface="MiSans" pitchFamily="34" charset="0"/>
                <a:ea typeface="MiSans" pitchFamily="34" charset="-122"/>
                <a:cs typeface="MiSans" pitchFamily="34" charset="-120"/>
              </a:rPr>
              <a:t>Flexibilidad interna</a:t>
            </a:r>
            <a:endParaRPr lang="en-US" sz="1600" dirty="0"/>
          </a:p>
        </p:txBody>
      </p:sp>
      <p:sp>
        <p:nvSpPr>
          <p:cNvPr id="25" name="Text 22"/>
          <p:cNvSpPr/>
          <p:nvPr/>
        </p:nvSpPr>
        <p:spPr>
          <a:xfrm>
            <a:off x="562293" y="3237547"/>
            <a:ext cx="8551545" cy="1143000"/>
          </a:xfrm>
          <a:prstGeom prst="rect">
            <a:avLst/>
          </a:prstGeom>
          <a:noFill/>
          <a:ln/>
        </p:spPr>
        <p:txBody>
          <a:bodyPr wrap="square" lIns="91440" tIns="45720" rIns="91440" bIns="45720" rtlCol="0" anchor="t"/>
          <a:lstStyle/>
          <a:p>
            <a:pPr marL="0" indent="0">
              <a:lnSpc>
                <a:spcPct val="130000"/>
              </a:lnSpc>
              <a:buNone/>
            </a:pPr>
            <a:r>
              <a:rPr lang="en-US" sz="1600" dirty="0">
                <a:solidFill>
                  <a:srgbClr val="000000"/>
                </a:solidFill>
                <a:latin typeface="MiSans" pitchFamily="34" charset="0"/>
                <a:ea typeface="MiSans" pitchFamily="34" charset="-122"/>
                <a:cs typeface="MiSans" pitchFamily="34" charset="-120"/>
              </a:rPr>
              <a:t>Permite a las empresas adaptarse modificando condiciones internas como jornada, funciones, salarios o ubicación, sin despedir. Es clave para preservar empleo en crisis y requiere negociación colectiva efectiva y marcos legales que equilibren adaptación empresarial y derechos laborales.</a:t>
            </a:r>
            <a:endParaRPr lang="en-US" sz="1600" dirty="0"/>
          </a:p>
        </p:txBody>
      </p:sp>
      <p:sp>
        <p:nvSpPr>
          <p:cNvPr id="26" name="Text 23"/>
          <p:cNvSpPr/>
          <p:nvPr/>
        </p:nvSpPr>
        <p:spPr>
          <a:xfrm>
            <a:off x="595313" y="4799439"/>
            <a:ext cx="4358640" cy="368300"/>
          </a:xfrm>
          <a:prstGeom prst="rect">
            <a:avLst/>
          </a:prstGeom>
          <a:noFill/>
          <a:ln/>
        </p:spPr>
        <p:txBody>
          <a:bodyPr wrap="square" lIns="91440" tIns="45720" rIns="91440" bIns="45720" rtlCol="0" anchor="t">
            <a:spAutoFit/>
          </a:bodyPr>
          <a:lstStyle/>
          <a:p>
            <a:pPr marL="0" indent="0">
              <a:lnSpc>
                <a:spcPct val="100000"/>
              </a:lnSpc>
              <a:buNone/>
            </a:pPr>
            <a:r>
              <a:rPr lang="en-US" sz="2400" dirty="0">
                <a:solidFill>
                  <a:srgbClr val="00B0F0"/>
                </a:solidFill>
                <a:latin typeface="MiSans" pitchFamily="34" charset="0"/>
                <a:ea typeface="MiSans" pitchFamily="34" charset="-122"/>
                <a:cs typeface="MiSans" pitchFamily="34" charset="-120"/>
              </a:rPr>
              <a:t>Seguridad laboral</a:t>
            </a:r>
            <a:endParaRPr lang="en-US" sz="1600" dirty="0"/>
          </a:p>
        </p:txBody>
      </p:sp>
      <p:sp>
        <p:nvSpPr>
          <p:cNvPr id="27" name="Text 24"/>
          <p:cNvSpPr/>
          <p:nvPr/>
        </p:nvSpPr>
        <p:spPr>
          <a:xfrm>
            <a:off x="552766" y="5224571"/>
            <a:ext cx="8551545" cy="1143000"/>
          </a:xfrm>
          <a:prstGeom prst="rect">
            <a:avLst/>
          </a:prstGeom>
          <a:noFill/>
          <a:ln/>
        </p:spPr>
        <p:txBody>
          <a:bodyPr wrap="square" lIns="91440" tIns="45720" rIns="91440" bIns="45720" rtlCol="0" anchor="t"/>
          <a:lstStyle/>
          <a:p>
            <a:pPr marL="0" indent="0">
              <a:lnSpc>
                <a:spcPct val="130000"/>
              </a:lnSpc>
              <a:buNone/>
            </a:pPr>
            <a:r>
              <a:rPr lang="en-US" sz="1600" dirty="0">
                <a:solidFill>
                  <a:srgbClr val="000000"/>
                </a:solidFill>
                <a:latin typeface="MiSans" pitchFamily="34" charset="0"/>
                <a:ea typeface="MiSans" pitchFamily="34" charset="-122"/>
                <a:cs typeface="MiSans" pitchFamily="34" charset="-120"/>
              </a:rPr>
              <a:t>No solo protege el puesto, sino también la capacidad de encontrar nuevo empleo rápidamente y mantener ingresos durante transiciones. Implica formación continua, políticas activas de empleo y sistemas de protección social que garanticen estabilidad más allá del contrato específico.</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95558"/>
            <a:ext cx="7499985" cy="461665"/>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Flexiseguridad: un nuevo paradigma</a:t>
            </a:r>
            <a:endParaRPr lang="en-US" sz="1600" dirty="0"/>
          </a:p>
        </p:txBody>
      </p:sp>
      <p:sp>
        <p:nvSpPr>
          <p:cNvPr id="12" name="Shape 10"/>
          <p:cNvSpPr/>
          <p:nvPr/>
        </p:nvSpPr>
        <p:spPr>
          <a:xfrm>
            <a:off x="1713865" y="1899285"/>
            <a:ext cx="2498725" cy="3649980"/>
          </a:xfrm>
          <a:prstGeom prst="rect">
            <a:avLst/>
          </a:prstGeom>
          <a:solidFill>
            <a:srgbClr val="00B0F0"/>
          </a:solidFill>
          <a:ln/>
        </p:spPr>
        <p:txBody>
          <a:bodyPr/>
          <a:lstStyle/>
          <a:p>
            <a:endParaRPr lang="es-ES"/>
          </a:p>
        </p:txBody>
      </p:sp>
      <p:sp>
        <p:nvSpPr>
          <p:cNvPr id="13" name="Text 11"/>
          <p:cNvSpPr/>
          <p:nvPr/>
        </p:nvSpPr>
        <p:spPr>
          <a:xfrm>
            <a:off x="1713865" y="1899285"/>
            <a:ext cx="2498725" cy="3649980"/>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4" name="Image 0" descr="https://kimi-img.moonshot.cn/pub/slides/slides_tmpl/image/25-08-27-19:57:42-d2nf5dh8bjvh7rlivss0.png"/>
          <p:cNvPicPr>
            <a:picLocks noChangeAspect="1"/>
          </p:cNvPicPr>
          <p:nvPr/>
        </p:nvPicPr>
        <p:blipFill>
          <a:blip r:embed="rId3"/>
          <a:stretch>
            <a:fillRect/>
          </a:stretch>
        </p:blipFill>
        <p:spPr>
          <a:xfrm>
            <a:off x="-441325" y="1277620"/>
            <a:ext cx="5758815" cy="5107305"/>
          </a:xfrm>
          <a:prstGeom prst="rect">
            <a:avLst/>
          </a:prstGeom>
        </p:spPr>
      </p:pic>
      <p:sp>
        <p:nvSpPr>
          <p:cNvPr id="15" name="Shape 12"/>
          <p:cNvSpPr/>
          <p:nvPr/>
        </p:nvSpPr>
        <p:spPr>
          <a:xfrm>
            <a:off x="0" y="6620510"/>
            <a:ext cx="12192000" cy="237490"/>
          </a:xfrm>
          <a:prstGeom prst="rect">
            <a:avLst/>
          </a:prstGeom>
          <a:solidFill>
            <a:srgbClr val="00B0F0"/>
          </a:solidFill>
          <a:ln/>
        </p:spPr>
        <p:txBody>
          <a:bodyPr/>
          <a:lstStyle/>
          <a:p>
            <a:endParaRPr lang="es-ES"/>
          </a:p>
        </p:txBody>
      </p:sp>
      <p:sp>
        <p:nvSpPr>
          <p:cNvPr id="16" name="Text 13"/>
          <p:cNvSpPr/>
          <p:nvPr/>
        </p:nvSpPr>
        <p:spPr>
          <a:xfrm>
            <a:off x="0" y="6620510"/>
            <a:ext cx="12192000" cy="23749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7" name="Shape 14"/>
          <p:cNvSpPr/>
          <p:nvPr/>
        </p:nvSpPr>
        <p:spPr>
          <a:xfrm>
            <a:off x="5078095" y="2804912"/>
            <a:ext cx="6604000" cy="2033270"/>
          </a:xfrm>
          <a:prstGeom prst="roundRect">
            <a:avLst/>
          </a:prstGeom>
          <a:solidFill>
            <a:srgbClr val="00B0F0"/>
          </a:solidFill>
          <a:ln w="28575">
            <a:solidFill>
              <a:srgbClr val="FFFFFF">
                <a:alpha val="0"/>
              </a:srgbClr>
            </a:solidFill>
            <a:prstDash val="solid"/>
          </a:ln>
        </p:spPr>
        <p:txBody>
          <a:bodyPr/>
          <a:lstStyle/>
          <a:p>
            <a:endParaRPr lang="es-ES"/>
          </a:p>
        </p:txBody>
      </p:sp>
      <p:sp>
        <p:nvSpPr>
          <p:cNvPr id="18" name="Text 15"/>
          <p:cNvSpPr/>
          <p:nvPr/>
        </p:nvSpPr>
        <p:spPr>
          <a:xfrm>
            <a:off x="5078095" y="2804912"/>
            <a:ext cx="6604000" cy="203327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9" name="Shape 16"/>
          <p:cNvSpPr/>
          <p:nvPr/>
        </p:nvSpPr>
        <p:spPr>
          <a:xfrm>
            <a:off x="4963795" y="2640447"/>
            <a:ext cx="6475730" cy="2033270"/>
          </a:xfrm>
          <a:prstGeom prst="roundRect">
            <a:avLst>
              <a:gd name="adj" fmla="val 14996"/>
            </a:avLst>
          </a:prstGeom>
          <a:solidFill>
            <a:srgbClr val="FFFFFF"/>
          </a:solidFill>
          <a:ln w="19050">
            <a:solidFill>
              <a:srgbClr val="000000"/>
            </a:solidFill>
            <a:prstDash val="solid"/>
          </a:ln>
        </p:spPr>
        <p:txBody>
          <a:bodyPr/>
          <a:lstStyle/>
          <a:p>
            <a:endParaRPr lang="es-ES"/>
          </a:p>
        </p:txBody>
      </p:sp>
      <p:sp>
        <p:nvSpPr>
          <p:cNvPr id="20" name="Text 17"/>
          <p:cNvSpPr/>
          <p:nvPr/>
        </p:nvSpPr>
        <p:spPr>
          <a:xfrm>
            <a:off x="4963795" y="2640447"/>
            <a:ext cx="6475730" cy="203327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2" name="Text 19"/>
          <p:cNvSpPr/>
          <p:nvPr/>
        </p:nvSpPr>
        <p:spPr>
          <a:xfrm>
            <a:off x="5128260" y="3963035"/>
            <a:ext cx="6604000" cy="203327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4" name="Text 21"/>
          <p:cNvSpPr/>
          <p:nvPr/>
        </p:nvSpPr>
        <p:spPr>
          <a:xfrm>
            <a:off x="5013960" y="3798570"/>
            <a:ext cx="6475730" cy="203327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5" name="Text 22"/>
          <p:cNvSpPr/>
          <p:nvPr/>
        </p:nvSpPr>
        <p:spPr>
          <a:xfrm>
            <a:off x="5013960" y="2806817"/>
            <a:ext cx="4443095" cy="303411"/>
          </a:xfrm>
          <a:prstGeom prst="rect">
            <a:avLst/>
          </a:prstGeom>
          <a:noFill/>
          <a:ln/>
        </p:spPr>
        <p:txBody>
          <a:bodyPr wrap="square" lIns="91440" tIns="45720" rIns="91440" bIns="45720" rtlCol="0" anchor="t">
            <a:spAutoFit/>
          </a:bodyPr>
          <a:lstStyle/>
          <a:p>
            <a:pPr marL="0" indent="0">
              <a:lnSpc>
                <a:spcPct val="100000"/>
              </a:lnSpc>
              <a:buNone/>
            </a:pPr>
            <a:r>
              <a:rPr lang="en-US" sz="2000" dirty="0">
                <a:solidFill>
                  <a:srgbClr val="000000"/>
                </a:solidFill>
                <a:latin typeface="MiSans" pitchFamily="34" charset="0"/>
                <a:ea typeface="MiSans" pitchFamily="34" charset="-122"/>
                <a:cs typeface="MiSans" pitchFamily="34" charset="-120"/>
              </a:rPr>
              <a:t>Concepto y origen</a:t>
            </a:r>
            <a:endParaRPr lang="en-US" sz="1600" dirty="0"/>
          </a:p>
        </p:txBody>
      </p:sp>
      <p:sp>
        <p:nvSpPr>
          <p:cNvPr id="26" name="Text 23"/>
          <p:cNvSpPr/>
          <p:nvPr/>
        </p:nvSpPr>
        <p:spPr>
          <a:xfrm>
            <a:off x="5078095" y="3134795"/>
            <a:ext cx="6260465" cy="1373505"/>
          </a:xfrm>
          <a:prstGeom prst="rect">
            <a:avLst/>
          </a:prstGeom>
          <a:noFill/>
          <a:ln/>
        </p:spPr>
        <p:txBody>
          <a:bodyPr wrap="square" lIns="91440" tIns="45720" rIns="91440" bIns="45720" rtlCol="0" anchor="t"/>
          <a:lstStyle/>
          <a:p>
            <a:pPr marL="0" indent="0">
              <a:lnSpc>
                <a:spcPct val="130000"/>
              </a:lnSpc>
              <a:buNone/>
            </a:pPr>
            <a:r>
              <a:rPr lang="en-US" sz="1200" dirty="0">
                <a:solidFill>
                  <a:srgbClr val="000000"/>
                </a:solidFill>
                <a:latin typeface="MiSans" pitchFamily="34" charset="0"/>
                <a:ea typeface="MiSans" pitchFamily="34" charset="-122"/>
                <a:cs typeface="MiSans" pitchFamily="34" charset="-120"/>
              </a:rPr>
              <a:t>La flexiseguridad es un modelo que combina flexibilidad para las empresas y seguridad para los trabajadores. Nació en países nórdicos y busca facilitar adaptaciones del mercado laboral sin precarizar el empleo, promoviendo transiciones laborales seguras y empleabilidad continua.</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Imagen 4" descr="Escala de tiempo&#10;&#10;El contenido generado por IA puede ser incorrecto.">
            <a:extLst>
              <a:ext uri="{FF2B5EF4-FFF2-40B4-BE49-F238E27FC236}">
                <a16:creationId xmlns:a16="http://schemas.microsoft.com/office/drawing/2014/main" id="{A3ADA878-066E-6B26-100C-B96B61CB4E94}"/>
              </a:ext>
            </a:extLst>
          </p:cNvPr>
          <p:cNvPicPr>
            <a:picLocks noChangeAspect="1"/>
          </p:cNvPicPr>
          <p:nvPr/>
        </p:nvPicPr>
        <p:blipFill>
          <a:blip r:embed="rId2"/>
          <a:stretch>
            <a:fillRect/>
          </a:stretch>
        </p:blipFill>
        <p:spPr>
          <a:xfrm>
            <a:off x="1798320" y="195274"/>
            <a:ext cx="8727440" cy="6371031"/>
          </a:xfrm>
          <a:prstGeom prst="rect">
            <a:avLst/>
          </a:prstGeom>
        </p:spPr>
      </p:pic>
      <p:sp>
        <p:nvSpPr>
          <p:cNvPr id="2" name="AutoShape 2">
            <a:extLst>
              <a:ext uri="{FF2B5EF4-FFF2-40B4-BE49-F238E27FC236}">
                <a16:creationId xmlns:a16="http://schemas.microsoft.com/office/drawing/2014/main" id="{6C1A8981-928C-833B-08F3-0A28A950435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3" name="AutoShape 4">
            <a:extLst>
              <a:ext uri="{FF2B5EF4-FFF2-40B4-BE49-F238E27FC236}">
                <a16:creationId xmlns:a16="http://schemas.microsoft.com/office/drawing/2014/main" id="{E3DE0DCE-ADB9-6C08-2523-4578B17B917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4152678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19:57:41-d2nf5d98bjvh7rlivsmg.png"/>
          <p:cNvPicPr>
            <a:picLocks noChangeAspect="1"/>
          </p:cNvPicPr>
          <p:nvPr/>
        </p:nvPicPr>
        <p:blipFill>
          <a:blip r:embed="rId3"/>
          <a:stretch>
            <a:fillRect/>
          </a:stretch>
        </p:blipFill>
        <p:spPr>
          <a:xfrm>
            <a:off x="4558665" y="1141095"/>
            <a:ext cx="3619500" cy="3912870"/>
          </a:xfrm>
          <a:prstGeom prst="rect">
            <a:avLst/>
          </a:prstGeom>
        </p:spPr>
      </p:pic>
      <p:sp>
        <p:nvSpPr>
          <p:cNvPr id="3" name="Shape 0"/>
          <p:cNvSpPr/>
          <p:nvPr/>
        </p:nvSpPr>
        <p:spPr>
          <a:xfrm>
            <a:off x="2047240" y="5053965"/>
            <a:ext cx="8642985" cy="1199515"/>
          </a:xfrm>
          <a:prstGeom prst="roundRect">
            <a:avLst>
              <a:gd name="adj" fmla="val 50000"/>
            </a:avLst>
          </a:prstGeom>
          <a:solidFill>
            <a:srgbClr val="00B0F0"/>
          </a:solidFill>
          <a:ln w="57150">
            <a:solidFill>
              <a:srgbClr val="FFFFFF">
                <a:alpha val="0"/>
              </a:srgbClr>
            </a:solidFill>
            <a:prstDash val="solid"/>
          </a:ln>
        </p:spPr>
        <p:txBody>
          <a:bodyPr/>
          <a:lstStyle/>
          <a:p>
            <a:endParaRPr lang="es-ES"/>
          </a:p>
        </p:txBody>
      </p:sp>
      <p:sp>
        <p:nvSpPr>
          <p:cNvPr id="4" name="Text 1"/>
          <p:cNvSpPr/>
          <p:nvPr/>
        </p:nvSpPr>
        <p:spPr>
          <a:xfrm>
            <a:off x="2047240" y="5053965"/>
            <a:ext cx="8642985" cy="11995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a:off x="1920240" y="4884420"/>
            <a:ext cx="8642985" cy="1199515"/>
          </a:xfrm>
          <a:prstGeom prst="roundRect">
            <a:avLst>
              <a:gd name="adj" fmla="val 50000"/>
            </a:avLst>
          </a:prstGeom>
          <a:solidFill>
            <a:srgbClr val="FFFFFF"/>
          </a:solidFill>
          <a:ln w="57150">
            <a:solidFill>
              <a:srgbClr val="000000"/>
            </a:solidFill>
            <a:prstDash val="solid"/>
          </a:ln>
        </p:spPr>
        <p:txBody>
          <a:bodyPr/>
          <a:lstStyle/>
          <a:p>
            <a:endParaRPr lang="es-ES"/>
          </a:p>
        </p:txBody>
      </p:sp>
      <p:sp>
        <p:nvSpPr>
          <p:cNvPr id="6" name="Text 3"/>
          <p:cNvSpPr/>
          <p:nvPr/>
        </p:nvSpPr>
        <p:spPr>
          <a:xfrm>
            <a:off x="1920240" y="4884420"/>
            <a:ext cx="8642985" cy="11995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7" name="Text 4"/>
          <p:cNvSpPr/>
          <p:nvPr/>
        </p:nvSpPr>
        <p:spPr>
          <a:xfrm>
            <a:off x="1920240" y="5045710"/>
            <a:ext cx="8643620" cy="828675"/>
          </a:xfrm>
          <a:prstGeom prst="rect">
            <a:avLst/>
          </a:prstGeom>
          <a:noFill/>
          <a:ln/>
        </p:spPr>
        <p:txBody>
          <a:bodyPr wrap="square" lIns="91440" tIns="45720" rIns="91440" bIns="45720" rtlCol="0" anchor="ctr">
            <a:spAutoFit/>
          </a:bodyPr>
          <a:lstStyle/>
          <a:p>
            <a:pPr marL="0" indent="0" algn="ctr">
              <a:lnSpc>
                <a:spcPct val="100000"/>
              </a:lnSpc>
              <a:buNone/>
            </a:pPr>
            <a:r>
              <a:rPr lang="en-US" sz="5400" b="1" dirty="0">
                <a:solidFill>
                  <a:srgbClr val="000000"/>
                </a:solidFill>
                <a:latin typeface="MiSans" pitchFamily="34" charset="0"/>
                <a:ea typeface="MiSans" pitchFamily="34" charset="-122"/>
                <a:cs typeface="MiSans" pitchFamily="34" charset="-120"/>
              </a:rPr>
              <a:t>Flexibilidad Externa</a:t>
            </a:r>
            <a:endParaRPr lang="en-US" sz="1600" dirty="0"/>
          </a:p>
        </p:txBody>
      </p:sp>
      <p:sp>
        <p:nvSpPr>
          <p:cNvPr id="8" name="Text 5"/>
          <p:cNvSpPr/>
          <p:nvPr/>
        </p:nvSpPr>
        <p:spPr>
          <a:xfrm>
            <a:off x="3447415" y="256898"/>
            <a:ext cx="5640070" cy="1107996"/>
          </a:xfrm>
          <a:prstGeom prst="rect">
            <a:avLst/>
          </a:prstGeom>
          <a:noFill/>
          <a:ln/>
        </p:spPr>
        <p:txBody>
          <a:bodyPr wrap="square" lIns="91440" tIns="45720" rIns="91440" bIns="45720" rtlCol="0" anchor="ctr">
            <a:spAutoFit/>
          </a:bodyPr>
          <a:lstStyle/>
          <a:p>
            <a:pPr marL="0" indent="0" algn="ctr">
              <a:lnSpc>
                <a:spcPct val="100000"/>
              </a:lnSpc>
              <a:buNone/>
            </a:pPr>
            <a:r>
              <a:rPr lang="en-US" sz="6600" b="1" dirty="0">
                <a:solidFill>
                  <a:srgbClr val="000000"/>
                </a:solidFill>
                <a:latin typeface="MiSans" pitchFamily="34" charset="0"/>
                <a:ea typeface="MiSans" pitchFamily="34" charset="-122"/>
                <a:cs typeface="MiSans" pitchFamily="34" charset="-120"/>
              </a:rPr>
              <a:t>PARTE  02</a:t>
            </a:r>
            <a:endParaRPr lang="en-US" sz="1600" dirty="0"/>
          </a:p>
        </p:txBody>
      </p:sp>
      <p:sp>
        <p:nvSpPr>
          <p:cNvPr id="9" name="Shape 6"/>
          <p:cNvSpPr/>
          <p:nvPr/>
        </p:nvSpPr>
        <p:spPr>
          <a:xfrm>
            <a:off x="291465" y="6075045"/>
            <a:ext cx="607496" cy="0"/>
          </a:xfrm>
          <a:prstGeom prst="line">
            <a:avLst/>
          </a:prstGeom>
          <a:noFill/>
          <a:ln w="57150">
            <a:solidFill>
              <a:srgbClr val="00B0F0"/>
            </a:solidFill>
            <a:prstDash val="solid"/>
            <a:headEnd type="none"/>
            <a:tailEnd type="none"/>
          </a:ln>
        </p:spPr>
        <p:txBody>
          <a:bodyPr/>
          <a:lstStyle/>
          <a:p>
            <a:endParaRPr lang="es-ES"/>
          </a:p>
        </p:txBody>
      </p:sp>
      <p:sp>
        <p:nvSpPr>
          <p:cNvPr id="10" name="Shape 7"/>
          <p:cNvSpPr/>
          <p:nvPr/>
        </p:nvSpPr>
        <p:spPr>
          <a:xfrm>
            <a:off x="291465" y="6308725"/>
            <a:ext cx="607496" cy="0"/>
          </a:xfrm>
          <a:prstGeom prst="line">
            <a:avLst/>
          </a:prstGeom>
          <a:noFill/>
          <a:ln w="57150">
            <a:solidFill>
              <a:srgbClr val="00B0F0"/>
            </a:solidFill>
            <a:prstDash val="solid"/>
            <a:headEnd type="none"/>
            <a:tailEnd type="none"/>
          </a:ln>
        </p:spPr>
        <p:txBody>
          <a:bodyPr/>
          <a:lstStyle/>
          <a:p>
            <a:endParaRPr lang="es-ES"/>
          </a:p>
        </p:txBody>
      </p:sp>
      <p:sp>
        <p:nvSpPr>
          <p:cNvPr id="11" name="Shape 8"/>
          <p:cNvSpPr/>
          <p:nvPr/>
        </p:nvSpPr>
        <p:spPr>
          <a:xfrm>
            <a:off x="291465" y="6542405"/>
            <a:ext cx="607496" cy="0"/>
          </a:xfrm>
          <a:prstGeom prst="line">
            <a:avLst/>
          </a:prstGeom>
          <a:noFill/>
          <a:ln w="57150">
            <a:solidFill>
              <a:srgbClr val="00B0F0"/>
            </a:solidFill>
            <a:prstDash val="solid"/>
            <a:headEnd type="none"/>
            <a:tailEnd type="none"/>
          </a:ln>
        </p:spPr>
        <p:txBody>
          <a:bodyPr/>
          <a:lstStyle/>
          <a:p>
            <a:endParaRPr lang="es-ES"/>
          </a:p>
        </p:txBody>
      </p:sp>
      <p:sp>
        <p:nvSpPr>
          <p:cNvPr id="12" name="Shape 9"/>
          <p:cNvSpPr/>
          <p:nvPr/>
        </p:nvSpPr>
        <p:spPr>
          <a:xfrm>
            <a:off x="291465" y="202565"/>
            <a:ext cx="337185" cy="337185"/>
          </a:xfrm>
          <a:prstGeom prst="ellipse">
            <a:avLst/>
          </a:prstGeom>
          <a:solidFill>
            <a:srgbClr val="FFFFFF"/>
          </a:solidFill>
          <a:ln w="19050">
            <a:solidFill>
              <a:srgbClr val="00B0F0"/>
            </a:solidFill>
            <a:prstDash val="solid"/>
          </a:ln>
        </p:spPr>
        <p:txBody>
          <a:bodyPr/>
          <a:lstStyle/>
          <a:p>
            <a:endParaRPr lang="es-ES"/>
          </a:p>
        </p:txBody>
      </p:sp>
      <p:sp>
        <p:nvSpPr>
          <p:cNvPr id="13" name="Text 10"/>
          <p:cNvSpPr/>
          <p:nvPr/>
        </p:nvSpPr>
        <p:spPr>
          <a:xfrm>
            <a:off x="29146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1251585" y="202565"/>
            <a:ext cx="337185" cy="337185"/>
          </a:xfrm>
          <a:prstGeom prst="ellipse">
            <a:avLst/>
          </a:prstGeom>
          <a:solidFill>
            <a:srgbClr val="FFFFFF"/>
          </a:solidFill>
          <a:ln w="19050">
            <a:solidFill>
              <a:srgbClr val="00B0F0"/>
            </a:solidFill>
            <a:prstDash val="solid"/>
          </a:ln>
        </p:spPr>
        <p:txBody>
          <a:bodyPr/>
          <a:lstStyle/>
          <a:p>
            <a:endParaRPr lang="es-ES"/>
          </a:p>
        </p:txBody>
      </p:sp>
      <p:sp>
        <p:nvSpPr>
          <p:cNvPr id="15" name="Text 12"/>
          <p:cNvSpPr/>
          <p:nvPr/>
        </p:nvSpPr>
        <p:spPr>
          <a:xfrm>
            <a:off x="125158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771525" y="202565"/>
            <a:ext cx="337185" cy="337185"/>
          </a:xfrm>
          <a:prstGeom prst="ellipse">
            <a:avLst/>
          </a:prstGeom>
          <a:solidFill>
            <a:srgbClr val="00B0F0"/>
          </a:solidFill>
          <a:ln w="19050">
            <a:solidFill>
              <a:srgbClr val="FFFFFF"/>
            </a:solidFill>
            <a:prstDash val="solid"/>
          </a:ln>
        </p:spPr>
        <p:txBody>
          <a:bodyPr/>
          <a:lstStyle/>
          <a:p>
            <a:endParaRPr lang="es-ES"/>
          </a:p>
        </p:txBody>
      </p:sp>
      <p:sp>
        <p:nvSpPr>
          <p:cNvPr id="17" name="Text 14"/>
          <p:cNvSpPr/>
          <p:nvPr/>
        </p:nvSpPr>
        <p:spPr>
          <a:xfrm>
            <a:off x="77152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Shape 15"/>
          <p:cNvSpPr/>
          <p:nvPr/>
        </p:nvSpPr>
        <p:spPr>
          <a:xfrm>
            <a:off x="1731645" y="202565"/>
            <a:ext cx="337185" cy="337185"/>
          </a:xfrm>
          <a:prstGeom prst="ellipse">
            <a:avLst/>
          </a:prstGeom>
          <a:solidFill>
            <a:srgbClr val="00B0F0"/>
          </a:solidFill>
          <a:ln w="19050">
            <a:solidFill>
              <a:srgbClr val="FFFFFF"/>
            </a:solidFill>
            <a:prstDash val="solid"/>
          </a:ln>
        </p:spPr>
        <p:txBody>
          <a:bodyPr/>
          <a:lstStyle/>
          <a:p>
            <a:endParaRPr lang="es-ES"/>
          </a:p>
        </p:txBody>
      </p:sp>
      <p:sp>
        <p:nvSpPr>
          <p:cNvPr id="19" name="Text 16"/>
          <p:cNvSpPr/>
          <p:nvPr/>
        </p:nvSpPr>
        <p:spPr>
          <a:xfrm>
            <a:off x="173164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142240"/>
            <a:ext cx="7499985" cy="368300"/>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Flujos de entrada: contratación</a:t>
            </a:r>
            <a:endParaRPr lang="en-US" sz="1600" dirty="0"/>
          </a:p>
        </p:txBody>
      </p:sp>
      <p:sp>
        <p:nvSpPr>
          <p:cNvPr id="12" name="Shape 10"/>
          <p:cNvSpPr/>
          <p:nvPr/>
        </p:nvSpPr>
        <p:spPr>
          <a:xfrm>
            <a:off x="1155700" y="3670300"/>
            <a:ext cx="2560955" cy="0"/>
          </a:xfrm>
          <a:prstGeom prst="line">
            <a:avLst/>
          </a:prstGeom>
          <a:noFill/>
          <a:ln w="38100">
            <a:solidFill>
              <a:srgbClr val="000000"/>
            </a:solidFill>
            <a:prstDash val="dash"/>
            <a:headEnd type="none"/>
            <a:tailEnd type="none"/>
          </a:ln>
        </p:spPr>
        <p:txBody>
          <a:bodyPr/>
          <a:lstStyle/>
          <a:p>
            <a:endParaRPr lang="es-ES"/>
          </a:p>
        </p:txBody>
      </p:sp>
      <p:sp>
        <p:nvSpPr>
          <p:cNvPr id="13" name="Shape 11"/>
          <p:cNvSpPr/>
          <p:nvPr/>
        </p:nvSpPr>
        <p:spPr>
          <a:xfrm>
            <a:off x="4973955" y="3670300"/>
            <a:ext cx="2560955" cy="0"/>
          </a:xfrm>
          <a:prstGeom prst="line">
            <a:avLst/>
          </a:prstGeom>
          <a:noFill/>
          <a:ln w="38100">
            <a:solidFill>
              <a:srgbClr val="000000"/>
            </a:solidFill>
            <a:prstDash val="dash"/>
            <a:headEnd type="none"/>
            <a:tailEnd type="none"/>
          </a:ln>
        </p:spPr>
        <p:txBody>
          <a:bodyPr/>
          <a:lstStyle/>
          <a:p>
            <a:endParaRPr lang="es-ES"/>
          </a:p>
        </p:txBody>
      </p:sp>
      <p:sp>
        <p:nvSpPr>
          <p:cNvPr id="14" name="Shape 12"/>
          <p:cNvSpPr/>
          <p:nvPr/>
        </p:nvSpPr>
        <p:spPr>
          <a:xfrm>
            <a:off x="8678545" y="3670300"/>
            <a:ext cx="2560955" cy="0"/>
          </a:xfrm>
          <a:prstGeom prst="line">
            <a:avLst/>
          </a:prstGeom>
          <a:noFill/>
          <a:ln w="38100">
            <a:solidFill>
              <a:srgbClr val="000000"/>
            </a:solidFill>
            <a:prstDash val="dash"/>
            <a:headEnd type="none"/>
            <a:tailEnd type="none"/>
          </a:ln>
        </p:spPr>
        <p:txBody>
          <a:bodyPr/>
          <a:lstStyle/>
          <a:p>
            <a:endParaRPr lang="es-ES"/>
          </a:p>
        </p:txBody>
      </p:sp>
      <p:pic>
        <p:nvPicPr>
          <p:cNvPr id="15" name="Image 0" descr="https://kimi-img.moonshot.cn/pub/slides/slides_tmpl/image/25-08-27-19:57:42-d2nf5dh8bjvh7rlivsog.png"/>
          <p:cNvPicPr>
            <a:picLocks noChangeAspect="1"/>
          </p:cNvPicPr>
          <p:nvPr/>
        </p:nvPicPr>
        <p:blipFill>
          <a:blip r:embed="rId3"/>
          <a:stretch>
            <a:fillRect/>
          </a:stretch>
        </p:blipFill>
        <p:spPr>
          <a:xfrm>
            <a:off x="1506220" y="1112520"/>
            <a:ext cx="1544320" cy="1407160"/>
          </a:xfrm>
          <a:prstGeom prst="rect">
            <a:avLst/>
          </a:prstGeom>
        </p:spPr>
      </p:pic>
      <p:pic>
        <p:nvPicPr>
          <p:cNvPr id="16" name="Image 1" descr="https://kimi-img.moonshot.cn/pub/slides/slides_tmpl/image/25-08-27-19:57:42-d2nf5dh8bjvh7rlivst0.png"/>
          <p:cNvPicPr>
            <a:picLocks noChangeAspect="1"/>
          </p:cNvPicPr>
          <p:nvPr/>
        </p:nvPicPr>
        <p:blipFill>
          <a:blip r:embed="rId4"/>
          <a:stretch>
            <a:fillRect/>
          </a:stretch>
        </p:blipFill>
        <p:spPr>
          <a:xfrm>
            <a:off x="5293360" y="920115"/>
            <a:ext cx="1921510" cy="1678305"/>
          </a:xfrm>
          <a:prstGeom prst="rect">
            <a:avLst/>
          </a:prstGeom>
        </p:spPr>
      </p:pic>
      <p:pic>
        <p:nvPicPr>
          <p:cNvPr id="17" name="Image 2" descr="https://kimi-img.moonshot.cn/pub/slides/slides_tmpl/image/25-08-27-19:57:42-d2nf5dh8bjvh7rlivsug.png"/>
          <p:cNvPicPr>
            <a:picLocks noChangeAspect="1"/>
          </p:cNvPicPr>
          <p:nvPr/>
        </p:nvPicPr>
        <p:blipFill>
          <a:blip r:embed="rId5"/>
          <a:stretch>
            <a:fillRect/>
          </a:stretch>
        </p:blipFill>
        <p:spPr>
          <a:xfrm>
            <a:off x="8952230" y="1005205"/>
            <a:ext cx="1710690" cy="1635760"/>
          </a:xfrm>
          <a:prstGeom prst="rect">
            <a:avLst/>
          </a:prstGeom>
        </p:spPr>
      </p:pic>
      <p:sp>
        <p:nvSpPr>
          <p:cNvPr id="18" name="Shape 13"/>
          <p:cNvSpPr/>
          <p:nvPr/>
        </p:nvSpPr>
        <p:spPr>
          <a:xfrm>
            <a:off x="0" y="6620510"/>
            <a:ext cx="12192000" cy="237490"/>
          </a:xfrm>
          <a:prstGeom prst="rect">
            <a:avLst/>
          </a:prstGeom>
          <a:solidFill>
            <a:srgbClr val="00B0F0"/>
          </a:solidFill>
          <a:ln/>
        </p:spPr>
        <p:txBody>
          <a:bodyPr/>
          <a:lstStyle/>
          <a:p>
            <a:endParaRPr lang="es-ES"/>
          </a:p>
        </p:txBody>
      </p:sp>
      <p:sp>
        <p:nvSpPr>
          <p:cNvPr id="19" name="Text 14"/>
          <p:cNvSpPr/>
          <p:nvPr/>
        </p:nvSpPr>
        <p:spPr>
          <a:xfrm>
            <a:off x="0" y="6620510"/>
            <a:ext cx="12192000" cy="23749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0" name="Shape 15"/>
          <p:cNvSpPr/>
          <p:nvPr/>
        </p:nvSpPr>
        <p:spPr>
          <a:xfrm>
            <a:off x="4345305" y="1231900"/>
            <a:ext cx="0" cy="4612005"/>
          </a:xfrm>
          <a:prstGeom prst="line">
            <a:avLst/>
          </a:prstGeom>
          <a:noFill/>
          <a:ln w="6350">
            <a:solidFill>
              <a:srgbClr val="D9D9D9"/>
            </a:solidFill>
            <a:prstDash val="dash"/>
            <a:headEnd type="none"/>
            <a:tailEnd type="none"/>
          </a:ln>
        </p:spPr>
        <p:txBody>
          <a:bodyPr/>
          <a:lstStyle/>
          <a:p>
            <a:endParaRPr lang="es-ES"/>
          </a:p>
        </p:txBody>
      </p:sp>
      <p:sp>
        <p:nvSpPr>
          <p:cNvPr id="21" name="Shape 16"/>
          <p:cNvSpPr/>
          <p:nvPr/>
        </p:nvSpPr>
        <p:spPr>
          <a:xfrm>
            <a:off x="8162925" y="1231900"/>
            <a:ext cx="0" cy="4612005"/>
          </a:xfrm>
          <a:prstGeom prst="line">
            <a:avLst/>
          </a:prstGeom>
          <a:noFill/>
          <a:ln w="6350">
            <a:solidFill>
              <a:srgbClr val="D9D9D9"/>
            </a:solidFill>
            <a:prstDash val="dash"/>
            <a:headEnd type="none"/>
            <a:tailEnd type="none"/>
          </a:ln>
        </p:spPr>
        <p:txBody>
          <a:bodyPr/>
          <a:lstStyle/>
          <a:p>
            <a:endParaRPr lang="es-ES"/>
          </a:p>
        </p:txBody>
      </p:sp>
      <p:sp>
        <p:nvSpPr>
          <p:cNvPr id="22" name="Text 17"/>
          <p:cNvSpPr/>
          <p:nvPr/>
        </p:nvSpPr>
        <p:spPr>
          <a:xfrm>
            <a:off x="1150620" y="2687320"/>
            <a:ext cx="2568575" cy="681355"/>
          </a:xfrm>
          <a:prstGeom prst="rect">
            <a:avLst/>
          </a:prstGeom>
          <a:noFill/>
          <a:ln/>
        </p:spPr>
        <p:txBody>
          <a:bodyPr wrap="square" lIns="91440" tIns="45720" rIns="91440" bIns="45720" rtlCol="0" anchor="t"/>
          <a:lstStyle/>
          <a:p>
            <a:pPr marL="0" indent="0" algn="ctr">
              <a:lnSpc>
                <a:spcPct val="100000"/>
              </a:lnSpc>
              <a:buNone/>
            </a:pPr>
            <a:r>
              <a:rPr lang="en-US" sz="2200" b="1" dirty="0">
                <a:solidFill>
                  <a:srgbClr val="00B0F0"/>
                </a:solidFill>
                <a:latin typeface="MiSans" pitchFamily="34" charset="0"/>
                <a:ea typeface="MiSans" pitchFamily="34" charset="-122"/>
                <a:cs typeface="MiSans" pitchFamily="34" charset="-120"/>
              </a:rPr>
              <a:t>Factores que influyen</a:t>
            </a:r>
            <a:endParaRPr lang="en-US" sz="1600" dirty="0"/>
          </a:p>
        </p:txBody>
      </p:sp>
      <p:sp>
        <p:nvSpPr>
          <p:cNvPr id="23" name="Text 18"/>
          <p:cNvSpPr/>
          <p:nvPr/>
        </p:nvSpPr>
        <p:spPr>
          <a:xfrm>
            <a:off x="1042670" y="3771265"/>
            <a:ext cx="2787015" cy="2860675"/>
          </a:xfrm>
          <a:prstGeom prst="rect">
            <a:avLst/>
          </a:prstGeom>
          <a:noFill/>
          <a:ln/>
        </p:spPr>
        <p:txBody>
          <a:bodyPr wrap="square" lIns="91440" tIns="45720" rIns="91440" bIns="45720" rtlCol="0" anchor="t"/>
          <a:lstStyle/>
          <a:p>
            <a:pPr marL="0" indent="0">
              <a:lnSpc>
                <a:spcPct val="130000"/>
              </a:lnSpc>
              <a:buNone/>
            </a:pPr>
            <a:r>
              <a:rPr lang="en-US" sz="1200" dirty="0">
                <a:solidFill>
                  <a:srgbClr val="595959"/>
                </a:solidFill>
                <a:latin typeface="MiSans" pitchFamily="34" charset="0"/>
                <a:ea typeface="MiSans" pitchFamily="34" charset="-122"/>
                <a:cs typeface="MiSans" pitchFamily="34" charset="-120"/>
              </a:rPr>
              <a:t>La contratación depende de costes monetarios (tasas, selección) y no monetarios (tramitación, tiempo). La complejidad administrativa y la duración del proceso afectan la rapidez con que las empresas cubren vacantes, influyendo en su capacidad de respuesta ante cambios de demanda.</a:t>
            </a:r>
            <a:endParaRPr lang="en-US" sz="1600" dirty="0"/>
          </a:p>
        </p:txBody>
      </p:sp>
      <p:sp>
        <p:nvSpPr>
          <p:cNvPr id="24" name="Text 19"/>
          <p:cNvSpPr/>
          <p:nvPr/>
        </p:nvSpPr>
        <p:spPr>
          <a:xfrm>
            <a:off x="4987925" y="2687320"/>
            <a:ext cx="2542540" cy="681355"/>
          </a:xfrm>
          <a:prstGeom prst="rect">
            <a:avLst/>
          </a:prstGeom>
          <a:noFill/>
          <a:ln/>
        </p:spPr>
        <p:txBody>
          <a:bodyPr wrap="square" lIns="91440" tIns="45720" rIns="91440" bIns="45720" rtlCol="0" anchor="t"/>
          <a:lstStyle/>
          <a:p>
            <a:pPr marL="0" indent="0" algn="ctr">
              <a:lnSpc>
                <a:spcPct val="100000"/>
              </a:lnSpc>
              <a:buNone/>
            </a:pPr>
            <a:r>
              <a:rPr lang="en-US" sz="2200" b="1" dirty="0">
                <a:solidFill>
                  <a:srgbClr val="00B0F0"/>
                </a:solidFill>
                <a:latin typeface="MiSans" pitchFamily="34" charset="0"/>
                <a:ea typeface="MiSans" pitchFamily="34" charset="-122"/>
                <a:cs typeface="MiSans" pitchFamily="34" charset="-120"/>
              </a:rPr>
              <a:t>Externalización de la contratación</a:t>
            </a:r>
            <a:endParaRPr lang="en-US" sz="1600" dirty="0"/>
          </a:p>
        </p:txBody>
      </p:sp>
      <p:sp>
        <p:nvSpPr>
          <p:cNvPr id="25" name="Text 20"/>
          <p:cNvSpPr/>
          <p:nvPr/>
        </p:nvSpPr>
        <p:spPr>
          <a:xfrm>
            <a:off x="4860925" y="3771265"/>
            <a:ext cx="2787015" cy="2860675"/>
          </a:xfrm>
          <a:prstGeom prst="rect">
            <a:avLst/>
          </a:prstGeom>
          <a:noFill/>
          <a:ln/>
        </p:spPr>
        <p:txBody>
          <a:bodyPr wrap="square" lIns="91440" tIns="45720" rIns="91440" bIns="45720" rtlCol="0" anchor="t"/>
          <a:lstStyle/>
          <a:p>
            <a:pPr marL="0" indent="0">
              <a:lnSpc>
                <a:spcPct val="130000"/>
              </a:lnSpc>
              <a:buNone/>
            </a:pPr>
            <a:r>
              <a:rPr lang="en-US" sz="1200" dirty="0">
                <a:solidFill>
                  <a:srgbClr val="595959"/>
                </a:solidFill>
                <a:latin typeface="MiSans" pitchFamily="34" charset="0"/>
                <a:ea typeface="MiSans" pitchFamily="34" charset="-122"/>
                <a:cs typeface="MiSans" pitchFamily="34" charset="-120"/>
              </a:rPr>
              <a:t>Las empresas recurren a ETT, subcontratas o autónomos para flexibilizar entrada de personal. Esto reduce costes fijos y responsabilidades laborales, pero puede generar inseguridad jurídica y precariedad si no se regula adecuadamente el uso de estas figuras.</a:t>
            </a:r>
            <a:endParaRPr lang="en-US" sz="1600" dirty="0"/>
          </a:p>
        </p:txBody>
      </p:sp>
      <p:sp>
        <p:nvSpPr>
          <p:cNvPr id="26" name="Text 21"/>
          <p:cNvSpPr/>
          <p:nvPr/>
        </p:nvSpPr>
        <p:spPr>
          <a:xfrm>
            <a:off x="8700135" y="2687320"/>
            <a:ext cx="2527300" cy="681355"/>
          </a:xfrm>
          <a:prstGeom prst="rect">
            <a:avLst/>
          </a:prstGeom>
          <a:noFill/>
          <a:ln/>
        </p:spPr>
        <p:txBody>
          <a:bodyPr wrap="square" lIns="91440" tIns="45720" rIns="91440" bIns="45720" rtlCol="0" anchor="t"/>
          <a:lstStyle/>
          <a:p>
            <a:pPr marL="0" indent="0" algn="ctr">
              <a:lnSpc>
                <a:spcPct val="100000"/>
              </a:lnSpc>
              <a:buNone/>
            </a:pPr>
            <a:r>
              <a:rPr lang="en-US" sz="2200" b="1" dirty="0">
                <a:solidFill>
                  <a:srgbClr val="00B0F0"/>
                </a:solidFill>
                <a:latin typeface="MiSans" pitchFamily="34" charset="0"/>
                <a:ea typeface="MiSans" pitchFamily="34" charset="-122"/>
                <a:cs typeface="MiSans" pitchFamily="34" charset="-120"/>
              </a:rPr>
              <a:t>Profesionalización del proceso</a:t>
            </a:r>
            <a:endParaRPr lang="en-US" sz="1600" dirty="0"/>
          </a:p>
        </p:txBody>
      </p:sp>
      <p:sp>
        <p:nvSpPr>
          <p:cNvPr id="27" name="Text 22"/>
          <p:cNvSpPr/>
          <p:nvPr/>
        </p:nvSpPr>
        <p:spPr>
          <a:xfrm>
            <a:off x="8565515" y="3771265"/>
            <a:ext cx="2787015" cy="2860675"/>
          </a:xfrm>
          <a:prstGeom prst="rect">
            <a:avLst/>
          </a:prstGeom>
          <a:noFill/>
          <a:ln/>
        </p:spPr>
        <p:txBody>
          <a:bodyPr wrap="square" lIns="91440" tIns="45720" rIns="91440" bIns="45720" rtlCol="0" anchor="t"/>
          <a:lstStyle/>
          <a:p>
            <a:pPr marL="0" indent="0">
              <a:lnSpc>
                <a:spcPct val="130000"/>
              </a:lnSpc>
              <a:buNone/>
            </a:pPr>
            <a:r>
              <a:rPr lang="en-US" sz="1200" dirty="0">
                <a:solidFill>
                  <a:srgbClr val="595959"/>
                </a:solidFill>
                <a:latin typeface="MiSans" pitchFamily="34" charset="0"/>
                <a:ea typeface="MiSans" pitchFamily="34" charset="-122"/>
                <a:cs typeface="MiSans" pitchFamily="34" charset="-120"/>
              </a:rPr>
              <a:t>La selección de personal se ha vuelto más técnica y especializada, especialmente en grandes empresas. Esto mejora la calidad de las </a:t>
            </a:r>
            <a:r>
              <a:rPr lang="en-US" sz="1200" dirty="0" err="1">
                <a:solidFill>
                  <a:srgbClr val="595959"/>
                </a:solidFill>
                <a:latin typeface="MiSans" pitchFamily="34" charset="0"/>
                <a:ea typeface="MiSans" pitchFamily="34" charset="-122"/>
                <a:cs typeface="MiSans" pitchFamily="34" charset="-120"/>
              </a:rPr>
              <a:t>contrataciones</a:t>
            </a:r>
            <a:r>
              <a:rPr lang="en-US" sz="1200" dirty="0">
                <a:solidFill>
                  <a:srgbClr val="595959"/>
                </a:solidFill>
                <a:latin typeface="MiSans" pitchFamily="34" charset="0"/>
                <a:ea typeface="MiSans" pitchFamily="34" charset="-122"/>
                <a:cs typeface="MiSans" pitchFamily="34" charset="-120"/>
              </a:rPr>
              <a:t>, </a:t>
            </a:r>
            <a:r>
              <a:rPr lang="en-US" sz="1200" dirty="0" err="1">
                <a:solidFill>
                  <a:srgbClr val="595959"/>
                </a:solidFill>
                <a:latin typeface="MiSans" pitchFamily="34" charset="0"/>
                <a:ea typeface="MiSans" pitchFamily="34" charset="-122"/>
                <a:cs typeface="MiSans" pitchFamily="34" charset="-120"/>
              </a:rPr>
              <a:t>pero</a:t>
            </a:r>
            <a:r>
              <a:rPr lang="en-US" sz="1200" dirty="0">
                <a:solidFill>
                  <a:srgbClr val="595959"/>
                </a:solidFill>
                <a:latin typeface="MiSans" pitchFamily="34" charset="0"/>
                <a:ea typeface="MiSans" pitchFamily="34" charset="-122"/>
                <a:cs typeface="MiSans" pitchFamily="34" charset="-120"/>
              </a:rPr>
              <a:t> puede alargar los procesos y aumentar la dependencia de intermediarios, encareciendo el acceso al empleo.</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142240"/>
            <a:ext cx="7499985" cy="368300"/>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Flujos de salida: despido</a:t>
            </a:r>
            <a:endParaRPr lang="en-US" sz="1600" dirty="0"/>
          </a:p>
        </p:txBody>
      </p:sp>
      <p:sp>
        <p:nvSpPr>
          <p:cNvPr id="12" name="Shape 10"/>
          <p:cNvSpPr/>
          <p:nvPr/>
        </p:nvSpPr>
        <p:spPr>
          <a:xfrm>
            <a:off x="628650" y="1229995"/>
            <a:ext cx="7781290" cy="1405255"/>
          </a:xfrm>
          <a:custGeom>
            <a:avLst/>
            <a:gdLst/>
            <a:ahLst/>
            <a:cxnLst/>
            <a:rect l="l" t="t" r="r" b="b"/>
            <a:pathLst>
              <a:path w="7781290" h="1405255">
                <a:moveTo>
                  <a:pt x="0" y="418032"/>
                </a:moveTo>
                <a:lnTo>
                  <a:pt x="0" y="1405255"/>
                </a:lnTo>
                <a:lnTo>
                  <a:pt x="7781290" y="1405255"/>
                </a:lnTo>
                <a:lnTo>
                  <a:pt x="7781290" y="0"/>
                </a:lnTo>
                <a:lnTo>
                  <a:pt x="5154295" y="2606"/>
                </a:lnTo>
              </a:path>
            </a:pathLst>
          </a:custGeom>
          <a:solidFill>
            <a:srgbClr val="000000">
              <a:alpha val="0"/>
            </a:srgbClr>
          </a:solidFill>
          <a:ln w="38100">
            <a:solidFill>
              <a:srgbClr val="000000"/>
            </a:solidFill>
            <a:prstDash val="solid"/>
          </a:ln>
        </p:spPr>
        <p:txBody>
          <a:bodyPr/>
          <a:lstStyle/>
          <a:p>
            <a:endParaRPr lang="es-ES"/>
          </a:p>
        </p:txBody>
      </p:sp>
      <p:sp>
        <p:nvSpPr>
          <p:cNvPr id="13" name="Text 11"/>
          <p:cNvSpPr/>
          <p:nvPr/>
        </p:nvSpPr>
        <p:spPr>
          <a:xfrm>
            <a:off x="628650" y="1229995"/>
            <a:ext cx="7781290" cy="140525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4039235" y="3194685"/>
            <a:ext cx="7781290" cy="1405255"/>
          </a:xfrm>
          <a:custGeom>
            <a:avLst/>
            <a:gdLst/>
            <a:ahLst/>
            <a:cxnLst/>
            <a:rect l="l" t="t" r="r" b="b"/>
            <a:pathLst>
              <a:path w="7781290" h="1405255">
                <a:moveTo>
                  <a:pt x="0" y="418032"/>
                </a:moveTo>
                <a:lnTo>
                  <a:pt x="0" y="1405255"/>
                </a:lnTo>
                <a:lnTo>
                  <a:pt x="7781290" y="1405255"/>
                </a:lnTo>
                <a:lnTo>
                  <a:pt x="7781290" y="0"/>
                </a:lnTo>
                <a:lnTo>
                  <a:pt x="5154295" y="2606"/>
                </a:lnTo>
              </a:path>
            </a:pathLst>
          </a:custGeom>
          <a:solidFill>
            <a:srgbClr val="000000">
              <a:alpha val="0"/>
            </a:srgbClr>
          </a:solidFill>
          <a:ln w="38100">
            <a:solidFill>
              <a:srgbClr val="000000"/>
            </a:solidFill>
            <a:prstDash val="solid"/>
          </a:ln>
        </p:spPr>
        <p:txBody>
          <a:bodyPr/>
          <a:lstStyle/>
          <a:p>
            <a:endParaRPr lang="es-ES"/>
          </a:p>
        </p:txBody>
      </p:sp>
      <p:sp>
        <p:nvSpPr>
          <p:cNvPr id="15" name="Text 13"/>
          <p:cNvSpPr/>
          <p:nvPr/>
        </p:nvSpPr>
        <p:spPr>
          <a:xfrm>
            <a:off x="4039235" y="3194685"/>
            <a:ext cx="7781290" cy="140525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755650" y="5009515"/>
            <a:ext cx="7781290" cy="1405255"/>
          </a:xfrm>
          <a:custGeom>
            <a:avLst/>
            <a:gdLst/>
            <a:ahLst/>
            <a:cxnLst/>
            <a:rect l="l" t="t" r="r" b="b"/>
            <a:pathLst>
              <a:path w="7781290" h="1405255">
                <a:moveTo>
                  <a:pt x="0" y="418032"/>
                </a:moveTo>
                <a:lnTo>
                  <a:pt x="0" y="1405255"/>
                </a:lnTo>
                <a:lnTo>
                  <a:pt x="7781290" y="1405255"/>
                </a:lnTo>
                <a:lnTo>
                  <a:pt x="7781290" y="0"/>
                </a:lnTo>
                <a:lnTo>
                  <a:pt x="5154295" y="2606"/>
                </a:lnTo>
              </a:path>
            </a:pathLst>
          </a:custGeom>
          <a:solidFill>
            <a:srgbClr val="000000">
              <a:alpha val="0"/>
            </a:srgbClr>
          </a:solidFill>
          <a:ln w="38100">
            <a:solidFill>
              <a:srgbClr val="000000"/>
            </a:solidFill>
            <a:prstDash val="solid"/>
          </a:ln>
        </p:spPr>
        <p:txBody>
          <a:bodyPr/>
          <a:lstStyle/>
          <a:p>
            <a:endParaRPr lang="es-ES"/>
          </a:p>
        </p:txBody>
      </p:sp>
      <p:sp>
        <p:nvSpPr>
          <p:cNvPr id="17" name="Text 15"/>
          <p:cNvSpPr/>
          <p:nvPr/>
        </p:nvSpPr>
        <p:spPr>
          <a:xfrm>
            <a:off x="755650" y="5009515"/>
            <a:ext cx="7781290" cy="1405255"/>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8" name="Image 0" descr="https://kimi-img.moonshot.cn/pub/slides/slides_tmpl/image/25-08-27-19:57:42-d2nf5dh8bjvh7rlivsv0.png"/>
          <p:cNvPicPr>
            <a:picLocks noChangeAspect="1"/>
          </p:cNvPicPr>
          <p:nvPr/>
        </p:nvPicPr>
        <p:blipFill>
          <a:blip r:embed="rId3"/>
          <a:stretch>
            <a:fillRect/>
          </a:stretch>
        </p:blipFill>
        <p:spPr>
          <a:xfrm>
            <a:off x="9265285" y="4793615"/>
            <a:ext cx="1365250" cy="1688465"/>
          </a:xfrm>
          <a:prstGeom prst="rect">
            <a:avLst/>
          </a:prstGeom>
        </p:spPr>
      </p:pic>
      <p:pic>
        <p:nvPicPr>
          <p:cNvPr id="19" name="Image 1" descr="https://kimi-img.moonshot.cn/pub/slides/slides_tmpl/image/25-08-27-19:57:42-d2nf5dh8bjvh7rlivsvg.png"/>
          <p:cNvPicPr>
            <a:picLocks noChangeAspect="1"/>
          </p:cNvPicPr>
          <p:nvPr/>
        </p:nvPicPr>
        <p:blipFill>
          <a:blip r:embed="rId4"/>
          <a:stretch>
            <a:fillRect/>
          </a:stretch>
        </p:blipFill>
        <p:spPr>
          <a:xfrm rot="20220000">
            <a:off x="2183765" y="2895600"/>
            <a:ext cx="972820" cy="1579245"/>
          </a:xfrm>
          <a:prstGeom prst="rect">
            <a:avLst/>
          </a:prstGeom>
        </p:spPr>
      </p:pic>
      <p:pic>
        <p:nvPicPr>
          <p:cNvPr id="20" name="Image 2" descr="https://kimi-img.moonshot.cn/pub/slides/slides_tmpl/image/25-08-27-19:57:42-d2nf5dh8bjvh7rlivsp0.jpg"/>
          <p:cNvPicPr>
            <a:picLocks noChangeAspect="1"/>
          </p:cNvPicPr>
          <p:nvPr/>
        </p:nvPicPr>
        <p:blipFill>
          <a:blip r:embed="rId5"/>
          <a:stretch>
            <a:fillRect/>
          </a:stretch>
        </p:blipFill>
        <p:spPr>
          <a:xfrm>
            <a:off x="9069705" y="873125"/>
            <a:ext cx="1756410" cy="2025650"/>
          </a:xfrm>
          <a:prstGeom prst="rect">
            <a:avLst/>
          </a:prstGeom>
        </p:spPr>
      </p:pic>
      <p:sp>
        <p:nvSpPr>
          <p:cNvPr id="21" name="Text 16"/>
          <p:cNvSpPr/>
          <p:nvPr/>
        </p:nvSpPr>
        <p:spPr>
          <a:xfrm>
            <a:off x="290195" y="739775"/>
            <a:ext cx="1195070" cy="920750"/>
          </a:xfrm>
          <a:prstGeom prst="rect">
            <a:avLst/>
          </a:prstGeom>
          <a:noFill/>
          <a:ln/>
        </p:spPr>
        <p:txBody>
          <a:bodyPr wrap="square" lIns="91440" tIns="45720" rIns="91440" bIns="45720" rtlCol="0" anchor="t">
            <a:spAutoFit/>
          </a:bodyPr>
          <a:lstStyle/>
          <a:p>
            <a:pPr marL="0" indent="0">
              <a:lnSpc>
                <a:spcPct val="100000"/>
              </a:lnSpc>
              <a:buNone/>
            </a:pPr>
            <a:r>
              <a:rPr lang="en-US" sz="6000" b="1" dirty="0">
                <a:solidFill>
                  <a:srgbClr val="000000"/>
                </a:solidFill>
                <a:latin typeface="MiSans" pitchFamily="34" charset="0"/>
                <a:ea typeface="MiSans" pitchFamily="34" charset="-122"/>
                <a:cs typeface="MiSans" pitchFamily="34" charset="-120"/>
              </a:rPr>
              <a:t>01</a:t>
            </a:r>
            <a:endParaRPr lang="en-US" sz="1600" dirty="0"/>
          </a:p>
        </p:txBody>
      </p:sp>
      <p:sp>
        <p:nvSpPr>
          <p:cNvPr id="22" name="Text 17"/>
          <p:cNvSpPr/>
          <p:nvPr/>
        </p:nvSpPr>
        <p:spPr>
          <a:xfrm>
            <a:off x="1244283" y="1017379"/>
            <a:ext cx="4358640" cy="368300"/>
          </a:xfrm>
          <a:prstGeom prst="rect">
            <a:avLst/>
          </a:prstGeom>
          <a:noFill/>
          <a:ln/>
        </p:spPr>
        <p:txBody>
          <a:bodyPr wrap="square" lIns="91440" tIns="45720" rIns="91440" bIns="45720" rtlCol="0" anchor="t">
            <a:spAutoFit/>
          </a:bodyPr>
          <a:lstStyle/>
          <a:p>
            <a:pPr marL="0" indent="0">
              <a:lnSpc>
                <a:spcPct val="100000"/>
              </a:lnSpc>
              <a:buNone/>
            </a:pPr>
            <a:r>
              <a:rPr lang="en-US" sz="2400" dirty="0">
                <a:solidFill>
                  <a:srgbClr val="00B0F0"/>
                </a:solidFill>
                <a:latin typeface="MiSans" pitchFamily="34" charset="0"/>
                <a:ea typeface="MiSans" pitchFamily="34" charset="-122"/>
                <a:cs typeface="MiSans" pitchFamily="34" charset="-120"/>
              </a:rPr>
              <a:t>Tipos de despido</a:t>
            </a:r>
            <a:endParaRPr lang="en-US" sz="1600" dirty="0"/>
          </a:p>
        </p:txBody>
      </p:sp>
      <p:sp>
        <p:nvSpPr>
          <p:cNvPr id="23" name="Text 18"/>
          <p:cNvSpPr/>
          <p:nvPr/>
        </p:nvSpPr>
        <p:spPr>
          <a:xfrm>
            <a:off x="1034415" y="1477645"/>
            <a:ext cx="7154545" cy="1276350"/>
          </a:xfrm>
          <a:prstGeom prst="rect">
            <a:avLst/>
          </a:prstGeom>
          <a:noFill/>
          <a:ln/>
        </p:spPr>
        <p:txBody>
          <a:bodyPr wrap="square" lIns="91440" tIns="45720" rIns="91440" bIns="45720" rtlCol="0" anchor="t"/>
          <a:lstStyle/>
          <a:p>
            <a:pPr marL="0" indent="0">
              <a:lnSpc>
                <a:spcPct val="130000"/>
              </a:lnSpc>
              <a:buNone/>
            </a:pPr>
            <a:r>
              <a:rPr lang="en-US" sz="1200" dirty="0">
                <a:solidFill>
                  <a:srgbClr val="000000"/>
                </a:solidFill>
                <a:latin typeface="MiSans" pitchFamily="34" charset="0"/>
                <a:ea typeface="MiSans" pitchFamily="34" charset="-122"/>
                <a:cs typeface="MiSans" pitchFamily="34" charset="-120"/>
              </a:rPr>
              <a:t>Existen despidos disciplinarios (por faltas graves), objetivos (por causas económicas o productivas) y colectivos (cuando afectan a muchos trabajadores). Cada tipo tiene requisitos, procedimientos y costes distintos que determinan la seguridad jurídica y la estrategia empresarial.</a:t>
            </a:r>
            <a:endParaRPr lang="en-US" sz="1600" dirty="0"/>
          </a:p>
        </p:txBody>
      </p:sp>
      <p:sp>
        <p:nvSpPr>
          <p:cNvPr id="24" name="Text 19"/>
          <p:cNvSpPr/>
          <p:nvPr/>
        </p:nvSpPr>
        <p:spPr>
          <a:xfrm>
            <a:off x="3700780" y="2704465"/>
            <a:ext cx="1195070" cy="920750"/>
          </a:xfrm>
          <a:prstGeom prst="rect">
            <a:avLst/>
          </a:prstGeom>
          <a:noFill/>
          <a:ln/>
        </p:spPr>
        <p:txBody>
          <a:bodyPr wrap="square" lIns="91440" tIns="45720" rIns="91440" bIns="45720" rtlCol="0" anchor="t">
            <a:spAutoFit/>
          </a:bodyPr>
          <a:lstStyle/>
          <a:p>
            <a:pPr marL="0" indent="0">
              <a:lnSpc>
                <a:spcPct val="100000"/>
              </a:lnSpc>
              <a:buNone/>
            </a:pPr>
            <a:r>
              <a:rPr lang="en-US" sz="6000" b="1" dirty="0">
                <a:solidFill>
                  <a:srgbClr val="000000"/>
                </a:solidFill>
                <a:latin typeface="MiSans" pitchFamily="34" charset="0"/>
                <a:ea typeface="MiSans" pitchFamily="34" charset="-122"/>
                <a:cs typeface="MiSans" pitchFamily="34" charset="-120"/>
              </a:rPr>
              <a:t>02</a:t>
            </a:r>
            <a:endParaRPr lang="en-US" sz="1600" dirty="0"/>
          </a:p>
        </p:txBody>
      </p:sp>
      <p:sp>
        <p:nvSpPr>
          <p:cNvPr id="25" name="Text 20"/>
          <p:cNvSpPr/>
          <p:nvPr/>
        </p:nvSpPr>
        <p:spPr>
          <a:xfrm>
            <a:off x="4654868" y="2982069"/>
            <a:ext cx="4358640" cy="368300"/>
          </a:xfrm>
          <a:prstGeom prst="rect">
            <a:avLst/>
          </a:prstGeom>
          <a:noFill/>
          <a:ln/>
        </p:spPr>
        <p:txBody>
          <a:bodyPr wrap="square" lIns="91440" tIns="45720" rIns="91440" bIns="45720" rtlCol="0" anchor="t">
            <a:spAutoFit/>
          </a:bodyPr>
          <a:lstStyle/>
          <a:p>
            <a:pPr marL="0" indent="0">
              <a:lnSpc>
                <a:spcPct val="100000"/>
              </a:lnSpc>
              <a:buNone/>
            </a:pPr>
            <a:r>
              <a:rPr lang="en-US" sz="2400" dirty="0">
                <a:solidFill>
                  <a:srgbClr val="00B0F0"/>
                </a:solidFill>
                <a:latin typeface="MiSans" pitchFamily="34" charset="0"/>
                <a:ea typeface="MiSans" pitchFamily="34" charset="-122"/>
                <a:cs typeface="MiSans" pitchFamily="34" charset="-120"/>
              </a:rPr>
              <a:t>Requisitos legales</a:t>
            </a:r>
            <a:endParaRPr lang="en-US" sz="1600" dirty="0"/>
          </a:p>
        </p:txBody>
      </p:sp>
      <p:sp>
        <p:nvSpPr>
          <p:cNvPr id="26" name="Text 21"/>
          <p:cNvSpPr/>
          <p:nvPr/>
        </p:nvSpPr>
        <p:spPr>
          <a:xfrm>
            <a:off x="4445000" y="3442335"/>
            <a:ext cx="7154545" cy="1276350"/>
          </a:xfrm>
          <a:prstGeom prst="rect">
            <a:avLst/>
          </a:prstGeom>
          <a:noFill/>
          <a:ln/>
        </p:spPr>
        <p:txBody>
          <a:bodyPr wrap="square" lIns="91440" tIns="45720" rIns="91440" bIns="45720" rtlCol="0" anchor="t"/>
          <a:lstStyle/>
          <a:p>
            <a:pPr marL="0" indent="0">
              <a:lnSpc>
                <a:spcPct val="130000"/>
              </a:lnSpc>
              <a:buNone/>
            </a:pPr>
            <a:r>
              <a:rPr lang="en-US" sz="1200" dirty="0">
                <a:solidFill>
                  <a:srgbClr val="000000"/>
                </a:solidFill>
                <a:latin typeface="MiSans" pitchFamily="34" charset="0"/>
                <a:ea typeface="MiSans" pitchFamily="34" charset="-122"/>
                <a:cs typeface="MiSans" pitchFamily="34" charset="-120"/>
              </a:rPr>
              <a:t>El despido debe cumplir causas justificadas, preaviso, comunicación escrita y, en colectivos, negociación con representantes. El incumplimiento puede generar costes adicionales o declaración de improcedencia, lo que incentiza el cumplimiento formal de la normativa.</a:t>
            </a:r>
            <a:endParaRPr lang="en-US" sz="1600" dirty="0"/>
          </a:p>
        </p:txBody>
      </p:sp>
      <p:sp>
        <p:nvSpPr>
          <p:cNvPr id="27" name="Text 22"/>
          <p:cNvSpPr/>
          <p:nvPr/>
        </p:nvSpPr>
        <p:spPr>
          <a:xfrm>
            <a:off x="417195" y="4519295"/>
            <a:ext cx="1195070" cy="920750"/>
          </a:xfrm>
          <a:prstGeom prst="rect">
            <a:avLst/>
          </a:prstGeom>
          <a:noFill/>
          <a:ln/>
        </p:spPr>
        <p:txBody>
          <a:bodyPr wrap="square" lIns="91440" tIns="45720" rIns="91440" bIns="45720" rtlCol="0" anchor="t">
            <a:spAutoFit/>
          </a:bodyPr>
          <a:lstStyle/>
          <a:p>
            <a:pPr marL="0" indent="0">
              <a:lnSpc>
                <a:spcPct val="100000"/>
              </a:lnSpc>
              <a:buNone/>
            </a:pPr>
            <a:r>
              <a:rPr lang="en-US" sz="6000" b="1" dirty="0">
                <a:solidFill>
                  <a:srgbClr val="000000"/>
                </a:solidFill>
                <a:latin typeface="MiSans" pitchFamily="34" charset="0"/>
                <a:ea typeface="MiSans" pitchFamily="34" charset="-122"/>
                <a:cs typeface="MiSans" pitchFamily="34" charset="-120"/>
              </a:rPr>
              <a:t>03</a:t>
            </a:r>
            <a:endParaRPr lang="en-US" sz="1600" dirty="0"/>
          </a:p>
        </p:txBody>
      </p:sp>
      <p:sp>
        <p:nvSpPr>
          <p:cNvPr id="28" name="Text 23"/>
          <p:cNvSpPr/>
          <p:nvPr/>
        </p:nvSpPr>
        <p:spPr>
          <a:xfrm>
            <a:off x="1371283" y="4796899"/>
            <a:ext cx="4358640" cy="368300"/>
          </a:xfrm>
          <a:prstGeom prst="rect">
            <a:avLst/>
          </a:prstGeom>
          <a:noFill/>
          <a:ln/>
        </p:spPr>
        <p:txBody>
          <a:bodyPr wrap="square" lIns="91440" tIns="45720" rIns="91440" bIns="45720" rtlCol="0" anchor="t">
            <a:spAutoFit/>
          </a:bodyPr>
          <a:lstStyle/>
          <a:p>
            <a:pPr marL="0" indent="0">
              <a:lnSpc>
                <a:spcPct val="100000"/>
              </a:lnSpc>
              <a:buNone/>
            </a:pPr>
            <a:r>
              <a:rPr lang="en-US" sz="2400" dirty="0">
                <a:solidFill>
                  <a:srgbClr val="00B0F0"/>
                </a:solidFill>
                <a:latin typeface="MiSans" pitchFamily="34" charset="0"/>
                <a:ea typeface="MiSans" pitchFamily="34" charset="-122"/>
                <a:cs typeface="MiSans" pitchFamily="34" charset="-120"/>
              </a:rPr>
              <a:t>Costes económicos</a:t>
            </a:r>
            <a:endParaRPr lang="en-US" sz="1600" dirty="0"/>
          </a:p>
        </p:txBody>
      </p:sp>
      <p:sp>
        <p:nvSpPr>
          <p:cNvPr id="29" name="Text 24"/>
          <p:cNvSpPr/>
          <p:nvPr/>
        </p:nvSpPr>
        <p:spPr>
          <a:xfrm>
            <a:off x="1161415" y="5257165"/>
            <a:ext cx="7154545" cy="1276350"/>
          </a:xfrm>
          <a:prstGeom prst="rect">
            <a:avLst/>
          </a:prstGeom>
          <a:noFill/>
          <a:ln/>
        </p:spPr>
        <p:txBody>
          <a:bodyPr wrap="square" lIns="91440" tIns="45720" rIns="91440" bIns="45720" rtlCol="0" anchor="t"/>
          <a:lstStyle/>
          <a:p>
            <a:pPr marL="0" indent="0">
              <a:lnSpc>
                <a:spcPct val="130000"/>
              </a:lnSpc>
              <a:buNone/>
            </a:pPr>
            <a:r>
              <a:rPr lang="en-US" sz="1200" dirty="0">
                <a:solidFill>
                  <a:srgbClr val="000000"/>
                </a:solidFill>
                <a:latin typeface="MiSans" pitchFamily="34" charset="0"/>
                <a:ea typeface="MiSans" pitchFamily="34" charset="-122"/>
                <a:cs typeface="MiSans" pitchFamily="34" charset="-120"/>
              </a:rPr>
              <a:t>Incluyen indemnizaciones (20-33 días/año según tipo), salarios de tramitación y gastos legales. Estos costes influyen directamente en la decisión empresarial de ajustar plantilla y en la percepción de seguridad por parte del trabajador.</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142240"/>
            <a:ext cx="7499985" cy="368300"/>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Modelo español: temporalidad extrema</a:t>
            </a:r>
            <a:endParaRPr lang="en-US" sz="1600" dirty="0"/>
          </a:p>
        </p:txBody>
      </p:sp>
      <p:sp>
        <p:nvSpPr>
          <p:cNvPr id="12" name="Shape 10"/>
          <p:cNvSpPr/>
          <p:nvPr/>
        </p:nvSpPr>
        <p:spPr>
          <a:xfrm>
            <a:off x="714375" y="1840865"/>
            <a:ext cx="2893060" cy="3590925"/>
          </a:xfrm>
          <a:prstGeom prst="roundRect">
            <a:avLst/>
          </a:prstGeom>
          <a:solidFill>
            <a:srgbClr val="00B0F0"/>
          </a:solidFill>
          <a:ln w="28575">
            <a:solidFill>
              <a:srgbClr val="FFFFFF">
                <a:alpha val="0"/>
              </a:srgbClr>
            </a:solidFill>
            <a:prstDash val="solid"/>
          </a:ln>
        </p:spPr>
        <p:txBody>
          <a:bodyPr/>
          <a:lstStyle/>
          <a:p>
            <a:endParaRPr lang="es-ES"/>
          </a:p>
        </p:txBody>
      </p:sp>
      <p:sp>
        <p:nvSpPr>
          <p:cNvPr id="13" name="Text 11"/>
          <p:cNvSpPr/>
          <p:nvPr/>
        </p:nvSpPr>
        <p:spPr>
          <a:xfrm>
            <a:off x="714375" y="1840865"/>
            <a:ext cx="2893060" cy="359092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600075" y="1676400"/>
            <a:ext cx="2836545" cy="3590925"/>
          </a:xfrm>
          <a:prstGeom prst="roundRect">
            <a:avLst>
              <a:gd name="adj" fmla="val 14996"/>
            </a:avLst>
          </a:prstGeom>
          <a:solidFill>
            <a:srgbClr val="FFFFFF"/>
          </a:solidFill>
          <a:ln w="19050">
            <a:solidFill>
              <a:srgbClr val="000000"/>
            </a:solidFill>
            <a:prstDash val="solid"/>
          </a:ln>
        </p:spPr>
        <p:txBody>
          <a:bodyPr/>
          <a:lstStyle/>
          <a:p>
            <a:endParaRPr lang="es-ES"/>
          </a:p>
        </p:txBody>
      </p:sp>
      <p:sp>
        <p:nvSpPr>
          <p:cNvPr id="15" name="Text 13"/>
          <p:cNvSpPr/>
          <p:nvPr/>
        </p:nvSpPr>
        <p:spPr>
          <a:xfrm>
            <a:off x="600075" y="1676400"/>
            <a:ext cx="2836545" cy="359092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4561840" y="1981835"/>
            <a:ext cx="2893060" cy="3590925"/>
          </a:xfrm>
          <a:prstGeom prst="roundRect">
            <a:avLst/>
          </a:prstGeom>
          <a:solidFill>
            <a:srgbClr val="00B0F0"/>
          </a:solidFill>
          <a:ln w="28575">
            <a:solidFill>
              <a:srgbClr val="FFFFFF">
                <a:alpha val="0"/>
              </a:srgbClr>
            </a:solidFill>
            <a:prstDash val="solid"/>
          </a:ln>
        </p:spPr>
        <p:txBody>
          <a:bodyPr/>
          <a:lstStyle/>
          <a:p>
            <a:endParaRPr lang="es-ES"/>
          </a:p>
        </p:txBody>
      </p:sp>
      <p:sp>
        <p:nvSpPr>
          <p:cNvPr id="17" name="Text 15"/>
          <p:cNvSpPr/>
          <p:nvPr/>
        </p:nvSpPr>
        <p:spPr>
          <a:xfrm>
            <a:off x="4561840" y="1981835"/>
            <a:ext cx="2893060" cy="359092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Shape 16"/>
          <p:cNvSpPr/>
          <p:nvPr/>
        </p:nvSpPr>
        <p:spPr>
          <a:xfrm>
            <a:off x="4447540" y="1734820"/>
            <a:ext cx="2836545" cy="3590925"/>
          </a:xfrm>
          <a:prstGeom prst="roundRect">
            <a:avLst>
              <a:gd name="adj" fmla="val 14996"/>
            </a:avLst>
          </a:prstGeom>
          <a:solidFill>
            <a:srgbClr val="FFFFFF"/>
          </a:solidFill>
          <a:ln w="19050">
            <a:solidFill>
              <a:srgbClr val="000000"/>
            </a:solidFill>
            <a:prstDash val="solid"/>
          </a:ln>
        </p:spPr>
        <p:txBody>
          <a:bodyPr/>
          <a:lstStyle/>
          <a:p>
            <a:endParaRPr lang="es-ES"/>
          </a:p>
        </p:txBody>
      </p:sp>
      <p:sp>
        <p:nvSpPr>
          <p:cNvPr id="19" name="Text 17"/>
          <p:cNvSpPr/>
          <p:nvPr/>
        </p:nvSpPr>
        <p:spPr>
          <a:xfrm>
            <a:off x="4447540" y="1734820"/>
            <a:ext cx="2836545" cy="359092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0" name="Shape 18"/>
          <p:cNvSpPr/>
          <p:nvPr/>
        </p:nvSpPr>
        <p:spPr>
          <a:xfrm>
            <a:off x="8579485" y="2040255"/>
            <a:ext cx="2893060" cy="3590925"/>
          </a:xfrm>
          <a:prstGeom prst="roundRect">
            <a:avLst/>
          </a:prstGeom>
          <a:solidFill>
            <a:srgbClr val="00B0F0"/>
          </a:solidFill>
          <a:ln w="28575">
            <a:solidFill>
              <a:srgbClr val="FFFFFF">
                <a:alpha val="0"/>
              </a:srgbClr>
            </a:solidFill>
            <a:prstDash val="solid"/>
          </a:ln>
        </p:spPr>
        <p:txBody>
          <a:bodyPr/>
          <a:lstStyle/>
          <a:p>
            <a:endParaRPr lang="es-ES"/>
          </a:p>
        </p:txBody>
      </p:sp>
      <p:sp>
        <p:nvSpPr>
          <p:cNvPr id="21" name="Text 19"/>
          <p:cNvSpPr/>
          <p:nvPr/>
        </p:nvSpPr>
        <p:spPr>
          <a:xfrm>
            <a:off x="8579485" y="2040255"/>
            <a:ext cx="2893060" cy="359092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2" name="Shape 20"/>
          <p:cNvSpPr/>
          <p:nvPr/>
        </p:nvSpPr>
        <p:spPr>
          <a:xfrm>
            <a:off x="8465185" y="1793240"/>
            <a:ext cx="2836545" cy="3590925"/>
          </a:xfrm>
          <a:prstGeom prst="roundRect">
            <a:avLst>
              <a:gd name="adj" fmla="val 14996"/>
            </a:avLst>
          </a:prstGeom>
          <a:solidFill>
            <a:srgbClr val="FFFFFF"/>
          </a:solidFill>
          <a:ln w="19050">
            <a:solidFill>
              <a:srgbClr val="000000"/>
            </a:solidFill>
            <a:prstDash val="solid"/>
          </a:ln>
        </p:spPr>
        <p:txBody>
          <a:bodyPr/>
          <a:lstStyle/>
          <a:p>
            <a:endParaRPr lang="es-ES"/>
          </a:p>
        </p:txBody>
      </p:sp>
      <p:sp>
        <p:nvSpPr>
          <p:cNvPr id="23" name="Text 21"/>
          <p:cNvSpPr/>
          <p:nvPr/>
        </p:nvSpPr>
        <p:spPr>
          <a:xfrm>
            <a:off x="8465185" y="1793240"/>
            <a:ext cx="2836545" cy="359092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4" name="Shape 22"/>
          <p:cNvSpPr/>
          <p:nvPr/>
        </p:nvSpPr>
        <p:spPr>
          <a:xfrm>
            <a:off x="3816985" y="3035935"/>
            <a:ext cx="420370" cy="871220"/>
          </a:xfrm>
          <a:prstGeom prst="chevron">
            <a:avLst/>
          </a:prstGeom>
          <a:solidFill>
            <a:srgbClr val="00B0F0"/>
          </a:solidFill>
          <a:ln/>
        </p:spPr>
        <p:txBody>
          <a:bodyPr/>
          <a:lstStyle/>
          <a:p>
            <a:endParaRPr lang="es-ES"/>
          </a:p>
        </p:txBody>
      </p:sp>
      <p:sp>
        <p:nvSpPr>
          <p:cNvPr id="25" name="Text 23"/>
          <p:cNvSpPr/>
          <p:nvPr/>
        </p:nvSpPr>
        <p:spPr>
          <a:xfrm>
            <a:off x="3816985" y="3035935"/>
            <a:ext cx="420370" cy="8712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6" name="Shape 24"/>
          <p:cNvSpPr/>
          <p:nvPr/>
        </p:nvSpPr>
        <p:spPr>
          <a:xfrm>
            <a:off x="7750175" y="3035935"/>
            <a:ext cx="420370" cy="871220"/>
          </a:xfrm>
          <a:prstGeom prst="chevron">
            <a:avLst/>
          </a:prstGeom>
          <a:solidFill>
            <a:srgbClr val="00B0F0"/>
          </a:solidFill>
          <a:ln/>
        </p:spPr>
        <p:txBody>
          <a:bodyPr/>
          <a:lstStyle/>
          <a:p>
            <a:endParaRPr lang="es-ES"/>
          </a:p>
        </p:txBody>
      </p:sp>
      <p:sp>
        <p:nvSpPr>
          <p:cNvPr id="27" name="Text 25"/>
          <p:cNvSpPr/>
          <p:nvPr/>
        </p:nvSpPr>
        <p:spPr>
          <a:xfrm>
            <a:off x="7750175" y="3035935"/>
            <a:ext cx="420370" cy="8712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8" name="Shape 26"/>
          <p:cNvSpPr/>
          <p:nvPr/>
        </p:nvSpPr>
        <p:spPr>
          <a:xfrm>
            <a:off x="0" y="6569075"/>
            <a:ext cx="12192000" cy="310515"/>
          </a:xfrm>
          <a:prstGeom prst="rect">
            <a:avLst/>
          </a:prstGeom>
          <a:solidFill>
            <a:srgbClr val="00B0F0"/>
          </a:solidFill>
          <a:ln/>
        </p:spPr>
        <p:txBody>
          <a:bodyPr/>
          <a:lstStyle/>
          <a:p>
            <a:endParaRPr lang="es-ES"/>
          </a:p>
        </p:txBody>
      </p:sp>
      <p:sp>
        <p:nvSpPr>
          <p:cNvPr id="29" name="Text 27"/>
          <p:cNvSpPr/>
          <p:nvPr/>
        </p:nvSpPr>
        <p:spPr>
          <a:xfrm>
            <a:off x="0" y="6569075"/>
            <a:ext cx="12192000" cy="3105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30" name="Text 28"/>
          <p:cNvSpPr/>
          <p:nvPr/>
        </p:nvSpPr>
        <p:spPr>
          <a:xfrm>
            <a:off x="836295" y="1734820"/>
            <a:ext cx="2200275" cy="645160"/>
          </a:xfrm>
          <a:prstGeom prst="rect">
            <a:avLst/>
          </a:prstGeom>
          <a:noFill/>
          <a:ln/>
        </p:spPr>
        <p:txBody>
          <a:bodyPr wrap="square" lIns="91440" tIns="45720" rIns="91440" bIns="45720" rtlCol="0" anchor="t"/>
          <a:lstStyle/>
          <a:p>
            <a:pPr marL="0" indent="0" algn="ctr">
              <a:lnSpc>
                <a:spcPct val="100000"/>
              </a:lnSpc>
              <a:buNone/>
            </a:pPr>
            <a:r>
              <a:rPr lang="en-US" sz="1800" dirty="0">
                <a:solidFill>
                  <a:srgbClr val="00B0F0"/>
                </a:solidFill>
                <a:latin typeface="MiSans" pitchFamily="34" charset="0"/>
                <a:ea typeface="MiSans" pitchFamily="34" charset="-122"/>
                <a:cs typeface="MiSans" pitchFamily="34" charset="-120"/>
              </a:rPr>
              <a:t>Uso intensivo de temporales</a:t>
            </a:r>
            <a:endParaRPr lang="en-US" sz="1600" dirty="0"/>
          </a:p>
        </p:txBody>
      </p:sp>
      <p:sp>
        <p:nvSpPr>
          <p:cNvPr id="31" name="Text 29"/>
          <p:cNvSpPr/>
          <p:nvPr/>
        </p:nvSpPr>
        <p:spPr>
          <a:xfrm>
            <a:off x="714375" y="2379980"/>
            <a:ext cx="2578735" cy="2624455"/>
          </a:xfrm>
          <a:prstGeom prst="rect">
            <a:avLst/>
          </a:prstGeom>
          <a:noFill/>
          <a:ln/>
        </p:spPr>
        <p:txBody>
          <a:bodyPr wrap="square" lIns="91440" tIns="45720" rIns="91440" bIns="45720" rtlCol="0" anchor="t"/>
          <a:lstStyle/>
          <a:p>
            <a:pPr marL="0" indent="0">
              <a:lnSpc>
                <a:spcPct val="130000"/>
              </a:lnSpc>
              <a:buNone/>
            </a:pPr>
            <a:r>
              <a:rPr lang="en-US" sz="1200" dirty="0">
                <a:solidFill>
                  <a:srgbClr val="000000"/>
                </a:solidFill>
                <a:latin typeface="MiSans" pitchFamily="34" charset="0"/>
                <a:ea typeface="MiSans" pitchFamily="34" charset="-122"/>
                <a:cs typeface="MiSans" pitchFamily="34" charset="-120"/>
              </a:rPr>
              <a:t>España ha recurrido históricamente a contratos temporales para flexibilizar externamente, alcanzando tasas superiores al 25 %. Esto permite ajustes rápidos pero genera inestabilidad generalizada y precariedad, sin resolver problemas estructurales de productividad ni empleabilidad.</a:t>
            </a:r>
            <a:endParaRPr lang="en-US" sz="1600" dirty="0"/>
          </a:p>
        </p:txBody>
      </p:sp>
      <p:sp>
        <p:nvSpPr>
          <p:cNvPr id="32" name="Text 30"/>
          <p:cNvSpPr/>
          <p:nvPr/>
        </p:nvSpPr>
        <p:spPr>
          <a:xfrm>
            <a:off x="4683760" y="1793240"/>
            <a:ext cx="2200275" cy="645160"/>
          </a:xfrm>
          <a:prstGeom prst="rect">
            <a:avLst/>
          </a:prstGeom>
          <a:noFill/>
          <a:ln/>
        </p:spPr>
        <p:txBody>
          <a:bodyPr wrap="square" lIns="91440" tIns="45720" rIns="91440" bIns="45720" rtlCol="0" anchor="t"/>
          <a:lstStyle/>
          <a:p>
            <a:pPr marL="0" indent="0" algn="ctr">
              <a:lnSpc>
                <a:spcPct val="100000"/>
              </a:lnSpc>
              <a:buNone/>
            </a:pPr>
            <a:r>
              <a:rPr lang="en-US" sz="1800" dirty="0">
                <a:solidFill>
                  <a:srgbClr val="00B0F0"/>
                </a:solidFill>
                <a:latin typeface="MiSans" pitchFamily="34" charset="0"/>
                <a:ea typeface="MiSans" pitchFamily="34" charset="-122"/>
                <a:cs typeface="MiSans" pitchFamily="34" charset="-120"/>
              </a:rPr>
              <a:t>Dualidad del mercado laboral</a:t>
            </a:r>
            <a:endParaRPr lang="en-US" sz="1600" dirty="0"/>
          </a:p>
        </p:txBody>
      </p:sp>
      <p:sp>
        <p:nvSpPr>
          <p:cNvPr id="33" name="Text 31"/>
          <p:cNvSpPr/>
          <p:nvPr/>
        </p:nvSpPr>
        <p:spPr>
          <a:xfrm>
            <a:off x="4561840" y="2438400"/>
            <a:ext cx="2578735" cy="2624455"/>
          </a:xfrm>
          <a:prstGeom prst="rect">
            <a:avLst/>
          </a:prstGeom>
          <a:noFill/>
          <a:ln/>
        </p:spPr>
        <p:txBody>
          <a:bodyPr wrap="square" lIns="91440" tIns="45720" rIns="91440" bIns="45720" rtlCol="0" anchor="t"/>
          <a:lstStyle/>
          <a:p>
            <a:pPr marL="0" indent="0">
              <a:lnSpc>
                <a:spcPct val="130000"/>
              </a:lnSpc>
              <a:buNone/>
            </a:pPr>
            <a:r>
              <a:rPr lang="en-US" sz="1200" dirty="0">
                <a:solidFill>
                  <a:srgbClr val="000000"/>
                </a:solidFill>
                <a:latin typeface="MiSans" pitchFamily="34" charset="0"/>
                <a:ea typeface="MiSans" pitchFamily="34" charset="-122"/>
                <a:cs typeface="MiSans" pitchFamily="34" charset="-120"/>
              </a:rPr>
              <a:t>Se consolidó una brecha entre indefinidos protegidos y temporales precarios. Los primeros disfrutan de estabilidad y derechos; los segundos asumen todo el ajuste en crisis, con menor acceso a formación, promoción y protección social, perpetuando la desigualdad.</a:t>
            </a:r>
            <a:endParaRPr lang="en-US" sz="1600" dirty="0"/>
          </a:p>
        </p:txBody>
      </p:sp>
      <p:sp>
        <p:nvSpPr>
          <p:cNvPr id="34" name="Text 32"/>
          <p:cNvSpPr/>
          <p:nvPr/>
        </p:nvSpPr>
        <p:spPr>
          <a:xfrm>
            <a:off x="8701405" y="1851660"/>
            <a:ext cx="2200275" cy="645160"/>
          </a:xfrm>
          <a:prstGeom prst="rect">
            <a:avLst/>
          </a:prstGeom>
          <a:noFill/>
          <a:ln/>
        </p:spPr>
        <p:txBody>
          <a:bodyPr wrap="square" lIns="91440" tIns="45720" rIns="91440" bIns="45720" rtlCol="0" anchor="t"/>
          <a:lstStyle/>
          <a:p>
            <a:pPr marL="0" indent="0" algn="ctr">
              <a:lnSpc>
                <a:spcPct val="100000"/>
              </a:lnSpc>
              <a:buNone/>
            </a:pPr>
            <a:r>
              <a:rPr lang="en-US" sz="1800" dirty="0">
                <a:solidFill>
                  <a:srgbClr val="00B0F0"/>
                </a:solidFill>
                <a:latin typeface="MiSans" pitchFamily="34" charset="0"/>
                <a:ea typeface="MiSans" pitchFamily="34" charset="-122"/>
                <a:cs typeface="MiSans" pitchFamily="34" charset="-120"/>
              </a:rPr>
              <a:t>Consecuencias económicas</a:t>
            </a:r>
            <a:endParaRPr lang="en-US" sz="1600" dirty="0"/>
          </a:p>
        </p:txBody>
      </p:sp>
      <p:sp>
        <p:nvSpPr>
          <p:cNvPr id="35" name="Text 33"/>
          <p:cNvSpPr/>
          <p:nvPr/>
        </p:nvSpPr>
        <p:spPr>
          <a:xfrm>
            <a:off x="8579485" y="2496820"/>
            <a:ext cx="2578735" cy="2624455"/>
          </a:xfrm>
          <a:prstGeom prst="rect">
            <a:avLst/>
          </a:prstGeom>
          <a:noFill/>
          <a:ln/>
        </p:spPr>
        <p:txBody>
          <a:bodyPr wrap="square" lIns="91440" tIns="45720" rIns="91440" bIns="45720" rtlCol="0" anchor="t"/>
          <a:lstStyle/>
          <a:p>
            <a:pPr marL="0" indent="0">
              <a:lnSpc>
                <a:spcPct val="130000"/>
              </a:lnSpc>
              <a:buNone/>
            </a:pPr>
            <a:r>
              <a:rPr lang="en-US" sz="1200" dirty="0">
                <a:solidFill>
                  <a:srgbClr val="000000"/>
                </a:solidFill>
                <a:latin typeface="MiSans" pitchFamily="34" charset="0"/>
                <a:ea typeface="MiSans" pitchFamily="34" charset="-122"/>
                <a:cs typeface="MiSans" pitchFamily="34" charset="-120"/>
              </a:rPr>
              <a:t>La temporalidad masiva reduce incentivos a formar trabajadores, aumenta rotación y frena acumulación de capital humano específico. Esto lastra productividad agregada y dificulta la innovación, al debilitar la relación a largo plazo entre empresas y empleados.</a:t>
            </a:r>
            <a:endParaRPr lang="en-US" sz="14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142240"/>
            <a:ext cx="7499985" cy="368300"/>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Equilibrio flexibilidad-seguridad</a:t>
            </a:r>
            <a:endParaRPr lang="en-US" sz="1600" dirty="0"/>
          </a:p>
        </p:txBody>
      </p:sp>
      <p:sp>
        <p:nvSpPr>
          <p:cNvPr id="12" name="Shape 10"/>
          <p:cNvSpPr/>
          <p:nvPr/>
        </p:nvSpPr>
        <p:spPr>
          <a:xfrm>
            <a:off x="792480" y="3190240"/>
            <a:ext cx="2560955" cy="0"/>
          </a:xfrm>
          <a:prstGeom prst="line">
            <a:avLst/>
          </a:prstGeom>
          <a:noFill/>
          <a:ln w="38100">
            <a:solidFill>
              <a:srgbClr val="000000"/>
            </a:solidFill>
            <a:prstDash val="dash"/>
            <a:headEnd type="none"/>
            <a:tailEnd type="none"/>
          </a:ln>
        </p:spPr>
        <p:txBody>
          <a:bodyPr/>
          <a:lstStyle/>
          <a:p>
            <a:endParaRPr lang="es-ES"/>
          </a:p>
        </p:txBody>
      </p:sp>
      <p:sp>
        <p:nvSpPr>
          <p:cNvPr id="13" name="Shape 11"/>
          <p:cNvSpPr/>
          <p:nvPr/>
        </p:nvSpPr>
        <p:spPr>
          <a:xfrm>
            <a:off x="8866505" y="3190240"/>
            <a:ext cx="2560955" cy="0"/>
          </a:xfrm>
          <a:prstGeom prst="line">
            <a:avLst/>
          </a:prstGeom>
          <a:noFill/>
          <a:ln w="38100">
            <a:solidFill>
              <a:srgbClr val="000000"/>
            </a:solidFill>
            <a:prstDash val="dash"/>
            <a:headEnd type="none"/>
            <a:tailEnd type="none"/>
          </a:ln>
        </p:spPr>
        <p:txBody>
          <a:bodyPr/>
          <a:lstStyle/>
          <a:p>
            <a:endParaRPr lang="es-ES"/>
          </a:p>
        </p:txBody>
      </p:sp>
      <p:pic>
        <p:nvPicPr>
          <p:cNvPr id="14" name="Image 0" descr="https://kimi-img.moonshot.cn/pub/slides/slides_tmpl/image/25-08-27-19:57:41-d2nf5d98bjvh7rlivsmg.png"/>
          <p:cNvPicPr>
            <a:picLocks noChangeAspect="1"/>
          </p:cNvPicPr>
          <p:nvPr/>
        </p:nvPicPr>
        <p:blipFill>
          <a:blip r:embed="rId3"/>
          <a:stretch>
            <a:fillRect/>
          </a:stretch>
        </p:blipFill>
        <p:spPr>
          <a:xfrm>
            <a:off x="4135120" y="1385570"/>
            <a:ext cx="3836670" cy="4147820"/>
          </a:xfrm>
          <a:prstGeom prst="rect">
            <a:avLst/>
          </a:prstGeom>
        </p:spPr>
      </p:pic>
      <p:sp>
        <p:nvSpPr>
          <p:cNvPr id="15" name="Shape 12"/>
          <p:cNvSpPr/>
          <p:nvPr/>
        </p:nvSpPr>
        <p:spPr>
          <a:xfrm rot="10800000" flipV="1">
            <a:off x="1517942" y="1071315"/>
            <a:ext cx="875075" cy="876100"/>
          </a:xfrm>
          <a:prstGeom prst="ellipse">
            <a:avLst/>
          </a:prstGeom>
          <a:solidFill>
            <a:srgbClr val="00B0F0"/>
          </a:solidFill>
          <a:ln/>
        </p:spPr>
        <p:txBody>
          <a:bodyPr/>
          <a:lstStyle/>
          <a:p>
            <a:endParaRPr lang="es-ES"/>
          </a:p>
        </p:txBody>
      </p:sp>
      <p:sp>
        <p:nvSpPr>
          <p:cNvPr id="16" name="Text 13"/>
          <p:cNvSpPr/>
          <p:nvPr/>
        </p:nvSpPr>
        <p:spPr>
          <a:xfrm rot="10800000">
            <a:off x="1517942" y="1071315"/>
            <a:ext cx="875075" cy="8761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7" name="Shape 14"/>
          <p:cNvSpPr/>
          <p:nvPr/>
        </p:nvSpPr>
        <p:spPr>
          <a:xfrm rot="10800000" flipV="1">
            <a:off x="9699917" y="1084650"/>
            <a:ext cx="875075" cy="876100"/>
          </a:xfrm>
          <a:prstGeom prst="ellipse">
            <a:avLst/>
          </a:prstGeom>
          <a:solidFill>
            <a:srgbClr val="00B0F0"/>
          </a:solidFill>
          <a:ln/>
        </p:spPr>
        <p:txBody>
          <a:bodyPr/>
          <a:lstStyle/>
          <a:p>
            <a:endParaRPr lang="es-ES"/>
          </a:p>
        </p:txBody>
      </p:sp>
      <p:sp>
        <p:nvSpPr>
          <p:cNvPr id="18" name="Text 15"/>
          <p:cNvSpPr/>
          <p:nvPr/>
        </p:nvSpPr>
        <p:spPr>
          <a:xfrm rot="10800000">
            <a:off x="9699917" y="1084650"/>
            <a:ext cx="875075" cy="8761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9" name="Shape 16"/>
          <p:cNvSpPr/>
          <p:nvPr/>
        </p:nvSpPr>
        <p:spPr>
          <a:xfrm>
            <a:off x="0" y="6620510"/>
            <a:ext cx="12192000" cy="237490"/>
          </a:xfrm>
          <a:prstGeom prst="rect">
            <a:avLst/>
          </a:prstGeom>
          <a:solidFill>
            <a:srgbClr val="00B0F0"/>
          </a:solidFill>
          <a:ln/>
        </p:spPr>
        <p:txBody>
          <a:bodyPr/>
          <a:lstStyle/>
          <a:p>
            <a:endParaRPr lang="es-ES"/>
          </a:p>
        </p:txBody>
      </p:sp>
      <p:sp>
        <p:nvSpPr>
          <p:cNvPr id="20" name="Text 17"/>
          <p:cNvSpPr/>
          <p:nvPr/>
        </p:nvSpPr>
        <p:spPr>
          <a:xfrm>
            <a:off x="0" y="6620510"/>
            <a:ext cx="12192000" cy="23749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1" name="Text 18"/>
          <p:cNvSpPr/>
          <p:nvPr/>
        </p:nvSpPr>
        <p:spPr>
          <a:xfrm>
            <a:off x="1530985" y="1186815"/>
            <a:ext cx="862965" cy="562570"/>
          </a:xfrm>
          <a:prstGeom prst="rect">
            <a:avLst/>
          </a:prstGeom>
          <a:noFill/>
          <a:ln/>
        </p:spPr>
        <p:txBody>
          <a:bodyPr wrap="square" lIns="91440" tIns="45720" rIns="91440" bIns="45720" rtlCol="0" anchor="t">
            <a:spAutoFit/>
          </a:bodyPr>
          <a:lstStyle/>
          <a:p>
            <a:pPr marL="0" indent="0" algn="ctr">
              <a:lnSpc>
                <a:spcPct val="100000"/>
              </a:lnSpc>
              <a:buNone/>
            </a:pPr>
            <a:r>
              <a:rPr lang="en-US" sz="3600" b="1" dirty="0">
                <a:solidFill>
                  <a:srgbClr val="FFFFFF"/>
                </a:solidFill>
                <a:latin typeface="MiSans" pitchFamily="34" charset="0"/>
                <a:ea typeface="MiSans" pitchFamily="34" charset="-122"/>
                <a:cs typeface="MiSans" pitchFamily="34" charset="-120"/>
              </a:rPr>
              <a:t>1</a:t>
            </a:r>
            <a:endParaRPr lang="en-US" sz="1600" dirty="0"/>
          </a:p>
        </p:txBody>
      </p:sp>
      <p:sp>
        <p:nvSpPr>
          <p:cNvPr id="22" name="Text 19"/>
          <p:cNvSpPr/>
          <p:nvPr/>
        </p:nvSpPr>
        <p:spPr>
          <a:xfrm>
            <a:off x="767715" y="2207260"/>
            <a:ext cx="2608580" cy="681355"/>
          </a:xfrm>
          <a:prstGeom prst="rect">
            <a:avLst/>
          </a:prstGeom>
          <a:noFill/>
          <a:ln/>
        </p:spPr>
        <p:txBody>
          <a:bodyPr wrap="square" lIns="91440" tIns="45720" rIns="91440" bIns="45720" rtlCol="0" anchor="t"/>
          <a:lstStyle/>
          <a:p>
            <a:pPr marL="0" indent="0" algn="ctr">
              <a:lnSpc>
                <a:spcPct val="100000"/>
              </a:lnSpc>
              <a:buNone/>
            </a:pPr>
            <a:r>
              <a:rPr lang="en-US" sz="2000" b="1" dirty="0">
                <a:solidFill>
                  <a:srgbClr val="00B0F0"/>
                </a:solidFill>
                <a:latin typeface="MiSans" pitchFamily="34" charset="0"/>
                <a:ea typeface="MiSans" pitchFamily="34" charset="-122"/>
                <a:cs typeface="MiSans" pitchFamily="34" charset="-120"/>
              </a:rPr>
              <a:t>Seguridad más allá de la indemnización</a:t>
            </a:r>
            <a:endParaRPr lang="en-US" sz="1400" dirty="0"/>
          </a:p>
        </p:txBody>
      </p:sp>
      <p:sp>
        <p:nvSpPr>
          <p:cNvPr id="23" name="Text 20"/>
          <p:cNvSpPr/>
          <p:nvPr/>
        </p:nvSpPr>
        <p:spPr>
          <a:xfrm>
            <a:off x="679450" y="3291205"/>
            <a:ext cx="2787015" cy="2860675"/>
          </a:xfrm>
          <a:prstGeom prst="rect">
            <a:avLst/>
          </a:prstGeom>
          <a:noFill/>
          <a:ln/>
        </p:spPr>
        <p:txBody>
          <a:bodyPr wrap="square" lIns="91440" tIns="45720" rIns="91440" bIns="45720" rtlCol="0" anchor="t"/>
          <a:lstStyle/>
          <a:p>
            <a:pPr marL="0" indent="0">
              <a:lnSpc>
                <a:spcPct val="130000"/>
              </a:lnSpc>
              <a:buNone/>
            </a:pPr>
            <a:r>
              <a:rPr lang="en-US" sz="1400" dirty="0">
                <a:solidFill>
                  <a:srgbClr val="595959"/>
                </a:solidFill>
                <a:latin typeface="MiSans" pitchFamily="34" charset="0"/>
                <a:ea typeface="MiSans" pitchFamily="34" charset="-122"/>
                <a:cs typeface="MiSans" pitchFamily="34" charset="-120"/>
              </a:rPr>
              <a:t>La protección real incluye empleabilidad, ingresos durante desempleo y servicios de búsqueda eficaces. Altas indemnizaciones pueden desincentivar formación y reempleo, generando paro de larga duración. La seguridad debe centrarse en la persona, no solo en el puesto.</a:t>
            </a:r>
            <a:endParaRPr lang="en-US" sz="1600" dirty="0"/>
          </a:p>
        </p:txBody>
      </p:sp>
      <p:sp>
        <p:nvSpPr>
          <p:cNvPr id="24" name="Text 21"/>
          <p:cNvSpPr/>
          <p:nvPr/>
        </p:nvSpPr>
        <p:spPr>
          <a:xfrm>
            <a:off x="9712960" y="1200150"/>
            <a:ext cx="862965" cy="562570"/>
          </a:xfrm>
          <a:prstGeom prst="rect">
            <a:avLst/>
          </a:prstGeom>
          <a:noFill/>
          <a:ln/>
        </p:spPr>
        <p:txBody>
          <a:bodyPr wrap="square" lIns="91440" tIns="45720" rIns="91440" bIns="45720" rtlCol="0" anchor="t">
            <a:spAutoFit/>
          </a:bodyPr>
          <a:lstStyle/>
          <a:p>
            <a:pPr marL="0" indent="0" algn="ctr">
              <a:lnSpc>
                <a:spcPct val="100000"/>
              </a:lnSpc>
              <a:buNone/>
            </a:pPr>
            <a:r>
              <a:rPr lang="en-US" sz="3600" b="1" dirty="0">
                <a:solidFill>
                  <a:srgbClr val="FFFFFF"/>
                </a:solidFill>
                <a:latin typeface="MiSans" pitchFamily="34" charset="0"/>
                <a:ea typeface="MiSans" pitchFamily="34" charset="-122"/>
                <a:cs typeface="MiSans" pitchFamily="34" charset="-120"/>
              </a:rPr>
              <a:t>2</a:t>
            </a:r>
            <a:endParaRPr lang="en-US" sz="1600" dirty="0"/>
          </a:p>
        </p:txBody>
      </p:sp>
      <p:sp>
        <p:nvSpPr>
          <p:cNvPr id="25" name="Text 22"/>
          <p:cNvSpPr/>
          <p:nvPr/>
        </p:nvSpPr>
        <p:spPr>
          <a:xfrm>
            <a:off x="8865870" y="2207260"/>
            <a:ext cx="2562225" cy="681355"/>
          </a:xfrm>
          <a:prstGeom prst="rect">
            <a:avLst/>
          </a:prstGeom>
          <a:noFill/>
          <a:ln/>
        </p:spPr>
        <p:txBody>
          <a:bodyPr wrap="square" lIns="91440" tIns="45720" rIns="91440" bIns="45720" rtlCol="0" anchor="t"/>
          <a:lstStyle/>
          <a:p>
            <a:pPr marL="0" indent="0" algn="ctr">
              <a:lnSpc>
                <a:spcPct val="100000"/>
              </a:lnSpc>
              <a:buNone/>
            </a:pPr>
            <a:r>
              <a:rPr lang="en-US" sz="2000" b="1" dirty="0">
                <a:solidFill>
                  <a:srgbClr val="00B0F0"/>
                </a:solidFill>
                <a:latin typeface="MiSans" pitchFamily="34" charset="0"/>
                <a:ea typeface="MiSans" pitchFamily="34" charset="-122"/>
                <a:cs typeface="MiSans" pitchFamily="34" charset="-120"/>
              </a:rPr>
              <a:t>Experiencias internacionales</a:t>
            </a:r>
            <a:endParaRPr lang="en-US" sz="1400" dirty="0"/>
          </a:p>
        </p:txBody>
      </p:sp>
      <p:sp>
        <p:nvSpPr>
          <p:cNvPr id="26" name="Text 23"/>
          <p:cNvSpPr/>
          <p:nvPr/>
        </p:nvSpPr>
        <p:spPr>
          <a:xfrm>
            <a:off x="8753475" y="3291205"/>
            <a:ext cx="2787015" cy="2361565"/>
          </a:xfrm>
          <a:prstGeom prst="rect">
            <a:avLst/>
          </a:prstGeom>
          <a:noFill/>
          <a:ln/>
        </p:spPr>
        <p:txBody>
          <a:bodyPr wrap="square" lIns="91440" tIns="45720" rIns="91440" bIns="45720" rtlCol="0" anchor="t"/>
          <a:lstStyle/>
          <a:p>
            <a:pPr marL="0" indent="0">
              <a:lnSpc>
                <a:spcPct val="130000"/>
              </a:lnSpc>
              <a:buNone/>
            </a:pPr>
            <a:r>
              <a:rPr lang="en-US" sz="1400" dirty="0">
                <a:solidFill>
                  <a:srgbClr val="595959"/>
                </a:solidFill>
                <a:latin typeface="MiSans" pitchFamily="34" charset="0"/>
                <a:ea typeface="MiSans" pitchFamily="34" charset="-122"/>
                <a:cs typeface="MiSans" pitchFamily="34" charset="-120"/>
              </a:rPr>
              <a:t>Países con mercados laborales exitosos combinan despido razonable con fuerte formación continua, servicios públicos de empleo activos y prestaciones condicionadas a búsqueda de trabajo. Esto facilita transiciones rápidas y reduce costes sociales del desempleo.</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19:57:41-d2nf5d98bjvh7rlivsmg.png"/>
          <p:cNvPicPr>
            <a:picLocks noChangeAspect="1"/>
          </p:cNvPicPr>
          <p:nvPr/>
        </p:nvPicPr>
        <p:blipFill>
          <a:blip r:embed="rId3"/>
          <a:stretch>
            <a:fillRect/>
          </a:stretch>
        </p:blipFill>
        <p:spPr>
          <a:xfrm>
            <a:off x="4558665" y="1141095"/>
            <a:ext cx="3619500" cy="3912870"/>
          </a:xfrm>
          <a:prstGeom prst="rect">
            <a:avLst/>
          </a:prstGeom>
        </p:spPr>
      </p:pic>
      <p:sp>
        <p:nvSpPr>
          <p:cNvPr id="3" name="Shape 0"/>
          <p:cNvSpPr/>
          <p:nvPr/>
        </p:nvSpPr>
        <p:spPr>
          <a:xfrm>
            <a:off x="2047240" y="5053965"/>
            <a:ext cx="8642985" cy="1199515"/>
          </a:xfrm>
          <a:prstGeom prst="roundRect">
            <a:avLst>
              <a:gd name="adj" fmla="val 50000"/>
            </a:avLst>
          </a:prstGeom>
          <a:solidFill>
            <a:srgbClr val="00B0F0"/>
          </a:solidFill>
          <a:ln w="57150">
            <a:solidFill>
              <a:srgbClr val="FFFFFF">
                <a:alpha val="0"/>
              </a:srgbClr>
            </a:solidFill>
            <a:prstDash val="solid"/>
          </a:ln>
        </p:spPr>
        <p:txBody>
          <a:bodyPr/>
          <a:lstStyle/>
          <a:p>
            <a:endParaRPr lang="es-ES"/>
          </a:p>
        </p:txBody>
      </p:sp>
      <p:sp>
        <p:nvSpPr>
          <p:cNvPr id="4" name="Text 1"/>
          <p:cNvSpPr/>
          <p:nvPr/>
        </p:nvSpPr>
        <p:spPr>
          <a:xfrm>
            <a:off x="2047240" y="5053965"/>
            <a:ext cx="8642985" cy="11995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a:off x="1920240" y="4884420"/>
            <a:ext cx="8642985" cy="1199515"/>
          </a:xfrm>
          <a:prstGeom prst="roundRect">
            <a:avLst>
              <a:gd name="adj" fmla="val 50000"/>
            </a:avLst>
          </a:prstGeom>
          <a:solidFill>
            <a:srgbClr val="FFFFFF"/>
          </a:solidFill>
          <a:ln w="57150">
            <a:solidFill>
              <a:srgbClr val="000000"/>
            </a:solidFill>
            <a:prstDash val="solid"/>
          </a:ln>
        </p:spPr>
        <p:txBody>
          <a:bodyPr/>
          <a:lstStyle/>
          <a:p>
            <a:endParaRPr lang="es-ES"/>
          </a:p>
        </p:txBody>
      </p:sp>
      <p:sp>
        <p:nvSpPr>
          <p:cNvPr id="6" name="Text 3"/>
          <p:cNvSpPr/>
          <p:nvPr/>
        </p:nvSpPr>
        <p:spPr>
          <a:xfrm>
            <a:off x="1920240" y="4884420"/>
            <a:ext cx="8642985" cy="11995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7" name="Text 4"/>
          <p:cNvSpPr/>
          <p:nvPr/>
        </p:nvSpPr>
        <p:spPr>
          <a:xfrm>
            <a:off x="1920240" y="5045710"/>
            <a:ext cx="8643620" cy="828675"/>
          </a:xfrm>
          <a:prstGeom prst="rect">
            <a:avLst/>
          </a:prstGeom>
          <a:noFill/>
          <a:ln/>
        </p:spPr>
        <p:txBody>
          <a:bodyPr wrap="square" lIns="91440" tIns="45720" rIns="91440" bIns="45720" rtlCol="0" anchor="ctr">
            <a:spAutoFit/>
          </a:bodyPr>
          <a:lstStyle/>
          <a:p>
            <a:pPr marL="0" indent="0" algn="ctr">
              <a:lnSpc>
                <a:spcPct val="100000"/>
              </a:lnSpc>
              <a:buNone/>
            </a:pPr>
            <a:r>
              <a:rPr lang="en-US" sz="5400" b="1" dirty="0">
                <a:solidFill>
                  <a:srgbClr val="000000"/>
                </a:solidFill>
                <a:latin typeface="MiSans" pitchFamily="34" charset="0"/>
                <a:ea typeface="MiSans" pitchFamily="34" charset="-122"/>
                <a:cs typeface="MiSans" pitchFamily="34" charset="-120"/>
              </a:rPr>
              <a:t>Índice EPL de la OCDE</a:t>
            </a:r>
            <a:endParaRPr lang="en-US" sz="1600" dirty="0"/>
          </a:p>
        </p:txBody>
      </p:sp>
      <p:sp>
        <p:nvSpPr>
          <p:cNvPr id="8" name="Text 5"/>
          <p:cNvSpPr/>
          <p:nvPr/>
        </p:nvSpPr>
        <p:spPr>
          <a:xfrm>
            <a:off x="3447415" y="256898"/>
            <a:ext cx="5640070" cy="1107996"/>
          </a:xfrm>
          <a:prstGeom prst="rect">
            <a:avLst/>
          </a:prstGeom>
          <a:noFill/>
          <a:ln/>
        </p:spPr>
        <p:txBody>
          <a:bodyPr wrap="square" lIns="91440" tIns="45720" rIns="91440" bIns="45720" rtlCol="0" anchor="ctr">
            <a:spAutoFit/>
          </a:bodyPr>
          <a:lstStyle/>
          <a:p>
            <a:pPr marL="0" indent="0" algn="ctr">
              <a:lnSpc>
                <a:spcPct val="100000"/>
              </a:lnSpc>
              <a:buNone/>
            </a:pPr>
            <a:r>
              <a:rPr lang="en-US" sz="6600" b="1" dirty="0">
                <a:solidFill>
                  <a:srgbClr val="000000"/>
                </a:solidFill>
                <a:latin typeface="MiSans" pitchFamily="34" charset="0"/>
                <a:ea typeface="MiSans" pitchFamily="34" charset="-122"/>
                <a:cs typeface="MiSans" pitchFamily="34" charset="-120"/>
              </a:rPr>
              <a:t>PARTE  03</a:t>
            </a:r>
            <a:endParaRPr lang="en-US" sz="1600" dirty="0"/>
          </a:p>
        </p:txBody>
      </p:sp>
      <p:sp>
        <p:nvSpPr>
          <p:cNvPr id="9" name="Shape 6"/>
          <p:cNvSpPr/>
          <p:nvPr/>
        </p:nvSpPr>
        <p:spPr>
          <a:xfrm>
            <a:off x="291465" y="6075045"/>
            <a:ext cx="607496" cy="0"/>
          </a:xfrm>
          <a:prstGeom prst="line">
            <a:avLst/>
          </a:prstGeom>
          <a:noFill/>
          <a:ln w="57150">
            <a:solidFill>
              <a:srgbClr val="00B0F0"/>
            </a:solidFill>
            <a:prstDash val="solid"/>
            <a:headEnd type="none"/>
            <a:tailEnd type="none"/>
          </a:ln>
        </p:spPr>
        <p:txBody>
          <a:bodyPr/>
          <a:lstStyle/>
          <a:p>
            <a:endParaRPr lang="es-ES"/>
          </a:p>
        </p:txBody>
      </p:sp>
      <p:sp>
        <p:nvSpPr>
          <p:cNvPr id="10" name="Shape 7"/>
          <p:cNvSpPr/>
          <p:nvPr/>
        </p:nvSpPr>
        <p:spPr>
          <a:xfrm>
            <a:off x="291465" y="6308725"/>
            <a:ext cx="607496" cy="0"/>
          </a:xfrm>
          <a:prstGeom prst="line">
            <a:avLst/>
          </a:prstGeom>
          <a:noFill/>
          <a:ln w="57150">
            <a:solidFill>
              <a:srgbClr val="00B0F0"/>
            </a:solidFill>
            <a:prstDash val="solid"/>
            <a:headEnd type="none"/>
            <a:tailEnd type="none"/>
          </a:ln>
        </p:spPr>
        <p:txBody>
          <a:bodyPr/>
          <a:lstStyle/>
          <a:p>
            <a:endParaRPr lang="es-ES"/>
          </a:p>
        </p:txBody>
      </p:sp>
      <p:sp>
        <p:nvSpPr>
          <p:cNvPr id="11" name="Shape 8"/>
          <p:cNvSpPr/>
          <p:nvPr/>
        </p:nvSpPr>
        <p:spPr>
          <a:xfrm>
            <a:off x="291465" y="6542405"/>
            <a:ext cx="607496" cy="0"/>
          </a:xfrm>
          <a:prstGeom prst="line">
            <a:avLst/>
          </a:prstGeom>
          <a:noFill/>
          <a:ln w="57150">
            <a:solidFill>
              <a:srgbClr val="00B0F0"/>
            </a:solidFill>
            <a:prstDash val="solid"/>
            <a:headEnd type="none"/>
            <a:tailEnd type="none"/>
          </a:ln>
        </p:spPr>
        <p:txBody>
          <a:bodyPr/>
          <a:lstStyle/>
          <a:p>
            <a:endParaRPr lang="es-ES"/>
          </a:p>
        </p:txBody>
      </p:sp>
      <p:sp>
        <p:nvSpPr>
          <p:cNvPr id="12" name="Shape 9"/>
          <p:cNvSpPr/>
          <p:nvPr/>
        </p:nvSpPr>
        <p:spPr>
          <a:xfrm>
            <a:off x="291465" y="202565"/>
            <a:ext cx="337185" cy="337185"/>
          </a:xfrm>
          <a:prstGeom prst="ellipse">
            <a:avLst/>
          </a:prstGeom>
          <a:solidFill>
            <a:srgbClr val="FFFFFF"/>
          </a:solidFill>
          <a:ln w="19050">
            <a:solidFill>
              <a:srgbClr val="00B0F0"/>
            </a:solidFill>
            <a:prstDash val="solid"/>
          </a:ln>
        </p:spPr>
        <p:txBody>
          <a:bodyPr/>
          <a:lstStyle/>
          <a:p>
            <a:endParaRPr lang="es-ES"/>
          </a:p>
        </p:txBody>
      </p:sp>
      <p:sp>
        <p:nvSpPr>
          <p:cNvPr id="13" name="Text 10"/>
          <p:cNvSpPr/>
          <p:nvPr/>
        </p:nvSpPr>
        <p:spPr>
          <a:xfrm>
            <a:off x="29146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1251585" y="202565"/>
            <a:ext cx="337185" cy="337185"/>
          </a:xfrm>
          <a:prstGeom prst="ellipse">
            <a:avLst/>
          </a:prstGeom>
          <a:solidFill>
            <a:srgbClr val="FFFFFF"/>
          </a:solidFill>
          <a:ln w="19050">
            <a:solidFill>
              <a:srgbClr val="00B0F0"/>
            </a:solidFill>
            <a:prstDash val="solid"/>
          </a:ln>
        </p:spPr>
        <p:txBody>
          <a:bodyPr/>
          <a:lstStyle/>
          <a:p>
            <a:endParaRPr lang="es-ES"/>
          </a:p>
        </p:txBody>
      </p:sp>
      <p:sp>
        <p:nvSpPr>
          <p:cNvPr id="15" name="Text 12"/>
          <p:cNvSpPr/>
          <p:nvPr/>
        </p:nvSpPr>
        <p:spPr>
          <a:xfrm>
            <a:off x="125158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771525" y="202565"/>
            <a:ext cx="337185" cy="337185"/>
          </a:xfrm>
          <a:prstGeom prst="ellipse">
            <a:avLst/>
          </a:prstGeom>
          <a:solidFill>
            <a:srgbClr val="00B0F0"/>
          </a:solidFill>
          <a:ln w="19050">
            <a:solidFill>
              <a:srgbClr val="FFFFFF"/>
            </a:solidFill>
            <a:prstDash val="solid"/>
          </a:ln>
        </p:spPr>
        <p:txBody>
          <a:bodyPr/>
          <a:lstStyle/>
          <a:p>
            <a:endParaRPr lang="es-ES"/>
          </a:p>
        </p:txBody>
      </p:sp>
      <p:sp>
        <p:nvSpPr>
          <p:cNvPr id="17" name="Text 14"/>
          <p:cNvSpPr/>
          <p:nvPr/>
        </p:nvSpPr>
        <p:spPr>
          <a:xfrm>
            <a:off x="77152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Shape 15"/>
          <p:cNvSpPr/>
          <p:nvPr/>
        </p:nvSpPr>
        <p:spPr>
          <a:xfrm>
            <a:off x="1731645" y="202565"/>
            <a:ext cx="337185" cy="337185"/>
          </a:xfrm>
          <a:prstGeom prst="ellipse">
            <a:avLst/>
          </a:prstGeom>
          <a:solidFill>
            <a:srgbClr val="00B0F0"/>
          </a:solidFill>
          <a:ln w="19050">
            <a:solidFill>
              <a:srgbClr val="FFFFFF"/>
            </a:solidFill>
            <a:prstDash val="solid"/>
          </a:ln>
        </p:spPr>
        <p:txBody>
          <a:bodyPr/>
          <a:lstStyle/>
          <a:p>
            <a:endParaRPr lang="es-ES"/>
          </a:p>
        </p:txBody>
      </p:sp>
      <p:sp>
        <p:nvSpPr>
          <p:cNvPr id="19" name="Text 16"/>
          <p:cNvSpPr/>
          <p:nvPr/>
        </p:nvSpPr>
        <p:spPr>
          <a:xfrm>
            <a:off x="173164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142240"/>
            <a:ext cx="7499985" cy="368300"/>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¿Qué mide el índice EPL?</a:t>
            </a:r>
            <a:endParaRPr lang="en-US" sz="1600" dirty="0"/>
          </a:p>
        </p:txBody>
      </p:sp>
      <p:sp>
        <p:nvSpPr>
          <p:cNvPr id="12" name="Shape 10"/>
          <p:cNvSpPr/>
          <p:nvPr/>
        </p:nvSpPr>
        <p:spPr>
          <a:xfrm>
            <a:off x="669925" y="1690370"/>
            <a:ext cx="3071495" cy="644525"/>
          </a:xfrm>
          <a:prstGeom prst="roundRect">
            <a:avLst>
              <a:gd name="adj" fmla="val 16763"/>
            </a:avLst>
          </a:prstGeom>
          <a:solidFill>
            <a:srgbClr val="00B0F0"/>
          </a:solidFill>
          <a:ln/>
        </p:spPr>
        <p:txBody>
          <a:bodyPr/>
          <a:lstStyle/>
          <a:p>
            <a:endParaRPr lang="es-ES"/>
          </a:p>
        </p:txBody>
      </p:sp>
      <p:sp>
        <p:nvSpPr>
          <p:cNvPr id="13" name="Text 11"/>
          <p:cNvSpPr/>
          <p:nvPr/>
        </p:nvSpPr>
        <p:spPr>
          <a:xfrm>
            <a:off x="669925" y="1690370"/>
            <a:ext cx="3071495" cy="64452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8541385" y="1690370"/>
            <a:ext cx="3071495" cy="644525"/>
          </a:xfrm>
          <a:prstGeom prst="roundRect">
            <a:avLst>
              <a:gd name="adj" fmla="val 16763"/>
            </a:avLst>
          </a:prstGeom>
          <a:solidFill>
            <a:srgbClr val="00B0F0"/>
          </a:solidFill>
          <a:ln/>
        </p:spPr>
        <p:txBody>
          <a:bodyPr/>
          <a:lstStyle/>
          <a:p>
            <a:endParaRPr lang="es-ES"/>
          </a:p>
        </p:txBody>
      </p:sp>
      <p:sp>
        <p:nvSpPr>
          <p:cNvPr id="15" name="Text 13"/>
          <p:cNvSpPr/>
          <p:nvPr/>
        </p:nvSpPr>
        <p:spPr>
          <a:xfrm>
            <a:off x="8541385" y="1690370"/>
            <a:ext cx="3071495" cy="64452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0" y="6620510"/>
            <a:ext cx="12192000" cy="237490"/>
          </a:xfrm>
          <a:prstGeom prst="rect">
            <a:avLst/>
          </a:prstGeom>
          <a:solidFill>
            <a:srgbClr val="00B0F0"/>
          </a:solidFill>
          <a:ln/>
        </p:spPr>
        <p:txBody>
          <a:bodyPr/>
          <a:lstStyle/>
          <a:p>
            <a:endParaRPr lang="es-ES"/>
          </a:p>
        </p:txBody>
      </p:sp>
      <p:sp>
        <p:nvSpPr>
          <p:cNvPr id="17" name="Text 15"/>
          <p:cNvSpPr/>
          <p:nvPr/>
        </p:nvSpPr>
        <p:spPr>
          <a:xfrm>
            <a:off x="0" y="6620510"/>
            <a:ext cx="12192000" cy="237490"/>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8" name="Image 0" descr="https://kimi-img.moonshot.cn/pub/slides/slides_tmpl/image/25-08-27-19:57:42-d2nf5dh8bjvh7rlivssg.png"/>
          <p:cNvPicPr>
            <a:picLocks noChangeAspect="1"/>
          </p:cNvPicPr>
          <p:nvPr/>
        </p:nvPicPr>
        <p:blipFill>
          <a:blip r:embed="rId3"/>
          <a:stretch>
            <a:fillRect/>
          </a:stretch>
        </p:blipFill>
        <p:spPr>
          <a:xfrm>
            <a:off x="4095115" y="1633855"/>
            <a:ext cx="4047490" cy="3590290"/>
          </a:xfrm>
          <a:prstGeom prst="rect">
            <a:avLst/>
          </a:prstGeom>
        </p:spPr>
      </p:pic>
      <p:sp>
        <p:nvSpPr>
          <p:cNvPr id="19" name="Text 16"/>
          <p:cNvSpPr/>
          <p:nvPr/>
        </p:nvSpPr>
        <p:spPr>
          <a:xfrm>
            <a:off x="1104265" y="1689735"/>
            <a:ext cx="2200275" cy="645160"/>
          </a:xfrm>
          <a:prstGeom prst="rect">
            <a:avLst/>
          </a:prstGeom>
          <a:noFill/>
          <a:ln/>
        </p:spPr>
        <p:txBody>
          <a:bodyPr wrap="square" lIns="91440" tIns="45720" rIns="91440" bIns="45720" rtlCol="0" anchor="t"/>
          <a:lstStyle/>
          <a:p>
            <a:pPr marL="0" indent="0" algn="ctr">
              <a:lnSpc>
                <a:spcPct val="100000"/>
              </a:lnSpc>
              <a:buNone/>
            </a:pPr>
            <a:r>
              <a:rPr lang="en-US" sz="1800" dirty="0">
                <a:solidFill>
                  <a:srgbClr val="FFFFFF"/>
                </a:solidFill>
                <a:latin typeface="MiSans" pitchFamily="34" charset="0"/>
                <a:ea typeface="MiSans" pitchFamily="34" charset="-122"/>
                <a:cs typeface="MiSans" pitchFamily="34" charset="-120"/>
              </a:rPr>
              <a:t>Objetivo y metodología</a:t>
            </a:r>
            <a:endParaRPr lang="en-US" sz="1600" dirty="0"/>
          </a:p>
        </p:txBody>
      </p:sp>
      <p:sp>
        <p:nvSpPr>
          <p:cNvPr id="20" name="Text 17"/>
          <p:cNvSpPr/>
          <p:nvPr/>
        </p:nvSpPr>
        <p:spPr>
          <a:xfrm>
            <a:off x="669290" y="2454910"/>
            <a:ext cx="3070860" cy="2637790"/>
          </a:xfrm>
          <a:prstGeom prst="rect">
            <a:avLst/>
          </a:prstGeom>
          <a:noFill/>
          <a:ln/>
        </p:spPr>
        <p:txBody>
          <a:bodyPr wrap="square" lIns="91440" tIns="45720" rIns="91440" bIns="45720" rtlCol="0" anchor="t"/>
          <a:lstStyle/>
          <a:p>
            <a:pPr marL="0" indent="0">
              <a:lnSpc>
                <a:spcPct val="130000"/>
              </a:lnSpc>
              <a:buNone/>
            </a:pPr>
            <a:r>
              <a:rPr lang="en-US" sz="1600" dirty="0">
                <a:solidFill>
                  <a:srgbClr val="000000"/>
                </a:solidFill>
                <a:latin typeface="MiSans" pitchFamily="34" charset="0"/>
                <a:ea typeface="MiSans" pitchFamily="34" charset="-122"/>
                <a:cs typeface="MiSans" pitchFamily="34" charset="-120"/>
              </a:rPr>
              <a:t>El EPL cuantifica la rigidez de la legislación laboral en 18 indicadores (escala 0-6). Evalúa protección ante despidos individuales, restricciones a despidos colectivos y regulación de contratos temporales. Permite comparaciones internacionales y evaluación de reformas con base objetiva.</a:t>
            </a:r>
            <a:endParaRPr lang="en-US" sz="1600" dirty="0"/>
          </a:p>
        </p:txBody>
      </p:sp>
      <p:sp>
        <p:nvSpPr>
          <p:cNvPr id="21" name="Text 18"/>
          <p:cNvSpPr/>
          <p:nvPr/>
        </p:nvSpPr>
        <p:spPr>
          <a:xfrm>
            <a:off x="8975725" y="1689735"/>
            <a:ext cx="2200275" cy="645160"/>
          </a:xfrm>
          <a:prstGeom prst="rect">
            <a:avLst/>
          </a:prstGeom>
          <a:noFill/>
          <a:ln/>
        </p:spPr>
        <p:txBody>
          <a:bodyPr wrap="square" lIns="91440" tIns="45720" rIns="91440" bIns="45720" rtlCol="0" anchor="t"/>
          <a:lstStyle/>
          <a:p>
            <a:pPr marL="0" indent="0" algn="ctr">
              <a:lnSpc>
                <a:spcPct val="100000"/>
              </a:lnSpc>
              <a:buNone/>
            </a:pPr>
            <a:r>
              <a:rPr lang="en-US" sz="1800" dirty="0">
                <a:solidFill>
                  <a:srgbClr val="FFFFFF"/>
                </a:solidFill>
                <a:latin typeface="MiSans" pitchFamily="34" charset="0"/>
                <a:ea typeface="MiSans" pitchFamily="34" charset="-122"/>
                <a:cs typeface="MiSans" pitchFamily="34" charset="-120"/>
              </a:rPr>
              <a:t>Utilidad para políticas públicas</a:t>
            </a:r>
            <a:endParaRPr lang="en-US" sz="1600" dirty="0"/>
          </a:p>
        </p:txBody>
      </p:sp>
      <p:sp>
        <p:nvSpPr>
          <p:cNvPr id="22" name="Text 19"/>
          <p:cNvSpPr/>
          <p:nvPr/>
        </p:nvSpPr>
        <p:spPr>
          <a:xfrm>
            <a:off x="8540750" y="2454910"/>
            <a:ext cx="3070860" cy="2637790"/>
          </a:xfrm>
          <a:prstGeom prst="rect">
            <a:avLst/>
          </a:prstGeom>
          <a:noFill/>
          <a:ln/>
        </p:spPr>
        <p:txBody>
          <a:bodyPr wrap="square" lIns="91440" tIns="45720" rIns="91440" bIns="45720" rtlCol="0" anchor="t"/>
          <a:lstStyle/>
          <a:p>
            <a:pPr marL="0" indent="0">
              <a:lnSpc>
                <a:spcPct val="130000"/>
              </a:lnSpc>
              <a:buNone/>
            </a:pPr>
            <a:r>
              <a:rPr lang="en-US" sz="1600" dirty="0">
                <a:solidFill>
                  <a:srgbClr val="000000"/>
                </a:solidFill>
                <a:latin typeface="MiSans" pitchFamily="34" charset="0"/>
                <a:ea typeface="MiSans" pitchFamily="34" charset="-122"/>
                <a:cs typeface="MiSans" pitchFamily="34" charset="-120"/>
              </a:rPr>
              <a:t>Es referencia para diseñar reformas laborales equilibradas. Países con valores intermedios suelen combinar flexibilidad empresarial con protección al trabajador. Sin embargo, debe complementarse con indicadores de calidad del empleo y resultados reales del mercado laboral.</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142240"/>
            <a:ext cx="7499985" cy="368300"/>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Despidos individuales: evaluación</a:t>
            </a:r>
            <a:endParaRPr lang="en-US" sz="1600" dirty="0"/>
          </a:p>
        </p:txBody>
      </p:sp>
      <p:sp>
        <p:nvSpPr>
          <p:cNvPr id="12" name="Shape 10"/>
          <p:cNvSpPr/>
          <p:nvPr/>
        </p:nvSpPr>
        <p:spPr>
          <a:xfrm>
            <a:off x="7728585" y="3213735"/>
            <a:ext cx="3923030" cy="2591435"/>
          </a:xfrm>
          <a:prstGeom prst="roundRect">
            <a:avLst/>
          </a:prstGeom>
          <a:solidFill>
            <a:srgbClr val="00B0F0"/>
          </a:solidFill>
          <a:ln w="28575">
            <a:solidFill>
              <a:srgbClr val="FFFFFF">
                <a:alpha val="0"/>
              </a:srgbClr>
            </a:solidFill>
            <a:prstDash val="solid"/>
          </a:ln>
        </p:spPr>
        <p:txBody>
          <a:bodyPr/>
          <a:lstStyle/>
          <a:p>
            <a:endParaRPr lang="es-ES"/>
          </a:p>
        </p:txBody>
      </p:sp>
      <p:sp>
        <p:nvSpPr>
          <p:cNvPr id="13" name="Text 11"/>
          <p:cNvSpPr/>
          <p:nvPr/>
        </p:nvSpPr>
        <p:spPr>
          <a:xfrm>
            <a:off x="7728585" y="3213735"/>
            <a:ext cx="3923030" cy="25914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7614285" y="3049270"/>
            <a:ext cx="3846195" cy="2591435"/>
          </a:xfrm>
          <a:prstGeom prst="roundRect">
            <a:avLst>
              <a:gd name="adj" fmla="val 14996"/>
            </a:avLst>
          </a:prstGeom>
          <a:solidFill>
            <a:srgbClr val="FFFFFF"/>
          </a:solidFill>
          <a:ln w="19050">
            <a:solidFill>
              <a:srgbClr val="000000"/>
            </a:solidFill>
            <a:prstDash val="solid"/>
          </a:ln>
        </p:spPr>
        <p:txBody>
          <a:bodyPr/>
          <a:lstStyle/>
          <a:p>
            <a:endParaRPr lang="es-ES"/>
          </a:p>
        </p:txBody>
      </p:sp>
      <p:sp>
        <p:nvSpPr>
          <p:cNvPr id="15" name="Text 13"/>
          <p:cNvSpPr/>
          <p:nvPr/>
        </p:nvSpPr>
        <p:spPr>
          <a:xfrm>
            <a:off x="7614285" y="3049270"/>
            <a:ext cx="3846195" cy="25914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3296920" y="3187065"/>
            <a:ext cx="3923030" cy="2591435"/>
          </a:xfrm>
          <a:prstGeom prst="roundRect">
            <a:avLst/>
          </a:prstGeom>
          <a:solidFill>
            <a:srgbClr val="00B0F0"/>
          </a:solidFill>
          <a:ln w="28575">
            <a:solidFill>
              <a:srgbClr val="FFFFFF">
                <a:alpha val="0"/>
              </a:srgbClr>
            </a:solidFill>
            <a:prstDash val="solid"/>
          </a:ln>
        </p:spPr>
        <p:txBody>
          <a:bodyPr/>
          <a:lstStyle/>
          <a:p>
            <a:endParaRPr lang="es-ES"/>
          </a:p>
        </p:txBody>
      </p:sp>
      <p:sp>
        <p:nvSpPr>
          <p:cNvPr id="17" name="Text 15"/>
          <p:cNvSpPr/>
          <p:nvPr/>
        </p:nvSpPr>
        <p:spPr>
          <a:xfrm>
            <a:off x="3296920" y="3187065"/>
            <a:ext cx="3923030" cy="25914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Shape 16"/>
          <p:cNvSpPr/>
          <p:nvPr/>
        </p:nvSpPr>
        <p:spPr>
          <a:xfrm>
            <a:off x="3182620" y="3022600"/>
            <a:ext cx="3846195" cy="2591435"/>
          </a:xfrm>
          <a:prstGeom prst="roundRect">
            <a:avLst>
              <a:gd name="adj" fmla="val 14996"/>
            </a:avLst>
          </a:prstGeom>
          <a:solidFill>
            <a:srgbClr val="FFFFFF"/>
          </a:solidFill>
          <a:ln w="19050">
            <a:solidFill>
              <a:srgbClr val="000000"/>
            </a:solidFill>
            <a:prstDash val="solid"/>
          </a:ln>
        </p:spPr>
        <p:txBody>
          <a:bodyPr/>
          <a:lstStyle/>
          <a:p>
            <a:endParaRPr lang="es-ES"/>
          </a:p>
        </p:txBody>
      </p:sp>
      <p:sp>
        <p:nvSpPr>
          <p:cNvPr id="19" name="Text 17"/>
          <p:cNvSpPr/>
          <p:nvPr/>
        </p:nvSpPr>
        <p:spPr>
          <a:xfrm>
            <a:off x="3182620" y="3022600"/>
            <a:ext cx="3846195" cy="25914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0" name="Shape 18"/>
          <p:cNvSpPr/>
          <p:nvPr/>
        </p:nvSpPr>
        <p:spPr>
          <a:xfrm>
            <a:off x="523240" y="2232025"/>
            <a:ext cx="2063115" cy="3128010"/>
          </a:xfrm>
          <a:prstGeom prst="rect">
            <a:avLst/>
          </a:prstGeom>
          <a:solidFill>
            <a:srgbClr val="000000">
              <a:alpha val="0"/>
            </a:srgbClr>
          </a:solidFill>
          <a:ln w="28575">
            <a:solidFill>
              <a:srgbClr val="000000"/>
            </a:solidFill>
            <a:prstDash val="solid"/>
          </a:ln>
        </p:spPr>
        <p:txBody>
          <a:bodyPr/>
          <a:lstStyle/>
          <a:p>
            <a:endParaRPr lang="es-ES"/>
          </a:p>
        </p:txBody>
      </p:sp>
      <p:sp>
        <p:nvSpPr>
          <p:cNvPr id="21" name="Text 19"/>
          <p:cNvSpPr/>
          <p:nvPr/>
        </p:nvSpPr>
        <p:spPr>
          <a:xfrm>
            <a:off x="523240" y="2232025"/>
            <a:ext cx="2063115" cy="3128010"/>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22" name="Image 0" descr="https://kimi-img.moonshot.cn/pub/slides/slides_tmpl/image/25-08-27-19:57:42-d2nf5dh8bjvh7rlivt00.png"/>
          <p:cNvPicPr>
            <a:picLocks noChangeAspect="1"/>
          </p:cNvPicPr>
          <p:nvPr/>
        </p:nvPicPr>
        <p:blipFill>
          <a:blip r:embed="rId3"/>
          <a:stretch>
            <a:fillRect/>
          </a:stretch>
        </p:blipFill>
        <p:spPr>
          <a:xfrm>
            <a:off x="408305" y="1727200"/>
            <a:ext cx="2603500" cy="3441700"/>
          </a:xfrm>
          <a:prstGeom prst="rect">
            <a:avLst/>
          </a:prstGeom>
        </p:spPr>
      </p:pic>
      <p:sp>
        <p:nvSpPr>
          <p:cNvPr id="23" name="Shape 20"/>
          <p:cNvSpPr/>
          <p:nvPr/>
        </p:nvSpPr>
        <p:spPr>
          <a:xfrm>
            <a:off x="3133090" y="1163320"/>
            <a:ext cx="85725" cy="343535"/>
          </a:xfrm>
          <a:prstGeom prst="rect">
            <a:avLst/>
          </a:prstGeom>
          <a:solidFill>
            <a:srgbClr val="00B0F0"/>
          </a:solidFill>
          <a:ln/>
        </p:spPr>
        <p:txBody>
          <a:bodyPr/>
          <a:lstStyle/>
          <a:p>
            <a:endParaRPr lang="es-ES"/>
          </a:p>
        </p:txBody>
      </p:sp>
      <p:sp>
        <p:nvSpPr>
          <p:cNvPr id="24" name="Text 21"/>
          <p:cNvSpPr/>
          <p:nvPr/>
        </p:nvSpPr>
        <p:spPr>
          <a:xfrm>
            <a:off x="3133090" y="1163320"/>
            <a:ext cx="85725" cy="3435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5" name="Text 22"/>
          <p:cNvSpPr/>
          <p:nvPr/>
        </p:nvSpPr>
        <p:spPr>
          <a:xfrm>
            <a:off x="3218498" y="1114534"/>
            <a:ext cx="4358640" cy="368300"/>
          </a:xfrm>
          <a:prstGeom prst="rect">
            <a:avLst/>
          </a:prstGeom>
          <a:noFill/>
          <a:ln/>
        </p:spPr>
        <p:txBody>
          <a:bodyPr wrap="square" lIns="91440" tIns="45720" rIns="91440" bIns="45720" rtlCol="0" anchor="t">
            <a:spAutoFit/>
          </a:bodyPr>
          <a:lstStyle/>
          <a:p>
            <a:pPr marL="0" indent="0">
              <a:lnSpc>
                <a:spcPct val="100000"/>
              </a:lnSpc>
              <a:buNone/>
            </a:pPr>
            <a:r>
              <a:rPr lang="en-US" sz="2400" dirty="0">
                <a:solidFill>
                  <a:srgbClr val="00B0F0"/>
                </a:solidFill>
                <a:latin typeface="MiSans" pitchFamily="34" charset="0"/>
                <a:ea typeface="MiSans" pitchFamily="34" charset="-122"/>
                <a:cs typeface="MiSans" pitchFamily="34" charset="-120"/>
              </a:rPr>
              <a:t>Notificaciones y trámites</a:t>
            </a:r>
            <a:endParaRPr lang="en-US" sz="1600" dirty="0"/>
          </a:p>
        </p:txBody>
      </p:sp>
      <p:sp>
        <p:nvSpPr>
          <p:cNvPr id="26" name="Text 23"/>
          <p:cNvSpPr/>
          <p:nvPr/>
        </p:nvSpPr>
        <p:spPr>
          <a:xfrm>
            <a:off x="3100070" y="1586331"/>
            <a:ext cx="8551545" cy="1143000"/>
          </a:xfrm>
          <a:prstGeom prst="rect">
            <a:avLst/>
          </a:prstGeom>
          <a:noFill/>
          <a:ln/>
        </p:spPr>
        <p:txBody>
          <a:bodyPr wrap="square" lIns="91440" tIns="45720" rIns="91440" bIns="45720" rtlCol="0" anchor="t"/>
          <a:lstStyle/>
          <a:p>
            <a:pPr marL="0" indent="0">
              <a:lnSpc>
                <a:spcPct val="130000"/>
              </a:lnSpc>
              <a:buNone/>
            </a:pPr>
            <a:r>
              <a:rPr lang="en-US" sz="1600" dirty="0">
                <a:solidFill>
                  <a:srgbClr val="000000"/>
                </a:solidFill>
                <a:latin typeface="MiSans" pitchFamily="34" charset="0"/>
                <a:ea typeface="MiSans" pitchFamily="34" charset="-122"/>
                <a:cs typeface="MiSans" pitchFamily="34" charset="-120"/>
              </a:rPr>
              <a:t>El EPL evalúa obligaciones de preaviso, comunicación escrita y plazos legales. En España, el despido indefinido requiere 15 días de preaviso y carta motivada. Estos requisitos aumentan seguridad jurídica pero pueden ralentizar ajustes empresariales si son excesivos.</a:t>
            </a:r>
            <a:endParaRPr lang="en-US" sz="1600" dirty="0"/>
          </a:p>
        </p:txBody>
      </p:sp>
      <p:sp>
        <p:nvSpPr>
          <p:cNvPr id="27" name="Text 24"/>
          <p:cNvSpPr/>
          <p:nvPr/>
        </p:nvSpPr>
        <p:spPr>
          <a:xfrm>
            <a:off x="3232583" y="3189192"/>
            <a:ext cx="3662680" cy="303411"/>
          </a:xfrm>
          <a:prstGeom prst="rect">
            <a:avLst/>
          </a:prstGeom>
          <a:noFill/>
          <a:ln/>
        </p:spPr>
        <p:txBody>
          <a:bodyPr wrap="square" lIns="91440" tIns="45720" rIns="91440" bIns="45720" rtlCol="0" anchor="t">
            <a:spAutoFit/>
          </a:bodyPr>
          <a:lstStyle/>
          <a:p>
            <a:pPr marL="0" indent="0">
              <a:lnSpc>
                <a:spcPct val="100000"/>
              </a:lnSpc>
              <a:buNone/>
            </a:pPr>
            <a:r>
              <a:rPr lang="en-US" sz="2000" dirty="0">
                <a:solidFill>
                  <a:srgbClr val="000000"/>
                </a:solidFill>
                <a:latin typeface="MiSans" pitchFamily="34" charset="0"/>
                <a:ea typeface="MiSans" pitchFamily="34" charset="-122"/>
                <a:cs typeface="MiSans" pitchFamily="34" charset="-120"/>
              </a:rPr>
              <a:t>Causas y procedencia</a:t>
            </a:r>
            <a:endParaRPr lang="en-US" sz="1600" dirty="0"/>
          </a:p>
        </p:txBody>
      </p:sp>
      <p:sp>
        <p:nvSpPr>
          <p:cNvPr id="28" name="Text 25"/>
          <p:cNvSpPr/>
          <p:nvPr/>
        </p:nvSpPr>
        <p:spPr>
          <a:xfrm>
            <a:off x="3232583" y="3682365"/>
            <a:ext cx="3662680" cy="1841500"/>
          </a:xfrm>
          <a:prstGeom prst="rect">
            <a:avLst/>
          </a:prstGeom>
          <a:noFill/>
          <a:ln/>
        </p:spPr>
        <p:txBody>
          <a:bodyPr wrap="square" lIns="91440" tIns="45720" rIns="91440" bIns="45720" rtlCol="0" anchor="t"/>
          <a:lstStyle/>
          <a:p>
            <a:pPr marL="0" indent="0">
              <a:lnSpc>
                <a:spcPct val="130000"/>
              </a:lnSpc>
              <a:buNone/>
            </a:pPr>
            <a:r>
              <a:rPr lang="en-US" sz="1200" dirty="0">
                <a:solidFill>
                  <a:srgbClr val="000000"/>
                </a:solidFill>
                <a:latin typeface="MiSans" pitchFamily="34" charset="0"/>
                <a:ea typeface="MiSans" pitchFamily="34" charset="-122"/>
                <a:cs typeface="MiSans" pitchFamily="34" charset="-120"/>
              </a:rPr>
              <a:t>Se analiza claridad de causas objetivas (económicas, técnicas) y disciplinarias. La calificación como procedente o improcedente determina costes y posibilidad de readmisión. Una definición clara reduce litigios y aumenta previsibilidad para ambas partes.</a:t>
            </a:r>
            <a:endParaRPr lang="en-US" sz="1400" dirty="0"/>
          </a:p>
        </p:txBody>
      </p:sp>
      <p:sp>
        <p:nvSpPr>
          <p:cNvPr id="29" name="Text 26"/>
          <p:cNvSpPr/>
          <p:nvPr/>
        </p:nvSpPr>
        <p:spPr>
          <a:xfrm>
            <a:off x="7664248" y="3215862"/>
            <a:ext cx="3662680" cy="303411"/>
          </a:xfrm>
          <a:prstGeom prst="rect">
            <a:avLst/>
          </a:prstGeom>
          <a:noFill/>
          <a:ln/>
        </p:spPr>
        <p:txBody>
          <a:bodyPr wrap="square" lIns="91440" tIns="45720" rIns="91440" bIns="45720" rtlCol="0" anchor="t">
            <a:spAutoFit/>
          </a:bodyPr>
          <a:lstStyle/>
          <a:p>
            <a:pPr marL="0" indent="0">
              <a:lnSpc>
                <a:spcPct val="100000"/>
              </a:lnSpc>
              <a:buNone/>
            </a:pPr>
            <a:r>
              <a:rPr lang="en-US" sz="2000" dirty="0">
                <a:solidFill>
                  <a:srgbClr val="000000"/>
                </a:solidFill>
                <a:latin typeface="MiSans" pitchFamily="34" charset="0"/>
                <a:ea typeface="MiSans" pitchFamily="34" charset="-122"/>
                <a:cs typeface="MiSans" pitchFamily="34" charset="-120"/>
              </a:rPr>
              <a:t>Indemnizaciones legales</a:t>
            </a:r>
            <a:endParaRPr lang="en-US" sz="1600" dirty="0"/>
          </a:p>
        </p:txBody>
      </p:sp>
      <p:sp>
        <p:nvSpPr>
          <p:cNvPr id="30" name="Text 27"/>
          <p:cNvSpPr/>
          <p:nvPr/>
        </p:nvSpPr>
        <p:spPr>
          <a:xfrm>
            <a:off x="7664248" y="3709035"/>
            <a:ext cx="3662680" cy="1841500"/>
          </a:xfrm>
          <a:prstGeom prst="rect">
            <a:avLst/>
          </a:prstGeom>
          <a:noFill/>
          <a:ln/>
        </p:spPr>
        <p:txBody>
          <a:bodyPr wrap="square" lIns="91440" tIns="45720" rIns="91440" bIns="45720" rtlCol="0" anchor="t"/>
          <a:lstStyle/>
          <a:p>
            <a:pPr marL="0" indent="0">
              <a:lnSpc>
                <a:spcPct val="130000"/>
              </a:lnSpc>
              <a:buNone/>
            </a:pPr>
            <a:r>
              <a:rPr lang="en-US" sz="1200" dirty="0">
                <a:solidFill>
                  <a:srgbClr val="000000"/>
                </a:solidFill>
                <a:latin typeface="MiSans" pitchFamily="34" charset="0"/>
                <a:ea typeface="MiSans" pitchFamily="34" charset="-122"/>
                <a:cs typeface="MiSans" pitchFamily="34" charset="-120"/>
              </a:rPr>
              <a:t>España establece 20 días por año para despidos objetivos (máx. 12 meses) y 33 días para improcedentes (máx. 24 meses). Estas cuantías superan la media OCDE, lo que incentiva uso de temporales y dificulta ajustes de plantilla en contratos indefinidos.</a:t>
            </a:r>
            <a:endParaRPr lang="en-US" sz="14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142240"/>
            <a:ext cx="7499985" cy="368300"/>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Despidos colectivos: más exigentes</a:t>
            </a:r>
            <a:endParaRPr lang="en-US" sz="1600" dirty="0"/>
          </a:p>
        </p:txBody>
      </p:sp>
      <p:sp>
        <p:nvSpPr>
          <p:cNvPr id="12" name="Shape 10"/>
          <p:cNvSpPr/>
          <p:nvPr/>
        </p:nvSpPr>
        <p:spPr>
          <a:xfrm>
            <a:off x="663575" y="1140460"/>
            <a:ext cx="3412490" cy="4547235"/>
          </a:xfrm>
          <a:prstGeom prst="roundRect">
            <a:avLst>
              <a:gd name="adj" fmla="val 8931"/>
            </a:avLst>
          </a:prstGeom>
          <a:solidFill>
            <a:srgbClr val="000000">
              <a:alpha val="0"/>
            </a:srgbClr>
          </a:solidFill>
          <a:ln w="28575">
            <a:solidFill>
              <a:srgbClr val="00B0F0"/>
            </a:solidFill>
            <a:prstDash val="solid"/>
          </a:ln>
        </p:spPr>
        <p:txBody>
          <a:bodyPr/>
          <a:lstStyle/>
          <a:p>
            <a:endParaRPr lang="es-ES"/>
          </a:p>
        </p:txBody>
      </p:sp>
      <p:sp>
        <p:nvSpPr>
          <p:cNvPr id="13" name="Text 11"/>
          <p:cNvSpPr/>
          <p:nvPr/>
        </p:nvSpPr>
        <p:spPr>
          <a:xfrm>
            <a:off x="663575" y="1140460"/>
            <a:ext cx="3412490" cy="45472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858520" y="1368425"/>
            <a:ext cx="3071495" cy="385445"/>
          </a:xfrm>
          <a:prstGeom prst="roundRect">
            <a:avLst>
              <a:gd name="adj" fmla="val 45340"/>
            </a:avLst>
          </a:prstGeom>
          <a:solidFill>
            <a:srgbClr val="00B0F0"/>
          </a:solidFill>
          <a:ln/>
        </p:spPr>
        <p:txBody>
          <a:bodyPr/>
          <a:lstStyle/>
          <a:p>
            <a:endParaRPr lang="es-ES"/>
          </a:p>
        </p:txBody>
      </p:sp>
      <p:sp>
        <p:nvSpPr>
          <p:cNvPr id="15" name="Text 13"/>
          <p:cNvSpPr/>
          <p:nvPr/>
        </p:nvSpPr>
        <p:spPr>
          <a:xfrm>
            <a:off x="858520" y="1368425"/>
            <a:ext cx="3071495" cy="38544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4580255" y="1140460"/>
            <a:ext cx="3412490" cy="4547235"/>
          </a:xfrm>
          <a:prstGeom prst="roundRect">
            <a:avLst>
              <a:gd name="adj" fmla="val 8931"/>
            </a:avLst>
          </a:prstGeom>
          <a:solidFill>
            <a:srgbClr val="000000">
              <a:alpha val="0"/>
            </a:srgbClr>
          </a:solidFill>
          <a:ln w="28575">
            <a:solidFill>
              <a:srgbClr val="00B0F0"/>
            </a:solidFill>
            <a:prstDash val="solid"/>
          </a:ln>
        </p:spPr>
        <p:txBody>
          <a:bodyPr/>
          <a:lstStyle/>
          <a:p>
            <a:endParaRPr lang="es-ES"/>
          </a:p>
        </p:txBody>
      </p:sp>
      <p:sp>
        <p:nvSpPr>
          <p:cNvPr id="17" name="Text 15"/>
          <p:cNvSpPr/>
          <p:nvPr/>
        </p:nvSpPr>
        <p:spPr>
          <a:xfrm>
            <a:off x="4580255" y="1140460"/>
            <a:ext cx="3412490" cy="45472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Shape 16"/>
          <p:cNvSpPr/>
          <p:nvPr/>
        </p:nvSpPr>
        <p:spPr>
          <a:xfrm>
            <a:off x="4775200" y="1368425"/>
            <a:ext cx="3071495" cy="385445"/>
          </a:xfrm>
          <a:prstGeom prst="roundRect">
            <a:avLst>
              <a:gd name="adj" fmla="val 45340"/>
            </a:avLst>
          </a:prstGeom>
          <a:solidFill>
            <a:srgbClr val="00B0F0"/>
          </a:solidFill>
          <a:ln/>
        </p:spPr>
        <p:txBody>
          <a:bodyPr/>
          <a:lstStyle/>
          <a:p>
            <a:endParaRPr lang="es-ES"/>
          </a:p>
        </p:txBody>
      </p:sp>
      <p:sp>
        <p:nvSpPr>
          <p:cNvPr id="19" name="Text 17"/>
          <p:cNvSpPr/>
          <p:nvPr/>
        </p:nvSpPr>
        <p:spPr>
          <a:xfrm>
            <a:off x="4775200" y="1368425"/>
            <a:ext cx="3071495" cy="38544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0" name="Shape 18"/>
          <p:cNvSpPr/>
          <p:nvPr/>
        </p:nvSpPr>
        <p:spPr>
          <a:xfrm>
            <a:off x="8434070" y="1140460"/>
            <a:ext cx="3412490" cy="4547235"/>
          </a:xfrm>
          <a:prstGeom prst="roundRect">
            <a:avLst>
              <a:gd name="adj" fmla="val 8931"/>
            </a:avLst>
          </a:prstGeom>
          <a:solidFill>
            <a:srgbClr val="000000">
              <a:alpha val="0"/>
            </a:srgbClr>
          </a:solidFill>
          <a:ln w="28575">
            <a:solidFill>
              <a:srgbClr val="00B0F0"/>
            </a:solidFill>
            <a:prstDash val="solid"/>
          </a:ln>
        </p:spPr>
        <p:txBody>
          <a:bodyPr/>
          <a:lstStyle/>
          <a:p>
            <a:endParaRPr lang="es-ES"/>
          </a:p>
        </p:txBody>
      </p:sp>
      <p:sp>
        <p:nvSpPr>
          <p:cNvPr id="21" name="Text 19"/>
          <p:cNvSpPr/>
          <p:nvPr/>
        </p:nvSpPr>
        <p:spPr>
          <a:xfrm>
            <a:off x="8434070" y="1140460"/>
            <a:ext cx="3412490" cy="45472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2" name="Shape 20"/>
          <p:cNvSpPr/>
          <p:nvPr/>
        </p:nvSpPr>
        <p:spPr>
          <a:xfrm>
            <a:off x="8629015" y="1368425"/>
            <a:ext cx="3071495" cy="385445"/>
          </a:xfrm>
          <a:prstGeom prst="roundRect">
            <a:avLst>
              <a:gd name="adj" fmla="val 45340"/>
            </a:avLst>
          </a:prstGeom>
          <a:solidFill>
            <a:srgbClr val="00B0F0"/>
          </a:solidFill>
          <a:ln/>
        </p:spPr>
        <p:txBody>
          <a:bodyPr/>
          <a:lstStyle/>
          <a:p>
            <a:endParaRPr lang="es-ES"/>
          </a:p>
        </p:txBody>
      </p:sp>
      <p:sp>
        <p:nvSpPr>
          <p:cNvPr id="23" name="Text 21"/>
          <p:cNvSpPr/>
          <p:nvPr/>
        </p:nvSpPr>
        <p:spPr>
          <a:xfrm>
            <a:off x="8629015" y="1368425"/>
            <a:ext cx="3071495" cy="385445"/>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24" name="Image 0" descr="https://kimi-img.moonshot.cn/pub/slides/slides_tmpl/image/25-08-27-19:57:42-d2nf5dh8bjvh7rlivsu0.png"/>
          <p:cNvPicPr>
            <a:picLocks noChangeAspect="1"/>
          </p:cNvPicPr>
          <p:nvPr/>
        </p:nvPicPr>
        <p:blipFill>
          <a:blip r:embed="rId3"/>
          <a:stretch>
            <a:fillRect/>
          </a:stretch>
        </p:blipFill>
        <p:spPr>
          <a:xfrm>
            <a:off x="1376045" y="4373245"/>
            <a:ext cx="2012315" cy="1896110"/>
          </a:xfrm>
          <a:prstGeom prst="rect">
            <a:avLst/>
          </a:prstGeom>
        </p:spPr>
      </p:pic>
      <p:pic>
        <p:nvPicPr>
          <p:cNvPr id="25" name="Image 1" descr="https://kimi-img.moonshot.cn/pub/slides/slides_tmpl/image/25-08-27-19:57:42-d2nf5dh8bjvh7rlivspg.png"/>
          <p:cNvPicPr>
            <a:picLocks noChangeAspect="1"/>
          </p:cNvPicPr>
          <p:nvPr/>
        </p:nvPicPr>
        <p:blipFill>
          <a:blip r:embed="rId4"/>
          <a:stretch>
            <a:fillRect/>
          </a:stretch>
        </p:blipFill>
        <p:spPr>
          <a:xfrm>
            <a:off x="5203825" y="4239895"/>
            <a:ext cx="2297430" cy="2001520"/>
          </a:xfrm>
          <a:prstGeom prst="rect">
            <a:avLst/>
          </a:prstGeom>
        </p:spPr>
      </p:pic>
      <p:pic>
        <p:nvPicPr>
          <p:cNvPr id="26" name="Image 2" descr="https://kimi-img.moonshot.cn/pub/slides/slides_tmpl/image/25-08-27-19:57:42-d2nf5dh8bjvh7rlivt0g.png"/>
          <p:cNvPicPr>
            <a:picLocks noChangeAspect="1"/>
          </p:cNvPicPr>
          <p:nvPr/>
        </p:nvPicPr>
        <p:blipFill>
          <a:blip r:embed="rId5"/>
          <a:stretch>
            <a:fillRect/>
          </a:stretch>
        </p:blipFill>
        <p:spPr>
          <a:xfrm>
            <a:off x="9236075" y="4239895"/>
            <a:ext cx="2021205" cy="2214880"/>
          </a:xfrm>
          <a:prstGeom prst="rect">
            <a:avLst/>
          </a:prstGeom>
        </p:spPr>
      </p:pic>
      <p:sp>
        <p:nvSpPr>
          <p:cNvPr id="27" name="Text 22"/>
          <p:cNvSpPr/>
          <p:nvPr/>
        </p:nvSpPr>
        <p:spPr>
          <a:xfrm>
            <a:off x="858520" y="1368425"/>
            <a:ext cx="3070860" cy="385445"/>
          </a:xfrm>
          <a:prstGeom prst="rect">
            <a:avLst/>
          </a:prstGeom>
          <a:noFill/>
          <a:ln/>
        </p:spPr>
        <p:txBody>
          <a:bodyPr wrap="square" lIns="91440" tIns="45720" rIns="91440" bIns="45720" rtlCol="0" anchor="ctr"/>
          <a:lstStyle/>
          <a:p>
            <a:pPr marL="0" indent="0" algn="ctr">
              <a:lnSpc>
                <a:spcPct val="100000"/>
              </a:lnSpc>
              <a:buNone/>
            </a:pPr>
            <a:r>
              <a:rPr lang="en-US" sz="1600" dirty="0">
                <a:solidFill>
                  <a:srgbClr val="FFFFFF"/>
                </a:solidFill>
                <a:latin typeface="MiSans" pitchFamily="34" charset="0"/>
                <a:ea typeface="MiSans" pitchFamily="34" charset="-122"/>
                <a:cs typeface="MiSans" pitchFamily="34" charset="-120"/>
              </a:rPr>
              <a:t>Planes de recolocación</a:t>
            </a:r>
            <a:endParaRPr lang="en-US" sz="1600" dirty="0"/>
          </a:p>
        </p:txBody>
      </p:sp>
      <p:sp>
        <p:nvSpPr>
          <p:cNvPr id="28" name="Text 23"/>
          <p:cNvSpPr/>
          <p:nvPr/>
        </p:nvSpPr>
        <p:spPr>
          <a:xfrm>
            <a:off x="857885" y="1946910"/>
            <a:ext cx="3070860" cy="2292985"/>
          </a:xfrm>
          <a:prstGeom prst="rect">
            <a:avLst/>
          </a:prstGeom>
          <a:noFill/>
          <a:ln/>
        </p:spPr>
        <p:txBody>
          <a:bodyPr wrap="square" lIns="91440" tIns="45720" rIns="91440" bIns="45720" rtlCol="0" anchor="t"/>
          <a:lstStyle/>
          <a:p>
            <a:pPr marL="0" indent="0">
              <a:lnSpc>
                <a:spcPct val="130000"/>
              </a:lnSpc>
              <a:buNone/>
            </a:pPr>
            <a:r>
              <a:rPr lang="en-US" sz="1400" dirty="0">
                <a:solidFill>
                  <a:srgbClr val="000000"/>
                </a:solidFill>
                <a:latin typeface="MiSans" pitchFamily="34" charset="0"/>
                <a:ea typeface="MiSans" pitchFamily="34" charset="-122"/>
                <a:cs typeface="MiSans" pitchFamily="34" charset="-120"/>
              </a:rPr>
              <a:t>Cuando el despido colectivo afecta a más de 50 trabajadores en España, es obligatorio presentar un plan externo de recolocación con formación y orientación. Esto aumenta costes pero facilita reinserción y reduce impacto social del ajuste.</a:t>
            </a:r>
            <a:endParaRPr lang="en-US" sz="1600" dirty="0"/>
          </a:p>
        </p:txBody>
      </p:sp>
      <p:sp>
        <p:nvSpPr>
          <p:cNvPr id="29" name="Text 24"/>
          <p:cNvSpPr/>
          <p:nvPr/>
        </p:nvSpPr>
        <p:spPr>
          <a:xfrm>
            <a:off x="4775200" y="1368425"/>
            <a:ext cx="3070860" cy="385445"/>
          </a:xfrm>
          <a:prstGeom prst="rect">
            <a:avLst/>
          </a:prstGeom>
          <a:noFill/>
          <a:ln/>
        </p:spPr>
        <p:txBody>
          <a:bodyPr wrap="square" lIns="91440" tIns="45720" rIns="91440" bIns="45720" rtlCol="0" anchor="ctr"/>
          <a:lstStyle/>
          <a:p>
            <a:pPr marL="0" indent="0" algn="ctr">
              <a:lnSpc>
                <a:spcPct val="100000"/>
              </a:lnSpc>
              <a:buNone/>
            </a:pPr>
            <a:r>
              <a:rPr lang="en-US" sz="1600" dirty="0">
                <a:solidFill>
                  <a:srgbClr val="FFFFFF"/>
                </a:solidFill>
                <a:latin typeface="MiSans" pitchFamily="34" charset="0"/>
                <a:ea typeface="MiSans" pitchFamily="34" charset="-122"/>
                <a:cs typeface="MiSans" pitchFamily="34" charset="-120"/>
              </a:rPr>
              <a:t>Periodo de consultas</a:t>
            </a:r>
            <a:endParaRPr lang="en-US" sz="1600" dirty="0"/>
          </a:p>
        </p:txBody>
      </p:sp>
      <p:sp>
        <p:nvSpPr>
          <p:cNvPr id="30" name="Text 25"/>
          <p:cNvSpPr/>
          <p:nvPr/>
        </p:nvSpPr>
        <p:spPr>
          <a:xfrm>
            <a:off x="4774565" y="1946910"/>
            <a:ext cx="3070860" cy="2292985"/>
          </a:xfrm>
          <a:prstGeom prst="rect">
            <a:avLst/>
          </a:prstGeom>
          <a:noFill/>
          <a:ln/>
        </p:spPr>
        <p:txBody>
          <a:bodyPr wrap="square" lIns="91440" tIns="45720" rIns="91440" bIns="45720" rtlCol="0" anchor="t"/>
          <a:lstStyle/>
          <a:p>
            <a:pPr marL="0" indent="0">
              <a:lnSpc>
                <a:spcPct val="130000"/>
              </a:lnSpc>
              <a:buNone/>
            </a:pPr>
            <a:r>
              <a:rPr lang="en-US" sz="1400" dirty="0">
                <a:solidFill>
                  <a:srgbClr val="000000"/>
                </a:solidFill>
                <a:latin typeface="MiSans" pitchFamily="34" charset="0"/>
                <a:ea typeface="MiSans" pitchFamily="34" charset="-122"/>
                <a:cs typeface="MiSans" pitchFamily="34" charset="-120"/>
              </a:rPr>
              <a:t>La negociación con representantes debe durar mínimo 30 días (15 en empresas &lt;50 trabajadores). Durante este tiempo se buscan alternativas al despido. Este proceso puede evitar o reducir el número de despidos finales, pero prolonga la incertidumbre.</a:t>
            </a:r>
            <a:endParaRPr lang="en-US" sz="1600" dirty="0"/>
          </a:p>
        </p:txBody>
      </p:sp>
      <p:sp>
        <p:nvSpPr>
          <p:cNvPr id="31" name="Text 26"/>
          <p:cNvSpPr/>
          <p:nvPr/>
        </p:nvSpPr>
        <p:spPr>
          <a:xfrm>
            <a:off x="8629015" y="1368425"/>
            <a:ext cx="3070860" cy="385445"/>
          </a:xfrm>
          <a:prstGeom prst="rect">
            <a:avLst/>
          </a:prstGeom>
          <a:noFill/>
          <a:ln/>
        </p:spPr>
        <p:txBody>
          <a:bodyPr wrap="square" lIns="91440" tIns="45720" rIns="91440" bIns="45720" rtlCol="0" anchor="ctr"/>
          <a:lstStyle/>
          <a:p>
            <a:pPr marL="0" indent="0" algn="ctr">
              <a:lnSpc>
                <a:spcPct val="100000"/>
              </a:lnSpc>
              <a:buNone/>
            </a:pPr>
            <a:r>
              <a:rPr lang="en-US" sz="1600" dirty="0">
                <a:solidFill>
                  <a:srgbClr val="FFFFFF"/>
                </a:solidFill>
                <a:latin typeface="MiSans" pitchFamily="34" charset="0"/>
                <a:ea typeface="MiSans" pitchFamily="34" charset="-122"/>
                <a:cs typeface="MiSans" pitchFamily="34" charset="-120"/>
              </a:rPr>
              <a:t>Notificación a autoridades</a:t>
            </a:r>
            <a:endParaRPr lang="en-US" sz="1600" dirty="0"/>
          </a:p>
        </p:txBody>
      </p:sp>
      <p:sp>
        <p:nvSpPr>
          <p:cNvPr id="32" name="Text 27"/>
          <p:cNvSpPr/>
          <p:nvPr/>
        </p:nvSpPr>
        <p:spPr>
          <a:xfrm>
            <a:off x="8628380" y="1946910"/>
            <a:ext cx="3070860" cy="2292985"/>
          </a:xfrm>
          <a:prstGeom prst="rect">
            <a:avLst/>
          </a:prstGeom>
          <a:noFill/>
          <a:ln/>
        </p:spPr>
        <p:txBody>
          <a:bodyPr wrap="square" lIns="91440" tIns="45720" rIns="91440" bIns="45720" rtlCol="0" anchor="t"/>
          <a:lstStyle/>
          <a:p>
            <a:pPr marL="0" indent="0">
              <a:lnSpc>
                <a:spcPct val="130000"/>
              </a:lnSpc>
              <a:buNone/>
            </a:pPr>
            <a:r>
              <a:rPr lang="en-US" sz="1400" dirty="0">
                <a:solidFill>
                  <a:srgbClr val="000000"/>
                </a:solidFill>
                <a:latin typeface="MiSans" pitchFamily="34" charset="0"/>
                <a:ea typeface="MiSans" pitchFamily="34" charset="-122"/>
                <a:cs typeface="MiSans" pitchFamily="34" charset="-120"/>
              </a:rPr>
              <a:t>Se debe informar a la autoridad laboral, que puede supervisar el proceso. Aunque ya no se requiere autorización previa en muchos países, la notificación permite intervención si se detectan irregularidades o riesgo de fraude.</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09880" y="3422015"/>
            <a:ext cx="3767455" cy="558800"/>
          </a:xfrm>
          <a:prstGeom prst="roundRect">
            <a:avLst>
              <a:gd name="adj" fmla="val 45340"/>
            </a:avLst>
          </a:prstGeom>
          <a:solidFill>
            <a:srgbClr val="00B0F0"/>
          </a:solidFill>
          <a:ln/>
        </p:spPr>
        <p:txBody>
          <a:bodyPr/>
          <a:lstStyle/>
          <a:p>
            <a:endParaRPr lang="es-ES"/>
          </a:p>
        </p:txBody>
      </p:sp>
      <p:sp>
        <p:nvSpPr>
          <p:cNvPr id="3" name="Text 1"/>
          <p:cNvSpPr/>
          <p:nvPr/>
        </p:nvSpPr>
        <p:spPr>
          <a:xfrm>
            <a:off x="309880" y="3422015"/>
            <a:ext cx="3767455" cy="5588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0" y="0"/>
            <a:ext cx="12192000" cy="680720"/>
          </a:xfrm>
          <a:prstGeom prst="rect">
            <a:avLst/>
          </a:prstGeom>
          <a:solidFill>
            <a:srgbClr val="00B0F0"/>
          </a:solidFill>
          <a:ln/>
        </p:spPr>
        <p:txBody>
          <a:bodyPr/>
          <a:lstStyle/>
          <a:p>
            <a:endParaRPr lang="es-ES"/>
          </a:p>
        </p:txBody>
      </p:sp>
      <p:sp>
        <p:nvSpPr>
          <p:cNvPr id="5" name="Text 3"/>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7" name="Text 5"/>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10" name="Shape 8"/>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11" name="Shape 9"/>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2" name="Text 10"/>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3" name="Text 11"/>
          <p:cNvSpPr/>
          <p:nvPr/>
        </p:nvSpPr>
        <p:spPr>
          <a:xfrm>
            <a:off x="2256155" y="142240"/>
            <a:ext cx="7499985" cy="368300"/>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Contratos temporales: límites</a:t>
            </a:r>
            <a:endParaRPr lang="en-US" sz="1600" dirty="0"/>
          </a:p>
        </p:txBody>
      </p:sp>
      <p:sp>
        <p:nvSpPr>
          <p:cNvPr id="14" name="Shape 12"/>
          <p:cNvSpPr/>
          <p:nvPr/>
        </p:nvSpPr>
        <p:spPr>
          <a:xfrm>
            <a:off x="4467860" y="3422015"/>
            <a:ext cx="3767455" cy="558800"/>
          </a:xfrm>
          <a:prstGeom prst="roundRect">
            <a:avLst>
              <a:gd name="adj" fmla="val 45340"/>
            </a:avLst>
          </a:prstGeom>
          <a:solidFill>
            <a:srgbClr val="00B0F0"/>
          </a:solidFill>
          <a:ln/>
        </p:spPr>
        <p:txBody>
          <a:bodyPr/>
          <a:lstStyle/>
          <a:p>
            <a:endParaRPr lang="es-ES"/>
          </a:p>
        </p:txBody>
      </p:sp>
      <p:sp>
        <p:nvSpPr>
          <p:cNvPr id="15" name="Text 13"/>
          <p:cNvSpPr/>
          <p:nvPr/>
        </p:nvSpPr>
        <p:spPr>
          <a:xfrm>
            <a:off x="4467860" y="3422015"/>
            <a:ext cx="3767455" cy="558800"/>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6" name="Image 0" descr="https://kimi-img.moonshot.cn/pub/slides/slides_tmpl/image/25-08-27-19:57:42-d2nf5dh8bjvh7rlivss0.png"/>
          <p:cNvPicPr>
            <a:picLocks noChangeAspect="1"/>
          </p:cNvPicPr>
          <p:nvPr/>
        </p:nvPicPr>
        <p:blipFill>
          <a:blip r:embed="rId3"/>
          <a:stretch>
            <a:fillRect/>
          </a:stretch>
        </p:blipFill>
        <p:spPr>
          <a:xfrm>
            <a:off x="7346950" y="1091565"/>
            <a:ext cx="5715635" cy="5069840"/>
          </a:xfrm>
          <a:prstGeom prst="rect">
            <a:avLst/>
          </a:prstGeom>
        </p:spPr>
      </p:pic>
      <p:sp>
        <p:nvSpPr>
          <p:cNvPr id="17" name="Text 14"/>
          <p:cNvSpPr/>
          <p:nvPr/>
        </p:nvSpPr>
        <p:spPr>
          <a:xfrm>
            <a:off x="309880" y="1179195"/>
            <a:ext cx="6448425" cy="487561"/>
          </a:xfrm>
          <a:prstGeom prst="rect">
            <a:avLst/>
          </a:prstGeom>
          <a:noFill/>
          <a:ln/>
        </p:spPr>
        <p:txBody>
          <a:bodyPr wrap="square" lIns="91440" tIns="45720" rIns="91440" bIns="45720" rtlCol="0" anchor="t">
            <a:spAutoFit/>
          </a:bodyPr>
          <a:lstStyle/>
          <a:p>
            <a:pPr marL="0" indent="0">
              <a:lnSpc>
                <a:spcPct val="100000"/>
              </a:lnSpc>
              <a:buNone/>
            </a:pPr>
            <a:r>
              <a:rPr lang="en-US" sz="3200" b="1" dirty="0">
                <a:solidFill>
                  <a:srgbClr val="00B0F0"/>
                </a:solidFill>
                <a:latin typeface="MiSans" pitchFamily="34" charset="0"/>
                <a:ea typeface="MiSans" pitchFamily="34" charset="-122"/>
                <a:cs typeface="MiSans" pitchFamily="34" charset="-120"/>
              </a:rPr>
              <a:t>Causas justificadas</a:t>
            </a:r>
            <a:endParaRPr lang="en-US" sz="1600" dirty="0"/>
          </a:p>
        </p:txBody>
      </p:sp>
      <p:sp>
        <p:nvSpPr>
          <p:cNvPr id="18" name="Text 15"/>
          <p:cNvSpPr/>
          <p:nvPr/>
        </p:nvSpPr>
        <p:spPr>
          <a:xfrm>
            <a:off x="309880" y="1924050"/>
            <a:ext cx="7887970" cy="1314450"/>
          </a:xfrm>
          <a:prstGeom prst="rect">
            <a:avLst/>
          </a:prstGeom>
          <a:noFill/>
          <a:ln/>
        </p:spPr>
        <p:txBody>
          <a:bodyPr wrap="square" lIns="91440" tIns="45720" rIns="91440" bIns="45720" rtlCol="0" anchor="t"/>
          <a:lstStyle/>
          <a:p>
            <a:pPr marL="0" indent="0">
              <a:lnSpc>
                <a:spcPct val="130000"/>
              </a:lnSpc>
              <a:buNone/>
            </a:pPr>
            <a:r>
              <a:rPr lang="en-US" sz="1600" dirty="0">
                <a:solidFill>
                  <a:srgbClr val="000000"/>
                </a:solidFill>
                <a:latin typeface="MiSans" pitchFamily="34" charset="0"/>
                <a:ea typeface="MiSans" pitchFamily="34" charset="-122"/>
                <a:cs typeface="MiSans" pitchFamily="34" charset="-120"/>
              </a:rPr>
              <a:t>El EPL evalúa para qué situaciones se permite contratación temporal. España ha restringido su uso a circunstancias verdaderamente temporales (sustituciones, picos de demanda, obra determinada). Limitar causas reduce abuso pero requiere ofrecer alternativas de ajuste interno.</a:t>
            </a:r>
            <a:endParaRPr lang="en-US" sz="1600" dirty="0"/>
          </a:p>
        </p:txBody>
      </p:sp>
      <p:sp>
        <p:nvSpPr>
          <p:cNvPr id="19" name="Text 16"/>
          <p:cNvSpPr/>
          <p:nvPr/>
        </p:nvSpPr>
        <p:spPr>
          <a:xfrm>
            <a:off x="377190" y="3483084"/>
            <a:ext cx="3662680" cy="303411"/>
          </a:xfrm>
          <a:prstGeom prst="rect">
            <a:avLst/>
          </a:prstGeom>
          <a:noFill/>
          <a:ln/>
        </p:spPr>
        <p:txBody>
          <a:bodyPr wrap="square" lIns="91440" tIns="45720" rIns="91440" bIns="45720" rtlCol="0" anchor="t">
            <a:spAutoFit/>
          </a:bodyPr>
          <a:lstStyle/>
          <a:p>
            <a:pPr marL="0" indent="0" algn="ctr">
              <a:lnSpc>
                <a:spcPct val="100000"/>
              </a:lnSpc>
              <a:buNone/>
            </a:pPr>
            <a:r>
              <a:rPr lang="en-US" sz="2000" dirty="0">
                <a:solidFill>
                  <a:srgbClr val="FFFFFF"/>
                </a:solidFill>
                <a:latin typeface="MiSans" pitchFamily="34" charset="0"/>
                <a:ea typeface="MiSans" pitchFamily="34" charset="-122"/>
                <a:cs typeface="MiSans" pitchFamily="34" charset="-120"/>
              </a:rPr>
              <a:t>Duración y reutilización</a:t>
            </a:r>
            <a:endParaRPr lang="en-US" sz="1600" dirty="0"/>
          </a:p>
        </p:txBody>
      </p:sp>
      <p:sp>
        <p:nvSpPr>
          <p:cNvPr id="20" name="Text 17"/>
          <p:cNvSpPr/>
          <p:nvPr/>
        </p:nvSpPr>
        <p:spPr>
          <a:xfrm>
            <a:off x="309880" y="4195445"/>
            <a:ext cx="3845560" cy="1773555"/>
          </a:xfrm>
          <a:prstGeom prst="rect">
            <a:avLst/>
          </a:prstGeom>
          <a:noFill/>
          <a:ln/>
        </p:spPr>
        <p:txBody>
          <a:bodyPr wrap="square" lIns="91440" tIns="45720" rIns="91440" bIns="45720" rtlCol="0" anchor="t"/>
          <a:lstStyle/>
          <a:p>
            <a:pPr marL="0" indent="0">
              <a:lnSpc>
                <a:spcPct val="130000"/>
              </a:lnSpc>
              <a:buNone/>
            </a:pPr>
            <a:r>
              <a:rPr lang="en-US" sz="1400" dirty="0">
                <a:solidFill>
                  <a:srgbClr val="000000"/>
                </a:solidFill>
                <a:latin typeface="MiSans" pitchFamily="34" charset="0"/>
                <a:ea typeface="MiSans" pitchFamily="34" charset="-122"/>
                <a:cs typeface="MiSans" pitchFamily="34" charset="-120"/>
              </a:rPr>
              <a:t>Se analizan límites de duración y número de renovaciones. En España, el encadenamiento de temporales no puede superar 18 meses en 24; tras ello, se convierte en indefinido. Esto busca evitar precariedad crónica pero puede generar rechazo empresarial si no hay flexibilidad interna.</a:t>
            </a:r>
            <a:endParaRPr lang="en-US" sz="1600" dirty="0"/>
          </a:p>
        </p:txBody>
      </p:sp>
      <p:sp>
        <p:nvSpPr>
          <p:cNvPr id="21" name="Text 18"/>
          <p:cNvSpPr/>
          <p:nvPr/>
        </p:nvSpPr>
        <p:spPr>
          <a:xfrm>
            <a:off x="4535170" y="3483084"/>
            <a:ext cx="3662680" cy="303411"/>
          </a:xfrm>
          <a:prstGeom prst="rect">
            <a:avLst/>
          </a:prstGeom>
          <a:noFill/>
          <a:ln/>
        </p:spPr>
        <p:txBody>
          <a:bodyPr wrap="square" lIns="91440" tIns="45720" rIns="91440" bIns="45720" rtlCol="0" anchor="t">
            <a:spAutoFit/>
          </a:bodyPr>
          <a:lstStyle/>
          <a:p>
            <a:pPr marL="0" indent="0" algn="ctr">
              <a:lnSpc>
                <a:spcPct val="100000"/>
              </a:lnSpc>
              <a:buNone/>
            </a:pPr>
            <a:r>
              <a:rPr lang="en-US" sz="2000" dirty="0">
                <a:solidFill>
                  <a:srgbClr val="FFFFFF"/>
                </a:solidFill>
                <a:latin typeface="MiSans" pitchFamily="34" charset="0"/>
                <a:ea typeface="MiSans" pitchFamily="34" charset="-122"/>
                <a:cs typeface="MiSans" pitchFamily="34" charset="-120"/>
              </a:rPr>
              <a:t>Regulación de ETT</a:t>
            </a:r>
            <a:endParaRPr lang="en-US" sz="1600" dirty="0"/>
          </a:p>
        </p:txBody>
      </p:sp>
      <p:sp>
        <p:nvSpPr>
          <p:cNvPr id="22" name="Text 19"/>
          <p:cNvSpPr/>
          <p:nvPr/>
        </p:nvSpPr>
        <p:spPr>
          <a:xfrm>
            <a:off x="4467860" y="4195445"/>
            <a:ext cx="3845560" cy="1965960"/>
          </a:xfrm>
          <a:prstGeom prst="rect">
            <a:avLst/>
          </a:prstGeom>
          <a:noFill/>
          <a:ln/>
        </p:spPr>
        <p:txBody>
          <a:bodyPr wrap="square" lIns="91440" tIns="45720" rIns="91440" bIns="45720" rtlCol="0" anchor="t"/>
          <a:lstStyle/>
          <a:p>
            <a:pPr marL="0" indent="0">
              <a:lnSpc>
                <a:spcPct val="130000"/>
              </a:lnSpc>
              <a:buNone/>
            </a:pPr>
            <a:r>
              <a:rPr lang="en-US" sz="1400" dirty="0">
                <a:solidFill>
                  <a:srgbClr val="000000"/>
                </a:solidFill>
                <a:latin typeface="MiSans" pitchFamily="34" charset="0"/>
                <a:ea typeface="MiSans" pitchFamily="34" charset="-122"/>
                <a:cs typeface="MiSans" pitchFamily="34" charset="-120"/>
              </a:rPr>
              <a:t>El índice valora restricciones a empresas de trabajo temporal: sectores permitidos, duración máxima y derechos de los cedidos. Un uso intensivo de ETT puede flexibilizar el mercado pero también fragmentar relaciones laborales y reducir formación en origen.</a:t>
            </a:r>
            <a:endParaRPr lang="en-US" sz="16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142240"/>
            <a:ext cx="7499985" cy="368300"/>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Limitaciones del índice EPL</a:t>
            </a:r>
            <a:endParaRPr lang="en-US" sz="1600" dirty="0"/>
          </a:p>
        </p:txBody>
      </p:sp>
      <p:sp>
        <p:nvSpPr>
          <p:cNvPr id="12" name="Shape 10"/>
          <p:cNvSpPr/>
          <p:nvPr/>
        </p:nvSpPr>
        <p:spPr>
          <a:xfrm>
            <a:off x="509905" y="1094105"/>
            <a:ext cx="85725" cy="343535"/>
          </a:xfrm>
          <a:prstGeom prst="rect">
            <a:avLst/>
          </a:prstGeom>
          <a:solidFill>
            <a:srgbClr val="00B0F0"/>
          </a:solidFill>
          <a:ln/>
        </p:spPr>
        <p:txBody>
          <a:bodyPr/>
          <a:lstStyle/>
          <a:p>
            <a:endParaRPr lang="es-ES"/>
          </a:p>
        </p:txBody>
      </p:sp>
      <p:sp>
        <p:nvSpPr>
          <p:cNvPr id="13" name="Text 11"/>
          <p:cNvSpPr/>
          <p:nvPr/>
        </p:nvSpPr>
        <p:spPr>
          <a:xfrm>
            <a:off x="509905" y="1094105"/>
            <a:ext cx="85725" cy="3435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562293" y="2639060"/>
            <a:ext cx="8556625" cy="0"/>
          </a:xfrm>
          <a:prstGeom prst="line">
            <a:avLst/>
          </a:prstGeom>
          <a:noFill/>
          <a:ln w="12700">
            <a:solidFill>
              <a:srgbClr val="595959"/>
            </a:solidFill>
            <a:prstDash val="dash"/>
            <a:headEnd type="none"/>
            <a:tailEnd type="none"/>
          </a:ln>
        </p:spPr>
        <p:txBody>
          <a:bodyPr/>
          <a:lstStyle/>
          <a:p>
            <a:endParaRPr lang="es-ES"/>
          </a:p>
        </p:txBody>
      </p:sp>
      <p:sp>
        <p:nvSpPr>
          <p:cNvPr id="15" name="Shape 13"/>
          <p:cNvSpPr/>
          <p:nvPr/>
        </p:nvSpPr>
        <p:spPr>
          <a:xfrm>
            <a:off x="562293" y="4533265"/>
            <a:ext cx="8556625" cy="0"/>
          </a:xfrm>
          <a:prstGeom prst="line">
            <a:avLst/>
          </a:prstGeom>
          <a:noFill/>
          <a:ln w="12700">
            <a:solidFill>
              <a:srgbClr val="595959"/>
            </a:solidFill>
            <a:prstDash val="dash"/>
            <a:headEnd type="none"/>
            <a:tailEnd type="none"/>
          </a:ln>
        </p:spPr>
        <p:txBody>
          <a:bodyPr/>
          <a:lstStyle/>
          <a:p>
            <a:endParaRPr lang="es-ES"/>
          </a:p>
        </p:txBody>
      </p:sp>
      <p:sp>
        <p:nvSpPr>
          <p:cNvPr id="16" name="Shape 14"/>
          <p:cNvSpPr/>
          <p:nvPr/>
        </p:nvSpPr>
        <p:spPr>
          <a:xfrm>
            <a:off x="562293" y="6448425"/>
            <a:ext cx="8556625" cy="0"/>
          </a:xfrm>
          <a:prstGeom prst="line">
            <a:avLst/>
          </a:prstGeom>
          <a:noFill/>
          <a:ln w="12700">
            <a:solidFill>
              <a:srgbClr val="595959"/>
            </a:solidFill>
            <a:prstDash val="dash"/>
            <a:headEnd type="none"/>
            <a:tailEnd type="none"/>
          </a:ln>
        </p:spPr>
        <p:txBody>
          <a:bodyPr/>
          <a:lstStyle/>
          <a:p>
            <a:endParaRPr lang="es-ES"/>
          </a:p>
        </p:txBody>
      </p:sp>
      <p:pic>
        <p:nvPicPr>
          <p:cNvPr id="17" name="Image 0" descr="https://kimi-img.moonshot.cn/pub/slides/slides_tmpl/image/25-08-27-19:57:43-d2nf5dp8bjvh7rlivt10.png"/>
          <p:cNvPicPr>
            <a:picLocks noChangeAspect="1"/>
          </p:cNvPicPr>
          <p:nvPr/>
        </p:nvPicPr>
        <p:blipFill>
          <a:blip r:embed="rId3"/>
          <a:stretch>
            <a:fillRect/>
          </a:stretch>
        </p:blipFill>
        <p:spPr>
          <a:xfrm>
            <a:off x="9371330" y="1852930"/>
            <a:ext cx="2673985" cy="3923030"/>
          </a:xfrm>
          <a:prstGeom prst="rect">
            <a:avLst/>
          </a:prstGeom>
        </p:spPr>
      </p:pic>
      <p:sp>
        <p:nvSpPr>
          <p:cNvPr id="18" name="Shape 15"/>
          <p:cNvSpPr/>
          <p:nvPr/>
        </p:nvSpPr>
        <p:spPr>
          <a:xfrm>
            <a:off x="509905" y="2901950"/>
            <a:ext cx="85725" cy="343535"/>
          </a:xfrm>
          <a:prstGeom prst="rect">
            <a:avLst/>
          </a:prstGeom>
          <a:solidFill>
            <a:srgbClr val="00B0F0"/>
          </a:solidFill>
          <a:ln/>
        </p:spPr>
        <p:txBody>
          <a:bodyPr/>
          <a:lstStyle/>
          <a:p>
            <a:endParaRPr lang="es-ES"/>
          </a:p>
        </p:txBody>
      </p:sp>
      <p:sp>
        <p:nvSpPr>
          <p:cNvPr id="19" name="Text 16"/>
          <p:cNvSpPr/>
          <p:nvPr/>
        </p:nvSpPr>
        <p:spPr>
          <a:xfrm>
            <a:off x="509905" y="2901950"/>
            <a:ext cx="85725" cy="3435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0" name="Shape 17"/>
          <p:cNvSpPr/>
          <p:nvPr/>
        </p:nvSpPr>
        <p:spPr>
          <a:xfrm>
            <a:off x="509905" y="4848225"/>
            <a:ext cx="85725" cy="343535"/>
          </a:xfrm>
          <a:prstGeom prst="rect">
            <a:avLst/>
          </a:prstGeom>
          <a:solidFill>
            <a:srgbClr val="00B0F0"/>
          </a:solidFill>
          <a:ln/>
        </p:spPr>
        <p:txBody>
          <a:bodyPr/>
          <a:lstStyle/>
          <a:p>
            <a:endParaRPr lang="es-ES"/>
          </a:p>
        </p:txBody>
      </p:sp>
      <p:sp>
        <p:nvSpPr>
          <p:cNvPr id="21" name="Text 18"/>
          <p:cNvSpPr/>
          <p:nvPr/>
        </p:nvSpPr>
        <p:spPr>
          <a:xfrm>
            <a:off x="509905" y="4848225"/>
            <a:ext cx="85725" cy="3435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2" name="Text 19"/>
          <p:cNvSpPr/>
          <p:nvPr/>
        </p:nvSpPr>
        <p:spPr>
          <a:xfrm>
            <a:off x="595313" y="1045319"/>
            <a:ext cx="4358640" cy="400110"/>
          </a:xfrm>
          <a:prstGeom prst="rect">
            <a:avLst/>
          </a:prstGeom>
          <a:noFill/>
          <a:ln/>
        </p:spPr>
        <p:txBody>
          <a:bodyPr wrap="square" lIns="91440" tIns="45720" rIns="91440" bIns="45720" rtlCol="0" anchor="t">
            <a:spAutoFit/>
          </a:bodyPr>
          <a:lstStyle/>
          <a:p>
            <a:pPr marL="0" indent="0">
              <a:lnSpc>
                <a:spcPct val="100000"/>
              </a:lnSpc>
              <a:buNone/>
            </a:pPr>
            <a:r>
              <a:rPr lang="en-US" sz="2000" dirty="0">
                <a:solidFill>
                  <a:srgbClr val="00B0F0"/>
                </a:solidFill>
                <a:latin typeface="MiSans" pitchFamily="34" charset="0"/>
                <a:ea typeface="MiSans" pitchFamily="34" charset="-122"/>
                <a:cs typeface="MiSans" pitchFamily="34" charset="-120"/>
              </a:rPr>
              <a:t>No captura toda la reforma</a:t>
            </a:r>
            <a:endParaRPr lang="en-US" sz="1400" dirty="0"/>
          </a:p>
        </p:txBody>
      </p:sp>
      <p:sp>
        <p:nvSpPr>
          <p:cNvPr id="23" name="Text 20"/>
          <p:cNvSpPr/>
          <p:nvPr/>
        </p:nvSpPr>
        <p:spPr>
          <a:xfrm>
            <a:off x="562293" y="1511300"/>
            <a:ext cx="8551545" cy="1143000"/>
          </a:xfrm>
          <a:prstGeom prst="rect">
            <a:avLst/>
          </a:prstGeom>
          <a:noFill/>
          <a:ln/>
        </p:spPr>
        <p:txBody>
          <a:bodyPr wrap="square" lIns="91440" tIns="45720" rIns="91440" bIns="45720" rtlCol="0" anchor="t"/>
          <a:lstStyle/>
          <a:p>
            <a:pPr marL="0" indent="0">
              <a:lnSpc>
                <a:spcPct val="130000"/>
              </a:lnSpc>
              <a:buNone/>
            </a:pPr>
            <a:r>
              <a:rPr lang="en-US" sz="1400" dirty="0">
                <a:solidFill>
                  <a:srgbClr val="000000"/>
                </a:solidFill>
                <a:latin typeface="MiSans" pitchFamily="34" charset="0"/>
                <a:ea typeface="MiSans" pitchFamily="34" charset="-122"/>
                <a:cs typeface="MiSans" pitchFamily="34" charset="-120"/>
              </a:rPr>
              <a:t>Cambios legales importantes pueden no reflejarse si no afectan a los 18 indicadores básicos. Por ejemplo, modificaciones en procedimientos judiciales o fiscalización pueden tener gran impacto real pero puntuación EPL baja, limitando su utilidad como guía de política.</a:t>
            </a:r>
            <a:endParaRPr lang="en-US" sz="1400" dirty="0"/>
          </a:p>
        </p:txBody>
      </p:sp>
      <p:sp>
        <p:nvSpPr>
          <p:cNvPr id="24" name="Text 21"/>
          <p:cNvSpPr/>
          <p:nvPr/>
        </p:nvSpPr>
        <p:spPr>
          <a:xfrm>
            <a:off x="595313" y="2853164"/>
            <a:ext cx="4358640" cy="400110"/>
          </a:xfrm>
          <a:prstGeom prst="rect">
            <a:avLst/>
          </a:prstGeom>
          <a:noFill/>
          <a:ln/>
        </p:spPr>
        <p:txBody>
          <a:bodyPr wrap="square" lIns="91440" tIns="45720" rIns="91440" bIns="45720" rtlCol="0" anchor="t">
            <a:spAutoFit/>
          </a:bodyPr>
          <a:lstStyle/>
          <a:p>
            <a:pPr marL="0" indent="0">
              <a:lnSpc>
                <a:spcPct val="100000"/>
              </a:lnSpc>
              <a:buNone/>
            </a:pPr>
            <a:r>
              <a:rPr lang="en-US" sz="2000" dirty="0">
                <a:solidFill>
                  <a:srgbClr val="00B0F0"/>
                </a:solidFill>
                <a:latin typeface="MiSans" pitchFamily="34" charset="0"/>
                <a:ea typeface="MiSans" pitchFamily="34" charset="-122"/>
                <a:cs typeface="MiSans" pitchFamily="34" charset="-120"/>
              </a:rPr>
              <a:t>Simplifica sistemas complejos</a:t>
            </a:r>
            <a:endParaRPr lang="en-US" sz="1400" dirty="0"/>
          </a:p>
        </p:txBody>
      </p:sp>
      <p:sp>
        <p:nvSpPr>
          <p:cNvPr id="25" name="Text 22"/>
          <p:cNvSpPr/>
          <p:nvPr/>
        </p:nvSpPr>
        <p:spPr>
          <a:xfrm>
            <a:off x="562293" y="3405505"/>
            <a:ext cx="8551545" cy="1143000"/>
          </a:xfrm>
          <a:prstGeom prst="rect">
            <a:avLst/>
          </a:prstGeom>
          <a:noFill/>
          <a:ln/>
        </p:spPr>
        <p:txBody>
          <a:bodyPr wrap="square" lIns="91440" tIns="45720" rIns="91440" bIns="45720" rtlCol="0" anchor="t"/>
          <a:lstStyle/>
          <a:p>
            <a:pPr marL="0" indent="0">
              <a:lnSpc>
                <a:spcPct val="130000"/>
              </a:lnSpc>
              <a:buNone/>
            </a:pPr>
            <a:r>
              <a:rPr lang="en-US" sz="1400" dirty="0">
                <a:solidFill>
                  <a:srgbClr val="000000"/>
                </a:solidFill>
                <a:latin typeface="MiSans" pitchFamily="34" charset="0"/>
                <a:ea typeface="MiSans" pitchFamily="34" charset="-122"/>
                <a:cs typeface="MiSans" pitchFamily="34" charset="-120"/>
              </a:rPr>
              <a:t>Reducir matices legales y culturales a una escala numérica implica pérdida de información. Dos países con mismo puntaje pueden tener aplicación muy distinta en la práctica, por lo que el índice debe complementarse con estudios cualitativos y datos nacionales desagregados.</a:t>
            </a:r>
            <a:endParaRPr lang="en-US" sz="1400" dirty="0"/>
          </a:p>
        </p:txBody>
      </p:sp>
      <p:sp>
        <p:nvSpPr>
          <p:cNvPr id="26" name="Text 23"/>
          <p:cNvSpPr/>
          <p:nvPr/>
        </p:nvSpPr>
        <p:spPr>
          <a:xfrm>
            <a:off x="595313" y="4799439"/>
            <a:ext cx="4358640" cy="400110"/>
          </a:xfrm>
          <a:prstGeom prst="rect">
            <a:avLst/>
          </a:prstGeom>
          <a:noFill/>
          <a:ln/>
        </p:spPr>
        <p:txBody>
          <a:bodyPr wrap="square" lIns="91440" tIns="45720" rIns="91440" bIns="45720" rtlCol="0" anchor="t">
            <a:spAutoFit/>
          </a:bodyPr>
          <a:lstStyle/>
          <a:p>
            <a:pPr marL="0" indent="0">
              <a:lnSpc>
                <a:spcPct val="100000"/>
              </a:lnSpc>
              <a:buNone/>
            </a:pPr>
            <a:r>
              <a:rPr lang="en-US" sz="2000" dirty="0">
                <a:solidFill>
                  <a:srgbClr val="00B0F0"/>
                </a:solidFill>
                <a:latin typeface="MiSans" pitchFamily="34" charset="0"/>
                <a:ea typeface="MiSans" pitchFamily="34" charset="-122"/>
                <a:cs typeface="MiSans" pitchFamily="34" charset="-120"/>
              </a:rPr>
              <a:t>Omite cumplimiento real</a:t>
            </a:r>
            <a:endParaRPr lang="en-US" sz="1400" dirty="0"/>
          </a:p>
        </p:txBody>
      </p:sp>
      <p:sp>
        <p:nvSpPr>
          <p:cNvPr id="27" name="Text 24"/>
          <p:cNvSpPr/>
          <p:nvPr/>
        </p:nvSpPr>
        <p:spPr>
          <a:xfrm>
            <a:off x="562293" y="5320665"/>
            <a:ext cx="8551545" cy="1143000"/>
          </a:xfrm>
          <a:prstGeom prst="rect">
            <a:avLst/>
          </a:prstGeom>
          <a:noFill/>
          <a:ln/>
        </p:spPr>
        <p:txBody>
          <a:bodyPr wrap="square" lIns="91440" tIns="45720" rIns="91440" bIns="45720" rtlCol="0" anchor="t"/>
          <a:lstStyle/>
          <a:p>
            <a:pPr marL="0" indent="0">
              <a:lnSpc>
                <a:spcPct val="130000"/>
              </a:lnSpc>
              <a:buNone/>
            </a:pPr>
            <a:r>
              <a:rPr lang="en-US" sz="1400" dirty="0">
                <a:solidFill>
                  <a:srgbClr val="000000"/>
                </a:solidFill>
                <a:latin typeface="MiSans" pitchFamily="34" charset="0"/>
                <a:ea typeface="MiSans" pitchFamily="34" charset="-122"/>
                <a:cs typeface="MiSans" pitchFamily="34" charset="-120"/>
              </a:rPr>
              <a:t>No mide duración de procesos judiciales, tasa de impago de indemnizaciones o grado de informalidad. Un país puede tener leyes estrictas pero aplicación laxa, o viceversa, por lo que el indicador debe usarse junto a evaluaciones de enforcement y resultados laborales.</a:t>
            </a:r>
            <a:endParaRPr lang="en-US" sz="14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Imagen 3" descr="Gráfico, Gráfico de barras&#10;&#10;El contenido generado por IA puede ser incorrecto.">
            <a:extLst>
              <a:ext uri="{FF2B5EF4-FFF2-40B4-BE49-F238E27FC236}">
                <a16:creationId xmlns:a16="http://schemas.microsoft.com/office/drawing/2014/main" id="{5A663A79-F83D-D256-7BE1-53067102B47B}"/>
              </a:ext>
            </a:extLst>
          </p:cNvPr>
          <p:cNvPicPr>
            <a:picLocks noChangeAspect="1"/>
          </p:cNvPicPr>
          <p:nvPr/>
        </p:nvPicPr>
        <p:blipFill>
          <a:blip r:embed="rId2"/>
          <a:stretch>
            <a:fillRect/>
          </a:stretch>
        </p:blipFill>
        <p:spPr>
          <a:xfrm>
            <a:off x="1334403" y="643466"/>
            <a:ext cx="9523193" cy="5571067"/>
          </a:xfrm>
          <a:prstGeom prst="rect">
            <a:avLst/>
          </a:prstGeom>
        </p:spPr>
      </p:pic>
      <p:sp>
        <p:nvSpPr>
          <p:cNvPr id="2" name="AutoShape 2">
            <a:extLst>
              <a:ext uri="{FF2B5EF4-FFF2-40B4-BE49-F238E27FC236}">
                <a16:creationId xmlns:a16="http://schemas.microsoft.com/office/drawing/2014/main" id="{B643B20E-7553-1180-2539-DA0CFB5F19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97966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19:57:41-d2nf5d98bjvh7rlivsmg.png"/>
          <p:cNvPicPr>
            <a:picLocks noChangeAspect="1"/>
          </p:cNvPicPr>
          <p:nvPr/>
        </p:nvPicPr>
        <p:blipFill>
          <a:blip r:embed="rId3"/>
          <a:stretch>
            <a:fillRect/>
          </a:stretch>
        </p:blipFill>
        <p:spPr>
          <a:xfrm>
            <a:off x="4558665" y="1141095"/>
            <a:ext cx="3619500" cy="3912870"/>
          </a:xfrm>
          <a:prstGeom prst="rect">
            <a:avLst/>
          </a:prstGeom>
        </p:spPr>
      </p:pic>
      <p:sp>
        <p:nvSpPr>
          <p:cNvPr id="3" name="Shape 0"/>
          <p:cNvSpPr/>
          <p:nvPr/>
        </p:nvSpPr>
        <p:spPr>
          <a:xfrm>
            <a:off x="2047240" y="5053965"/>
            <a:ext cx="8642985" cy="1199515"/>
          </a:xfrm>
          <a:prstGeom prst="roundRect">
            <a:avLst>
              <a:gd name="adj" fmla="val 50000"/>
            </a:avLst>
          </a:prstGeom>
          <a:solidFill>
            <a:srgbClr val="00B0F0"/>
          </a:solidFill>
          <a:ln w="57150">
            <a:solidFill>
              <a:srgbClr val="FFFFFF">
                <a:alpha val="0"/>
              </a:srgbClr>
            </a:solidFill>
            <a:prstDash val="solid"/>
          </a:ln>
        </p:spPr>
        <p:txBody>
          <a:bodyPr/>
          <a:lstStyle/>
          <a:p>
            <a:endParaRPr lang="es-ES"/>
          </a:p>
        </p:txBody>
      </p:sp>
      <p:sp>
        <p:nvSpPr>
          <p:cNvPr id="4" name="Text 1"/>
          <p:cNvSpPr/>
          <p:nvPr/>
        </p:nvSpPr>
        <p:spPr>
          <a:xfrm>
            <a:off x="2047240" y="5053965"/>
            <a:ext cx="8642985" cy="11995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a:off x="1920240" y="4884420"/>
            <a:ext cx="8642985" cy="1199515"/>
          </a:xfrm>
          <a:prstGeom prst="roundRect">
            <a:avLst>
              <a:gd name="adj" fmla="val 50000"/>
            </a:avLst>
          </a:prstGeom>
          <a:solidFill>
            <a:srgbClr val="FFFFFF"/>
          </a:solidFill>
          <a:ln w="57150">
            <a:solidFill>
              <a:srgbClr val="000000"/>
            </a:solidFill>
            <a:prstDash val="solid"/>
          </a:ln>
        </p:spPr>
        <p:txBody>
          <a:bodyPr/>
          <a:lstStyle/>
          <a:p>
            <a:endParaRPr lang="es-ES"/>
          </a:p>
        </p:txBody>
      </p:sp>
      <p:sp>
        <p:nvSpPr>
          <p:cNvPr id="6" name="Text 3"/>
          <p:cNvSpPr/>
          <p:nvPr/>
        </p:nvSpPr>
        <p:spPr>
          <a:xfrm>
            <a:off x="1920240" y="4884420"/>
            <a:ext cx="8642985" cy="11995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7" name="Text 4"/>
          <p:cNvSpPr/>
          <p:nvPr/>
        </p:nvSpPr>
        <p:spPr>
          <a:xfrm>
            <a:off x="1920240" y="5045710"/>
            <a:ext cx="8643620" cy="828675"/>
          </a:xfrm>
          <a:prstGeom prst="rect">
            <a:avLst/>
          </a:prstGeom>
          <a:noFill/>
          <a:ln/>
        </p:spPr>
        <p:txBody>
          <a:bodyPr wrap="square" lIns="91440" tIns="45720" rIns="91440" bIns="45720" rtlCol="0" anchor="ctr">
            <a:spAutoFit/>
          </a:bodyPr>
          <a:lstStyle/>
          <a:p>
            <a:pPr marL="0" indent="0" algn="ctr">
              <a:lnSpc>
                <a:spcPct val="100000"/>
              </a:lnSpc>
              <a:buNone/>
            </a:pPr>
            <a:r>
              <a:rPr lang="en-US" sz="5400" b="1" dirty="0">
                <a:solidFill>
                  <a:srgbClr val="000000"/>
                </a:solidFill>
                <a:latin typeface="MiSans" pitchFamily="34" charset="0"/>
                <a:ea typeface="MiSans" pitchFamily="34" charset="-122"/>
                <a:cs typeface="MiSans" pitchFamily="34" charset="-120"/>
              </a:rPr>
              <a:t>Flexibilidad Interna</a:t>
            </a:r>
            <a:endParaRPr lang="en-US" sz="1600" dirty="0"/>
          </a:p>
        </p:txBody>
      </p:sp>
      <p:sp>
        <p:nvSpPr>
          <p:cNvPr id="8" name="Text 5"/>
          <p:cNvSpPr/>
          <p:nvPr/>
        </p:nvSpPr>
        <p:spPr>
          <a:xfrm>
            <a:off x="3447415" y="256898"/>
            <a:ext cx="5640070" cy="1107996"/>
          </a:xfrm>
          <a:prstGeom prst="rect">
            <a:avLst/>
          </a:prstGeom>
          <a:noFill/>
          <a:ln/>
        </p:spPr>
        <p:txBody>
          <a:bodyPr wrap="square" lIns="91440" tIns="45720" rIns="91440" bIns="45720" rtlCol="0" anchor="ctr">
            <a:spAutoFit/>
          </a:bodyPr>
          <a:lstStyle/>
          <a:p>
            <a:pPr marL="0" indent="0" algn="ctr">
              <a:lnSpc>
                <a:spcPct val="100000"/>
              </a:lnSpc>
              <a:buNone/>
            </a:pPr>
            <a:r>
              <a:rPr lang="en-US" sz="6600" b="1" dirty="0">
                <a:solidFill>
                  <a:srgbClr val="000000"/>
                </a:solidFill>
                <a:latin typeface="MiSans" pitchFamily="34" charset="0"/>
                <a:ea typeface="MiSans" pitchFamily="34" charset="-122"/>
                <a:cs typeface="MiSans" pitchFamily="34" charset="-120"/>
              </a:rPr>
              <a:t>PARTE  04</a:t>
            </a:r>
            <a:endParaRPr lang="en-US" sz="1600" dirty="0"/>
          </a:p>
        </p:txBody>
      </p:sp>
      <p:sp>
        <p:nvSpPr>
          <p:cNvPr id="9" name="Shape 6"/>
          <p:cNvSpPr/>
          <p:nvPr/>
        </p:nvSpPr>
        <p:spPr>
          <a:xfrm>
            <a:off x="291465" y="6075045"/>
            <a:ext cx="607496" cy="0"/>
          </a:xfrm>
          <a:prstGeom prst="line">
            <a:avLst/>
          </a:prstGeom>
          <a:noFill/>
          <a:ln w="57150">
            <a:solidFill>
              <a:srgbClr val="00B0F0"/>
            </a:solidFill>
            <a:prstDash val="solid"/>
            <a:headEnd type="none"/>
            <a:tailEnd type="none"/>
          </a:ln>
        </p:spPr>
        <p:txBody>
          <a:bodyPr/>
          <a:lstStyle/>
          <a:p>
            <a:endParaRPr lang="es-ES"/>
          </a:p>
        </p:txBody>
      </p:sp>
      <p:sp>
        <p:nvSpPr>
          <p:cNvPr id="10" name="Shape 7"/>
          <p:cNvSpPr/>
          <p:nvPr/>
        </p:nvSpPr>
        <p:spPr>
          <a:xfrm>
            <a:off x="291465" y="6308725"/>
            <a:ext cx="607496" cy="0"/>
          </a:xfrm>
          <a:prstGeom prst="line">
            <a:avLst/>
          </a:prstGeom>
          <a:noFill/>
          <a:ln w="57150">
            <a:solidFill>
              <a:srgbClr val="00B0F0"/>
            </a:solidFill>
            <a:prstDash val="solid"/>
            <a:headEnd type="none"/>
            <a:tailEnd type="none"/>
          </a:ln>
        </p:spPr>
        <p:txBody>
          <a:bodyPr/>
          <a:lstStyle/>
          <a:p>
            <a:endParaRPr lang="es-ES"/>
          </a:p>
        </p:txBody>
      </p:sp>
      <p:sp>
        <p:nvSpPr>
          <p:cNvPr id="11" name="Shape 8"/>
          <p:cNvSpPr/>
          <p:nvPr/>
        </p:nvSpPr>
        <p:spPr>
          <a:xfrm>
            <a:off x="291465" y="6542405"/>
            <a:ext cx="607496" cy="0"/>
          </a:xfrm>
          <a:prstGeom prst="line">
            <a:avLst/>
          </a:prstGeom>
          <a:noFill/>
          <a:ln w="57150">
            <a:solidFill>
              <a:srgbClr val="00B0F0"/>
            </a:solidFill>
            <a:prstDash val="solid"/>
            <a:headEnd type="none"/>
            <a:tailEnd type="none"/>
          </a:ln>
        </p:spPr>
        <p:txBody>
          <a:bodyPr/>
          <a:lstStyle/>
          <a:p>
            <a:endParaRPr lang="es-ES"/>
          </a:p>
        </p:txBody>
      </p:sp>
      <p:sp>
        <p:nvSpPr>
          <p:cNvPr id="12" name="Shape 9"/>
          <p:cNvSpPr/>
          <p:nvPr/>
        </p:nvSpPr>
        <p:spPr>
          <a:xfrm>
            <a:off x="291465" y="202565"/>
            <a:ext cx="337185" cy="337185"/>
          </a:xfrm>
          <a:prstGeom prst="ellipse">
            <a:avLst/>
          </a:prstGeom>
          <a:solidFill>
            <a:srgbClr val="FFFFFF"/>
          </a:solidFill>
          <a:ln w="19050">
            <a:solidFill>
              <a:srgbClr val="00B0F0"/>
            </a:solidFill>
            <a:prstDash val="solid"/>
          </a:ln>
        </p:spPr>
        <p:txBody>
          <a:bodyPr/>
          <a:lstStyle/>
          <a:p>
            <a:endParaRPr lang="es-ES"/>
          </a:p>
        </p:txBody>
      </p:sp>
      <p:sp>
        <p:nvSpPr>
          <p:cNvPr id="13" name="Text 10"/>
          <p:cNvSpPr/>
          <p:nvPr/>
        </p:nvSpPr>
        <p:spPr>
          <a:xfrm>
            <a:off x="29146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1251585" y="202565"/>
            <a:ext cx="337185" cy="337185"/>
          </a:xfrm>
          <a:prstGeom prst="ellipse">
            <a:avLst/>
          </a:prstGeom>
          <a:solidFill>
            <a:srgbClr val="FFFFFF"/>
          </a:solidFill>
          <a:ln w="19050">
            <a:solidFill>
              <a:srgbClr val="00B0F0"/>
            </a:solidFill>
            <a:prstDash val="solid"/>
          </a:ln>
        </p:spPr>
        <p:txBody>
          <a:bodyPr/>
          <a:lstStyle/>
          <a:p>
            <a:endParaRPr lang="es-ES"/>
          </a:p>
        </p:txBody>
      </p:sp>
      <p:sp>
        <p:nvSpPr>
          <p:cNvPr id="15" name="Text 12"/>
          <p:cNvSpPr/>
          <p:nvPr/>
        </p:nvSpPr>
        <p:spPr>
          <a:xfrm>
            <a:off x="125158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771525" y="202565"/>
            <a:ext cx="337185" cy="337185"/>
          </a:xfrm>
          <a:prstGeom prst="ellipse">
            <a:avLst/>
          </a:prstGeom>
          <a:solidFill>
            <a:srgbClr val="00B0F0"/>
          </a:solidFill>
          <a:ln w="19050">
            <a:solidFill>
              <a:srgbClr val="FFFFFF"/>
            </a:solidFill>
            <a:prstDash val="solid"/>
          </a:ln>
        </p:spPr>
        <p:txBody>
          <a:bodyPr/>
          <a:lstStyle/>
          <a:p>
            <a:endParaRPr lang="es-ES"/>
          </a:p>
        </p:txBody>
      </p:sp>
      <p:sp>
        <p:nvSpPr>
          <p:cNvPr id="17" name="Text 14"/>
          <p:cNvSpPr/>
          <p:nvPr/>
        </p:nvSpPr>
        <p:spPr>
          <a:xfrm>
            <a:off x="77152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Shape 15"/>
          <p:cNvSpPr/>
          <p:nvPr/>
        </p:nvSpPr>
        <p:spPr>
          <a:xfrm>
            <a:off x="1731645" y="202565"/>
            <a:ext cx="337185" cy="337185"/>
          </a:xfrm>
          <a:prstGeom prst="ellipse">
            <a:avLst/>
          </a:prstGeom>
          <a:solidFill>
            <a:srgbClr val="00B0F0"/>
          </a:solidFill>
          <a:ln w="19050">
            <a:solidFill>
              <a:srgbClr val="FFFFFF"/>
            </a:solidFill>
            <a:prstDash val="solid"/>
          </a:ln>
        </p:spPr>
        <p:txBody>
          <a:bodyPr/>
          <a:lstStyle/>
          <a:p>
            <a:endParaRPr lang="es-ES"/>
          </a:p>
        </p:txBody>
      </p:sp>
      <p:sp>
        <p:nvSpPr>
          <p:cNvPr id="19" name="Text 16"/>
          <p:cNvSpPr/>
          <p:nvPr/>
        </p:nvSpPr>
        <p:spPr>
          <a:xfrm>
            <a:off x="173164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n 2" descr="Interfaz de usuario gráfica, Diagrama&#10;&#10;El contenido generado por IA puede ser incorrecto.">
            <a:extLst>
              <a:ext uri="{FF2B5EF4-FFF2-40B4-BE49-F238E27FC236}">
                <a16:creationId xmlns:a16="http://schemas.microsoft.com/office/drawing/2014/main" id="{B0368F5E-2F97-88D6-7D93-58C24B3353DA}"/>
              </a:ext>
            </a:extLst>
          </p:cNvPr>
          <p:cNvPicPr>
            <a:picLocks noChangeAspect="1"/>
          </p:cNvPicPr>
          <p:nvPr/>
        </p:nvPicPr>
        <p:blipFill>
          <a:blip r:embed="rId2"/>
          <a:stretch>
            <a:fillRect/>
          </a:stretch>
        </p:blipFill>
        <p:spPr>
          <a:xfrm>
            <a:off x="2912533" y="643466"/>
            <a:ext cx="6366934" cy="5571067"/>
          </a:xfrm>
          <a:prstGeom prst="rect">
            <a:avLst/>
          </a:prstGeom>
        </p:spPr>
      </p:pic>
    </p:spTree>
    <p:extLst>
      <p:ext uri="{BB962C8B-B14F-4D97-AF65-F5344CB8AC3E}">
        <p14:creationId xmlns:p14="http://schemas.microsoft.com/office/powerpoint/2010/main" val="36950294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142240"/>
            <a:ext cx="7499985" cy="368300"/>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Definición y ventajas</a:t>
            </a:r>
            <a:endParaRPr lang="en-US" sz="1600" dirty="0"/>
          </a:p>
        </p:txBody>
      </p:sp>
      <p:sp>
        <p:nvSpPr>
          <p:cNvPr id="12" name="Shape 10"/>
          <p:cNvSpPr/>
          <p:nvPr/>
        </p:nvSpPr>
        <p:spPr>
          <a:xfrm>
            <a:off x="443230" y="994410"/>
            <a:ext cx="11457305" cy="2591435"/>
          </a:xfrm>
          <a:prstGeom prst="roundRect">
            <a:avLst>
              <a:gd name="adj" fmla="val 6120"/>
            </a:avLst>
          </a:prstGeom>
          <a:solidFill>
            <a:srgbClr val="000000">
              <a:alpha val="0"/>
            </a:srgbClr>
          </a:solidFill>
          <a:ln w="28575">
            <a:solidFill>
              <a:srgbClr val="00B0F0"/>
            </a:solidFill>
            <a:prstDash val="solid"/>
          </a:ln>
        </p:spPr>
        <p:txBody>
          <a:bodyPr/>
          <a:lstStyle/>
          <a:p>
            <a:endParaRPr lang="es-ES"/>
          </a:p>
        </p:txBody>
      </p:sp>
      <p:sp>
        <p:nvSpPr>
          <p:cNvPr id="13" name="Text 11"/>
          <p:cNvSpPr/>
          <p:nvPr/>
        </p:nvSpPr>
        <p:spPr>
          <a:xfrm>
            <a:off x="443230" y="994410"/>
            <a:ext cx="11457305" cy="2591435"/>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4" name="Image 0" descr="https://kimi-img.moonshot.cn/pub/slides/slides_tmpl/image/25-08-27-19:57:42-d2nf5dh8bjvh7rlivsqg.png"/>
          <p:cNvPicPr>
            <a:picLocks noChangeAspect="1"/>
          </p:cNvPicPr>
          <p:nvPr/>
        </p:nvPicPr>
        <p:blipFill>
          <a:blip r:embed="rId3"/>
          <a:stretch>
            <a:fillRect/>
          </a:stretch>
        </p:blipFill>
        <p:spPr>
          <a:xfrm>
            <a:off x="579120" y="1409700"/>
            <a:ext cx="3776345" cy="1963420"/>
          </a:xfrm>
          <a:prstGeom prst="rect">
            <a:avLst/>
          </a:prstGeom>
        </p:spPr>
      </p:pic>
      <p:pic>
        <p:nvPicPr>
          <p:cNvPr id="15" name="Image 1" descr="https://kimi-img.moonshot.cn/pub/slides/slides_tmpl/image/25-08-27-19:57:42-d2nf5dh8bjvh7rlivsr0.png"/>
          <p:cNvPicPr>
            <a:picLocks noChangeAspect="1"/>
          </p:cNvPicPr>
          <p:nvPr/>
        </p:nvPicPr>
        <p:blipFill>
          <a:blip r:embed="rId4"/>
          <a:stretch>
            <a:fillRect/>
          </a:stretch>
        </p:blipFill>
        <p:spPr>
          <a:xfrm>
            <a:off x="7846695" y="4117340"/>
            <a:ext cx="3847465" cy="2342515"/>
          </a:xfrm>
          <a:prstGeom prst="rect">
            <a:avLst/>
          </a:prstGeom>
        </p:spPr>
      </p:pic>
      <p:sp>
        <p:nvSpPr>
          <p:cNvPr id="16" name="Shape 12"/>
          <p:cNvSpPr/>
          <p:nvPr/>
        </p:nvSpPr>
        <p:spPr>
          <a:xfrm>
            <a:off x="443230" y="3862705"/>
            <a:ext cx="11457305" cy="2591435"/>
          </a:xfrm>
          <a:prstGeom prst="roundRect">
            <a:avLst>
              <a:gd name="adj" fmla="val 6120"/>
            </a:avLst>
          </a:prstGeom>
          <a:solidFill>
            <a:srgbClr val="000000">
              <a:alpha val="0"/>
            </a:srgbClr>
          </a:solidFill>
          <a:ln w="28575">
            <a:solidFill>
              <a:srgbClr val="00B0F0"/>
            </a:solidFill>
            <a:prstDash val="solid"/>
          </a:ln>
        </p:spPr>
        <p:txBody>
          <a:bodyPr/>
          <a:lstStyle/>
          <a:p>
            <a:endParaRPr lang="es-ES"/>
          </a:p>
        </p:txBody>
      </p:sp>
      <p:sp>
        <p:nvSpPr>
          <p:cNvPr id="17" name="Text 13"/>
          <p:cNvSpPr/>
          <p:nvPr/>
        </p:nvSpPr>
        <p:spPr>
          <a:xfrm>
            <a:off x="443230" y="3862705"/>
            <a:ext cx="11457305" cy="25914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Text 14"/>
          <p:cNvSpPr/>
          <p:nvPr/>
        </p:nvSpPr>
        <p:spPr>
          <a:xfrm>
            <a:off x="5959475" y="1357630"/>
            <a:ext cx="5685155" cy="469265"/>
          </a:xfrm>
          <a:prstGeom prst="rect">
            <a:avLst/>
          </a:prstGeom>
          <a:noFill/>
          <a:ln/>
        </p:spPr>
        <p:txBody>
          <a:bodyPr wrap="square" lIns="91440" tIns="45720" rIns="91440" bIns="45720" rtlCol="0" anchor="t"/>
          <a:lstStyle/>
          <a:p>
            <a:pPr marL="0" indent="0" algn="r">
              <a:lnSpc>
                <a:spcPct val="100000"/>
              </a:lnSpc>
              <a:buNone/>
            </a:pPr>
            <a:r>
              <a:rPr lang="en-US" sz="2000" b="1" dirty="0">
                <a:solidFill>
                  <a:srgbClr val="00B0F0"/>
                </a:solidFill>
                <a:latin typeface="MiSans" pitchFamily="34" charset="0"/>
                <a:ea typeface="MiSans" pitchFamily="34" charset="-122"/>
                <a:cs typeface="MiSans" pitchFamily="34" charset="-120"/>
              </a:rPr>
              <a:t>¿Qué es la flexibilidad interna?</a:t>
            </a:r>
            <a:endParaRPr lang="en-US" sz="1400" dirty="0"/>
          </a:p>
        </p:txBody>
      </p:sp>
      <p:sp>
        <p:nvSpPr>
          <p:cNvPr id="19" name="Text 15"/>
          <p:cNvSpPr/>
          <p:nvPr/>
        </p:nvSpPr>
        <p:spPr>
          <a:xfrm>
            <a:off x="5073650" y="1867535"/>
            <a:ext cx="6620510" cy="1480820"/>
          </a:xfrm>
          <a:prstGeom prst="rect">
            <a:avLst/>
          </a:prstGeom>
          <a:noFill/>
          <a:ln/>
        </p:spPr>
        <p:txBody>
          <a:bodyPr wrap="square" lIns="91440" tIns="45720" rIns="91440" bIns="45720" rtlCol="0" anchor="t"/>
          <a:lstStyle/>
          <a:p>
            <a:pPr marL="0" indent="0">
              <a:lnSpc>
                <a:spcPct val="130000"/>
              </a:lnSpc>
              <a:buNone/>
            </a:pPr>
            <a:r>
              <a:rPr lang="en-US" sz="1600" dirty="0">
                <a:solidFill>
                  <a:srgbClr val="000000"/>
                </a:solidFill>
                <a:latin typeface="MiSans" pitchFamily="34" charset="0"/>
                <a:ea typeface="MiSans" pitchFamily="34" charset="-122"/>
                <a:cs typeface="MiSans" pitchFamily="34" charset="-120"/>
              </a:rPr>
              <a:t>Es la capacidad de las empresas para adaptar jornada, funciones, salarios o ubicación sin despedir. Se realiza mediante acuerdos individuales o colectivos. Permite responder </a:t>
            </a:r>
            <a:r>
              <a:rPr lang="en-US" sz="1600" b="1" u="sng" dirty="0">
                <a:solidFill>
                  <a:srgbClr val="000000"/>
                </a:solidFill>
                <a:latin typeface="MiSans" pitchFamily="34" charset="0"/>
                <a:ea typeface="MiSans" pitchFamily="34" charset="-122"/>
                <a:cs typeface="MiSans" pitchFamily="34" charset="-120"/>
              </a:rPr>
              <a:t>a fluctuaciones de demanda o cambios tecnológicos</a:t>
            </a:r>
            <a:r>
              <a:rPr lang="en-US" sz="1600" dirty="0">
                <a:solidFill>
                  <a:srgbClr val="000000"/>
                </a:solidFill>
                <a:latin typeface="MiSans" pitchFamily="34" charset="0"/>
                <a:ea typeface="MiSans" pitchFamily="34" charset="-122"/>
                <a:cs typeface="MiSans" pitchFamily="34" charset="-120"/>
              </a:rPr>
              <a:t> conservando el capital humano y la experiencia acumulada.</a:t>
            </a:r>
            <a:endParaRPr lang="en-US" sz="1600" dirty="0"/>
          </a:p>
        </p:txBody>
      </p:sp>
      <p:sp>
        <p:nvSpPr>
          <p:cNvPr id="20" name="Text 16"/>
          <p:cNvSpPr/>
          <p:nvPr/>
        </p:nvSpPr>
        <p:spPr>
          <a:xfrm>
            <a:off x="579120" y="4215765"/>
            <a:ext cx="5841365" cy="400110"/>
          </a:xfrm>
          <a:prstGeom prst="rect">
            <a:avLst/>
          </a:prstGeom>
          <a:noFill/>
          <a:ln/>
        </p:spPr>
        <p:txBody>
          <a:bodyPr wrap="square" lIns="91440" tIns="45720" rIns="91440" bIns="45720" rtlCol="0" anchor="t">
            <a:spAutoFit/>
          </a:bodyPr>
          <a:lstStyle/>
          <a:p>
            <a:pPr marL="0" indent="0">
              <a:lnSpc>
                <a:spcPct val="100000"/>
              </a:lnSpc>
              <a:buNone/>
            </a:pPr>
            <a:r>
              <a:rPr lang="en-US" sz="2000" b="1" dirty="0">
                <a:solidFill>
                  <a:srgbClr val="00B0F0"/>
                </a:solidFill>
                <a:latin typeface="MiSans" pitchFamily="34" charset="0"/>
                <a:ea typeface="MiSans" pitchFamily="34" charset="-122"/>
                <a:cs typeface="MiSans" pitchFamily="34" charset="-120"/>
              </a:rPr>
              <a:t>Beneficios para empresas y trabajadores</a:t>
            </a:r>
            <a:endParaRPr lang="en-US" sz="1400" dirty="0"/>
          </a:p>
        </p:txBody>
      </p:sp>
      <p:sp>
        <p:nvSpPr>
          <p:cNvPr id="21" name="Text 17"/>
          <p:cNvSpPr/>
          <p:nvPr/>
        </p:nvSpPr>
        <p:spPr>
          <a:xfrm>
            <a:off x="578485" y="4725670"/>
            <a:ext cx="7062470" cy="1451610"/>
          </a:xfrm>
          <a:prstGeom prst="rect">
            <a:avLst/>
          </a:prstGeom>
          <a:noFill/>
          <a:ln/>
        </p:spPr>
        <p:txBody>
          <a:bodyPr wrap="square" lIns="91440" tIns="45720" rIns="91440" bIns="45720" rtlCol="0" anchor="t"/>
          <a:lstStyle/>
          <a:p>
            <a:pPr marL="0" indent="0">
              <a:lnSpc>
                <a:spcPct val="130000"/>
              </a:lnSpc>
              <a:buNone/>
            </a:pPr>
            <a:r>
              <a:rPr lang="en-US" sz="1600" dirty="0">
                <a:solidFill>
                  <a:srgbClr val="000000"/>
                </a:solidFill>
                <a:latin typeface="MiSans" pitchFamily="34" charset="0"/>
                <a:ea typeface="MiSans" pitchFamily="34" charset="-122"/>
                <a:cs typeface="MiSans" pitchFamily="34" charset="-120"/>
              </a:rPr>
              <a:t>Las empresas ahorran costes de despido y selección, y retienen talento. Los trabajadores mantienen empleo, antigüedad y derechos adquiridos. Requiere, sin embargo, </a:t>
            </a:r>
            <a:r>
              <a:rPr lang="en-US" sz="1600" b="1" u="sng" dirty="0">
                <a:solidFill>
                  <a:srgbClr val="000000"/>
                </a:solidFill>
                <a:latin typeface="MiSans" pitchFamily="34" charset="0"/>
                <a:ea typeface="MiSans" pitchFamily="34" charset="-122"/>
                <a:cs typeface="MiSans" pitchFamily="34" charset="-120"/>
              </a:rPr>
              <a:t>confianza mutua, negociación efectiva y marco legal que incentive </a:t>
            </a:r>
            <a:r>
              <a:rPr lang="en-US" sz="1600" dirty="0">
                <a:solidFill>
                  <a:srgbClr val="000000"/>
                </a:solidFill>
                <a:latin typeface="MiSans" pitchFamily="34" charset="0"/>
                <a:ea typeface="MiSans" pitchFamily="34" charset="-122"/>
                <a:cs typeface="MiSans" pitchFamily="34" charset="-120"/>
              </a:rPr>
              <a:t>estos acuerdos frente al ajuste externo.</a:t>
            </a:r>
            <a:endParaRPr lang="en-US" sz="1600" dirty="0"/>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142240"/>
            <a:ext cx="7499985" cy="368300"/>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Flexibilidad numérica interna</a:t>
            </a:r>
            <a:endParaRPr lang="en-US" sz="1600" dirty="0"/>
          </a:p>
        </p:txBody>
      </p:sp>
      <p:sp>
        <p:nvSpPr>
          <p:cNvPr id="12" name="Shape 10"/>
          <p:cNvSpPr/>
          <p:nvPr/>
        </p:nvSpPr>
        <p:spPr>
          <a:xfrm>
            <a:off x="7728585" y="3213735"/>
            <a:ext cx="3923030" cy="2591435"/>
          </a:xfrm>
          <a:prstGeom prst="roundRect">
            <a:avLst/>
          </a:prstGeom>
          <a:solidFill>
            <a:srgbClr val="00B0F0"/>
          </a:solidFill>
          <a:ln w="28575">
            <a:solidFill>
              <a:srgbClr val="FFFFFF">
                <a:alpha val="0"/>
              </a:srgbClr>
            </a:solidFill>
            <a:prstDash val="solid"/>
          </a:ln>
        </p:spPr>
        <p:txBody>
          <a:bodyPr/>
          <a:lstStyle/>
          <a:p>
            <a:endParaRPr lang="es-ES"/>
          </a:p>
        </p:txBody>
      </p:sp>
      <p:sp>
        <p:nvSpPr>
          <p:cNvPr id="13" name="Text 11"/>
          <p:cNvSpPr/>
          <p:nvPr/>
        </p:nvSpPr>
        <p:spPr>
          <a:xfrm>
            <a:off x="7728585" y="3213735"/>
            <a:ext cx="3923030" cy="25914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7614285" y="3049270"/>
            <a:ext cx="3846195" cy="2591435"/>
          </a:xfrm>
          <a:prstGeom prst="roundRect">
            <a:avLst>
              <a:gd name="adj" fmla="val 14996"/>
            </a:avLst>
          </a:prstGeom>
          <a:solidFill>
            <a:srgbClr val="FFFFFF"/>
          </a:solidFill>
          <a:ln w="19050">
            <a:solidFill>
              <a:srgbClr val="000000"/>
            </a:solidFill>
            <a:prstDash val="solid"/>
          </a:ln>
        </p:spPr>
        <p:txBody>
          <a:bodyPr/>
          <a:lstStyle/>
          <a:p>
            <a:endParaRPr lang="es-ES"/>
          </a:p>
        </p:txBody>
      </p:sp>
      <p:sp>
        <p:nvSpPr>
          <p:cNvPr id="15" name="Text 13"/>
          <p:cNvSpPr/>
          <p:nvPr/>
        </p:nvSpPr>
        <p:spPr>
          <a:xfrm>
            <a:off x="7614285" y="3049270"/>
            <a:ext cx="3846195" cy="25914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3296920" y="3187065"/>
            <a:ext cx="3923030" cy="2591435"/>
          </a:xfrm>
          <a:prstGeom prst="roundRect">
            <a:avLst/>
          </a:prstGeom>
          <a:solidFill>
            <a:srgbClr val="00B0F0"/>
          </a:solidFill>
          <a:ln w="28575">
            <a:solidFill>
              <a:srgbClr val="FFFFFF">
                <a:alpha val="0"/>
              </a:srgbClr>
            </a:solidFill>
            <a:prstDash val="solid"/>
          </a:ln>
        </p:spPr>
        <p:txBody>
          <a:bodyPr/>
          <a:lstStyle/>
          <a:p>
            <a:endParaRPr lang="es-ES"/>
          </a:p>
        </p:txBody>
      </p:sp>
      <p:sp>
        <p:nvSpPr>
          <p:cNvPr id="17" name="Text 15"/>
          <p:cNvSpPr/>
          <p:nvPr/>
        </p:nvSpPr>
        <p:spPr>
          <a:xfrm>
            <a:off x="3296920" y="3187065"/>
            <a:ext cx="3923030" cy="25914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Shape 16"/>
          <p:cNvSpPr/>
          <p:nvPr/>
        </p:nvSpPr>
        <p:spPr>
          <a:xfrm>
            <a:off x="3182620" y="3022600"/>
            <a:ext cx="3846195" cy="2591435"/>
          </a:xfrm>
          <a:prstGeom prst="roundRect">
            <a:avLst>
              <a:gd name="adj" fmla="val 14996"/>
            </a:avLst>
          </a:prstGeom>
          <a:solidFill>
            <a:srgbClr val="FFFFFF"/>
          </a:solidFill>
          <a:ln w="19050">
            <a:solidFill>
              <a:srgbClr val="000000"/>
            </a:solidFill>
            <a:prstDash val="solid"/>
          </a:ln>
        </p:spPr>
        <p:txBody>
          <a:bodyPr/>
          <a:lstStyle/>
          <a:p>
            <a:endParaRPr lang="es-ES"/>
          </a:p>
        </p:txBody>
      </p:sp>
      <p:sp>
        <p:nvSpPr>
          <p:cNvPr id="19" name="Text 17"/>
          <p:cNvSpPr/>
          <p:nvPr/>
        </p:nvSpPr>
        <p:spPr>
          <a:xfrm>
            <a:off x="3182620" y="3022600"/>
            <a:ext cx="3846195" cy="25914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0" name="Shape 18"/>
          <p:cNvSpPr/>
          <p:nvPr/>
        </p:nvSpPr>
        <p:spPr>
          <a:xfrm>
            <a:off x="523240" y="2232025"/>
            <a:ext cx="2063115" cy="3128010"/>
          </a:xfrm>
          <a:prstGeom prst="rect">
            <a:avLst/>
          </a:prstGeom>
          <a:solidFill>
            <a:srgbClr val="000000">
              <a:alpha val="0"/>
            </a:srgbClr>
          </a:solidFill>
          <a:ln w="28575">
            <a:solidFill>
              <a:srgbClr val="000000"/>
            </a:solidFill>
            <a:prstDash val="solid"/>
          </a:ln>
        </p:spPr>
        <p:txBody>
          <a:bodyPr/>
          <a:lstStyle/>
          <a:p>
            <a:endParaRPr lang="es-ES"/>
          </a:p>
        </p:txBody>
      </p:sp>
      <p:sp>
        <p:nvSpPr>
          <p:cNvPr id="21" name="Text 19"/>
          <p:cNvSpPr/>
          <p:nvPr/>
        </p:nvSpPr>
        <p:spPr>
          <a:xfrm>
            <a:off x="523240" y="2232025"/>
            <a:ext cx="2063115" cy="3128010"/>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22" name="Image 0" descr="https://kimi-img.moonshot.cn/pub/slides/slides_tmpl/image/25-08-27-19:57:42-d2nf5dh8bjvh7rlivt00.png"/>
          <p:cNvPicPr>
            <a:picLocks noChangeAspect="1"/>
          </p:cNvPicPr>
          <p:nvPr/>
        </p:nvPicPr>
        <p:blipFill>
          <a:blip r:embed="rId3"/>
          <a:stretch>
            <a:fillRect/>
          </a:stretch>
        </p:blipFill>
        <p:spPr>
          <a:xfrm>
            <a:off x="408305" y="1727200"/>
            <a:ext cx="2603500" cy="3441700"/>
          </a:xfrm>
          <a:prstGeom prst="rect">
            <a:avLst/>
          </a:prstGeom>
        </p:spPr>
      </p:pic>
      <p:sp>
        <p:nvSpPr>
          <p:cNvPr id="23" name="Shape 20"/>
          <p:cNvSpPr/>
          <p:nvPr/>
        </p:nvSpPr>
        <p:spPr>
          <a:xfrm>
            <a:off x="3133090" y="1163320"/>
            <a:ext cx="85725" cy="343535"/>
          </a:xfrm>
          <a:prstGeom prst="rect">
            <a:avLst/>
          </a:prstGeom>
          <a:solidFill>
            <a:srgbClr val="00B0F0"/>
          </a:solidFill>
          <a:ln/>
        </p:spPr>
        <p:txBody>
          <a:bodyPr/>
          <a:lstStyle/>
          <a:p>
            <a:endParaRPr lang="es-ES"/>
          </a:p>
        </p:txBody>
      </p:sp>
      <p:sp>
        <p:nvSpPr>
          <p:cNvPr id="24" name="Text 21"/>
          <p:cNvSpPr/>
          <p:nvPr/>
        </p:nvSpPr>
        <p:spPr>
          <a:xfrm>
            <a:off x="3133090" y="1163320"/>
            <a:ext cx="85725" cy="3435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5" name="Text 22"/>
          <p:cNvSpPr/>
          <p:nvPr/>
        </p:nvSpPr>
        <p:spPr>
          <a:xfrm>
            <a:off x="3218498" y="1114534"/>
            <a:ext cx="4358640" cy="368300"/>
          </a:xfrm>
          <a:prstGeom prst="rect">
            <a:avLst/>
          </a:prstGeom>
          <a:noFill/>
          <a:ln/>
        </p:spPr>
        <p:txBody>
          <a:bodyPr wrap="square" lIns="91440" tIns="45720" rIns="91440" bIns="45720" rtlCol="0" anchor="t">
            <a:spAutoFit/>
          </a:bodyPr>
          <a:lstStyle/>
          <a:p>
            <a:pPr marL="0" indent="0">
              <a:lnSpc>
                <a:spcPct val="100000"/>
              </a:lnSpc>
              <a:buNone/>
            </a:pPr>
            <a:r>
              <a:rPr lang="en-US" sz="2400" dirty="0">
                <a:solidFill>
                  <a:srgbClr val="00B0F0"/>
                </a:solidFill>
                <a:latin typeface="MiSans" pitchFamily="34" charset="0"/>
                <a:ea typeface="MiSans" pitchFamily="34" charset="-122"/>
                <a:cs typeface="MiSans" pitchFamily="34" charset="-120"/>
              </a:rPr>
              <a:t>Reducción de jornada</a:t>
            </a:r>
            <a:endParaRPr lang="en-US" sz="1600" dirty="0"/>
          </a:p>
        </p:txBody>
      </p:sp>
      <p:sp>
        <p:nvSpPr>
          <p:cNvPr id="26" name="Text 23"/>
          <p:cNvSpPr/>
          <p:nvPr/>
        </p:nvSpPr>
        <p:spPr>
          <a:xfrm>
            <a:off x="3133090" y="1727200"/>
            <a:ext cx="8551545" cy="1143000"/>
          </a:xfrm>
          <a:prstGeom prst="rect">
            <a:avLst/>
          </a:prstGeom>
          <a:noFill/>
          <a:ln/>
        </p:spPr>
        <p:txBody>
          <a:bodyPr wrap="square" lIns="91440" tIns="45720" rIns="91440" bIns="45720" rtlCol="0" anchor="t"/>
          <a:lstStyle/>
          <a:p>
            <a:pPr marL="0" indent="0">
              <a:lnSpc>
                <a:spcPct val="130000"/>
              </a:lnSpc>
              <a:buNone/>
            </a:pPr>
            <a:r>
              <a:rPr lang="en-US" sz="1400" dirty="0">
                <a:solidFill>
                  <a:srgbClr val="000000"/>
                </a:solidFill>
                <a:latin typeface="MiSans" pitchFamily="34" charset="0"/>
                <a:ea typeface="MiSans" pitchFamily="34" charset="-122"/>
                <a:cs typeface="MiSans" pitchFamily="34" charset="-120"/>
              </a:rPr>
              <a:t>Permite ajustar horas trabajadas ante caídas de demanda sin despedir. Durante la crisis de 2008 y la COVID-19 se usó ampliamente en Europa para preservar empleo. Requiere mecanismos de compensación salarial parcial vía desempleo o ayudas públicas para mantener poder adquisitivo.</a:t>
            </a:r>
            <a:endParaRPr lang="en-US" sz="1400" dirty="0"/>
          </a:p>
        </p:txBody>
      </p:sp>
      <p:sp>
        <p:nvSpPr>
          <p:cNvPr id="27" name="Text 24"/>
          <p:cNvSpPr/>
          <p:nvPr/>
        </p:nvSpPr>
        <p:spPr>
          <a:xfrm>
            <a:off x="3232583" y="3189192"/>
            <a:ext cx="3662680" cy="638770"/>
          </a:xfrm>
          <a:prstGeom prst="rect">
            <a:avLst/>
          </a:prstGeom>
          <a:noFill/>
          <a:ln/>
        </p:spPr>
        <p:txBody>
          <a:bodyPr wrap="square" lIns="91440" tIns="45720" rIns="91440" bIns="45720" rtlCol="0" anchor="t">
            <a:spAutoFit/>
          </a:bodyPr>
          <a:lstStyle/>
          <a:p>
            <a:pPr marL="0" indent="0">
              <a:lnSpc>
                <a:spcPct val="100000"/>
              </a:lnSpc>
              <a:buNone/>
            </a:pPr>
            <a:r>
              <a:rPr lang="en-US" sz="2000" dirty="0">
                <a:solidFill>
                  <a:srgbClr val="000000"/>
                </a:solidFill>
                <a:latin typeface="MiSans" pitchFamily="34" charset="0"/>
                <a:ea typeface="MiSans" pitchFamily="34" charset="-122"/>
                <a:cs typeface="MiSans" pitchFamily="34" charset="-120"/>
              </a:rPr>
              <a:t>Contratos a tiempo parcial y fijos discontinuos</a:t>
            </a:r>
            <a:endParaRPr lang="en-US" sz="1600" dirty="0"/>
          </a:p>
        </p:txBody>
      </p:sp>
      <p:sp>
        <p:nvSpPr>
          <p:cNvPr id="28" name="Text 25"/>
          <p:cNvSpPr/>
          <p:nvPr/>
        </p:nvSpPr>
        <p:spPr>
          <a:xfrm>
            <a:off x="3274377" y="3854768"/>
            <a:ext cx="3662680" cy="1841500"/>
          </a:xfrm>
          <a:prstGeom prst="rect">
            <a:avLst/>
          </a:prstGeom>
          <a:noFill/>
          <a:ln/>
        </p:spPr>
        <p:txBody>
          <a:bodyPr wrap="square" lIns="91440" tIns="45720" rIns="91440" bIns="45720" rtlCol="0" anchor="t"/>
          <a:lstStyle/>
          <a:p>
            <a:pPr marL="0" indent="0">
              <a:lnSpc>
                <a:spcPct val="130000"/>
              </a:lnSpc>
              <a:buNone/>
            </a:pPr>
            <a:r>
              <a:rPr lang="en-US" sz="1200" dirty="0">
                <a:solidFill>
                  <a:srgbClr val="000000"/>
                </a:solidFill>
                <a:latin typeface="MiSans" pitchFamily="34" charset="0"/>
                <a:ea typeface="MiSans" pitchFamily="34" charset="-122"/>
                <a:cs typeface="MiSans" pitchFamily="34" charset="-120"/>
              </a:rPr>
              <a:t>Facilitan adaptar la plantilla a ciclos estacionales o picos puntuales. Los fijos discontinuos mantienen vínculo entre temporadas, ofreciendo mayor seguridad que temporales sucesivos. Su uso bien regulado reduce rotación y mejora planificación empresarial y personal.</a:t>
            </a:r>
            <a:endParaRPr lang="en-US" sz="1400" dirty="0"/>
          </a:p>
        </p:txBody>
      </p:sp>
      <p:sp>
        <p:nvSpPr>
          <p:cNvPr id="29" name="Text 26"/>
          <p:cNvSpPr/>
          <p:nvPr/>
        </p:nvSpPr>
        <p:spPr>
          <a:xfrm>
            <a:off x="7664248" y="3215862"/>
            <a:ext cx="3662680" cy="398780"/>
          </a:xfrm>
          <a:prstGeom prst="rect">
            <a:avLst/>
          </a:prstGeom>
          <a:noFill/>
          <a:ln/>
        </p:spPr>
        <p:txBody>
          <a:bodyPr wrap="square" lIns="91440" tIns="45720" rIns="91440" bIns="45720" rtlCol="0" anchor="t">
            <a:spAutoFit/>
          </a:bodyPr>
          <a:lstStyle/>
          <a:p>
            <a:pPr marL="0" indent="0">
              <a:lnSpc>
                <a:spcPct val="100000"/>
              </a:lnSpc>
              <a:buNone/>
            </a:pPr>
            <a:r>
              <a:rPr lang="en-US" sz="2000" dirty="0">
                <a:solidFill>
                  <a:srgbClr val="000000"/>
                </a:solidFill>
                <a:latin typeface="MiSans" pitchFamily="34" charset="0"/>
                <a:ea typeface="MiSans" pitchFamily="34" charset="-122"/>
                <a:cs typeface="MiSans" pitchFamily="34" charset="-120"/>
              </a:rPr>
              <a:t>ERTE: mecanismo clave en crisis</a:t>
            </a:r>
            <a:endParaRPr lang="en-US" sz="1600" dirty="0"/>
          </a:p>
        </p:txBody>
      </p:sp>
      <p:sp>
        <p:nvSpPr>
          <p:cNvPr id="30" name="Text 27"/>
          <p:cNvSpPr/>
          <p:nvPr/>
        </p:nvSpPr>
        <p:spPr>
          <a:xfrm>
            <a:off x="7664248" y="3916680"/>
            <a:ext cx="3662680" cy="1841500"/>
          </a:xfrm>
          <a:prstGeom prst="rect">
            <a:avLst/>
          </a:prstGeom>
          <a:noFill/>
          <a:ln/>
        </p:spPr>
        <p:txBody>
          <a:bodyPr wrap="square" lIns="91440" tIns="45720" rIns="91440" bIns="45720" rtlCol="0" anchor="t"/>
          <a:lstStyle/>
          <a:p>
            <a:pPr marL="0" indent="0">
              <a:lnSpc>
                <a:spcPct val="130000"/>
              </a:lnSpc>
              <a:buNone/>
            </a:pPr>
            <a:r>
              <a:rPr lang="en-US" sz="1200" dirty="0">
                <a:solidFill>
                  <a:srgbClr val="000000"/>
                </a:solidFill>
                <a:latin typeface="MiSans" pitchFamily="34" charset="0"/>
                <a:ea typeface="MiSans" pitchFamily="34" charset="-122"/>
                <a:cs typeface="MiSans" pitchFamily="34" charset="-120"/>
              </a:rPr>
              <a:t>Los Expedientes de Regulación Temporal de Empleo permiten suspender o reducir jornada con respaldo público. En 2020 protegieron a millones de trabajadores evitando despidos masivos. Su éxito demuestra utilidad de flexibilidad interna bien diseñada y financiada.</a:t>
            </a:r>
            <a:endParaRPr lang="en-US" sz="1400" dirty="0"/>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142240"/>
            <a:ext cx="7499985" cy="460375"/>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Flexibilidad funcional</a:t>
            </a:r>
            <a:endParaRPr lang="en-US" sz="1600" dirty="0"/>
          </a:p>
        </p:txBody>
      </p:sp>
      <p:sp>
        <p:nvSpPr>
          <p:cNvPr id="12" name="Shape 10"/>
          <p:cNvSpPr/>
          <p:nvPr/>
        </p:nvSpPr>
        <p:spPr>
          <a:xfrm>
            <a:off x="4747260" y="1337945"/>
            <a:ext cx="2980055" cy="4182110"/>
          </a:xfrm>
          <a:custGeom>
            <a:avLst/>
            <a:gdLst/>
            <a:ahLst/>
            <a:cxnLst/>
            <a:rect l="l" t="t" r="r" b="b"/>
            <a:pathLst>
              <a:path w="2980055" h="4182110">
                <a:moveTo>
                  <a:pt x="257368" y="0"/>
                </a:moveTo>
                <a:cubicBezTo>
                  <a:pt x="2722686" y="0"/>
                  <a:pt x="2722686" y="0"/>
                  <a:pt x="2722686" y="0"/>
                </a:cubicBezTo>
                <a:cubicBezTo>
                  <a:pt x="2864916" y="0"/>
                  <a:pt x="2980055" y="108127"/>
                  <a:pt x="2980055" y="250043"/>
                </a:cubicBezTo>
                <a:cubicBezTo>
                  <a:pt x="2980055" y="2240461"/>
                  <a:pt x="2980055" y="3422272"/>
                  <a:pt x="2980055" y="4123972"/>
                </a:cubicBezTo>
                <a:lnTo>
                  <a:pt x="2980055" y="4182110"/>
                </a:lnTo>
                <a:lnTo>
                  <a:pt x="0" y="4182110"/>
                </a:lnTo>
                <a:lnTo>
                  <a:pt x="0" y="4088591"/>
                </a:lnTo>
                <a:cubicBezTo>
                  <a:pt x="0" y="250043"/>
                  <a:pt x="0" y="250043"/>
                  <a:pt x="0" y="250043"/>
                </a:cubicBezTo>
                <a:cubicBezTo>
                  <a:pt x="0" y="108127"/>
                  <a:pt x="115139" y="0"/>
                  <a:pt x="257368" y="0"/>
                </a:cubicBezTo>
                <a:close/>
              </a:path>
            </a:pathLst>
          </a:custGeom>
          <a:solidFill>
            <a:srgbClr val="00B0F0"/>
          </a:solidFill>
          <a:ln/>
        </p:spPr>
        <p:txBody>
          <a:bodyPr/>
          <a:lstStyle/>
          <a:p>
            <a:endParaRPr lang="es-ES"/>
          </a:p>
        </p:txBody>
      </p:sp>
      <p:sp>
        <p:nvSpPr>
          <p:cNvPr id="13" name="Text 11"/>
          <p:cNvSpPr/>
          <p:nvPr/>
        </p:nvSpPr>
        <p:spPr>
          <a:xfrm>
            <a:off x="4747260" y="1337945"/>
            <a:ext cx="2980055" cy="4182110"/>
          </a:xfrm>
          <a:prstGeom prst="rect">
            <a:avLst/>
          </a:prstGeom>
          <a:noFill/>
          <a:ln/>
        </p:spPr>
        <p:txBody>
          <a:bodyPr wrap="square" lIns="22860" tIns="45720" rIns="45720" bIns="22860" rtlCol="0" anchor="t"/>
          <a:lstStyle/>
          <a:p>
            <a:pPr marL="0" indent="0">
              <a:lnSpc>
                <a:spcPct val="100000"/>
              </a:lnSpc>
              <a:buNone/>
            </a:pPr>
            <a:endParaRPr lang="en-US" sz="1600" dirty="0"/>
          </a:p>
        </p:txBody>
      </p:sp>
      <p:sp>
        <p:nvSpPr>
          <p:cNvPr id="14" name="Shape 12"/>
          <p:cNvSpPr/>
          <p:nvPr/>
        </p:nvSpPr>
        <p:spPr>
          <a:xfrm>
            <a:off x="4890770" y="1522095"/>
            <a:ext cx="2707640" cy="829945"/>
          </a:xfrm>
          <a:prstGeom prst="roundRect">
            <a:avLst>
              <a:gd name="adj" fmla="val 25937"/>
            </a:avLst>
          </a:prstGeom>
          <a:solidFill>
            <a:srgbClr val="FFFFFF"/>
          </a:solidFill>
          <a:ln/>
        </p:spPr>
        <p:txBody>
          <a:bodyPr/>
          <a:lstStyle/>
          <a:p>
            <a:endParaRPr lang="es-ES"/>
          </a:p>
        </p:txBody>
      </p:sp>
      <p:sp>
        <p:nvSpPr>
          <p:cNvPr id="15" name="Text 13"/>
          <p:cNvSpPr/>
          <p:nvPr/>
        </p:nvSpPr>
        <p:spPr>
          <a:xfrm>
            <a:off x="4890770" y="1522095"/>
            <a:ext cx="2707640" cy="829945"/>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6" name="Image 0" descr="https://kimi-img.moonshot.cn/pub/slides/slides_tmpl/image/25-08-27-19:57:42-d2nf5dh8bjvh7rlivsrg.png"/>
          <p:cNvPicPr>
            <a:picLocks noChangeAspect="1"/>
          </p:cNvPicPr>
          <p:nvPr/>
        </p:nvPicPr>
        <p:blipFill>
          <a:blip r:embed="rId3"/>
          <a:stretch>
            <a:fillRect/>
          </a:stretch>
        </p:blipFill>
        <p:spPr>
          <a:xfrm>
            <a:off x="-401320" y="1337945"/>
            <a:ext cx="5292090" cy="4710430"/>
          </a:xfrm>
          <a:prstGeom prst="rect">
            <a:avLst/>
          </a:prstGeom>
        </p:spPr>
      </p:pic>
      <p:sp>
        <p:nvSpPr>
          <p:cNvPr id="17" name="Shape 14"/>
          <p:cNvSpPr/>
          <p:nvPr/>
        </p:nvSpPr>
        <p:spPr>
          <a:xfrm>
            <a:off x="8560435" y="1337945"/>
            <a:ext cx="2980055" cy="4182110"/>
          </a:xfrm>
          <a:custGeom>
            <a:avLst/>
            <a:gdLst/>
            <a:ahLst/>
            <a:cxnLst/>
            <a:rect l="l" t="t" r="r" b="b"/>
            <a:pathLst>
              <a:path w="2980055" h="4182110">
                <a:moveTo>
                  <a:pt x="257368" y="0"/>
                </a:moveTo>
                <a:cubicBezTo>
                  <a:pt x="2722686" y="0"/>
                  <a:pt x="2722686" y="0"/>
                  <a:pt x="2722686" y="0"/>
                </a:cubicBezTo>
                <a:cubicBezTo>
                  <a:pt x="2864916" y="0"/>
                  <a:pt x="2980055" y="108127"/>
                  <a:pt x="2980055" y="250043"/>
                </a:cubicBezTo>
                <a:cubicBezTo>
                  <a:pt x="2980055" y="2240461"/>
                  <a:pt x="2980055" y="3422272"/>
                  <a:pt x="2980055" y="4123972"/>
                </a:cubicBezTo>
                <a:lnTo>
                  <a:pt x="2980055" y="4182110"/>
                </a:lnTo>
                <a:lnTo>
                  <a:pt x="0" y="4182110"/>
                </a:lnTo>
                <a:lnTo>
                  <a:pt x="0" y="4088591"/>
                </a:lnTo>
                <a:cubicBezTo>
                  <a:pt x="0" y="250043"/>
                  <a:pt x="0" y="250043"/>
                  <a:pt x="0" y="250043"/>
                </a:cubicBezTo>
                <a:cubicBezTo>
                  <a:pt x="0" y="108127"/>
                  <a:pt x="115139" y="0"/>
                  <a:pt x="257368" y="0"/>
                </a:cubicBezTo>
                <a:close/>
              </a:path>
            </a:pathLst>
          </a:custGeom>
          <a:solidFill>
            <a:srgbClr val="00B0F0"/>
          </a:solidFill>
          <a:ln/>
        </p:spPr>
        <p:txBody>
          <a:bodyPr/>
          <a:lstStyle/>
          <a:p>
            <a:endParaRPr lang="es-ES"/>
          </a:p>
        </p:txBody>
      </p:sp>
      <p:sp>
        <p:nvSpPr>
          <p:cNvPr id="18" name="Text 15"/>
          <p:cNvSpPr/>
          <p:nvPr/>
        </p:nvSpPr>
        <p:spPr>
          <a:xfrm>
            <a:off x="8560435" y="1337945"/>
            <a:ext cx="2980055" cy="4182110"/>
          </a:xfrm>
          <a:prstGeom prst="rect">
            <a:avLst/>
          </a:prstGeom>
          <a:noFill/>
          <a:ln/>
        </p:spPr>
        <p:txBody>
          <a:bodyPr wrap="square" lIns="22860" tIns="45720" rIns="45720" bIns="22860" rtlCol="0" anchor="t"/>
          <a:lstStyle/>
          <a:p>
            <a:pPr marL="0" indent="0">
              <a:lnSpc>
                <a:spcPct val="100000"/>
              </a:lnSpc>
              <a:buNone/>
            </a:pPr>
            <a:endParaRPr lang="en-US" sz="1600" dirty="0"/>
          </a:p>
        </p:txBody>
      </p:sp>
      <p:sp>
        <p:nvSpPr>
          <p:cNvPr id="19" name="Shape 16"/>
          <p:cNvSpPr/>
          <p:nvPr/>
        </p:nvSpPr>
        <p:spPr>
          <a:xfrm>
            <a:off x="8703945" y="1522095"/>
            <a:ext cx="2707640" cy="829945"/>
          </a:xfrm>
          <a:prstGeom prst="roundRect">
            <a:avLst>
              <a:gd name="adj" fmla="val 25937"/>
            </a:avLst>
          </a:prstGeom>
          <a:solidFill>
            <a:srgbClr val="FFFFFF"/>
          </a:solidFill>
          <a:ln/>
        </p:spPr>
        <p:txBody>
          <a:bodyPr/>
          <a:lstStyle/>
          <a:p>
            <a:endParaRPr lang="es-ES"/>
          </a:p>
        </p:txBody>
      </p:sp>
      <p:sp>
        <p:nvSpPr>
          <p:cNvPr id="20" name="Text 17"/>
          <p:cNvSpPr/>
          <p:nvPr/>
        </p:nvSpPr>
        <p:spPr>
          <a:xfrm>
            <a:off x="8703945" y="1522095"/>
            <a:ext cx="2707640" cy="82994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1" name="Text 18"/>
          <p:cNvSpPr/>
          <p:nvPr/>
        </p:nvSpPr>
        <p:spPr>
          <a:xfrm>
            <a:off x="5005705" y="1537335"/>
            <a:ext cx="2498090" cy="681355"/>
          </a:xfrm>
          <a:prstGeom prst="rect">
            <a:avLst/>
          </a:prstGeom>
          <a:noFill/>
          <a:ln/>
        </p:spPr>
        <p:txBody>
          <a:bodyPr wrap="square" lIns="91440" tIns="45720" rIns="91440" bIns="45720" rtlCol="0" anchor="t"/>
          <a:lstStyle/>
          <a:p>
            <a:pPr marL="0" indent="0" algn="ctr">
              <a:lnSpc>
                <a:spcPct val="100000"/>
              </a:lnSpc>
              <a:buNone/>
            </a:pPr>
            <a:r>
              <a:rPr lang="en-US" sz="2400" b="1" dirty="0">
                <a:solidFill>
                  <a:srgbClr val="00B0F0"/>
                </a:solidFill>
                <a:latin typeface="MiSans" pitchFamily="34" charset="0"/>
                <a:ea typeface="MiSans" pitchFamily="34" charset="-122"/>
                <a:cs typeface="MiSans" pitchFamily="34" charset="-120"/>
              </a:rPr>
              <a:t>Movilidad interna y polivalencia</a:t>
            </a:r>
            <a:endParaRPr lang="en-US" sz="1600" dirty="0"/>
          </a:p>
        </p:txBody>
      </p:sp>
      <p:sp>
        <p:nvSpPr>
          <p:cNvPr id="22" name="Text 19"/>
          <p:cNvSpPr/>
          <p:nvPr/>
        </p:nvSpPr>
        <p:spPr>
          <a:xfrm>
            <a:off x="4890770" y="2407920"/>
            <a:ext cx="2708275" cy="2985770"/>
          </a:xfrm>
          <a:prstGeom prst="rect">
            <a:avLst/>
          </a:prstGeom>
          <a:noFill/>
          <a:ln/>
        </p:spPr>
        <p:txBody>
          <a:bodyPr wrap="square" lIns="91440" tIns="45720" rIns="91440" bIns="45720" rtlCol="0" anchor="t"/>
          <a:lstStyle/>
          <a:p>
            <a:pPr marL="0" indent="0">
              <a:lnSpc>
                <a:spcPct val="130000"/>
              </a:lnSpc>
              <a:buNone/>
            </a:pPr>
            <a:r>
              <a:rPr lang="en-US" sz="1200" dirty="0">
                <a:solidFill>
                  <a:srgbClr val="FFFFFF"/>
                </a:solidFill>
                <a:latin typeface="MiSans" pitchFamily="34" charset="0"/>
                <a:ea typeface="MiSans" pitchFamily="34" charset="-122"/>
                <a:cs typeface="MiSans" pitchFamily="34" charset="-120"/>
              </a:rPr>
              <a:t>Consiste en </a:t>
            </a:r>
            <a:r>
              <a:rPr lang="en-US" sz="1200" b="1" u="sng" dirty="0">
                <a:solidFill>
                  <a:srgbClr val="FFFFFF"/>
                </a:solidFill>
                <a:latin typeface="MiSans" pitchFamily="34" charset="0"/>
                <a:ea typeface="MiSans" pitchFamily="34" charset="-122"/>
                <a:cs typeface="MiSans" pitchFamily="34" charset="-120"/>
              </a:rPr>
              <a:t>asignar al trabajador tareas distintas dentro de su categoría profesional o nivel formativo</a:t>
            </a:r>
            <a:r>
              <a:rPr lang="en-US" sz="1200" dirty="0">
                <a:solidFill>
                  <a:srgbClr val="FFFFFF"/>
                </a:solidFill>
                <a:latin typeface="MiSans" pitchFamily="34" charset="0"/>
                <a:ea typeface="MiSans" pitchFamily="34" charset="-122"/>
                <a:cs typeface="MiSans" pitchFamily="34" charset="-120"/>
              </a:rPr>
              <a:t>. Aumenta capacidad de respuesta ante cambios de producción o tecnología sin contratar nuevo personal. Requiere clasificaciones profesionales amplias y formación continua.</a:t>
            </a:r>
            <a:endParaRPr lang="en-US" sz="1200" dirty="0"/>
          </a:p>
        </p:txBody>
      </p:sp>
      <p:sp>
        <p:nvSpPr>
          <p:cNvPr id="23" name="Text 20"/>
          <p:cNvSpPr/>
          <p:nvPr/>
        </p:nvSpPr>
        <p:spPr>
          <a:xfrm>
            <a:off x="8809355" y="1537335"/>
            <a:ext cx="2463800" cy="681355"/>
          </a:xfrm>
          <a:prstGeom prst="rect">
            <a:avLst/>
          </a:prstGeom>
          <a:noFill/>
          <a:ln/>
        </p:spPr>
        <p:txBody>
          <a:bodyPr wrap="square" lIns="91440" tIns="45720" rIns="91440" bIns="45720" rtlCol="0" anchor="t"/>
          <a:lstStyle/>
          <a:p>
            <a:pPr marL="0" indent="0" algn="ctr">
              <a:lnSpc>
                <a:spcPct val="100000"/>
              </a:lnSpc>
              <a:buNone/>
            </a:pPr>
            <a:r>
              <a:rPr lang="en-US" sz="2400" b="1" dirty="0">
                <a:solidFill>
                  <a:srgbClr val="00B0F0"/>
                </a:solidFill>
                <a:latin typeface="MiSans" pitchFamily="34" charset="0"/>
                <a:ea typeface="MiSans" pitchFamily="34" charset="-122"/>
                <a:cs typeface="MiSans" pitchFamily="34" charset="-120"/>
              </a:rPr>
              <a:t>Contratos formativos</a:t>
            </a:r>
            <a:endParaRPr lang="en-US" sz="1600" dirty="0"/>
          </a:p>
        </p:txBody>
      </p:sp>
      <p:sp>
        <p:nvSpPr>
          <p:cNvPr id="24" name="Text 21"/>
          <p:cNvSpPr/>
          <p:nvPr/>
        </p:nvSpPr>
        <p:spPr>
          <a:xfrm>
            <a:off x="8703945" y="2407920"/>
            <a:ext cx="2708275" cy="2985770"/>
          </a:xfrm>
          <a:prstGeom prst="rect">
            <a:avLst/>
          </a:prstGeom>
          <a:noFill/>
          <a:ln/>
        </p:spPr>
        <p:txBody>
          <a:bodyPr wrap="square" lIns="91440" tIns="45720" rIns="91440" bIns="45720" rtlCol="0" anchor="t"/>
          <a:lstStyle/>
          <a:p>
            <a:pPr marL="0" indent="0">
              <a:lnSpc>
                <a:spcPct val="130000"/>
              </a:lnSpc>
              <a:buNone/>
            </a:pPr>
            <a:r>
              <a:rPr lang="en-US" sz="1200" b="1" u="sng" dirty="0">
                <a:solidFill>
                  <a:srgbClr val="FFFFFF"/>
                </a:solidFill>
                <a:latin typeface="MiSans" pitchFamily="34" charset="0"/>
                <a:ea typeface="MiSans" pitchFamily="34" charset="-122"/>
                <a:cs typeface="MiSans" pitchFamily="34" charset="-120"/>
              </a:rPr>
              <a:t>Los contratos en prácticas y de formación permiten incorporar jóvenes combinando trabajo y aprendizaje</a:t>
            </a:r>
            <a:r>
              <a:rPr lang="en-US" sz="1200" dirty="0">
                <a:solidFill>
                  <a:srgbClr val="FFFFFF"/>
                </a:solidFill>
                <a:latin typeface="MiSans" pitchFamily="34" charset="0"/>
                <a:ea typeface="MiSans" pitchFamily="34" charset="-122"/>
                <a:cs typeface="MiSans" pitchFamily="34" charset="-120"/>
              </a:rPr>
              <a:t>. Facilitan transición escuela-trabajo y actualización de competencias. Su uso debe garantizar contenido formativo real y evitar sustitución de empleo estable.</a:t>
            </a:r>
            <a:endParaRPr lang="en-US" sz="1200" dirty="0"/>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142240"/>
            <a:ext cx="7499985" cy="368300"/>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Flexibilidad salarial</a:t>
            </a:r>
            <a:endParaRPr lang="en-US" sz="1600" dirty="0"/>
          </a:p>
        </p:txBody>
      </p:sp>
      <p:sp>
        <p:nvSpPr>
          <p:cNvPr id="12" name="Shape 10"/>
          <p:cNvSpPr/>
          <p:nvPr/>
        </p:nvSpPr>
        <p:spPr>
          <a:xfrm rot="2460000">
            <a:off x="-155148" y="1289035"/>
            <a:ext cx="4561410" cy="4469691"/>
          </a:xfrm>
          <a:prstGeom prst="arc">
            <a:avLst>
              <a:gd name="adj1" fmla="val 16084999"/>
              <a:gd name="adj2" fmla="val 944742"/>
            </a:avLst>
          </a:prstGeom>
          <a:solidFill>
            <a:srgbClr val="4874CB"/>
          </a:solidFill>
          <a:ln w="19050">
            <a:solidFill>
              <a:srgbClr val="00B0F0"/>
            </a:solidFill>
            <a:prstDash val="solid"/>
          </a:ln>
        </p:spPr>
        <p:txBody>
          <a:bodyPr/>
          <a:lstStyle/>
          <a:p>
            <a:endParaRPr lang="es-ES"/>
          </a:p>
        </p:txBody>
      </p:sp>
      <p:sp>
        <p:nvSpPr>
          <p:cNvPr id="13" name="Text 11"/>
          <p:cNvSpPr/>
          <p:nvPr/>
        </p:nvSpPr>
        <p:spPr>
          <a:xfrm rot="2460000">
            <a:off x="-155148" y="1289035"/>
            <a:ext cx="4561410" cy="4469691"/>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4697730" y="1600835"/>
            <a:ext cx="85725" cy="343535"/>
          </a:xfrm>
          <a:prstGeom prst="rect">
            <a:avLst/>
          </a:prstGeom>
          <a:solidFill>
            <a:srgbClr val="00B0F0"/>
          </a:solidFill>
          <a:ln/>
        </p:spPr>
        <p:txBody>
          <a:bodyPr/>
          <a:lstStyle/>
          <a:p>
            <a:endParaRPr lang="es-ES"/>
          </a:p>
        </p:txBody>
      </p:sp>
      <p:sp>
        <p:nvSpPr>
          <p:cNvPr id="15" name="Text 13"/>
          <p:cNvSpPr/>
          <p:nvPr/>
        </p:nvSpPr>
        <p:spPr>
          <a:xfrm>
            <a:off x="4697730" y="1600835"/>
            <a:ext cx="85725" cy="3435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4783138" y="3431540"/>
            <a:ext cx="6801485" cy="0"/>
          </a:xfrm>
          <a:prstGeom prst="line">
            <a:avLst/>
          </a:prstGeom>
          <a:noFill/>
          <a:ln w="12700">
            <a:solidFill>
              <a:srgbClr val="595959"/>
            </a:solidFill>
            <a:prstDash val="dash"/>
            <a:headEnd type="none"/>
            <a:tailEnd type="none"/>
          </a:ln>
        </p:spPr>
        <p:txBody>
          <a:bodyPr/>
          <a:lstStyle/>
          <a:p>
            <a:endParaRPr lang="es-ES"/>
          </a:p>
        </p:txBody>
      </p:sp>
      <p:sp>
        <p:nvSpPr>
          <p:cNvPr id="17" name="Shape 15"/>
          <p:cNvSpPr/>
          <p:nvPr/>
        </p:nvSpPr>
        <p:spPr>
          <a:xfrm>
            <a:off x="4750435" y="3846195"/>
            <a:ext cx="85725" cy="343535"/>
          </a:xfrm>
          <a:prstGeom prst="rect">
            <a:avLst/>
          </a:prstGeom>
          <a:solidFill>
            <a:srgbClr val="00B0F0"/>
          </a:solidFill>
          <a:ln/>
        </p:spPr>
        <p:txBody>
          <a:bodyPr/>
          <a:lstStyle/>
          <a:p>
            <a:endParaRPr lang="es-ES"/>
          </a:p>
        </p:txBody>
      </p:sp>
      <p:sp>
        <p:nvSpPr>
          <p:cNvPr id="18" name="Text 16"/>
          <p:cNvSpPr/>
          <p:nvPr/>
        </p:nvSpPr>
        <p:spPr>
          <a:xfrm>
            <a:off x="4750435" y="3846195"/>
            <a:ext cx="85725" cy="3435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9" name="Shape 17"/>
          <p:cNvSpPr/>
          <p:nvPr/>
        </p:nvSpPr>
        <p:spPr>
          <a:xfrm>
            <a:off x="4835843" y="5676900"/>
            <a:ext cx="6801485" cy="0"/>
          </a:xfrm>
          <a:prstGeom prst="line">
            <a:avLst/>
          </a:prstGeom>
          <a:noFill/>
          <a:ln w="12700">
            <a:solidFill>
              <a:srgbClr val="595959"/>
            </a:solidFill>
            <a:prstDash val="dash"/>
            <a:headEnd type="none"/>
            <a:tailEnd type="none"/>
          </a:ln>
        </p:spPr>
        <p:txBody>
          <a:bodyPr/>
          <a:lstStyle/>
          <a:p>
            <a:endParaRPr lang="es-ES"/>
          </a:p>
        </p:txBody>
      </p:sp>
      <p:pic>
        <p:nvPicPr>
          <p:cNvPr id="20" name="Image 0" descr="https://kimi-img.moonshot.cn/pub/slides/slides_tmpl/image/25-08-27-19:57:42-d2nf5dh8bjvh7rlivstg.png"/>
          <p:cNvPicPr>
            <a:picLocks noChangeAspect="1"/>
          </p:cNvPicPr>
          <p:nvPr/>
        </p:nvPicPr>
        <p:blipFill>
          <a:blip r:embed="rId3"/>
          <a:stretch>
            <a:fillRect/>
          </a:stretch>
        </p:blipFill>
        <p:spPr>
          <a:xfrm>
            <a:off x="240030" y="1682115"/>
            <a:ext cx="4090670" cy="3498850"/>
          </a:xfrm>
          <a:prstGeom prst="rect">
            <a:avLst/>
          </a:prstGeom>
        </p:spPr>
      </p:pic>
      <p:sp>
        <p:nvSpPr>
          <p:cNvPr id="21" name="Text 18"/>
          <p:cNvSpPr/>
          <p:nvPr/>
        </p:nvSpPr>
        <p:spPr>
          <a:xfrm>
            <a:off x="4783455" y="1551940"/>
            <a:ext cx="6506210" cy="400110"/>
          </a:xfrm>
          <a:prstGeom prst="rect">
            <a:avLst/>
          </a:prstGeom>
          <a:noFill/>
          <a:ln/>
        </p:spPr>
        <p:txBody>
          <a:bodyPr wrap="square" lIns="91440" tIns="45720" rIns="91440" bIns="45720" rtlCol="0" anchor="t">
            <a:spAutoFit/>
          </a:bodyPr>
          <a:lstStyle/>
          <a:p>
            <a:pPr marL="0" indent="0">
              <a:lnSpc>
                <a:spcPct val="100000"/>
              </a:lnSpc>
              <a:buNone/>
            </a:pPr>
            <a:r>
              <a:rPr lang="en-US" sz="2000" dirty="0">
                <a:solidFill>
                  <a:srgbClr val="00B0F0"/>
                </a:solidFill>
                <a:latin typeface="MiSans" pitchFamily="34" charset="0"/>
                <a:ea typeface="MiSans" pitchFamily="34" charset="-122"/>
                <a:cs typeface="MiSans" pitchFamily="34" charset="-120"/>
              </a:rPr>
              <a:t>Remuneración variable vinculada a resultados</a:t>
            </a:r>
            <a:endParaRPr lang="en-US" sz="1400" dirty="0"/>
          </a:p>
        </p:txBody>
      </p:sp>
      <p:sp>
        <p:nvSpPr>
          <p:cNvPr id="22" name="Text 19"/>
          <p:cNvSpPr/>
          <p:nvPr/>
        </p:nvSpPr>
        <p:spPr>
          <a:xfrm>
            <a:off x="4750435" y="2018030"/>
            <a:ext cx="6790690" cy="1129030"/>
          </a:xfrm>
          <a:prstGeom prst="rect">
            <a:avLst/>
          </a:prstGeom>
          <a:noFill/>
          <a:ln/>
        </p:spPr>
        <p:txBody>
          <a:bodyPr wrap="square" lIns="91440" tIns="45720" rIns="91440" bIns="45720" rtlCol="0" anchor="t"/>
          <a:lstStyle/>
          <a:p>
            <a:pPr marL="0" indent="0">
              <a:lnSpc>
                <a:spcPct val="130000"/>
              </a:lnSpc>
              <a:buNone/>
            </a:pPr>
            <a:r>
              <a:rPr lang="en-US" sz="1400" dirty="0">
                <a:solidFill>
                  <a:srgbClr val="000000"/>
                </a:solidFill>
                <a:latin typeface="MiSans" pitchFamily="34" charset="0"/>
                <a:ea typeface="MiSans" pitchFamily="34" charset="-122"/>
                <a:cs typeface="MiSans" pitchFamily="34" charset="-120"/>
              </a:rPr>
              <a:t>Incluye primas de productividad, participación en </a:t>
            </a:r>
            <a:r>
              <a:rPr lang="en-US" sz="1400" dirty="0" err="1">
                <a:solidFill>
                  <a:srgbClr val="000000"/>
                </a:solidFill>
                <a:latin typeface="MiSans" pitchFamily="34" charset="0"/>
                <a:ea typeface="MiSans" pitchFamily="34" charset="-122"/>
                <a:cs typeface="MiSans" pitchFamily="34" charset="-120"/>
              </a:rPr>
              <a:t>beneficios</a:t>
            </a:r>
            <a:r>
              <a:rPr lang="en-US" sz="1400" dirty="0">
                <a:solidFill>
                  <a:srgbClr val="000000"/>
                </a:solidFill>
                <a:latin typeface="MiSans" pitchFamily="34" charset="0"/>
                <a:ea typeface="MiSans" pitchFamily="34" charset="-122"/>
                <a:cs typeface="MiSans" pitchFamily="34" charset="-120"/>
              </a:rPr>
              <a:t> u objetivos individuales/colectivos. Permite ajustar costes laborales a situación económica sin despidos. Debe diseñarse con indicadores claros y negociación colectiva para evitar volatilidad excesiva del salario base.</a:t>
            </a:r>
            <a:endParaRPr lang="en-US" sz="1400" dirty="0"/>
          </a:p>
        </p:txBody>
      </p:sp>
      <p:sp>
        <p:nvSpPr>
          <p:cNvPr id="23" name="Text 20"/>
          <p:cNvSpPr/>
          <p:nvPr/>
        </p:nvSpPr>
        <p:spPr>
          <a:xfrm>
            <a:off x="4836160" y="3797300"/>
            <a:ext cx="6453505" cy="400110"/>
          </a:xfrm>
          <a:prstGeom prst="rect">
            <a:avLst/>
          </a:prstGeom>
          <a:noFill/>
          <a:ln/>
        </p:spPr>
        <p:txBody>
          <a:bodyPr wrap="square" lIns="91440" tIns="45720" rIns="91440" bIns="45720" rtlCol="0" anchor="t">
            <a:spAutoFit/>
          </a:bodyPr>
          <a:lstStyle/>
          <a:p>
            <a:pPr marL="0" indent="0">
              <a:lnSpc>
                <a:spcPct val="100000"/>
              </a:lnSpc>
              <a:buNone/>
            </a:pPr>
            <a:r>
              <a:rPr lang="en-US" sz="2000" dirty="0">
                <a:solidFill>
                  <a:srgbClr val="00B0F0"/>
                </a:solidFill>
                <a:latin typeface="MiSans" pitchFamily="34" charset="0"/>
                <a:ea typeface="MiSans" pitchFamily="34" charset="-122"/>
                <a:cs typeface="MiSans" pitchFamily="34" charset="-120"/>
              </a:rPr>
              <a:t>Cláusulas de descuelgue</a:t>
            </a:r>
            <a:endParaRPr lang="en-US" sz="1400" dirty="0"/>
          </a:p>
        </p:txBody>
      </p:sp>
      <p:sp>
        <p:nvSpPr>
          <p:cNvPr id="24" name="Text 21"/>
          <p:cNvSpPr/>
          <p:nvPr/>
        </p:nvSpPr>
        <p:spPr>
          <a:xfrm>
            <a:off x="4803140" y="4263390"/>
            <a:ext cx="6790690" cy="1129030"/>
          </a:xfrm>
          <a:prstGeom prst="rect">
            <a:avLst/>
          </a:prstGeom>
          <a:noFill/>
          <a:ln/>
        </p:spPr>
        <p:txBody>
          <a:bodyPr wrap="square" lIns="91440" tIns="45720" rIns="91440" bIns="45720" rtlCol="0" anchor="t"/>
          <a:lstStyle/>
          <a:p>
            <a:pPr marL="0" indent="0">
              <a:lnSpc>
                <a:spcPct val="130000"/>
              </a:lnSpc>
              <a:buNone/>
            </a:pPr>
            <a:r>
              <a:rPr lang="en-US" sz="1400" dirty="0">
                <a:solidFill>
                  <a:srgbClr val="000000"/>
                </a:solidFill>
                <a:latin typeface="MiSans" pitchFamily="34" charset="0"/>
                <a:ea typeface="MiSans" pitchFamily="34" charset="-122"/>
                <a:cs typeface="MiSans" pitchFamily="34" charset="-120"/>
              </a:rPr>
              <a:t>Permiten a empresas apartarse temporalmente de condiciones del convenio sectorial por causas económicas. Requieren acuerdo con representantes y autorización administrativa. Son útiles para adaptar salarios a realidad empresarial sin esperar renegociación colectiva general.</a:t>
            </a:r>
            <a:endParaRPr lang="en-US" sz="1400" dirty="0"/>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142240"/>
            <a:ext cx="7499985" cy="368300"/>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Flexibilidad geográfica y teletrabajo</a:t>
            </a:r>
            <a:endParaRPr lang="en-US" sz="1600" dirty="0"/>
          </a:p>
        </p:txBody>
      </p:sp>
      <p:sp>
        <p:nvSpPr>
          <p:cNvPr id="12" name="Shape 10"/>
          <p:cNvSpPr/>
          <p:nvPr/>
        </p:nvSpPr>
        <p:spPr>
          <a:xfrm>
            <a:off x="669925" y="1690370"/>
            <a:ext cx="3071495" cy="644525"/>
          </a:xfrm>
          <a:prstGeom prst="roundRect">
            <a:avLst>
              <a:gd name="adj" fmla="val 16763"/>
            </a:avLst>
          </a:prstGeom>
          <a:solidFill>
            <a:srgbClr val="00B0F0"/>
          </a:solidFill>
          <a:ln/>
        </p:spPr>
        <p:txBody>
          <a:bodyPr/>
          <a:lstStyle/>
          <a:p>
            <a:endParaRPr lang="es-ES"/>
          </a:p>
        </p:txBody>
      </p:sp>
      <p:sp>
        <p:nvSpPr>
          <p:cNvPr id="13" name="Text 11"/>
          <p:cNvSpPr/>
          <p:nvPr/>
        </p:nvSpPr>
        <p:spPr>
          <a:xfrm>
            <a:off x="669925" y="1690370"/>
            <a:ext cx="3071495" cy="64452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8541385" y="1690370"/>
            <a:ext cx="3071495" cy="644525"/>
          </a:xfrm>
          <a:prstGeom prst="roundRect">
            <a:avLst>
              <a:gd name="adj" fmla="val 16763"/>
            </a:avLst>
          </a:prstGeom>
          <a:solidFill>
            <a:srgbClr val="00B0F0"/>
          </a:solidFill>
          <a:ln/>
        </p:spPr>
        <p:txBody>
          <a:bodyPr/>
          <a:lstStyle/>
          <a:p>
            <a:endParaRPr lang="es-ES"/>
          </a:p>
        </p:txBody>
      </p:sp>
      <p:sp>
        <p:nvSpPr>
          <p:cNvPr id="15" name="Text 13"/>
          <p:cNvSpPr/>
          <p:nvPr/>
        </p:nvSpPr>
        <p:spPr>
          <a:xfrm>
            <a:off x="8541385" y="1690370"/>
            <a:ext cx="3071495" cy="64452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0" y="6620510"/>
            <a:ext cx="12192000" cy="237490"/>
          </a:xfrm>
          <a:prstGeom prst="rect">
            <a:avLst/>
          </a:prstGeom>
          <a:solidFill>
            <a:srgbClr val="00B0F0"/>
          </a:solidFill>
          <a:ln/>
        </p:spPr>
        <p:txBody>
          <a:bodyPr/>
          <a:lstStyle/>
          <a:p>
            <a:endParaRPr lang="es-ES"/>
          </a:p>
        </p:txBody>
      </p:sp>
      <p:sp>
        <p:nvSpPr>
          <p:cNvPr id="17" name="Text 15"/>
          <p:cNvSpPr/>
          <p:nvPr/>
        </p:nvSpPr>
        <p:spPr>
          <a:xfrm>
            <a:off x="0" y="6620510"/>
            <a:ext cx="12192000" cy="237490"/>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8" name="Image 0" descr="https://kimi-img.moonshot.cn/pub/slides/slides_tmpl/image/25-08-27-19:57:42-d2nf5dh8bjvh7rlivssg.png"/>
          <p:cNvPicPr>
            <a:picLocks noChangeAspect="1"/>
          </p:cNvPicPr>
          <p:nvPr/>
        </p:nvPicPr>
        <p:blipFill>
          <a:blip r:embed="rId3"/>
          <a:stretch>
            <a:fillRect/>
          </a:stretch>
        </p:blipFill>
        <p:spPr>
          <a:xfrm>
            <a:off x="4095115" y="1633855"/>
            <a:ext cx="4047490" cy="3590290"/>
          </a:xfrm>
          <a:prstGeom prst="rect">
            <a:avLst/>
          </a:prstGeom>
        </p:spPr>
      </p:pic>
      <p:sp>
        <p:nvSpPr>
          <p:cNvPr id="19" name="Text 16"/>
          <p:cNvSpPr/>
          <p:nvPr/>
        </p:nvSpPr>
        <p:spPr>
          <a:xfrm>
            <a:off x="1104265" y="1689735"/>
            <a:ext cx="2200275" cy="645160"/>
          </a:xfrm>
          <a:prstGeom prst="rect">
            <a:avLst/>
          </a:prstGeom>
          <a:noFill/>
          <a:ln/>
        </p:spPr>
        <p:txBody>
          <a:bodyPr wrap="square" lIns="91440" tIns="45720" rIns="91440" bIns="45720" rtlCol="0" anchor="t"/>
          <a:lstStyle/>
          <a:p>
            <a:pPr marL="0" indent="0" algn="ctr">
              <a:lnSpc>
                <a:spcPct val="100000"/>
              </a:lnSpc>
              <a:buNone/>
            </a:pPr>
            <a:r>
              <a:rPr lang="en-US" sz="1800" dirty="0">
                <a:solidFill>
                  <a:srgbClr val="FFFFFF"/>
                </a:solidFill>
                <a:latin typeface="MiSans" pitchFamily="34" charset="0"/>
                <a:ea typeface="MiSans" pitchFamily="34" charset="-122"/>
                <a:cs typeface="MiSans" pitchFamily="34" charset="-120"/>
              </a:rPr>
              <a:t>Movilidad geográfica</a:t>
            </a:r>
            <a:endParaRPr lang="en-US" sz="1600" dirty="0"/>
          </a:p>
        </p:txBody>
      </p:sp>
      <p:sp>
        <p:nvSpPr>
          <p:cNvPr id="20" name="Text 17"/>
          <p:cNvSpPr/>
          <p:nvPr/>
        </p:nvSpPr>
        <p:spPr>
          <a:xfrm>
            <a:off x="669290" y="2454910"/>
            <a:ext cx="3070860" cy="2637790"/>
          </a:xfrm>
          <a:prstGeom prst="rect">
            <a:avLst/>
          </a:prstGeom>
          <a:noFill/>
          <a:ln/>
        </p:spPr>
        <p:txBody>
          <a:bodyPr wrap="square" lIns="91440" tIns="45720" rIns="91440" bIns="45720" rtlCol="0" anchor="t"/>
          <a:lstStyle/>
          <a:p>
            <a:pPr marL="0" indent="0">
              <a:lnSpc>
                <a:spcPct val="130000"/>
              </a:lnSpc>
              <a:buNone/>
            </a:pPr>
            <a:r>
              <a:rPr lang="en-US" sz="1600" dirty="0">
                <a:solidFill>
                  <a:srgbClr val="000000"/>
                </a:solidFill>
                <a:latin typeface="MiSans" pitchFamily="34" charset="0"/>
                <a:ea typeface="MiSans" pitchFamily="34" charset="-122"/>
                <a:cs typeface="MiSans" pitchFamily="34" charset="-120"/>
              </a:rPr>
              <a:t>Incluye traslados temporales o permanentes entre centros de trabajo. Puede ser clave para ajustar plantilla a cambios de demanda regional. Debe respetar derecho a indemnización si suponen cambio sustancial de condiciones y requiere preaviso y negociación.</a:t>
            </a:r>
            <a:endParaRPr lang="en-US" sz="1600" dirty="0"/>
          </a:p>
        </p:txBody>
      </p:sp>
      <p:sp>
        <p:nvSpPr>
          <p:cNvPr id="21" name="Text 18"/>
          <p:cNvSpPr/>
          <p:nvPr/>
        </p:nvSpPr>
        <p:spPr>
          <a:xfrm>
            <a:off x="8975725" y="1689735"/>
            <a:ext cx="2200275" cy="645160"/>
          </a:xfrm>
          <a:prstGeom prst="rect">
            <a:avLst/>
          </a:prstGeom>
          <a:noFill/>
          <a:ln/>
        </p:spPr>
        <p:txBody>
          <a:bodyPr wrap="square" lIns="91440" tIns="45720" rIns="91440" bIns="45720" rtlCol="0" anchor="t"/>
          <a:lstStyle/>
          <a:p>
            <a:pPr marL="0" indent="0" algn="ctr">
              <a:lnSpc>
                <a:spcPct val="100000"/>
              </a:lnSpc>
              <a:buNone/>
            </a:pPr>
            <a:r>
              <a:rPr lang="en-US" sz="1800" dirty="0">
                <a:solidFill>
                  <a:srgbClr val="FFFFFF"/>
                </a:solidFill>
                <a:latin typeface="MiSans" pitchFamily="34" charset="0"/>
                <a:ea typeface="MiSans" pitchFamily="34" charset="-122"/>
                <a:cs typeface="MiSans" pitchFamily="34" charset="-120"/>
              </a:rPr>
              <a:t>Teletrabajo y trabajo híbrido</a:t>
            </a:r>
            <a:endParaRPr lang="en-US" sz="1600" dirty="0"/>
          </a:p>
        </p:txBody>
      </p:sp>
      <p:sp>
        <p:nvSpPr>
          <p:cNvPr id="22" name="Text 19"/>
          <p:cNvSpPr/>
          <p:nvPr/>
        </p:nvSpPr>
        <p:spPr>
          <a:xfrm>
            <a:off x="8540750" y="2454910"/>
            <a:ext cx="3070860" cy="2637790"/>
          </a:xfrm>
          <a:prstGeom prst="rect">
            <a:avLst/>
          </a:prstGeom>
          <a:noFill/>
          <a:ln/>
        </p:spPr>
        <p:txBody>
          <a:bodyPr wrap="square" lIns="91440" tIns="45720" rIns="91440" bIns="45720" rtlCol="0" anchor="t"/>
          <a:lstStyle/>
          <a:p>
            <a:pPr marL="0" indent="0">
              <a:lnSpc>
                <a:spcPct val="130000"/>
              </a:lnSpc>
              <a:buNone/>
            </a:pPr>
            <a:r>
              <a:rPr lang="en-US" sz="1600" dirty="0">
                <a:solidFill>
                  <a:srgbClr val="000000"/>
                </a:solidFill>
                <a:latin typeface="MiSans" pitchFamily="34" charset="0"/>
                <a:ea typeface="MiSans" pitchFamily="34" charset="-122"/>
                <a:cs typeface="MiSans" pitchFamily="34" charset="-120"/>
              </a:rPr>
              <a:t>Acelerado por la COVID-19, permite trabajar fuera de la oficina habitual. Reduce costes de oficina y desplazamientos, y amplía acceso a talento. Requiere regulación de horarios, gastos, desconexión digital y prevención de riesgos para evitar precarización.</a:t>
            </a:r>
            <a:endParaRPr lang="en-US" sz="1600" dirty="0"/>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142240"/>
            <a:ext cx="7499985" cy="368300"/>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Indicadores de flexibilidad interna</a:t>
            </a:r>
            <a:endParaRPr lang="en-US" sz="1600" dirty="0"/>
          </a:p>
        </p:txBody>
      </p:sp>
      <p:sp>
        <p:nvSpPr>
          <p:cNvPr id="12" name="Shape 10"/>
          <p:cNvSpPr/>
          <p:nvPr/>
        </p:nvSpPr>
        <p:spPr>
          <a:xfrm>
            <a:off x="663575" y="1140460"/>
            <a:ext cx="3412490" cy="4547235"/>
          </a:xfrm>
          <a:prstGeom prst="roundRect">
            <a:avLst>
              <a:gd name="adj" fmla="val 8931"/>
            </a:avLst>
          </a:prstGeom>
          <a:solidFill>
            <a:srgbClr val="000000">
              <a:alpha val="0"/>
            </a:srgbClr>
          </a:solidFill>
          <a:ln w="28575">
            <a:solidFill>
              <a:srgbClr val="00B0F0"/>
            </a:solidFill>
            <a:prstDash val="solid"/>
          </a:ln>
        </p:spPr>
        <p:txBody>
          <a:bodyPr/>
          <a:lstStyle/>
          <a:p>
            <a:endParaRPr lang="es-ES"/>
          </a:p>
        </p:txBody>
      </p:sp>
      <p:sp>
        <p:nvSpPr>
          <p:cNvPr id="13" name="Text 11"/>
          <p:cNvSpPr/>
          <p:nvPr/>
        </p:nvSpPr>
        <p:spPr>
          <a:xfrm>
            <a:off x="663575" y="1140460"/>
            <a:ext cx="3412490" cy="45472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858520" y="1368425"/>
            <a:ext cx="3071495" cy="385445"/>
          </a:xfrm>
          <a:prstGeom prst="roundRect">
            <a:avLst>
              <a:gd name="adj" fmla="val 45340"/>
            </a:avLst>
          </a:prstGeom>
          <a:solidFill>
            <a:srgbClr val="00B0F0"/>
          </a:solidFill>
          <a:ln/>
        </p:spPr>
        <p:txBody>
          <a:bodyPr/>
          <a:lstStyle/>
          <a:p>
            <a:endParaRPr lang="es-ES"/>
          </a:p>
        </p:txBody>
      </p:sp>
      <p:sp>
        <p:nvSpPr>
          <p:cNvPr id="15" name="Text 13"/>
          <p:cNvSpPr/>
          <p:nvPr/>
        </p:nvSpPr>
        <p:spPr>
          <a:xfrm>
            <a:off x="858520" y="1368425"/>
            <a:ext cx="3071495" cy="38544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4580255" y="1140460"/>
            <a:ext cx="3412490" cy="4547235"/>
          </a:xfrm>
          <a:prstGeom prst="roundRect">
            <a:avLst>
              <a:gd name="adj" fmla="val 8931"/>
            </a:avLst>
          </a:prstGeom>
          <a:solidFill>
            <a:srgbClr val="000000">
              <a:alpha val="0"/>
            </a:srgbClr>
          </a:solidFill>
          <a:ln w="28575">
            <a:solidFill>
              <a:srgbClr val="00B0F0"/>
            </a:solidFill>
            <a:prstDash val="solid"/>
          </a:ln>
        </p:spPr>
        <p:txBody>
          <a:bodyPr/>
          <a:lstStyle/>
          <a:p>
            <a:endParaRPr lang="es-ES"/>
          </a:p>
        </p:txBody>
      </p:sp>
      <p:sp>
        <p:nvSpPr>
          <p:cNvPr id="17" name="Text 15"/>
          <p:cNvSpPr/>
          <p:nvPr/>
        </p:nvSpPr>
        <p:spPr>
          <a:xfrm>
            <a:off x="4580255" y="1140460"/>
            <a:ext cx="3412490" cy="45472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Shape 16"/>
          <p:cNvSpPr/>
          <p:nvPr/>
        </p:nvSpPr>
        <p:spPr>
          <a:xfrm>
            <a:off x="4775200" y="1368425"/>
            <a:ext cx="3071495" cy="385445"/>
          </a:xfrm>
          <a:prstGeom prst="roundRect">
            <a:avLst>
              <a:gd name="adj" fmla="val 45340"/>
            </a:avLst>
          </a:prstGeom>
          <a:solidFill>
            <a:srgbClr val="00B0F0"/>
          </a:solidFill>
          <a:ln/>
        </p:spPr>
        <p:txBody>
          <a:bodyPr/>
          <a:lstStyle/>
          <a:p>
            <a:endParaRPr lang="es-ES"/>
          </a:p>
        </p:txBody>
      </p:sp>
      <p:sp>
        <p:nvSpPr>
          <p:cNvPr id="19" name="Text 17"/>
          <p:cNvSpPr/>
          <p:nvPr/>
        </p:nvSpPr>
        <p:spPr>
          <a:xfrm>
            <a:off x="4775200" y="1368425"/>
            <a:ext cx="3071495" cy="38544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0" name="Shape 18"/>
          <p:cNvSpPr/>
          <p:nvPr/>
        </p:nvSpPr>
        <p:spPr>
          <a:xfrm>
            <a:off x="8434070" y="1140460"/>
            <a:ext cx="3412490" cy="4547235"/>
          </a:xfrm>
          <a:prstGeom prst="roundRect">
            <a:avLst>
              <a:gd name="adj" fmla="val 8931"/>
            </a:avLst>
          </a:prstGeom>
          <a:solidFill>
            <a:srgbClr val="000000">
              <a:alpha val="0"/>
            </a:srgbClr>
          </a:solidFill>
          <a:ln w="28575">
            <a:solidFill>
              <a:srgbClr val="00B0F0"/>
            </a:solidFill>
            <a:prstDash val="solid"/>
          </a:ln>
        </p:spPr>
        <p:txBody>
          <a:bodyPr/>
          <a:lstStyle/>
          <a:p>
            <a:endParaRPr lang="es-ES"/>
          </a:p>
        </p:txBody>
      </p:sp>
      <p:sp>
        <p:nvSpPr>
          <p:cNvPr id="21" name="Text 19"/>
          <p:cNvSpPr/>
          <p:nvPr/>
        </p:nvSpPr>
        <p:spPr>
          <a:xfrm>
            <a:off x="8434070" y="1140460"/>
            <a:ext cx="3412490" cy="45472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2" name="Shape 20"/>
          <p:cNvSpPr/>
          <p:nvPr/>
        </p:nvSpPr>
        <p:spPr>
          <a:xfrm>
            <a:off x="8629015" y="1368425"/>
            <a:ext cx="3071495" cy="385445"/>
          </a:xfrm>
          <a:prstGeom prst="roundRect">
            <a:avLst>
              <a:gd name="adj" fmla="val 45340"/>
            </a:avLst>
          </a:prstGeom>
          <a:solidFill>
            <a:srgbClr val="00B0F0"/>
          </a:solidFill>
          <a:ln/>
        </p:spPr>
        <p:txBody>
          <a:bodyPr/>
          <a:lstStyle/>
          <a:p>
            <a:endParaRPr lang="es-ES"/>
          </a:p>
        </p:txBody>
      </p:sp>
      <p:sp>
        <p:nvSpPr>
          <p:cNvPr id="23" name="Text 21"/>
          <p:cNvSpPr/>
          <p:nvPr/>
        </p:nvSpPr>
        <p:spPr>
          <a:xfrm>
            <a:off x="8629015" y="1368425"/>
            <a:ext cx="3071495" cy="385445"/>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24" name="Image 0" descr="https://kimi-img.moonshot.cn/pub/slides/slides_tmpl/image/25-08-27-19:57:42-d2nf5dh8bjvh7rlivsu0.png"/>
          <p:cNvPicPr>
            <a:picLocks noChangeAspect="1"/>
          </p:cNvPicPr>
          <p:nvPr/>
        </p:nvPicPr>
        <p:blipFill>
          <a:blip r:embed="rId3"/>
          <a:stretch>
            <a:fillRect/>
          </a:stretch>
        </p:blipFill>
        <p:spPr>
          <a:xfrm>
            <a:off x="1376045" y="4373245"/>
            <a:ext cx="2012315" cy="1896110"/>
          </a:xfrm>
          <a:prstGeom prst="rect">
            <a:avLst/>
          </a:prstGeom>
        </p:spPr>
      </p:pic>
      <p:pic>
        <p:nvPicPr>
          <p:cNvPr id="25" name="Image 1" descr="https://kimi-img.moonshot.cn/pub/slides/slides_tmpl/image/25-08-27-19:57:42-d2nf5dh8bjvh7rlivspg.png"/>
          <p:cNvPicPr>
            <a:picLocks noChangeAspect="1"/>
          </p:cNvPicPr>
          <p:nvPr/>
        </p:nvPicPr>
        <p:blipFill>
          <a:blip r:embed="rId4"/>
          <a:stretch>
            <a:fillRect/>
          </a:stretch>
        </p:blipFill>
        <p:spPr>
          <a:xfrm>
            <a:off x="5203825" y="4239895"/>
            <a:ext cx="2297430" cy="2001520"/>
          </a:xfrm>
          <a:prstGeom prst="rect">
            <a:avLst/>
          </a:prstGeom>
        </p:spPr>
      </p:pic>
      <p:pic>
        <p:nvPicPr>
          <p:cNvPr id="26" name="Image 2" descr="https://kimi-img.moonshot.cn/pub/slides/slides_tmpl/image/25-08-27-19:57:42-d2nf5dh8bjvh7rlivt0g.png"/>
          <p:cNvPicPr>
            <a:picLocks noChangeAspect="1"/>
          </p:cNvPicPr>
          <p:nvPr/>
        </p:nvPicPr>
        <p:blipFill>
          <a:blip r:embed="rId5"/>
          <a:stretch>
            <a:fillRect/>
          </a:stretch>
        </p:blipFill>
        <p:spPr>
          <a:xfrm>
            <a:off x="9236075" y="4239895"/>
            <a:ext cx="2021205" cy="2214880"/>
          </a:xfrm>
          <a:prstGeom prst="rect">
            <a:avLst/>
          </a:prstGeom>
        </p:spPr>
      </p:pic>
      <p:sp>
        <p:nvSpPr>
          <p:cNvPr id="27" name="Text 22"/>
          <p:cNvSpPr/>
          <p:nvPr/>
        </p:nvSpPr>
        <p:spPr>
          <a:xfrm>
            <a:off x="858520" y="1368425"/>
            <a:ext cx="3070860" cy="385445"/>
          </a:xfrm>
          <a:prstGeom prst="rect">
            <a:avLst/>
          </a:prstGeom>
          <a:noFill/>
          <a:ln/>
        </p:spPr>
        <p:txBody>
          <a:bodyPr wrap="square" lIns="91440" tIns="45720" rIns="91440" bIns="45720" rtlCol="0" anchor="ctr"/>
          <a:lstStyle/>
          <a:p>
            <a:pPr marL="0" indent="0" algn="ctr">
              <a:lnSpc>
                <a:spcPct val="100000"/>
              </a:lnSpc>
              <a:buNone/>
            </a:pPr>
            <a:r>
              <a:rPr lang="en-US" sz="1600" dirty="0">
                <a:solidFill>
                  <a:srgbClr val="FFFFFF"/>
                </a:solidFill>
                <a:latin typeface="MiSans" pitchFamily="34" charset="0"/>
                <a:ea typeface="MiSans" pitchFamily="34" charset="-122"/>
                <a:cs typeface="MiSans" pitchFamily="34" charset="-120"/>
              </a:rPr>
              <a:t>Participación en formación</a:t>
            </a:r>
            <a:endParaRPr lang="en-US" sz="1600" dirty="0"/>
          </a:p>
        </p:txBody>
      </p:sp>
      <p:sp>
        <p:nvSpPr>
          <p:cNvPr id="28" name="Text 23"/>
          <p:cNvSpPr/>
          <p:nvPr/>
        </p:nvSpPr>
        <p:spPr>
          <a:xfrm>
            <a:off x="857885" y="1946910"/>
            <a:ext cx="3070860" cy="2292985"/>
          </a:xfrm>
          <a:prstGeom prst="rect">
            <a:avLst/>
          </a:prstGeom>
          <a:noFill/>
          <a:ln/>
        </p:spPr>
        <p:txBody>
          <a:bodyPr wrap="square" lIns="91440" tIns="45720" rIns="91440" bIns="45720" rtlCol="0" anchor="t"/>
          <a:lstStyle/>
          <a:p>
            <a:pPr marL="0" indent="0">
              <a:lnSpc>
                <a:spcPct val="130000"/>
              </a:lnSpc>
              <a:buNone/>
            </a:pPr>
            <a:r>
              <a:rPr lang="en-US" sz="1400" dirty="0">
                <a:solidFill>
                  <a:srgbClr val="000000"/>
                </a:solidFill>
                <a:latin typeface="MiSans" pitchFamily="34" charset="0"/>
                <a:ea typeface="MiSans" pitchFamily="34" charset="-122"/>
                <a:cs typeface="MiSans" pitchFamily="34" charset="-120"/>
              </a:rPr>
              <a:t>La proporción de trabajadores que reciben formación financiada por la empresa es indicador de capacidad de adaptación. Países con alta formación continua logran transiciones laborales más rápidas y mejores salarios, reduciendo dependencia de ajustes externos.</a:t>
            </a:r>
            <a:endParaRPr lang="en-US" sz="1600" dirty="0"/>
          </a:p>
        </p:txBody>
      </p:sp>
      <p:sp>
        <p:nvSpPr>
          <p:cNvPr id="29" name="Text 24"/>
          <p:cNvSpPr/>
          <p:nvPr/>
        </p:nvSpPr>
        <p:spPr>
          <a:xfrm>
            <a:off x="4775199" y="1393190"/>
            <a:ext cx="3217545" cy="360680"/>
          </a:xfrm>
          <a:prstGeom prst="rect">
            <a:avLst/>
          </a:prstGeom>
          <a:noFill/>
          <a:ln/>
        </p:spPr>
        <p:txBody>
          <a:bodyPr wrap="square" lIns="91440" tIns="45720" rIns="91440" bIns="45720" rtlCol="0" anchor="ctr"/>
          <a:lstStyle/>
          <a:p>
            <a:pPr marL="0" indent="0" algn="ctr">
              <a:lnSpc>
                <a:spcPct val="100000"/>
              </a:lnSpc>
              <a:buNone/>
            </a:pPr>
            <a:r>
              <a:rPr lang="en-US" sz="1400" dirty="0">
                <a:solidFill>
                  <a:srgbClr val="FFFFFF"/>
                </a:solidFill>
                <a:latin typeface="MiSans" pitchFamily="34" charset="0"/>
                <a:ea typeface="MiSans" pitchFamily="34" charset="-122"/>
                <a:cs typeface="MiSans" pitchFamily="34" charset="-120"/>
              </a:rPr>
              <a:t>Uso de contratos parciales y discontinuos</a:t>
            </a:r>
            <a:endParaRPr lang="en-US" sz="1400" dirty="0"/>
          </a:p>
        </p:txBody>
      </p:sp>
      <p:sp>
        <p:nvSpPr>
          <p:cNvPr id="30" name="Text 25"/>
          <p:cNvSpPr/>
          <p:nvPr/>
        </p:nvSpPr>
        <p:spPr>
          <a:xfrm>
            <a:off x="4774565" y="1946910"/>
            <a:ext cx="3070860" cy="2292985"/>
          </a:xfrm>
          <a:prstGeom prst="rect">
            <a:avLst/>
          </a:prstGeom>
          <a:noFill/>
          <a:ln/>
        </p:spPr>
        <p:txBody>
          <a:bodyPr wrap="square" lIns="91440" tIns="45720" rIns="91440" bIns="45720" rtlCol="0" anchor="t"/>
          <a:lstStyle/>
          <a:p>
            <a:pPr marL="0" indent="0">
              <a:lnSpc>
                <a:spcPct val="130000"/>
              </a:lnSpc>
              <a:buNone/>
            </a:pPr>
            <a:r>
              <a:rPr lang="en-US" sz="1400" dirty="0">
                <a:solidFill>
                  <a:srgbClr val="000000"/>
                </a:solidFill>
                <a:latin typeface="MiSans" pitchFamily="34" charset="0"/>
                <a:ea typeface="MiSans" pitchFamily="34" charset="-122"/>
                <a:cs typeface="MiSans" pitchFamily="34" charset="-120"/>
              </a:rPr>
              <a:t>La incidencia de estos contratos refleja capacidad de ajustar tiempo de trabajo sin despido. Un uso equilibrado indica flexibilidad interna bien regulada. Su abuso, en cambio, puede ser señal de precariedad encubierta si se usan para cubrir puestos permanentes.</a:t>
            </a:r>
            <a:endParaRPr lang="en-US" sz="1600" dirty="0"/>
          </a:p>
        </p:txBody>
      </p:sp>
      <p:sp>
        <p:nvSpPr>
          <p:cNvPr id="31" name="Text 26"/>
          <p:cNvSpPr/>
          <p:nvPr/>
        </p:nvSpPr>
        <p:spPr>
          <a:xfrm>
            <a:off x="8629015" y="1368425"/>
            <a:ext cx="3070860" cy="385445"/>
          </a:xfrm>
          <a:prstGeom prst="rect">
            <a:avLst/>
          </a:prstGeom>
          <a:noFill/>
          <a:ln/>
        </p:spPr>
        <p:txBody>
          <a:bodyPr wrap="square" lIns="91440" tIns="45720" rIns="91440" bIns="45720" rtlCol="0" anchor="ctr"/>
          <a:lstStyle/>
          <a:p>
            <a:pPr marL="0" indent="0" algn="ctr">
              <a:lnSpc>
                <a:spcPct val="100000"/>
              </a:lnSpc>
              <a:buNone/>
            </a:pPr>
            <a:r>
              <a:rPr lang="en-US" sz="1600" dirty="0">
                <a:solidFill>
                  <a:srgbClr val="FFFFFF"/>
                </a:solidFill>
                <a:latin typeface="MiSans" pitchFamily="34" charset="0"/>
                <a:ea typeface="MiSans" pitchFamily="34" charset="-122"/>
                <a:cs typeface="MiSans" pitchFamily="34" charset="-120"/>
              </a:rPr>
              <a:t>Penetración del teletrabajo</a:t>
            </a:r>
            <a:endParaRPr lang="en-US" sz="1600" dirty="0"/>
          </a:p>
        </p:txBody>
      </p:sp>
      <p:sp>
        <p:nvSpPr>
          <p:cNvPr id="32" name="Text 27"/>
          <p:cNvSpPr/>
          <p:nvPr/>
        </p:nvSpPr>
        <p:spPr>
          <a:xfrm>
            <a:off x="8628380" y="1946910"/>
            <a:ext cx="3070860" cy="2292985"/>
          </a:xfrm>
          <a:prstGeom prst="rect">
            <a:avLst/>
          </a:prstGeom>
          <a:noFill/>
          <a:ln/>
        </p:spPr>
        <p:txBody>
          <a:bodyPr wrap="square" lIns="91440" tIns="45720" rIns="91440" bIns="45720" rtlCol="0" anchor="t"/>
          <a:lstStyle/>
          <a:p>
            <a:pPr marL="0" indent="0">
              <a:lnSpc>
                <a:spcPct val="130000"/>
              </a:lnSpc>
              <a:buNone/>
            </a:pPr>
            <a:r>
              <a:rPr lang="en-US" sz="1400" dirty="0">
                <a:solidFill>
                  <a:srgbClr val="000000"/>
                </a:solidFill>
                <a:latin typeface="MiSans" pitchFamily="34" charset="0"/>
                <a:ea typeface="MiSans" pitchFamily="34" charset="-122"/>
                <a:cs typeface="MiSans" pitchFamily="34" charset="-120"/>
              </a:rPr>
              <a:t>El porcentaje de trabajadores que teletrabajan al menos algunos días mide adaptación a nuevas formas de organización. Países nórdicos alcanzan más del 30 %, combinando flexibilidad con regulación robusta de derechos digitales, lo que reduce costes y mejora conciliación.</a:t>
            </a:r>
            <a:endParaRPr lang="en-US" sz="1600" dirty="0"/>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19:57:41-d2nf5d98bjvh7rlivsmg.png"/>
          <p:cNvPicPr>
            <a:picLocks noChangeAspect="1"/>
          </p:cNvPicPr>
          <p:nvPr/>
        </p:nvPicPr>
        <p:blipFill>
          <a:blip r:embed="rId3"/>
          <a:stretch>
            <a:fillRect/>
          </a:stretch>
        </p:blipFill>
        <p:spPr>
          <a:xfrm>
            <a:off x="4558665" y="1141095"/>
            <a:ext cx="3619500" cy="3912870"/>
          </a:xfrm>
          <a:prstGeom prst="rect">
            <a:avLst/>
          </a:prstGeom>
        </p:spPr>
      </p:pic>
      <p:sp>
        <p:nvSpPr>
          <p:cNvPr id="3" name="Shape 0"/>
          <p:cNvSpPr/>
          <p:nvPr/>
        </p:nvSpPr>
        <p:spPr>
          <a:xfrm>
            <a:off x="2047240" y="5053965"/>
            <a:ext cx="8642985" cy="1199515"/>
          </a:xfrm>
          <a:prstGeom prst="roundRect">
            <a:avLst>
              <a:gd name="adj" fmla="val 50000"/>
            </a:avLst>
          </a:prstGeom>
          <a:solidFill>
            <a:srgbClr val="00B0F0"/>
          </a:solidFill>
          <a:ln w="57150">
            <a:solidFill>
              <a:srgbClr val="FFFFFF">
                <a:alpha val="0"/>
              </a:srgbClr>
            </a:solidFill>
            <a:prstDash val="solid"/>
          </a:ln>
        </p:spPr>
        <p:txBody>
          <a:bodyPr/>
          <a:lstStyle/>
          <a:p>
            <a:endParaRPr lang="es-ES"/>
          </a:p>
        </p:txBody>
      </p:sp>
      <p:sp>
        <p:nvSpPr>
          <p:cNvPr id="4" name="Text 1"/>
          <p:cNvSpPr/>
          <p:nvPr/>
        </p:nvSpPr>
        <p:spPr>
          <a:xfrm>
            <a:off x="2047240" y="5053965"/>
            <a:ext cx="8642985" cy="11995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a:off x="1920240" y="4884420"/>
            <a:ext cx="8642985" cy="1199515"/>
          </a:xfrm>
          <a:prstGeom prst="roundRect">
            <a:avLst>
              <a:gd name="adj" fmla="val 50000"/>
            </a:avLst>
          </a:prstGeom>
          <a:solidFill>
            <a:srgbClr val="FFFFFF"/>
          </a:solidFill>
          <a:ln w="57150">
            <a:solidFill>
              <a:srgbClr val="000000"/>
            </a:solidFill>
            <a:prstDash val="solid"/>
          </a:ln>
        </p:spPr>
        <p:txBody>
          <a:bodyPr/>
          <a:lstStyle/>
          <a:p>
            <a:endParaRPr lang="es-ES"/>
          </a:p>
        </p:txBody>
      </p:sp>
      <p:sp>
        <p:nvSpPr>
          <p:cNvPr id="6" name="Text 3"/>
          <p:cNvSpPr/>
          <p:nvPr/>
        </p:nvSpPr>
        <p:spPr>
          <a:xfrm>
            <a:off x="1920240" y="4884420"/>
            <a:ext cx="8642985" cy="11995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7" name="Text 4"/>
          <p:cNvSpPr/>
          <p:nvPr/>
        </p:nvSpPr>
        <p:spPr>
          <a:xfrm>
            <a:off x="1920240" y="5045710"/>
            <a:ext cx="8643620" cy="828675"/>
          </a:xfrm>
          <a:prstGeom prst="rect">
            <a:avLst/>
          </a:prstGeom>
          <a:noFill/>
          <a:ln/>
        </p:spPr>
        <p:txBody>
          <a:bodyPr wrap="square" lIns="91440" tIns="45720" rIns="91440" bIns="45720" rtlCol="0" anchor="ctr">
            <a:spAutoFit/>
          </a:bodyPr>
          <a:lstStyle/>
          <a:p>
            <a:pPr marL="0" indent="0" algn="ctr">
              <a:lnSpc>
                <a:spcPct val="100000"/>
              </a:lnSpc>
              <a:buNone/>
            </a:pPr>
            <a:r>
              <a:rPr lang="en-US" sz="5400" b="1" dirty="0">
                <a:solidFill>
                  <a:srgbClr val="000000"/>
                </a:solidFill>
                <a:latin typeface="MiSans" pitchFamily="34" charset="0"/>
                <a:ea typeface="MiSans" pitchFamily="34" charset="-122"/>
                <a:cs typeface="MiSans" pitchFamily="34" charset="-120"/>
              </a:rPr>
              <a:t>Calidad del Empleo</a:t>
            </a:r>
            <a:endParaRPr lang="en-US" sz="1600" dirty="0"/>
          </a:p>
        </p:txBody>
      </p:sp>
      <p:sp>
        <p:nvSpPr>
          <p:cNvPr id="8" name="Text 5"/>
          <p:cNvSpPr/>
          <p:nvPr/>
        </p:nvSpPr>
        <p:spPr>
          <a:xfrm>
            <a:off x="3447415" y="256898"/>
            <a:ext cx="5640070" cy="1107996"/>
          </a:xfrm>
          <a:prstGeom prst="rect">
            <a:avLst/>
          </a:prstGeom>
          <a:noFill/>
          <a:ln/>
        </p:spPr>
        <p:txBody>
          <a:bodyPr wrap="square" lIns="91440" tIns="45720" rIns="91440" bIns="45720" rtlCol="0" anchor="ctr">
            <a:spAutoFit/>
          </a:bodyPr>
          <a:lstStyle/>
          <a:p>
            <a:pPr marL="0" indent="0" algn="ctr">
              <a:lnSpc>
                <a:spcPct val="100000"/>
              </a:lnSpc>
              <a:buNone/>
            </a:pPr>
            <a:r>
              <a:rPr lang="en-US" sz="6600" b="1" dirty="0">
                <a:solidFill>
                  <a:srgbClr val="000000"/>
                </a:solidFill>
                <a:latin typeface="MiSans" pitchFamily="34" charset="0"/>
                <a:ea typeface="MiSans" pitchFamily="34" charset="-122"/>
                <a:cs typeface="MiSans" pitchFamily="34" charset="-120"/>
              </a:rPr>
              <a:t>PARTE  05</a:t>
            </a:r>
            <a:endParaRPr lang="en-US" sz="1600" dirty="0"/>
          </a:p>
        </p:txBody>
      </p:sp>
      <p:sp>
        <p:nvSpPr>
          <p:cNvPr id="9" name="Shape 6"/>
          <p:cNvSpPr/>
          <p:nvPr/>
        </p:nvSpPr>
        <p:spPr>
          <a:xfrm>
            <a:off x="291465" y="6075045"/>
            <a:ext cx="607496" cy="0"/>
          </a:xfrm>
          <a:prstGeom prst="line">
            <a:avLst/>
          </a:prstGeom>
          <a:noFill/>
          <a:ln w="57150">
            <a:solidFill>
              <a:srgbClr val="00B0F0"/>
            </a:solidFill>
            <a:prstDash val="solid"/>
            <a:headEnd type="none"/>
            <a:tailEnd type="none"/>
          </a:ln>
        </p:spPr>
        <p:txBody>
          <a:bodyPr/>
          <a:lstStyle/>
          <a:p>
            <a:endParaRPr lang="es-ES"/>
          </a:p>
        </p:txBody>
      </p:sp>
      <p:sp>
        <p:nvSpPr>
          <p:cNvPr id="10" name="Shape 7"/>
          <p:cNvSpPr/>
          <p:nvPr/>
        </p:nvSpPr>
        <p:spPr>
          <a:xfrm>
            <a:off x="291465" y="6308725"/>
            <a:ext cx="607496" cy="0"/>
          </a:xfrm>
          <a:prstGeom prst="line">
            <a:avLst/>
          </a:prstGeom>
          <a:noFill/>
          <a:ln w="57150">
            <a:solidFill>
              <a:srgbClr val="00B0F0"/>
            </a:solidFill>
            <a:prstDash val="solid"/>
            <a:headEnd type="none"/>
            <a:tailEnd type="none"/>
          </a:ln>
        </p:spPr>
        <p:txBody>
          <a:bodyPr/>
          <a:lstStyle/>
          <a:p>
            <a:endParaRPr lang="es-ES"/>
          </a:p>
        </p:txBody>
      </p:sp>
      <p:sp>
        <p:nvSpPr>
          <p:cNvPr id="11" name="Shape 8"/>
          <p:cNvSpPr/>
          <p:nvPr/>
        </p:nvSpPr>
        <p:spPr>
          <a:xfrm>
            <a:off x="291465" y="6542405"/>
            <a:ext cx="607496" cy="0"/>
          </a:xfrm>
          <a:prstGeom prst="line">
            <a:avLst/>
          </a:prstGeom>
          <a:noFill/>
          <a:ln w="57150">
            <a:solidFill>
              <a:srgbClr val="00B0F0"/>
            </a:solidFill>
            <a:prstDash val="solid"/>
            <a:headEnd type="none"/>
            <a:tailEnd type="none"/>
          </a:ln>
        </p:spPr>
        <p:txBody>
          <a:bodyPr/>
          <a:lstStyle/>
          <a:p>
            <a:endParaRPr lang="es-ES"/>
          </a:p>
        </p:txBody>
      </p:sp>
      <p:sp>
        <p:nvSpPr>
          <p:cNvPr id="12" name="Shape 9"/>
          <p:cNvSpPr/>
          <p:nvPr/>
        </p:nvSpPr>
        <p:spPr>
          <a:xfrm>
            <a:off x="291465" y="202565"/>
            <a:ext cx="337185" cy="337185"/>
          </a:xfrm>
          <a:prstGeom prst="ellipse">
            <a:avLst/>
          </a:prstGeom>
          <a:solidFill>
            <a:srgbClr val="FFFFFF"/>
          </a:solidFill>
          <a:ln w="19050">
            <a:solidFill>
              <a:srgbClr val="00B0F0"/>
            </a:solidFill>
            <a:prstDash val="solid"/>
          </a:ln>
        </p:spPr>
        <p:txBody>
          <a:bodyPr/>
          <a:lstStyle/>
          <a:p>
            <a:endParaRPr lang="es-ES"/>
          </a:p>
        </p:txBody>
      </p:sp>
      <p:sp>
        <p:nvSpPr>
          <p:cNvPr id="13" name="Text 10"/>
          <p:cNvSpPr/>
          <p:nvPr/>
        </p:nvSpPr>
        <p:spPr>
          <a:xfrm>
            <a:off x="29146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1251585" y="202565"/>
            <a:ext cx="337185" cy="337185"/>
          </a:xfrm>
          <a:prstGeom prst="ellipse">
            <a:avLst/>
          </a:prstGeom>
          <a:solidFill>
            <a:srgbClr val="FFFFFF"/>
          </a:solidFill>
          <a:ln w="19050">
            <a:solidFill>
              <a:srgbClr val="00B0F0"/>
            </a:solidFill>
            <a:prstDash val="solid"/>
          </a:ln>
        </p:spPr>
        <p:txBody>
          <a:bodyPr/>
          <a:lstStyle/>
          <a:p>
            <a:endParaRPr lang="es-ES"/>
          </a:p>
        </p:txBody>
      </p:sp>
      <p:sp>
        <p:nvSpPr>
          <p:cNvPr id="15" name="Text 12"/>
          <p:cNvSpPr/>
          <p:nvPr/>
        </p:nvSpPr>
        <p:spPr>
          <a:xfrm>
            <a:off x="125158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771525" y="202565"/>
            <a:ext cx="337185" cy="337185"/>
          </a:xfrm>
          <a:prstGeom prst="ellipse">
            <a:avLst/>
          </a:prstGeom>
          <a:solidFill>
            <a:srgbClr val="00B0F0"/>
          </a:solidFill>
          <a:ln w="19050">
            <a:solidFill>
              <a:srgbClr val="FFFFFF"/>
            </a:solidFill>
            <a:prstDash val="solid"/>
          </a:ln>
        </p:spPr>
        <p:txBody>
          <a:bodyPr/>
          <a:lstStyle/>
          <a:p>
            <a:endParaRPr lang="es-ES"/>
          </a:p>
        </p:txBody>
      </p:sp>
      <p:sp>
        <p:nvSpPr>
          <p:cNvPr id="17" name="Text 14"/>
          <p:cNvSpPr/>
          <p:nvPr/>
        </p:nvSpPr>
        <p:spPr>
          <a:xfrm>
            <a:off x="77152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Shape 15"/>
          <p:cNvSpPr/>
          <p:nvPr/>
        </p:nvSpPr>
        <p:spPr>
          <a:xfrm>
            <a:off x="1731645" y="202565"/>
            <a:ext cx="337185" cy="337185"/>
          </a:xfrm>
          <a:prstGeom prst="ellipse">
            <a:avLst/>
          </a:prstGeom>
          <a:solidFill>
            <a:srgbClr val="00B0F0"/>
          </a:solidFill>
          <a:ln w="19050">
            <a:solidFill>
              <a:srgbClr val="FFFFFF"/>
            </a:solidFill>
            <a:prstDash val="solid"/>
          </a:ln>
        </p:spPr>
        <p:txBody>
          <a:bodyPr/>
          <a:lstStyle/>
          <a:p>
            <a:endParaRPr lang="es-ES"/>
          </a:p>
        </p:txBody>
      </p:sp>
      <p:sp>
        <p:nvSpPr>
          <p:cNvPr id="19" name="Text 16"/>
          <p:cNvSpPr/>
          <p:nvPr/>
        </p:nvSpPr>
        <p:spPr>
          <a:xfrm>
            <a:off x="173164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142240"/>
            <a:ext cx="7499985" cy="368300"/>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Dimensiones de calidad</a:t>
            </a:r>
            <a:endParaRPr lang="en-US" sz="1600" dirty="0"/>
          </a:p>
        </p:txBody>
      </p:sp>
      <p:sp>
        <p:nvSpPr>
          <p:cNvPr id="12" name="Shape 10"/>
          <p:cNvSpPr/>
          <p:nvPr/>
        </p:nvSpPr>
        <p:spPr>
          <a:xfrm>
            <a:off x="714375" y="1840865"/>
            <a:ext cx="2893060" cy="3590925"/>
          </a:xfrm>
          <a:prstGeom prst="roundRect">
            <a:avLst/>
          </a:prstGeom>
          <a:solidFill>
            <a:srgbClr val="00B0F0"/>
          </a:solidFill>
          <a:ln w="28575">
            <a:solidFill>
              <a:srgbClr val="FFFFFF">
                <a:alpha val="0"/>
              </a:srgbClr>
            </a:solidFill>
            <a:prstDash val="solid"/>
          </a:ln>
        </p:spPr>
        <p:txBody>
          <a:bodyPr/>
          <a:lstStyle/>
          <a:p>
            <a:endParaRPr lang="es-ES"/>
          </a:p>
        </p:txBody>
      </p:sp>
      <p:sp>
        <p:nvSpPr>
          <p:cNvPr id="13" name="Text 11"/>
          <p:cNvSpPr/>
          <p:nvPr/>
        </p:nvSpPr>
        <p:spPr>
          <a:xfrm>
            <a:off x="714375" y="1840865"/>
            <a:ext cx="2893060" cy="359092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600075" y="1676400"/>
            <a:ext cx="2836545" cy="3590925"/>
          </a:xfrm>
          <a:prstGeom prst="roundRect">
            <a:avLst>
              <a:gd name="adj" fmla="val 14996"/>
            </a:avLst>
          </a:prstGeom>
          <a:solidFill>
            <a:srgbClr val="FFFFFF"/>
          </a:solidFill>
          <a:ln w="19050">
            <a:solidFill>
              <a:srgbClr val="000000"/>
            </a:solidFill>
            <a:prstDash val="solid"/>
          </a:ln>
        </p:spPr>
        <p:txBody>
          <a:bodyPr/>
          <a:lstStyle/>
          <a:p>
            <a:endParaRPr lang="es-ES"/>
          </a:p>
        </p:txBody>
      </p:sp>
      <p:sp>
        <p:nvSpPr>
          <p:cNvPr id="15" name="Text 13"/>
          <p:cNvSpPr/>
          <p:nvPr/>
        </p:nvSpPr>
        <p:spPr>
          <a:xfrm>
            <a:off x="600075" y="1676400"/>
            <a:ext cx="2836545" cy="359092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4561840" y="1981835"/>
            <a:ext cx="2893060" cy="3590925"/>
          </a:xfrm>
          <a:prstGeom prst="roundRect">
            <a:avLst/>
          </a:prstGeom>
          <a:solidFill>
            <a:srgbClr val="00B0F0"/>
          </a:solidFill>
          <a:ln w="28575">
            <a:solidFill>
              <a:srgbClr val="FFFFFF">
                <a:alpha val="0"/>
              </a:srgbClr>
            </a:solidFill>
            <a:prstDash val="solid"/>
          </a:ln>
        </p:spPr>
        <p:txBody>
          <a:bodyPr/>
          <a:lstStyle/>
          <a:p>
            <a:endParaRPr lang="es-ES"/>
          </a:p>
        </p:txBody>
      </p:sp>
      <p:sp>
        <p:nvSpPr>
          <p:cNvPr id="17" name="Text 15"/>
          <p:cNvSpPr/>
          <p:nvPr/>
        </p:nvSpPr>
        <p:spPr>
          <a:xfrm>
            <a:off x="4561840" y="1981835"/>
            <a:ext cx="2893060" cy="359092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Shape 16"/>
          <p:cNvSpPr/>
          <p:nvPr/>
        </p:nvSpPr>
        <p:spPr>
          <a:xfrm>
            <a:off x="4447540" y="1734820"/>
            <a:ext cx="2836545" cy="3590925"/>
          </a:xfrm>
          <a:prstGeom prst="roundRect">
            <a:avLst>
              <a:gd name="adj" fmla="val 14996"/>
            </a:avLst>
          </a:prstGeom>
          <a:solidFill>
            <a:srgbClr val="FFFFFF"/>
          </a:solidFill>
          <a:ln w="19050">
            <a:solidFill>
              <a:srgbClr val="000000"/>
            </a:solidFill>
            <a:prstDash val="solid"/>
          </a:ln>
        </p:spPr>
        <p:txBody>
          <a:bodyPr/>
          <a:lstStyle/>
          <a:p>
            <a:endParaRPr lang="es-ES"/>
          </a:p>
        </p:txBody>
      </p:sp>
      <p:sp>
        <p:nvSpPr>
          <p:cNvPr id="19" name="Text 17"/>
          <p:cNvSpPr/>
          <p:nvPr/>
        </p:nvSpPr>
        <p:spPr>
          <a:xfrm>
            <a:off x="4447540" y="1734820"/>
            <a:ext cx="2836545" cy="359092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0" name="Shape 18"/>
          <p:cNvSpPr/>
          <p:nvPr/>
        </p:nvSpPr>
        <p:spPr>
          <a:xfrm>
            <a:off x="8579485" y="2040255"/>
            <a:ext cx="2893060" cy="3590925"/>
          </a:xfrm>
          <a:prstGeom prst="roundRect">
            <a:avLst/>
          </a:prstGeom>
          <a:solidFill>
            <a:srgbClr val="00B0F0"/>
          </a:solidFill>
          <a:ln w="28575">
            <a:solidFill>
              <a:srgbClr val="FFFFFF">
                <a:alpha val="0"/>
              </a:srgbClr>
            </a:solidFill>
            <a:prstDash val="solid"/>
          </a:ln>
        </p:spPr>
        <p:txBody>
          <a:bodyPr/>
          <a:lstStyle/>
          <a:p>
            <a:endParaRPr lang="es-ES"/>
          </a:p>
        </p:txBody>
      </p:sp>
      <p:sp>
        <p:nvSpPr>
          <p:cNvPr id="21" name="Text 19"/>
          <p:cNvSpPr/>
          <p:nvPr/>
        </p:nvSpPr>
        <p:spPr>
          <a:xfrm>
            <a:off x="8579485" y="2040255"/>
            <a:ext cx="2893060" cy="359092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2" name="Shape 20"/>
          <p:cNvSpPr/>
          <p:nvPr/>
        </p:nvSpPr>
        <p:spPr>
          <a:xfrm>
            <a:off x="8465185" y="1793240"/>
            <a:ext cx="2836545" cy="3590925"/>
          </a:xfrm>
          <a:prstGeom prst="roundRect">
            <a:avLst>
              <a:gd name="adj" fmla="val 14996"/>
            </a:avLst>
          </a:prstGeom>
          <a:solidFill>
            <a:srgbClr val="FFFFFF"/>
          </a:solidFill>
          <a:ln w="19050">
            <a:solidFill>
              <a:srgbClr val="000000"/>
            </a:solidFill>
            <a:prstDash val="solid"/>
          </a:ln>
        </p:spPr>
        <p:txBody>
          <a:bodyPr/>
          <a:lstStyle/>
          <a:p>
            <a:endParaRPr lang="es-ES"/>
          </a:p>
        </p:txBody>
      </p:sp>
      <p:sp>
        <p:nvSpPr>
          <p:cNvPr id="23" name="Text 21"/>
          <p:cNvSpPr/>
          <p:nvPr/>
        </p:nvSpPr>
        <p:spPr>
          <a:xfrm>
            <a:off x="8465185" y="1793240"/>
            <a:ext cx="2836545" cy="359092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4" name="Shape 22"/>
          <p:cNvSpPr/>
          <p:nvPr/>
        </p:nvSpPr>
        <p:spPr>
          <a:xfrm>
            <a:off x="3816985" y="3035935"/>
            <a:ext cx="420370" cy="871220"/>
          </a:xfrm>
          <a:prstGeom prst="chevron">
            <a:avLst/>
          </a:prstGeom>
          <a:solidFill>
            <a:srgbClr val="00B0F0"/>
          </a:solidFill>
          <a:ln/>
        </p:spPr>
        <p:txBody>
          <a:bodyPr/>
          <a:lstStyle/>
          <a:p>
            <a:endParaRPr lang="es-ES"/>
          </a:p>
        </p:txBody>
      </p:sp>
      <p:sp>
        <p:nvSpPr>
          <p:cNvPr id="25" name="Text 23"/>
          <p:cNvSpPr/>
          <p:nvPr/>
        </p:nvSpPr>
        <p:spPr>
          <a:xfrm>
            <a:off x="3816985" y="3035935"/>
            <a:ext cx="420370" cy="8712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6" name="Shape 24"/>
          <p:cNvSpPr/>
          <p:nvPr/>
        </p:nvSpPr>
        <p:spPr>
          <a:xfrm>
            <a:off x="7750175" y="3035935"/>
            <a:ext cx="420370" cy="871220"/>
          </a:xfrm>
          <a:prstGeom prst="chevron">
            <a:avLst/>
          </a:prstGeom>
          <a:solidFill>
            <a:srgbClr val="00B0F0"/>
          </a:solidFill>
          <a:ln/>
        </p:spPr>
        <p:txBody>
          <a:bodyPr/>
          <a:lstStyle/>
          <a:p>
            <a:endParaRPr lang="es-ES"/>
          </a:p>
        </p:txBody>
      </p:sp>
      <p:sp>
        <p:nvSpPr>
          <p:cNvPr id="27" name="Text 25"/>
          <p:cNvSpPr/>
          <p:nvPr/>
        </p:nvSpPr>
        <p:spPr>
          <a:xfrm>
            <a:off x="7750175" y="3035935"/>
            <a:ext cx="420370" cy="8712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8" name="Shape 26"/>
          <p:cNvSpPr/>
          <p:nvPr/>
        </p:nvSpPr>
        <p:spPr>
          <a:xfrm>
            <a:off x="0" y="6569075"/>
            <a:ext cx="12192000" cy="310515"/>
          </a:xfrm>
          <a:prstGeom prst="rect">
            <a:avLst/>
          </a:prstGeom>
          <a:solidFill>
            <a:srgbClr val="00B0F0"/>
          </a:solidFill>
          <a:ln/>
        </p:spPr>
        <p:txBody>
          <a:bodyPr/>
          <a:lstStyle/>
          <a:p>
            <a:endParaRPr lang="es-ES"/>
          </a:p>
        </p:txBody>
      </p:sp>
      <p:sp>
        <p:nvSpPr>
          <p:cNvPr id="29" name="Text 27"/>
          <p:cNvSpPr/>
          <p:nvPr/>
        </p:nvSpPr>
        <p:spPr>
          <a:xfrm>
            <a:off x="0" y="6569075"/>
            <a:ext cx="12192000" cy="3105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30" name="Text 28"/>
          <p:cNvSpPr/>
          <p:nvPr/>
        </p:nvSpPr>
        <p:spPr>
          <a:xfrm>
            <a:off x="836295" y="1734820"/>
            <a:ext cx="2200275" cy="645160"/>
          </a:xfrm>
          <a:prstGeom prst="rect">
            <a:avLst/>
          </a:prstGeom>
          <a:noFill/>
          <a:ln/>
        </p:spPr>
        <p:txBody>
          <a:bodyPr wrap="square" lIns="91440" tIns="45720" rIns="91440" bIns="45720" rtlCol="0" anchor="t"/>
          <a:lstStyle/>
          <a:p>
            <a:pPr marL="0" indent="0" algn="ctr">
              <a:lnSpc>
                <a:spcPct val="100000"/>
              </a:lnSpc>
              <a:buNone/>
            </a:pPr>
            <a:r>
              <a:rPr lang="en-US" sz="1800" dirty="0">
                <a:solidFill>
                  <a:srgbClr val="00B0F0"/>
                </a:solidFill>
                <a:latin typeface="MiSans" pitchFamily="34" charset="0"/>
                <a:ea typeface="MiSans" pitchFamily="34" charset="-122"/>
                <a:cs typeface="MiSans" pitchFamily="34" charset="-120"/>
              </a:rPr>
              <a:t>Estabilidad y duración</a:t>
            </a:r>
            <a:endParaRPr lang="en-US" sz="1600" dirty="0"/>
          </a:p>
        </p:txBody>
      </p:sp>
      <p:sp>
        <p:nvSpPr>
          <p:cNvPr id="31" name="Text 29"/>
          <p:cNvSpPr/>
          <p:nvPr/>
        </p:nvSpPr>
        <p:spPr>
          <a:xfrm>
            <a:off x="714375" y="2379980"/>
            <a:ext cx="2578735" cy="2624455"/>
          </a:xfrm>
          <a:prstGeom prst="rect">
            <a:avLst/>
          </a:prstGeom>
          <a:noFill/>
          <a:ln/>
        </p:spPr>
        <p:txBody>
          <a:bodyPr wrap="square" lIns="91440" tIns="45720" rIns="91440" bIns="45720" rtlCol="0" anchor="t"/>
          <a:lstStyle/>
          <a:p>
            <a:pPr marL="0" indent="0">
              <a:lnSpc>
                <a:spcPct val="130000"/>
              </a:lnSpc>
              <a:buNone/>
            </a:pPr>
            <a:r>
              <a:rPr lang="en-US" sz="1200" dirty="0">
                <a:solidFill>
                  <a:srgbClr val="000000"/>
                </a:solidFill>
                <a:latin typeface="MiSans" pitchFamily="34" charset="0"/>
                <a:ea typeface="MiSans" pitchFamily="34" charset="-122"/>
                <a:cs typeface="MiSans" pitchFamily="34" charset="-120"/>
              </a:rPr>
              <a:t>Un empleo de calidad ofrece previsibilidad temporal y continuidad suficiente para planificar vida personal y profesional. Alta rotación y contratos muy cortos dificultan acceso a vivienda, crédito y formación, y aumentan estrés e incertidumbre laboral.</a:t>
            </a:r>
            <a:endParaRPr lang="en-US" sz="1400" dirty="0"/>
          </a:p>
        </p:txBody>
      </p:sp>
      <p:sp>
        <p:nvSpPr>
          <p:cNvPr id="32" name="Text 30"/>
          <p:cNvSpPr/>
          <p:nvPr/>
        </p:nvSpPr>
        <p:spPr>
          <a:xfrm>
            <a:off x="4683760" y="1793240"/>
            <a:ext cx="2200275" cy="645160"/>
          </a:xfrm>
          <a:prstGeom prst="rect">
            <a:avLst/>
          </a:prstGeom>
          <a:noFill/>
          <a:ln/>
        </p:spPr>
        <p:txBody>
          <a:bodyPr wrap="square" lIns="91440" tIns="45720" rIns="91440" bIns="45720" rtlCol="0" anchor="t"/>
          <a:lstStyle/>
          <a:p>
            <a:pPr marL="0" indent="0" algn="ctr">
              <a:lnSpc>
                <a:spcPct val="100000"/>
              </a:lnSpc>
              <a:buNone/>
            </a:pPr>
            <a:r>
              <a:rPr lang="en-US" sz="1800" dirty="0">
                <a:solidFill>
                  <a:srgbClr val="00B0F0"/>
                </a:solidFill>
                <a:latin typeface="MiSans" pitchFamily="34" charset="0"/>
                <a:ea typeface="MiSans" pitchFamily="34" charset="-122"/>
                <a:cs typeface="MiSans" pitchFamily="34" charset="-120"/>
              </a:rPr>
              <a:t>Remuneración adecuada</a:t>
            </a:r>
            <a:endParaRPr lang="en-US" sz="1600" dirty="0"/>
          </a:p>
        </p:txBody>
      </p:sp>
      <p:sp>
        <p:nvSpPr>
          <p:cNvPr id="33" name="Text 31"/>
          <p:cNvSpPr/>
          <p:nvPr/>
        </p:nvSpPr>
        <p:spPr>
          <a:xfrm>
            <a:off x="4561840" y="2438400"/>
            <a:ext cx="2578735" cy="2624455"/>
          </a:xfrm>
          <a:prstGeom prst="rect">
            <a:avLst/>
          </a:prstGeom>
          <a:noFill/>
          <a:ln/>
        </p:spPr>
        <p:txBody>
          <a:bodyPr wrap="square" lIns="91440" tIns="45720" rIns="91440" bIns="45720" rtlCol="0" anchor="t"/>
          <a:lstStyle/>
          <a:p>
            <a:pPr marL="0" indent="0">
              <a:lnSpc>
                <a:spcPct val="130000"/>
              </a:lnSpc>
              <a:buNone/>
            </a:pPr>
            <a:r>
              <a:rPr lang="en-US" sz="1200" dirty="0">
                <a:solidFill>
                  <a:srgbClr val="000000"/>
                </a:solidFill>
                <a:latin typeface="MiSans" pitchFamily="34" charset="0"/>
                <a:ea typeface="MiSans" pitchFamily="34" charset="-122"/>
                <a:cs typeface="MiSans" pitchFamily="34" charset="-120"/>
              </a:rPr>
              <a:t>El salario debe permitir nivel de vida digno y progresión profesional. Además del montante, importa estructura: brecha salarial de género, diferencias por tipo de contrato y vinculación a resultados. Salarios bajos persistentes generan pobreza laboral y desigualdad.</a:t>
            </a:r>
            <a:endParaRPr lang="en-US" sz="1400" dirty="0"/>
          </a:p>
        </p:txBody>
      </p:sp>
      <p:sp>
        <p:nvSpPr>
          <p:cNvPr id="34" name="Text 32"/>
          <p:cNvSpPr/>
          <p:nvPr/>
        </p:nvSpPr>
        <p:spPr>
          <a:xfrm>
            <a:off x="8701405" y="1851660"/>
            <a:ext cx="2200275" cy="645160"/>
          </a:xfrm>
          <a:prstGeom prst="rect">
            <a:avLst/>
          </a:prstGeom>
          <a:noFill/>
          <a:ln/>
        </p:spPr>
        <p:txBody>
          <a:bodyPr wrap="square" lIns="91440" tIns="45720" rIns="91440" bIns="45720" rtlCol="0" anchor="t"/>
          <a:lstStyle/>
          <a:p>
            <a:pPr marL="0" indent="0" algn="ctr">
              <a:lnSpc>
                <a:spcPct val="100000"/>
              </a:lnSpc>
              <a:buNone/>
            </a:pPr>
            <a:r>
              <a:rPr lang="en-US" sz="1800" dirty="0">
                <a:solidFill>
                  <a:srgbClr val="00B0F0"/>
                </a:solidFill>
                <a:latin typeface="MiSans" pitchFamily="34" charset="0"/>
                <a:ea typeface="MiSans" pitchFamily="34" charset="-122"/>
                <a:cs typeface="MiSans" pitchFamily="34" charset="-120"/>
              </a:rPr>
              <a:t>Desarrollo profesional y formación</a:t>
            </a:r>
            <a:endParaRPr lang="en-US" sz="1600" dirty="0"/>
          </a:p>
        </p:txBody>
      </p:sp>
      <p:sp>
        <p:nvSpPr>
          <p:cNvPr id="35" name="Text 33"/>
          <p:cNvSpPr/>
          <p:nvPr/>
        </p:nvSpPr>
        <p:spPr>
          <a:xfrm>
            <a:off x="8662352" y="2740051"/>
            <a:ext cx="2578735" cy="2624455"/>
          </a:xfrm>
          <a:prstGeom prst="rect">
            <a:avLst/>
          </a:prstGeom>
          <a:noFill/>
          <a:ln/>
        </p:spPr>
        <p:txBody>
          <a:bodyPr wrap="square" lIns="91440" tIns="45720" rIns="91440" bIns="45720" rtlCol="0" anchor="t"/>
          <a:lstStyle/>
          <a:p>
            <a:pPr marL="0" indent="0">
              <a:lnSpc>
                <a:spcPct val="130000"/>
              </a:lnSpc>
              <a:buNone/>
            </a:pPr>
            <a:r>
              <a:rPr lang="en-US" sz="1200" dirty="0">
                <a:solidFill>
                  <a:srgbClr val="000000"/>
                </a:solidFill>
                <a:latin typeface="MiSans" pitchFamily="34" charset="0"/>
                <a:ea typeface="MiSans" pitchFamily="34" charset="-122"/>
                <a:cs typeface="MiSans" pitchFamily="34" charset="-120"/>
              </a:rPr>
              <a:t>Oportunidades de aprender, ascender y cambiar de función dentro o fuera de la empresa. Empleos sin perspectiva de crecimiento reducen motivación y productividad. La formación continua financiada por la empresa es clave para mantener empleabilidad en mercados dinámicos.</a:t>
            </a:r>
            <a:endParaRPr lang="en-US" sz="1400" dirty="0"/>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142240"/>
            <a:ext cx="7499985" cy="368300"/>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Temporalidad y rotación</a:t>
            </a:r>
            <a:endParaRPr lang="en-US" sz="1600" dirty="0"/>
          </a:p>
        </p:txBody>
      </p:sp>
      <p:sp>
        <p:nvSpPr>
          <p:cNvPr id="12" name="Shape 10"/>
          <p:cNvSpPr/>
          <p:nvPr/>
        </p:nvSpPr>
        <p:spPr>
          <a:xfrm>
            <a:off x="1713865" y="1899285"/>
            <a:ext cx="2498725" cy="3649980"/>
          </a:xfrm>
          <a:prstGeom prst="rect">
            <a:avLst/>
          </a:prstGeom>
          <a:solidFill>
            <a:srgbClr val="00B0F0"/>
          </a:solidFill>
          <a:ln/>
        </p:spPr>
        <p:txBody>
          <a:bodyPr/>
          <a:lstStyle/>
          <a:p>
            <a:endParaRPr lang="es-ES"/>
          </a:p>
        </p:txBody>
      </p:sp>
      <p:sp>
        <p:nvSpPr>
          <p:cNvPr id="13" name="Text 11"/>
          <p:cNvSpPr/>
          <p:nvPr/>
        </p:nvSpPr>
        <p:spPr>
          <a:xfrm>
            <a:off x="1713865" y="1899285"/>
            <a:ext cx="2498725" cy="3649980"/>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4" name="Image 0" descr="https://kimi-img.moonshot.cn/pub/slides/slides_tmpl/image/25-08-27-19:57:42-d2nf5dh8bjvh7rlivss0.png"/>
          <p:cNvPicPr>
            <a:picLocks noChangeAspect="1"/>
          </p:cNvPicPr>
          <p:nvPr/>
        </p:nvPicPr>
        <p:blipFill>
          <a:blip r:embed="rId3"/>
          <a:stretch>
            <a:fillRect/>
          </a:stretch>
        </p:blipFill>
        <p:spPr>
          <a:xfrm>
            <a:off x="-441325" y="1277620"/>
            <a:ext cx="5758815" cy="5107305"/>
          </a:xfrm>
          <a:prstGeom prst="rect">
            <a:avLst/>
          </a:prstGeom>
        </p:spPr>
      </p:pic>
      <p:sp>
        <p:nvSpPr>
          <p:cNvPr id="15" name="Shape 12"/>
          <p:cNvSpPr/>
          <p:nvPr/>
        </p:nvSpPr>
        <p:spPr>
          <a:xfrm>
            <a:off x="0" y="6620510"/>
            <a:ext cx="12192000" cy="237490"/>
          </a:xfrm>
          <a:prstGeom prst="rect">
            <a:avLst/>
          </a:prstGeom>
          <a:solidFill>
            <a:srgbClr val="00B0F0"/>
          </a:solidFill>
          <a:ln/>
        </p:spPr>
        <p:txBody>
          <a:bodyPr/>
          <a:lstStyle/>
          <a:p>
            <a:endParaRPr lang="es-ES"/>
          </a:p>
        </p:txBody>
      </p:sp>
      <p:sp>
        <p:nvSpPr>
          <p:cNvPr id="16" name="Text 13"/>
          <p:cNvSpPr/>
          <p:nvPr/>
        </p:nvSpPr>
        <p:spPr>
          <a:xfrm>
            <a:off x="0" y="6620510"/>
            <a:ext cx="12192000" cy="23749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7" name="Shape 14"/>
          <p:cNvSpPr/>
          <p:nvPr/>
        </p:nvSpPr>
        <p:spPr>
          <a:xfrm>
            <a:off x="5078095" y="1470025"/>
            <a:ext cx="6604000" cy="2033270"/>
          </a:xfrm>
          <a:prstGeom prst="roundRect">
            <a:avLst/>
          </a:prstGeom>
          <a:solidFill>
            <a:srgbClr val="00B0F0"/>
          </a:solidFill>
          <a:ln w="28575">
            <a:solidFill>
              <a:srgbClr val="FFFFFF">
                <a:alpha val="0"/>
              </a:srgbClr>
            </a:solidFill>
            <a:prstDash val="solid"/>
          </a:ln>
        </p:spPr>
        <p:txBody>
          <a:bodyPr/>
          <a:lstStyle/>
          <a:p>
            <a:endParaRPr lang="es-ES"/>
          </a:p>
        </p:txBody>
      </p:sp>
      <p:sp>
        <p:nvSpPr>
          <p:cNvPr id="18" name="Text 15"/>
          <p:cNvSpPr/>
          <p:nvPr/>
        </p:nvSpPr>
        <p:spPr>
          <a:xfrm>
            <a:off x="5078095" y="1470025"/>
            <a:ext cx="6604000" cy="203327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9" name="Shape 16"/>
          <p:cNvSpPr/>
          <p:nvPr/>
        </p:nvSpPr>
        <p:spPr>
          <a:xfrm>
            <a:off x="4963795" y="1305560"/>
            <a:ext cx="6475730" cy="2033270"/>
          </a:xfrm>
          <a:prstGeom prst="roundRect">
            <a:avLst>
              <a:gd name="adj" fmla="val 14996"/>
            </a:avLst>
          </a:prstGeom>
          <a:solidFill>
            <a:srgbClr val="FFFFFF"/>
          </a:solidFill>
          <a:ln w="19050">
            <a:solidFill>
              <a:srgbClr val="000000"/>
            </a:solidFill>
            <a:prstDash val="solid"/>
          </a:ln>
        </p:spPr>
        <p:txBody>
          <a:bodyPr/>
          <a:lstStyle/>
          <a:p>
            <a:endParaRPr lang="es-ES"/>
          </a:p>
        </p:txBody>
      </p:sp>
      <p:sp>
        <p:nvSpPr>
          <p:cNvPr id="20" name="Text 17"/>
          <p:cNvSpPr/>
          <p:nvPr/>
        </p:nvSpPr>
        <p:spPr>
          <a:xfrm>
            <a:off x="4963795" y="1305560"/>
            <a:ext cx="6475730" cy="203327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1" name="Shape 18"/>
          <p:cNvSpPr/>
          <p:nvPr/>
        </p:nvSpPr>
        <p:spPr>
          <a:xfrm>
            <a:off x="5128260" y="3963035"/>
            <a:ext cx="6604000" cy="2033270"/>
          </a:xfrm>
          <a:prstGeom prst="roundRect">
            <a:avLst/>
          </a:prstGeom>
          <a:solidFill>
            <a:srgbClr val="00B0F0"/>
          </a:solidFill>
          <a:ln w="28575">
            <a:solidFill>
              <a:srgbClr val="FFFFFF">
                <a:alpha val="0"/>
              </a:srgbClr>
            </a:solidFill>
            <a:prstDash val="solid"/>
          </a:ln>
        </p:spPr>
        <p:txBody>
          <a:bodyPr/>
          <a:lstStyle/>
          <a:p>
            <a:endParaRPr lang="es-ES"/>
          </a:p>
        </p:txBody>
      </p:sp>
      <p:sp>
        <p:nvSpPr>
          <p:cNvPr id="22" name="Text 19"/>
          <p:cNvSpPr/>
          <p:nvPr/>
        </p:nvSpPr>
        <p:spPr>
          <a:xfrm>
            <a:off x="5128260" y="3963035"/>
            <a:ext cx="6604000" cy="203327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3" name="Shape 20"/>
          <p:cNvSpPr/>
          <p:nvPr/>
        </p:nvSpPr>
        <p:spPr>
          <a:xfrm>
            <a:off x="5013960" y="3798570"/>
            <a:ext cx="6475730" cy="2033270"/>
          </a:xfrm>
          <a:prstGeom prst="roundRect">
            <a:avLst>
              <a:gd name="adj" fmla="val 14996"/>
            </a:avLst>
          </a:prstGeom>
          <a:solidFill>
            <a:srgbClr val="FFFFFF"/>
          </a:solidFill>
          <a:ln w="19050">
            <a:solidFill>
              <a:srgbClr val="000000"/>
            </a:solidFill>
            <a:prstDash val="solid"/>
          </a:ln>
        </p:spPr>
        <p:txBody>
          <a:bodyPr/>
          <a:lstStyle/>
          <a:p>
            <a:endParaRPr lang="es-ES"/>
          </a:p>
        </p:txBody>
      </p:sp>
      <p:sp>
        <p:nvSpPr>
          <p:cNvPr id="24" name="Text 21"/>
          <p:cNvSpPr/>
          <p:nvPr/>
        </p:nvSpPr>
        <p:spPr>
          <a:xfrm>
            <a:off x="5013960" y="3798570"/>
            <a:ext cx="6475730" cy="203327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5" name="Text 22"/>
          <p:cNvSpPr/>
          <p:nvPr/>
        </p:nvSpPr>
        <p:spPr>
          <a:xfrm>
            <a:off x="5013960" y="1471930"/>
            <a:ext cx="4443095" cy="303411"/>
          </a:xfrm>
          <a:prstGeom prst="rect">
            <a:avLst/>
          </a:prstGeom>
          <a:noFill/>
          <a:ln/>
        </p:spPr>
        <p:txBody>
          <a:bodyPr wrap="square" lIns="91440" tIns="45720" rIns="91440" bIns="45720" rtlCol="0" anchor="t">
            <a:spAutoFit/>
          </a:bodyPr>
          <a:lstStyle/>
          <a:p>
            <a:pPr marL="0" indent="0">
              <a:lnSpc>
                <a:spcPct val="100000"/>
              </a:lnSpc>
              <a:buNone/>
            </a:pPr>
            <a:r>
              <a:rPr lang="en-US" sz="2000" dirty="0">
                <a:solidFill>
                  <a:srgbClr val="000000"/>
                </a:solidFill>
                <a:latin typeface="MiSans" pitchFamily="34" charset="0"/>
                <a:ea typeface="MiSans" pitchFamily="34" charset="-122"/>
                <a:cs typeface="MiSans" pitchFamily="34" charset="-120"/>
              </a:rPr>
              <a:t>Tasa de temporalidad en España</a:t>
            </a:r>
            <a:endParaRPr lang="en-US" sz="1600" dirty="0"/>
          </a:p>
        </p:txBody>
      </p:sp>
      <p:sp>
        <p:nvSpPr>
          <p:cNvPr id="26" name="Text 23"/>
          <p:cNvSpPr/>
          <p:nvPr/>
        </p:nvSpPr>
        <p:spPr>
          <a:xfrm>
            <a:off x="5013960" y="1965325"/>
            <a:ext cx="6260465" cy="1373505"/>
          </a:xfrm>
          <a:prstGeom prst="rect">
            <a:avLst/>
          </a:prstGeom>
          <a:noFill/>
          <a:ln/>
        </p:spPr>
        <p:txBody>
          <a:bodyPr wrap="square" lIns="91440" tIns="45720" rIns="91440" bIns="45720" rtlCol="0" anchor="t"/>
          <a:lstStyle/>
          <a:p>
            <a:pPr marL="0" indent="0">
              <a:lnSpc>
                <a:spcPct val="130000"/>
              </a:lnSpc>
              <a:buNone/>
            </a:pPr>
            <a:r>
              <a:rPr lang="en-US" sz="1400" dirty="0">
                <a:solidFill>
                  <a:srgbClr val="000000"/>
                </a:solidFill>
                <a:latin typeface="MiSans" pitchFamily="34" charset="0"/>
                <a:ea typeface="MiSans" pitchFamily="34" charset="-122"/>
                <a:cs typeface="MiSans" pitchFamily="34" charset="-120"/>
              </a:rPr>
              <a:t>Con valores históricos entre 25-30 % del empleo asalariado, España lidera temporalidad en la UE. Esta cifra duplica la media comunitaria y refleja uso estructural de contratos precarios para tareas permanentes, más que necesidades productivas estacionales.</a:t>
            </a:r>
            <a:endParaRPr lang="en-US" sz="1600" dirty="0"/>
          </a:p>
        </p:txBody>
      </p:sp>
      <p:sp>
        <p:nvSpPr>
          <p:cNvPr id="27" name="Text 24"/>
          <p:cNvSpPr/>
          <p:nvPr/>
        </p:nvSpPr>
        <p:spPr>
          <a:xfrm>
            <a:off x="5064125" y="3964940"/>
            <a:ext cx="4443095" cy="303411"/>
          </a:xfrm>
          <a:prstGeom prst="rect">
            <a:avLst/>
          </a:prstGeom>
          <a:noFill/>
          <a:ln/>
        </p:spPr>
        <p:txBody>
          <a:bodyPr wrap="square" lIns="91440" tIns="45720" rIns="91440" bIns="45720" rtlCol="0" anchor="t">
            <a:spAutoFit/>
          </a:bodyPr>
          <a:lstStyle/>
          <a:p>
            <a:pPr marL="0" indent="0">
              <a:lnSpc>
                <a:spcPct val="100000"/>
              </a:lnSpc>
              <a:buNone/>
            </a:pPr>
            <a:r>
              <a:rPr lang="en-US" sz="2000" dirty="0">
                <a:solidFill>
                  <a:srgbClr val="000000"/>
                </a:solidFill>
                <a:latin typeface="MiSans" pitchFamily="34" charset="0"/>
                <a:ea typeface="MiSans" pitchFamily="34" charset="-122"/>
                <a:cs typeface="MiSans" pitchFamily="34" charset="-120"/>
              </a:rPr>
              <a:t>Rotación y empleos cortos</a:t>
            </a:r>
            <a:endParaRPr lang="en-US" sz="1600" dirty="0"/>
          </a:p>
        </p:txBody>
      </p:sp>
      <p:sp>
        <p:nvSpPr>
          <p:cNvPr id="28" name="Text 25"/>
          <p:cNvSpPr/>
          <p:nvPr/>
        </p:nvSpPr>
        <p:spPr>
          <a:xfrm>
            <a:off x="5064125" y="4458335"/>
            <a:ext cx="6260465" cy="1373505"/>
          </a:xfrm>
          <a:prstGeom prst="rect">
            <a:avLst/>
          </a:prstGeom>
          <a:noFill/>
          <a:ln/>
        </p:spPr>
        <p:txBody>
          <a:bodyPr wrap="square" lIns="91440" tIns="45720" rIns="91440" bIns="45720" rtlCol="0" anchor="t"/>
          <a:lstStyle/>
          <a:p>
            <a:pPr marL="0" indent="0">
              <a:lnSpc>
                <a:spcPct val="130000"/>
              </a:lnSpc>
              <a:buNone/>
            </a:pPr>
            <a:r>
              <a:rPr lang="en-US" sz="1400" dirty="0">
                <a:solidFill>
                  <a:srgbClr val="000000"/>
                </a:solidFill>
                <a:latin typeface="MiSans" pitchFamily="34" charset="0"/>
                <a:ea typeface="MiSans" pitchFamily="34" charset="-122"/>
                <a:cs typeface="MiSans" pitchFamily="34" charset="-120"/>
              </a:rPr>
              <a:t>Más del 25 % de los contratos duran menos de seis meses. Esta alta rotación encarece selección y formación para empresas, y dificulta a trabajadores acumular experiencia, acceder a prestaciones y planificar proyectos vitales, perpetuando inestabilidad.</a:t>
            </a:r>
            <a:endParaRPr lang="en-US" sz="1600" dirty="0"/>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142240"/>
            <a:ext cx="7499985" cy="368300"/>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Jornada y tiempo parcial</a:t>
            </a:r>
            <a:endParaRPr lang="en-US" sz="1600" dirty="0"/>
          </a:p>
        </p:txBody>
      </p:sp>
      <p:sp>
        <p:nvSpPr>
          <p:cNvPr id="12" name="Shape 10"/>
          <p:cNvSpPr/>
          <p:nvPr/>
        </p:nvSpPr>
        <p:spPr>
          <a:xfrm>
            <a:off x="1155700" y="3670300"/>
            <a:ext cx="2560955" cy="0"/>
          </a:xfrm>
          <a:prstGeom prst="line">
            <a:avLst/>
          </a:prstGeom>
          <a:noFill/>
          <a:ln w="38100">
            <a:solidFill>
              <a:srgbClr val="000000"/>
            </a:solidFill>
            <a:prstDash val="dash"/>
            <a:headEnd type="none"/>
            <a:tailEnd type="none"/>
          </a:ln>
        </p:spPr>
        <p:txBody>
          <a:bodyPr/>
          <a:lstStyle/>
          <a:p>
            <a:endParaRPr lang="es-ES"/>
          </a:p>
        </p:txBody>
      </p:sp>
      <p:sp>
        <p:nvSpPr>
          <p:cNvPr id="13" name="Shape 11"/>
          <p:cNvSpPr/>
          <p:nvPr/>
        </p:nvSpPr>
        <p:spPr>
          <a:xfrm>
            <a:off x="4973955" y="3670300"/>
            <a:ext cx="2560955" cy="0"/>
          </a:xfrm>
          <a:prstGeom prst="line">
            <a:avLst/>
          </a:prstGeom>
          <a:noFill/>
          <a:ln w="38100">
            <a:solidFill>
              <a:srgbClr val="000000"/>
            </a:solidFill>
            <a:prstDash val="dash"/>
            <a:headEnd type="none"/>
            <a:tailEnd type="none"/>
          </a:ln>
        </p:spPr>
        <p:txBody>
          <a:bodyPr/>
          <a:lstStyle/>
          <a:p>
            <a:endParaRPr lang="es-ES"/>
          </a:p>
        </p:txBody>
      </p:sp>
      <p:sp>
        <p:nvSpPr>
          <p:cNvPr id="14" name="Shape 12"/>
          <p:cNvSpPr/>
          <p:nvPr/>
        </p:nvSpPr>
        <p:spPr>
          <a:xfrm>
            <a:off x="8678545" y="3670300"/>
            <a:ext cx="2560955" cy="0"/>
          </a:xfrm>
          <a:prstGeom prst="line">
            <a:avLst/>
          </a:prstGeom>
          <a:noFill/>
          <a:ln w="38100">
            <a:solidFill>
              <a:srgbClr val="000000"/>
            </a:solidFill>
            <a:prstDash val="dash"/>
            <a:headEnd type="none"/>
            <a:tailEnd type="none"/>
          </a:ln>
        </p:spPr>
        <p:txBody>
          <a:bodyPr/>
          <a:lstStyle/>
          <a:p>
            <a:endParaRPr lang="es-ES"/>
          </a:p>
        </p:txBody>
      </p:sp>
      <p:pic>
        <p:nvPicPr>
          <p:cNvPr id="15" name="Image 0" descr="https://kimi-img.moonshot.cn/pub/slides/slides_tmpl/image/25-08-27-19:57:42-d2nf5dh8bjvh7rlivsog.png"/>
          <p:cNvPicPr>
            <a:picLocks noChangeAspect="1"/>
          </p:cNvPicPr>
          <p:nvPr/>
        </p:nvPicPr>
        <p:blipFill>
          <a:blip r:embed="rId3"/>
          <a:stretch>
            <a:fillRect/>
          </a:stretch>
        </p:blipFill>
        <p:spPr>
          <a:xfrm>
            <a:off x="1506220" y="1112520"/>
            <a:ext cx="1544320" cy="1407160"/>
          </a:xfrm>
          <a:prstGeom prst="rect">
            <a:avLst/>
          </a:prstGeom>
        </p:spPr>
      </p:pic>
      <p:pic>
        <p:nvPicPr>
          <p:cNvPr id="16" name="Image 1" descr="https://kimi-img.moonshot.cn/pub/slides/slides_tmpl/image/25-08-27-19:57:42-d2nf5dh8bjvh7rlivst0.png"/>
          <p:cNvPicPr>
            <a:picLocks noChangeAspect="1"/>
          </p:cNvPicPr>
          <p:nvPr/>
        </p:nvPicPr>
        <p:blipFill>
          <a:blip r:embed="rId4"/>
          <a:stretch>
            <a:fillRect/>
          </a:stretch>
        </p:blipFill>
        <p:spPr>
          <a:xfrm>
            <a:off x="5293360" y="920115"/>
            <a:ext cx="1921510" cy="1678305"/>
          </a:xfrm>
          <a:prstGeom prst="rect">
            <a:avLst/>
          </a:prstGeom>
        </p:spPr>
      </p:pic>
      <p:pic>
        <p:nvPicPr>
          <p:cNvPr id="17" name="Image 2" descr="https://kimi-img.moonshot.cn/pub/slides/slides_tmpl/image/25-08-27-19:57:42-d2nf5dh8bjvh7rlivsug.png"/>
          <p:cNvPicPr>
            <a:picLocks noChangeAspect="1"/>
          </p:cNvPicPr>
          <p:nvPr/>
        </p:nvPicPr>
        <p:blipFill>
          <a:blip r:embed="rId5"/>
          <a:stretch>
            <a:fillRect/>
          </a:stretch>
        </p:blipFill>
        <p:spPr>
          <a:xfrm>
            <a:off x="8952230" y="1005205"/>
            <a:ext cx="1710690" cy="1635760"/>
          </a:xfrm>
          <a:prstGeom prst="rect">
            <a:avLst/>
          </a:prstGeom>
        </p:spPr>
      </p:pic>
      <p:sp>
        <p:nvSpPr>
          <p:cNvPr id="18" name="Shape 13"/>
          <p:cNvSpPr/>
          <p:nvPr/>
        </p:nvSpPr>
        <p:spPr>
          <a:xfrm>
            <a:off x="0" y="6620510"/>
            <a:ext cx="12192000" cy="237490"/>
          </a:xfrm>
          <a:prstGeom prst="rect">
            <a:avLst/>
          </a:prstGeom>
          <a:solidFill>
            <a:srgbClr val="00B0F0"/>
          </a:solidFill>
          <a:ln/>
        </p:spPr>
        <p:txBody>
          <a:bodyPr/>
          <a:lstStyle/>
          <a:p>
            <a:endParaRPr lang="es-ES"/>
          </a:p>
        </p:txBody>
      </p:sp>
      <p:sp>
        <p:nvSpPr>
          <p:cNvPr id="19" name="Text 14"/>
          <p:cNvSpPr/>
          <p:nvPr/>
        </p:nvSpPr>
        <p:spPr>
          <a:xfrm>
            <a:off x="0" y="6620510"/>
            <a:ext cx="12192000" cy="23749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0" name="Shape 15"/>
          <p:cNvSpPr/>
          <p:nvPr/>
        </p:nvSpPr>
        <p:spPr>
          <a:xfrm>
            <a:off x="4345305" y="1231900"/>
            <a:ext cx="0" cy="4612005"/>
          </a:xfrm>
          <a:prstGeom prst="line">
            <a:avLst/>
          </a:prstGeom>
          <a:noFill/>
          <a:ln w="6350">
            <a:solidFill>
              <a:srgbClr val="D9D9D9"/>
            </a:solidFill>
            <a:prstDash val="dash"/>
            <a:headEnd type="none"/>
            <a:tailEnd type="none"/>
          </a:ln>
        </p:spPr>
        <p:txBody>
          <a:bodyPr/>
          <a:lstStyle/>
          <a:p>
            <a:endParaRPr lang="es-ES"/>
          </a:p>
        </p:txBody>
      </p:sp>
      <p:sp>
        <p:nvSpPr>
          <p:cNvPr id="21" name="Shape 16"/>
          <p:cNvSpPr/>
          <p:nvPr/>
        </p:nvSpPr>
        <p:spPr>
          <a:xfrm>
            <a:off x="8162925" y="1231900"/>
            <a:ext cx="0" cy="4612005"/>
          </a:xfrm>
          <a:prstGeom prst="line">
            <a:avLst/>
          </a:prstGeom>
          <a:noFill/>
          <a:ln w="6350">
            <a:solidFill>
              <a:srgbClr val="D9D9D9"/>
            </a:solidFill>
            <a:prstDash val="dash"/>
            <a:headEnd type="none"/>
            <a:tailEnd type="none"/>
          </a:ln>
        </p:spPr>
        <p:txBody>
          <a:bodyPr/>
          <a:lstStyle/>
          <a:p>
            <a:endParaRPr lang="es-ES"/>
          </a:p>
        </p:txBody>
      </p:sp>
      <p:sp>
        <p:nvSpPr>
          <p:cNvPr id="22" name="Text 17"/>
          <p:cNvSpPr/>
          <p:nvPr/>
        </p:nvSpPr>
        <p:spPr>
          <a:xfrm>
            <a:off x="1150620" y="2687320"/>
            <a:ext cx="2568575" cy="681355"/>
          </a:xfrm>
          <a:prstGeom prst="rect">
            <a:avLst/>
          </a:prstGeom>
          <a:noFill/>
          <a:ln/>
        </p:spPr>
        <p:txBody>
          <a:bodyPr wrap="square" lIns="91440" tIns="45720" rIns="91440" bIns="45720" rtlCol="0" anchor="t"/>
          <a:lstStyle/>
          <a:p>
            <a:pPr marL="0" indent="0" algn="ctr">
              <a:lnSpc>
                <a:spcPct val="100000"/>
              </a:lnSpc>
              <a:buNone/>
            </a:pPr>
            <a:r>
              <a:rPr lang="en-US" sz="2000" b="1" dirty="0">
                <a:solidFill>
                  <a:srgbClr val="00B0F0"/>
                </a:solidFill>
                <a:latin typeface="MiSans" pitchFamily="34" charset="0"/>
                <a:ea typeface="MiSans" pitchFamily="34" charset="-122"/>
                <a:cs typeface="MiSans" pitchFamily="34" charset="-120"/>
              </a:rPr>
              <a:t>Menor incidencia que en la UE</a:t>
            </a:r>
            <a:endParaRPr lang="en-US" sz="1400" dirty="0"/>
          </a:p>
        </p:txBody>
      </p:sp>
      <p:sp>
        <p:nvSpPr>
          <p:cNvPr id="23" name="Text 18"/>
          <p:cNvSpPr/>
          <p:nvPr/>
        </p:nvSpPr>
        <p:spPr>
          <a:xfrm>
            <a:off x="1042670" y="3771265"/>
            <a:ext cx="2787015" cy="2860675"/>
          </a:xfrm>
          <a:prstGeom prst="rect">
            <a:avLst/>
          </a:prstGeom>
          <a:noFill/>
          <a:ln/>
        </p:spPr>
        <p:txBody>
          <a:bodyPr wrap="square" lIns="91440" tIns="45720" rIns="91440" bIns="45720" rtlCol="0" anchor="t"/>
          <a:lstStyle/>
          <a:p>
            <a:pPr marL="0" indent="0">
              <a:lnSpc>
                <a:spcPct val="130000"/>
              </a:lnSpc>
              <a:buNone/>
            </a:pPr>
            <a:r>
              <a:rPr lang="en-US" sz="1400" dirty="0">
                <a:solidFill>
                  <a:srgbClr val="595959"/>
                </a:solidFill>
                <a:latin typeface="MiSans" pitchFamily="34" charset="0"/>
                <a:ea typeface="MiSans" pitchFamily="34" charset="-122"/>
                <a:cs typeface="MiSans" pitchFamily="34" charset="-120"/>
              </a:rPr>
              <a:t>El trabajo a tiempo parcial representa en torno al 15 % del empleo en España, frente al 20 % de media europea. Esto puede parecer positivo, pero oculta que muchos desean jornada completa y no la encuentran, reflejando subempleo involuntario.</a:t>
            </a:r>
            <a:endParaRPr lang="en-US" sz="1600" dirty="0"/>
          </a:p>
        </p:txBody>
      </p:sp>
      <p:sp>
        <p:nvSpPr>
          <p:cNvPr id="24" name="Text 19"/>
          <p:cNvSpPr/>
          <p:nvPr/>
        </p:nvSpPr>
        <p:spPr>
          <a:xfrm>
            <a:off x="4987925" y="2687320"/>
            <a:ext cx="2542540" cy="681355"/>
          </a:xfrm>
          <a:prstGeom prst="rect">
            <a:avLst/>
          </a:prstGeom>
          <a:noFill/>
          <a:ln/>
        </p:spPr>
        <p:txBody>
          <a:bodyPr wrap="square" lIns="91440" tIns="45720" rIns="91440" bIns="45720" rtlCol="0" anchor="t"/>
          <a:lstStyle/>
          <a:p>
            <a:pPr marL="0" indent="0" algn="ctr">
              <a:lnSpc>
                <a:spcPct val="100000"/>
              </a:lnSpc>
              <a:buNone/>
            </a:pPr>
            <a:r>
              <a:rPr lang="en-US" sz="2000" b="1" dirty="0">
                <a:solidFill>
                  <a:srgbClr val="00B0F0"/>
                </a:solidFill>
                <a:latin typeface="MiSans" pitchFamily="34" charset="0"/>
                <a:ea typeface="MiSans" pitchFamily="34" charset="-122"/>
                <a:cs typeface="MiSans" pitchFamily="34" charset="-120"/>
              </a:rPr>
              <a:t>Carácter involuntario del tiempo parcial</a:t>
            </a:r>
            <a:endParaRPr lang="en-US" sz="1400" dirty="0"/>
          </a:p>
        </p:txBody>
      </p:sp>
      <p:sp>
        <p:nvSpPr>
          <p:cNvPr id="25" name="Text 20"/>
          <p:cNvSpPr/>
          <p:nvPr/>
        </p:nvSpPr>
        <p:spPr>
          <a:xfrm>
            <a:off x="4860925" y="3771265"/>
            <a:ext cx="2787015" cy="2860675"/>
          </a:xfrm>
          <a:prstGeom prst="rect">
            <a:avLst/>
          </a:prstGeom>
          <a:noFill/>
          <a:ln/>
        </p:spPr>
        <p:txBody>
          <a:bodyPr wrap="square" lIns="91440" tIns="45720" rIns="91440" bIns="45720" rtlCol="0" anchor="t"/>
          <a:lstStyle/>
          <a:p>
            <a:pPr marL="0" indent="0">
              <a:lnSpc>
                <a:spcPct val="130000"/>
              </a:lnSpc>
              <a:buNone/>
            </a:pPr>
            <a:r>
              <a:rPr lang="en-US" sz="1400" dirty="0">
                <a:solidFill>
                  <a:srgbClr val="595959"/>
                </a:solidFill>
                <a:latin typeface="MiSans" pitchFamily="34" charset="0"/>
                <a:ea typeface="MiSans" pitchFamily="34" charset="-122"/>
                <a:cs typeface="MiSans" pitchFamily="34" charset="-120"/>
              </a:rPr>
              <a:t>Más del 60 % de los trabajadores a tiempo parcial en España lo hacen por imposibilidad de encontrar jornada completa. Esto indica problemas de demanda laboral insuficiente o segmentación del mercado, y se asocia a menores ingresos y protección social.</a:t>
            </a:r>
            <a:endParaRPr lang="en-US" sz="1600" dirty="0"/>
          </a:p>
        </p:txBody>
      </p:sp>
      <p:sp>
        <p:nvSpPr>
          <p:cNvPr id="26" name="Text 21"/>
          <p:cNvSpPr/>
          <p:nvPr/>
        </p:nvSpPr>
        <p:spPr>
          <a:xfrm>
            <a:off x="8700135" y="2687320"/>
            <a:ext cx="2527300" cy="681355"/>
          </a:xfrm>
          <a:prstGeom prst="rect">
            <a:avLst/>
          </a:prstGeom>
          <a:noFill/>
          <a:ln/>
        </p:spPr>
        <p:txBody>
          <a:bodyPr wrap="square" lIns="91440" tIns="45720" rIns="91440" bIns="45720" rtlCol="0" anchor="t"/>
          <a:lstStyle/>
          <a:p>
            <a:pPr marL="0" indent="0" algn="ctr">
              <a:lnSpc>
                <a:spcPct val="100000"/>
              </a:lnSpc>
              <a:buNone/>
            </a:pPr>
            <a:r>
              <a:rPr lang="en-US" sz="2000" b="1" dirty="0">
                <a:solidFill>
                  <a:srgbClr val="00B0F0"/>
                </a:solidFill>
                <a:latin typeface="MiSans" pitchFamily="34" charset="0"/>
                <a:ea typeface="MiSans" pitchFamily="34" charset="-122"/>
                <a:cs typeface="MiSans" pitchFamily="34" charset="-120"/>
              </a:rPr>
              <a:t>Distribución irregular de horas</a:t>
            </a:r>
            <a:endParaRPr lang="en-US" sz="1400" dirty="0"/>
          </a:p>
        </p:txBody>
      </p:sp>
      <p:sp>
        <p:nvSpPr>
          <p:cNvPr id="27" name="Text 22"/>
          <p:cNvSpPr/>
          <p:nvPr/>
        </p:nvSpPr>
        <p:spPr>
          <a:xfrm>
            <a:off x="8565515" y="3771265"/>
            <a:ext cx="2787015" cy="2860675"/>
          </a:xfrm>
          <a:prstGeom prst="rect">
            <a:avLst/>
          </a:prstGeom>
          <a:noFill/>
          <a:ln/>
        </p:spPr>
        <p:txBody>
          <a:bodyPr wrap="square" lIns="91440" tIns="45720" rIns="91440" bIns="45720" rtlCol="0" anchor="t"/>
          <a:lstStyle/>
          <a:p>
            <a:pPr marL="0" indent="0">
              <a:lnSpc>
                <a:spcPct val="130000"/>
              </a:lnSpc>
              <a:buNone/>
            </a:pPr>
            <a:r>
              <a:rPr lang="en-US" sz="1400" dirty="0">
                <a:solidFill>
                  <a:srgbClr val="595959"/>
                </a:solidFill>
                <a:latin typeface="MiSans" pitchFamily="34" charset="0"/>
                <a:ea typeface="MiSans" pitchFamily="34" charset="-122"/>
                <a:cs typeface="MiSans" pitchFamily="34" charset="-120"/>
              </a:rPr>
              <a:t>Persisten jornadas excesivas en algunos sectores y horas extraordinarias no declaradas, mientras en otros hay subempleo. Una distribución más equilibrada del tiempo de trabajo, con incentivos a jornadas compartidas, mejoraría empleo y conciliación.</a:t>
            </a:r>
            <a:endParaRPr lang="en-US" sz="1600" dirty="0"/>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142240"/>
            <a:ext cx="7499985" cy="368300"/>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Cualificación y formación</a:t>
            </a:r>
            <a:endParaRPr lang="en-US" sz="1600" dirty="0"/>
          </a:p>
        </p:txBody>
      </p:sp>
      <p:sp>
        <p:nvSpPr>
          <p:cNvPr id="12" name="Shape 10"/>
          <p:cNvSpPr/>
          <p:nvPr/>
        </p:nvSpPr>
        <p:spPr>
          <a:xfrm>
            <a:off x="792480" y="3190240"/>
            <a:ext cx="2560955" cy="0"/>
          </a:xfrm>
          <a:prstGeom prst="line">
            <a:avLst/>
          </a:prstGeom>
          <a:noFill/>
          <a:ln w="38100">
            <a:solidFill>
              <a:srgbClr val="000000"/>
            </a:solidFill>
            <a:prstDash val="dash"/>
            <a:headEnd type="none"/>
            <a:tailEnd type="none"/>
          </a:ln>
        </p:spPr>
        <p:txBody>
          <a:bodyPr/>
          <a:lstStyle/>
          <a:p>
            <a:endParaRPr lang="es-ES"/>
          </a:p>
        </p:txBody>
      </p:sp>
      <p:sp>
        <p:nvSpPr>
          <p:cNvPr id="13" name="Shape 11"/>
          <p:cNvSpPr/>
          <p:nvPr/>
        </p:nvSpPr>
        <p:spPr>
          <a:xfrm>
            <a:off x="8866505" y="3190240"/>
            <a:ext cx="2560955" cy="0"/>
          </a:xfrm>
          <a:prstGeom prst="line">
            <a:avLst/>
          </a:prstGeom>
          <a:noFill/>
          <a:ln w="38100">
            <a:solidFill>
              <a:srgbClr val="000000"/>
            </a:solidFill>
            <a:prstDash val="dash"/>
            <a:headEnd type="none"/>
            <a:tailEnd type="none"/>
          </a:ln>
        </p:spPr>
        <p:txBody>
          <a:bodyPr/>
          <a:lstStyle/>
          <a:p>
            <a:endParaRPr lang="es-ES"/>
          </a:p>
        </p:txBody>
      </p:sp>
      <p:pic>
        <p:nvPicPr>
          <p:cNvPr id="14" name="Image 0" descr="https://kimi-img.moonshot.cn/pub/slides/slides_tmpl/image/25-08-27-19:57:41-d2nf5d98bjvh7rlivsmg.png"/>
          <p:cNvPicPr>
            <a:picLocks noChangeAspect="1"/>
          </p:cNvPicPr>
          <p:nvPr/>
        </p:nvPicPr>
        <p:blipFill>
          <a:blip r:embed="rId3"/>
          <a:stretch>
            <a:fillRect/>
          </a:stretch>
        </p:blipFill>
        <p:spPr>
          <a:xfrm>
            <a:off x="4135120" y="1385570"/>
            <a:ext cx="3836670" cy="4147820"/>
          </a:xfrm>
          <a:prstGeom prst="rect">
            <a:avLst/>
          </a:prstGeom>
        </p:spPr>
      </p:pic>
      <p:sp>
        <p:nvSpPr>
          <p:cNvPr id="15" name="Shape 12"/>
          <p:cNvSpPr/>
          <p:nvPr/>
        </p:nvSpPr>
        <p:spPr>
          <a:xfrm rot="10800000" flipV="1">
            <a:off x="1517942" y="1071315"/>
            <a:ext cx="875075" cy="876100"/>
          </a:xfrm>
          <a:prstGeom prst="ellipse">
            <a:avLst/>
          </a:prstGeom>
          <a:solidFill>
            <a:srgbClr val="00B0F0"/>
          </a:solidFill>
          <a:ln/>
        </p:spPr>
        <p:txBody>
          <a:bodyPr/>
          <a:lstStyle/>
          <a:p>
            <a:endParaRPr lang="es-ES"/>
          </a:p>
        </p:txBody>
      </p:sp>
      <p:sp>
        <p:nvSpPr>
          <p:cNvPr id="16" name="Text 13"/>
          <p:cNvSpPr/>
          <p:nvPr/>
        </p:nvSpPr>
        <p:spPr>
          <a:xfrm rot="10800000">
            <a:off x="1517942" y="1071315"/>
            <a:ext cx="875075" cy="8761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7" name="Shape 14"/>
          <p:cNvSpPr/>
          <p:nvPr/>
        </p:nvSpPr>
        <p:spPr>
          <a:xfrm rot="10800000" flipV="1">
            <a:off x="9699917" y="1084650"/>
            <a:ext cx="875075" cy="876100"/>
          </a:xfrm>
          <a:prstGeom prst="ellipse">
            <a:avLst/>
          </a:prstGeom>
          <a:solidFill>
            <a:srgbClr val="00B0F0"/>
          </a:solidFill>
          <a:ln/>
        </p:spPr>
        <p:txBody>
          <a:bodyPr/>
          <a:lstStyle/>
          <a:p>
            <a:endParaRPr lang="es-ES"/>
          </a:p>
        </p:txBody>
      </p:sp>
      <p:sp>
        <p:nvSpPr>
          <p:cNvPr id="18" name="Text 15"/>
          <p:cNvSpPr/>
          <p:nvPr/>
        </p:nvSpPr>
        <p:spPr>
          <a:xfrm rot="10800000">
            <a:off x="9699917" y="1084650"/>
            <a:ext cx="875075" cy="8761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9" name="Shape 16"/>
          <p:cNvSpPr/>
          <p:nvPr/>
        </p:nvSpPr>
        <p:spPr>
          <a:xfrm>
            <a:off x="0" y="6620510"/>
            <a:ext cx="12192000" cy="237490"/>
          </a:xfrm>
          <a:prstGeom prst="rect">
            <a:avLst/>
          </a:prstGeom>
          <a:solidFill>
            <a:srgbClr val="00B0F0"/>
          </a:solidFill>
          <a:ln/>
        </p:spPr>
        <p:txBody>
          <a:bodyPr/>
          <a:lstStyle/>
          <a:p>
            <a:endParaRPr lang="es-ES"/>
          </a:p>
        </p:txBody>
      </p:sp>
      <p:sp>
        <p:nvSpPr>
          <p:cNvPr id="20" name="Text 17"/>
          <p:cNvSpPr/>
          <p:nvPr/>
        </p:nvSpPr>
        <p:spPr>
          <a:xfrm>
            <a:off x="0" y="6620510"/>
            <a:ext cx="12192000" cy="23749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1" name="Text 18"/>
          <p:cNvSpPr/>
          <p:nvPr/>
        </p:nvSpPr>
        <p:spPr>
          <a:xfrm>
            <a:off x="1530985" y="1186815"/>
            <a:ext cx="862965" cy="562570"/>
          </a:xfrm>
          <a:prstGeom prst="rect">
            <a:avLst/>
          </a:prstGeom>
          <a:noFill/>
          <a:ln/>
        </p:spPr>
        <p:txBody>
          <a:bodyPr wrap="square" lIns="91440" tIns="45720" rIns="91440" bIns="45720" rtlCol="0" anchor="t">
            <a:spAutoFit/>
          </a:bodyPr>
          <a:lstStyle/>
          <a:p>
            <a:pPr marL="0" indent="0" algn="ctr">
              <a:lnSpc>
                <a:spcPct val="100000"/>
              </a:lnSpc>
              <a:buNone/>
            </a:pPr>
            <a:r>
              <a:rPr lang="en-US" sz="3600" b="1" dirty="0">
                <a:solidFill>
                  <a:srgbClr val="FFFFFF"/>
                </a:solidFill>
                <a:latin typeface="MiSans" pitchFamily="34" charset="0"/>
                <a:ea typeface="MiSans" pitchFamily="34" charset="-122"/>
                <a:cs typeface="MiSans" pitchFamily="34" charset="-120"/>
              </a:rPr>
              <a:t>1</a:t>
            </a:r>
            <a:endParaRPr lang="en-US" sz="1600" dirty="0"/>
          </a:p>
        </p:txBody>
      </p:sp>
      <p:sp>
        <p:nvSpPr>
          <p:cNvPr id="22" name="Text 19"/>
          <p:cNvSpPr/>
          <p:nvPr/>
        </p:nvSpPr>
        <p:spPr>
          <a:xfrm>
            <a:off x="561971" y="2193834"/>
            <a:ext cx="2787015" cy="681355"/>
          </a:xfrm>
          <a:prstGeom prst="rect">
            <a:avLst/>
          </a:prstGeom>
          <a:noFill/>
          <a:ln/>
        </p:spPr>
        <p:txBody>
          <a:bodyPr wrap="square" lIns="91440" tIns="45720" rIns="91440" bIns="45720" rtlCol="0" anchor="t"/>
          <a:lstStyle/>
          <a:p>
            <a:pPr marL="0" indent="0" algn="ctr">
              <a:lnSpc>
                <a:spcPct val="100000"/>
              </a:lnSpc>
              <a:buNone/>
            </a:pPr>
            <a:r>
              <a:rPr lang="en-US" sz="2400" b="1" dirty="0">
                <a:solidFill>
                  <a:srgbClr val="00B0F0"/>
                </a:solidFill>
                <a:latin typeface="MiSans" pitchFamily="34" charset="0"/>
                <a:ea typeface="MiSans" pitchFamily="34" charset="-122"/>
                <a:cs typeface="MiSans" pitchFamily="34" charset="-120"/>
              </a:rPr>
              <a:t>Sobrecualificación de jóvenes</a:t>
            </a:r>
            <a:endParaRPr lang="en-US" sz="1600" dirty="0"/>
          </a:p>
        </p:txBody>
      </p:sp>
      <p:sp>
        <p:nvSpPr>
          <p:cNvPr id="23" name="Text 20"/>
          <p:cNvSpPr/>
          <p:nvPr/>
        </p:nvSpPr>
        <p:spPr>
          <a:xfrm>
            <a:off x="679450" y="3291205"/>
            <a:ext cx="2787015" cy="2860675"/>
          </a:xfrm>
          <a:prstGeom prst="rect">
            <a:avLst/>
          </a:prstGeom>
          <a:noFill/>
          <a:ln/>
        </p:spPr>
        <p:txBody>
          <a:bodyPr wrap="square" lIns="91440" tIns="45720" rIns="91440" bIns="45720" rtlCol="0" anchor="t"/>
          <a:lstStyle/>
          <a:p>
            <a:pPr marL="0" indent="0">
              <a:lnSpc>
                <a:spcPct val="130000"/>
              </a:lnSpc>
              <a:buNone/>
            </a:pPr>
            <a:r>
              <a:rPr lang="en-US" sz="1400" dirty="0">
                <a:solidFill>
                  <a:srgbClr val="595959"/>
                </a:solidFill>
                <a:latin typeface="MiSans" pitchFamily="34" charset="0"/>
                <a:ea typeface="MiSans" pitchFamily="34" charset="-122"/>
                <a:cs typeface="MiSans" pitchFamily="34" charset="-120"/>
              </a:rPr>
              <a:t>Más del 35 % de universitarios españoles ocupan puestos que no requieren estudios superiores. Esto refleja desajuste entre oferta educativa y demanda laboral, y subutilización de capital humano que reduce productividad y salarios, generando frustración profesional.</a:t>
            </a:r>
            <a:endParaRPr lang="en-US" sz="1600" dirty="0"/>
          </a:p>
        </p:txBody>
      </p:sp>
      <p:sp>
        <p:nvSpPr>
          <p:cNvPr id="24" name="Text 21"/>
          <p:cNvSpPr/>
          <p:nvPr/>
        </p:nvSpPr>
        <p:spPr>
          <a:xfrm>
            <a:off x="9712960" y="1200150"/>
            <a:ext cx="862965" cy="562570"/>
          </a:xfrm>
          <a:prstGeom prst="rect">
            <a:avLst/>
          </a:prstGeom>
          <a:noFill/>
          <a:ln/>
        </p:spPr>
        <p:txBody>
          <a:bodyPr wrap="square" lIns="91440" tIns="45720" rIns="91440" bIns="45720" rtlCol="0" anchor="t">
            <a:spAutoFit/>
          </a:bodyPr>
          <a:lstStyle/>
          <a:p>
            <a:pPr marL="0" indent="0" algn="ctr">
              <a:lnSpc>
                <a:spcPct val="100000"/>
              </a:lnSpc>
              <a:buNone/>
            </a:pPr>
            <a:r>
              <a:rPr lang="en-US" sz="3600" b="1" dirty="0">
                <a:solidFill>
                  <a:srgbClr val="FFFFFF"/>
                </a:solidFill>
                <a:latin typeface="MiSans" pitchFamily="34" charset="0"/>
                <a:ea typeface="MiSans" pitchFamily="34" charset="-122"/>
                <a:cs typeface="MiSans" pitchFamily="34" charset="-120"/>
              </a:rPr>
              <a:t>2</a:t>
            </a:r>
            <a:endParaRPr lang="en-US" sz="1600" dirty="0"/>
          </a:p>
        </p:txBody>
      </p:sp>
      <p:sp>
        <p:nvSpPr>
          <p:cNvPr id="25" name="Text 22"/>
          <p:cNvSpPr/>
          <p:nvPr/>
        </p:nvSpPr>
        <p:spPr>
          <a:xfrm>
            <a:off x="7791062" y="2207260"/>
            <a:ext cx="4400938" cy="681355"/>
          </a:xfrm>
          <a:prstGeom prst="rect">
            <a:avLst/>
          </a:prstGeom>
          <a:noFill/>
          <a:ln/>
        </p:spPr>
        <p:txBody>
          <a:bodyPr wrap="square" lIns="91440" tIns="45720" rIns="91440" bIns="45720" rtlCol="0" anchor="t"/>
          <a:lstStyle/>
          <a:p>
            <a:pPr marL="0" indent="0" algn="ctr">
              <a:lnSpc>
                <a:spcPct val="100000"/>
              </a:lnSpc>
              <a:buNone/>
            </a:pPr>
            <a:r>
              <a:rPr lang="en-US" sz="2400" b="1" dirty="0">
                <a:solidFill>
                  <a:srgbClr val="00B0F0"/>
                </a:solidFill>
                <a:latin typeface="MiSans" pitchFamily="34" charset="0"/>
                <a:ea typeface="MiSans" pitchFamily="34" charset="-122"/>
                <a:cs typeface="MiSans" pitchFamily="34" charset="-120"/>
              </a:rPr>
              <a:t>Brecha de formación entre temporales e indefinidos</a:t>
            </a:r>
            <a:endParaRPr lang="en-US" sz="1600" dirty="0"/>
          </a:p>
        </p:txBody>
      </p:sp>
      <p:sp>
        <p:nvSpPr>
          <p:cNvPr id="26" name="Text 23"/>
          <p:cNvSpPr/>
          <p:nvPr/>
        </p:nvSpPr>
        <p:spPr>
          <a:xfrm>
            <a:off x="8753475" y="3291205"/>
            <a:ext cx="2787015" cy="2361565"/>
          </a:xfrm>
          <a:prstGeom prst="rect">
            <a:avLst/>
          </a:prstGeom>
          <a:noFill/>
          <a:ln/>
        </p:spPr>
        <p:txBody>
          <a:bodyPr wrap="square" lIns="91440" tIns="45720" rIns="91440" bIns="45720" rtlCol="0" anchor="t"/>
          <a:lstStyle/>
          <a:p>
            <a:pPr marL="0" indent="0">
              <a:lnSpc>
                <a:spcPct val="130000"/>
              </a:lnSpc>
              <a:buNone/>
            </a:pPr>
            <a:r>
              <a:rPr lang="en-US" sz="1400" dirty="0">
                <a:solidFill>
                  <a:srgbClr val="595959"/>
                </a:solidFill>
                <a:latin typeface="MiSans" pitchFamily="34" charset="0"/>
                <a:ea typeface="MiSans" pitchFamily="34" charset="-122"/>
                <a:cs typeface="MiSans" pitchFamily="34" charset="-120"/>
              </a:rPr>
              <a:t>Los trabajadores temporales reciben hasta un 40 % menos de formación financiada por la empresa. Esta brecha perpetúa desigualdad de oportunidades y dificulta la transición a empleos estables, creando círculo vicioso de baja cualificación y precariedad.</a:t>
            </a:r>
            <a:endParaRPr lang="en-US" sz="1600" dirty="0"/>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142240"/>
            <a:ext cx="7499985" cy="368300"/>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Salarios y dualidad</a:t>
            </a:r>
            <a:endParaRPr lang="en-US" sz="1600" dirty="0"/>
          </a:p>
        </p:txBody>
      </p:sp>
      <p:sp>
        <p:nvSpPr>
          <p:cNvPr id="12" name="Shape 10"/>
          <p:cNvSpPr/>
          <p:nvPr/>
        </p:nvSpPr>
        <p:spPr>
          <a:xfrm>
            <a:off x="628650" y="1229995"/>
            <a:ext cx="7781290" cy="1405255"/>
          </a:xfrm>
          <a:custGeom>
            <a:avLst/>
            <a:gdLst/>
            <a:ahLst/>
            <a:cxnLst/>
            <a:rect l="l" t="t" r="r" b="b"/>
            <a:pathLst>
              <a:path w="7781290" h="1405255">
                <a:moveTo>
                  <a:pt x="0" y="418032"/>
                </a:moveTo>
                <a:lnTo>
                  <a:pt x="0" y="1405255"/>
                </a:lnTo>
                <a:lnTo>
                  <a:pt x="7781290" y="1405255"/>
                </a:lnTo>
                <a:lnTo>
                  <a:pt x="7781290" y="0"/>
                </a:lnTo>
                <a:lnTo>
                  <a:pt x="5154295" y="2606"/>
                </a:lnTo>
              </a:path>
            </a:pathLst>
          </a:custGeom>
          <a:solidFill>
            <a:srgbClr val="000000">
              <a:alpha val="0"/>
            </a:srgbClr>
          </a:solidFill>
          <a:ln w="38100">
            <a:solidFill>
              <a:srgbClr val="000000"/>
            </a:solidFill>
            <a:prstDash val="solid"/>
          </a:ln>
        </p:spPr>
        <p:txBody>
          <a:bodyPr/>
          <a:lstStyle/>
          <a:p>
            <a:endParaRPr lang="es-ES"/>
          </a:p>
        </p:txBody>
      </p:sp>
      <p:sp>
        <p:nvSpPr>
          <p:cNvPr id="13" name="Text 11"/>
          <p:cNvSpPr/>
          <p:nvPr/>
        </p:nvSpPr>
        <p:spPr>
          <a:xfrm>
            <a:off x="628650" y="1229995"/>
            <a:ext cx="7781290" cy="140525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4039235" y="3194685"/>
            <a:ext cx="7781290" cy="1405255"/>
          </a:xfrm>
          <a:custGeom>
            <a:avLst/>
            <a:gdLst/>
            <a:ahLst/>
            <a:cxnLst/>
            <a:rect l="l" t="t" r="r" b="b"/>
            <a:pathLst>
              <a:path w="7781290" h="1405255">
                <a:moveTo>
                  <a:pt x="0" y="418032"/>
                </a:moveTo>
                <a:lnTo>
                  <a:pt x="0" y="1405255"/>
                </a:lnTo>
                <a:lnTo>
                  <a:pt x="7781290" y="1405255"/>
                </a:lnTo>
                <a:lnTo>
                  <a:pt x="7781290" y="0"/>
                </a:lnTo>
                <a:lnTo>
                  <a:pt x="5154295" y="2606"/>
                </a:lnTo>
              </a:path>
            </a:pathLst>
          </a:custGeom>
          <a:solidFill>
            <a:srgbClr val="000000">
              <a:alpha val="0"/>
            </a:srgbClr>
          </a:solidFill>
          <a:ln w="38100">
            <a:solidFill>
              <a:srgbClr val="000000"/>
            </a:solidFill>
            <a:prstDash val="solid"/>
          </a:ln>
        </p:spPr>
        <p:txBody>
          <a:bodyPr/>
          <a:lstStyle/>
          <a:p>
            <a:endParaRPr lang="es-ES"/>
          </a:p>
        </p:txBody>
      </p:sp>
      <p:sp>
        <p:nvSpPr>
          <p:cNvPr id="15" name="Text 13"/>
          <p:cNvSpPr/>
          <p:nvPr/>
        </p:nvSpPr>
        <p:spPr>
          <a:xfrm>
            <a:off x="4039235" y="3194685"/>
            <a:ext cx="7781290" cy="140525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755650" y="5009515"/>
            <a:ext cx="7781290" cy="1405255"/>
          </a:xfrm>
          <a:custGeom>
            <a:avLst/>
            <a:gdLst/>
            <a:ahLst/>
            <a:cxnLst/>
            <a:rect l="l" t="t" r="r" b="b"/>
            <a:pathLst>
              <a:path w="7781290" h="1405255">
                <a:moveTo>
                  <a:pt x="0" y="418032"/>
                </a:moveTo>
                <a:lnTo>
                  <a:pt x="0" y="1405255"/>
                </a:lnTo>
                <a:lnTo>
                  <a:pt x="7781290" y="1405255"/>
                </a:lnTo>
                <a:lnTo>
                  <a:pt x="7781290" y="0"/>
                </a:lnTo>
                <a:lnTo>
                  <a:pt x="5154295" y="2606"/>
                </a:lnTo>
              </a:path>
            </a:pathLst>
          </a:custGeom>
          <a:solidFill>
            <a:srgbClr val="000000">
              <a:alpha val="0"/>
            </a:srgbClr>
          </a:solidFill>
          <a:ln w="38100">
            <a:solidFill>
              <a:srgbClr val="000000"/>
            </a:solidFill>
            <a:prstDash val="solid"/>
          </a:ln>
        </p:spPr>
        <p:txBody>
          <a:bodyPr/>
          <a:lstStyle/>
          <a:p>
            <a:endParaRPr lang="es-ES"/>
          </a:p>
        </p:txBody>
      </p:sp>
      <p:sp>
        <p:nvSpPr>
          <p:cNvPr id="17" name="Text 15"/>
          <p:cNvSpPr/>
          <p:nvPr/>
        </p:nvSpPr>
        <p:spPr>
          <a:xfrm>
            <a:off x="755650" y="5009515"/>
            <a:ext cx="7781290" cy="1405255"/>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8" name="Image 0" descr="https://kimi-img.moonshot.cn/pub/slides/slides_tmpl/image/25-08-27-19:57:42-d2nf5dh8bjvh7rlivsv0.png"/>
          <p:cNvPicPr>
            <a:picLocks noChangeAspect="1"/>
          </p:cNvPicPr>
          <p:nvPr/>
        </p:nvPicPr>
        <p:blipFill>
          <a:blip r:embed="rId3"/>
          <a:stretch>
            <a:fillRect/>
          </a:stretch>
        </p:blipFill>
        <p:spPr>
          <a:xfrm>
            <a:off x="9265285" y="4793615"/>
            <a:ext cx="1365250" cy="1688465"/>
          </a:xfrm>
          <a:prstGeom prst="rect">
            <a:avLst/>
          </a:prstGeom>
        </p:spPr>
      </p:pic>
      <p:pic>
        <p:nvPicPr>
          <p:cNvPr id="19" name="Image 1" descr="https://kimi-img.moonshot.cn/pub/slides/slides_tmpl/image/25-08-27-19:57:42-d2nf5dh8bjvh7rlivsvg.png"/>
          <p:cNvPicPr>
            <a:picLocks noChangeAspect="1"/>
          </p:cNvPicPr>
          <p:nvPr/>
        </p:nvPicPr>
        <p:blipFill>
          <a:blip r:embed="rId4"/>
          <a:stretch>
            <a:fillRect/>
          </a:stretch>
        </p:blipFill>
        <p:spPr>
          <a:xfrm rot="20220000">
            <a:off x="2183765" y="2895600"/>
            <a:ext cx="972820" cy="1579245"/>
          </a:xfrm>
          <a:prstGeom prst="rect">
            <a:avLst/>
          </a:prstGeom>
        </p:spPr>
      </p:pic>
      <p:pic>
        <p:nvPicPr>
          <p:cNvPr id="20" name="Image 2" descr="https://kimi-img.moonshot.cn/pub/slides/slides_tmpl/image/25-08-27-19:57:42-d2nf5dh8bjvh7rlivsp0.jpg"/>
          <p:cNvPicPr>
            <a:picLocks noChangeAspect="1"/>
          </p:cNvPicPr>
          <p:nvPr/>
        </p:nvPicPr>
        <p:blipFill>
          <a:blip r:embed="rId5"/>
          <a:stretch>
            <a:fillRect/>
          </a:stretch>
        </p:blipFill>
        <p:spPr>
          <a:xfrm>
            <a:off x="9069705" y="873125"/>
            <a:ext cx="1756410" cy="2025650"/>
          </a:xfrm>
          <a:prstGeom prst="rect">
            <a:avLst/>
          </a:prstGeom>
        </p:spPr>
      </p:pic>
      <p:sp>
        <p:nvSpPr>
          <p:cNvPr id="21" name="Text 16"/>
          <p:cNvSpPr/>
          <p:nvPr/>
        </p:nvSpPr>
        <p:spPr>
          <a:xfrm>
            <a:off x="290195" y="739775"/>
            <a:ext cx="1195070" cy="920750"/>
          </a:xfrm>
          <a:prstGeom prst="rect">
            <a:avLst/>
          </a:prstGeom>
          <a:noFill/>
          <a:ln/>
        </p:spPr>
        <p:txBody>
          <a:bodyPr wrap="square" lIns="91440" tIns="45720" rIns="91440" bIns="45720" rtlCol="0" anchor="t">
            <a:spAutoFit/>
          </a:bodyPr>
          <a:lstStyle/>
          <a:p>
            <a:pPr marL="0" indent="0">
              <a:lnSpc>
                <a:spcPct val="100000"/>
              </a:lnSpc>
              <a:buNone/>
            </a:pPr>
            <a:r>
              <a:rPr lang="en-US" sz="6000" b="1" dirty="0">
                <a:solidFill>
                  <a:srgbClr val="000000"/>
                </a:solidFill>
                <a:latin typeface="MiSans" pitchFamily="34" charset="0"/>
                <a:ea typeface="MiSans" pitchFamily="34" charset="-122"/>
                <a:cs typeface="MiSans" pitchFamily="34" charset="-120"/>
              </a:rPr>
              <a:t>01</a:t>
            </a:r>
            <a:endParaRPr lang="en-US" sz="1600" dirty="0"/>
          </a:p>
        </p:txBody>
      </p:sp>
      <p:sp>
        <p:nvSpPr>
          <p:cNvPr id="22" name="Text 17"/>
          <p:cNvSpPr/>
          <p:nvPr/>
        </p:nvSpPr>
        <p:spPr>
          <a:xfrm>
            <a:off x="1244283" y="1017379"/>
            <a:ext cx="4358640" cy="774700"/>
          </a:xfrm>
          <a:prstGeom prst="rect">
            <a:avLst/>
          </a:prstGeom>
          <a:noFill/>
          <a:ln/>
        </p:spPr>
        <p:txBody>
          <a:bodyPr wrap="square" lIns="91440" tIns="45720" rIns="91440" bIns="45720" rtlCol="0" anchor="t">
            <a:spAutoFit/>
          </a:bodyPr>
          <a:lstStyle/>
          <a:p>
            <a:pPr marL="0" indent="0">
              <a:lnSpc>
                <a:spcPct val="100000"/>
              </a:lnSpc>
              <a:buNone/>
            </a:pPr>
            <a:r>
              <a:rPr lang="en-US" sz="2400" dirty="0">
                <a:solidFill>
                  <a:srgbClr val="00B0F0"/>
                </a:solidFill>
                <a:latin typeface="MiSans" pitchFamily="34" charset="0"/>
                <a:ea typeface="MiSans" pitchFamily="34" charset="-122"/>
                <a:cs typeface="MiSans" pitchFamily="34" charset="-120"/>
              </a:rPr>
              <a:t>Menor incidencia de bajos salarios</a:t>
            </a:r>
            <a:endParaRPr lang="en-US" sz="1600" dirty="0"/>
          </a:p>
        </p:txBody>
      </p:sp>
      <p:sp>
        <p:nvSpPr>
          <p:cNvPr id="23" name="Text 18"/>
          <p:cNvSpPr/>
          <p:nvPr/>
        </p:nvSpPr>
        <p:spPr>
          <a:xfrm>
            <a:off x="972662" y="1738739"/>
            <a:ext cx="7154545" cy="1276350"/>
          </a:xfrm>
          <a:prstGeom prst="rect">
            <a:avLst/>
          </a:prstGeom>
          <a:noFill/>
          <a:ln/>
        </p:spPr>
        <p:txBody>
          <a:bodyPr wrap="square" lIns="91440" tIns="45720" rIns="91440" bIns="45720" rtlCol="0" anchor="t"/>
          <a:lstStyle/>
          <a:p>
            <a:pPr marL="0" indent="0">
              <a:lnSpc>
                <a:spcPct val="130000"/>
              </a:lnSpc>
              <a:buNone/>
            </a:pPr>
            <a:r>
              <a:rPr lang="en-US" sz="1400" dirty="0">
                <a:solidFill>
                  <a:srgbClr val="000000"/>
                </a:solidFill>
                <a:latin typeface="MiSans" pitchFamily="34" charset="0"/>
                <a:ea typeface="MiSans" pitchFamily="34" charset="-122"/>
                <a:cs typeface="MiSans" pitchFamily="34" charset="-120"/>
              </a:rPr>
              <a:t>El 14 % de asalariados españoles gana menos de dos tercios del salario mediano, por debajo del 17 % de media europea. Esto se debe en parte a la cobertura de convenios colectivos sectoriales que fijan salarios mínimos relativamente altos.</a:t>
            </a:r>
            <a:endParaRPr lang="en-US" sz="1400" dirty="0"/>
          </a:p>
        </p:txBody>
      </p:sp>
      <p:sp>
        <p:nvSpPr>
          <p:cNvPr id="24" name="Text 19"/>
          <p:cNvSpPr/>
          <p:nvPr/>
        </p:nvSpPr>
        <p:spPr>
          <a:xfrm>
            <a:off x="3700780" y="2704465"/>
            <a:ext cx="1195070" cy="920750"/>
          </a:xfrm>
          <a:prstGeom prst="rect">
            <a:avLst/>
          </a:prstGeom>
          <a:noFill/>
          <a:ln/>
        </p:spPr>
        <p:txBody>
          <a:bodyPr wrap="square" lIns="91440" tIns="45720" rIns="91440" bIns="45720" rtlCol="0" anchor="t">
            <a:spAutoFit/>
          </a:bodyPr>
          <a:lstStyle/>
          <a:p>
            <a:pPr marL="0" indent="0">
              <a:lnSpc>
                <a:spcPct val="100000"/>
              </a:lnSpc>
              <a:buNone/>
            </a:pPr>
            <a:r>
              <a:rPr lang="en-US" sz="6000" b="1" dirty="0">
                <a:solidFill>
                  <a:srgbClr val="000000"/>
                </a:solidFill>
                <a:latin typeface="MiSans" pitchFamily="34" charset="0"/>
                <a:ea typeface="MiSans" pitchFamily="34" charset="-122"/>
                <a:cs typeface="MiSans" pitchFamily="34" charset="-120"/>
              </a:rPr>
              <a:t>02</a:t>
            </a:r>
            <a:endParaRPr lang="en-US" sz="1600" dirty="0"/>
          </a:p>
        </p:txBody>
      </p:sp>
      <p:sp>
        <p:nvSpPr>
          <p:cNvPr id="25" name="Text 20"/>
          <p:cNvSpPr/>
          <p:nvPr/>
        </p:nvSpPr>
        <p:spPr>
          <a:xfrm>
            <a:off x="4654868" y="2982069"/>
            <a:ext cx="4358640" cy="774700"/>
          </a:xfrm>
          <a:prstGeom prst="rect">
            <a:avLst/>
          </a:prstGeom>
          <a:noFill/>
          <a:ln/>
        </p:spPr>
        <p:txBody>
          <a:bodyPr wrap="square" lIns="91440" tIns="45720" rIns="91440" bIns="45720" rtlCol="0" anchor="t">
            <a:spAutoFit/>
          </a:bodyPr>
          <a:lstStyle/>
          <a:p>
            <a:pPr marL="0" indent="0">
              <a:lnSpc>
                <a:spcPct val="100000"/>
              </a:lnSpc>
              <a:buNone/>
            </a:pPr>
            <a:r>
              <a:rPr lang="en-US" sz="2400" dirty="0">
                <a:solidFill>
                  <a:srgbClr val="00B0F0"/>
                </a:solidFill>
                <a:latin typeface="MiSans" pitchFamily="34" charset="0"/>
                <a:ea typeface="MiSans" pitchFamily="34" charset="-122"/>
                <a:cs typeface="MiSans" pitchFamily="34" charset="-120"/>
              </a:rPr>
              <a:t>Estancamiento real del salario medio</a:t>
            </a:r>
            <a:endParaRPr lang="en-US" sz="1600" dirty="0"/>
          </a:p>
        </p:txBody>
      </p:sp>
      <p:sp>
        <p:nvSpPr>
          <p:cNvPr id="26" name="Text 21"/>
          <p:cNvSpPr/>
          <p:nvPr/>
        </p:nvSpPr>
        <p:spPr>
          <a:xfrm>
            <a:off x="4445000" y="3721953"/>
            <a:ext cx="7154545" cy="1276350"/>
          </a:xfrm>
          <a:prstGeom prst="rect">
            <a:avLst/>
          </a:prstGeom>
          <a:noFill/>
          <a:ln/>
        </p:spPr>
        <p:txBody>
          <a:bodyPr wrap="square" lIns="91440" tIns="45720" rIns="91440" bIns="45720" rtlCol="0" anchor="t"/>
          <a:lstStyle/>
          <a:p>
            <a:pPr marL="0" indent="0">
              <a:lnSpc>
                <a:spcPct val="130000"/>
              </a:lnSpc>
              <a:buNone/>
            </a:pPr>
            <a:r>
              <a:rPr lang="en-US" sz="1200" dirty="0">
                <a:solidFill>
                  <a:srgbClr val="000000"/>
                </a:solidFill>
                <a:latin typeface="MiSans" pitchFamily="34" charset="0"/>
                <a:ea typeface="MiSans" pitchFamily="34" charset="-122"/>
                <a:cs typeface="MiSans" pitchFamily="34" charset="-120"/>
              </a:rPr>
              <a:t>Pese a menor pobreza laboral, el salario medio real español apenas creció desde 2008. La pérdida de poder adquisitivo afecta a consumo y bienestar, y refleja productividad estancada y alta proporción de empleos de bajo valor añadido.</a:t>
            </a:r>
            <a:endParaRPr lang="en-US" sz="1200" dirty="0"/>
          </a:p>
        </p:txBody>
      </p:sp>
      <p:sp>
        <p:nvSpPr>
          <p:cNvPr id="27" name="Text 22"/>
          <p:cNvSpPr/>
          <p:nvPr/>
        </p:nvSpPr>
        <p:spPr>
          <a:xfrm>
            <a:off x="417195" y="4519295"/>
            <a:ext cx="1195070" cy="920750"/>
          </a:xfrm>
          <a:prstGeom prst="rect">
            <a:avLst/>
          </a:prstGeom>
          <a:noFill/>
          <a:ln/>
        </p:spPr>
        <p:txBody>
          <a:bodyPr wrap="square" lIns="91440" tIns="45720" rIns="91440" bIns="45720" rtlCol="0" anchor="t">
            <a:spAutoFit/>
          </a:bodyPr>
          <a:lstStyle/>
          <a:p>
            <a:pPr marL="0" indent="0">
              <a:lnSpc>
                <a:spcPct val="100000"/>
              </a:lnSpc>
              <a:buNone/>
            </a:pPr>
            <a:r>
              <a:rPr lang="en-US" sz="6000" b="1" dirty="0">
                <a:solidFill>
                  <a:srgbClr val="000000"/>
                </a:solidFill>
                <a:latin typeface="MiSans" pitchFamily="34" charset="0"/>
                <a:ea typeface="MiSans" pitchFamily="34" charset="-122"/>
                <a:cs typeface="MiSans" pitchFamily="34" charset="-120"/>
              </a:rPr>
              <a:t>03</a:t>
            </a:r>
            <a:endParaRPr lang="en-US" sz="1600" dirty="0"/>
          </a:p>
        </p:txBody>
      </p:sp>
      <p:sp>
        <p:nvSpPr>
          <p:cNvPr id="28" name="Text 23"/>
          <p:cNvSpPr/>
          <p:nvPr/>
        </p:nvSpPr>
        <p:spPr>
          <a:xfrm>
            <a:off x="1371283" y="4796899"/>
            <a:ext cx="5262782" cy="830997"/>
          </a:xfrm>
          <a:prstGeom prst="rect">
            <a:avLst/>
          </a:prstGeom>
          <a:noFill/>
          <a:ln/>
        </p:spPr>
        <p:txBody>
          <a:bodyPr wrap="square" lIns="91440" tIns="45720" rIns="91440" bIns="45720" rtlCol="0" anchor="t">
            <a:spAutoFit/>
          </a:bodyPr>
          <a:lstStyle/>
          <a:p>
            <a:pPr marL="0" indent="0">
              <a:lnSpc>
                <a:spcPct val="100000"/>
              </a:lnSpc>
              <a:buNone/>
            </a:pPr>
            <a:r>
              <a:rPr lang="en-US" sz="2400" dirty="0">
                <a:solidFill>
                  <a:srgbClr val="00B0F0"/>
                </a:solidFill>
                <a:latin typeface="MiSans" pitchFamily="34" charset="0"/>
                <a:ea typeface="MiSans" pitchFamily="34" charset="-122"/>
                <a:cs typeface="MiSans" pitchFamily="34" charset="-120"/>
              </a:rPr>
              <a:t>Penalización por temporalidad y tiempo parcial</a:t>
            </a:r>
            <a:endParaRPr lang="en-US" sz="1600" dirty="0"/>
          </a:p>
        </p:txBody>
      </p:sp>
      <p:sp>
        <p:nvSpPr>
          <p:cNvPr id="29" name="Text 24"/>
          <p:cNvSpPr/>
          <p:nvPr/>
        </p:nvSpPr>
        <p:spPr>
          <a:xfrm>
            <a:off x="1244283" y="5538579"/>
            <a:ext cx="7154545" cy="1276350"/>
          </a:xfrm>
          <a:prstGeom prst="rect">
            <a:avLst/>
          </a:prstGeom>
          <a:noFill/>
          <a:ln/>
        </p:spPr>
        <p:txBody>
          <a:bodyPr wrap="square" lIns="91440" tIns="45720" rIns="91440" bIns="45720" rtlCol="0" anchor="t"/>
          <a:lstStyle/>
          <a:p>
            <a:pPr marL="0" indent="0">
              <a:lnSpc>
                <a:spcPct val="130000"/>
              </a:lnSpc>
              <a:buNone/>
            </a:pPr>
            <a:r>
              <a:rPr lang="en-US" sz="1200" dirty="0">
                <a:solidFill>
                  <a:srgbClr val="000000"/>
                </a:solidFill>
                <a:latin typeface="MiSans" pitchFamily="34" charset="0"/>
                <a:ea typeface="MiSans" pitchFamily="34" charset="-122"/>
                <a:cs typeface="MiSans" pitchFamily="34" charset="-120"/>
              </a:rPr>
              <a:t>Controlando por edad, sector y ocupación, los temporales ganan entre un 10-20 % menos que indefinidos y los parciales hasta un 30 % menos que completos. Esta brecha refleja menor negociación, menor antigüedad y posible discriminación, consolidando desigualdad.</a:t>
            </a:r>
            <a:endParaRPr lang="en-US" sz="1200" dirty="0"/>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8-27-19:57:41-d2nf5d98bjvh7rlivsmg.png"/>
          <p:cNvPicPr>
            <a:picLocks noChangeAspect="1"/>
          </p:cNvPicPr>
          <p:nvPr/>
        </p:nvPicPr>
        <p:blipFill>
          <a:blip r:embed="rId3"/>
          <a:stretch>
            <a:fillRect/>
          </a:stretch>
        </p:blipFill>
        <p:spPr>
          <a:xfrm>
            <a:off x="4558665" y="1141095"/>
            <a:ext cx="3619500" cy="3912870"/>
          </a:xfrm>
          <a:prstGeom prst="rect">
            <a:avLst/>
          </a:prstGeom>
        </p:spPr>
      </p:pic>
      <p:sp>
        <p:nvSpPr>
          <p:cNvPr id="3" name="Shape 0"/>
          <p:cNvSpPr/>
          <p:nvPr/>
        </p:nvSpPr>
        <p:spPr>
          <a:xfrm>
            <a:off x="2047240" y="5053965"/>
            <a:ext cx="8642985" cy="1199515"/>
          </a:xfrm>
          <a:prstGeom prst="roundRect">
            <a:avLst>
              <a:gd name="adj" fmla="val 50000"/>
            </a:avLst>
          </a:prstGeom>
          <a:solidFill>
            <a:srgbClr val="00B0F0"/>
          </a:solidFill>
          <a:ln w="57150">
            <a:solidFill>
              <a:srgbClr val="FFFFFF">
                <a:alpha val="0"/>
              </a:srgbClr>
            </a:solidFill>
            <a:prstDash val="solid"/>
          </a:ln>
        </p:spPr>
        <p:txBody>
          <a:bodyPr/>
          <a:lstStyle/>
          <a:p>
            <a:endParaRPr lang="es-ES"/>
          </a:p>
        </p:txBody>
      </p:sp>
      <p:sp>
        <p:nvSpPr>
          <p:cNvPr id="4" name="Text 1"/>
          <p:cNvSpPr/>
          <p:nvPr/>
        </p:nvSpPr>
        <p:spPr>
          <a:xfrm>
            <a:off x="2047240" y="5053965"/>
            <a:ext cx="8642985" cy="1199515"/>
          </a:xfrm>
          <a:prstGeom prst="rect">
            <a:avLst/>
          </a:prstGeom>
          <a:noFill/>
          <a:ln/>
        </p:spPr>
        <p:txBody>
          <a:bodyPr wrap="square" lIns="45720" tIns="91440" rIns="91440" bIns="45720" rtlCol="0" anchor="ctr"/>
          <a:lstStyle/>
          <a:p>
            <a:pPr>
              <a:lnSpc>
                <a:spcPct val="100000"/>
              </a:lnSpc>
            </a:pPr>
            <a:endParaRPr lang="en-US" sz="1600" dirty="0"/>
          </a:p>
        </p:txBody>
      </p:sp>
      <p:sp>
        <p:nvSpPr>
          <p:cNvPr id="5" name="Shape 2"/>
          <p:cNvSpPr/>
          <p:nvPr/>
        </p:nvSpPr>
        <p:spPr>
          <a:xfrm>
            <a:off x="1920240" y="4884420"/>
            <a:ext cx="8642985" cy="1199515"/>
          </a:xfrm>
          <a:prstGeom prst="roundRect">
            <a:avLst>
              <a:gd name="adj" fmla="val 50000"/>
            </a:avLst>
          </a:prstGeom>
          <a:solidFill>
            <a:srgbClr val="FFFFFF"/>
          </a:solidFill>
          <a:ln w="57150">
            <a:solidFill>
              <a:srgbClr val="000000"/>
            </a:solidFill>
            <a:prstDash val="solid"/>
          </a:ln>
        </p:spPr>
        <p:txBody>
          <a:bodyPr/>
          <a:lstStyle/>
          <a:p>
            <a:endParaRPr lang="es-ES"/>
          </a:p>
        </p:txBody>
      </p:sp>
      <p:sp>
        <p:nvSpPr>
          <p:cNvPr id="6" name="Text 3"/>
          <p:cNvSpPr/>
          <p:nvPr/>
        </p:nvSpPr>
        <p:spPr>
          <a:xfrm>
            <a:off x="1920240" y="4884420"/>
            <a:ext cx="8642985" cy="1199515"/>
          </a:xfrm>
          <a:prstGeom prst="rect">
            <a:avLst/>
          </a:prstGeom>
          <a:noFill/>
          <a:ln/>
        </p:spPr>
        <p:txBody>
          <a:bodyPr wrap="square" lIns="45720" tIns="91440" rIns="91440" bIns="45720" rtlCol="0" anchor="ctr"/>
          <a:lstStyle/>
          <a:p>
            <a:pPr>
              <a:lnSpc>
                <a:spcPct val="100000"/>
              </a:lnSpc>
            </a:pPr>
            <a:endParaRPr lang="en-US" sz="1600" dirty="0"/>
          </a:p>
        </p:txBody>
      </p:sp>
      <p:sp>
        <p:nvSpPr>
          <p:cNvPr id="7" name="Text 4"/>
          <p:cNvSpPr/>
          <p:nvPr/>
        </p:nvSpPr>
        <p:spPr>
          <a:xfrm>
            <a:off x="1920240" y="5045710"/>
            <a:ext cx="8643620" cy="828675"/>
          </a:xfrm>
          <a:prstGeom prst="rect">
            <a:avLst/>
          </a:prstGeom>
          <a:noFill/>
          <a:ln/>
        </p:spPr>
        <p:txBody>
          <a:bodyPr wrap="square" lIns="91440" tIns="45720" rIns="91440" bIns="45720" rtlCol="0" anchor="ctr">
            <a:spAutoFit/>
          </a:bodyPr>
          <a:lstStyle/>
          <a:p>
            <a:pPr algn="ctr">
              <a:lnSpc>
                <a:spcPct val="100000"/>
              </a:lnSpc>
            </a:pPr>
            <a:r>
              <a:rPr lang="en-US" sz="5400" b="1" dirty="0">
                <a:solidFill>
                  <a:srgbClr val="000000"/>
                </a:solidFill>
                <a:latin typeface="MiSans" pitchFamily="34" charset="0"/>
                <a:ea typeface="MiSans" pitchFamily="34" charset="-122"/>
                <a:cs typeface="MiSans" pitchFamily="34" charset="-120"/>
              </a:rPr>
              <a:t>Evidencia internacional</a:t>
            </a:r>
            <a:endParaRPr lang="en-US" sz="1600" dirty="0"/>
          </a:p>
        </p:txBody>
      </p:sp>
      <p:sp>
        <p:nvSpPr>
          <p:cNvPr id="8" name="Text 5"/>
          <p:cNvSpPr/>
          <p:nvPr/>
        </p:nvSpPr>
        <p:spPr>
          <a:xfrm>
            <a:off x="3447415" y="256898"/>
            <a:ext cx="5640070" cy="1107996"/>
          </a:xfrm>
          <a:prstGeom prst="rect">
            <a:avLst/>
          </a:prstGeom>
          <a:noFill/>
          <a:ln/>
        </p:spPr>
        <p:txBody>
          <a:bodyPr wrap="square" lIns="91440" tIns="45720" rIns="91440" bIns="45720" rtlCol="0" anchor="ctr">
            <a:spAutoFit/>
          </a:bodyPr>
          <a:lstStyle/>
          <a:p>
            <a:pPr algn="ctr">
              <a:lnSpc>
                <a:spcPct val="100000"/>
              </a:lnSpc>
            </a:pPr>
            <a:r>
              <a:rPr lang="en-US" sz="6600" b="1" dirty="0">
                <a:solidFill>
                  <a:srgbClr val="000000"/>
                </a:solidFill>
                <a:latin typeface="MiSans" pitchFamily="34" charset="0"/>
                <a:ea typeface="MiSans" pitchFamily="34" charset="-122"/>
                <a:cs typeface="MiSans" pitchFamily="34" charset="-120"/>
              </a:rPr>
              <a:t>PARTE  06</a:t>
            </a:r>
            <a:endParaRPr lang="en-US" sz="1600" dirty="0"/>
          </a:p>
        </p:txBody>
      </p:sp>
      <p:sp>
        <p:nvSpPr>
          <p:cNvPr id="9" name="Shape 6"/>
          <p:cNvSpPr/>
          <p:nvPr/>
        </p:nvSpPr>
        <p:spPr>
          <a:xfrm>
            <a:off x="291465" y="6075045"/>
            <a:ext cx="607496" cy="0"/>
          </a:xfrm>
          <a:prstGeom prst="line">
            <a:avLst/>
          </a:prstGeom>
          <a:noFill/>
          <a:ln w="57150">
            <a:solidFill>
              <a:srgbClr val="00B0F0"/>
            </a:solidFill>
            <a:prstDash val="solid"/>
            <a:headEnd type="none"/>
            <a:tailEnd type="none"/>
          </a:ln>
        </p:spPr>
        <p:txBody>
          <a:bodyPr/>
          <a:lstStyle/>
          <a:p>
            <a:endParaRPr lang="es-ES"/>
          </a:p>
        </p:txBody>
      </p:sp>
      <p:sp>
        <p:nvSpPr>
          <p:cNvPr id="10" name="Shape 7"/>
          <p:cNvSpPr/>
          <p:nvPr/>
        </p:nvSpPr>
        <p:spPr>
          <a:xfrm>
            <a:off x="291465" y="6308725"/>
            <a:ext cx="607496" cy="0"/>
          </a:xfrm>
          <a:prstGeom prst="line">
            <a:avLst/>
          </a:prstGeom>
          <a:noFill/>
          <a:ln w="57150">
            <a:solidFill>
              <a:srgbClr val="00B0F0"/>
            </a:solidFill>
            <a:prstDash val="solid"/>
            <a:headEnd type="none"/>
            <a:tailEnd type="none"/>
          </a:ln>
        </p:spPr>
        <p:txBody>
          <a:bodyPr/>
          <a:lstStyle/>
          <a:p>
            <a:endParaRPr lang="es-ES"/>
          </a:p>
        </p:txBody>
      </p:sp>
      <p:sp>
        <p:nvSpPr>
          <p:cNvPr id="11" name="Shape 8"/>
          <p:cNvSpPr/>
          <p:nvPr/>
        </p:nvSpPr>
        <p:spPr>
          <a:xfrm>
            <a:off x="291465" y="6542405"/>
            <a:ext cx="607496" cy="0"/>
          </a:xfrm>
          <a:prstGeom prst="line">
            <a:avLst/>
          </a:prstGeom>
          <a:noFill/>
          <a:ln w="57150">
            <a:solidFill>
              <a:srgbClr val="00B0F0"/>
            </a:solidFill>
            <a:prstDash val="solid"/>
            <a:headEnd type="none"/>
            <a:tailEnd type="none"/>
          </a:ln>
        </p:spPr>
        <p:txBody>
          <a:bodyPr/>
          <a:lstStyle/>
          <a:p>
            <a:endParaRPr lang="es-ES"/>
          </a:p>
        </p:txBody>
      </p:sp>
      <p:sp>
        <p:nvSpPr>
          <p:cNvPr id="12" name="Shape 9"/>
          <p:cNvSpPr/>
          <p:nvPr/>
        </p:nvSpPr>
        <p:spPr>
          <a:xfrm>
            <a:off x="291465" y="202565"/>
            <a:ext cx="337185" cy="337185"/>
          </a:xfrm>
          <a:prstGeom prst="ellipse">
            <a:avLst/>
          </a:prstGeom>
          <a:solidFill>
            <a:srgbClr val="FFFFFF"/>
          </a:solidFill>
          <a:ln w="19050">
            <a:solidFill>
              <a:srgbClr val="00B0F0"/>
            </a:solidFill>
            <a:prstDash val="solid"/>
          </a:ln>
        </p:spPr>
        <p:txBody>
          <a:bodyPr/>
          <a:lstStyle/>
          <a:p>
            <a:endParaRPr lang="es-ES"/>
          </a:p>
        </p:txBody>
      </p:sp>
      <p:sp>
        <p:nvSpPr>
          <p:cNvPr id="13" name="Text 10"/>
          <p:cNvSpPr/>
          <p:nvPr/>
        </p:nvSpPr>
        <p:spPr>
          <a:xfrm>
            <a:off x="291465" y="202565"/>
            <a:ext cx="337185" cy="337185"/>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1"/>
          <p:cNvSpPr/>
          <p:nvPr/>
        </p:nvSpPr>
        <p:spPr>
          <a:xfrm>
            <a:off x="1251585" y="202565"/>
            <a:ext cx="337185" cy="337185"/>
          </a:xfrm>
          <a:prstGeom prst="ellipse">
            <a:avLst/>
          </a:prstGeom>
          <a:solidFill>
            <a:srgbClr val="FFFFFF"/>
          </a:solidFill>
          <a:ln w="19050">
            <a:solidFill>
              <a:srgbClr val="00B0F0"/>
            </a:solidFill>
            <a:prstDash val="solid"/>
          </a:ln>
        </p:spPr>
        <p:txBody>
          <a:bodyPr/>
          <a:lstStyle/>
          <a:p>
            <a:endParaRPr lang="es-ES"/>
          </a:p>
        </p:txBody>
      </p:sp>
      <p:sp>
        <p:nvSpPr>
          <p:cNvPr id="15" name="Text 12"/>
          <p:cNvSpPr/>
          <p:nvPr/>
        </p:nvSpPr>
        <p:spPr>
          <a:xfrm>
            <a:off x="1251585" y="202565"/>
            <a:ext cx="337185" cy="337185"/>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3"/>
          <p:cNvSpPr/>
          <p:nvPr/>
        </p:nvSpPr>
        <p:spPr>
          <a:xfrm>
            <a:off x="771525" y="202565"/>
            <a:ext cx="337185" cy="337185"/>
          </a:xfrm>
          <a:prstGeom prst="ellipse">
            <a:avLst/>
          </a:prstGeom>
          <a:solidFill>
            <a:srgbClr val="00B0F0"/>
          </a:solidFill>
          <a:ln w="19050">
            <a:solidFill>
              <a:srgbClr val="FFFFFF"/>
            </a:solidFill>
            <a:prstDash val="solid"/>
          </a:ln>
        </p:spPr>
        <p:txBody>
          <a:bodyPr/>
          <a:lstStyle/>
          <a:p>
            <a:endParaRPr lang="es-ES"/>
          </a:p>
        </p:txBody>
      </p:sp>
      <p:sp>
        <p:nvSpPr>
          <p:cNvPr id="17" name="Text 14"/>
          <p:cNvSpPr/>
          <p:nvPr/>
        </p:nvSpPr>
        <p:spPr>
          <a:xfrm>
            <a:off x="771525" y="202565"/>
            <a:ext cx="337185" cy="337185"/>
          </a:xfrm>
          <a:prstGeom prst="rect">
            <a:avLst/>
          </a:prstGeom>
          <a:noFill/>
          <a:ln/>
        </p:spPr>
        <p:txBody>
          <a:bodyPr wrap="square" lIns="45720" tIns="91440" rIns="91440" bIns="45720" rtlCol="0" anchor="ctr"/>
          <a:lstStyle/>
          <a:p>
            <a:pPr>
              <a:lnSpc>
                <a:spcPct val="100000"/>
              </a:lnSpc>
            </a:pPr>
            <a:endParaRPr lang="en-US" sz="1600" dirty="0"/>
          </a:p>
        </p:txBody>
      </p:sp>
      <p:sp>
        <p:nvSpPr>
          <p:cNvPr id="18" name="Shape 15"/>
          <p:cNvSpPr/>
          <p:nvPr/>
        </p:nvSpPr>
        <p:spPr>
          <a:xfrm>
            <a:off x="1731645" y="202565"/>
            <a:ext cx="337185" cy="337185"/>
          </a:xfrm>
          <a:prstGeom prst="ellipse">
            <a:avLst/>
          </a:prstGeom>
          <a:solidFill>
            <a:srgbClr val="00B0F0"/>
          </a:solidFill>
          <a:ln w="19050">
            <a:solidFill>
              <a:srgbClr val="FFFFFF"/>
            </a:solidFill>
            <a:prstDash val="solid"/>
          </a:ln>
        </p:spPr>
        <p:txBody>
          <a:bodyPr/>
          <a:lstStyle/>
          <a:p>
            <a:endParaRPr lang="es-ES"/>
          </a:p>
        </p:txBody>
      </p:sp>
      <p:sp>
        <p:nvSpPr>
          <p:cNvPr id="19" name="Text 16"/>
          <p:cNvSpPr/>
          <p:nvPr/>
        </p:nvSpPr>
        <p:spPr>
          <a:xfrm>
            <a:off x="1731645" y="202565"/>
            <a:ext cx="337185" cy="337185"/>
          </a:xfrm>
          <a:prstGeom prst="rect">
            <a:avLst/>
          </a:prstGeom>
          <a:noFill/>
          <a:ln/>
        </p:spPr>
        <p:txBody>
          <a:bodyPr wrap="square" lIns="45720" tIns="91440" rIns="91440" bIns="45720" rtlCol="0" anchor="ctr"/>
          <a:lstStyle/>
          <a:p>
            <a:pPr>
              <a:lnSpc>
                <a:spcPct val="100000"/>
              </a:lnSpc>
            </a:pPr>
            <a:endParaRPr lang="en-US" sz="1600" dirty="0"/>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54000" y="1397000"/>
            <a:ext cx="12141200" cy="508000"/>
          </a:xfrm>
          <a:prstGeom prst="rect">
            <a:avLst/>
          </a:prstGeom>
          <a:noFill/>
          <a:ln/>
        </p:spPr>
        <p:txBody>
          <a:bodyPr wrap="square" lIns="0" tIns="0" rIns="0" bIns="0" rtlCol="0" anchor="ctr"/>
          <a:lstStyle/>
          <a:p>
            <a:pPr>
              <a:lnSpc>
                <a:spcPct val="90000"/>
              </a:lnSpc>
            </a:pPr>
            <a:r>
              <a:rPr lang="en-US" sz="3600" b="1" dirty="0">
                <a:solidFill>
                  <a:srgbClr val="00AEEF"/>
                </a:solidFill>
                <a:latin typeface="Noto Sans SC" pitchFamily="34" charset="0"/>
                <a:ea typeface="Noto Sans SC" pitchFamily="34" charset="-122"/>
                <a:cs typeface="Noto Sans SC" pitchFamily="34" charset="-120"/>
              </a:rPr>
              <a:t>Desempleo: el consenso roto</a:t>
            </a:r>
            <a:endParaRPr lang="en-US" sz="1600" dirty="0"/>
          </a:p>
        </p:txBody>
      </p:sp>
      <p:sp>
        <p:nvSpPr>
          <p:cNvPr id="3" name="Text 1"/>
          <p:cNvSpPr/>
          <p:nvPr/>
        </p:nvSpPr>
        <p:spPr>
          <a:xfrm>
            <a:off x="254000" y="2006600"/>
            <a:ext cx="9753600" cy="711200"/>
          </a:xfrm>
          <a:prstGeom prst="rect">
            <a:avLst/>
          </a:prstGeom>
          <a:noFill/>
          <a:ln/>
        </p:spPr>
        <p:txBody>
          <a:bodyPr wrap="square" lIns="0" tIns="0" rIns="0" bIns="0" rtlCol="0" anchor="ctr"/>
          <a:lstStyle/>
          <a:p>
            <a:pPr>
              <a:lnSpc>
                <a:spcPct val="130000"/>
              </a:lnSpc>
            </a:pPr>
            <a:r>
              <a:rPr lang="en-US" sz="1800" dirty="0">
                <a:solidFill>
                  <a:srgbClr val="333333"/>
                </a:solidFill>
                <a:latin typeface="MiSans" pitchFamily="34" charset="0"/>
                <a:ea typeface="MiSans" pitchFamily="34" charset="-122"/>
                <a:cs typeface="MiSans" pitchFamily="34" charset="-120"/>
              </a:rPr>
              <a:t>La evidencia internacional no es concluyente: la flexibilidad no reduce el paro agregado, sino que redistribuye el empleo.</a:t>
            </a:r>
            <a:endParaRPr lang="en-US" sz="1600" dirty="0"/>
          </a:p>
        </p:txBody>
      </p:sp>
      <p:sp>
        <p:nvSpPr>
          <p:cNvPr id="4" name="Shape 2"/>
          <p:cNvSpPr/>
          <p:nvPr/>
        </p:nvSpPr>
        <p:spPr>
          <a:xfrm>
            <a:off x="254000" y="3022600"/>
            <a:ext cx="0" cy="1879600"/>
          </a:xfrm>
          <a:prstGeom prst="line">
            <a:avLst/>
          </a:prstGeom>
          <a:noFill/>
          <a:ln w="50800">
            <a:solidFill>
              <a:srgbClr val="00AEEF"/>
            </a:solidFill>
            <a:prstDash val="solid"/>
            <a:headEnd type="none"/>
            <a:tailEnd type="none"/>
          </a:ln>
        </p:spPr>
        <p:txBody>
          <a:bodyPr/>
          <a:lstStyle/>
          <a:p>
            <a:endParaRPr lang="es-ES"/>
          </a:p>
        </p:txBody>
      </p:sp>
      <p:sp>
        <p:nvSpPr>
          <p:cNvPr id="5" name="Shape 3"/>
          <p:cNvSpPr/>
          <p:nvPr/>
        </p:nvSpPr>
        <p:spPr>
          <a:xfrm>
            <a:off x="254000" y="3022600"/>
            <a:ext cx="4508500" cy="1879600"/>
          </a:xfrm>
          <a:custGeom>
            <a:avLst/>
            <a:gdLst/>
            <a:ahLst/>
            <a:cxnLst/>
            <a:rect l="l" t="t" r="r" b="b"/>
            <a:pathLst>
              <a:path w="4508500" h="1879600">
                <a:moveTo>
                  <a:pt x="0" y="0"/>
                </a:moveTo>
                <a:lnTo>
                  <a:pt x="4406908" y="0"/>
                </a:lnTo>
                <a:cubicBezTo>
                  <a:pt x="4463016" y="0"/>
                  <a:pt x="4508500" y="45484"/>
                  <a:pt x="4508500" y="101592"/>
                </a:cubicBezTo>
                <a:lnTo>
                  <a:pt x="4508500" y="1778008"/>
                </a:lnTo>
                <a:cubicBezTo>
                  <a:pt x="4508500" y="1834116"/>
                  <a:pt x="4463016" y="1879600"/>
                  <a:pt x="4406908" y="1879600"/>
                </a:cubicBezTo>
                <a:lnTo>
                  <a:pt x="0" y="1879600"/>
                </a:lnTo>
                <a:lnTo>
                  <a:pt x="0" y="0"/>
                </a:lnTo>
                <a:close/>
              </a:path>
            </a:pathLst>
          </a:custGeom>
          <a:solidFill>
            <a:srgbClr val="00AEEF">
              <a:alpha val="10196"/>
            </a:srgbClr>
          </a:solidFill>
          <a:ln/>
        </p:spPr>
        <p:txBody>
          <a:bodyPr/>
          <a:lstStyle/>
          <a:p>
            <a:endParaRPr lang="es-ES"/>
          </a:p>
        </p:txBody>
      </p:sp>
      <p:sp>
        <p:nvSpPr>
          <p:cNvPr id="6" name="Text 4"/>
          <p:cNvSpPr/>
          <p:nvPr/>
        </p:nvSpPr>
        <p:spPr>
          <a:xfrm>
            <a:off x="508000" y="3225800"/>
            <a:ext cx="4356100" cy="355600"/>
          </a:xfrm>
          <a:prstGeom prst="rect">
            <a:avLst/>
          </a:prstGeom>
          <a:noFill/>
          <a:ln/>
        </p:spPr>
        <p:txBody>
          <a:bodyPr wrap="square" lIns="0" tIns="0" rIns="0" bIns="0" rtlCol="0" anchor="ctr"/>
          <a:lstStyle/>
          <a:p>
            <a:pPr>
              <a:lnSpc>
                <a:spcPct val="120000"/>
              </a:lnSpc>
            </a:pPr>
            <a:r>
              <a:rPr lang="en-US" sz="2000" b="1" dirty="0">
                <a:solidFill>
                  <a:srgbClr val="00AEEF"/>
                </a:solidFill>
                <a:latin typeface="Noto Sans SC" pitchFamily="34" charset="0"/>
                <a:ea typeface="Noto Sans SC" pitchFamily="34" charset="-122"/>
                <a:cs typeface="Noto Sans SC" pitchFamily="34" charset="-120"/>
              </a:rPr>
              <a:t>Tesis Tradicional (FMI/OCDE)</a:t>
            </a:r>
            <a:endParaRPr lang="en-US" sz="1600" dirty="0"/>
          </a:p>
        </p:txBody>
      </p:sp>
      <p:sp>
        <p:nvSpPr>
          <p:cNvPr id="7" name="Text 5"/>
          <p:cNvSpPr/>
          <p:nvPr/>
        </p:nvSpPr>
        <p:spPr>
          <a:xfrm>
            <a:off x="508000" y="3683000"/>
            <a:ext cx="4102100" cy="1016000"/>
          </a:xfrm>
          <a:prstGeom prst="rect">
            <a:avLst/>
          </a:prstGeom>
          <a:noFill/>
          <a:ln/>
        </p:spPr>
        <p:txBody>
          <a:bodyPr wrap="square" lIns="0" tIns="0" rIns="0" bIns="0" rtlCol="0" anchor="ctr"/>
          <a:lstStyle/>
          <a:p>
            <a:pPr>
              <a:lnSpc>
                <a:spcPct val="120000"/>
              </a:lnSpc>
            </a:pPr>
            <a:r>
              <a:rPr lang="en-US" sz="1400" dirty="0">
                <a:solidFill>
                  <a:srgbClr val="333333"/>
                </a:solidFill>
                <a:latin typeface="MiSans" pitchFamily="34" charset="0"/>
                <a:ea typeface="MiSans" pitchFamily="34" charset="-122"/>
                <a:cs typeface="MiSans" pitchFamily="34" charset="-120"/>
              </a:rPr>
              <a:t>Estudios previos (Bernal-Verdugo et al., 2012) sugerían que una mayor flexibilidad del mercado laborar impactaba negativamente en el desempleo.</a:t>
            </a:r>
            <a:endParaRPr lang="en-US" sz="1600" dirty="0"/>
          </a:p>
        </p:txBody>
      </p:sp>
      <p:sp>
        <p:nvSpPr>
          <p:cNvPr id="8" name="Shape 6"/>
          <p:cNvSpPr/>
          <p:nvPr/>
        </p:nvSpPr>
        <p:spPr>
          <a:xfrm>
            <a:off x="5113020" y="3022600"/>
            <a:ext cx="0" cy="1625600"/>
          </a:xfrm>
          <a:prstGeom prst="line">
            <a:avLst/>
          </a:prstGeom>
          <a:noFill/>
          <a:ln w="50800">
            <a:solidFill>
              <a:srgbClr val="FF5E5E"/>
            </a:solidFill>
            <a:prstDash val="solid"/>
            <a:headEnd type="none"/>
            <a:tailEnd type="none"/>
          </a:ln>
        </p:spPr>
        <p:txBody>
          <a:bodyPr/>
          <a:lstStyle/>
          <a:p>
            <a:endParaRPr lang="es-ES"/>
          </a:p>
        </p:txBody>
      </p:sp>
      <p:sp>
        <p:nvSpPr>
          <p:cNvPr id="9" name="Shape 7"/>
          <p:cNvSpPr/>
          <p:nvPr/>
        </p:nvSpPr>
        <p:spPr>
          <a:xfrm>
            <a:off x="5113020" y="3022600"/>
            <a:ext cx="6769100" cy="1625600"/>
          </a:xfrm>
          <a:custGeom>
            <a:avLst/>
            <a:gdLst/>
            <a:ahLst/>
            <a:cxnLst/>
            <a:rect l="l" t="t" r="r" b="b"/>
            <a:pathLst>
              <a:path w="6769100" h="1625600">
                <a:moveTo>
                  <a:pt x="0" y="0"/>
                </a:moveTo>
                <a:lnTo>
                  <a:pt x="6667500" y="0"/>
                </a:lnTo>
                <a:cubicBezTo>
                  <a:pt x="6723575" y="0"/>
                  <a:pt x="6769100" y="45525"/>
                  <a:pt x="6769100" y="101600"/>
                </a:cubicBezTo>
                <a:lnTo>
                  <a:pt x="6769100" y="1524000"/>
                </a:lnTo>
                <a:cubicBezTo>
                  <a:pt x="6769100" y="1580075"/>
                  <a:pt x="6723575" y="1625600"/>
                  <a:pt x="6667500" y="1625600"/>
                </a:cubicBezTo>
                <a:lnTo>
                  <a:pt x="0" y="1625600"/>
                </a:lnTo>
                <a:lnTo>
                  <a:pt x="0" y="0"/>
                </a:lnTo>
                <a:close/>
              </a:path>
            </a:pathLst>
          </a:custGeom>
          <a:solidFill>
            <a:srgbClr val="FF5E5E">
              <a:alpha val="10196"/>
            </a:srgbClr>
          </a:solidFill>
          <a:ln/>
        </p:spPr>
        <p:txBody>
          <a:bodyPr/>
          <a:lstStyle/>
          <a:p>
            <a:endParaRPr lang="es-ES"/>
          </a:p>
        </p:txBody>
      </p:sp>
      <p:sp>
        <p:nvSpPr>
          <p:cNvPr id="10" name="Text 8"/>
          <p:cNvSpPr/>
          <p:nvPr/>
        </p:nvSpPr>
        <p:spPr>
          <a:xfrm>
            <a:off x="5367020" y="3225800"/>
            <a:ext cx="6616700" cy="355600"/>
          </a:xfrm>
          <a:prstGeom prst="rect">
            <a:avLst/>
          </a:prstGeom>
          <a:noFill/>
          <a:ln/>
        </p:spPr>
        <p:txBody>
          <a:bodyPr wrap="square" lIns="0" tIns="0" rIns="0" bIns="0" rtlCol="0" anchor="ctr"/>
          <a:lstStyle/>
          <a:p>
            <a:pPr>
              <a:lnSpc>
                <a:spcPct val="120000"/>
              </a:lnSpc>
            </a:pPr>
            <a:r>
              <a:rPr lang="en-US" sz="2000" b="1" dirty="0">
                <a:solidFill>
                  <a:srgbClr val="FF5E5E"/>
                </a:solidFill>
                <a:latin typeface="Noto Sans SC" pitchFamily="34" charset="0"/>
                <a:ea typeface="Noto Sans SC" pitchFamily="34" charset="-122"/>
                <a:cs typeface="Noto Sans SC" pitchFamily="34" charset="-120"/>
              </a:rPr>
              <a:t>Revisión Crítica (ONU/ILO)</a:t>
            </a:r>
            <a:endParaRPr lang="en-US" sz="1600" dirty="0"/>
          </a:p>
        </p:txBody>
      </p:sp>
      <p:sp>
        <p:nvSpPr>
          <p:cNvPr id="11" name="Text 9"/>
          <p:cNvSpPr/>
          <p:nvPr/>
        </p:nvSpPr>
        <p:spPr>
          <a:xfrm>
            <a:off x="5367020" y="3683000"/>
            <a:ext cx="6362700" cy="762000"/>
          </a:xfrm>
          <a:prstGeom prst="rect">
            <a:avLst/>
          </a:prstGeom>
          <a:noFill/>
          <a:ln/>
        </p:spPr>
        <p:txBody>
          <a:bodyPr wrap="square" lIns="0" tIns="0" rIns="0" bIns="0" rtlCol="0" anchor="ctr"/>
          <a:lstStyle/>
          <a:p>
            <a:pPr>
              <a:lnSpc>
                <a:spcPct val="120000"/>
              </a:lnSpc>
            </a:pPr>
            <a:r>
              <a:rPr lang="en-US" sz="1400" dirty="0">
                <a:solidFill>
                  <a:srgbClr val="333333"/>
                </a:solidFill>
                <a:latin typeface="MiSans" pitchFamily="34" charset="0"/>
                <a:ea typeface="MiSans" pitchFamily="34" charset="-122"/>
                <a:cs typeface="MiSans" pitchFamily="34" charset="-120"/>
              </a:rPr>
              <a:t>Meta-análisis (Heimberger, 2021) y trabajos de Rodgers (2007) concluyen que el efecto medio sobre el desempleo es </a:t>
            </a:r>
            <a:r>
              <a:rPr lang="en-US" sz="1400" dirty="0">
                <a:solidFill>
                  <a:srgbClr val="333333"/>
                </a:solidFill>
                <a:highlight>
                  <a:srgbClr val="FFC200">
                    <a:alpha val="100000"/>
                  </a:srgbClr>
                </a:highlight>
                <a:latin typeface="MiSans" pitchFamily="34" charset="0"/>
                <a:ea typeface="MiSans" pitchFamily="34" charset="-122"/>
                <a:cs typeface="MiSans" pitchFamily="34" charset="-120"/>
              </a:rPr>
              <a:t>cero </a:t>
            </a:r>
            <a:r>
              <a:rPr lang="en-US" sz="1400" dirty="0">
                <a:solidFill>
                  <a:srgbClr val="333333"/>
                </a:solidFill>
                <a:latin typeface="MiSans" pitchFamily="34" charset="0"/>
                <a:ea typeface="MiSans" pitchFamily="34" charset="-122"/>
                <a:cs typeface="MiSans" pitchFamily="34" charset="-120"/>
              </a:rPr>
              <a:t>. El impacto es distributivo, no agregado.</a:t>
            </a:r>
            <a:endParaRPr lang="en-US" sz="1600" dirty="0"/>
          </a:p>
        </p:txBody>
      </p:sp>
      <p:sp>
        <p:nvSpPr>
          <p:cNvPr id="12" name="Shape 10"/>
          <p:cNvSpPr/>
          <p:nvPr/>
        </p:nvSpPr>
        <p:spPr>
          <a:xfrm>
            <a:off x="3627120" y="5245100"/>
            <a:ext cx="111125" cy="177800"/>
          </a:xfrm>
          <a:custGeom>
            <a:avLst/>
            <a:gdLst/>
            <a:ahLst/>
            <a:cxnLst/>
            <a:rect l="l" t="t" r="r" b="b"/>
            <a:pathLst>
              <a:path w="111125" h="177800">
                <a:moveTo>
                  <a:pt x="47714" y="185648"/>
                </a:moveTo>
                <a:cubicBezTo>
                  <a:pt x="52055" y="189989"/>
                  <a:pt x="59105" y="189989"/>
                  <a:pt x="63445" y="185648"/>
                </a:cubicBezTo>
                <a:lnTo>
                  <a:pt x="107895" y="141198"/>
                </a:lnTo>
                <a:cubicBezTo>
                  <a:pt x="112236" y="136857"/>
                  <a:pt x="112236" y="129808"/>
                  <a:pt x="107895" y="125467"/>
                </a:cubicBezTo>
                <a:cubicBezTo>
                  <a:pt x="103555" y="121126"/>
                  <a:pt x="96505" y="121126"/>
                  <a:pt x="92164" y="125467"/>
                </a:cubicBezTo>
                <a:lnTo>
                  <a:pt x="66675" y="150956"/>
                </a:lnTo>
                <a:lnTo>
                  <a:pt x="66675" y="0"/>
                </a:lnTo>
                <a:cubicBezTo>
                  <a:pt x="66675" y="-6147"/>
                  <a:pt x="61709" y="-11112"/>
                  <a:pt x="55563" y="-11112"/>
                </a:cubicBezTo>
                <a:cubicBezTo>
                  <a:pt x="49416" y="-11112"/>
                  <a:pt x="44450" y="-6147"/>
                  <a:pt x="44450" y="0"/>
                </a:cubicBezTo>
                <a:lnTo>
                  <a:pt x="44450" y="150956"/>
                </a:lnTo>
                <a:lnTo>
                  <a:pt x="18961" y="125467"/>
                </a:lnTo>
                <a:cubicBezTo>
                  <a:pt x="14620" y="121126"/>
                  <a:pt x="7570" y="121126"/>
                  <a:pt x="3230" y="125467"/>
                </a:cubicBezTo>
                <a:cubicBezTo>
                  <a:pt x="-1111" y="129808"/>
                  <a:pt x="-1111" y="136857"/>
                  <a:pt x="3230" y="141198"/>
                </a:cubicBezTo>
                <a:lnTo>
                  <a:pt x="47680" y="185648"/>
                </a:lnTo>
                <a:close/>
              </a:path>
            </a:pathLst>
          </a:custGeom>
          <a:solidFill>
            <a:srgbClr val="FF5E5E"/>
          </a:solidFill>
          <a:ln/>
        </p:spPr>
        <p:txBody>
          <a:bodyPr/>
          <a:lstStyle/>
          <a:p>
            <a:endParaRPr lang="es-ES"/>
          </a:p>
        </p:txBody>
      </p:sp>
      <p:sp>
        <p:nvSpPr>
          <p:cNvPr id="13" name="Text 11"/>
          <p:cNvSpPr/>
          <p:nvPr/>
        </p:nvSpPr>
        <p:spPr>
          <a:xfrm>
            <a:off x="3892233" y="5207000"/>
            <a:ext cx="1231900" cy="254000"/>
          </a:xfrm>
          <a:prstGeom prst="rect">
            <a:avLst/>
          </a:prstGeom>
          <a:noFill/>
          <a:ln/>
        </p:spPr>
        <p:txBody>
          <a:bodyPr wrap="square" lIns="0" tIns="0" rIns="0" bIns="0" rtlCol="0" anchor="ctr"/>
          <a:lstStyle/>
          <a:p>
            <a:pPr>
              <a:lnSpc>
                <a:spcPct val="120000"/>
              </a:lnSpc>
            </a:pPr>
            <a:r>
              <a:rPr lang="en-US" sz="1400" dirty="0">
                <a:solidFill>
                  <a:srgbClr val="333333"/>
                </a:solidFill>
                <a:latin typeface="MiSans" pitchFamily="34" charset="0"/>
                <a:ea typeface="MiSans" pitchFamily="34" charset="-122"/>
                <a:cs typeface="MiSans" pitchFamily="34" charset="-120"/>
              </a:rPr>
              <a:t>Paro juvenil</a:t>
            </a:r>
            <a:endParaRPr lang="en-US" sz="1600" dirty="0"/>
          </a:p>
        </p:txBody>
      </p:sp>
      <p:sp>
        <p:nvSpPr>
          <p:cNvPr id="14" name="Shape 12"/>
          <p:cNvSpPr/>
          <p:nvPr/>
        </p:nvSpPr>
        <p:spPr>
          <a:xfrm>
            <a:off x="5203984" y="5245100"/>
            <a:ext cx="111125" cy="177800"/>
          </a:xfrm>
          <a:custGeom>
            <a:avLst/>
            <a:gdLst/>
            <a:ahLst/>
            <a:cxnLst/>
            <a:rect l="l" t="t" r="r" b="b"/>
            <a:pathLst>
              <a:path w="111125" h="177800">
                <a:moveTo>
                  <a:pt x="63411" y="-7848"/>
                </a:moveTo>
                <a:cubicBezTo>
                  <a:pt x="59070" y="-12189"/>
                  <a:pt x="52020" y="-12189"/>
                  <a:pt x="47680" y="-7848"/>
                </a:cubicBezTo>
                <a:lnTo>
                  <a:pt x="3230" y="36602"/>
                </a:lnTo>
                <a:cubicBezTo>
                  <a:pt x="-1111" y="40943"/>
                  <a:pt x="-1111" y="47992"/>
                  <a:pt x="3230" y="52333"/>
                </a:cubicBezTo>
                <a:cubicBezTo>
                  <a:pt x="7570" y="56674"/>
                  <a:pt x="14620" y="56674"/>
                  <a:pt x="18961" y="52333"/>
                </a:cubicBezTo>
                <a:lnTo>
                  <a:pt x="44450" y="26844"/>
                </a:lnTo>
                <a:lnTo>
                  <a:pt x="44450" y="177800"/>
                </a:lnTo>
                <a:cubicBezTo>
                  <a:pt x="44450" y="183947"/>
                  <a:pt x="49416" y="188913"/>
                  <a:pt x="55563" y="188913"/>
                </a:cubicBezTo>
                <a:cubicBezTo>
                  <a:pt x="61709" y="188913"/>
                  <a:pt x="66675" y="183947"/>
                  <a:pt x="66675" y="177800"/>
                </a:cubicBezTo>
                <a:lnTo>
                  <a:pt x="66675" y="26844"/>
                </a:lnTo>
                <a:lnTo>
                  <a:pt x="92164" y="52333"/>
                </a:lnTo>
                <a:cubicBezTo>
                  <a:pt x="96505" y="56674"/>
                  <a:pt x="103555" y="56674"/>
                  <a:pt x="107895" y="52333"/>
                </a:cubicBezTo>
                <a:cubicBezTo>
                  <a:pt x="112236" y="47992"/>
                  <a:pt x="112236" y="40943"/>
                  <a:pt x="107895" y="36602"/>
                </a:cubicBezTo>
                <a:lnTo>
                  <a:pt x="63445" y="-7848"/>
                </a:lnTo>
                <a:close/>
              </a:path>
            </a:pathLst>
          </a:custGeom>
          <a:solidFill>
            <a:srgbClr val="FF5E5E"/>
          </a:solidFill>
          <a:ln/>
        </p:spPr>
        <p:txBody>
          <a:bodyPr/>
          <a:lstStyle/>
          <a:p>
            <a:endParaRPr lang="es-ES"/>
          </a:p>
        </p:txBody>
      </p:sp>
      <p:sp>
        <p:nvSpPr>
          <p:cNvPr id="15" name="Text 13"/>
          <p:cNvSpPr/>
          <p:nvPr/>
        </p:nvSpPr>
        <p:spPr>
          <a:xfrm>
            <a:off x="5469096" y="5207000"/>
            <a:ext cx="1498600" cy="254000"/>
          </a:xfrm>
          <a:prstGeom prst="rect">
            <a:avLst/>
          </a:prstGeom>
          <a:noFill/>
          <a:ln/>
        </p:spPr>
        <p:txBody>
          <a:bodyPr wrap="square" lIns="0" tIns="0" rIns="0" bIns="0" rtlCol="0" anchor="ctr"/>
          <a:lstStyle/>
          <a:p>
            <a:pPr>
              <a:lnSpc>
                <a:spcPct val="120000"/>
              </a:lnSpc>
            </a:pPr>
            <a:r>
              <a:rPr lang="en-US" sz="1400" dirty="0">
                <a:solidFill>
                  <a:srgbClr val="333333"/>
                </a:solidFill>
                <a:latin typeface="MiSans" pitchFamily="34" charset="0"/>
                <a:ea typeface="MiSans" pitchFamily="34" charset="-122"/>
                <a:cs typeface="MiSans" pitchFamily="34" charset="-120"/>
              </a:rPr>
              <a:t>Paro femenino</a:t>
            </a:r>
            <a:endParaRPr lang="en-US" sz="1600" dirty="0"/>
          </a:p>
        </p:txBody>
      </p:sp>
      <p:sp>
        <p:nvSpPr>
          <p:cNvPr id="16" name="Shape 14"/>
          <p:cNvSpPr/>
          <p:nvPr/>
        </p:nvSpPr>
        <p:spPr>
          <a:xfrm>
            <a:off x="7011988" y="5245100"/>
            <a:ext cx="200025" cy="177800"/>
          </a:xfrm>
          <a:custGeom>
            <a:avLst/>
            <a:gdLst/>
            <a:ahLst/>
            <a:cxnLst/>
            <a:rect l="l" t="t" r="r" b="b"/>
            <a:pathLst>
              <a:path w="200025" h="177800">
                <a:moveTo>
                  <a:pt x="163423" y="130086"/>
                </a:moveTo>
                <a:lnTo>
                  <a:pt x="196761" y="96748"/>
                </a:lnTo>
                <a:cubicBezTo>
                  <a:pt x="201102" y="92407"/>
                  <a:pt x="201102" y="85358"/>
                  <a:pt x="196761" y="81017"/>
                </a:cubicBezTo>
                <a:lnTo>
                  <a:pt x="163423" y="47680"/>
                </a:lnTo>
                <a:cubicBezTo>
                  <a:pt x="159082" y="43339"/>
                  <a:pt x="152033" y="43339"/>
                  <a:pt x="147692" y="47680"/>
                </a:cubicBezTo>
                <a:cubicBezTo>
                  <a:pt x="143351" y="52020"/>
                  <a:pt x="143351" y="59070"/>
                  <a:pt x="147692" y="63411"/>
                </a:cubicBezTo>
                <a:lnTo>
                  <a:pt x="162069" y="77788"/>
                </a:lnTo>
                <a:lnTo>
                  <a:pt x="37921" y="77788"/>
                </a:lnTo>
                <a:lnTo>
                  <a:pt x="52298" y="63411"/>
                </a:lnTo>
                <a:cubicBezTo>
                  <a:pt x="56639" y="59070"/>
                  <a:pt x="56639" y="52020"/>
                  <a:pt x="52298" y="47680"/>
                </a:cubicBezTo>
                <a:cubicBezTo>
                  <a:pt x="47957" y="43339"/>
                  <a:pt x="40908" y="43339"/>
                  <a:pt x="36567" y="47680"/>
                </a:cubicBezTo>
                <a:lnTo>
                  <a:pt x="3230" y="81017"/>
                </a:lnTo>
                <a:cubicBezTo>
                  <a:pt x="1146" y="83101"/>
                  <a:pt x="-35" y="85914"/>
                  <a:pt x="-35" y="88865"/>
                </a:cubicBezTo>
                <a:cubicBezTo>
                  <a:pt x="-35" y="91817"/>
                  <a:pt x="1146" y="94630"/>
                  <a:pt x="3230" y="96713"/>
                </a:cubicBezTo>
                <a:lnTo>
                  <a:pt x="36567" y="130051"/>
                </a:lnTo>
                <a:cubicBezTo>
                  <a:pt x="40908" y="134392"/>
                  <a:pt x="47957" y="134392"/>
                  <a:pt x="52298" y="130051"/>
                </a:cubicBezTo>
                <a:cubicBezTo>
                  <a:pt x="56639" y="125710"/>
                  <a:pt x="56639" y="118661"/>
                  <a:pt x="52298" y="114320"/>
                </a:cubicBezTo>
                <a:lnTo>
                  <a:pt x="37921" y="99943"/>
                </a:lnTo>
                <a:lnTo>
                  <a:pt x="162069" y="99943"/>
                </a:lnTo>
                <a:lnTo>
                  <a:pt x="147692" y="114320"/>
                </a:lnTo>
                <a:cubicBezTo>
                  <a:pt x="143351" y="118661"/>
                  <a:pt x="143351" y="125710"/>
                  <a:pt x="147692" y="130051"/>
                </a:cubicBezTo>
                <a:cubicBezTo>
                  <a:pt x="152033" y="134392"/>
                  <a:pt x="159082" y="134392"/>
                  <a:pt x="163423" y="130051"/>
                </a:cubicBezTo>
                <a:close/>
              </a:path>
            </a:pathLst>
          </a:custGeom>
          <a:solidFill>
            <a:srgbClr val="4080FF"/>
          </a:solidFill>
          <a:ln/>
        </p:spPr>
        <p:txBody>
          <a:bodyPr/>
          <a:lstStyle/>
          <a:p>
            <a:endParaRPr lang="es-ES"/>
          </a:p>
        </p:txBody>
      </p:sp>
      <p:sp>
        <p:nvSpPr>
          <p:cNvPr id="17" name="Text 15"/>
          <p:cNvSpPr/>
          <p:nvPr/>
        </p:nvSpPr>
        <p:spPr>
          <a:xfrm>
            <a:off x="7321550" y="5207000"/>
            <a:ext cx="1485900" cy="254000"/>
          </a:xfrm>
          <a:prstGeom prst="rect">
            <a:avLst/>
          </a:prstGeom>
          <a:noFill/>
          <a:ln/>
        </p:spPr>
        <p:txBody>
          <a:bodyPr wrap="square" lIns="0" tIns="0" rIns="0" bIns="0" rtlCol="0" anchor="ctr"/>
          <a:lstStyle/>
          <a:p>
            <a:pPr>
              <a:lnSpc>
                <a:spcPct val="120000"/>
              </a:lnSpc>
            </a:pPr>
            <a:r>
              <a:rPr lang="en-US" sz="1400" dirty="0">
                <a:solidFill>
                  <a:srgbClr val="333333"/>
                </a:solidFill>
                <a:latin typeface="MiSans" pitchFamily="34" charset="0"/>
                <a:ea typeface="MiSans" pitchFamily="34" charset="-122"/>
                <a:cs typeface="MiSans" pitchFamily="34" charset="-120"/>
              </a:rPr>
              <a:t>Redistribución</a:t>
            </a:r>
            <a:endParaRPr lang="en-US" sz="1600" dirty="0"/>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5400" y="990600"/>
            <a:ext cx="12141200" cy="508000"/>
          </a:xfrm>
          <a:prstGeom prst="rect">
            <a:avLst/>
          </a:prstGeom>
          <a:noFill/>
          <a:ln/>
        </p:spPr>
        <p:txBody>
          <a:bodyPr wrap="square" lIns="0" tIns="0" rIns="0" bIns="0" rtlCol="0" anchor="ctr"/>
          <a:lstStyle/>
          <a:p>
            <a:pPr algn="ctr">
              <a:lnSpc>
                <a:spcPct val="90000"/>
              </a:lnSpc>
            </a:pPr>
            <a:r>
              <a:rPr lang="en-US" sz="3600" b="1" dirty="0">
                <a:solidFill>
                  <a:srgbClr val="00AEEF"/>
                </a:solidFill>
                <a:latin typeface="Noto Sans SC" pitchFamily="34" charset="0"/>
                <a:ea typeface="Noto Sans SC" pitchFamily="34" charset="-122"/>
                <a:cs typeface="Noto Sans SC" pitchFamily="34" charset="-120"/>
              </a:rPr>
              <a:t>El Coste Real de la Rigidez</a:t>
            </a:r>
            <a:endParaRPr lang="en-US" sz="1600" dirty="0"/>
          </a:p>
        </p:txBody>
      </p:sp>
      <p:sp>
        <p:nvSpPr>
          <p:cNvPr id="3" name="Text 1"/>
          <p:cNvSpPr/>
          <p:nvPr/>
        </p:nvSpPr>
        <p:spPr>
          <a:xfrm>
            <a:off x="254000" y="1701800"/>
            <a:ext cx="11684000" cy="711200"/>
          </a:xfrm>
          <a:prstGeom prst="rect">
            <a:avLst/>
          </a:prstGeom>
          <a:noFill/>
          <a:ln/>
        </p:spPr>
        <p:txBody>
          <a:bodyPr wrap="square" lIns="0" tIns="0" rIns="0" bIns="0" rtlCol="0" anchor="ctr"/>
          <a:lstStyle/>
          <a:p>
            <a:pPr algn="ctr">
              <a:lnSpc>
                <a:spcPct val="130000"/>
              </a:lnSpc>
            </a:pPr>
            <a:r>
              <a:rPr lang="en-US" sz="1800" dirty="0">
                <a:solidFill>
                  <a:srgbClr val="333333"/>
                </a:solidFill>
                <a:latin typeface="MiSans" pitchFamily="34" charset="0"/>
                <a:ea typeface="MiSans" pitchFamily="34" charset="-122"/>
                <a:cs typeface="MiSans" pitchFamily="34" charset="-120"/>
              </a:rPr>
              <a:t>La evidencia es clara: una EPL estricta frena la reasignación de recursos y la creación de empleo, dañando la productividad.</a:t>
            </a:r>
            <a:endParaRPr lang="en-US" sz="1600" dirty="0"/>
          </a:p>
        </p:txBody>
      </p:sp>
      <p:sp>
        <p:nvSpPr>
          <p:cNvPr id="4" name="Shape 2"/>
          <p:cNvSpPr/>
          <p:nvPr/>
        </p:nvSpPr>
        <p:spPr>
          <a:xfrm>
            <a:off x="254000" y="2819400"/>
            <a:ext cx="3759200" cy="1828800"/>
          </a:xfrm>
          <a:custGeom>
            <a:avLst/>
            <a:gdLst/>
            <a:ahLst/>
            <a:cxnLst/>
            <a:rect l="l" t="t" r="r" b="b"/>
            <a:pathLst>
              <a:path w="3759200" h="1828800">
                <a:moveTo>
                  <a:pt x="101608" y="0"/>
                </a:moveTo>
                <a:lnTo>
                  <a:pt x="3657592" y="0"/>
                </a:lnTo>
                <a:cubicBezTo>
                  <a:pt x="3713708" y="0"/>
                  <a:pt x="3759200" y="45492"/>
                  <a:pt x="3759200" y="101608"/>
                </a:cubicBezTo>
                <a:lnTo>
                  <a:pt x="3759200" y="1727192"/>
                </a:lnTo>
                <a:cubicBezTo>
                  <a:pt x="3759200" y="1783308"/>
                  <a:pt x="3713708" y="1828800"/>
                  <a:pt x="3657592" y="1828800"/>
                </a:cubicBezTo>
                <a:lnTo>
                  <a:pt x="101608" y="1828800"/>
                </a:lnTo>
                <a:cubicBezTo>
                  <a:pt x="45492" y="1828800"/>
                  <a:pt x="0" y="1783308"/>
                  <a:pt x="0" y="1727192"/>
                </a:cubicBezTo>
                <a:lnTo>
                  <a:pt x="0" y="101608"/>
                </a:lnTo>
                <a:cubicBezTo>
                  <a:pt x="0" y="45529"/>
                  <a:pt x="45529" y="0"/>
                  <a:pt x="101608" y="0"/>
                </a:cubicBezTo>
                <a:close/>
              </a:path>
            </a:pathLst>
          </a:custGeom>
          <a:solidFill>
            <a:srgbClr val="00AEEF">
              <a:alpha val="10196"/>
            </a:srgbClr>
          </a:solidFill>
          <a:ln/>
        </p:spPr>
        <p:txBody>
          <a:bodyPr/>
          <a:lstStyle/>
          <a:p>
            <a:endParaRPr lang="es-ES"/>
          </a:p>
        </p:txBody>
      </p:sp>
      <p:sp>
        <p:nvSpPr>
          <p:cNvPr id="5" name="Shape 3"/>
          <p:cNvSpPr/>
          <p:nvPr/>
        </p:nvSpPr>
        <p:spPr>
          <a:xfrm>
            <a:off x="1962150" y="3022600"/>
            <a:ext cx="342900" cy="457200"/>
          </a:xfrm>
          <a:custGeom>
            <a:avLst/>
            <a:gdLst/>
            <a:ahLst/>
            <a:cxnLst/>
            <a:rect l="l" t="t" r="r" b="b"/>
            <a:pathLst>
              <a:path w="342900" h="457200">
                <a:moveTo>
                  <a:pt x="114300" y="85725"/>
                </a:moveTo>
                <a:lnTo>
                  <a:pt x="114300" y="142875"/>
                </a:lnTo>
                <a:lnTo>
                  <a:pt x="228600" y="142875"/>
                </a:lnTo>
                <a:lnTo>
                  <a:pt x="228600" y="85725"/>
                </a:lnTo>
                <a:cubicBezTo>
                  <a:pt x="228600" y="54203"/>
                  <a:pt x="202972" y="28575"/>
                  <a:pt x="171450" y="28575"/>
                </a:cubicBezTo>
                <a:cubicBezTo>
                  <a:pt x="139928" y="28575"/>
                  <a:pt x="114300" y="54203"/>
                  <a:pt x="114300" y="85725"/>
                </a:cubicBezTo>
                <a:close/>
                <a:moveTo>
                  <a:pt x="57150" y="142875"/>
                </a:moveTo>
                <a:lnTo>
                  <a:pt x="57150" y="85725"/>
                </a:lnTo>
                <a:cubicBezTo>
                  <a:pt x="57150" y="22592"/>
                  <a:pt x="108317" y="-28575"/>
                  <a:pt x="171450" y="-28575"/>
                </a:cubicBezTo>
                <a:cubicBezTo>
                  <a:pt x="234583" y="-28575"/>
                  <a:pt x="285750" y="22592"/>
                  <a:pt x="285750" y="85725"/>
                </a:cubicBezTo>
                <a:lnTo>
                  <a:pt x="285750" y="142875"/>
                </a:lnTo>
                <a:cubicBezTo>
                  <a:pt x="317272" y="142875"/>
                  <a:pt x="342900" y="168503"/>
                  <a:pt x="342900" y="200025"/>
                </a:cubicBezTo>
                <a:lnTo>
                  <a:pt x="342900" y="400050"/>
                </a:lnTo>
                <a:cubicBezTo>
                  <a:pt x="342900" y="431572"/>
                  <a:pt x="317272" y="457200"/>
                  <a:pt x="285750" y="457200"/>
                </a:cubicBezTo>
                <a:lnTo>
                  <a:pt x="57150" y="457200"/>
                </a:lnTo>
                <a:cubicBezTo>
                  <a:pt x="25628" y="457200"/>
                  <a:pt x="0" y="431572"/>
                  <a:pt x="0" y="400050"/>
                </a:cubicBezTo>
                <a:lnTo>
                  <a:pt x="0" y="200025"/>
                </a:lnTo>
                <a:cubicBezTo>
                  <a:pt x="0" y="168503"/>
                  <a:pt x="25628" y="142875"/>
                  <a:pt x="57150" y="142875"/>
                </a:cubicBezTo>
                <a:close/>
              </a:path>
            </a:pathLst>
          </a:custGeom>
          <a:solidFill>
            <a:srgbClr val="00AEEF"/>
          </a:solidFill>
          <a:ln/>
        </p:spPr>
        <p:txBody>
          <a:bodyPr/>
          <a:lstStyle/>
          <a:p>
            <a:endParaRPr lang="es-ES"/>
          </a:p>
        </p:txBody>
      </p:sp>
      <p:sp>
        <p:nvSpPr>
          <p:cNvPr id="6" name="Text 4"/>
          <p:cNvSpPr/>
          <p:nvPr/>
        </p:nvSpPr>
        <p:spPr>
          <a:xfrm>
            <a:off x="342900" y="3581400"/>
            <a:ext cx="3581400" cy="355600"/>
          </a:xfrm>
          <a:prstGeom prst="rect">
            <a:avLst/>
          </a:prstGeom>
          <a:noFill/>
          <a:ln/>
        </p:spPr>
        <p:txBody>
          <a:bodyPr wrap="square" lIns="0" tIns="0" rIns="0" bIns="0" rtlCol="0" anchor="ctr"/>
          <a:lstStyle/>
          <a:p>
            <a:pPr algn="ctr">
              <a:lnSpc>
                <a:spcPct val="130000"/>
              </a:lnSpc>
            </a:pPr>
            <a:r>
              <a:rPr lang="en-US" sz="1800" b="1" dirty="0">
                <a:solidFill>
                  <a:srgbClr val="333333"/>
                </a:solidFill>
                <a:latin typeface="MiSans" pitchFamily="34" charset="0"/>
                <a:ea typeface="MiSans" pitchFamily="34" charset="-122"/>
                <a:cs typeface="MiSans" pitchFamily="34" charset="-120"/>
              </a:rPr>
              <a:t>EPL Estricta</a:t>
            </a:r>
            <a:endParaRPr lang="en-US" sz="1600" dirty="0"/>
          </a:p>
        </p:txBody>
      </p:sp>
      <p:sp>
        <p:nvSpPr>
          <p:cNvPr id="7" name="Text 5"/>
          <p:cNvSpPr/>
          <p:nvPr/>
        </p:nvSpPr>
        <p:spPr>
          <a:xfrm>
            <a:off x="457200" y="3937000"/>
            <a:ext cx="3352800" cy="508000"/>
          </a:xfrm>
          <a:prstGeom prst="rect">
            <a:avLst/>
          </a:prstGeom>
          <a:noFill/>
          <a:ln/>
        </p:spPr>
        <p:txBody>
          <a:bodyPr wrap="square" lIns="0" tIns="0" rIns="0" bIns="0" rtlCol="0" anchor="ctr"/>
          <a:lstStyle/>
          <a:p>
            <a:pPr algn="ctr">
              <a:lnSpc>
                <a:spcPct val="120000"/>
              </a:lnSpc>
            </a:pPr>
            <a:r>
              <a:rPr lang="en-US" sz="1400" dirty="0">
                <a:solidFill>
                  <a:srgbClr val="333333"/>
                </a:solidFill>
                <a:latin typeface="MiSans" pitchFamily="34" charset="0"/>
                <a:ea typeface="MiSans" pitchFamily="34" charset="-122"/>
                <a:cs typeface="MiSans" pitchFamily="34" charset="-120"/>
              </a:rPr>
              <a:t>Reduce la destrucción, pero también la creación de empleo.</a:t>
            </a:r>
            <a:endParaRPr lang="en-US" sz="1600" dirty="0"/>
          </a:p>
        </p:txBody>
      </p:sp>
      <p:sp>
        <p:nvSpPr>
          <p:cNvPr id="8" name="Shape 6"/>
          <p:cNvSpPr/>
          <p:nvPr/>
        </p:nvSpPr>
        <p:spPr>
          <a:xfrm>
            <a:off x="4216400" y="2819400"/>
            <a:ext cx="3759200" cy="1828800"/>
          </a:xfrm>
          <a:custGeom>
            <a:avLst/>
            <a:gdLst/>
            <a:ahLst/>
            <a:cxnLst/>
            <a:rect l="l" t="t" r="r" b="b"/>
            <a:pathLst>
              <a:path w="3759200" h="1828800">
                <a:moveTo>
                  <a:pt x="101608" y="0"/>
                </a:moveTo>
                <a:lnTo>
                  <a:pt x="3657592" y="0"/>
                </a:lnTo>
                <a:cubicBezTo>
                  <a:pt x="3713708" y="0"/>
                  <a:pt x="3759200" y="45492"/>
                  <a:pt x="3759200" y="101608"/>
                </a:cubicBezTo>
                <a:lnTo>
                  <a:pt x="3759200" y="1727192"/>
                </a:lnTo>
                <a:cubicBezTo>
                  <a:pt x="3759200" y="1783308"/>
                  <a:pt x="3713708" y="1828800"/>
                  <a:pt x="3657592" y="1828800"/>
                </a:cubicBezTo>
                <a:lnTo>
                  <a:pt x="101608" y="1828800"/>
                </a:lnTo>
                <a:cubicBezTo>
                  <a:pt x="45492" y="1828800"/>
                  <a:pt x="0" y="1783308"/>
                  <a:pt x="0" y="1727192"/>
                </a:cubicBezTo>
                <a:lnTo>
                  <a:pt x="0" y="101608"/>
                </a:lnTo>
                <a:cubicBezTo>
                  <a:pt x="0" y="45529"/>
                  <a:pt x="45529" y="0"/>
                  <a:pt x="101608" y="0"/>
                </a:cubicBezTo>
                <a:close/>
              </a:path>
            </a:pathLst>
          </a:custGeom>
          <a:solidFill>
            <a:srgbClr val="FFC200">
              <a:alpha val="20000"/>
            </a:srgbClr>
          </a:solidFill>
          <a:ln/>
        </p:spPr>
        <p:txBody>
          <a:bodyPr/>
          <a:lstStyle/>
          <a:p>
            <a:endParaRPr lang="es-ES"/>
          </a:p>
        </p:txBody>
      </p:sp>
      <p:sp>
        <p:nvSpPr>
          <p:cNvPr id="9" name="Shape 7"/>
          <p:cNvSpPr/>
          <p:nvPr/>
        </p:nvSpPr>
        <p:spPr>
          <a:xfrm>
            <a:off x="5867400" y="3022600"/>
            <a:ext cx="457200" cy="457200"/>
          </a:xfrm>
          <a:custGeom>
            <a:avLst/>
            <a:gdLst/>
            <a:ahLst/>
            <a:cxnLst/>
            <a:rect l="l" t="t" r="r" b="b"/>
            <a:pathLst>
              <a:path w="457200" h="457200">
                <a:moveTo>
                  <a:pt x="305931" y="-20181"/>
                </a:moveTo>
                <a:cubicBezTo>
                  <a:pt x="294769" y="-31343"/>
                  <a:pt x="276642" y="-31343"/>
                  <a:pt x="265480" y="-20181"/>
                </a:cubicBezTo>
                <a:lnTo>
                  <a:pt x="179755" y="65544"/>
                </a:lnTo>
                <a:cubicBezTo>
                  <a:pt x="168593" y="76706"/>
                  <a:pt x="168593" y="94833"/>
                  <a:pt x="179755" y="105995"/>
                </a:cubicBezTo>
                <a:cubicBezTo>
                  <a:pt x="190917" y="117157"/>
                  <a:pt x="209044" y="117157"/>
                  <a:pt x="220206" y="105995"/>
                </a:cubicBezTo>
                <a:lnTo>
                  <a:pt x="257175" y="69026"/>
                </a:lnTo>
                <a:lnTo>
                  <a:pt x="257175" y="243959"/>
                </a:lnTo>
                <a:cubicBezTo>
                  <a:pt x="240387" y="234226"/>
                  <a:pt x="220831" y="228689"/>
                  <a:pt x="200025" y="228689"/>
                </a:cubicBezTo>
                <a:lnTo>
                  <a:pt x="97601" y="228689"/>
                </a:lnTo>
                <a:lnTo>
                  <a:pt x="134570" y="191720"/>
                </a:lnTo>
                <a:cubicBezTo>
                  <a:pt x="145733" y="180558"/>
                  <a:pt x="145733" y="162431"/>
                  <a:pt x="134570" y="151269"/>
                </a:cubicBezTo>
                <a:cubicBezTo>
                  <a:pt x="123408" y="140107"/>
                  <a:pt x="105281" y="140107"/>
                  <a:pt x="94119" y="151269"/>
                </a:cubicBezTo>
                <a:lnTo>
                  <a:pt x="8394" y="236994"/>
                </a:lnTo>
                <a:cubicBezTo>
                  <a:pt x="-2768" y="248156"/>
                  <a:pt x="-2768" y="266283"/>
                  <a:pt x="8394" y="277445"/>
                </a:cubicBezTo>
                <a:lnTo>
                  <a:pt x="94119" y="363170"/>
                </a:lnTo>
                <a:cubicBezTo>
                  <a:pt x="105281" y="374333"/>
                  <a:pt x="123408" y="374333"/>
                  <a:pt x="134570" y="363170"/>
                </a:cubicBezTo>
                <a:cubicBezTo>
                  <a:pt x="145733" y="352008"/>
                  <a:pt x="145733" y="333881"/>
                  <a:pt x="134570" y="322719"/>
                </a:cubicBezTo>
                <a:lnTo>
                  <a:pt x="97601" y="285750"/>
                </a:lnTo>
                <a:lnTo>
                  <a:pt x="200025" y="285750"/>
                </a:lnTo>
                <a:cubicBezTo>
                  <a:pt x="231547" y="285750"/>
                  <a:pt x="257175" y="311378"/>
                  <a:pt x="257175" y="342900"/>
                </a:cubicBezTo>
                <a:cubicBezTo>
                  <a:pt x="257175" y="406033"/>
                  <a:pt x="308342" y="457200"/>
                  <a:pt x="371475" y="457200"/>
                </a:cubicBezTo>
                <a:lnTo>
                  <a:pt x="400050" y="457200"/>
                </a:lnTo>
                <a:cubicBezTo>
                  <a:pt x="415856" y="457200"/>
                  <a:pt x="428625" y="444431"/>
                  <a:pt x="428625" y="428625"/>
                </a:cubicBezTo>
                <a:cubicBezTo>
                  <a:pt x="428625" y="412819"/>
                  <a:pt x="415856" y="400050"/>
                  <a:pt x="400050" y="400050"/>
                </a:cubicBezTo>
                <a:lnTo>
                  <a:pt x="371475" y="400050"/>
                </a:lnTo>
                <a:cubicBezTo>
                  <a:pt x="339953" y="400050"/>
                  <a:pt x="314325" y="374422"/>
                  <a:pt x="314325" y="342900"/>
                </a:cubicBezTo>
                <a:lnTo>
                  <a:pt x="314325" y="69026"/>
                </a:lnTo>
                <a:lnTo>
                  <a:pt x="351294" y="105995"/>
                </a:lnTo>
                <a:cubicBezTo>
                  <a:pt x="362456" y="117158"/>
                  <a:pt x="380583" y="117158"/>
                  <a:pt x="391745" y="105995"/>
                </a:cubicBezTo>
                <a:cubicBezTo>
                  <a:pt x="402908" y="94833"/>
                  <a:pt x="402908" y="76706"/>
                  <a:pt x="391745" y="65544"/>
                </a:cubicBezTo>
                <a:lnTo>
                  <a:pt x="306020" y="-20181"/>
                </a:lnTo>
                <a:close/>
              </a:path>
            </a:pathLst>
          </a:custGeom>
          <a:solidFill>
            <a:srgbClr val="FFC200"/>
          </a:solidFill>
          <a:ln/>
        </p:spPr>
        <p:txBody>
          <a:bodyPr/>
          <a:lstStyle/>
          <a:p>
            <a:endParaRPr lang="es-ES"/>
          </a:p>
        </p:txBody>
      </p:sp>
      <p:sp>
        <p:nvSpPr>
          <p:cNvPr id="10" name="Text 8"/>
          <p:cNvSpPr/>
          <p:nvPr/>
        </p:nvSpPr>
        <p:spPr>
          <a:xfrm>
            <a:off x="4305300" y="3581400"/>
            <a:ext cx="3581400" cy="355600"/>
          </a:xfrm>
          <a:prstGeom prst="rect">
            <a:avLst/>
          </a:prstGeom>
          <a:noFill/>
          <a:ln/>
        </p:spPr>
        <p:txBody>
          <a:bodyPr wrap="square" lIns="0" tIns="0" rIns="0" bIns="0" rtlCol="0" anchor="ctr"/>
          <a:lstStyle/>
          <a:p>
            <a:pPr algn="ctr">
              <a:lnSpc>
                <a:spcPct val="130000"/>
              </a:lnSpc>
            </a:pPr>
            <a:r>
              <a:rPr lang="en-US" sz="1800" b="1" dirty="0">
                <a:solidFill>
                  <a:srgbClr val="333333"/>
                </a:solidFill>
                <a:latin typeface="MiSans" pitchFamily="34" charset="0"/>
                <a:ea typeface="MiSans" pitchFamily="34" charset="-122"/>
                <a:cs typeface="MiSans" pitchFamily="34" charset="-120"/>
              </a:rPr>
              <a:t>Reformas Parciales</a:t>
            </a:r>
            <a:endParaRPr lang="en-US" sz="1600" dirty="0"/>
          </a:p>
        </p:txBody>
      </p:sp>
      <p:sp>
        <p:nvSpPr>
          <p:cNvPr id="11" name="Text 9"/>
          <p:cNvSpPr/>
          <p:nvPr/>
        </p:nvSpPr>
        <p:spPr>
          <a:xfrm>
            <a:off x="4419600" y="3937000"/>
            <a:ext cx="3352800" cy="508000"/>
          </a:xfrm>
          <a:prstGeom prst="rect">
            <a:avLst/>
          </a:prstGeom>
          <a:noFill/>
          <a:ln/>
        </p:spPr>
        <p:txBody>
          <a:bodyPr wrap="square" lIns="0" tIns="0" rIns="0" bIns="0" rtlCol="0" anchor="ctr"/>
          <a:lstStyle/>
          <a:p>
            <a:pPr algn="ctr">
              <a:lnSpc>
                <a:spcPct val="120000"/>
              </a:lnSpc>
            </a:pPr>
            <a:r>
              <a:rPr lang="en-US" sz="1400" dirty="0">
                <a:solidFill>
                  <a:srgbClr val="333333"/>
                </a:solidFill>
                <a:latin typeface="MiSans" pitchFamily="34" charset="0"/>
                <a:ea typeface="MiSans" pitchFamily="34" charset="-122"/>
                <a:cs typeface="MiSans" pitchFamily="34" charset="-120"/>
              </a:rPr>
              <a:t>Liberalizar solo temporales genera </a:t>
            </a:r>
            <a:r>
              <a:rPr lang="en-US" sz="1400" b="1" dirty="0">
                <a:solidFill>
                  <a:srgbClr val="333333"/>
                </a:solidFill>
                <a:latin typeface="MiSans" pitchFamily="34" charset="0"/>
                <a:ea typeface="MiSans" pitchFamily="34" charset="-122"/>
                <a:cs typeface="MiSans" pitchFamily="34" charset="-120"/>
              </a:rPr>
              <a:t>dualidad</a:t>
            </a:r>
            <a:r>
              <a:rPr lang="en-US" sz="1400" dirty="0">
                <a:solidFill>
                  <a:srgbClr val="333333"/>
                </a:solidFill>
                <a:latin typeface="MiSans" pitchFamily="34" charset="0"/>
                <a:ea typeface="MiSans" pitchFamily="34" charset="-122"/>
                <a:cs typeface="MiSans" pitchFamily="34" charset="-120"/>
              </a:rPr>
              <a:t>.</a:t>
            </a:r>
            <a:endParaRPr lang="en-US" sz="1600" dirty="0"/>
          </a:p>
        </p:txBody>
      </p:sp>
      <p:sp>
        <p:nvSpPr>
          <p:cNvPr id="12" name="Shape 10"/>
          <p:cNvSpPr/>
          <p:nvPr/>
        </p:nvSpPr>
        <p:spPr>
          <a:xfrm>
            <a:off x="8178800" y="2819400"/>
            <a:ext cx="3759200" cy="1828800"/>
          </a:xfrm>
          <a:custGeom>
            <a:avLst/>
            <a:gdLst/>
            <a:ahLst/>
            <a:cxnLst/>
            <a:rect l="l" t="t" r="r" b="b"/>
            <a:pathLst>
              <a:path w="3759200" h="1828800">
                <a:moveTo>
                  <a:pt x="101608" y="0"/>
                </a:moveTo>
                <a:lnTo>
                  <a:pt x="3657592" y="0"/>
                </a:lnTo>
                <a:cubicBezTo>
                  <a:pt x="3713708" y="0"/>
                  <a:pt x="3759200" y="45492"/>
                  <a:pt x="3759200" y="101608"/>
                </a:cubicBezTo>
                <a:lnTo>
                  <a:pt x="3759200" y="1727192"/>
                </a:lnTo>
                <a:cubicBezTo>
                  <a:pt x="3759200" y="1783308"/>
                  <a:pt x="3713708" y="1828800"/>
                  <a:pt x="3657592" y="1828800"/>
                </a:cubicBezTo>
                <a:lnTo>
                  <a:pt x="101608" y="1828800"/>
                </a:lnTo>
                <a:cubicBezTo>
                  <a:pt x="45492" y="1828800"/>
                  <a:pt x="0" y="1783308"/>
                  <a:pt x="0" y="1727192"/>
                </a:cubicBezTo>
                <a:lnTo>
                  <a:pt x="0" y="101608"/>
                </a:lnTo>
                <a:cubicBezTo>
                  <a:pt x="0" y="45529"/>
                  <a:pt x="45529" y="0"/>
                  <a:pt x="101608" y="0"/>
                </a:cubicBezTo>
                <a:close/>
              </a:path>
            </a:pathLst>
          </a:custGeom>
          <a:solidFill>
            <a:srgbClr val="FF5E5E">
              <a:alpha val="10196"/>
            </a:srgbClr>
          </a:solidFill>
          <a:ln/>
        </p:spPr>
        <p:txBody>
          <a:bodyPr/>
          <a:lstStyle/>
          <a:p>
            <a:endParaRPr lang="es-ES"/>
          </a:p>
        </p:txBody>
      </p:sp>
      <p:sp>
        <p:nvSpPr>
          <p:cNvPr id="13" name="Shape 11"/>
          <p:cNvSpPr/>
          <p:nvPr/>
        </p:nvSpPr>
        <p:spPr>
          <a:xfrm>
            <a:off x="9801225" y="3022600"/>
            <a:ext cx="514350" cy="457200"/>
          </a:xfrm>
          <a:custGeom>
            <a:avLst/>
            <a:gdLst/>
            <a:ahLst/>
            <a:cxnLst/>
            <a:rect l="l" t="t" r="r" b="b"/>
            <a:pathLst>
              <a:path w="514350" h="457200">
                <a:moveTo>
                  <a:pt x="342900" y="314325"/>
                </a:moveTo>
                <a:cubicBezTo>
                  <a:pt x="327094" y="314325"/>
                  <a:pt x="314325" y="327094"/>
                  <a:pt x="314325" y="342900"/>
                </a:cubicBezTo>
                <a:cubicBezTo>
                  <a:pt x="314325" y="358706"/>
                  <a:pt x="327094" y="371475"/>
                  <a:pt x="342900" y="371475"/>
                </a:cubicBezTo>
                <a:lnTo>
                  <a:pt x="485775" y="371475"/>
                </a:lnTo>
                <a:cubicBezTo>
                  <a:pt x="501581" y="371475"/>
                  <a:pt x="514350" y="358706"/>
                  <a:pt x="514350" y="342900"/>
                </a:cubicBezTo>
                <a:lnTo>
                  <a:pt x="514350" y="200025"/>
                </a:lnTo>
                <a:cubicBezTo>
                  <a:pt x="514350" y="184219"/>
                  <a:pt x="501581" y="171450"/>
                  <a:pt x="485775" y="171450"/>
                </a:cubicBezTo>
                <a:cubicBezTo>
                  <a:pt x="469969" y="171450"/>
                  <a:pt x="457200" y="184219"/>
                  <a:pt x="457200" y="200025"/>
                </a:cubicBezTo>
                <a:lnTo>
                  <a:pt x="457200" y="273874"/>
                </a:lnTo>
                <a:lnTo>
                  <a:pt x="305931" y="122605"/>
                </a:lnTo>
                <a:cubicBezTo>
                  <a:pt x="294769" y="111442"/>
                  <a:pt x="276642" y="111442"/>
                  <a:pt x="265480" y="122605"/>
                </a:cubicBezTo>
                <a:lnTo>
                  <a:pt x="171450" y="216724"/>
                </a:lnTo>
                <a:lnTo>
                  <a:pt x="48756" y="94119"/>
                </a:lnTo>
                <a:cubicBezTo>
                  <a:pt x="37594" y="82957"/>
                  <a:pt x="19467" y="82957"/>
                  <a:pt x="8305" y="94119"/>
                </a:cubicBezTo>
                <a:cubicBezTo>
                  <a:pt x="-2857" y="105281"/>
                  <a:pt x="-2857" y="123408"/>
                  <a:pt x="8305" y="134570"/>
                </a:cubicBezTo>
                <a:lnTo>
                  <a:pt x="151180" y="277445"/>
                </a:lnTo>
                <a:cubicBezTo>
                  <a:pt x="162342" y="288608"/>
                  <a:pt x="180469" y="288608"/>
                  <a:pt x="191631" y="277445"/>
                </a:cubicBezTo>
                <a:lnTo>
                  <a:pt x="285750" y="183326"/>
                </a:lnTo>
                <a:lnTo>
                  <a:pt x="416749" y="314325"/>
                </a:lnTo>
                <a:lnTo>
                  <a:pt x="342900" y="314325"/>
                </a:lnTo>
                <a:close/>
              </a:path>
            </a:pathLst>
          </a:custGeom>
          <a:solidFill>
            <a:srgbClr val="FF5E5E"/>
          </a:solidFill>
          <a:ln/>
        </p:spPr>
        <p:txBody>
          <a:bodyPr/>
          <a:lstStyle/>
          <a:p>
            <a:endParaRPr lang="es-ES"/>
          </a:p>
        </p:txBody>
      </p:sp>
      <p:sp>
        <p:nvSpPr>
          <p:cNvPr id="14" name="Text 12"/>
          <p:cNvSpPr/>
          <p:nvPr/>
        </p:nvSpPr>
        <p:spPr>
          <a:xfrm>
            <a:off x="8267700" y="3581400"/>
            <a:ext cx="3581400" cy="355600"/>
          </a:xfrm>
          <a:prstGeom prst="rect">
            <a:avLst/>
          </a:prstGeom>
          <a:noFill/>
          <a:ln/>
        </p:spPr>
        <p:txBody>
          <a:bodyPr wrap="square" lIns="0" tIns="0" rIns="0" bIns="0" rtlCol="0" anchor="ctr"/>
          <a:lstStyle/>
          <a:p>
            <a:pPr algn="ctr">
              <a:lnSpc>
                <a:spcPct val="130000"/>
              </a:lnSpc>
            </a:pPr>
            <a:r>
              <a:rPr lang="en-US" sz="1800" b="1" dirty="0">
                <a:solidFill>
                  <a:srgbClr val="333333"/>
                </a:solidFill>
                <a:latin typeface="MiSans" pitchFamily="34" charset="0"/>
                <a:ea typeface="MiSans" pitchFamily="34" charset="-122"/>
                <a:cs typeface="MiSans" pitchFamily="34" charset="-120"/>
              </a:rPr>
              <a:t>Resultado</a:t>
            </a:r>
            <a:endParaRPr lang="en-US" sz="1600" dirty="0"/>
          </a:p>
        </p:txBody>
      </p:sp>
      <p:sp>
        <p:nvSpPr>
          <p:cNvPr id="15" name="Text 13"/>
          <p:cNvSpPr/>
          <p:nvPr/>
        </p:nvSpPr>
        <p:spPr>
          <a:xfrm>
            <a:off x="8382000" y="3937000"/>
            <a:ext cx="3352800" cy="508000"/>
          </a:xfrm>
          <a:prstGeom prst="rect">
            <a:avLst/>
          </a:prstGeom>
          <a:noFill/>
          <a:ln/>
        </p:spPr>
        <p:txBody>
          <a:bodyPr wrap="square" lIns="0" tIns="0" rIns="0" bIns="0" rtlCol="0" anchor="ctr"/>
          <a:lstStyle/>
          <a:p>
            <a:pPr algn="ctr">
              <a:lnSpc>
                <a:spcPct val="120000"/>
              </a:lnSpc>
            </a:pPr>
            <a:r>
              <a:rPr lang="en-US" sz="1400" dirty="0">
                <a:solidFill>
                  <a:srgbClr val="333333"/>
                </a:solidFill>
                <a:latin typeface="MiSans" pitchFamily="34" charset="0"/>
                <a:ea typeface="MiSans" pitchFamily="34" charset="-122"/>
                <a:cs typeface="MiSans" pitchFamily="34" charset="-120"/>
              </a:rPr>
              <a:t>Rotación en contratos precarios con baja inversión en capital humano.</a:t>
            </a:r>
            <a:endParaRPr lang="en-US" sz="1600" dirty="0"/>
          </a:p>
        </p:txBody>
      </p:sp>
      <p:sp>
        <p:nvSpPr>
          <p:cNvPr id="16" name="Shape 14"/>
          <p:cNvSpPr/>
          <p:nvPr/>
        </p:nvSpPr>
        <p:spPr>
          <a:xfrm>
            <a:off x="254000" y="5054600"/>
            <a:ext cx="11684000" cy="812800"/>
          </a:xfrm>
          <a:custGeom>
            <a:avLst/>
            <a:gdLst/>
            <a:ahLst/>
            <a:cxnLst/>
            <a:rect l="l" t="t" r="r" b="b"/>
            <a:pathLst>
              <a:path w="11684000" h="812800">
                <a:moveTo>
                  <a:pt x="101600" y="0"/>
                </a:moveTo>
                <a:lnTo>
                  <a:pt x="11582400" y="0"/>
                </a:lnTo>
                <a:cubicBezTo>
                  <a:pt x="11638475" y="0"/>
                  <a:pt x="11684000" y="45525"/>
                  <a:pt x="11684000" y="101600"/>
                </a:cubicBezTo>
                <a:lnTo>
                  <a:pt x="11684000" y="711200"/>
                </a:lnTo>
                <a:cubicBezTo>
                  <a:pt x="11684000" y="767275"/>
                  <a:pt x="11638475" y="812800"/>
                  <a:pt x="11582400" y="812800"/>
                </a:cubicBezTo>
                <a:lnTo>
                  <a:pt x="101600" y="812800"/>
                </a:lnTo>
                <a:cubicBezTo>
                  <a:pt x="45525" y="812800"/>
                  <a:pt x="0" y="767275"/>
                  <a:pt x="0" y="711200"/>
                </a:cubicBezTo>
                <a:lnTo>
                  <a:pt x="0" y="101600"/>
                </a:lnTo>
                <a:cubicBezTo>
                  <a:pt x="0" y="45525"/>
                  <a:pt x="45525" y="0"/>
                  <a:pt x="101600" y="0"/>
                </a:cubicBezTo>
                <a:close/>
              </a:path>
            </a:pathLst>
          </a:custGeom>
          <a:solidFill>
            <a:srgbClr val="4080FF">
              <a:alpha val="10196"/>
            </a:srgbClr>
          </a:solidFill>
          <a:ln/>
        </p:spPr>
        <p:txBody>
          <a:bodyPr/>
          <a:lstStyle/>
          <a:p>
            <a:endParaRPr lang="es-ES"/>
          </a:p>
        </p:txBody>
      </p:sp>
      <p:sp>
        <p:nvSpPr>
          <p:cNvPr id="17" name="Text 15"/>
          <p:cNvSpPr/>
          <p:nvPr/>
        </p:nvSpPr>
        <p:spPr>
          <a:xfrm>
            <a:off x="406400" y="5207000"/>
            <a:ext cx="11379200" cy="508000"/>
          </a:xfrm>
          <a:prstGeom prst="rect">
            <a:avLst/>
          </a:prstGeom>
          <a:noFill/>
          <a:ln/>
        </p:spPr>
        <p:txBody>
          <a:bodyPr wrap="square" lIns="0" tIns="0" rIns="0" bIns="0" rtlCol="0" anchor="ctr"/>
          <a:lstStyle/>
          <a:p>
            <a:pPr algn="ctr">
              <a:lnSpc>
                <a:spcPct val="120000"/>
              </a:lnSpc>
            </a:pPr>
            <a:r>
              <a:rPr lang="en-US" sz="1400" b="1" dirty="0">
                <a:solidFill>
                  <a:srgbClr val="4080FF"/>
                </a:solidFill>
                <a:latin typeface="MiSans" pitchFamily="34" charset="0"/>
                <a:ea typeface="MiSans" pitchFamily="34" charset="-122"/>
                <a:cs typeface="MiSans" pitchFamily="34" charset="-120"/>
              </a:rPr>
              <a:t>El estudio de Aguirregabiria y Alonso-Borrego (2014) sobre la reforma de 1984 en España demuestra que esta estrategia de flexibilización parcial tiene efectos nulos o negativos en la productividad.</a:t>
            </a:r>
            <a:endParaRPr lang="en-US" sz="1600" dirty="0"/>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95558"/>
            <a:ext cx="7499985" cy="461665"/>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err="1">
                <a:solidFill>
                  <a:srgbClr val="000000"/>
                </a:solidFill>
                <a:latin typeface="MiSans" pitchFamily="34" charset="0"/>
                <a:ea typeface="MiSans" pitchFamily="34" charset="-122"/>
                <a:cs typeface="MiSans" pitchFamily="34" charset="-120"/>
              </a:rPr>
              <a:t>Ejemplo</a:t>
            </a:r>
            <a:r>
              <a:rPr lang="en-US" sz="2400" dirty="0">
                <a:solidFill>
                  <a:srgbClr val="000000"/>
                </a:solidFill>
                <a:latin typeface="MiSans" pitchFamily="34" charset="0"/>
                <a:ea typeface="MiSans" pitchFamily="34" charset="-122"/>
                <a:cs typeface="MiSans" pitchFamily="34" charset="-120"/>
              </a:rPr>
              <a:t> de </a:t>
            </a:r>
            <a:r>
              <a:rPr lang="en-US" sz="2400" dirty="0" err="1">
                <a:solidFill>
                  <a:srgbClr val="000000"/>
                </a:solidFill>
                <a:latin typeface="MiSans" pitchFamily="34" charset="0"/>
                <a:ea typeface="MiSans" pitchFamily="34" charset="-122"/>
                <a:cs typeface="MiSans" pitchFamily="34" charset="-120"/>
              </a:rPr>
              <a:t>liberalización</a:t>
            </a:r>
            <a:r>
              <a:rPr lang="en-US" sz="2400" dirty="0">
                <a:solidFill>
                  <a:srgbClr val="000000"/>
                </a:solidFill>
                <a:latin typeface="MiSans" pitchFamily="34" charset="0"/>
                <a:ea typeface="MiSans" pitchFamily="34" charset="-122"/>
                <a:cs typeface="MiSans" pitchFamily="34" charset="-120"/>
              </a:rPr>
              <a:t> </a:t>
            </a:r>
            <a:r>
              <a:rPr lang="en-US" sz="2400" dirty="0" err="1">
                <a:solidFill>
                  <a:srgbClr val="000000"/>
                </a:solidFill>
                <a:latin typeface="MiSans" pitchFamily="34" charset="0"/>
                <a:ea typeface="MiSans" pitchFamily="34" charset="-122"/>
                <a:cs typeface="MiSans" pitchFamily="34" charset="-120"/>
              </a:rPr>
              <a:t>parcial</a:t>
            </a:r>
            <a:endParaRPr lang="en-US" sz="1600" dirty="0"/>
          </a:p>
        </p:txBody>
      </p:sp>
      <p:sp>
        <p:nvSpPr>
          <p:cNvPr id="12" name="Shape 10"/>
          <p:cNvSpPr/>
          <p:nvPr/>
        </p:nvSpPr>
        <p:spPr>
          <a:xfrm>
            <a:off x="443230" y="994410"/>
            <a:ext cx="11457305" cy="2591435"/>
          </a:xfrm>
          <a:prstGeom prst="roundRect">
            <a:avLst>
              <a:gd name="adj" fmla="val 6120"/>
            </a:avLst>
          </a:prstGeom>
          <a:solidFill>
            <a:srgbClr val="000000">
              <a:alpha val="0"/>
            </a:srgbClr>
          </a:solidFill>
          <a:ln w="28575">
            <a:solidFill>
              <a:srgbClr val="00B0F0"/>
            </a:solidFill>
            <a:prstDash val="solid"/>
          </a:ln>
        </p:spPr>
        <p:txBody>
          <a:bodyPr/>
          <a:lstStyle/>
          <a:p>
            <a:endParaRPr lang="es-ES"/>
          </a:p>
        </p:txBody>
      </p:sp>
      <p:sp>
        <p:nvSpPr>
          <p:cNvPr id="13" name="Text 11"/>
          <p:cNvSpPr/>
          <p:nvPr/>
        </p:nvSpPr>
        <p:spPr>
          <a:xfrm>
            <a:off x="443230" y="994410"/>
            <a:ext cx="11457305" cy="2591435"/>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4" name="Image 0" descr="https://kimi-img.moonshot.cn/pub/slides/slides_tmpl/image/25-08-27-19:57:42-d2nf5dh8bjvh7rlivsqg.png"/>
          <p:cNvPicPr>
            <a:picLocks noChangeAspect="1"/>
          </p:cNvPicPr>
          <p:nvPr/>
        </p:nvPicPr>
        <p:blipFill>
          <a:blip r:embed="rId3"/>
          <a:stretch>
            <a:fillRect/>
          </a:stretch>
        </p:blipFill>
        <p:spPr>
          <a:xfrm>
            <a:off x="579120" y="1409700"/>
            <a:ext cx="3776345" cy="1963420"/>
          </a:xfrm>
          <a:prstGeom prst="rect">
            <a:avLst/>
          </a:prstGeom>
        </p:spPr>
      </p:pic>
      <p:pic>
        <p:nvPicPr>
          <p:cNvPr id="15" name="Image 1" descr="https://kimi-img.moonshot.cn/pub/slides/slides_tmpl/image/25-08-27-19:57:42-d2nf5dh8bjvh7rlivsr0.png"/>
          <p:cNvPicPr>
            <a:picLocks noChangeAspect="1"/>
          </p:cNvPicPr>
          <p:nvPr/>
        </p:nvPicPr>
        <p:blipFill>
          <a:blip r:embed="rId4"/>
          <a:stretch>
            <a:fillRect/>
          </a:stretch>
        </p:blipFill>
        <p:spPr>
          <a:xfrm>
            <a:off x="7846695" y="4117340"/>
            <a:ext cx="3847465" cy="2342515"/>
          </a:xfrm>
          <a:prstGeom prst="rect">
            <a:avLst/>
          </a:prstGeom>
        </p:spPr>
      </p:pic>
      <p:sp>
        <p:nvSpPr>
          <p:cNvPr id="16" name="Shape 12"/>
          <p:cNvSpPr/>
          <p:nvPr/>
        </p:nvSpPr>
        <p:spPr>
          <a:xfrm>
            <a:off x="443230" y="3862705"/>
            <a:ext cx="11457305" cy="2591435"/>
          </a:xfrm>
          <a:prstGeom prst="roundRect">
            <a:avLst>
              <a:gd name="adj" fmla="val 6120"/>
            </a:avLst>
          </a:prstGeom>
          <a:solidFill>
            <a:srgbClr val="000000">
              <a:alpha val="0"/>
            </a:srgbClr>
          </a:solidFill>
          <a:ln w="28575">
            <a:solidFill>
              <a:srgbClr val="00B0F0"/>
            </a:solidFill>
            <a:prstDash val="solid"/>
          </a:ln>
        </p:spPr>
        <p:txBody>
          <a:bodyPr/>
          <a:lstStyle/>
          <a:p>
            <a:endParaRPr lang="es-ES"/>
          </a:p>
        </p:txBody>
      </p:sp>
      <p:sp>
        <p:nvSpPr>
          <p:cNvPr id="17" name="Text 13"/>
          <p:cNvSpPr/>
          <p:nvPr/>
        </p:nvSpPr>
        <p:spPr>
          <a:xfrm>
            <a:off x="443230" y="3862705"/>
            <a:ext cx="11457305" cy="25914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Text 14"/>
          <p:cNvSpPr/>
          <p:nvPr/>
        </p:nvSpPr>
        <p:spPr>
          <a:xfrm>
            <a:off x="4491355" y="1357630"/>
            <a:ext cx="7153275" cy="469265"/>
          </a:xfrm>
          <a:prstGeom prst="rect">
            <a:avLst/>
          </a:prstGeom>
          <a:noFill/>
          <a:ln/>
        </p:spPr>
        <p:txBody>
          <a:bodyPr wrap="square" lIns="91440" tIns="45720" rIns="91440" bIns="45720" rtlCol="0" anchor="t"/>
          <a:lstStyle/>
          <a:p>
            <a:pPr marL="0" indent="0" algn="r">
              <a:lnSpc>
                <a:spcPct val="100000"/>
              </a:lnSpc>
              <a:buNone/>
            </a:pPr>
            <a:r>
              <a:rPr lang="en-US" sz="2400" b="1" dirty="0">
                <a:solidFill>
                  <a:srgbClr val="00B0F0"/>
                </a:solidFill>
                <a:latin typeface="MiSans" pitchFamily="34" charset="0"/>
                <a:ea typeface="MiSans" pitchFamily="34" charset="-122"/>
                <a:cs typeface="MiSans" pitchFamily="34" charset="-120"/>
              </a:rPr>
              <a:t>Reforma de 1984 y expansión de temporales</a:t>
            </a:r>
            <a:endParaRPr lang="en-US" sz="1600" dirty="0"/>
          </a:p>
        </p:txBody>
      </p:sp>
      <p:sp>
        <p:nvSpPr>
          <p:cNvPr id="19" name="Text 15"/>
          <p:cNvSpPr/>
          <p:nvPr/>
        </p:nvSpPr>
        <p:spPr>
          <a:xfrm>
            <a:off x="5073650" y="1867535"/>
            <a:ext cx="6620510" cy="1480820"/>
          </a:xfrm>
          <a:prstGeom prst="rect">
            <a:avLst/>
          </a:prstGeom>
          <a:noFill/>
          <a:ln/>
        </p:spPr>
        <p:txBody>
          <a:bodyPr wrap="square" lIns="91440" tIns="45720" rIns="91440" bIns="45720" rtlCol="0" anchor="t"/>
          <a:lstStyle/>
          <a:p>
            <a:pPr marL="0" indent="0">
              <a:lnSpc>
                <a:spcPct val="130000"/>
              </a:lnSpc>
              <a:buNone/>
            </a:pPr>
            <a:r>
              <a:rPr lang="en-US" sz="1600" dirty="0">
                <a:solidFill>
                  <a:srgbClr val="000000"/>
                </a:solidFill>
                <a:latin typeface="MiSans" pitchFamily="34" charset="0"/>
                <a:ea typeface="MiSans" pitchFamily="34" charset="-122"/>
                <a:cs typeface="MiSans" pitchFamily="34" charset="-120"/>
              </a:rPr>
              <a:t>Se liberalizó la contratación temporal para tareas no estrictamente temporales, bajo argumento de fomentar empleo. Esto consolidó modelo de ajuste externo: fácil entrada y salida para empresas, pero alta rotación y precariedad para trabajadores, sin abordar rigidez de despido en indefinidos.</a:t>
            </a:r>
            <a:endParaRPr lang="en-US" sz="1600" dirty="0"/>
          </a:p>
        </p:txBody>
      </p:sp>
      <p:sp>
        <p:nvSpPr>
          <p:cNvPr id="20" name="Text 16"/>
          <p:cNvSpPr/>
          <p:nvPr/>
        </p:nvSpPr>
        <p:spPr>
          <a:xfrm>
            <a:off x="579120" y="4215765"/>
            <a:ext cx="5841365" cy="368300"/>
          </a:xfrm>
          <a:prstGeom prst="rect">
            <a:avLst/>
          </a:prstGeom>
          <a:noFill/>
          <a:ln/>
        </p:spPr>
        <p:txBody>
          <a:bodyPr wrap="square" lIns="91440" tIns="45720" rIns="91440" bIns="45720" rtlCol="0" anchor="t">
            <a:spAutoFit/>
          </a:bodyPr>
          <a:lstStyle/>
          <a:p>
            <a:pPr marL="0" indent="0">
              <a:lnSpc>
                <a:spcPct val="100000"/>
              </a:lnSpc>
              <a:buNone/>
            </a:pPr>
            <a:r>
              <a:rPr lang="en-US" sz="2400" b="1" dirty="0">
                <a:solidFill>
                  <a:srgbClr val="00B0F0"/>
                </a:solidFill>
                <a:latin typeface="MiSans" pitchFamily="34" charset="0"/>
                <a:ea typeface="MiSans" pitchFamily="34" charset="-122"/>
                <a:cs typeface="MiSans" pitchFamily="34" charset="-120"/>
              </a:rPr>
              <a:t>Consolidación de la dualidad</a:t>
            </a:r>
            <a:endParaRPr lang="en-US" sz="1600" dirty="0"/>
          </a:p>
        </p:txBody>
      </p:sp>
      <p:sp>
        <p:nvSpPr>
          <p:cNvPr id="21" name="Text 17"/>
          <p:cNvSpPr/>
          <p:nvPr/>
        </p:nvSpPr>
        <p:spPr>
          <a:xfrm>
            <a:off x="578485" y="4725670"/>
            <a:ext cx="7062470" cy="1451610"/>
          </a:xfrm>
          <a:prstGeom prst="rect">
            <a:avLst/>
          </a:prstGeom>
          <a:noFill/>
          <a:ln/>
        </p:spPr>
        <p:txBody>
          <a:bodyPr wrap="square" lIns="91440" tIns="45720" rIns="91440" bIns="45720" rtlCol="0" anchor="t"/>
          <a:lstStyle/>
          <a:p>
            <a:pPr marL="0" indent="0">
              <a:lnSpc>
                <a:spcPct val="130000"/>
              </a:lnSpc>
              <a:buNone/>
            </a:pPr>
            <a:r>
              <a:rPr lang="en-US" sz="1600" dirty="0">
                <a:solidFill>
                  <a:srgbClr val="000000"/>
                </a:solidFill>
                <a:latin typeface="MiSans" pitchFamily="34" charset="0"/>
                <a:ea typeface="MiSans" pitchFamily="34" charset="-122"/>
                <a:cs typeface="MiSans" pitchFamily="34" charset="-120"/>
              </a:rPr>
              <a:t>Durante los 90 y 2000 se sucedieron reformas que intentaron reducir temporales sin tocar costes de despido, generando efectos limitados. Se afianzó segmentación entre un núcleo protegido y masa laboral precaria, con consecuencias de baja productividad y desigualdad que persisten.</a:t>
            </a:r>
            <a:endParaRPr lang="en-US" sz="1600" dirty="0"/>
          </a:p>
        </p:txBody>
      </p:sp>
    </p:spTree>
    <p:extLst>
      <p:ext uri="{BB962C8B-B14F-4D97-AF65-F5344CB8AC3E}">
        <p14:creationId xmlns:p14="http://schemas.microsoft.com/office/powerpoint/2010/main" val="537580170"/>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8-27-19:57:41-d2nf5d98bjvh7rlivsmg.png"/>
          <p:cNvPicPr>
            <a:picLocks noChangeAspect="1"/>
          </p:cNvPicPr>
          <p:nvPr/>
        </p:nvPicPr>
        <p:blipFill>
          <a:blip r:embed="rId3"/>
          <a:stretch>
            <a:fillRect/>
          </a:stretch>
        </p:blipFill>
        <p:spPr>
          <a:xfrm>
            <a:off x="4558665" y="1141095"/>
            <a:ext cx="3619500" cy="3912870"/>
          </a:xfrm>
          <a:prstGeom prst="rect">
            <a:avLst/>
          </a:prstGeom>
        </p:spPr>
      </p:pic>
      <p:sp>
        <p:nvSpPr>
          <p:cNvPr id="3" name="Shape 0"/>
          <p:cNvSpPr/>
          <p:nvPr/>
        </p:nvSpPr>
        <p:spPr>
          <a:xfrm>
            <a:off x="2047240" y="5053965"/>
            <a:ext cx="8642985" cy="1199515"/>
          </a:xfrm>
          <a:prstGeom prst="roundRect">
            <a:avLst>
              <a:gd name="adj" fmla="val 50000"/>
            </a:avLst>
          </a:prstGeom>
          <a:solidFill>
            <a:srgbClr val="00B0F0"/>
          </a:solidFill>
          <a:ln w="57150">
            <a:solidFill>
              <a:srgbClr val="FFFFFF">
                <a:alpha val="0"/>
              </a:srgbClr>
            </a:solidFill>
            <a:prstDash val="solid"/>
          </a:ln>
        </p:spPr>
        <p:txBody>
          <a:bodyPr/>
          <a:lstStyle/>
          <a:p>
            <a:endParaRPr lang="es-ES"/>
          </a:p>
        </p:txBody>
      </p:sp>
      <p:sp>
        <p:nvSpPr>
          <p:cNvPr id="4" name="Text 1"/>
          <p:cNvSpPr/>
          <p:nvPr/>
        </p:nvSpPr>
        <p:spPr>
          <a:xfrm>
            <a:off x="2047240" y="5053965"/>
            <a:ext cx="8642985" cy="1199515"/>
          </a:xfrm>
          <a:prstGeom prst="rect">
            <a:avLst/>
          </a:prstGeom>
          <a:noFill/>
          <a:ln/>
        </p:spPr>
        <p:txBody>
          <a:bodyPr wrap="square" lIns="45720" tIns="91440" rIns="91440" bIns="45720" rtlCol="0" anchor="ctr"/>
          <a:lstStyle/>
          <a:p>
            <a:pPr>
              <a:lnSpc>
                <a:spcPct val="100000"/>
              </a:lnSpc>
            </a:pPr>
            <a:endParaRPr lang="en-US" sz="1600" dirty="0"/>
          </a:p>
        </p:txBody>
      </p:sp>
      <p:sp>
        <p:nvSpPr>
          <p:cNvPr id="5" name="Shape 2"/>
          <p:cNvSpPr/>
          <p:nvPr/>
        </p:nvSpPr>
        <p:spPr>
          <a:xfrm>
            <a:off x="1920240" y="4884420"/>
            <a:ext cx="8642985" cy="1199515"/>
          </a:xfrm>
          <a:prstGeom prst="roundRect">
            <a:avLst>
              <a:gd name="adj" fmla="val 50000"/>
            </a:avLst>
          </a:prstGeom>
          <a:solidFill>
            <a:srgbClr val="FFFFFF"/>
          </a:solidFill>
          <a:ln w="57150">
            <a:solidFill>
              <a:srgbClr val="000000"/>
            </a:solidFill>
            <a:prstDash val="solid"/>
          </a:ln>
        </p:spPr>
        <p:txBody>
          <a:bodyPr/>
          <a:lstStyle/>
          <a:p>
            <a:endParaRPr lang="es-ES"/>
          </a:p>
        </p:txBody>
      </p:sp>
      <p:sp>
        <p:nvSpPr>
          <p:cNvPr id="6" name="Text 3"/>
          <p:cNvSpPr/>
          <p:nvPr/>
        </p:nvSpPr>
        <p:spPr>
          <a:xfrm>
            <a:off x="1920240" y="4884420"/>
            <a:ext cx="8642985" cy="1199515"/>
          </a:xfrm>
          <a:prstGeom prst="rect">
            <a:avLst/>
          </a:prstGeom>
          <a:noFill/>
          <a:ln/>
        </p:spPr>
        <p:txBody>
          <a:bodyPr wrap="square" lIns="45720" tIns="91440" rIns="91440" bIns="45720" rtlCol="0" anchor="ctr"/>
          <a:lstStyle/>
          <a:p>
            <a:pPr>
              <a:lnSpc>
                <a:spcPct val="100000"/>
              </a:lnSpc>
            </a:pPr>
            <a:endParaRPr lang="en-US" sz="1600" dirty="0"/>
          </a:p>
        </p:txBody>
      </p:sp>
      <p:sp>
        <p:nvSpPr>
          <p:cNvPr id="7" name="Text 4"/>
          <p:cNvSpPr/>
          <p:nvPr/>
        </p:nvSpPr>
        <p:spPr>
          <a:xfrm>
            <a:off x="1920240" y="5045710"/>
            <a:ext cx="8643620" cy="828675"/>
          </a:xfrm>
          <a:prstGeom prst="rect">
            <a:avLst/>
          </a:prstGeom>
          <a:noFill/>
          <a:ln/>
        </p:spPr>
        <p:txBody>
          <a:bodyPr wrap="square" lIns="91440" tIns="45720" rIns="91440" bIns="45720" rtlCol="0" anchor="ctr">
            <a:spAutoFit/>
          </a:bodyPr>
          <a:lstStyle/>
          <a:p>
            <a:pPr algn="ctr">
              <a:lnSpc>
                <a:spcPct val="100000"/>
              </a:lnSpc>
            </a:pPr>
            <a:r>
              <a:rPr lang="en-US" sz="5400" b="1" dirty="0">
                <a:solidFill>
                  <a:srgbClr val="000000"/>
                </a:solidFill>
                <a:latin typeface="MiSans" pitchFamily="34" charset="0"/>
                <a:ea typeface="MiSans" pitchFamily="34" charset="-122"/>
                <a:cs typeface="MiSans" pitchFamily="34" charset="-120"/>
              </a:rPr>
              <a:t>Reforma 2012</a:t>
            </a:r>
            <a:endParaRPr lang="en-US" sz="1600" dirty="0"/>
          </a:p>
        </p:txBody>
      </p:sp>
      <p:sp>
        <p:nvSpPr>
          <p:cNvPr id="8" name="Text 5"/>
          <p:cNvSpPr/>
          <p:nvPr/>
        </p:nvSpPr>
        <p:spPr>
          <a:xfrm>
            <a:off x="3447415" y="256898"/>
            <a:ext cx="5640070" cy="1107996"/>
          </a:xfrm>
          <a:prstGeom prst="rect">
            <a:avLst/>
          </a:prstGeom>
          <a:noFill/>
          <a:ln/>
        </p:spPr>
        <p:txBody>
          <a:bodyPr wrap="square" lIns="91440" tIns="45720" rIns="91440" bIns="45720" rtlCol="0" anchor="ctr">
            <a:spAutoFit/>
          </a:bodyPr>
          <a:lstStyle/>
          <a:p>
            <a:pPr algn="ctr">
              <a:lnSpc>
                <a:spcPct val="100000"/>
              </a:lnSpc>
            </a:pPr>
            <a:r>
              <a:rPr lang="en-US" sz="6600" b="1" dirty="0">
                <a:solidFill>
                  <a:srgbClr val="000000"/>
                </a:solidFill>
                <a:latin typeface="MiSans" pitchFamily="34" charset="0"/>
                <a:ea typeface="MiSans" pitchFamily="34" charset="-122"/>
                <a:cs typeface="MiSans" pitchFamily="34" charset="-120"/>
              </a:rPr>
              <a:t>PART  06.2</a:t>
            </a:r>
            <a:endParaRPr lang="en-US" sz="1600" dirty="0"/>
          </a:p>
        </p:txBody>
      </p:sp>
      <p:sp>
        <p:nvSpPr>
          <p:cNvPr id="9" name="Shape 6"/>
          <p:cNvSpPr/>
          <p:nvPr/>
        </p:nvSpPr>
        <p:spPr>
          <a:xfrm>
            <a:off x="291465" y="6075045"/>
            <a:ext cx="607496" cy="0"/>
          </a:xfrm>
          <a:prstGeom prst="line">
            <a:avLst/>
          </a:prstGeom>
          <a:noFill/>
          <a:ln w="57150">
            <a:solidFill>
              <a:srgbClr val="00B0F0"/>
            </a:solidFill>
            <a:prstDash val="solid"/>
            <a:headEnd type="none"/>
            <a:tailEnd type="none"/>
          </a:ln>
        </p:spPr>
        <p:txBody>
          <a:bodyPr/>
          <a:lstStyle/>
          <a:p>
            <a:endParaRPr lang="es-ES"/>
          </a:p>
        </p:txBody>
      </p:sp>
      <p:sp>
        <p:nvSpPr>
          <p:cNvPr id="10" name="Shape 7"/>
          <p:cNvSpPr/>
          <p:nvPr/>
        </p:nvSpPr>
        <p:spPr>
          <a:xfrm>
            <a:off x="291465" y="6308725"/>
            <a:ext cx="607496" cy="0"/>
          </a:xfrm>
          <a:prstGeom prst="line">
            <a:avLst/>
          </a:prstGeom>
          <a:noFill/>
          <a:ln w="57150">
            <a:solidFill>
              <a:srgbClr val="00B0F0"/>
            </a:solidFill>
            <a:prstDash val="solid"/>
            <a:headEnd type="none"/>
            <a:tailEnd type="none"/>
          </a:ln>
        </p:spPr>
        <p:txBody>
          <a:bodyPr/>
          <a:lstStyle/>
          <a:p>
            <a:endParaRPr lang="es-ES"/>
          </a:p>
        </p:txBody>
      </p:sp>
      <p:sp>
        <p:nvSpPr>
          <p:cNvPr id="11" name="Shape 8"/>
          <p:cNvSpPr/>
          <p:nvPr/>
        </p:nvSpPr>
        <p:spPr>
          <a:xfrm>
            <a:off x="291465" y="6542405"/>
            <a:ext cx="607496" cy="0"/>
          </a:xfrm>
          <a:prstGeom prst="line">
            <a:avLst/>
          </a:prstGeom>
          <a:noFill/>
          <a:ln w="57150">
            <a:solidFill>
              <a:srgbClr val="00B0F0"/>
            </a:solidFill>
            <a:prstDash val="solid"/>
            <a:headEnd type="none"/>
            <a:tailEnd type="none"/>
          </a:ln>
        </p:spPr>
        <p:txBody>
          <a:bodyPr/>
          <a:lstStyle/>
          <a:p>
            <a:endParaRPr lang="es-ES"/>
          </a:p>
        </p:txBody>
      </p:sp>
      <p:sp>
        <p:nvSpPr>
          <p:cNvPr id="12" name="Shape 9"/>
          <p:cNvSpPr/>
          <p:nvPr/>
        </p:nvSpPr>
        <p:spPr>
          <a:xfrm>
            <a:off x="291465" y="202565"/>
            <a:ext cx="337185" cy="337185"/>
          </a:xfrm>
          <a:prstGeom prst="ellipse">
            <a:avLst/>
          </a:prstGeom>
          <a:solidFill>
            <a:srgbClr val="FFFFFF"/>
          </a:solidFill>
          <a:ln w="19050">
            <a:solidFill>
              <a:srgbClr val="00B0F0"/>
            </a:solidFill>
            <a:prstDash val="solid"/>
          </a:ln>
        </p:spPr>
        <p:txBody>
          <a:bodyPr/>
          <a:lstStyle/>
          <a:p>
            <a:endParaRPr lang="es-ES"/>
          </a:p>
        </p:txBody>
      </p:sp>
      <p:sp>
        <p:nvSpPr>
          <p:cNvPr id="13" name="Text 10"/>
          <p:cNvSpPr/>
          <p:nvPr/>
        </p:nvSpPr>
        <p:spPr>
          <a:xfrm>
            <a:off x="291465" y="202565"/>
            <a:ext cx="337185" cy="337185"/>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1"/>
          <p:cNvSpPr/>
          <p:nvPr/>
        </p:nvSpPr>
        <p:spPr>
          <a:xfrm>
            <a:off x="1251585" y="202565"/>
            <a:ext cx="337185" cy="337185"/>
          </a:xfrm>
          <a:prstGeom prst="ellipse">
            <a:avLst/>
          </a:prstGeom>
          <a:solidFill>
            <a:srgbClr val="FFFFFF"/>
          </a:solidFill>
          <a:ln w="19050">
            <a:solidFill>
              <a:srgbClr val="00B0F0"/>
            </a:solidFill>
            <a:prstDash val="solid"/>
          </a:ln>
        </p:spPr>
        <p:txBody>
          <a:bodyPr/>
          <a:lstStyle/>
          <a:p>
            <a:endParaRPr lang="es-ES"/>
          </a:p>
        </p:txBody>
      </p:sp>
      <p:sp>
        <p:nvSpPr>
          <p:cNvPr id="15" name="Text 12"/>
          <p:cNvSpPr/>
          <p:nvPr/>
        </p:nvSpPr>
        <p:spPr>
          <a:xfrm>
            <a:off x="1251585" y="202565"/>
            <a:ext cx="337185" cy="337185"/>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3"/>
          <p:cNvSpPr/>
          <p:nvPr/>
        </p:nvSpPr>
        <p:spPr>
          <a:xfrm>
            <a:off x="771525" y="202565"/>
            <a:ext cx="337185" cy="337185"/>
          </a:xfrm>
          <a:prstGeom prst="ellipse">
            <a:avLst/>
          </a:prstGeom>
          <a:solidFill>
            <a:srgbClr val="00B0F0"/>
          </a:solidFill>
          <a:ln w="19050">
            <a:solidFill>
              <a:srgbClr val="FFFFFF"/>
            </a:solidFill>
            <a:prstDash val="solid"/>
          </a:ln>
        </p:spPr>
        <p:txBody>
          <a:bodyPr/>
          <a:lstStyle/>
          <a:p>
            <a:endParaRPr lang="es-ES"/>
          </a:p>
        </p:txBody>
      </p:sp>
      <p:sp>
        <p:nvSpPr>
          <p:cNvPr id="17" name="Text 14"/>
          <p:cNvSpPr/>
          <p:nvPr/>
        </p:nvSpPr>
        <p:spPr>
          <a:xfrm>
            <a:off x="771525" y="202565"/>
            <a:ext cx="337185" cy="337185"/>
          </a:xfrm>
          <a:prstGeom prst="rect">
            <a:avLst/>
          </a:prstGeom>
          <a:noFill/>
          <a:ln/>
        </p:spPr>
        <p:txBody>
          <a:bodyPr wrap="square" lIns="45720" tIns="91440" rIns="91440" bIns="45720" rtlCol="0" anchor="ctr"/>
          <a:lstStyle/>
          <a:p>
            <a:pPr>
              <a:lnSpc>
                <a:spcPct val="100000"/>
              </a:lnSpc>
            </a:pPr>
            <a:endParaRPr lang="en-US" sz="1600" dirty="0"/>
          </a:p>
        </p:txBody>
      </p:sp>
      <p:sp>
        <p:nvSpPr>
          <p:cNvPr id="18" name="Shape 15"/>
          <p:cNvSpPr/>
          <p:nvPr/>
        </p:nvSpPr>
        <p:spPr>
          <a:xfrm>
            <a:off x="1731645" y="202565"/>
            <a:ext cx="337185" cy="337185"/>
          </a:xfrm>
          <a:prstGeom prst="ellipse">
            <a:avLst/>
          </a:prstGeom>
          <a:solidFill>
            <a:srgbClr val="00B0F0"/>
          </a:solidFill>
          <a:ln w="19050">
            <a:solidFill>
              <a:srgbClr val="FFFFFF"/>
            </a:solidFill>
            <a:prstDash val="solid"/>
          </a:ln>
        </p:spPr>
        <p:txBody>
          <a:bodyPr/>
          <a:lstStyle/>
          <a:p>
            <a:endParaRPr lang="es-ES"/>
          </a:p>
        </p:txBody>
      </p:sp>
      <p:sp>
        <p:nvSpPr>
          <p:cNvPr id="19" name="Text 16"/>
          <p:cNvSpPr/>
          <p:nvPr/>
        </p:nvSpPr>
        <p:spPr>
          <a:xfrm>
            <a:off x="1731645" y="202565"/>
            <a:ext cx="337185" cy="337185"/>
          </a:xfrm>
          <a:prstGeom prst="rect">
            <a:avLst/>
          </a:prstGeom>
          <a:noFill/>
          <a:ln/>
        </p:spPr>
        <p:txBody>
          <a:bodyPr wrap="square" lIns="45720" tIns="91440" rIns="91440" bIns="45720" rtlCol="0" anchor="ctr"/>
          <a:lstStyle/>
          <a:p>
            <a:pPr>
              <a:lnSpc>
                <a:spcPct val="100000"/>
              </a:lnSpc>
            </a:pPr>
            <a:endParaRPr lang="en-US" sz="1600" dirty="0"/>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09880" y="3431346"/>
            <a:ext cx="3767455" cy="558800"/>
          </a:xfrm>
          <a:prstGeom prst="roundRect">
            <a:avLst>
              <a:gd name="adj" fmla="val 45340"/>
            </a:avLst>
          </a:prstGeom>
          <a:solidFill>
            <a:srgbClr val="00B0F0"/>
          </a:solidFill>
          <a:ln/>
        </p:spPr>
        <p:txBody>
          <a:bodyPr/>
          <a:lstStyle/>
          <a:p>
            <a:endParaRPr lang="es-ES"/>
          </a:p>
        </p:txBody>
      </p:sp>
      <p:sp>
        <p:nvSpPr>
          <p:cNvPr id="3" name="Text 1"/>
          <p:cNvSpPr/>
          <p:nvPr/>
        </p:nvSpPr>
        <p:spPr>
          <a:xfrm>
            <a:off x="309880" y="3422015"/>
            <a:ext cx="3767455" cy="5588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0" y="0"/>
            <a:ext cx="12192000" cy="680720"/>
          </a:xfrm>
          <a:prstGeom prst="rect">
            <a:avLst/>
          </a:prstGeom>
          <a:solidFill>
            <a:srgbClr val="00B0F0"/>
          </a:solidFill>
          <a:ln/>
        </p:spPr>
        <p:txBody>
          <a:bodyPr/>
          <a:lstStyle/>
          <a:p>
            <a:endParaRPr lang="es-ES"/>
          </a:p>
        </p:txBody>
      </p:sp>
      <p:sp>
        <p:nvSpPr>
          <p:cNvPr id="5" name="Text 3"/>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7" name="Text 5"/>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10" name="Shape 8"/>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11" name="Shape 9"/>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2" name="Text 10"/>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3" name="Text 11"/>
          <p:cNvSpPr/>
          <p:nvPr/>
        </p:nvSpPr>
        <p:spPr>
          <a:xfrm>
            <a:off x="2256155" y="142240"/>
            <a:ext cx="7499985" cy="368300"/>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Reformas recientes</a:t>
            </a:r>
            <a:endParaRPr lang="en-US" sz="1600" dirty="0"/>
          </a:p>
        </p:txBody>
      </p:sp>
      <p:sp>
        <p:nvSpPr>
          <p:cNvPr id="14" name="Shape 12"/>
          <p:cNvSpPr/>
          <p:nvPr/>
        </p:nvSpPr>
        <p:spPr>
          <a:xfrm>
            <a:off x="4467860" y="3422015"/>
            <a:ext cx="3767455" cy="558800"/>
          </a:xfrm>
          <a:prstGeom prst="roundRect">
            <a:avLst>
              <a:gd name="adj" fmla="val 45340"/>
            </a:avLst>
          </a:prstGeom>
          <a:solidFill>
            <a:srgbClr val="00B0F0"/>
          </a:solidFill>
          <a:ln/>
        </p:spPr>
        <p:txBody>
          <a:bodyPr/>
          <a:lstStyle/>
          <a:p>
            <a:endParaRPr lang="es-ES"/>
          </a:p>
        </p:txBody>
      </p:sp>
      <p:sp>
        <p:nvSpPr>
          <p:cNvPr id="15" name="Text 13"/>
          <p:cNvSpPr/>
          <p:nvPr/>
        </p:nvSpPr>
        <p:spPr>
          <a:xfrm>
            <a:off x="4467860" y="3422015"/>
            <a:ext cx="3767455" cy="558800"/>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6" name="Image 0" descr="https://kimi-img.moonshot.cn/pub/slides/slides_tmpl/image/25-08-27-19:57:42-d2nf5dh8bjvh7rlivss0.png"/>
          <p:cNvPicPr>
            <a:picLocks noChangeAspect="1"/>
          </p:cNvPicPr>
          <p:nvPr/>
        </p:nvPicPr>
        <p:blipFill>
          <a:blip r:embed="rId3"/>
          <a:stretch>
            <a:fillRect/>
          </a:stretch>
        </p:blipFill>
        <p:spPr>
          <a:xfrm>
            <a:off x="7346950" y="1091565"/>
            <a:ext cx="5715635" cy="5069840"/>
          </a:xfrm>
          <a:prstGeom prst="rect">
            <a:avLst/>
          </a:prstGeom>
        </p:spPr>
      </p:pic>
      <p:sp>
        <p:nvSpPr>
          <p:cNvPr id="17" name="Text 14"/>
          <p:cNvSpPr/>
          <p:nvPr/>
        </p:nvSpPr>
        <p:spPr>
          <a:xfrm>
            <a:off x="309880" y="1179195"/>
            <a:ext cx="7163940" cy="584775"/>
          </a:xfrm>
          <a:prstGeom prst="rect">
            <a:avLst/>
          </a:prstGeom>
          <a:noFill/>
          <a:ln/>
        </p:spPr>
        <p:txBody>
          <a:bodyPr wrap="square" lIns="91440" tIns="45720" rIns="91440" bIns="45720" rtlCol="0" anchor="t">
            <a:spAutoFit/>
          </a:bodyPr>
          <a:lstStyle/>
          <a:p>
            <a:pPr marL="0" indent="0">
              <a:lnSpc>
                <a:spcPct val="100000"/>
              </a:lnSpc>
              <a:buNone/>
            </a:pPr>
            <a:r>
              <a:rPr lang="en-US" sz="3200" b="1" dirty="0">
                <a:solidFill>
                  <a:srgbClr val="00B0F0"/>
                </a:solidFill>
                <a:latin typeface="MiSans" pitchFamily="34" charset="0"/>
                <a:ea typeface="MiSans" pitchFamily="34" charset="-122"/>
                <a:cs typeface="MiSans" pitchFamily="34" charset="-120"/>
              </a:rPr>
              <a:t>Reforma 2012: flexibilidad interna</a:t>
            </a:r>
            <a:endParaRPr lang="en-US" sz="1600" dirty="0"/>
          </a:p>
        </p:txBody>
      </p:sp>
      <p:sp>
        <p:nvSpPr>
          <p:cNvPr id="18" name="Text 15"/>
          <p:cNvSpPr/>
          <p:nvPr/>
        </p:nvSpPr>
        <p:spPr>
          <a:xfrm>
            <a:off x="309880" y="1924050"/>
            <a:ext cx="7887970" cy="1314450"/>
          </a:xfrm>
          <a:prstGeom prst="rect">
            <a:avLst/>
          </a:prstGeom>
          <a:noFill/>
          <a:ln/>
        </p:spPr>
        <p:txBody>
          <a:bodyPr wrap="square" lIns="91440" tIns="45720" rIns="91440" bIns="45720" rtlCol="0" anchor="t"/>
          <a:lstStyle/>
          <a:p>
            <a:pPr marL="0" indent="0">
              <a:lnSpc>
                <a:spcPct val="130000"/>
              </a:lnSpc>
              <a:buNone/>
            </a:pPr>
            <a:r>
              <a:rPr lang="en-US" sz="1600" dirty="0">
                <a:solidFill>
                  <a:srgbClr val="000000"/>
                </a:solidFill>
                <a:latin typeface="MiSans" pitchFamily="34" charset="0"/>
                <a:ea typeface="MiSans" pitchFamily="34" charset="-122"/>
                <a:cs typeface="MiSans" pitchFamily="34" charset="-120"/>
              </a:rPr>
              <a:t>Priorizó convenio de empresa sobre sectorial en salarios y jornada, facilitó modificaciones sustanciales de condiciones y redujo indemnizaciones. Buscó fomentar ajuste interno, pero su impacto fue limitado por inercia del modelo de temporalidad y falta de mecanismos complementarios.</a:t>
            </a:r>
            <a:endParaRPr lang="en-US" sz="1600" dirty="0"/>
          </a:p>
        </p:txBody>
      </p:sp>
      <p:sp>
        <p:nvSpPr>
          <p:cNvPr id="19" name="Text 16"/>
          <p:cNvSpPr/>
          <p:nvPr/>
        </p:nvSpPr>
        <p:spPr>
          <a:xfrm>
            <a:off x="377190" y="3455091"/>
            <a:ext cx="3662680" cy="584775"/>
          </a:xfrm>
          <a:prstGeom prst="rect">
            <a:avLst/>
          </a:prstGeom>
          <a:noFill/>
          <a:ln/>
        </p:spPr>
        <p:txBody>
          <a:bodyPr wrap="square" lIns="91440" tIns="45720" rIns="91440" bIns="45720" rtlCol="0" anchor="t">
            <a:spAutoFit/>
          </a:bodyPr>
          <a:lstStyle/>
          <a:p>
            <a:pPr marL="0" indent="0" algn="ctr">
              <a:lnSpc>
                <a:spcPct val="100000"/>
              </a:lnSpc>
              <a:buNone/>
            </a:pPr>
            <a:r>
              <a:rPr lang="en-US" sz="1600" dirty="0">
                <a:solidFill>
                  <a:srgbClr val="FFFFFF"/>
                </a:solidFill>
                <a:latin typeface="MiSans" pitchFamily="34" charset="0"/>
                <a:ea typeface="MiSans" pitchFamily="34" charset="-122"/>
                <a:cs typeface="MiSans" pitchFamily="34" charset="-120"/>
              </a:rPr>
              <a:t>Reforma 2021-2022: reducir temporalidad</a:t>
            </a:r>
            <a:endParaRPr lang="en-US" sz="1200" dirty="0"/>
          </a:p>
        </p:txBody>
      </p:sp>
      <p:sp>
        <p:nvSpPr>
          <p:cNvPr id="20" name="Text 17"/>
          <p:cNvSpPr/>
          <p:nvPr/>
        </p:nvSpPr>
        <p:spPr>
          <a:xfrm>
            <a:off x="309880" y="4195445"/>
            <a:ext cx="3845560" cy="1773555"/>
          </a:xfrm>
          <a:prstGeom prst="rect">
            <a:avLst/>
          </a:prstGeom>
          <a:noFill/>
          <a:ln/>
        </p:spPr>
        <p:txBody>
          <a:bodyPr wrap="square" lIns="91440" tIns="45720" rIns="91440" bIns="45720" rtlCol="0" anchor="t"/>
          <a:lstStyle/>
          <a:p>
            <a:pPr marL="0" indent="0">
              <a:lnSpc>
                <a:spcPct val="130000"/>
              </a:lnSpc>
              <a:buNone/>
            </a:pPr>
            <a:r>
              <a:rPr lang="en-US" sz="1400" dirty="0">
                <a:solidFill>
                  <a:srgbClr val="000000"/>
                </a:solidFill>
                <a:latin typeface="MiSans" pitchFamily="34" charset="0"/>
                <a:ea typeface="MiSans" pitchFamily="34" charset="-122"/>
                <a:cs typeface="MiSans" pitchFamily="34" charset="-120"/>
              </a:rPr>
              <a:t>Restringió causas de temporal a situaciones estrictamente temporales, fortaleció fijos discontinuos y limitó subcontratación. Logró bajar tasa de temporalidad del 27 % al 20 % en dos años, aunque aún es pronto para evaluar efectos sobre calidad y productividad.</a:t>
            </a:r>
            <a:endParaRPr lang="en-US" sz="1600" dirty="0"/>
          </a:p>
        </p:txBody>
      </p:sp>
      <p:sp>
        <p:nvSpPr>
          <p:cNvPr id="21" name="Text 18"/>
          <p:cNvSpPr/>
          <p:nvPr/>
        </p:nvSpPr>
        <p:spPr>
          <a:xfrm>
            <a:off x="4535170" y="3483084"/>
            <a:ext cx="3662680" cy="338554"/>
          </a:xfrm>
          <a:prstGeom prst="rect">
            <a:avLst/>
          </a:prstGeom>
          <a:noFill/>
          <a:ln/>
        </p:spPr>
        <p:txBody>
          <a:bodyPr wrap="square" lIns="91440" tIns="45720" rIns="91440" bIns="45720" rtlCol="0" anchor="t">
            <a:spAutoFit/>
          </a:bodyPr>
          <a:lstStyle/>
          <a:p>
            <a:pPr marL="0" indent="0" algn="ctr">
              <a:lnSpc>
                <a:spcPct val="100000"/>
              </a:lnSpc>
              <a:buNone/>
            </a:pPr>
            <a:r>
              <a:rPr lang="en-US" sz="1600" dirty="0">
                <a:solidFill>
                  <a:srgbClr val="FFFFFF"/>
                </a:solidFill>
                <a:latin typeface="MiSans" pitchFamily="34" charset="0"/>
                <a:ea typeface="MiSans" pitchFamily="34" charset="-122"/>
                <a:cs typeface="MiSans" pitchFamily="34" charset="-120"/>
              </a:rPr>
              <a:t>Lecciones aprendidas</a:t>
            </a:r>
            <a:endParaRPr lang="en-US" sz="1200" dirty="0"/>
          </a:p>
        </p:txBody>
      </p:sp>
      <p:sp>
        <p:nvSpPr>
          <p:cNvPr id="22" name="Text 19"/>
          <p:cNvSpPr/>
          <p:nvPr/>
        </p:nvSpPr>
        <p:spPr>
          <a:xfrm>
            <a:off x="4467860" y="4195445"/>
            <a:ext cx="3845560" cy="1965960"/>
          </a:xfrm>
          <a:prstGeom prst="rect">
            <a:avLst/>
          </a:prstGeom>
          <a:noFill/>
          <a:ln/>
        </p:spPr>
        <p:txBody>
          <a:bodyPr wrap="square" lIns="91440" tIns="45720" rIns="91440" bIns="45720" rtlCol="0" anchor="t"/>
          <a:lstStyle/>
          <a:p>
            <a:pPr marL="0" indent="0">
              <a:lnSpc>
                <a:spcPct val="130000"/>
              </a:lnSpc>
              <a:buNone/>
            </a:pPr>
            <a:r>
              <a:rPr lang="en-US" sz="1400" dirty="0">
                <a:solidFill>
                  <a:srgbClr val="000000"/>
                </a:solidFill>
                <a:latin typeface="MiSans" pitchFamily="34" charset="0"/>
                <a:ea typeface="MiSans" pitchFamily="34" charset="-122"/>
                <a:cs typeface="MiSans" pitchFamily="34" charset="-120"/>
              </a:rPr>
              <a:t>Reformas que solo tocan un lado (temporalidad o despido) sin ofrecer alternativas de flexibilidad interna y formación tienen efectos limitados. Éxito requiere paquete integrado que equilibre seguridad, empleabilidad y adaptación empresarial.</a:t>
            </a:r>
            <a:endParaRPr lang="en-US" sz="1600" dirty="0"/>
          </a:p>
        </p:txBody>
      </p:sp>
    </p:spTree>
    <p:extLst>
      <p:ext uri="{BB962C8B-B14F-4D97-AF65-F5344CB8AC3E}">
        <p14:creationId xmlns:p14="http://schemas.microsoft.com/office/powerpoint/2010/main" val="244726695"/>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54000" y="1016000"/>
            <a:ext cx="5130800" cy="508000"/>
          </a:xfrm>
          <a:prstGeom prst="rect">
            <a:avLst/>
          </a:prstGeom>
          <a:noFill/>
          <a:ln/>
        </p:spPr>
        <p:txBody>
          <a:bodyPr wrap="square" lIns="0" tIns="0" rIns="0" bIns="0" rtlCol="0" anchor="ctr"/>
          <a:lstStyle/>
          <a:p>
            <a:pPr>
              <a:lnSpc>
                <a:spcPct val="90000"/>
              </a:lnSpc>
            </a:pPr>
            <a:r>
              <a:rPr lang="en-US" sz="3600" b="1" dirty="0">
                <a:solidFill>
                  <a:srgbClr val="00AEEF"/>
                </a:solidFill>
                <a:latin typeface="Noto Sans SC" pitchFamily="34" charset="0"/>
                <a:ea typeface="Noto Sans SC" pitchFamily="34" charset="-122"/>
                <a:cs typeface="Noto Sans SC" pitchFamily="34" charset="-120"/>
              </a:rPr>
              <a:t>Reforma de 2012</a:t>
            </a:r>
            <a:endParaRPr lang="en-US" sz="1600" dirty="0"/>
          </a:p>
        </p:txBody>
      </p:sp>
      <p:sp>
        <p:nvSpPr>
          <p:cNvPr id="3" name="Text 1"/>
          <p:cNvSpPr/>
          <p:nvPr/>
        </p:nvSpPr>
        <p:spPr>
          <a:xfrm>
            <a:off x="254000" y="1574800"/>
            <a:ext cx="4978400" cy="406400"/>
          </a:xfrm>
          <a:prstGeom prst="rect">
            <a:avLst/>
          </a:prstGeom>
          <a:noFill/>
          <a:ln/>
        </p:spPr>
        <p:txBody>
          <a:bodyPr wrap="square" lIns="0" tIns="0" rIns="0" bIns="0" rtlCol="0" anchor="ctr"/>
          <a:lstStyle/>
          <a:p>
            <a:pPr>
              <a:lnSpc>
                <a:spcPct val="110000"/>
              </a:lnSpc>
            </a:pPr>
            <a:r>
              <a:rPr lang="en-US" sz="2400" b="1" dirty="0">
                <a:solidFill>
                  <a:srgbClr val="4080FF"/>
                </a:solidFill>
                <a:latin typeface="Noto Sans SC" pitchFamily="34" charset="0"/>
                <a:ea typeface="Noto Sans SC" pitchFamily="34" charset="-122"/>
                <a:cs typeface="Noto Sans SC" pitchFamily="34" charset="-120"/>
              </a:rPr>
              <a:t>Éxito en Flexibilidad Interna</a:t>
            </a:r>
            <a:endParaRPr lang="en-US" sz="1600" dirty="0"/>
          </a:p>
        </p:txBody>
      </p:sp>
      <p:sp>
        <p:nvSpPr>
          <p:cNvPr id="4" name="Text 2"/>
          <p:cNvSpPr/>
          <p:nvPr/>
        </p:nvSpPr>
        <p:spPr>
          <a:xfrm>
            <a:off x="254000" y="2184242"/>
            <a:ext cx="4673600" cy="1524000"/>
          </a:xfrm>
          <a:prstGeom prst="rect">
            <a:avLst/>
          </a:prstGeom>
          <a:noFill/>
          <a:ln/>
        </p:spPr>
        <p:txBody>
          <a:bodyPr wrap="square" lIns="0" tIns="0" rIns="0" bIns="0" rtlCol="0" anchor="ctr"/>
          <a:lstStyle/>
          <a:p>
            <a:pPr>
              <a:lnSpc>
                <a:spcPct val="130000"/>
              </a:lnSpc>
            </a:pPr>
            <a:r>
              <a:rPr lang="en-US" sz="1600" dirty="0">
                <a:solidFill>
                  <a:srgbClr val="333333"/>
                </a:solidFill>
                <a:latin typeface="MiSans" pitchFamily="34" charset="0"/>
                <a:ea typeface="MiSans" pitchFamily="34" charset="-122"/>
                <a:cs typeface="MiSans" pitchFamily="34" charset="-120"/>
              </a:rPr>
              <a:t>La reforma buscaba el ajuste interno para evitar la destrucción de empleo. La evidencia muestra que </a:t>
            </a:r>
            <a:r>
              <a:rPr lang="en-US" sz="1600" dirty="0">
                <a:solidFill>
                  <a:srgbClr val="333333"/>
                </a:solidFill>
                <a:highlight>
                  <a:srgbClr val="FFC200">
                    <a:alpha val="100000"/>
                  </a:srgbClr>
                </a:highlight>
                <a:latin typeface="MiSans" pitchFamily="34" charset="0"/>
                <a:ea typeface="MiSans" pitchFamily="34" charset="-122"/>
                <a:cs typeface="MiSans" pitchFamily="34" charset="-120"/>
              </a:rPr>
              <a:t>lo logró </a:t>
            </a:r>
            <a:r>
              <a:rPr lang="en-US" sz="1600" dirty="0">
                <a:solidFill>
                  <a:srgbClr val="333333"/>
                </a:solidFill>
                <a:latin typeface="MiSans" pitchFamily="34" charset="0"/>
                <a:ea typeface="MiSans" pitchFamily="34" charset="-122"/>
                <a:cs typeface="MiSans" pitchFamily="34" charset="-120"/>
              </a:rPr>
              <a:t>, facilitando una devaluación salarial que recuperó la competitividad.</a:t>
            </a:r>
            <a:endParaRPr lang="en-US" sz="1600" dirty="0"/>
          </a:p>
        </p:txBody>
      </p:sp>
      <p:sp>
        <p:nvSpPr>
          <p:cNvPr id="5" name="Shape 3"/>
          <p:cNvSpPr/>
          <p:nvPr/>
        </p:nvSpPr>
        <p:spPr>
          <a:xfrm>
            <a:off x="355600" y="4063842"/>
            <a:ext cx="203200" cy="203200"/>
          </a:xfrm>
          <a:custGeom>
            <a:avLst/>
            <a:gdLst/>
            <a:ahLst/>
            <a:cxnLst/>
            <a:rect l="l" t="t" r="r" b="b"/>
            <a:pathLst>
              <a:path w="203200" h="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35096" y="84415"/>
                </a:moveTo>
                <a:lnTo>
                  <a:pt x="103346" y="135215"/>
                </a:lnTo>
                <a:cubicBezTo>
                  <a:pt x="101679" y="137874"/>
                  <a:pt x="98822" y="139541"/>
                  <a:pt x="95687" y="139700"/>
                </a:cubicBezTo>
                <a:cubicBezTo>
                  <a:pt x="92551" y="139859"/>
                  <a:pt x="89535" y="138430"/>
                  <a:pt x="87670" y="135890"/>
                </a:cubicBezTo>
                <a:lnTo>
                  <a:pt x="68620" y="110490"/>
                </a:lnTo>
                <a:cubicBezTo>
                  <a:pt x="65445" y="106283"/>
                  <a:pt x="66318" y="100330"/>
                  <a:pt x="70525" y="97155"/>
                </a:cubicBezTo>
                <a:cubicBezTo>
                  <a:pt x="74732" y="93980"/>
                  <a:pt x="80685" y="94853"/>
                  <a:pt x="83860" y="99060"/>
                </a:cubicBezTo>
                <a:lnTo>
                  <a:pt x="94575" y="113348"/>
                </a:lnTo>
                <a:lnTo>
                  <a:pt x="118943" y="74335"/>
                </a:lnTo>
                <a:cubicBezTo>
                  <a:pt x="121722" y="69890"/>
                  <a:pt x="127595" y="68501"/>
                  <a:pt x="132080" y="71318"/>
                </a:cubicBezTo>
                <a:cubicBezTo>
                  <a:pt x="136565" y="74136"/>
                  <a:pt x="137914" y="79970"/>
                  <a:pt x="135096" y="84455"/>
                </a:cubicBezTo>
                <a:close/>
              </a:path>
            </a:pathLst>
          </a:custGeom>
          <a:solidFill>
            <a:srgbClr val="00AEEF"/>
          </a:solidFill>
          <a:ln/>
        </p:spPr>
        <p:txBody>
          <a:bodyPr/>
          <a:lstStyle/>
          <a:p>
            <a:endParaRPr lang="es-ES"/>
          </a:p>
        </p:txBody>
      </p:sp>
      <p:sp>
        <p:nvSpPr>
          <p:cNvPr id="6" name="Text 4"/>
          <p:cNvSpPr/>
          <p:nvPr/>
        </p:nvSpPr>
        <p:spPr>
          <a:xfrm>
            <a:off x="812800" y="4013042"/>
            <a:ext cx="4114800" cy="508000"/>
          </a:xfrm>
          <a:prstGeom prst="rect">
            <a:avLst/>
          </a:prstGeom>
          <a:noFill/>
          <a:ln/>
        </p:spPr>
        <p:txBody>
          <a:bodyPr wrap="square" lIns="0" tIns="0" rIns="0" bIns="0" rtlCol="0" anchor="ctr"/>
          <a:lstStyle/>
          <a:p>
            <a:pPr>
              <a:lnSpc>
                <a:spcPct val="120000"/>
              </a:lnSpc>
            </a:pPr>
            <a:r>
              <a:rPr lang="en-US" sz="1400" b="1" dirty="0">
                <a:solidFill>
                  <a:srgbClr val="333333"/>
                </a:solidFill>
                <a:latin typeface="MiSans" pitchFamily="34" charset="0"/>
                <a:ea typeface="MiSans" pitchFamily="34" charset="-122"/>
                <a:cs typeface="MiSans" pitchFamily="34" charset="-120"/>
              </a:rPr>
              <a:t>Prioridad del convenio de empresa</a:t>
            </a:r>
            <a:r>
              <a:rPr lang="en-US" sz="1400" dirty="0">
                <a:solidFill>
                  <a:srgbClr val="333333"/>
                </a:solidFill>
                <a:latin typeface="MiSans" pitchFamily="34" charset="0"/>
                <a:ea typeface="MiSans" pitchFamily="34" charset="-122"/>
                <a:cs typeface="MiSans" pitchFamily="34" charset="-120"/>
              </a:rPr>
              <a:t> sobre el sectorial.</a:t>
            </a:r>
            <a:endParaRPr lang="en-US" sz="1600" dirty="0"/>
          </a:p>
        </p:txBody>
      </p:sp>
      <p:sp>
        <p:nvSpPr>
          <p:cNvPr id="7" name="Shape 5"/>
          <p:cNvSpPr/>
          <p:nvPr/>
        </p:nvSpPr>
        <p:spPr>
          <a:xfrm>
            <a:off x="355600" y="4724242"/>
            <a:ext cx="203200" cy="203200"/>
          </a:xfrm>
          <a:custGeom>
            <a:avLst/>
            <a:gdLst/>
            <a:ahLst/>
            <a:cxnLst/>
            <a:rect l="l" t="t" r="r" b="b"/>
            <a:pathLst>
              <a:path w="203200" h="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35096" y="84415"/>
                </a:moveTo>
                <a:lnTo>
                  <a:pt x="103346" y="135215"/>
                </a:lnTo>
                <a:cubicBezTo>
                  <a:pt x="101679" y="137874"/>
                  <a:pt x="98822" y="139541"/>
                  <a:pt x="95687" y="139700"/>
                </a:cubicBezTo>
                <a:cubicBezTo>
                  <a:pt x="92551" y="139859"/>
                  <a:pt x="89535" y="138430"/>
                  <a:pt x="87670" y="135890"/>
                </a:cubicBezTo>
                <a:lnTo>
                  <a:pt x="68620" y="110490"/>
                </a:lnTo>
                <a:cubicBezTo>
                  <a:pt x="65445" y="106283"/>
                  <a:pt x="66318" y="100330"/>
                  <a:pt x="70525" y="97155"/>
                </a:cubicBezTo>
                <a:cubicBezTo>
                  <a:pt x="74732" y="93980"/>
                  <a:pt x="80685" y="94853"/>
                  <a:pt x="83860" y="99060"/>
                </a:cubicBezTo>
                <a:lnTo>
                  <a:pt x="94575" y="113348"/>
                </a:lnTo>
                <a:lnTo>
                  <a:pt x="118943" y="74335"/>
                </a:lnTo>
                <a:cubicBezTo>
                  <a:pt x="121722" y="69890"/>
                  <a:pt x="127595" y="68501"/>
                  <a:pt x="132080" y="71318"/>
                </a:cubicBezTo>
                <a:cubicBezTo>
                  <a:pt x="136565" y="74136"/>
                  <a:pt x="137914" y="79970"/>
                  <a:pt x="135096" y="84455"/>
                </a:cubicBezTo>
                <a:close/>
              </a:path>
            </a:pathLst>
          </a:custGeom>
          <a:solidFill>
            <a:srgbClr val="00AEEF"/>
          </a:solidFill>
          <a:ln/>
        </p:spPr>
        <p:txBody>
          <a:bodyPr/>
          <a:lstStyle/>
          <a:p>
            <a:endParaRPr lang="es-ES"/>
          </a:p>
        </p:txBody>
      </p:sp>
      <p:sp>
        <p:nvSpPr>
          <p:cNvPr id="8" name="Text 6"/>
          <p:cNvSpPr/>
          <p:nvPr/>
        </p:nvSpPr>
        <p:spPr>
          <a:xfrm>
            <a:off x="812800" y="4673442"/>
            <a:ext cx="4114800" cy="508000"/>
          </a:xfrm>
          <a:prstGeom prst="rect">
            <a:avLst/>
          </a:prstGeom>
          <a:noFill/>
          <a:ln/>
        </p:spPr>
        <p:txBody>
          <a:bodyPr wrap="square" lIns="0" tIns="0" rIns="0" bIns="0" rtlCol="0" anchor="ctr"/>
          <a:lstStyle/>
          <a:p>
            <a:pPr>
              <a:lnSpc>
                <a:spcPct val="120000"/>
              </a:lnSpc>
            </a:pPr>
            <a:r>
              <a:rPr lang="en-US" sz="1400" dirty="0">
                <a:solidFill>
                  <a:srgbClr val="333333"/>
                </a:solidFill>
                <a:latin typeface="MiSans" pitchFamily="34" charset="0"/>
                <a:ea typeface="MiSans" pitchFamily="34" charset="-122"/>
                <a:cs typeface="MiSans" pitchFamily="34" charset="-120"/>
              </a:rPr>
              <a:t>Facilitación de </a:t>
            </a:r>
            <a:r>
              <a:rPr lang="en-US" sz="1400" b="1" dirty="0">
                <a:solidFill>
                  <a:srgbClr val="333333"/>
                </a:solidFill>
                <a:latin typeface="MiSans" pitchFamily="34" charset="0"/>
                <a:ea typeface="MiSans" pitchFamily="34" charset="-122"/>
                <a:cs typeface="MiSans" pitchFamily="34" charset="-120"/>
              </a:rPr>
              <a:t>modificaciones sustanciales</a:t>
            </a:r>
            <a:r>
              <a:rPr lang="en-US" sz="1400" dirty="0">
                <a:solidFill>
                  <a:srgbClr val="333333"/>
                </a:solidFill>
                <a:latin typeface="MiSans" pitchFamily="34" charset="0"/>
                <a:ea typeface="MiSans" pitchFamily="34" charset="-122"/>
                <a:cs typeface="MiSans" pitchFamily="34" charset="-120"/>
              </a:rPr>
              <a:t> de condiciones.</a:t>
            </a:r>
            <a:endParaRPr lang="en-US" sz="1600" dirty="0"/>
          </a:p>
        </p:txBody>
      </p:sp>
      <p:sp>
        <p:nvSpPr>
          <p:cNvPr id="9" name="Shape 7"/>
          <p:cNvSpPr/>
          <p:nvPr/>
        </p:nvSpPr>
        <p:spPr>
          <a:xfrm>
            <a:off x="355600" y="5384642"/>
            <a:ext cx="203200" cy="203200"/>
          </a:xfrm>
          <a:custGeom>
            <a:avLst/>
            <a:gdLst/>
            <a:ahLst/>
            <a:cxnLst/>
            <a:rect l="l" t="t" r="r" b="b"/>
            <a:pathLst>
              <a:path w="203200" h="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35096" y="84415"/>
                </a:moveTo>
                <a:lnTo>
                  <a:pt x="103346" y="135215"/>
                </a:lnTo>
                <a:cubicBezTo>
                  <a:pt x="101679" y="137874"/>
                  <a:pt x="98822" y="139541"/>
                  <a:pt x="95687" y="139700"/>
                </a:cubicBezTo>
                <a:cubicBezTo>
                  <a:pt x="92551" y="139859"/>
                  <a:pt x="89535" y="138430"/>
                  <a:pt x="87670" y="135890"/>
                </a:cubicBezTo>
                <a:lnTo>
                  <a:pt x="68620" y="110490"/>
                </a:lnTo>
                <a:cubicBezTo>
                  <a:pt x="65445" y="106283"/>
                  <a:pt x="66318" y="100330"/>
                  <a:pt x="70525" y="97155"/>
                </a:cubicBezTo>
                <a:cubicBezTo>
                  <a:pt x="74732" y="93980"/>
                  <a:pt x="80685" y="94853"/>
                  <a:pt x="83860" y="99060"/>
                </a:cubicBezTo>
                <a:lnTo>
                  <a:pt x="94575" y="113348"/>
                </a:lnTo>
                <a:lnTo>
                  <a:pt x="118943" y="74335"/>
                </a:lnTo>
                <a:cubicBezTo>
                  <a:pt x="121722" y="69890"/>
                  <a:pt x="127595" y="68501"/>
                  <a:pt x="132080" y="71318"/>
                </a:cubicBezTo>
                <a:cubicBezTo>
                  <a:pt x="136565" y="74136"/>
                  <a:pt x="137914" y="79970"/>
                  <a:pt x="135096" y="84455"/>
                </a:cubicBezTo>
                <a:close/>
              </a:path>
            </a:pathLst>
          </a:custGeom>
          <a:solidFill>
            <a:srgbClr val="00AEEF"/>
          </a:solidFill>
          <a:ln/>
        </p:spPr>
        <p:txBody>
          <a:bodyPr/>
          <a:lstStyle/>
          <a:p>
            <a:endParaRPr lang="es-ES"/>
          </a:p>
        </p:txBody>
      </p:sp>
      <p:sp>
        <p:nvSpPr>
          <p:cNvPr id="10" name="Text 8"/>
          <p:cNvSpPr/>
          <p:nvPr/>
        </p:nvSpPr>
        <p:spPr>
          <a:xfrm>
            <a:off x="812800" y="5333842"/>
            <a:ext cx="4114800" cy="508000"/>
          </a:xfrm>
          <a:prstGeom prst="rect">
            <a:avLst/>
          </a:prstGeom>
          <a:noFill/>
          <a:ln/>
        </p:spPr>
        <p:txBody>
          <a:bodyPr wrap="square" lIns="0" tIns="0" rIns="0" bIns="0" rtlCol="0" anchor="ctr"/>
          <a:lstStyle/>
          <a:p>
            <a:pPr>
              <a:lnSpc>
                <a:spcPct val="120000"/>
              </a:lnSpc>
            </a:pPr>
            <a:r>
              <a:rPr lang="en-US" sz="1400" dirty="0">
                <a:solidFill>
                  <a:srgbClr val="333333"/>
                </a:solidFill>
                <a:latin typeface="MiSans" pitchFamily="34" charset="0"/>
                <a:ea typeface="MiSans" pitchFamily="34" charset="-122"/>
                <a:cs typeface="MiSans" pitchFamily="34" charset="-120"/>
              </a:rPr>
              <a:t>Limitación de la </a:t>
            </a:r>
            <a:r>
              <a:rPr lang="en-US" sz="1400" b="1" dirty="0">
                <a:solidFill>
                  <a:srgbClr val="333333"/>
                </a:solidFill>
                <a:latin typeface="MiSans" pitchFamily="34" charset="0"/>
                <a:ea typeface="MiSans" pitchFamily="34" charset="-122"/>
                <a:cs typeface="MiSans" pitchFamily="34" charset="-120"/>
              </a:rPr>
              <a:t>ultraactividad</a:t>
            </a:r>
            <a:r>
              <a:rPr lang="en-US" sz="1400" dirty="0">
                <a:solidFill>
                  <a:srgbClr val="333333"/>
                </a:solidFill>
                <a:latin typeface="MiSans" pitchFamily="34" charset="0"/>
                <a:ea typeface="MiSans" pitchFamily="34" charset="-122"/>
                <a:cs typeface="MiSans" pitchFamily="34" charset="-120"/>
              </a:rPr>
              <a:t> de los convenios.</a:t>
            </a:r>
            <a:endParaRPr lang="en-US" sz="1600" dirty="0"/>
          </a:p>
        </p:txBody>
      </p:sp>
      <p:pic>
        <p:nvPicPr>
          <p:cNvPr id="11" name="Image 0" descr="https://kimi-web-img.moonshot.cn/img/st3.idealista.com/8504ca749aebf90d6acf98dbda055966fbad7e2e.png"/>
          <p:cNvPicPr>
            <a:picLocks noChangeAspect="1"/>
          </p:cNvPicPr>
          <p:nvPr/>
        </p:nvPicPr>
        <p:blipFill>
          <a:blip r:embed="rId3"/>
          <a:srcRect l="5841" r="5841"/>
          <a:stretch/>
        </p:blipFill>
        <p:spPr>
          <a:xfrm>
            <a:off x="5334000" y="965200"/>
            <a:ext cx="6604000" cy="3810000"/>
          </a:xfrm>
          <a:prstGeom prst="roundRect">
            <a:avLst>
              <a:gd name="adj" fmla="val 2667"/>
            </a:avLst>
          </a:prstGeom>
        </p:spPr>
      </p:pic>
      <p:sp>
        <p:nvSpPr>
          <p:cNvPr id="12" name="Shape 9"/>
          <p:cNvSpPr/>
          <p:nvPr/>
        </p:nvSpPr>
        <p:spPr>
          <a:xfrm>
            <a:off x="5334000" y="4978400"/>
            <a:ext cx="6604000" cy="914400"/>
          </a:xfrm>
          <a:custGeom>
            <a:avLst/>
            <a:gdLst/>
            <a:ahLst/>
            <a:cxnLst/>
            <a:rect l="l" t="t" r="r" b="b"/>
            <a:pathLst>
              <a:path w="6604000" h="914400">
                <a:moveTo>
                  <a:pt x="101599" y="0"/>
                </a:moveTo>
                <a:lnTo>
                  <a:pt x="6502401" y="0"/>
                </a:lnTo>
                <a:cubicBezTo>
                  <a:pt x="6558513" y="0"/>
                  <a:pt x="6604000" y="45487"/>
                  <a:pt x="6604000" y="101599"/>
                </a:cubicBezTo>
                <a:lnTo>
                  <a:pt x="6604000" y="812801"/>
                </a:lnTo>
                <a:cubicBezTo>
                  <a:pt x="6604000" y="868913"/>
                  <a:pt x="6558513" y="914400"/>
                  <a:pt x="6502401" y="914400"/>
                </a:cubicBezTo>
                <a:lnTo>
                  <a:pt x="101599" y="914400"/>
                </a:lnTo>
                <a:cubicBezTo>
                  <a:pt x="45487" y="914400"/>
                  <a:pt x="0" y="868913"/>
                  <a:pt x="0" y="812801"/>
                </a:cubicBezTo>
                <a:lnTo>
                  <a:pt x="0" y="101599"/>
                </a:lnTo>
                <a:cubicBezTo>
                  <a:pt x="0" y="45525"/>
                  <a:pt x="45525" y="0"/>
                  <a:pt x="101599" y="0"/>
                </a:cubicBezTo>
                <a:close/>
              </a:path>
            </a:pathLst>
          </a:custGeom>
          <a:solidFill>
            <a:srgbClr val="00AEEF">
              <a:alpha val="10196"/>
            </a:srgbClr>
          </a:solidFill>
          <a:ln/>
        </p:spPr>
        <p:txBody>
          <a:bodyPr/>
          <a:lstStyle/>
          <a:p>
            <a:endParaRPr lang="es-ES"/>
          </a:p>
        </p:txBody>
      </p:sp>
      <p:sp>
        <p:nvSpPr>
          <p:cNvPr id="13" name="Text 10"/>
          <p:cNvSpPr/>
          <p:nvPr/>
        </p:nvSpPr>
        <p:spPr>
          <a:xfrm>
            <a:off x="5372100" y="5130800"/>
            <a:ext cx="6527800" cy="355600"/>
          </a:xfrm>
          <a:prstGeom prst="rect">
            <a:avLst/>
          </a:prstGeom>
          <a:noFill/>
          <a:ln/>
        </p:spPr>
        <p:txBody>
          <a:bodyPr wrap="square" lIns="0" tIns="0" rIns="0" bIns="0" rtlCol="0" anchor="ctr"/>
          <a:lstStyle/>
          <a:p>
            <a:pPr algn="ctr">
              <a:lnSpc>
                <a:spcPct val="130000"/>
              </a:lnSpc>
            </a:pPr>
            <a:r>
              <a:rPr lang="en-US" sz="1800" b="1" dirty="0">
                <a:solidFill>
                  <a:srgbClr val="00AEEF"/>
                </a:solidFill>
                <a:latin typeface="MiSans" pitchFamily="34" charset="0"/>
                <a:ea typeface="MiSans" pitchFamily="34" charset="-122"/>
                <a:cs typeface="MiSans" pitchFamily="34" charset="-120"/>
              </a:rPr>
              <a:t>400,000 empleos creados en 2014</a:t>
            </a:r>
            <a:endParaRPr lang="en-US" sz="1600" dirty="0"/>
          </a:p>
        </p:txBody>
      </p:sp>
      <p:sp>
        <p:nvSpPr>
          <p:cNvPr id="14" name="Text 11"/>
          <p:cNvSpPr/>
          <p:nvPr/>
        </p:nvSpPr>
        <p:spPr>
          <a:xfrm>
            <a:off x="5397500" y="5486400"/>
            <a:ext cx="6477000" cy="254000"/>
          </a:xfrm>
          <a:prstGeom prst="rect">
            <a:avLst/>
          </a:prstGeom>
          <a:noFill/>
          <a:ln/>
        </p:spPr>
        <p:txBody>
          <a:bodyPr wrap="square" lIns="0" tIns="0" rIns="0" bIns="0" rtlCol="0" anchor="ctr"/>
          <a:lstStyle/>
          <a:p>
            <a:pPr algn="ctr">
              <a:lnSpc>
                <a:spcPct val="120000"/>
              </a:lnSpc>
            </a:pPr>
            <a:r>
              <a:rPr lang="en-US" sz="1400" dirty="0">
                <a:solidFill>
                  <a:srgbClr val="333333"/>
                </a:solidFill>
                <a:latin typeface="MiSans" pitchFamily="34" charset="0"/>
                <a:ea typeface="MiSans" pitchFamily="34" charset="-122"/>
                <a:cs typeface="MiSans" pitchFamily="34" charset="-120"/>
              </a:rPr>
              <a:t>con un crecimiento económico de solo el 1.4% (Fuente: FMI)</a:t>
            </a:r>
            <a:endParaRPr lang="en-US" sz="1600" dirty="0"/>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5400" y="1397000"/>
            <a:ext cx="12141200" cy="508000"/>
          </a:xfrm>
          <a:prstGeom prst="rect">
            <a:avLst/>
          </a:prstGeom>
          <a:noFill/>
          <a:ln/>
        </p:spPr>
        <p:txBody>
          <a:bodyPr wrap="square" lIns="0" tIns="0" rIns="0" bIns="0" rtlCol="0" anchor="ctr"/>
          <a:lstStyle/>
          <a:p>
            <a:pPr algn="ctr">
              <a:lnSpc>
                <a:spcPct val="90000"/>
              </a:lnSpc>
            </a:pPr>
            <a:r>
              <a:rPr lang="en-US" sz="3600" b="1" dirty="0">
                <a:solidFill>
                  <a:srgbClr val="FF5E5E"/>
                </a:solidFill>
                <a:latin typeface="Noto Sans SC" pitchFamily="34" charset="0"/>
                <a:ea typeface="Noto Sans SC" pitchFamily="34" charset="-122"/>
                <a:cs typeface="Noto Sans SC" pitchFamily="34" charset="-120"/>
              </a:rPr>
              <a:t>El Coste de la Recuperación</a:t>
            </a:r>
            <a:endParaRPr lang="en-US" sz="1600" dirty="0"/>
          </a:p>
        </p:txBody>
      </p:sp>
      <p:sp>
        <p:nvSpPr>
          <p:cNvPr id="3" name="Text 1"/>
          <p:cNvSpPr/>
          <p:nvPr/>
        </p:nvSpPr>
        <p:spPr>
          <a:xfrm>
            <a:off x="139700" y="2006600"/>
            <a:ext cx="11912600" cy="355600"/>
          </a:xfrm>
          <a:prstGeom prst="rect">
            <a:avLst/>
          </a:prstGeom>
          <a:noFill/>
          <a:ln/>
        </p:spPr>
        <p:txBody>
          <a:bodyPr wrap="square" lIns="0" tIns="0" rIns="0" bIns="0" rtlCol="0" anchor="ctr"/>
          <a:lstStyle/>
          <a:p>
            <a:pPr algn="ctr">
              <a:lnSpc>
                <a:spcPct val="130000"/>
              </a:lnSpc>
            </a:pPr>
            <a:r>
              <a:rPr lang="en-US" sz="1800" dirty="0">
                <a:solidFill>
                  <a:srgbClr val="333333"/>
                </a:solidFill>
                <a:latin typeface="MiSans" pitchFamily="34" charset="0"/>
                <a:ea typeface="MiSans" pitchFamily="34" charset="-122"/>
                <a:cs typeface="MiSans" pitchFamily="34" charset="-120"/>
              </a:rPr>
              <a:t>La reforma de 2012 mejoró la cantidad de empleo, pero a costa de su calidad.</a:t>
            </a:r>
            <a:endParaRPr lang="en-US" sz="1600" dirty="0"/>
          </a:p>
        </p:txBody>
      </p:sp>
      <p:sp>
        <p:nvSpPr>
          <p:cNvPr id="4" name="Shape 2"/>
          <p:cNvSpPr/>
          <p:nvPr/>
        </p:nvSpPr>
        <p:spPr>
          <a:xfrm>
            <a:off x="254000" y="2667000"/>
            <a:ext cx="5689600" cy="0"/>
          </a:xfrm>
          <a:prstGeom prst="line">
            <a:avLst/>
          </a:prstGeom>
          <a:noFill/>
          <a:ln w="50800">
            <a:solidFill>
              <a:srgbClr val="00AEEF"/>
            </a:solidFill>
            <a:prstDash val="solid"/>
            <a:headEnd type="none"/>
            <a:tailEnd type="none"/>
          </a:ln>
        </p:spPr>
        <p:txBody>
          <a:bodyPr/>
          <a:lstStyle/>
          <a:p>
            <a:endParaRPr lang="es-ES"/>
          </a:p>
        </p:txBody>
      </p:sp>
      <p:sp>
        <p:nvSpPr>
          <p:cNvPr id="5" name="Shape 3"/>
          <p:cNvSpPr/>
          <p:nvPr/>
        </p:nvSpPr>
        <p:spPr>
          <a:xfrm>
            <a:off x="254000" y="2667000"/>
            <a:ext cx="5689600" cy="2743200"/>
          </a:xfrm>
          <a:custGeom>
            <a:avLst/>
            <a:gdLst/>
            <a:ahLst/>
            <a:cxnLst/>
            <a:rect l="l" t="t" r="r" b="b"/>
            <a:pathLst>
              <a:path w="5689600" h="2743200">
                <a:moveTo>
                  <a:pt x="0" y="0"/>
                </a:moveTo>
                <a:lnTo>
                  <a:pt x="5689600" y="0"/>
                </a:lnTo>
                <a:lnTo>
                  <a:pt x="5689600" y="2641592"/>
                </a:lnTo>
                <a:cubicBezTo>
                  <a:pt x="5689600" y="2697708"/>
                  <a:pt x="5644108" y="2743200"/>
                  <a:pt x="5587992" y="2743200"/>
                </a:cubicBezTo>
                <a:lnTo>
                  <a:pt x="101608" y="2743200"/>
                </a:lnTo>
                <a:cubicBezTo>
                  <a:pt x="45492" y="2743200"/>
                  <a:pt x="0" y="2697708"/>
                  <a:pt x="0" y="2641592"/>
                </a:cubicBezTo>
                <a:lnTo>
                  <a:pt x="0" y="0"/>
                </a:lnTo>
                <a:close/>
              </a:path>
            </a:pathLst>
          </a:custGeom>
          <a:solidFill>
            <a:srgbClr val="00AEEF">
              <a:alpha val="10196"/>
            </a:srgbClr>
          </a:solidFill>
          <a:ln/>
        </p:spPr>
        <p:txBody>
          <a:bodyPr/>
          <a:lstStyle/>
          <a:p>
            <a:endParaRPr lang="es-ES"/>
          </a:p>
        </p:txBody>
      </p:sp>
      <p:sp>
        <p:nvSpPr>
          <p:cNvPr id="6" name="Text 4"/>
          <p:cNvSpPr/>
          <p:nvPr/>
        </p:nvSpPr>
        <p:spPr>
          <a:xfrm>
            <a:off x="508000" y="2971800"/>
            <a:ext cx="5435600" cy="355600"/>
          </a:xfrm>
          <a:prstGeom prst="rect">
            <a:avLst/>
          </a:prstGeom>
          <a:noFill/>
          <a:ln/>
        </p:spPr>
        <p:txBody>
          <a:bodyPr wrap="square" lIns="0" tIns="0" rIns="0" bIns="0" rtlCol="0" anchor="ctr"/>
          <a:lstStyle/>
          <a:p>
            <a:pPr>
              <a:lnSpc>
                <a:spcPct val="120000"/>
              </a:lnSpc>
            </a:pPr>
            <a:r>
              <a:rPr lang="en-US" sz="2000" b="1" dirty="0">
                <a:solidFill>
                  <a:srgbClr val="00AEEF"/>
                </a:solidFill>
                <a:latin typeface="Noto Sans SC" pitchFamily="34" charset="0"/>
                <a:ea typeface="Noto Sans SC" pitchFamily="34" charset="-122"/>
                <a:cs typeface="Noto Sans SC" pitchFamily="34" charset="-120"/>
              </a:rPr>
              <a:t>Impacto Positivo</a:t>
            </a:r>
            <a:endParaRPr lang="en-US" sz="1600" dirty="0"/>
          </a:p>
        </p:txBody>
      </p:sp>
      <p:sp>
        <p:nvSpPr>
          <p:cNvPr id="7" name="Text 5"/>
          <p:cNvSpPr/>
          <p:nvPr/>
        </p:nvSpPr>
        <p:spPr>
          <a:xfrm>
            <a:off x="508000" y="3479800"/>
            <a:ext cx="5181600" cy="508000"/>
          </a:xfrm>
          <a:prstGeom prst="rect">
            <a:avLst/>
          </a:prstGeom>
          <a:noFill/>
          <a:ln/>
        </p:spPr>
        <p:txBody>
          <a:bodyPr wrap="square" lIns="0" tIns="0" rIns="0" bIns="0" rtlCol="0" anchor="ctr"/>
          <a:lstStyle/>
          <a:p>
            <a:pPr>
              <a:lnSpc>
                <a:spcPct val="120000"/>
              </a:lnSpc>
            </a:pPr>
            <a:r>
              <a:rPr lang="en-US" sz="1400" b="1" dirty="0">
                <a:solidFill>
                  <a:srgbClr val="333333"/>
                </a:solidFill>
                <a:latin typeface="MiSans" pitchFamily="34" charset="0"/>
                <a:ea typeface="MiSans" pitchFamily="34" charset="-122"/>
                <a:cs typeface="MiSans" pitchFamily="34" charset="-120"/>
              </a:rPr>
              <a:t>Mayor creación de empleo:</a:t>
            </a:r>
            <a:r>
              <a:rPr lang="en-US" sz="1400" dirty="0">
                <a:solidFill>
                  <a:srgbClr val="333333"/>
                </a:solidFill>
                <a:latin typeface="MiSans" pitchFamily="34" charset="0"/>
                <a:ea typeface="MiSans" pitchFamily="34" charset="-122"/>
                <a:cs typeface="MiSans" pitchFamily="34" charset="-120"/>
              </a:rPr>
              <a:t> Se evitó la destrucción de ~1.8M de empleos (Fuente: FMI).</a:t>
            </a:r>
            <a:endParaRPr lang="en-US" sz="1600" dirty="0"/>
          </a:p>
        </p:txBody>
      </p:sp>
      <p:sp>
        <p:nvSpPr>
          <p:cNvPr id="8" name="Text 6"/>
          <p:cNvSpPr/>
          <p:nvPr/>
        </p:nvSpPr>
        <p:spPr>
          <a:xfrm>
            <a:off x="508000" y="4089400"/>
            <a:ext cx="5181600" cy="508000"/>
          </a:xfrm>
          <a:prstGeom prst="rect">
            <a:avLst/>
          </a:prstGeom>
          <a:noFill/>
          <a:ln/>
        </p:spPr>
        <p:txBody>
          <a:bodyPr wrap="square" lIns="0" tIns="0" rIns="0" bIns="0" rtlCol="0" anchor="ctr"/>
          <a:lstStyle/>
          <a:p>
            <a:pPr>
              <a:lnSpc>
                <a:spcPct val="120000"/>
              </a:lnSpc>
            </a:pPr>
            <a:r>
              <a:rPr lang="en-US" sz="1400" b="1" dirty="0">
                <a:solidFill>
                  <a:srgbClr val="333333"/>
                </a:solidFill>
                <a:latin typeface="MiSans" pitchFamily="34" charset="0"/>
                <a:ea typeface="MiSans" pitchFamily="34" charset="-122"/>
                <a:cs typeface="MiSans" pitchFamily="34" charset="-120"/>
              </a:rPr>
              <a:t>Mejora de la igualdad:</a:t>
            </a:r>
            <a:r>
              <a:rPr lang="en-US" sz="1400" dirty="0">
                <a:solidFill>
                  <a:srgbClr val="333333"/>
                </a:solidFill>
                <a:latin typeface="MiSans" pitchFamily="34" charset="0"/>
                <a:ea typeface="MiSans" pitchFamily="34" charset="-122"/>
                <a:cs typeface="MiSans" pitchFamily="34" charset="-120"/>
              </a:rPr>
              <a:t> Reducción del coeficiente de Gini al pasar de "sin empleo" a "con empleo".</a:t>
            </a:r>
            <a:endParaRPr lang="en-US" sz="1600" dirty="0"/>
          </a:p>
        </p:txBody>
      </p:sp>
      <p:sp>
        <p:nvSpPr>
          <p:cNvPr id="9" name="Shape 7"/>
          <p:cNvSpPr/>
          <p:nvPr/>
        </p:nvSpPr>
        <p:spPr>
          <a:xfrm>
            <a:off x="6248400" y="2667000"/>
            <a:ext cx="5689600" cy="0"/>
          </a:xfrm>
          <a:prstGeom prst="line">
            <a:avLst/>
          </a:prstGeom>
          <a:noFill/>
          <a:ln w="50800">
            <a:solidFill>
              <a:srgbClr val="FF5E5E"/>
            </a:solidFill>
            <a:prstDash val="solid"/>
            <a:headEnd type="none"/>
            <a:tailEnd type="none"/>
          </a:ln>
        </p:spPr>
        <p:txBody>
          <a:bodyPr/>
          <a:lstStyle/>
          <a:p>
            <a:endParaRPr lang="es-ES"/>
          </a:p>
        </p:txBody>
      </p:sp>
      <p:sp>
        <p:nvSpPr>
          <p:cNvPr id="10" name="Shape 8"/>
          <p:cNvSpPr/>
          <p:nvPr/>
        </p:nvSpPr>
        <p:spPr>
          <a:xfrm>
            <a:off x="6248400" y="2667000"/>
            <a:ext cx="5689600" cy="2743200"/>
          </a:xfrm>
          <a:custGeom>
            <a:avLst/>
            <a:gdLst/>
            <a:ahLst/>
            <a:cxnLst/>
            <a:rect l="l" t="t" r="r" b="b"/>
            <a:pathLst>
              <a:path w="5689600" h="2743200">
                <a:moveTo>
                  <a:pt x="0" y="0"/>
                </a:moveTo>
                <a:lnTo>
                  <a:pt x="5689600" y="0"/>
                </a:lnTo>
                <a:lnTo>
                  <a:pt x="5689600" y="2641592"/>
                </a:lnTo>
                <a:cubicBezTo>
                  <a:pt x="5689600" y="2697708"/>
                  <a:pt x="5644108" y="2743200"/>
                  <a:pt x="5587992" y="2743200"/>
                </a:cubicBezTo>
                <a:lnTo>
                  <a:pt x="101608" y="2743200"/>
                </a:lnTo>
                <a:cubicBezTo>
                  <a:pt x="45492" y="2743200"/>
                  <a:pt x="0" y="2697708"/>
                  <a:pt x="0" y="2641592"/>
                </a:cubicBezTo>
                <a:lnTo>
                  <a:pt x="0" y="0"/>
                </a:lnTo>
                <a:close/>
              </a:path>
            </a:pathLst>
          </a:custGeom>
          <a:solidFill>
            <a:srgbClr val="FF5E5E">
              <a:alpha val="10196"/>
            </a:srgbClr>
          </a:solidFill>
          <a:ln/>
        </p:spPr>
        <p:txBody>
          <a:bodyPr/>
          <a:lstStyle/>
          <a:p>
            <a:endParaRPr lang="es-ES"/>
          </a:p>
        </p:txBody>
      </p:sp>
      <p:sp>
        <p:nvSpPr>
          <p:cNvPr id="11" name="Text 9"/>
          <p:cNvSpPr/>
          <p:nvPr/>
        </p:nvSpPr>
        <p:spPr>
          <a:xfrm>
            <a:off x="6502400" y="2971800"/>
            <a:ext cx="5435600" cy="355600"/>
          </a:xfrm>
          <a:prstGeom prst="rect">
            <a:avLst/>
          </a:prstGeom>
          <a:noFill/>
          <a:ln/>
        </p:spPr>
        <p:txBody>
          <a:bodyPr wrap="square" lIns="0" tIns="0" rIns="0" bIns="0" rtlCol="0" anchor="ctr"/>
          <a:lstStyle/>
          <a:p>
            <a:pPr>
              <a:lnSpc>
                <a:spcPct val="120000"/>
              </a:lnSpc>
            </a:pPr>
            <a:r>
              <a:rPr lang="en-US" sz="2000" b="1" dirty="0">
                <a:solidFill>
                  <a:srgbClr val="FF5E5E"/>
                </a:solidFill>
                <a:latin typeface="Noto Sans SC" pitchFamily="34" charset="0"/>
                <a:ea typeface="Noto Sans SC" pitchFamily="34" charset="-122"/>
                <a:cs typeface="Noto Sans SC" pitchFamily="34" charset="-120"/>
              </a:rPr>
              <a:t>Impacto Negativo</a:t>
            </a:r>
            <a:endParaRPr lang="en-US" sz="1600" dirty="0"/>
          </a:p>
        </p:txBody>
      </p:sp>
      <p:sp>
        <p:nvSpPr>
          <p:cNvPr id="12" name="Text 10"/>
          <p:cNvSpPr/>
          <p:nvPr/>
        </p:nvSpPr>
        <p:spPr>
          <a:xfrm>
            <a:off x="6502400" y="3479800"/>
            <a:ext cx="5181600" cy="508000"/>
          </a:xfrm>
          <a:prstGeom prst="rect">
            <a:avLst/>
          </a:prstGeom>
          <a:noFill/>
          <a:ln/>
        </p:spPr>
        <p:txBody>
          <a:bodyPr wrap="square" lIns="0" tIns="0" rIns="0" bIns="0" rtlCol="0" anchor="ctr"/>
          <a:lstStyle/>
          <a:p>
            <a:pPr>
              <a:lnSpc>
                <a:spcPct val="120000"/>
              </a:lnSpc>
            </a:pPr>
            <a:r>
              <a:rPr lang="en-US" sz="1400" b="1" dirty="0">
                <a:solidFill>
                  <a:srgbClr val="333333"/>
                </a:solidFill>
                <a:latin typeface="MiSans" pitchFamily="34" charset="0"/>
                <a:ea typeface="MiSans" pitchFamily="34" charset="-122"/>
                <a:cs typeface="MiSans" pitchFamily="34" charset="-120"/>
              </a:rPr>
              <a:t>Deterioro de horas medias:</a:t>
            </a:r>
            <a:r>
              <a:rPr lang="en-US" sz="1400" dirty="0">
                <a:solidFill>
                  <a:srgbClr val="333333"/>
                </a:solidFill>
                <a:latin typeface="MiSans" pitchFamily="34" charset="0"/>
                <a:ea typeface="MiSans" pitchFamily="34" charset="-122"/>
                <a:cs typeface="MiSans" pitchFamily="34" charset="-120"/>
              </a:rPr>
              <a:t> Empleos de menor intensidad.</a:t>
            </a:r>
            <a:endParaRPr lang="en-US" sz="1600" dirty="0"/>
          </a:p>
        </p:txBody>
      </p:sp>
      <p:sp>
        <p:nvSpPr>
          <p:cNvPr id="13" name="Text 11"/>
          <p:cNvSpPr/>
          <p:nvPr/>
        </p:nvSpPr>
        <p:spPr>
          <a:xfrm>
            <a:off x="6502400" y="4089400"/>
            <a:ext cx="5181600" cy="508000"/>
          </a:xfrm>
          <a:prstGeom prst="rect">
            <a:avLst/>
          </a:prstGeom>
          <a:noFill/>
          <a:ln/>
        </p:spPr>
        <p:txBody>
          <a:bodyPr wrap="square" lIns="0" tIns="0" rIns="0" bIns="0" rtlCol="0" anchor="ctr"/>
          <a:lstStyle/>
          <a:p>
            <a:pPr>
              <a:lnSpc>
                <a:spcPct val="120000"/>
              </a:lnSpc>
            </a:pPr>
            <a:r>
              <a:rPr lang="en-US" sz="1400" b="1" dirty="0">
                <a:solidFill>
                  <a:srgbClr val="333333"/>
                </a:solidFill>
                <a:latin typeface="MiSans" pitchFamily="34" charset="0"/>
                <a:ea typeface="MiSans" pitchFamily="34" charset="-122"/>
                <a:cs typeface="MiSans" pitchFamily="34" charset="-120"/>
              </a:rPr>
              <a:t>Aumento de la pobreza laboral:</a:t>
            </a:r>
            <a:r>
              <a:rPr lang="en-US" sz="1400" dirty="0">
                <a:solidFill>
                  <a:srgbClr val="333333"/>
                </a:solidFill>
                <a:latin typeface="MiSans" pitchFamily="34" charset="0"/>
                <a:ea typeface="MiSans" pitchFamily="34" charset="-122"/>
                <a:cs typeface="MiSans" pitchFamily="34" charset="-120"/>
              </a:rPr>
              <a:t> Trabajar ya no garantiza salir de la pobreza.</a:t>
            </a:r>
            <a:endParaRPr lang="en-US" sz="1600" dirty="0"/>
          </a:p>
        </p:txBody>
      </p:sp>
      <p:sp>
        <p:nvSpPr>
          <p:cNvPr id="14" name="Text 12"/>
          <p:cNvSpPr/>
          <p:nvPr/>
        </p:nvSpPr>
        <p:spPr>
          <a:xfrm>
            <a:off x="6502400" y="4699000"/>
            <a:ext cx="5181600" cy="508000"/>
          </a:xfrm>
          <a:prstGeom prst="rect">
            <a:avLst/>
          </a:prstGeom>
          <a:noFill/>
          <a:ln/>
        </p:spPr>
        <p:txBody>
          <a:bodyPr wrap="square" lIns="0" tIns="0" rIns="0" bIns="0" rtlCol="0" anchor="ctr"/>
          <a:lstStyle/>
          <a:p>
            <a:pPr>
              <a:lnSpc>
                <a:spcPct val="120000"/>
              </a:lnSpc>
            </a:pPr>
            <a:r>
              <a:rPr lang="en-US" sz="1400" b="1" dirty="0">
                <a:solidFill>
                  <a:srgbClr val="333333"/>
                </a:solidFill>
                <a:latin typeface="MiSans" pitchFamily="34" charset="0"/>
                <a:ea typeface="MiSans" pitchFamily="34" charset="-122"/>
                <a:cs typeface="MiSans" pitchFamily="34" charset="-120"/>
              </a:rPr>
              <a:t>Fracaso en la dualidad:</a:t>
            </a:r>
            <a:r>
              <a:rPr lang="en-US" sz="1400" dirty="0">
                <a:solidFill>
                  <a:srgbClr val="333333"/>
                </a:solidFill>
                <a:latin typeface="MiSans" pitchFamily="34" charset="0"/>
                <a:ea typeface="MiSans" pitchFamily="34" charset="-122"/>
                <a:cs typeface="MiSans" pitchFamily="34" charset="-120"/>
              </a:rPr>
              <a:t> Probabilidad de temporalidad siguió siendo 5x mayor.</a:t>
            </a:r>
            <a:endParaRPr lang="en-US" sz="1600" dirty="0"/>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8-27-19:57:41-d2nf5d98bjvh7rlivsmg.png"/>
          <p:cNvPicPr>
            <a:picLocks noChangeAspect="1"/>
          </p:cNvPicPr>
          <p:nvPr/>
        </p:nvPicPr>
        <p:blipFill>
          <a:blip r:embed="rId3"/>
          <a:stretch>
            <a:fillRect/>
          </a:stretch>
        </p:blipFill>
        <p:spPr>
          <a:xfrm>
            <a:off x="4558665" y="1141095"/>
            <a:ext cx="3619500" cy="3912870"/>
          </a:xfrm>
          <a:prstGeom prst="rect">
            <a:avLst/>
          </a:prstGeom>
        </p:spPr>
      </p:pic>
      <p:sp>
        <p:nvSpPr>
          <p:cNvPr id="3" name="Shape 0"/>
          <p:cNvSpPr/>
          <p:nvPr/>
        </p:nvSpPr>
        <p:spPr>
          <a:xfrm>
            <a:off x="2047240" y="5053965"/>
            <a:ext cx="8642985" cy="1199515"/>
          </a:xfrm>
          <a:prstGeom prst="roundRect">
            <a:avLst>
              <a:gd name="adj" fmla="val 50000"/>
            </a:avLst>
          </a:prstGeom>
          <a:solidFill>
            <a:srgbClr val="00B0F0"/>
          </a:solidFill>
          <a:ln w="57150">
            <a:solidFill>
              <a:srgbClr val="FFFFFF">
                <a:alpha val="0"/>
              </a:srgbClr>
            </a:solidFill>
            <a:prstDash val="solid"/>
          </a:ln>
        </p:spPr>
        <p:txBody>
          <a:bodyPr/>
          <a:lstStyle/>
          <a:p>
            <a:endParaRPr lang="es-ES"/>
          </a:p>
        </p:txBody>
      </p:sp>
      <p:sp>
        <p:nvSpPr>
          <p:cNvPr id="4" name="Text 1"/>
          <p:cNvSpPr/>
          <p:nvPr/>
        </p:nvSpPr>
        <p:spPr>
          <a:xfrm>
            <a:off x="2047240" y="5053965"/>
            <a:ext cx="8642985" cy="1199515"/>
          </a:xfrm>
          <a:prstGeom prst="rect">
            <a:avLst/>
          </a:prstGeom>
          <a:noFill/>
          <a:ln/>
        </p:spPr>
        <p:txBody>
          <a:bodyPr wrap="square" lIns="45720" tIns="91440" rIns="91440" bIns="45720" rtlCol="0" anchor="ctr"/>
          <a:lstStyle/>
          <a:p>
            <a:pPr>
              <a:lnSpc>
                <a:spcPct val="100000"/>
              </a:lnSpc>
            </a:pPr>
            <a:endParaRPr lang="en-US" sz="1600" dirty="0"/>
          </a:p>
        </p:txBody>
      </p:sp>
      <p:sp>
        <p:nvSpPr>
          <p:cNvPr id="5" name="Shape 2"/>
          <p:cNvSpPr/>
          <p:nvPr/>
        </p:nvSpPr>
        <p:spPr>
          <a:xfrm>
            <a:off x="1920240" y="4884420"/>
            <a:ext cx="8642985" cy="1199515"/>
          </a:xfrm>
          <a:prstGeom prst="roundRect">
            <a:avLst>
              <a:gd name="adj" fmla="val 50000"/>
            </a:avLst>
          </a:prstGeom>
          <a:solidFill>
            <a:srgbClr val="FFFFFF"/>
          </a:solidFill>
          <a:ln w="57150">
            <a:solidFill>
              <a:srgbClr val="000000"/>
            </a:solidFill>
            <a:prstDash val="solid"/>
          </a:ln>
        </p:spPr>
        <p:txBody>
          <a:bodyPr/>
          <a:lstStyle/>
          <a:p>
            <a:endParaRPr lang="es-ES"/>
          </a:p>
        </p:txBody>
      </p:sp>
      <p:sp>
        <p:nvSpPr>
          <p:cNvPr id="6" name="Text 3"/>
          <p:cNvSpPr/>
          <p:nvPr/>
        </p:nvSpPr>
        <p:spPr>
          <a:xfrm>
            <a:off x="1920240" y="4884420"/>
            <a:ext cx="8642985" cy="1199515"/>
          </a:xfrm>
          <a:prstGeom prst="rect">
            <a:avLst/>
          </a:prstGeom>
          <a:noFill/>
          <a:ln/>
        </p:spPr>
        <p:txBody>
          <a:bodyPr wrap="square" lIns="45720" tIns="91440" rIns="91440" bIns="45720" rtlCol="0" anchor="ctr"/>
          <a:lstStyle/>
          <a:p>
            <a:pPr>
              <a:lnSpc>
                <a:spcPct val="100000"/>
              </a:lnSpc>
            </a:pPr>
            <a:endParaRPr lang="en-US" sz="1600" dirty="0"/>
          </a:p>
        </p:txBody>
      </p:sp>
      <p:sp>
        <p:nvSpPr>
          <p:cNvPr id="7" name="Text 4"/>
          <p:cNvSpPr/>
          <p:nvPr/>
        </p:nvSpPr>
        <p:spPr>
          <a:xfrm>
            <a:off x="1920240" y="5045710"/>
            <a:ext cx="8643620" cy="828675"/>
          </a:xfrm>
          <a:prstGeom prst="rect">
            <a:avLst/>
          </a:prstGeom>
          <a:noFill/>
          <a:ln/>
        </p:spPr>
        <p:txBody>
          <a:bodyPr wrap="square" lIns="91440" tIns="45720" rIns="91440" bIns="45720" rtlCol="0" anchor="ctr">
            <a:spAutoFit/>
          </a:bodyPr>
          <a:lstStyle/>
          <a:p>
            <a:pPr algn="ctr">
              <a:lnSpc>
                <a:spcPct val="100000"/>
              </a:lnSpc>
            </a:pPr>
            <a:r>
              <a:rPr lang="en-US" sz="5400" b="1" dirty="0">
                <a:solidFill>
                  <a:srgbClr val="000000"/>
                </a:solidFill>
                <a:latin typeface="MiSans" pitchFamily="34" charset="0"/>
                <a:ea typeface="MiSans" pitchFamily="34" charset="-122"/>
                <a:cs typeface="MiSans" pitchFamily="34" charset="-120"/>
              </a:rPr>
              <a:t>Reforma 2021</a:t>
            </a:r>
            <a:endParaRPr lang="en-US" sz="1600" dirty="0"/>
          </a:p>
        </p:txBody>
      </p:sp>
      <p:sp>
        <p:nvSpPr>
          <p:cNvPr id="8" name="Text 5"/>
          <p:cNvSpPr/>
          <p:nvPr/>
        </p:nvSpPr>
        <p:spPr>
          <a:xfrm>
            <a:off x="3447415" y="256898"/>
            <a:ext cx="5640070" cy="1107996"/>
          </a:xfrm>
          <a:prstGeom prst="rect">
            <a:avLst/>
          </a:prstGeom>
          <a:noFill/>
          <a:ln/>
        </p:spPr>
        <p:txBody>
          <a:bodyPr wrap="square" lIns="91440" tIns="45720" rIns="91440" bIns="45720" rtlCol="0" anchor="ctr">
            <a:spAutoFit/>
          </a:bodyPr>
          <a:lstStyle/>
          <a:p>
            <a:pPr algn="ctr">
              <a:lnSpc>
                <a:spcPct val="100000"/>
              </a:lnSpc>
            </a:pPr>
            <a:r>
              <a:rPr lang="en-US" sz="6600" b="1" dirty="0">
                <a:solidFill>
                  <a:srgbClr val="000000"/>
                </a:solidFill>
                <a:latin typeface="MiSans" pitchFamily="34" charset="0"/>
                <a:ea typeface="MiSans" pitchFamily="34" charset="-122"/>
                <a:cs typeface="MiSans" pitchFamily="34" charset="-120"/>
              </a:rPr>
              <a:t>PARTE  6.3</a:t>
            </a:r>
            <a:endParaRPr lang="en-US" sz="1600" dirty="0"/>
          </a:p>
        </p:txBody>
      </p:sp>
      <p:sp>
        <p:nvSpPr>
          <p:cNvPr id="9" name="Shape 6"/>
          <p:cNvSpPr/>
          <p:nvPr/>
        </p:nvSpPr>
        <p:spPr>
          <a:xfrm>
            <a:off x="291465" y="6075045"/>
            <a:ext cx="607496" cy="0"/>
          </a:xfrm>
          <a:prstGeom prst="line">
            <a:avLst/>
          </a:prstGeom>
          <a:noFill/>
          <a:ln w="57150">
            <a:solidFill>
              <a:srgbClr val="00B0F0"/>
            </a:solidFill>
            <a:prstDash val="solid"/>
            <a:headEnd type="none"/>
            <a:tailEnd type="none"/>
          </a:ln>
        </p:spPr>
        <p:txBody>
          <a:bodyPr/>
          <a:lstStyle/>
          <a:p>
            <a:endParaRPr lang="es-ES"/>
          </a:p>
        </p:txBody>
      </p:sp>
      <p:sp>
        <p:nvSpPr>
          <p:cNvPr id="10" name="Shape 7"/>
          <p:cNvSpPr/>
          <p:nvPr/>
        </p:nvSpPr>
        <p:spPr>
          <a:xfrm>
            <a:off x="291465" y="6308725"/>
            <a:ext cx="607496" cy="0"/>
          </a:xfrm>
          <a:prstGeom prst="line">
            <a:avLst/>
          </a:prstGeom>
          <a:noFill/>
          <a:ln w="57150">
            <a:solidFill>
              <a:srgbClr val="00B0F0"/>
            </a:solidFill>
            <a:prstDash val="solid"/>
            <a:headEnd type="none"/>
            <a:tailEnd type="none"/>
          </a:ln>
        </p:spPr>
        <p:txBody>
          <a:bodyPr/>
          <a:lstStyle/>
          <a:p>
            <a:endParaRPr lang="es-ES"/>
          </a:p>
        </p:txBody>
      </p:sp>
      <p:sp>
        <p:nvSpPr>
          <p:cNvPr id="11" name="Shape 8"/>
          <p:cNvSpPr/>
          <p:nvPr/>
        </p:nvSpPr>
        <p:spPr>
          <a:xfrm>
            <a:off x="291465" y="6542405"/>
            <a:ext cx="607496" cy="0"/>
          </a:xfrm>
          <a:prstGeom prst="line">
            <a:avLst/>
          </a:prstGeom>
          <a:noFill/>
          <a:ln w="57150">
            <a:solidFill>
              <a:srgbClr val="00B0F0"/>
            </a:solidFill>
            <a:prstDash val="solid"/>
            <a:headEnd type="none"/>
            <a:tailEnd type="none"/>
          </a:ln>
        </p:spPr>
        <p:txBody>
          <a:bodyPr/>
          <a:lstStyle/>
          <a:p>
            <a:endParaRPr lang="es-ES"/>
          </a:p>
        </p:txBody>
      </p:sp>
      <p:sp>
        <p:nvSpPr>
          <p:cNvPr id="12" name="Shape 9"/>
          <p:cNvSpPr/>
          <p:nvPr/>
        </p:nvSpPr>
        <p:spPr>
          <a:xfrm>
            <a:off x="291465" y="202565"/>
            <a:ext cx="337185" cy="337185"/>
          </a:xfrm>
          <a:prstGeom prst="ellipse">
            <a:avLst/>
          </a:prstGeom>
          <a:solidFill>
            <a:srgbClr val="FFFFFF"/>
          </a:solidFill>
          <a:ln w="19050">
            <a:solidFill>
              <a:srgbClr val="00B0F0"/>
            </a:solidFill>
            <a:prstDash val="solid"/>
          </a:ln>
        </p:spPr>
        <p:txBody>
          <a:bodyPr/>
          <a:lstStyle/>
          <a:p>
            <a:endParaRPr lang="es-ES"/>
          </a:p>
        </p:txBody>
      </p:sp>
      <p:sp>
        <p:nvSpPr>
          <p:cNvPr id="13" name="Text 10"/>
          <p:cNvSpPr/>
          <p:nvPr/>
        </p:nvSpPr>
        <p:spPr>
          <a:xfrm>
            <a:off x="291465" y="202565"/>
            <a:ext cx="337185" cy="337185"/>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1"/>
          <p:cNvSpPr/>
          <p:nvPr/>
        </p:nvSpPr>
        <p:spPr>
          <a:xfrm>
            <a:off x="1251585" y="202565"/>
            <a:ext cx="337185" cy="337185"/>
          </a:xfrm>
          <a:prstGeom prst="ellipse">
            <a:avLst/>
          </a:prstGeom>
          <a:solidFill>
            <a:srgbClr val="FFFFFF"/>
          </a:solidFill>
          <a:ln w="19050">
            <a:solidFill>
              <a:srgbClr val="00B0F0"/>
            </a:solidFill>
            <a:prstDash val="solid"/>
          </a:ln>
        </p:spPr>
        <p:txBody>
          <a:bodyPr/>
          <a:lstStyle/>
          <a:p>
            <a:endParaRPr lang="es-ES"/>
          </a:p>
        </p:txBody>
      </p:sp>
      <p:sp>
        <p:nvSpPr>
          <p:cNvPr id="15" name="Text 12"/>
          <p:cNvSpPr/>
          <p:nvPr/>
        </p:nvSpPr>
        <p:spPr>
          <a:xfrm>
            <a:off x="1251585" y="202565"/>
            <a:ext cx="337185" cy="337185"/>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3"/>
          <p:cNvSpPr/>
          <p:nvPr/>
        </p:nvSpPr>
        <p:spPr>
          <a:xfrm>
            <a:off x="771525" y="202565"/>
            <a:ext cx="337185" cy="337185"/>
          </a:xfrm>
          <a:prstGeom prst="ellipse">
            <a:avLst/>
          </a:prstGeom>
          <a:solidFill>
            <a:srgbClr val="00B0F0"/>
          </a:solidFill>
          <a:ln w="19050">
            <a:solidFill>
              <a:srgbClr val="FFFFFF"/>
            </a:solidFill>
            <a:prstDash val="solid"/>
          </a:ln>
        </p:spPr>
        <p:txBody>
          <a:bodyPr/>
          <a:lstStyle/>
          <a:p>
            <a:endParaRPr lang="es-ES"/>
          </a:p>
        </p:txBody>
      </p:sp>
      <p:sp>
        <p:nvSpPr>
          <p:cNvPr id="17" name="Text 14"/>
          <p:cNvSpPr/>
          <p:nvPr/>
        </p:nvSpPr>
        <p:spPr>
          <a:xfrm>
            <a:off x="771525" y="202565"/>
            <a:ext cx="337185" cy="337185"/>
          </a:xfrm>
          <a:prstGeom prst="rect">
            <a:avLst/>
          </a:prstGeom>
          <a:noFill/>
          <a:ln/>
        </p:spPr>
        <p:txBody>
          <a:bodyPr wrap="square" lIns="45720" tIns="91440" rIns="91440" bIns="45720" rtlCol="0" anchor="ctr"/>
          <a:lstStyle/>
          <a:p>
            <a:pPr>
              <a:lnSpc>
                <a:spcPct val="100000"/>
              </a:lnSpc>
            </a:pPr>
            <a:endParaRPr lang="en-US" sz="1600" dirty="0"/>
          </a:p>
        </p:txBody>
      </p:sp>
      <p:sp>
        <p:nvSpPr>
          <p:cNvPr id="18" name="Shape 15"/>
          <p:cNvSpPr/>
          <p:nvPr/>
        </p:nvSpPr>
        <p:spPr>
          <a:xfrm>
            <a:off x="1731645" y="202565"/>
            <a:ext cx="337185" cy="337185"/>
          </a:xfrm>
          <a:prstGeom prst="ellipse">
            <a:avLst/>
          </a:prstGeom>
          <a:solidFill>
            <a:srgbClr val="00B0F0"/>
          </a:solidFill>
          <a:ln w="19050">
            <a:solidFill>
              <a:srgbClr val="FFFFFF"/>
            </a:solidFill>
            <a:prstDash val="solid"/>
          </a:ln>
        </p:spPr>
        <p:txBody>
          <a:bodyPr/>
          <a:lstStyle/>
          <a:p>
            <a:endParaRPr lang="es-ES"/>
          </a:p>
        </p:txBody>
      </p:sp>
      <p:sp>
        <p:nvSpPr>
          <p:cNvPr id="19" name="Text 16"/>
          <p:cNvSpPr/>
          <p:nvPr/>
        </p:nvSpPr>
        <p:spPr>
          <a:xfrm>
            <a:off x="1731645" y="202565"/>
            <a:ext cx="337185" cy="337185"/>
          </a:xfrm>
          <a:prstGeom prst="rect">
            <a:avLst/>
          </a:prstGeom>
          <a:noFill/>
          <a:ln/>
        </p:spPr>
        <p:txBody>
          <a:bodyPr wrap="square" lIns="45720" tIns="91440" rIns="91440" bIns="45720" rtlCol="0" anchor="ctr"/>
          <a:lstStyle/>
          <a:p>
            <a:pPr>
              <a:lnSpc>
                <a:spcPct val="100000"/>
              </a:lnSpc>
            </a:pPr>
            <a:endParaRPr lang="en-US" sz="1600" dirty="0"/>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54000" y="965200"/>
            <a:ext cx="5892800" cy="508000"/>
          </a:xfrm>
          <a:prstGeom prst="rect">
            <a:avLst/>
          </a:prstGeom>
          <a:noFill/>
          <a:ln/>
        </p:spPr>
        <p:txBody>
          <a:bodyPr wrap="square" lIns="0" tIns="0" rIns="0" bIns="0" rtlCol="0" anchor="ctr"/>
          <a:lstStyle/>
          <a:p>
            <a:pPr>
              <a:lnSpc>
                <a:spcPct val="90000"/>
              </a:lnSpc>
            </a:pPr>
            <a:r>
              <a:rPr lang="en-US" sz="3600" b="1" dirty="0">
                <a:solidFill>
                  <a:srgbClr val="00AEEF"/>
                </a:solidFill>
                <a:latin typeface="Noto Sans SC" pitchFamily="34" charset="0"/>
                <a:ea typeface="Noto Sans SC" pitchFamily="34" charset="-122"/>
                <a:cs typeface="Noto Sans SC" pitchFamily="34" charset="-120"/>
              </a:rPr>
              <a:t>Reforma de 2021</a:t>
            </a:r>
            <a:endParaRPr lang="en-US" sz="1600" dirty="0"/>
          </a:p>
        </p:txBody>
      </p:sp>
      <p:sp>
        <p:nvSpPr>
          <p:cNvPr id="3" name="Text 1"/>
          <p:cNvSpPr/>
          <p:nvPr/>
        </p:nvSpPr>
        <p:spPr>
          <a:xfrm>
            <a:off x="254000" y="1524000"/>
            <a:ext cx="5740400" cy="406400"/>
          </a:xfrm>
          <a:prstGeom prst="rect">
            <a:avLst/>
          </a:prstGeom>
          <a:noFill/>
          <a:ln/>
        </p:spPr>
        <p:txBody>
          <a:bodyPr wrap="square" lIns="0" tIns="0" rIns="0" bIns="0" rtlCol="0" anchor="ctr"/>
          <a:lstStyle/>
          <a:p>
            <a:pPr>
              <a:lnSpc>
                <a:spcPct val="110000"/>
              </a:lnSpc>
            </a:pPr>
            <a:r>
              <a:rPr lang="en-US" sz="2400" b="1" dirty="0">
                <a:solidFill>
                  <a:srgbClr val="4080FF"/>
                </a:solidFill>
                <a:latin typeface="Noto Sans SC" pitchFamily="34" charset="0"/>
                <a:ea typeface="Noto Sans SC" pitchFamily="34" charset="-122"/>
                <a:cs typeface="Noto Sans SC" pitchFamily="34" charset="-120"/>
              </a:rPr>
              <a:t>Un Éxito Rotundo en la Etiqueta</a:t>
            </a:r>
            <a:endParaRPr lang="en-US" sz="1600" dirty="0"/>
          </a:p>
        </p:txBody>
      </p:sp>
      <p:sp>
        <p:nvSpPr>
          <p:cNvPr id="4" name="Text 2"/>
          <p:cNvSpPr/>
          <p:nvPr/>
        </p:nvSpPr>
        <p:spPr>
          <a:xfrm>
            <a:off x="254000" y="2133442"/>
            <a:ext cx="5435600" cy="914400"/>
          </a:xfrm>
          <a:prstGeom prst="rect">
            <a:avLst/>
          </a:prstGeom>
          <a:noFill/>
          <a:ln/>
        </p:spPr>
        <p:txBody>
          <a:bodyPr wrap="square" lIns="0" tIns="0" rIns="0" bIns="0" rtlCol="0" anchor="ctr"/>
          <a:lstStyle/>
          <a:p>
            <a:pPr>
              <a:lnSpc>
                <a:spcPct val="130000"/>
              </a:lnSpc>
            </a:pPr>
            <a:r>
              <a:rPr lang="en-US" sz="1600" dirty="0">
                <a:solidFill>
                  <a:srgbClr val="333333"/>
                </a:solidFill>
                <a:latin typeface="MiSans" pitchFamily="34" charset="0"/>
                <a:ea typeface="MiSans" pitchFamily="34" charset="-122"/>
                <a:cs typeface="MiSans" pitchFamily="34" charset="-120"/>
              </a:rPr>
              <a:t>La estrategia de prohibir la temporalidad logró su objetivo principal: una caída histórica en la tasa de temporalidad contractual.</a:t>
            </a:r>
            <a:endParaRPr lang="en-US" sz="1600" dirty="0"/>
          </a:p>
        </p:txBody>
      </p:sp>
      <p:sp>
        <p:nvSpPr>
          <p:cNvPr id="5" name="Shape 3"/>
          <p:cNvSpPr/>
          <p:nvPr/>
        </p:nvSpPr>
        <p:spPr>
          <a:xfrm>
            <a:off x="254000" y="3352642"/>
            <a:ext cx="5435600" cy="1168400"/>
          </a:xfrm>
          <a:custGeom>
            <a:avLst/>
            <a:gdLst/>
            <a:ahLst/>
            <a:cxnLst/>
            <a:rect l="l" t="t" r="r" b="b"/>
            <a:pathLst>
              <a:path w="5435600" h="1168400">
                <a:moveTo>
                  <a:pt x="101604" y="0"/>
                </a:moveTo>
                <a:lnTo>
                  <a:pt x="5333996" y="0"/>
                </a:lnTo>
                <a:cubicBezTo>
                  <a:pt x="5390110" y="0"/>
                  <a:pt x="5435600" y="45490"/>
                  <a:pt x="5435600" y="101604"/>
                </a:cubicBezTo>
                <a:lnTo>
                  <a:pt x="5435600" y="1066796"/>
                </a:lnTo>
                <a:cubicBezTo>
                  <a:pt x="5435600" y="1122910"/>
                  <a:pt x="5390110" y="1168400"/>
                  <a:pt x="5333996" y="1168400"/>
                </a:cubicBezTo>
                <a:lnTo>
                  <a:pt x="101604" y="1168400"/>
                </a:lnTo>
                <a:cubicBezTo>
                  <a:pt x="45490" y="1168400"/>
                  <a:pt x="0" y="1122910"/>
                  <a:pt x="0" y="1066796"/>
                </a:cubicBezTo>
                <a:lnTo>
                  <a:pt x="0" y="101604"/>
                </a:lnTo>
                <a:cubicBezTo>
                  <a:pt x="0" y="45527"/>
                  <a:pt x="45527" y="0"/>
                  <a:pt x="101604" y="0"/>
                </a:cubicBezTo>
                <a:close/>
              </a:path>
            </a:pathLst>
          </a:custGeom>
          <a:solidFill>
            <a:srgbClr val="00AEEF">
              <a:alpha val="10196"/>
            </a:srgbClr>
          </a:solidFill>
          <a:ln/>
        </p:spPr>
        <p:txBody>
          <a:bodyPr/>
          <a:lstStyle/>
          <a:p>
            <a:endParaRPr lang="es-ES"/>
          </a:p>
        </p:txBody>
      </p:sp>
      <p:sp>
        <p:nvSpPr>
          <p:cNvPr id="6" name="Text 4"/>
          <p:cNvSpPr/>
          <p:nvPr/>
        </p:nvSpPr>
        <p:spPr>
          <a:xfrm>
            <a:off x="406400" y="3505042"/>
            <a:ext cx="5359400" cy="355600"/>
          </a:xfrm>
          <a:prstGeom prst="rect">
            <a:avLst/>
          </a:prstGeom>
          <a:noFill/>
          <a:ln/>
        </p:spPr>
        <p:txBody>
          <a:bodyPr wrap="square" lIns="0" tIns="0" rIns="0" bIns="0" rtlCol="0" anchor="ctr"/>
          <a:lstStyle/>
          <a:p>
            <a:pPr>
              <a:lnSpc>
                <a:spcPct val="130000"/>
              </a:lnSpc>
            </a:pPr>
            <a:r>
              <a:rPr lang="en-US" sz="1800" b="1" dirty="0">
                <a:solidFill>
                  <a:srgbClr val="00AEEF"/>
                </a:solidFill>
                <a:latin typeface="MiSans" pitchFamily="34" charset="0"/>
                <a:ea typeface="MiSans" pitchFamily="34" charset="-122"/>
                <a:cs typeface="MiSans" pitchFamily="34" charset="-120"/>
              </a:rPr>
              <a:t>Caída Histórica: 29.7% → 12.7%</a:t>
            </a:r>
            <a:endParaRPr lang="en-US" sz="1600" dirty="0"/>
          </a:p>
        </p:txBody>
      </p:sp>
      <p:sp>
        <p:nvSpPr>
          <p:cNvPr id="7" name="Text 5"/>
          <p:cNvSpPr/>
          <p:nvPr/>
        </p:nvSpPr>
        <p:spPr>
          <a:xfrm>
            <a:off x="406400" y="3860642"/>
            <a:ext cx="5130800" cy="508000"/>
          </a:xfrm>
          <a:prstGeom prst="rect">
            <a:avLst/>
          </a:prstGeom>
          <a:noFill/>
          <a:ln/>
        </p:spPr>
        <p:txBody>
          <a:bodyPr wrap="square" lIns="0" tIns="0" rIns="0" bIns="0" rtlCol="0" anchor="ctr"/>
          <a:lstStyle/>
          <a:p>
            <a:pPr>
              <a:lnSpc>
                <a:spcPct val="120000"/>
              </a:lnSpc>
            </a:pPr>
            <a:r>
              <a:rPr lang="en-US" sz="1400" dirty="0">
                <a:solidFill>
                  <a:srgbClr val="333333"/>
                </a:solidFill>
                <a:latin typeface="MiSans" pitchFamily="34" charset="0"/>
                <a:ea typeface="MiSans" pitchFamily="34" charset="-122"/>
                <a:cs typeface="MiSans" pitchFamily="34" charset="-120"/>
              </a:rPr>
              <a:t>CaixaBank Research (2025) confirma la corrección de la anomalía española.</a:t>
            </a:r>
            <a:endParaRPr lang="en-US" sz="1600" dirty="0"/>
          </a:p>
        </p:txBody>
      </p:sp>
      <p:sp>
        <p:nvSpPr>
          <p:cNvPr id="8" name="Shape 6"/>
          <p:cNvSpPr/>
          <p:nvPr/>
        </p:nvSpPr>
        <p:spPr>
          <a:xfrm>
            <a:off x="254000" y="4724242"/>
            <a:ext cx="5435600" cy="1168400"/>
          </a:xfrm>
          <a:custGeom>
            <a:avLst/>
            <a:gdLst/>
            <a:ahLst/>
            <a:cxnLst/>
            <a:rect l="l" t="t" r="r" b="b"/>
            <a:pathLst>
              <a:path w="5435600" h="1168400">
                <a:moveTo>
                  <a:pt x="101604" y="0"/>
                </a:moveTo>
                <a:lnTo>
                  <a:pt x="5333996" y="0"/>
                </a:lnTo>
                <a:cubicBezTo>
                  <a:pt x="5390110" y="0"/>
                  <a:pt x="5435600" y="45490"/>
                  <a:pt x="5435600" y="101604"/>
                </a:cubicBezTo>
                <a:lnTo>
                  <a:pt x="5435600" y="1066796"/>
                </a:lnTo>
                <a:cubicBezTo>
                  <a:pt x="5435600" y="1122910"/>
                  <a:pt x="5390110" y="1168400"/>
                  <a:pt x="5333996" y="1168400"/>
                </a:cubicBezTo>
                <a:lnTo>
                  <a:pt x="101604" y="1168400"/>
                </a:lnTo>
                <a:cubicBezTo>
                  <a:pt x="45490" y="1168400"/>
                  <a:pt x="0" y="1122910"/>
                  <a:pt x="0" y="1066796"/>
                </a:cubicBezTo>
                <a:lnTo>
                  <a:pt x="0" y="101604"/>
                </a:lnTo>
                <a:cubicBezTo>
                  <a:pt x="0" y="45527"/>
                  <a:pt x="45527" y="0"/>
                  <a:pt x="101604" y="0"/>
                </a:cubicBezTo>
                <a:close/>
              </a:path>
            </a:pathLst>
          </a:custGeom>
          <a:solidFill>
            <a:srgbClr val="4080FF">
              <a:alpha val="10196"/>
            </a:srgbClr>
          </a:solidFill>
          <a:ln/>
        </p:spPr>
        <p:txBody>
          <a:bodyPr/>
          <a:lstStyle/>
          <a:p>
            <a:endParaRPr lang="es-ES"/>
          </a:p>
        </p:txBody>
      </p:sp>
      <p:sp>
        <p:nvSpPr>
          <p:cNvPr id="9" name="Text 7"/>
          <p:cNvSpPr/>
          <p:nvPr/>
        </p:nvSpPr>
        <p:spPr>
          <a:xfrm>
            <a:off x="406400" y="4876642"/>
            <a:ext cx="5359400" cy="355600"/>
          </a:xfrm>
          <a:prstGeom prst="rect">
            <a:avLst/>
          </a:prstGeom>
          <a:noFill/>
          <a:ln/>
        </p:spPr>
        <p:txBody>
          <a:bodyPr wrap="square" lIns="0" tIns="0" rIns="0" bIns="0" rtlCol="0" anchor="ctr"/>
          <a:lstStyle/>
          <a:p>
            <a:pPr>
              <a:lnSpc>
                <a:spcPct val="130000"/>
              </a:lnSpc>
            </a:pPr>
            <a:r>
              <a:rPr lang="en-US" sz="1800" b="1" dirty="0">
                <a:solidFill>
                  <a:srgbClr val="4080FF"/>
                </a:solidFill>
                <a:latin typeface="MiSans" pitchFamily="34" charset="0"/>
                <a:ea typeface="MiSans" pitchFamily="34" charset="-122"/>
                <a:cs typeface="MiSans" pitchFamily="34" charset="-120"/>
              </a:rPr>
              <a:t>Trasvase Masivo: +1.6M a Indefinidos</a:t>
            </a:r>
            <a:endParaRPr lang="en-US" sz="1600" dirty="0"/>
          </a:p>
        </p:txBody>
      </p:sp>
      <p:sp>
        <p:nvSpPr>
          <p:cNvPr id="10" name="Text 8"/>
          <p:cNvSpPr/>
          <p:nvPr/>
        </p:nvSpPr>
        <p:spPr>
          <a:xfrm>
            <a:off x="406400" y="5232242"/>
            <a:ext cx="5130800" cy="508000"/>
          </a:xfrm>
          <a:prstGeom prst="rect">
            <a:avLst/>
          </a:prstGeom>
          <a:noFill/>
          <a:ln/>
        </p:spPr>
        <p:txBody>
          <a:bodyPr wrap="square" lIns="0" tIns="0" rIns="0" bIns="0" rtlCol="0" anchor="ctr"/>
          <a:lstStyle/>
          <a:p>
            <a:pPr>
              <a:lnSpc>
                <a:spcPct val="120000"/>
              </a:lnSpc>
            </a:pPr>
            <a:r>
              <a:rPr lang="en-US" sz="1400" dirty="0">
                <a:solidFill>
                  <a:srgbClr val="333333"/>
                </a:solidFill>
                <a:latin typeface="MiSans" pitchFamily="34" charset="0"/>
                <a:ea typeface="MiSans" pitchFamily="34" charset="-122"/>
                <a:cs typeface="MiSans" pitchFamily="34" charset="-120"/>
              </a:rPr>
              <a:t>El Banco de España (2023) cuantificó el aumento en un solo año.</a:t>
            </a:r>
            <a:endParaRPr lang="en-US" sz="1600" dirty="0"/>
          </a:p>
        </p:txBody>
      </p:sp>
      <p:pic>
        <p:nvPicPr>
          <p:cNvPr id="11" name="Image 0" descr="https://kimi-web-img.moonshot.cn/img/img.freepik.com/507a936a084bcacf2411788767a83aaeeafa0162.jpg"/>
          <p:cNvPicPr>
            <a:picLocks noChangeAspect="1"/>
          </p:cNvPicPr>
          <p:nvPr/>
        </p:nvPicPr>
        <p:blipFill>
          <a:blip r:embed="rId3"/>
          <a:srcRect l="3965" r="3965"/>
          <a:stretch/>
        </p:blipFill>
        <p:spPr>
          <a:xfrm>
            <a:off x="6096000" y="626588"/>
            <a:ext cx="5842000" cy="4229100"/>
          </a:xfrm>
          <a:prstGeom prst="roundRect">
            <a:avLst>
              <a:gd name="adj" fmla="val 2402"/>
            </a:avLst>
          </a:prstGeom>
        </p:spPr>
      </p:pic>
      <p:sp>
        <p:nvSpPr>
          <p:cNvPr id="12" name="Shape 9"/>
          <p:cNvSpPr/>
          <p:nvPr/>
        </p:nvSpPr>
        <p:spPr>
          <a:xfrm>
            <a:off x="6096000" y="5063015"/>
            <a:ext cx="5842000" cy="1168400"/>
          </a:xfrm>
          <a:custGeom>
            <a:avLst/>
            <a:gdLst/>
            <a:ahLst/>
            <a:cxnLst/>
            <a:rect l="l" t="t" r="r" b="b"/>
            <a:pathLst>
              <a:path w="5842000" h="1168400">
                <a:moveTo>
                  <a:pt x="101604" y="0"/>
                </a:moveTo>
                <a:lnTo>
                  <a:pt x="5740396" y="0"/>
                </a:lnTo>
                <a:cubicBezTo>
                  <a:pt x="5796510" y="0"/>
                  <a:pt x="5842000" y="45490"/>
                  <a:pt x="5842000" y="101604"/>
                </a:cubicBezTo>
                <a:lnTo>
                  <a:pt x="5842000" y="1066796"/>
                </a:lnTo>
                <a:cubicBezTo>
                  <a:pt x="5842000" y="1122910"/>
                  <a:pt x="5796510" y="1168400"/>
                  <a:pt x="5740396" y="1168400"/>
                </a:cubicBezTo>
                <a:lnTo>
                  <a:pt x="101604" y="1168400"/>
                </a:lnTo>
                <a:cubicBezTo>
                  <a:pt x="45490" y="1168400"/>
                  <a:pt x="0" y="1122910"/>
                  <a:pt x="0" y="1066796"/>
                </a:cubicBezTo>
                <a:lnTo>
                  <a:pt x="0" y="101604"/>
                </a:lnTo>
                <a:cubicBezTo>
                  <a:pt x="0" y="45527"/>
                  <a:pt x="45527" y="0"/>
                  <a:pt x="101604" y="0"/>
                </a:cubicBezTo>
                <a:close/>
              </a:path>
            </a:pathLst>
          </a:custGeom>
          <a:solidFill>
            <a:srgbClr val="FFC200">
              <a:alpha val="20000"/>
            </a:srgbClr>
          </a:solidFill>
          <a:ln/>
        </p:spPr>
        <p:txBody>
          <a:bodyPr/>
          <a:lstStyle/>
          <a:p>
            <a:endParaRPr lang="es-ES"/>
          </a:p>
        </p:txBody>
      </p:sp>
      <p:sp>
        <p:nvSpPr>
          <p:cNvPr id="13" name="Text 10"/>
          <p:cNvSpPr/>
          <p:nvPr/>
        </p:nvSpPr>
        <p:spPr>
          <a:xfrm>
            <a:off x="6134100" y="5215415"/>
            <a:ext cx="5765800" cy="355600"/>
          </a:xfrm>
          <a:prstGeom prst="rect">
            <a:avLst/>
          </a:prstGeom>
          <a:noFill/>
          <a:ln/>
        </p:spPr>
        <p:txBody>
          <a:bodyPr wrap="square" lIns="0" tIns="0" rIns="0" bIns="0" rtlCol="0" anchor="ctr"/>
          <a:lstStyle/>
          <a:p>
            <a:pPr algn="ctr">
              <a:lnSpc>
                <a:spcPct val="130000"/>
              </a:lnSpc>
            </a:pPr>
            <a:r>
              <a:rPr lang="en-US" sz="1800" b="1" dirty="0">
                <a:solidFill>
                  <a:srgbClr val="FFC200"/>
                </a:solidFill>
                <a:latin typeface="MiSans" pitchFamily="34" charset="0"/>
                <a:ea typeface="MiSans" pitchFamily="34" charset="-122"/>
                <a:cs typeface="MiSans" pitchFamily="34" charset="-120"/>
              </a:rPr>
              <a:t>Explosión del Fijo-Discontinuo</a:t>
            </a:r>
            <a:endParaRPr lang="en-US" sz="1600" dirty="0"/>
          </a:p>
        </p:txBody>
      </p:sp>
      <p:sp>
        <p:nvSpPr>
          <p:cNvPr id="14" name="Text 11"/>
          <p:cNvSpPr/>
          <p:nvPr/>
        </p:nvSpPr>
        <p:spPr>
          <a:xfrm>
            <a:off x="6248400" y="5571015"/>
            <a:ext cx="5537200" cy="508000"/>
          </a:xfrm>
          <a:prstGeom prst="rect">
            <a:avLst/>
          </a:prstGeom>
          <a:noFill/>
          <a:ln/>
        </p:spPr>
        <p:txBody>
          <a:bodyPr wrap="square" lIns="0" tIns="0" rIns="0" bIns="0" rtlCol="0" anchor="ctr"/>
          <a:lstStyle/>
          <a:p>
            <a:pPr algn="ctr">
              <a:lnSpc>
                <a:spcPct val="120000"/>
              </a:lnSpc>
            </a:pPr>
            <a:r>
              <a:rPr lang="en-US" sz="1400" dirty="0">
                <a:solidFill>
                  <a:srgbClr val="333333"/>
                </a:solidFill>
                <a:latin typeface="MiSans" pitchFamily="34" charset="0"/>
                <a:ea typeface="MiSans" pitchFamily="34" charset="-122"/>
                <a:cs typeface="MiSans" pitchFamily="34" charset="-120"/>
              </a:rPr>
              <a:t>El stock se duplicó (650k → 1.42M), convirtiéndose en el nuevo mecanismo de flexibilidad (Fuente: Fedea).</a:t>
            </a:r>
            <a:endParaRPr lang="en-US" sz="1600" dirty="0"/>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5400" y="838200"/>
            <a:ext cx="12141200" cy="508000"/>
          </a:xfrm>
          <a:prstGeom prst="rect">
            <a:avLst/>
          </a:prstGeom>
          <a:noFill/>
          <a:ln/>
        </p:spPr>
        <p:txBody>
          <a:bodyPr wrap="square" lIns="0" tIns="0" rIns="0" bIns="0" rtlCol="0" anchor="ctr"/>
          <a:lstStyle/>
          <a:p>
            <a:pPr algn="ctr">
              <a:lnSpc>
                <a:spcPct val="90000"/>
              </a:lnSpc>
            </a:pPr>
            <a:r>
              <a:rPr lang="en-US" sz="3600" b="1" dirty="0">
                <a:solidFill>
                  <a:srgbClr val="FF5E5E"/>
                </a:solidFill>
                <a:latin typeface="Noto Sans SC" pitchFamily="34" charset="0"/>
                <a:ea typeface="Noto Sans SC" pitchFamily="34" charset="-122"/>
                <a:cs typeface="Noto Sans SC" pitchFamily="34" charset="-120"/>
              </a:rPr>
              <a:t>¿Cambio Real o Solo de Etiqueta?</a:t>
            </a:r>
            <a:endParaRPr lang="en-US" sz="1600" dirty="0"/>
          </a:p>
        </p:txBody>
      </p:sp>
      <p:sp>
        <p:nvSpPr>
          <p:cNvPr id="3" name="Text 1"/>
          <p:cNvSpPr/>
          <p:nvPr/>
        </p:nvSpPr>
        <p:spPr>
          <a:xfrm>
            <a:off x="254000" y="1447800"/>
            <a:ext cx="11684000" cy="711200"/>
          </a:xfrm>
          <a:prstGeom prst="rect">
            <a:avLst/>
          </a:prstGeom>
          <a:noFill/>
          <a:ln/>
        </p:spPr>
        <p:txBody>
          <a:bodyPr wrap="square" lIns="0" tIns="0" rIns="0" bIns="0" rtlCol="0" anchor="ctr"/>
          <a:lstStyle/>
          <a:p>
            <a:pPr algn="ctr">
              <a:lnSpc>
                <a:spcPct val="130000"/>
              </a:lnSpc>
            </a:pPr>
            <a:r>
              <a:rPr lang="en-US" sz="1800" dirty="0">
                <a:solidFill>
                  <a:srgbClr val="333333"/>
                </a:solidFill>
                <a:latin typeface="MiSans" pitchFamily="34" charset="0"/>
                <a:ea typeface="MiSans" pitchFamily="34" charset="-122"/>
                <a:cs typeface="MiSans" pitchFamily="34" charset="-120"/>
              </a:rPr>
              <a:t>La evidencia empírica más sofisticada sugiere que la inestabilidad laboral persiste, aunque ahora está oculta.</a:t>
            </a:r>
            <a:endParaRPr lang="en-US" sz="1600" dirty="0"/>
          </a:p>
        </p:txBody>
      </p:sp>
      <p:sp>
        <p:nvSpPr>
          <p:cNvPr id="4" name="Shape 2"/>
          <p:cNvSpPr/>
          <p:nvPr/>
        </p:nvSpPr>
        <p:spPr>
          <a:xfrm>
            <a:off x="1198086" y="2565400"/>
            <a:ext cx="1625600" cy="1016000"/>
          </a:xfrm>
          <a:custGeom>
            <a:avLst/>
            <a:gdLst/>
            <a:ahLst/>
            <a:cxnLst/>
            <a:rect l="l" t="t" r="r" b="b"/>
            <a:pathLst>
              <a:path w="1625600" h="1016000">
                <a:moveTo>
                  <a:pt x="101600" y="0"/>
                </a:moveTo>
                <a:lnTo>
                  <a:pt x="1524000" y="0"/>
                </a:lnTo>
                <a:cubicBezTo>
                  <a:pt x="1580075" y="0"/>
                  <a:pt x="1625600" y="45525"/>
                  <a:pt x="1625600" y="101600"/>
                </a:cubicBezTo>
                <a:lnTo>
                  <a:pt x="1625600" y="914400"/>
                </a:lnTo>
                <a:cubicBezTo>
                  <a:pt x="1625600" y="970475"/>
                  <a:pt x="1580075" y="1016000"/>
                  <a:pt x="1524000" y="1016000"/>
                </a:cubicBezTo>
                <a:lnTo>
                  <a:pt x="101600" y="1016000"/>
                </a:lnTo>
                <a:cubicBezTo>
                  <a:pt x="45525" y="1016000"/>
                  <a:pt x="0" y="970475"/>
                  <a:pt x="0" y="914400"/>
                </a:cubicBezTo>
                <a:lnTo>
                  <a:pt x="0" y="101600"/>
                </a:lnTo>
                <a:cubicBezTo>
                  <a:pt x="0" y="45525"/>
                  <a:pt x="45525" y="0"/>
                  <a:pt x="101600" y="0"/>
                </a:cubicBezTo>
                <a:close/>
              </a:path>
            </a:pathLst>
          </a:custGeom>
          <a:solidFill>
            <a:srgbClr val="00AEEF">
              <a:alpha val="20000"/>
            </a:srgbClr>
          </a:solidFill>
          <a:ln/>
        </p:spPr>
        <p:txBody>
          <a:bodyPr/>
          <a:lstStyle/>
          <a:p>
            <a:endParaRPr lang="es-ES"/>
          </a:p>
        </p:txBody>
      </p:sp>
      <p:sp>
        <p:nvSpPr>
          <p:cNvPr id="5" name="Text 3"/>
          <p:cNvSpPr/>
          <p:nvPr/>
        </p:nvSpPr>
        <p:spPr>
          <a:xfrm>
            <a:off x="1324928" y="2870200"/>
            <a:ext cx="1371600" cy="406400"/>
          </a:xfrm>
          <a:prstGeom prst="rect">
            <a:avLst/>
          </a:prstGeom>
          <a:noFill/>
          <a:ln/>
        </p:spPr>
        <p:txBody>
          <a:bodyPr wrap="square" lIns="0" tIns="0" rIns="0" bIns="0" rtlCol="0" anchor="ctr"/>
          <a:lstStyle/>
          <a:p>
            <a:pPr algn="ctr">
              <a:lnSpc>
                <a:spcPct val="110000"/>
              </a:lnSpc>
            </a:pPr>
            <a:r>
              <a:rPr lang="en-US" sz="2400" b="1" dirty="0">
                <a:solidFill>
                  <a:srgbClr val="00AEEF"/>
                </a:solidFill>
                <a:latin typeface="Noto Sans SC" pitchFamily="34" charset="0"/>
                <a:ea typeface="Noto Sans SC" pitchFamily="34" charset="-122"/>
                <a:cs typeface="Noto Sans SC" pitchFamily="34" charset="-120"/>
              </a:rPr>
              <a:t>ANTES</a:t>
            </a:r>
            <a:endParaRPr lang="en-US" sz="1600" dirty="0"/>
          </a:p>
        </p:txBody>
      </p:sp>
      <p:sp>
        <p:nvSpPr>
          <p:cNvPr id="6" name="Text 4"/>
          <p:cNvSpPr/>
          <p:nvPr/>
        </p:nvSpPr>
        <p:spPr>
          <a:xfrm>
            <a:off x="1096486" y="3683000"/>
            <a:ext cx="2286000" cy="304800"/>
          </a:xfrm>
          <a:prstGeom prst="rect">
            <a:avLst/>
          </a:prstGeom>
          <a:noFill/>
          <a:ln/>
        </p:spPr>
        <p:txBody>
          <a:bodyPr wrap="square" lIns="0" tIns="0" rIns="0" bIns="0" rtlCol="0" anchor="ctr"/>
          <a:lstStyle/>
          <a:p>
            <a:pPr algn="ctr">
              <a:lnSpc>
                <a:spcPct val="130000"/>
              </a:lnSpc>
            </a:pPr>
            <a:r>
              <a:rPr lang="en-US" sz="1600" b="1" dirty="0">
                <a:solidFill>
                  <a:srgbClr val="333333"/>
                </a:solidFill>
                <a:latin typeface="MiSans" pitchFamily="34" charset="0"/>
                <a:ea typeface="MiSans" pitchFamily="34" charset="-122"/>
                <a:cs typeface="MiSans" pitchFamily="34" charset="-120"/>
              </a:rPr>
              <a:t>Dualidad Legal</a:t>
            </a:r>
            <a:endParaRPr lang="en-US" sz="1600" dirty="0"/>
          </a:p>
        </p:txBody>
      </p:sp>
      <p:sp>
        <p:nvSpPr>
          <p:cNvPr id="7" name="Text 5"/>
          <p:cNvSpPr/>
          <p:nvPr/>
        </p:nvSpPr>
        <p:spPr>
          <a:xfrm>
            <a:off x="1109186" y="3987800"/>
            <a:ext cx="2260600" cy="254000"/>
          </a:xfrm>
          <a:prstGeom prst="rect">
            <a:avLst/>
          </a:prstGeom>
          <a:noFill/>
          <a:ln/>
        </p:spPr>
        <p:txBody>
          <a:bodyPr wrap="square" lIns="0" tIns="0" rIns="0" bIns="0" rtlCol="0" anchor="ctr"/>
          <a:lstStyle/>
          <a:p>
            <a:pPr algn="ctr">
              <a:lnSpc>
                <a:spcPct val="120000"/>
              </a:lnSpc>
            </a:pPr>
            <a:r>
              <a:rPr lang="en-US" sz="1400" dirty="0">
                <a:solidFill>
                  <a:srgbClr val="333333"/>
                </a:solidFill>
                <a:latin typeface="MiSans" pitchFamily="34" charset="0"/>
                <a:ea typeface="MiSans" pitchFamily="34" charset="-122"/>
                <a:cs typeface="MiSans" pitchFamily="34" charset="-120"/>
              </a:rPr>
              <a:t>Indefinido vs. Temporal</a:t>
            </a:r>
            <a:endParaRPr lang="en-US" sz="1600" dirty="0"/>
          </a:p>
        </p:txBody>
      </p:sp>
      <p:sp>
        <p:nvSpPr>
          <p:cNvPr id="8" name="Shape 6"/>
          <p:cNvSpPr/>
          <p:nvPr/>
        </p:nvSpPr>
        <p:spPr>
          <a:xfrm>
            <a:off x="5536883" y="2946400"/>
            <a:ext cx="685800" cy="609600"/>
          </a:xfrm>
          <a:custGeom>
            <a:avLst/>
            <a:gdLst/>
            <a:ahLst/>
            <a:cxnLst/>
            <a:rect l="l" t="t" r="r" b="b"/>
            <a:pathLst>
              <a:path w="685800" h="609600">
                <a:moveTo>
                  <a:pt x="674608" y="331708"/>
                </a:moveTo>
                <a:cubicBezTo>
                  <a:pt x="689491" y="316825"/>
                  <a:pt x="689491" y="292656"/>
                  <a:pt x="674608" y="277773"/>
                </a:cubicBezTo>
                <a:lnTo>
                  <a:pt x="522208" y="125373"/>
                </a:lnTo>
                <a:cubicBezTo>
                  <a:pt x="507325" y="110490"/>
                  <a:pt x="483156" y="110490"/>
                  <a:pt x="468273" y="125373"/>
                </a:cubicBezTo>
                <a:cubicBezTo>
                  <a:pt x="453390" y="140256"/>
                  <a:pt x="453390" y="164425"/>
                  <a:pt x="468273" y="179308"/>
                </a:cubicBezTo>
                <a:lnTo>
                  <a:pt x="555665" y="266700"/>
                </a:lnTo>
                <a:lnTo>
                  <a:pt x="38100" y="266700"/>
                </a:lnTo>
                <a:cubicBezTo>
                  <a:pt x="17026" y="266700"/>
                  <a:pt x="0" y="283726"/>
                  <a:pt x="0" y="304800"/>
                </a:cubicBezTo>
                <a:cubicBezTo>
                  <a:pt x="0" y="325874"/>
                  <a:pt x="17026" y="342900"/>
                  <a:pt x="38100" y="342900"/>
                </a:cubicBezTo>
                <a:lnTo>
                  <a:pt x="555665" y="342900"/>
                </a:lnTo>
                <a:lnTo>
                  <a:pt x="468273" y="430292"/>
                </a:lnTo>
                <a:cubicBezTo>
                  <a:pt x="453390" y="445175"/>
                  <a:pt x="453390" y="469344"/>
                  <a:pt x="468273" y="484227"/>
                </a:cubicBezTo>
                <a:cubicBezTo>
                  <a:pt x="483156" y="499110"/>
                  <a:pt x="507325" y="499110"/>
                  <a:pt x="522208" y="484227"/>
                </a:cubicBezTo>
                <a:lnTo>
                  <a:pt x="674608" y="331827"/>
                </a:lnTo>
                <a:close/>
              </a:path>
            </a:pathLst>
          </a:custGeom>
          <a:solidFill>
            <a:srgbClr val="FFC200"/>
          </a:solidFill>
          <a:ln/>
        </p:spPr>
        <p:txBody>
          <a:bodyPr/>
          <a:lstStyle/>
          <a:p>
            <a:endParaRPr lang="es-ES"/>
          </a:p>
        </p:txBody>
      </p:sp>
      <p:sp>
        <p:nvSpPr>
          <p:cNvPr id="9" name="Text 7"/>
          <p:cNvSpPr/>
          <p:nvPr/>
        </p:nvSpPr>
        <p:spPr>
          <a:xfrm>
            <a:off x="5164614" y="3657600"/>
            <a:ext cx="1638300" cy="304800"/>
          </a:xfrm>
          <a:prstGeom prst="rect">
            <a:avLst/>
          </a:prstGeom>
          <a:noFill/>
          <a:ln/>
        </p:spPr>
        <p:txBody>
          <a:bodyPr wrap="square" lIns="0" tIns="0" rIns="0" bIns="0" rtlCol="0" anchor="ctr"/>
          <a:lstStyle/>
          <a:p>
            <a:pPr>
              <a:lnSpc>
                <a:spcPct val="130000"/>
              </a:lnSpc>
            </a:pPr>
            <a:r>
              <a:rPr lang="en-US" sz="1600" b="1" dirty="0">
                <a:solidFill>
                  <a:srgbClr val="FFC200"/>
                </a:solidFill>
                <a:latin typeface="MiSans" pitchFamily="34" charset="0"/>
                <a:ea typeface="MiSans" pitchFamily="34" charset="-122"/>
                <a:cs typeface="MiSans" pitchFamily="34" charset="-120"/>
              </a:rPr>
              <a:t>Reforma 2021</a:t>
            </a:r>
            <a:endParaRPr lang="en-US" sz="1600" dirty="0"/>
          </a:p>
        </p:txBody>
      </p:sp>
      <p:sp>
        <p:nvSpPr>
          <p:cNvPr id="10" name="Shape 8"/>
          <p:cNvSpPr/>
          <p:nvPr/>
        </p:nvSpPr>
        <p:spPr>
          <a:xfrm>
            <a:off x="8483124" y="2565400"/>
            <a:ext cx="1625600" cy="1016000"/>
          </a:xfrm>
          <a:custGeom>
            <a:avLst/>
            <a:gdLst/>
            <a:ahLst/>
            <a:cxnLst/>
            <a:rect l="l" t="t" r="r" b="b"/>
            <a:pathLst>
              <a:path w="1625600" h="1016000">
                <a:moveTo>
                  <a:pt x="101600" y="0"/>
                </a:moveTo>
                <a:lnTo>
                  <a:pt x="1524000" y="0"/>
                </a:lnTo>
                <a:cubicBezTo>
                  <a:pt x="1580075" y="0"/>
                  <a:pt x="1625600" y="45525"/>
                  <a:pt x="1625600" y="101600"/>
                </a:cubicBezTo>
                <a:lnTo>
                  <a:pt x="1625600" y="914400"/>
                </a:lnTo>
                <a:cubicBezTo>
                  <a:pt x="1625600" y="970475"/>
                  <a:pt x="1580075" y="1016000"/>
                  <a:pt x="1524000" y="1016000"/>
                </a:cubicBezTo>
                <a:lnTo>
                  <a:pt x="101600" y="1016000"/>
                </a:lnTo>
                <a:cubicBezTo>
                  <a:pt x="45525" y="1016000"/>
                  <a:pt x="0" y="970475"/>
                  <a:pt x="0" y="914400"/>
                </a:cubicBezTo>
                <a:lnTo>
                  <a:pt x="0" y="101600"/>
                </a:lnTo>
                <a:cubicBezTo>
                  <a:pt x="0" y="45525"/>
                  <a:pt x="45525" y="0"/>
                  <a:pt x="101600" y="0"/>
                </a:cubicBezTo>
                <a:close/>
              </a:path>
            </a:pathLst>
          </a:custGeom>
          <a:solidFill>
            <a:srgbClr val="FF5E5E">
              <a:alpha val="20000"/>
            </a:srgbClr>
          </a:solidFill>
          <a:ln/>
        </p:spPr>
        <p:txBody>
          <a:bodyPr/>
          <a:lstStyle/>
          <a:p>
            <a:endParaRPr lang="es-ES"/>
          </a:p>
        </p:txBody>
      </p:sp>
      <p:sp>
        <p:nvSpPr>
          <p:cNvPr id="11" name="Text 9"/>
          <p:cNvSpPr/>
          <p:nvPr/>
        </p:nvSpPr>
        <p:spPr>
          <a:xfrm>
            <a:off x="8546147" y="2870200"/>
            <a:ext cx="1498600" cy="406400"/>
          </a:xfrm>
          <a:prstGeom prst="rect">
            <a:avLst/>
          </a:prstGeom>
          <a:noFill/>
          <a:ln/>
        </p:spPr>
        <p:txBody>
          <a:bodyPr wrap="square" lIns="0" tIns="0" rIns="0" bIns="0" rtlCol="0" anchor="ctr"/>
          <a:lstStyle/>
          <a:p>
            <a:pPr algn="ctr">
              <a:lnSpc>
                <a:spcPct val="110000"/>
              </a:lnSpc>
            </a:pPr>
            <a:r>
              <a:rPr lang="en-US" sz="2400" b="1" dirty="0">
                <a:solidFill>
                  <a:srgbClr val="FF5E5E"/>
                </a:solidFill>
                <a:latin typeface="Noto Sans SC" pitchFamily="34" charset="0"/>
                <a:ea typeface="Noto Sans SC" pitchFamily="34" charset="-122"/>
                <a:cs typeface="Noto Sans SC" pitchFamily="34" charset="-120"/>
              </a:rPr>
              <a:t>AHORA</a:t>
            </a:r>
            <a:endParaRPr lang="en-US" sz="1600" dirty="0"/>
          </a:p>
        </p:txBody>
      </p:sp>
      <p:sp>
        <p:nvSpPr>
          <p:cNvPr id="12" name="Text 10"/>
          <p:cNvSpPr/>
          <p:nvPr/>
        </p:nvSpPr>
        <p:spPr>
          <a:xfrm>
            <a:off x="8381524" y="3683000"/>
            <a:ext cx="2717800" cy="304800"/>
          </a:xfrm>
          <a:prstGeom prst="rect">
            <a:avLst/>
          </a:prstGeom>
          <a:noFill/>
          <a:ln/>
        </p:spPr>
        <p:txBody>
          <a:bodyPr wrap="square" lIns="0" tIns="0" rIns="0" bIns="0" rtlCol="0" anchor="ctr"/>
          <a:lstStyle/>
          <a:p>
            <a:pPr algn="ctr">
              <a:lnSpc>
                <a:spcPct val="130000"/>
              </a:lnSpc>
            </a:pPr>
            <a:r>
              <a:rPr lang="en-US" sz="1600" b="1" dirty="0">
                <a:solidFill>
                  <a:srgbClr val="333333"/>
                </a:solidFill>
                <a:latin typeface="MiSans" pitchFamily="34" charset="0"/>
                <a:ea typeface="MiSans" pitchFamily="34" charset="-122"/>
                <a:cs typeface="MiSans" pitchFamily="34" charset="-120"/>
              </a:rPr>
              <a:t>Dualidad Empírica</a:t>
            </a:r>
            <a:endParaRPr lang="en-US" sz="1600" dirty="0"/>
          </a:p>
        </p:txBody>
      </p:sp>
      <p:sp>
        <p:nvSpPr>
          <p:cNvPr id="13" name="Text 11"/>
          <p:cNvSpPr/>
          <p:nvPr/>
        </p:nvSpPr>
        <p:spPr>
          <a:xfrm>
            <a:off x="8394224" y="3987800"/>
            <a:ext cx="2692400" cy="254000"/>
          </a:xfrm>
          <a:prstGeom prst="rect">
            <a:avLst/>
          </a:prstGeom>
          <a:noFill/>
          <a:ln/>
        </p:spPr>
        <p:txBody>
          <a:bodyPr wrap="square" lIns="0" tIns="0" rIns="0" bIns="0" rtlCol="0" anchor="ctr"/>
          <a:lstStyle/>
          <a:p>
            <a:pPr algn="ctr">
              <a:lnSpc>
                <a:spcPct val="120000"/>
              </a:lnSpc>
            </a:pPr>
            <a:r>
              <a:rPr lang="en-US" sz="1400" dirty="0">
                <a:solidFill>
                  <a:srgbClr val="333333"/>
                </a:solidFill>
                <a:latin typeface="MiSans" pitchFamily="34" charset="0"/>
                <a:ea typeface="MiSans" pitchFamily="34" charset="-122"/>
                <a:cs typeface="MiSans" pitchFamily="34" charset="-120"/>
              </a:rPr>
              <a:t>Indef. Ordinario vs. Indef. FD</a:t>
            </a:r>
            <a:endParaRPr lang="en-US" sz="1600" dirty="0"/>
          </a:p>
        </p:txBody>
      </p:sp>
      <p:sp>
        <p:nvSpPr>
          <p:cNvPr id="14" name="Shape 12"/>
          <p:cNvSpPr/>
          <p:nvPr/>
        </p:nvSpPr>
        <p:spPr>
          <a:xfrm>
            <a:off x="254000" y="4648200"/>
            <a:ext cx="11684000" cy="1371600"/>
          </a:xfrm>
          <a:custGeom>
            <a:avLst/>
            <a:gdLst/>
            <a:ahLst/>
            <a:cxnLst/>
            <a:rect l="l" t="t" r="r" b="b"/>
            <a:pathLst>
              <a:path w="11684000" h="1371600">
                <a:moveTo>
                  <a:pt x="101594" y="0"/>
                </a:moveTo>
                <a:lnTo>
                  <a:pt x="11582406" y="0"/>
                </a:lnTo>
                <a:cubicBezTo>
                  <a:pt x="11638515" y="0"/>
                  <a:pt x="11684000" y="45485"/>
                  <a:pt x="11684000" y="101594"/>
                </a:cubicBezTo>
                <a:lnTo>
                  <a:pt x="11684000" y="1270006"/>
                </a:lnTo>
                <a:cubicBezTo>
                  <a:pt x="11684000" y="1326115"/>
                  <a:pt x="11638515" y="1371600"/>
                  <a:pt x="11582406" y="1371600"/>
                </a:cubicBezTo>
                <a:lnTo>
                  <a:pt x="101594" y="1371600"/>
                </a:lnTo>
                <a:cubicBezTo>
                  <a:pt x="45485" y="1371600"/>
                  <a:pt x="0" y="1326115"/>
                  <a:pt x="0" y="1270006"/>
                </a:cubicBezTo>
                <a:lnTo>
                  <a:pt x="0" y="101594"/>
                </a:lnTo>
                <a:cubicBezTo>
                  <a:pt x="0" y="45523"/>
                  <a:pt x="45523" y="0"/>
                  <a:pt x="101594" y="0"/>
                </a:cubicBezTo>
                <a:close/>
              </a:path>
            </a:pathLst>
          </a:custGeom>
          <a:solidFill>
            <a:srgbClr val="4080FF">
              <a:alpha val="10196"/>
            </a:srgbClr>
          </a:solidFill>
          <a:ln/>
        </p:spPr>
        <p:txBody>
          <a:bodyPr/>
          <a:lstStyle/>
          <a:p>
            <a:endParaRPr lang="es-ES"/>
          </a:p>
        </p:txBody>
      </p:sp>
      <p:sp>
        <p:nvSpPr>
          <p:cNvPr id="15" name="Text 13"/>
          <p:cNvSpPr/>
          <p:nvPr/>
        </p:nvSpPr>
        <p:spPr>
          <a:xfrm>
            <a:off x="342900" y="4851400"/>
            <a:ext cx="11506200" cy="355600"/>
          </a:xfrm>
          <a:prstGeom prst="rect">
            <a:avLst/>
          </a:prstGeom>
          <a:noFill/>
          <a:ln/>
        </p:spPr>
        <p:txBody>
          <a:bodyPr wrap="square" lIns="0" tIns="0" rIns="0" bIns="0" rtlCol="0" anchor="ctr"/>
          <a:lstStyle/>
          <a:p>
            <a:pPr algn="ctr">
              <a:lnSpc>
                <a:spcPct val="130000"/>
              </a:lnSpc>
            </a:pPr>
            <a:r>
              <a:rPr lang="en-US" sz="1800" b="1" dirty="0">
                <a:solidFill>
                  <a:srgbClr val="4080FF"/>
                </a:solidFill>
                <a:latin typeface="MiSans" pitchFamily="34" charset="0"/>
                <a:ea typeface="MiSans" pitchFamily="34" charset="-122"/>
                <a:cs typeface="MiSans" pitchFamily="34" charset="-120"/>
              </a:rPr>
              <a:t>La Conclusión de los Expertos</a:t>
            </a:r>
            <a:endParaRPr lang="en-US" sz="1600" dirty="0"/>
          </a:p>
        </p:txBody>
      </p:sp>
      <p:sp>
        <p:nvSpPr>
          <p:cNvPr id="16" name="Text 14"/>
          <p:cNvSpPr/>
          <p:nvPr/>
        </p:nvSpPr>
        <p:spPr>
          <a:xfrm>
            <a:off x="457200" y="5308600"/>
            <a:ext cx="11277600" cy="508000"/>
          </a:xfrm>
          <a:prstGeom prst="rect">
            <a:avLst/>
          </a:prstGeom>
          <a:noFill/>
          <a:ln/>
        </p:spPr>
        <p:txBody>
          <a:bodyPr wrap="square" lIns="0" tIns="0" rIns="0" bIns="0" rtlCol="0" anchor="ctr"/>
          <a:lstStyle/>
          <a:p>
            <a:pPr algn="ctr">
              <a:lnSpc>
                <a:spcPct val="120000"/>
              </a:lnSpc>
            </a:pPr>
            <a:r>
              <a:rPr lang="en-US" sz="1400" dirty="0">
                <a:solidFill>
                  <a:srgbClr val="333333"/>
                </a:solidFill>
                <a:latin typeface="MiSans" pitchFamily="34" charset="0"/>
                <a:ea typeface="MiSans" pitchFamily="34" charset="-122"/>
                <a:cs typeface="MiSans" pitchFamily="34" charset="-120"/>
              </a:rPr>
              <a:t>Según Conde Ruiz et al. (Fedea) y el Banco de España, los flujos de alta y baja en la Seguridad Social </a:t>
            </a:r>
            <a:r>
              <a:rPr lang="en-US" sz="1400" b="1" dirty="0">
                <a:solidFill>
                  <a:srgbClr val="333333"/>
                </a:solidFill>
                <a:latin typeface="MiSans" pitchFamily="34" charset="0"/>
                <a:ea typeface="MiSans" pitchFamily="34" charset="-122"/>
                <a:cs typeface="MiSans" pitchFamily="34" charset="-120"/>
              </a:rPr>
              <a:t>"replican casi exactamente la situación anterior"</a:t>
            </a:r>
            <a:r>
              <a:rPr lang="en-US" sz="1400" dirty="0">
                <a:solidFill>
                  <a:srgbClr val="333333"/>
                </a:solidFill>
                <a:latin typeface="MiSans" pitchFamily="34" charset="0"/>
                <a:ea typeface="MiSans" pitchFamily="34" charset="-122"/>
                <a:cs typeface="MiSans" pitchFamily="34" charset="-120"/>
              </a:rPr>
              <a:t>. La tasa de temporalidad es ahora un indicador obsoleto.</a:t>
            </a:r>
            <a:endParaRPr lang="en-US" sz="1600" dirty="0"/>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54000" y="254000"/>
            <a:ext cx="11684000" cy="914400"/>
          </a:xfrm>
          <a:prstGeom prst="rect">
            <a:avLst/>
          </a:prstGeom>
          <a:noFill/>
          <a:ln/>
        </p:spPr>
        <p:txBody>
          <a:bodyPr wrap="square" lIns="0" tIns="0" rIns="0" bIns="0" rtlCol="0" anchor="ctr"/>
          <a:lstStyle/>
          <a:p>
            <a:pPr>
              <a:lnSpc>
                <a:spcPct val="100000"/>
              </a:lnSpc>
            </a:pPr>
            <a:r>
              <a:rPr lang="en-US" sz="3000" b="1" dirty="0">
                <a:solidFill>
                  <a:srgbClr val="FF5E5E"/>
                </a:solidFill>
                <a:latin typeface="Noto Sans SC" pitchFamily="34" charset="0"/>
                <a:ea typeface="Noto Sans SC" pitchFamily="34" charset="-122"/>
                <a:cs typeface="Noto Sans SC" pitchFamily="34" charset="-120"/>
              </a:rPr>
              <a:t>La Otra Cara: Escepticismo y Redistribución de la Precariedad</a:t>
            </a:r>
            <a:endParaRPr lang="en-US" sz="1600" dirty="0"/>
          </a:p>
        </p:txBody>
      </p:sp>
      <p:sp>
        <p:nvSpPr>
          <p:cNvPr id="3" name="Text 1"/>
          <p:cNvSpPr/>
          <p:nvPr/>
        </p:nvSpPr>
        <p:spPr>
          <a:xfrm>
            <a:off x="254000" y="1270000"/>
            <a:ext cx="9753600" cy="609600"/>
          </a:xfrm>
          <a:prstGeom prst="rect">
            <a:avLst/>
          </a:prstGeom>
          <a:noFill/>
          <a:ln/>
        </p:spPr>
        <p:txBody>
          <a:bodyPr wrap="square" lIns="0" tIns="0" rIns="0" bIns="0" rtlCol="0" anchor="ctr"/>
          <a:lstStyle/>
          <a:p>
            <a:pPr>
              <a:lnSpc>
                <a:spcPct val="130000"/>
              </a:lnSpc>
            </a:pPr>
            <a:r>
              <a:rPr lang="en-US" sz="1600" dirty="0">
                <a:solidFill>
                  <a:srgbClr val="333333"/>
                </a:solidFill>
                <a:latin typeface="MiSans" pitchFamily="34" charset="0"/>
                <a:ea typeface="MiSans" pitchFamily="34" charset="-122"/>
                <a:cs typeface="MiSans" pitchFamily="34" charset="-120"/>
              </a:rPr>
              <a:t>Instituciones como Fedea y el BdeE argumentan que la inestabilidad no desapareció, sino que se transformó y se canalizó por nuevas vías.</a:t>
            </a:r>
            <a:endParaRPr lang="en-US" sz="1600" dirty="0"/>
          </a:p>
        </p:txBody>
      </p:sp>
      <p:sp>
        <p:nvSpPr>
          <p:cNvPr id="4" name="Shape 2"/>
          <p:cNvSpPr/>
          <p:nvPr/>
        </p:nvSpPr>
        <p:spPr>
          <a:xfrm>
            <a:off x="254000" y="2997200"/>
            <a:ext cx="3695700" cy="2794000"/>
          </a:xfrm>
          <a:custGeom>
            <a:avLst/>
            <a:gdLst/>
            <a:ahLst/>
            <a:cxnLst/>
            <a:rect l="l" t="t" r="r" b="b"/>
            <a:pathLst>
              <a:path w="3695700" h="2794000">
                <a:moveTo>
                  <a:pt x="152413" y="0"/>
                </a:moveTo>
                <a:lnTo>
                  <a:pt x="3543287" y="0"/>
                </a:lnTo>
                <a:cubicBezTo>
                  <a:pt x="3627463" y="0"/>
                  <a:pt x="3695700" y="68237"/>
                  <a:pt x="3695700" y="152413"/>
                </a:cubicBezTo>
                <a:lnTo>
                  <a:pt x="3695700" y="2641587"/>
                </a:lnTo>
                <a:cubicBezTo>
                  <a:pt x="3695700" y="2725763"/>
                  <a:pt x="3627463" y="2794000"/>
                  <a:pt x="3543287" y="2794000"/>
                </a:cubicBezTo>
                <a:lnTo>
                  <a:pt x="152413" y="2794000"/>
                </a:lnTo>
                <a:cubicBezTo>
                  <a:pt x="68237" y="2794000"/>
                  <a:pt x="0" y="2725763"/>
                  <a:pt x="0" y="2641587"/>
                </a:cubicBezTo>
                <a:lnTo>
                  <a:pt x="0" y="152413"/>
                </a:lnTo>
                <a:cubicBezTo>
                  <a:pt x="0" y="68237"/>
                  <a:pt x="68237" y="0"/>
                  <a:pt x="152413" y="0"/>
                </a:cubicBezTo>
                <a:close/>
              </a:path>
            </a:pathLst>
          </a:custGeom>
          <a:solidFill>
            <a:srgbClr val="4080FF">
              <a:alpha val="10196"/>
            </a:srgbClr>
          </a:solidFill>
          <a:ln/>
          <a:effectLst>
            <a:outerShdw blurRad="76200" dist="50800" dir="5400000" algn="bl" rotWithShape="0">
              <a:srgbClr val="000000">
                <a:alpha val="10196"/>
              </a:srgbClr>
            </a:outerShdw>
          </a:effectLst>
        </p:spPr>
        <p:txBody>
          <a:bodyPr/>
          <a:lstStyle/>
          <a:p>
            <a:endParaRPr lang="es-ES"/>
          </a:p>
        </p:txBody>
      </p:sp>
      <p:sp>
        <p:nvSpPr>
          <p:cNvPr id="5" name="Shape 3"/>
          <p:cNvSpPr/>
          <p:nvPr/>
        </p:nvSpPr>
        <p:spPr>
          <a:xfrm>
            <a:off x="1692910" y="3251200"/>
            <a:ext cx="812800" cy="406400"/>
          </a:xfrm>
          <a:custGeom>
            <a:avLst/>
            <a:gdLst/>
            <a:ahLst/>
            <a:cxnLst/>
            <a:rect l="l" t="t" r="r" b="b"/>
            <a:pathLst>
              <a:path w="812800" h="406400">
                <a:moveTo>
                  <a:pt x="203200" y="0"/>
                </a:moveTo>
                <a:lnTo>
                  <a:pt x="609600" y="0"/>
                </a:lnTo>
                <a:cubicBezTo>
                  <a:pt x="721749" y="0"/>
                  <a:pt x="812800" y="91051"/>
                  <a:pt x="812800" y="203200"/>
                </a:cubicBezTo>
                <a:lnTo>
                  <a:pt x="812800" y="203200"/>
                </a:lnTo>
                <a:cubicBezTo>
                  <a:pt x="812800" y="315349"/>
                  <a:pt x="721749" y="406400"/>
                  <a:pt x="609600" y="406400"/>
                </a:cubicBezTo>
                <a:lnTo>
                  <a:pt x="203200" y="406400"/>
                </a:lnTo>
                <a:cubicBezTo>
                  <a:pt x="91051" y="406400"/>
                  <a:pt x="0" y="315349"/>
                  <a:pt x="0" y="203200"/>
                </a:cubicBezTo>
                <a:lnTo>
                  <a:pt x="0" y="203200"/>
                </a:lnTo>
                <a:cubicBezTo>
                  <a:pt x="0" y="91051"/>
                  <a:pt x="91051" y="0"/>
                  <a:pt x="203200" y="0"/>
                </a:cubicBezTo>
                <a:close/>
              </a:path>
            </a:pathLst>
          </a:custGeom>
          <a:solidFill>
            <a:srgbClr val="4080FF">
              <a:alpha val="20000"/>
            </a:srgbClr>
          </a:solidFill>
          <a:ln/>
        </p:spPr>
        <p:txBody>
          <a:bodyPr/>
          <a:lstStyle/>
          <a:p>
            <a:endParaRPr lang="es-ES"/>
          </a:p>
        </p:txBody>
      </p:sp>
      <p:sp>
        <p:nvSpPr>
          <p:cNvPr id="6" name="Shape 4"/>
          <p:cNvSpPr/>
          <p:nvPr/>
        </p:nvSpPr>
        <p:spPr>
          <a:xfrm>
            <a:off x="1911985" y="3263900"/>
            <a:ext cx="381000" cy="381000"/>
          </a:xfrm>
          <a:custGeom>
            <a:avLst/>
            <a:gdLst/>
            <a:ahLst/>
            <a:cxnLst/>
            <a:rect l="l" t="t" r="r" b="b"/>
            <a:pathLst>
              <a:path w="381000" h="381000">
                <a:moveTo>
                  <a:pt x="374005" y="112068"/>
                </a:moveTo>
                <a:lnTo>
                  <a:pt x="302568" y="183505"/>
                </a:lnTo>
                <a:cubicBezTo>
                  <a:pt x="295721" y="190351"/>
                  <a:pt x="285527" y="192360"/>
                  <a:pt x="276597" y="188640"/>
                </a:cubicBezTo>
                <a:cubicBezTo>
                  <a:pt x="267667" y="184919"/>
                  <a:pt x="261938" y="176287"/>
                  <a:pt x="261938" y="166688"/>
                </a:cubicBezTo>
                <a:lnTo>
                  <a:pt x="261938" y="119063"/>
                </a:lnTo>
                <a:lnTo>
                  <a:pt x="23812" y="119063"/>
                </a:lnTo>
                <a:cubicBezTo>
                  <a:pt x="10641" y="119063"/>
                  <a:pt x="0" y="108421"/>
                  <a:pt x="0" y="95250"/>
                </a:cubicBezTo>
                <a:cubicBezTo>
                  <a:pt x="0" y="82079"/>
                  <a:pt x="10641" y="71438"/>
                  <a:pt x="23812" y="71438"/>
                </a:cubicBezTo>
                <a:lnTo>
                  <a:pt x="261938" y="71438"/>
                </a:lnTo>
                <a:lnTo>
                  <a:pt x="261938" y="23812"/>
                </a:lnTo>
                <a:cubicBezTo>
                  <a:pt x="261938" y="14213"/>
                  <a:pt x="267742" y="5507"/>
                  <a:pt x="276671" y="1786"/>
                </a:cubicBezTo>
                <a:cubicBezTo>
                  <a:pt x="285601" y="-1935"/>
                  <a:pt x="295796" y="149"/>
                  <a:pt x="302642" y="6921"/>
                </a:cubicBezTo>
                <a:lnTo>
                  <a:pt x="374079" y="78358"/>
                </a:lnTo>
                <a:cubicBezTo>
                  <a:pt x="383381" y="87660"/>
                  <a:pt x="383381" y="102766"/>
                  <a:pt x="374079" y="112068"/>
                </a:cubicBezTo>
                <a:close/>
                <a:moveTo>
                  <a:pt x="78358" y="374005"/>
                </a:moveTo>
                <a:lnTo>
                  <a:pt x="6921" y="302568"/>
                </a:lnTo>
                <a:cubicBezTo>
                  <a:pt x="-2381" y="293266"/>
                  <a:pt x="-2381" y="278160"/>
                  <a:pt x="6921" y="268858"/>
                </a:cubicBezTo>
                <a:lnTo>
                  <a:pt x="78358" y="197421"/>
                </a:lnTo>
                <a:cubicBezTo>
                  <a:pt x="85204" y="190574"/>
                  <a:pt x="95399" y="188565"/>
                  <a:pt x="104329" y="192286"/>
                </a:cubicBezTo>
                <a:cubicBezTo>
                  <a:pt x="113258" y="196007"/>
                  <a:pt x="119063" y="204713"/>
                  <a:pt x="119063" y="214313"/>
                </a:cubicBezTo>
                <a:lnTo>
                  <a:pt x="119063" y="261938"/>
                </a:lnTo>
                <a:lnTo>
                  <a:pt x="357188" y="261938"/>
                </a:lnTo>
                <a:cubicBezTo>
                  <a:pt x="370359" y="261938"/>
                  <a:pt x="381000" y="272579"/>
                  <a:pt x="381000" y="285750"/>
                </a:cubicBezTo>
                <a:cubicBezTo>
                  <a:pt x="381000" y="298921"/>
                  <a:pt x="370359" y="309563"/>
                  <a:pt x="357188" y="309563"/>
                </a:cubicBezTo>
                <a:lnTo>
                  <a:pt x="119063" y="309563"/>
                </a:lnTo>
                <a:lnTo>
                  <a:pt x="119063" y="357188"/>
                </a:lnTo>
                <a:cubicBezTo>
                  <a:pt x="119063" y="366787"/>
                  <a:pt x="113258" y="375493"/>
                  <a:pt x="104329" y="379214"/>
                </a:cubicBezTo>
                <a:cubicBezTo>
                  <a:pt x="95399" y="382935"/>
                  <a:pt x="85204" y="380851"/>
                  <a:pt x="78358" y="374079"/>
                </a:cubicBezTo>
                <a:close/>
              </a:path>
            </a:pathLst>
          </a:custGeom>
          <a:solidFill>
            <a:srgbClr val="4080FF"/>
          </a:solidFill>
          <a:ln/>
        </p:spPr>
        <p:txBody>
          <a:bodyPr/>
          <a:lstStyle/>
          <a:p>
            <a:endParaRPr lang="es-ES"/>
          </a:p>
        </p:txBody>
      </p:sp>
      <p:sp>
        <p:nvSpPr>
          <p:cNvPr id="7" name="Text 5"/>
          <p:cNvSpPr/>
          <p:nvPr/>
        </p:nvSpPr>
        <p:spPr>
          <a:xfrm>
            <a:off x="540703" y="3810000"/>
            <a:ext cx="3111500" cy="355600"/>
          </a:xfrm>
          <a:prstGeom prst="rect">
            <a:avLst/>
          </a:prstGeom>
          <a:noFill/>
          <a:ln/>
        </p:spPr>
        <p:txBody>
          <a:bodyPr wrap="square" lIns="0" tIns="0" rIns="0" bIns="0" rtlCol="0" anchor="ctr"/>
          <a:lstStyle/>
          <a:p>
            <a:pPr algn="ctr">
              <a:lnSpc>
                <a:spcPct val="130000"/>
              </a:lnSpc>
            </a:pPr>
            <a:r>
              <a:rPr lang="en-US" sz="1800" b="1" dirty="0">
                <a:solidFill>
                  <a:srgbClr val="4080FF"/>
                </a:solidFill>
                <a:latin typeface="MiSans" pitchFamily="34" charset="0"/>
                <a:ea typeface="MiSans" pitchFamily="34" charset="-122"/>
                <a:cs typeface="MiSans" pitchFamily="34" charset="-120"/>
              </a:rPr>
              <a:t>Inestabilidad "Empírica"</a:t>
            </a:r>
            <a:endParaRPr lang="en-US" sz="1600" dirty="0"/>
          </a:p>
        </p:txBody>
      </p:sp>
      <p:sp>
        <p:nvSpPr>
          <p:cNvPr id="8" name="Text 6"/>
          <p:cNvSpPr/>
          <p:nvPr/>
        </p:nvSpPr>
        <p:spPr>
          <a:xfrm>
            <a:off x="508000" y="4267200"/>
            <a:ext cx="3187700" cy="1270000"/>
          </a:xfrm>
          <a:prstGeom prst="rect">
            <a:avLst/>
          </a:prstGeom>
          <a:noFill/>
          <a:ln/>
        </p:spPr>
        <p:txBody>
          <a:bodyPr wrap="square" lIns="0" tIns="0" rIns="0" bIns="0" rtlCol="0" anchor="ctr"/>
          <a:lstStyle/>
          <a:p>
            <a:pPr algn="ctr">
              <a:lnSpc>
                <a:spcPct val="120000"/>
              </a:lnSpc>
            </a:pPr>
            <a:r>
              <a:rPr lang="en-US" sz="1400" dirty="0">
                <a:solidFill>
                  <a:srgbClr val="333333"/>
                </a:solidFill>
                <a:latin typeface="MiSans" pitchFamily="34" charset="0"/>
                <a:ea typeface="MiSans" pitchFamily="34" charset="-122"/>
                <a:cs typeface="MiSans" pitchFamily="34" charset="-120"/>
              </a:rPr>
              <a:t>La temporalidad contractual mejoró, pero la inestabilidad real persiste, replicando la situación previa según análisis de flujos de alta/baja.</a:t>
            </a:r>
            <a:endParaRPr lang="en-US" sz="1600" dirty="0"/>
          </a:p>
        </p:txBody>
      </p:sp>
      <p:sp>
        <p:nvSpPr>
          <p:cNvPr id="9" name="Shape 7"/>
          <p:cNvSpPr/>
          <p:nvPr/>
        </p:nvSpPr>
        <p:spPr>
          <a:xfrm>
            <a:off x="4249420" y="2806700"/>
            <a:ext cx="3657600" cy="3136900"/>
          </a:xfrm>
          <a:custGeom>
            <a:avLst/>
            <a:gdLst/>
            <a:ahLst/>
            <a:cxnLst/>
            <a:rect l="l" t="t" r="r" b="b"/>
            <a:pathLst>
              <a:path w="3657600" h="3136900">
                <a:moveTo>
                  <a:pt x="152391" y="0"/>
                </a:moveTo>
                <a:lnTo>
                  <a:pt x="3505209" y="0"/>
                </a:lnTo>
                <a:cubicBezTo>
                  <a:pt x="3589372" y="0"/>
                  <a:pt x="3657600" y="68228"/>
                  <a:pt x="3657600" y="152391"/>
                </a:cubicBezTo>
                <a:lnTo>
                  <a:pt x="3657600" y="2984509"/>
                </a:lnTo>
                <a:cubicBezTo>
                  <a:pt x="3657600" y="3068672"/>
                  <a:pt x="3589372" y="3136900"/>
                  <a:pt x="3505209" y="3136900"/>
                </a:cubicBezTo>
                <a:lnTo>
                  <a:pt x="152391" y="3136900"/>
                </a:lnTo>
                <a:cubicBezTo>
                  <a:pt x="68228" y="3136900"/>
                  <a:pt x="0" y="3068672"/>
                  <a:pt x="0" y="2984509"/>
                </a:cubicBezTo>
                <a:lnTo>
                  <a:pt x="0" y="152391"/>
                </a:lnTo>
                <a:cubicBezTo>
                  <a:pt x="0" y="68284"/>
                  <a:pt x="68284" y="0"/>
                  <a:pt x="152391" y="0"/>
                </a:cubicBezTo>
                <a:close/>
              </a:path>
            </a:pathLst>
          </a:custGeom>
          <a:solidFill>
            <a:srgbClr val="FFC200">
              <a:alpha val="20000"/>
            </a:srgbClr>
          </a:solidFill>
          <a:ln w="20320">
            <a:solidFill>
              <a:srgbClr val="FFC200"/>
            </a:solidFill>
            <a:prstDash val="solid"/>
          </a:ln>
          <a:effectLst>
            <a:outerShdw blurRad="190500" dist="127000" dir="5400000" algn="bl" rotWithShape="0">
              <a:srgbClr val="000000">
                <a:alpha val="10196"/>
              </a:srgbClr>
            </a:outerShdw>
          </a:effectLst>
        </p:spPr>
        <p:txBody>
          <a:bodyPr/>
          <a:lstStyle/>
          <a:p>
            <a:endParaRPr lang="es-ES"/>
          </a:p>
        </p:txBody>
      </p:sp>
      <p:sp>
        <p:nvSpPr>
          <p:cNvPr id="10" name="Shape 8"/>
          <p:cNvSpPr/>
          <p:nvPr/>
        </p:nvSpPr>
        <p:spPr>
          <a:xfrm>
            <a:off x="5689600" y="3081020"/>
            <a:ext cx="812800" cy="393700"/>
          </a:xfrm>
          <a:custGeom>
            <a:avLst/>
            <a:gdLst/>
            <a:ahLst/>
            <a:cxnLst/>
            <a:rect l="l" t="t" r="r" b="b"/>
            <a:pathLst>
              <a:path w="812800" h="393700">
                <a:moveTo>
                  <a:pt x="196850" y="0"/>
                </a:moveTo>
                <a:lnTo>
                  <a:pt x="615950" y="0"/>
                </a:lnTo>
                <a:cubicBezTo>
                  <a:pt x="724594" y="0"/>
                  <a:pt x="812800" y="88206"/>
                  <a:pt x="812800" y="196850"/>
                </a:cubicBezTo>
                <a:lnTo>
                  <a:pt x="812800" y="196850"/>
                </a:lnTo>
                <a:cubicBezTo>
                  <a:pt x="812800" y="305494"/>
                  <a:pt x="724594" y="393700"/>
                  <a:pt x="615950" y="393700"/>
                </a:cubicBezTo>
                <a:lnTo>
                  <a:pt x="196850" y="393700"/>
                </a:lnTo>
                <a:cubicBezTo>
                  <a:pt x="88206" y="393700"/>
                  <a:pt x="0" y="305494"/>
                  <a:pt x="0" y="196850"/>
                </a:cubicBezTo>
                <a:lnTo>
                  <a:pt x="0" y="196850"/>
                </a:lnTo>
                <a:cubicBezTo>
                  <a:pt x="0" y="88206"/>
                  <a:pt x="88206" y="0"/>
                  <a:pt x="196850" y="0"/>
                </a:cubicBezTo>
                <a:close/>
              </a:path>
            </a:pathLst>
          </a:custGeom>
          <a:solidFill>
            <a:srgbClr val="FFC200">
              <a:alpha val="30196"/>
            </a:srgbClr>
          </a:solidFill>
          <a:ln/>
        </p:spPr>
        <p:txBody>
          <a:bodyPr/>
          <a:lstStyle/>
          <a:p>
            <a:endParaRPr lang="es-ES"/>
          </a:p>
        </p:txBody>
      </p:sp>
      <p:sp>
        <p:nvSpPr>
          <p:cNvPr id="11" name="Shape 9"/>
          <p:cNvSpPr/>
          <p:nvPr/>
        </p:nvSpPr>
        <p:spPr>
          <a:xfrm>
            <a:off x="5908675" y="3086100"/>
            <a:ext cx="381000" cy="381000"/>
          </a:xfrm>
          <a:custGeom>
            <a:avLst/>
            <a:gdLst/>
            <a:ahLst/>
            <a:cxnLst/>
            <a:rect l="l" t="t" r="r" b="b"/>
            <a:pathLst>
              <a:path w="381000" h="381000">
                <a:moveTo>
                  <a:pt x="300484" y="25598"/>
                </a:moveTo>
                <a:cubicBezTo>
                  <a:pt x="309414" y="21878"/>
                  <a:pt x="319608" y="23961"/>
                  <a:pt x="326454" y="30733"/>
                </a:cubicBezTo>
                <a:lnTo>
                  <a:pt x="374079" y="78358"/>
                </a:lnTo>
                <a:cubicBezTo>
                  <a:pt x="378544" y="82823"/>
                  <a:pt x="381074" y="88850"/>
                  <a:pt x="381074" y="95176"/>
                </a:cubicBezTo>
                <a:cubicBezTo>
                  <a:pt x="381074" y="101501"/>
                  <a:pt x="378544" y="107528"/>
                  <a:pt x="374079" y="111993"/>
                </a:cubicBezTo>
                <a:lnTo>
                  <a:pt x="326454" y="159618"/>
                </a:lnTo>
                <a:cubicBezTo>
                  <a:pt x="319608" y="166464"/>
                  <a:pt x="309414" y="168473"/>
                  <a:pt x="300484" y="164753"/>
                </a:cubicBezTo>
                <a:cubicBezTo>
                  <a:pt x="291554" y="161032"/>
                  <a:pt x="285750" y="152474"/>
                  <a:pt x="285750" y="142875"/>
                </a:cubicBezTo>
                <a:lnTo>
                  <a:pt x="285750" y="119063"/>
                </a:lnTo>
                <a:lnTo>
                  <a:pt x="261938" y="119063"/>
                </a:lnTo>
                <a:cubicBezTo>
                  <a:pt x="254422" y="119063"/>
                  <a:pt x="247352" y="122560"/>
                  <a:pt x="242888" y="128588"/>
                </a:cubicBezTo>
                <a:lnTo>
                  <a:pt x="218777" y="160734"/>
                </a:lnTo>
                <a:lnTo>
                  <a:pt x="189012" y="121072"/>
                </a:lnTo>
                <a:lnTo>
                  <a:pt x="204787" y="100012"/>
                </a:lnTo>
                <a:cubicBezTo>
                  <a:pt x="218256" y="82004"/>
                  <a:pt x="239464" y="71438"/>
                  <a:pt x="261938" y="71438"/>
                </a:cubicBezTo>
                <a:lnTo>
                  <a:pt x="285750" y="71438"/>
                </a:lnTo>
                <a:lnTo>
                  <a:pt x="285750" y="47625"/>
                </a:lnTo>
                <a:cubicBezTo>
                  <a:pt x="285750" y="38026"/>
                  <a:pt x="291554" y="29319"/>
                  <a:pt x="300484" y="25598"/>
                </a:cubicBezTo>
                <a:close/>
                <a:moveTo>
                  <a:pt x="114598" y="220266"/>
                </a:moveTo>
                <a:lnTo>
                  <a:pt x="144363" y="259928"/>
                </a:lnTo>
                <a:lnTo>
                  <a:pt x="128588" y="280988"/>
                </a:lnTo>
                <a:cubicBezTo>
                  <a:pt x="115119" y="298996"/>
                  <a:pt x="93911" y="309563"/>
                  <a:pt x="71438" y="309563"/>
                </a:cubicBezTo>
                <a:lnTo>
                  <a:pt x="23812" y="309563"/>
                </a:lnTo>
                <a:cubicBezTo>
                  <a:pt x="10641" y="309563"/>
                  <a:pt x="0" y="298921"/>
                  <a:pt x="0" y="285750"/>
                </a:cubicBezTo>
                <a:cubicBezTo>
                  <a:pt x="0" y="272579"/>
                  <a:pt x="10641" y="261938"/>
                  <a:pt x="23812" y="261938"/>
                </a:cubicBezTo>
                <a:lnTo>
                  <a:pt x="71438" y="261938"/>
                </a:lnTo>
                <a:cubicBezTo>
                  <a:pt x="78953" y="261938"/>
                  <a:pt x="86023" y="258440"/>
                  <a:pt x="90488" y="252413"/>
                </a:cubicBezTo>
                <a:lnTo>
                  <a:pt x="114598" y="220266"/>
                </a:lnTo>
                <a:close/>
                <a:moveTo>
                  <a:pt x="326380" y="350193"/>
                </a:moveTo>
                <a:cubicBezTo>
                  <a:pt x="319534" y="357039"/>
                  <a:pt x="309339" y="359048"/>
                  <a:pt x="300410" y="355327"/>
                </a:cubicBezTo>
                <a:cubicBezTo>
                  <a:pt x="291480" y="351606"/>
                  <a:pt x="285750" y="342974"/>
                  <a:pt x="285750" y="333375"/>
                </a:cubicBezTo>
                <a:lnTo>
                  <a:pt x="285750" y="309563"/>
                </a:lnTo>
                <a:lnTo>
                  <a:pt x="261938" y="309563"/>
                </a:lnTo>
                <a:cubicBezTo>
                  <a:pt x="239464" y="309563"/>
                  <a:pt x="218256" y="298996"/>
                  <a:pt x="204787" y="280988"/>
                </a:cubicBezTo>
                <a:lnTo>
                  <a:pt x="90488" y="128588"/>
                </a:lnTo>
                <a:cubicBezTo>
                  <a:pt x="86023" y="122560"/>
                  <a:pt x="78953" y="119063"/>
                  <a:pt x="71438" y="119063"/>
                </a:cubicBezTo>
                <a:lnTo>
                  <a:pt x="23812" y="119063"/>
                </a:lnTo>
                <a:cubicBezTo>
                  <a:pt x="10641" y="119063"/>
                  <a:pt x="0" y="108421"/>
                  <a:pt x="0" y="95250"/>
                </a:cubicBezTo>
                <a:cubicBezTo>
                  <a:pt x="0" y="82079"/>
                  <a:pt x="10641" y="71438"/>
                  <a:pt x="23812" y="71438"/>
                </a:cubicBezTo>
                <a:lnTo>
                  <a:pt x="71438" y="71438"/>
                </a:lnTo>
                <a:cubicBezTo>
                  <a:pt x="93911" y="71438"/>
                  <a:pt x="115119" y="82004"/>
                  <a:pt x="128588" y="100013"/>
                </a:cubicBezTo>
                <a:lnTo>
                  <a:pt x="242888" y="252413"/>
                </a:lnTo>
                <a:cubicBezTo>
                  <a:pt x="247352" y="258440"/>
                  <a:pt x="254422" y="261938"/>
                  <a:pt x="261938" y="261938"/>
                </a:cubicBezTo>
                <a:lnTo>
                  <a:pt x="285750" y="261938"/>
                </a:lnTo>
                <a:lnTo>
                  <a:pt x="285750" y="238125"/>
                </a:lnTo>
                <a:cubicBezTo>
                  <a:pt x="285750" y="228526"/>
                  <a:pt x="291554" y="219819"/>
                  <a:pt x="300484" y="216098"/>
                </a:cubicBezTo>
                <a:cubicBezTo>
                  <a:pt x="309414" y="212378"/>
                  <a:pt x="319608" y="214461"/>
                  <a:pt x="326454" y="221233"/>
                </a:cubicBezTo>
                <a:lnTo>
                  <a:pt x="374079" y="268858"/>
                </a:lnTo>
                <a:cubicBezTo>
                  <a:pt x="378544" y="273323"/>
                  <a:pt x="381074" y="279350"/>
                  <a:pt x="381074" y="285676"/>
                </a:cubicBezTo>
                <a:cubicBezTo>
                  <a:pt x="381074" y="292001"/>
                  <a:pt x="378544" y="298028"/>
                  <a:pt x="374079" y="302493"/>
                </a:cubicBezTo>
                <a:lnTo>
                  <a:pt x="326454" y="350118"/>
                </a:lnTo>
                <a:close/>
              </a:path>
            </a:pathLst>
          </a:custGeom>
          <a:solidFill>
            <a:srgbClr val="FFC200"/>
          </a:solidFill>
          <a:ln/>
        </p:spPr>
        <p:txBody>
          <a:bodyPr/>
          <a:lstStyle/>
          <a:p>
            <a:endParaRPr lang="es-ES"/>
          </a:p>
        </p:txBody>
      </p:sp>
      <p:sp>
        <p:nvSpPr>
          <p:cNvPr id="12" name="Text 10"/>
          <p:cNvSpPr/>
          <p:nvPr/>
        </p:nvSpPr>
        <p:spPr>
          <a:xfrm>
            <a:off x="4523740" y="3624580"/>
            <a:ext cx="3149600" cy="711200"/>
          </a:xfrm>
          <a:prstGeom prst="rect">
            <a:avLst/>
          </a:prstGeom>
          <a:noFill/>
          <a:ln/>
        </p:spPr>
        <p:txBody>
          <a:bodyPr wrap="square" lIns="0" tIns="0" rIns="0" bIns="0" rtlCol="0" anchor="ctr"/>
          <a:lstStyle/>
          <a:p>
            <a:pPr algn="ctr">
              <a:lnSpc>
                <a:spcPct val="130000"/>
              </a:lnSpc>
            </a:pPr>
            <a:r>
              <a:rPr lang="en-US" sz="1800" b="1" dirty="0">
                <a:solidFill>
                  <a:srgbClr val="333333"/>
                </a:solidFill>
                <a:latin typeface="MiSans" pitchFamily="34" charset="0"/>
                <a:ea typeface="MiSans" pitchFamily="34" charset="-122"/>
                <a:cs typeface="MiSans" pitchFamily="34" charset="-120"/>
              </a:rPr>
              <a:t>El Rol del Fijo-Discontinuo</a:t>
            </a:r>
            <a:endParaRPr lang="en-US" sz="1600" dirty="0"/>
          </a:p>
        </p:txBody>
      </p:sp>
      <p:sp>
        <p:nvSpPr>
          <p:cNvPr id="13" name="Text 11"/>
          <p:cNvSpPr/>
          <p:nvPr/>
        </p:nvSpPr>
        <p:spPr>
          <a:xfrm>
            <a:off x="4523740" y="4437380"/>
            <a:ext cx="3149600" cy="1270000"/>
          </a:xfrm>
          <a:prstGeom prst="rect">
            <a:avLst/>
          </a:prstGeom>
          <a:noFill/>
          <a:ln/>
        </p:spPr>
        <p:txBody>
          <a:bodyPr wrap="square" lIns="0" tIns="0" rIns="0" bIns="0" rtlCol="0" anchor="ctr"/>
          <a:lstStyle/>
          <a:p>
            <a:pPr algn="ctr">
              <a:lnSpc>
                <a:spcPct val="120000"/>
              </a:lnSpc>
            </a:pPr>
            <a:r>
              <a:rPr lang="en-US" sz="1400" dirty="0">
                <a:solidFill>
                  <a:srgbClr val="333333"/>
                </a:solidFill>
                <a:latin typeface="MiSans" pitchFamily="34" charset="0"/>
                <a:ea typeface="MiSans" pitchFamily="34" charset="-122"/>
                <a:cs typeface="MiSans" pitchFamily="34" charset="-120"/>
              </a:rPr>
              <a:t>Este contrato, aunque indefinido, concentra ahora gran parte de la precariedad, mostrando una mayor probabilidad de salida al desempleo.</a:t>
            </a:r>
            <a:endParaRPr lang="en-US" sz="1600" dirty="0"/>
          </a:p>
        </p:txBody>
      </p:sp>
      <p:sp>
        <p:nvSpPr>
          <p:cNvPr id="14" name="Shape 12"/>
          <p:cNvSpPr/>
          <p:nvPr/>
        </p:nvSpPr>
        <p:spPr>
          <a:xfrm>
            <a:off x="8247380" y="2997200"/>
            <a:ext cx="3695700" cy="2794000"/>
          </a:xfrm>
          <a:custGeom>
            <a:avLst/>
            <a:gdLst/>
            <a:ahLst/>
            <a:cxnLst/>
            <a:rect l="l" t="t" r="r" b="b"/>
            <a:pathLst>
              <a:path w="3695700" h="2794000">
                <a:moveTo>
                  <a:pt x="152413" y="0"/>
                </a:moveTo>
                <a:lnTo>
                  <a:pt x="3543287" y="0"/>
                </a:lnTo>
                <a:cubicBezTo>
                  <a:pt x="3627463" y="0"/>
                  <a:pt x="3695700" y="68237"/>
                  <a:pt x="3695700" y="152413"/>
                </a:cubicBezTo>
                <a:lnTo>
                  <a:pt x="3695700" y="2641587"/>
                </a:lnTo>
                <a:cubicBezTo>
                  <a:pt x="3695700" y="2725763"/>
                  <a:pt x="3627463" y="2794000"/>
                  <a:pt x="3543287" y="2794000"/>
                </a:cubicBezTo>
                <a:lnTo>
                  <a:pt x="152413" y="2794000"/>
                </a:lnTo>
                <a:cubicBezTo>
                  <a:pt x="68237" y="2794000"/>
                  <a:pt x="0" y="2725763"/>
                  <a:pt x="0" y="2641587"/>
                </a:cubicBezTo>
                <a:lnTo>
                  <a:pt x="0" y="152413"/>
                </a:lnTo>
                <a:cubicBezTo>
                  <a:pt x="0" y="68237"/>
                  <a:pt x="68237" y="0"/>
                  <a:pt x="152413" y="0"/>
                </a:cubicBezTo>
                <a:close/>
              </a:path>
            </a:pathLst>
          </a:custGeom>
          <a:solidFill>
            <a:srgbClr val="FF5E5E">
              <a:alpha val="10196"/>
            </a:srgbClr>
          </a:solidFill>
          <a:ln/>
          <a:effectLst>
            <a:outerShdw blurRad="76200" dist="50800" dir="5400000" algn="bl" rotWithShape="0">
              <a:srgbClr val="000000">
                <a:alpha val="10196"/>
              </a:srgbClr>
            </a:outerShdw>
          </a:effectLst>
        </p:spPr>
        <p:txBody>
          <a:bodyPr/>
          <a:lstStyle/>
          <a:p>
            <a:endParaRPr lang="es-ES"/>
          </a:p>
        </p:txBody>
      </p:sp>
      <p:sp>
        <p:nvSpPr>
          <p:cNvPr id="15" name="Shape 13"/>
          <p:cNvSpPr/>
          <p:nvPr/>
        </p:nvSpPr>
        <p:spPr>
          <a:xfrm>
            <a:off x="9686290" y="3251200"/>
            <a:ext cx="812800" cy="381000"/>
          </a:xfrm>
          <a:custGeom>
            <a:avLst/>
            <a:gdLst/>
            <a:ahLst/>
            <a:cxnLst/>
            <a:rect l="l" t="t" r="r" b="b"/>
            <a:pathLst>
              <a:path w="812800" h="381000">
                <a:moveTo>
                  <a:pt x="190500" y="0"/>
                </a:moveTo>
                <a:lnTo>
                  <a:pt x="622300" y="0"/>
                </a:lnTo>
                <a:cubicBezTo>
                  <a:pt x="727440" y="0"/>
                  <a:pt x="812800" y="85360"/>
                  <a:pt x="812800" y="190500"/>
                </a:cubicBezTo>
                <a:lnTo>
                  <a:pt x="812800" y="190500"/>
                </a:lnTo>
                <a:cubicBezTo>
                  <a:pt x="812800" y="295640"/>
                  <a:pt x="727440" y="381000"/>
                  <a:pt x="622300" y="381000"/>
                </a:cubicBezTo>
                <a:lnTo>
                  <a:pt x="190500" y="381000"/>
                </a:lnTo>
                <a:cubicBezTo>
                  <a:pt x="85360" y="381000"/>
                  <a:pt x="0" y="295640"/>
                  <a:pt x="0" y="190500"/>
                </a:cubicBezTo>
                <a:lnTo>
                  <a:pt x="0" y="190500"/>
                </a:lnTo>
                <a:cubicBezTo>
                  <a:pt x="0" y="85360"/>
                  <a:pt x="85360" y="0"/>
                  <a:pt x="190500" y="0"/>
                </a:cubicBezTo>
                <a:close/>
              </a:path>
            </a:pathLst>
          </a:custGeom>
          <a:solidFill>
            <a:srgbClr val="FF5E5E">
              <a:alpha val="20000"/>
            </a:srgbClr>
          </a:solidFill>
          <a:ln/>
        </p:spPr>
        <p:txBody>
          <a:bodyPr/>
          <a:lstStyle/>
          <a:p>
            <a:endParaRPr lang="es-ES"/>
          </a:p>
        </p:txBody>
      </p:sp>
      <p:sp>
        <p:nvSpPr>
          <p:cNvPr id="16" name="Shape 14"/>
          <p:cNvSpPr/>
          <p:nvPr/>
        </p:nvSpPr>
        <p:spPr>
          <a:xfrm>
            <a:off x="9881553" y="3251200"/>
            <a:ext cx="428625" cy="381000"/>
          </a:xfrm>
          <a:custGeom>
            <a:avLst/>
            <a:gdLst/>
            <a:ahLst/>
            <a:cxnLst/>
            <a:rect l="l" t="t" r="r" b="b"/>
            <a:pathLst>
              <a:path w="428625" h="381000">
                <a:moveTo>
                  <a:pt x="285750" y="261938"/>
                </a:moveTo>
                <a:cubicBezTo>
                  <a:pt x="272579" y="261938"/>
                  <a:pt x="261938" y="272579"/>
                  <a:pt x="261938" y="285750"/>
                </a:cubicBezTo>
                <a:cubicBezTo>
                  <a:pt x="261938" y="298921"/>
                  <a:pt x="272579" y="309563"/>
                  <a:pt x="285750" y="309563"/>
                </a:cubicBezTo>
                <a:lnTo>
                  <a:pt x="404813" y="309563"/>
                </a:lnTo>
                <a:cubicBezTo>
                  <a:pt x="417984" y="309563"/>
                  <a:pt x="428625" y="298921"/>
                  <a:pt x="428625" y="285750"/>
                </a:cubicBezTo>
                <a:lnTo>
                  <a:pt x="428625" y="166688"/>
                </a:lnTo>
                <a:cubicBezTo>
                  <a:pt x="428625" y="153516"/>
                  <a:pt x="417984" y="142875"/>
                  <a:pt x="404813" y="142875"/>
                </a:cubicBezTo>
                <a:cubicBezTo>
                  <a:pt x="391641" y="142875"/>
                  <a:pt x="381000" y="153516"/>
                  <a:pt x="381000" y="166688"/>
                </a:cubicBezTo>
                <a:lnTo>
                  <a:pt x="381000" y="228228"/>
                </a:lnTo>
                <a:lnTo>
                  <a:pt x="254943" y="102171"/>
                </a:lnTo>
                <a:cubicBezTo>
                  <a:pt x="245641" y="92869"/>
                  <a:pt x="230535" y="92869"/>
                  <a:pt x="221233" y="102171"/>
                </a:cubicBezTo>
                <a:lnTo>
                  <a:pt x="142875" y="180603"/>
                </a:lnTo>
                <a:lnTo>
                  <a:pt x="40630" y="78432"/>
                </a:lnTo>
                <a:cubicBezTo>
                  <a:pt x="31328" y="69131"/>
                  <a:pt x="16222" y="69131"/>
                  <a:pt x="6921" y="78432"/>
                </a:cubicBezTo>
                <a:cubicBezTo>
                  <a:pt x="-2381" y="87734"/>
                  <a:pt x="-2381" y="102840"/>
                  <a:pt x="6921" y="112142"/>
                </a:cubicBezTo>
                <a:lnTo>
                  <a:pt x="125983" y="231204"/>
                </a:lnTo>
                <a:cubicBezTo>
                  <a:pt x="135285" y="240506"/>
                  <a:pt x="150391" y="240506"/>
                  <a:pt x="159693" y="231204"/>
                </a:cubicBezTo>
                <a:lnTo>
                  <a:pt x="238125" y="152772"/>
                </a:lnTo>
                <a:lnTo>
                  <a:pt x="347290" y="261938"/>
                </a:lnTo>
                <a:lnTo>
                  <a:pt x="285750" y="261938"/>
                </a:lnTo>
                <a:close/>
              </a:path>
            </a:pathLst>
          </a:custGeom>
          <a:solidFill>
            <a:srgbClr val="FF5E5E"/>
          </a:solidFill>
          <a:ln/>
        </p:spPr>
        <p:txBody>
          <a:bodyPr/>
          <a:lstStyle/>
          <a:p>
            <a:endParaRPr lang="es-ES"/>
          </a:p>
        </p:txBody>
      </p:sp>
      <p:sp>
        <p:nvSpPr>
          <p:cNvPr id="17" name="Text 15"/>
          <p:cNvSpPr/>
          <p:nvPr/>
        </p:nvSpPr>
        <p:spPr>
          <a:xfrm>
            <a:off x="8501380" y="3784600"/>
            <a:ext cx="3187700" cy="711200"/>
          </a:xfrm>
          <a:prstGeom prst="rect">
            <a:avLst/>
          </a:prstGeom>
          <a:noFill/>
          <a:ln/>
        </p:spPr>
        <p:txBody>
          <a:bodyPr wrap="square" lIns="0" tIns="0" rIns="0" bIns="0" rtlCol="0" anchor="ctr"/>
          <a:lstStyle/>
          <a:p>
            <a:pPr algn="ctr">
              <a:lnSpc>
                <a:spcPct val="130000"/>
              </a:lnSpc>
            </a:pPr>
            <a:r>
              <a:rPr lang="en-US" sz="1800" b="1" dirty="0">
                <a:solidFill>
                  <a:srgbClr val="FF5E5E"/>
                </a:solidFill>
                <a:latin typeface="MiSans" pitchFamily="34" charset="0"/>
                <a:ea typeface="MiSans" pitchFamily="34" charset="-122"/>
                <a:cs typeface="MiSans" pitchFamily="34" charset="-120"/>
              </a:rPr>
              <a:t>Inestabilidad en Fijos Ordinarios</a:t>
            </a:r>
            <a:endParaRPr lang="en-US" sz="1600" dirty="0"/>
          </a:p>
        </p:txBody>
      </p:sp>
      <p:sp>
        <p:nvSpPr>
          <p:cNvPr id="18" name="Text 16"/>
          <p:cNvSpPr/>
          <p:nvPr/>
        </p:nvSpPr>
        <p:spPr>
          <a:xfrm>
            <a:off x="8501380" y="4597400"/>
            <a:ext cx="3187700" cy="1016000"/>
          </a:xfrm>
          <a:prstGeom prst="rect">
            <a:avLst/>
          </a:prstGeom>
          <a:noFill/>
          <a:ln/>
        </p:spPr>
        <p:txBody>
          <a:bodyPr wrap="square" lIns="0" tIns="0" rIns="0" bIns="0" rtlCol="0" anchor="ctr"/>
          <a:lstStyle/>
          <a:p>
            <a:pPr algn="ctr">
              <a:lnSpc>
                <a:spcPct val="120000"/>
              </a:lnSpc>
            </a:pPr>
            <a:r>
              <a:rPr lang="en-US" sz="1400" dirty="0">
                <a:solidFill>
                  <a:srgbClr val="333333"/>
                </a:solidFill>
                <a:latin typeface="MiSans" pitchFamily="34" charset="0"/>
                <a:ea typeface="MiSans" pitchFamily="34" charset="-122"/>
                <a:cs typeface="MiSans" pitchFamily="34" charset="-120"/>
              </a:rPr>
              <a:t>La supervivencia de los contratos indefinidos "clásicos" cayó del </a:t>
            </a:r>
            <a:r>
              <a:rPr lang="en-US" sz="1400" b="1" dirty="0">
                <a:solidFill>
                  <a:srgbClr val="333333"/>
                </a:solidFill>
                <a:latin typeface="MiSans" pitchFamily="34" charset="0"/>
                <a:ea typeface="MiSans" pitchFamily="34" charset="-122"/>
                <a:cs typeface="MiSans" pitchFamily="34" charset="-120"/>
              </a:rPr>
              <a:t>52.5%</a:t>
            </a:r>
            <a:r>
              <a:rPr lang="en-US" sz="1400" dirty="0">
                <a:solidFill>
                  <a:srgbClr val="333333"/>
                </a:solidFill>
                <a:latin typeface="MiSans" pitchFamily="34" charset="0"/>
                <a:ea typeface="MiSans" pitchFamily="34" charset="-122"/>
                <a:cs typeface="MiSans" pitchFamily="34" charset="-120"/>
              </a:rPr>
              <a:t> al </a:t>
            </a:r>
            <a:r>
              <a:rPr lang="en-US" sz="1400" b="1" dirty="0">
                <a:solidFill>
                  <a:srgbClr val="333333"/>
                </a:solidFill>
                <a:latin typeface="MiSans" pitchFamily="34" charset="0"/>
                <a:ea typeface="MiSans" pitchFamily="34" charset="-122"/>
                <a:cs typeface="MiSans" pitchFamily="34" charset="-120"/>
              </a:rPr>
              <a:t>48%</a:t>
            </a:r>
            <a:r>
              <a:rPr lang="en-US" sz="1400" dirty="0">
                <a:solidFill>
                  <a:srgbClr val="333333"/>
                </a:solidFill>
                <a:latin typeface="MiSans" pitchFamily="34" charset="0"/>
                <a:ea typeface="MiSans" pitchFamily="34" charset="-122"/>
                <a:cs typeface="MiSans" pitchFamily="34" charset="-120"/>
              </a:rPr>
              <a:t>, sugiriendo más rotación interna.</a:t>
            </a:r>
            <a:endParaRPr lang="en-US" sz="1600" dirty="0"/>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89902" y="857375"/>
            <a:ext cx="12065000" cy="457200"/>
          </a:xfrm>
          <a:prstGeom prst="rect">
            <a:avLst/>
          </a:prstGeom>
          <a:noFill/>
          <a:ln/>
        </p:spPr>
        <p:txBody>
          <a:bodyPr wrap="square" lIns="0" tIns="0" rIns="0" bIns="0" rtlCol="0" anchor="ctr"/>
          <a:lstStyle/>
          <a:p>
            <a:pPr>
              <a:lnSpc>
                <a:spcPct val="100000"/>
              </a:lnSpc>
            </a:pPr>
            <a:r>
              <a:rPr lang="en-US" sz="3000" b="1" dirty="0">
                <a:solidFill>
                  <a:srgbClr val="00AEEF"/>
                </a:solidFill>
                <a:latin typeface="Noto Sans SC" pitchFamily="34" charset="0"/>
                <a:ea typeface="Noto Sans SC" pitchFamily="34" charset="-122"/>
                <a:cs typeface="Noto Sans SC" pitchFamily="34" charset="-120"/>
              </a:rPr>
              <a:t>Indicadores a Favor: ¿Un Mercado Más Estable?</a:t>
            </a:r>
            <a:endParaRPr lang="en-US" sz="1600" dirty="0"/>
          </a:p>
        </p:txBody>
      </p:sp>
      <p:sp>
        <p:nvSpPr>
          <p:cNvPr id="3" name="Text 1"/>
          <p:cNvSpPr/>
          <p:nvPr/>
        </p:nvSpPr>
        <p:spPr>
          <a:xfrm>
            <a:off x="1047102" y="2375155"/>
            <a:ext cx="9753600" cy="609600"/>
          </a:xfrm>
          <a:prstGeom prst="rect">
            <a:avLst/>
          </a:prstGeom>
          <a:noFill/>
          <a:ln/>
        </p:spPr>
        <p:txBody>
          <a:bodyPr wrap="square" lIns="0" tIns="0" rIns="0" bIns="0" rtlCol="0" anchor="ctr"/>
          <a:lstStyle/>
          <a:p>
            <a:pPr>
              <a:lnSpc>
                <a:spcPct val="130000"/>
              </a:lnSpc>
            </a:pPr>
            <a:r>
              <a:rPr lang="en-US" sz="1600" dirty="0">
                <a:solidFill>
                  <a:srgbClr val="333333"/>
                </a:solidFill>
                <a:latin typeface="MiSans" pitchFamily="34" charset="0"/>
                <a:ea typeface="MiSans" pitchFamily="34" charset="-122"/>
                <a:cs typeface="MiSans" pitchFamily="34" charset="-120"/>
              </a:rPr>
              <a:t>La reforma logró reducir la rotación y mejorar la permanencia en el empleo, reflejando una mayor estabilidad objetiva.</a:t>
            </a:r>
            <a:endParaRPr lang="en-US" sz="1600" dirty="0"/>
          </a:p>
        </p:txBody>
      </p:sp>
      <p:sp>
        <p:nvSpPr>
          <p:cNvPr id="4" name="Shape 2"/>
          <p:cNvSpPr/>
          <p:nvPr/>
        </p:nvSpPr>
        <p:spPr>
          <a:xfrm>
            <a:off x="1047102" y="3391155"/>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00AEEF">
              <a:alpha val="20000"/>
            </a:srgbClr>
          </a:solidFill>
          <a:ln/>
        </p:spPr>
        <p:txBody>
          <a:bodyPr/>
          <a:lstStyle/>
          <a:p>
            <a:endParaRPr lang="es-ES"/>
          </a:p>
        </p:txBody>
      </p:sp>
      <p:sp>
        <p:nvSpPr>
          <p:cNvPr id="5" name="Shape 3"/>
          <p:cNvSpPr/>
          <p:nvPr/>
        </p:nvSpPr>
        <p:spPr>
          <a:xfrm>
            <a:off x="1218552" y="3607055"/>
            <a:ext cx="476250" cy="381000"/>
          </a:xfrm>
          <a:custGeom>
            <a:avLst/>
            <a:gdLst/>
            <a:ahLst/>
            <a:cxnLst/>
            <a:rect l="l" t="t" r="r" b="b"/>
            <a:pathLst>
              <a:path w="476250" h="381000">
                <a:moveTo>
                  <a:pt x="47699" y="47625"/>
                </a:moveTo>
                <a:cubicBezTo>
                  <a:pt x="47699" y="21357"/>
                  <a:pt x="69056" y="0"/>
                  <a:pt x="95324" y="0"/>
                </a:cubicBezTo>
                <a:lnTo>
                  <a:pt x="206573" y="0"/>
                </a:lnTo>
                <a:cubicBezTo>
                  <a:pt x="219224" y="0"/>
                  <a:pt x="231353" y="4986"/>
                  <a:pt x="240283" y="13915"/>
                </a:cubicBezTo>
                <a:lnTo>
                  <a:pt x="319460" y="93241"/>
                </a:lnTo>
                <a:cubicBezTo>
                  <a:pt x="328389" y="102171"/>
                  <a:pt x="333375" y="114300"/>
                  <a:pt x="333375" y="126950"/>
                </a:cubicBezTo>
                <a:lnTo>
                  <a:pt x="333375" y="199504"/>
                </a:lnTo>
                <a:lnTo>
                  <a:pt x="235148" y="297731"/>
                </a:lnTo>
                <a:lnTo>
                  <a:pt x="203820" y="297731"/>
                </a:lnTo>
                <a:lnTo>
                  <a:pt x="191839" y="257845"/>
                </a:lnTo>
                <a:cubicBezTo>
                  <a:pt x="188342" y="246162"/>
                  <a:pt x="177626" y="238199"/>
                  <a:pt x="165422" y="238199"/>
                </a:cubicBezTo>
                <a:cubicBezTo>
                  <a:pt x="157014" y="238199"/>
                  <a:pt x="149126" y="241995"/>
                  <a:pt x="143917" y="248543"/>
                </a:cubicBezTo>
                <a:lnTo>
                  <a:pt x="99194" y="304354"/>
                </a:lnTo>
                <a:cubicBezTo>
                  <a:pt x="93018" y="312018"/>
                  <a:pt x="94283" y="323329"/>
                  <a:pt x="101947" y="329431"/>
                </a:cubicBezTo>
                <a:cubicBezTo>
                  <a:pt x="109612" y="335533"/>
                  <a:pt x="120923" y="334342"/>
                  <a:pt x="127025" y="326603"/>
                </a:cubicBezTo>
                <a:lnTo>
                  <a:pt x="162074" y="282848"/>
                </a:lnTo>
                <a:lnTo>
                  <a:pt x="173385" y="320576"/>
                </a:lnTo>
                <a:cubicBezTo>
                  <a:pt x="175617" y="328166"/>
                  <a:pt x="182612" y="333301"/>
                  <a:pt x="190500" y="333301"/>
                </a:cubicBezTo>
                <a:lnTo>
                  <a:pt x="213940" y="333301"/>
                </a:lnTo>
                <a:cubicBezTo>
                  <a:pt x="213271" y="335607"/>
                  <a:pt x="212675" y="337989"/>
                  <a:pt x="212229" y="340370"/>
                </a:cubicBezTo>
                <a:lnTo>
                  <a:pt x="204118" y="380926"/>
                </a:lnTo>
                <a:lnTo>
                  <a:pt x="95324" y="380926"/>
                </a:lnTo>
                <a:cubicBezTo>
                  <a:pt x="69056" y="380926"/>
                  <a:pt x="47699" y="359569"/>
                  <a:pt x="47699" y="333301"/>
                </a:cubicBezTo>
                <a:lnTo>
                  <a:pt x="47699" y="47551"/>
                </a:lnTo>
                <a:close/>
                <a:moveTo>
                  <a:pt x="202481" y="43532"/>
                </a:moveTo>
                <a:lnTo>
                  <a:pt x="202481" y="113109"/>
                </a:lnTo>
                <a:cubicBezTo>
                  <a:pt x="202481" y="123006"/>
                  <a:pt x="210443" y="130969"/>
                  <a:pt x="220340" y="130969"/>
                </a:cubicBezTo>
                <a:lnTo>
                  <a:pt x="289917" y="130969"/>
                </a:lnTo>
                <a:lnTo>
                  <a:pt x="202481" y="43532"/>
                </a:lnTo>
                <a:close/>
                <a:moveTo>
                  <a:pt x="247278" y="347439"/>
                </a:moveTo>
                <a:cubicBezTo>
                  <a:pt x="249138" y="338212"/>
                  <a:pt x="253678" y="329729"/>
                  <a:pt x="260300" y="323106"/>
                </a:cubicBezTo>
                <a:lnTo>
                  <a:pt x="348779" y="234628"/>
                </a:lnTo>
                <a:lnTo>
                  <a:pt x="408310" y="294159"/>
                </a:lnTo>
                <a:lnTo>
                  <a:pt x="319832" y="382637"/>
                </a:lnTo>
                <a:cubicBezTo>
                  <a:pt x="313209" y="389260"/>
                  <a:pt x="304726" y="393799"/>
                  <a:pt x="295498" y="395660"/>
                </a:cubicBezTo>
                <a:lnTo>
                  <a:pt x="251147" y="404515"/>
                </a:lnTo>
                <a:cubicBezTo>
                  <a:pt x="250478" y="404664"/>
                  <a:pt x="249734" y="404738"/>
                  <a:pt x="248989" y="404738"/>
                </a:cubicBezTo>
                <a:cubicBezTo>
                  <a:pt x="243036" y="404738"/>
                  <a:pt x="238125" y="399901"/>
                  <a:pt x="238125" y="393874"/>
                </a:cubicBezTo>
                <a:cubicBezTo>
                  <a:pt x="238125" y="393129"/>
                  <a:pt x="238199" y="392460"/>
                  <a:pt x="238348" y="391716"/>
                </a:cubicBezTo>
                <a:lnTo>
                  <a:pt x="247204" y="347365"/>
                </a:lnTo>
                <a:close/>
                <a:moveTo>
                  <a:pt x="446559" y="255910"/>
                </a:moveTo>
                <a:lnTo>
                  <a:pt x="425128" y="277341"/>
                </a:lnTo>
                <a:lnTo>
                  <a:pt x="365596" y="217810"/>
                </a:lnTo>
                <a:lnTo>
                  <a:pt x="387028" y="196379"/>
                </a:lnTo>
                <a:cubicBezTo>
                  <a:pt x="403473" y="179933"/>
                  <a:pt x="430113" y="179933"/>
                  <a:pt x="446559" y="196379"/>
                </a:cubicBezTo>
                <a:cubicBezTo>
                  <a:pt x="463004" y="212824"/>
                  <a:pt x="463004" y="239464"/>
                  <a:pt x="446559" y="255910"/>
                </a:cubicBezTo>
                <a:close/>
              </a:path>
            </a:pathLst>
          </a:custGeom>
          <a:solidFill>
            <a:srgbClr val="00AEEF"/>
          </a:solidFill>
          <a:ln/>
        </p:spPr>
        <p:txBody>
          <a:bodyPr/>
          <a:lstStyle/>
          <a:p>
            <a:endParaRPr lang="es-ES"/>
          </a:p>
        </p:txBody>
      </p:sp>
      <p:sp>
        <p:nvSpPr>
          <p:cNvPr id="6" name="Text 4"/>
          <p:cNvSpPr/>
          <p:nvPr/>
        </p:nvSpPr>
        <p:spPr>
          <a:xfrm>
            <a:off x="2063102" y="3411475"/>
            <a:ext cx="3848100" cy="520700"/>
          </a:xfrm>
          <a:prstGeom prst="rect">
            <a:avLst/>
          </a:prstGeom>
          <a:noFill/>
          <a:ln/>
        </p:spPr>
        <p:txBody>
          <a:bodyPr wrap="square" lIns="0" tIns="0" rIns="0" bIns="0" rtlCol="0" anchor="ctr"/>
          <a:lstStyle/>
          <a:p>
            <a:pPr>
              <a:lnSpc>
                <a:spcPct val="90000"/>
              </a:lnSpc>
            </a:pPr>
            <a:r>
              <a:rPr lang="en-US" sz="3600" b="1" dirty="0">
                <a:solidFill>
                  <a:srgbClr val="00AEEF"/>
                </a:solidFill>
                <a:latin typeface="Noto Sans SC" pitchFamily="34" charset="0"/>
                <a:ea typeface="Noto Sans SC" pitchFamily="34" charset="-122"/>
                <a:cs typeface="Noto Sans SC" pitchFamily="34" charset="-120"/>
              </a:rPr>
              <a:t>20.3M </a:t>
            </a:r>
            <a:r>
              <a:rPr lang="en-US" sz="2400" b="1" dirty="0">
                <a:solidFill>
                  <a:srgbClr val="00AEEF"/>
                </a:solidFill>
                <a:latin typeface="Noto Sans SC" pitchFamily="34" charset="0"/>
                <a:ea typeface="Noto Sans SC" pitchFamily="34" charset="-122"/>
                <a:cs typeface="Noto Sans SC" pitchFamily="34" charset="-120"/>
              </a:rPr>
              <a:t>→</a:t>
            </a:r>
            <a:r>
              <a:rPr lang="en-US" sz="3600" b="1" dirty="0">
                <a:solidFill>
                  <a:srgbClr val="00AEEF"/>
                </a:solidFill>
                <a:latin typeface="Noto Sans SC" pitchFamily="34" charset="0"/>
                <a:ea typeface="Noto Sans SC" pitchFamily="34" charset="-122"/>
                <a:cs typeface="Noto Sans SC" pitchFamily="34" charset="-120"/>
              </a:rPr>
              <a:t> 15.4M</a:t>
            </a:r>
            <a:endParaRPr lang="en-US" sz="1600" dirty="0"/>
          </a:p>
        </p:txBody>
      </p:sp>
      <p:sp>
        <p:nvSpPr>
          <p:cNvPr id="7" name="Text 5"/>
          <p:cNvSpPr/>
          <p:nvPr/>
        </p:nvSpPr>
        <p:spPr>
          <a:xfrm>
            <a:off x="2063102" y="3929476"/>
            <a:ext cx="3568700" cy="254000"/>
          </a:xfrm>
          <a:prstGeom prst="rect">
            <a:avLst/>
          </a:prstGeom>
          <a:noFill/>
          <a:ln/>
        </p:spPr>
        <p:txBody>
          <a:bodyPr wrap="square" lIns="0" tIns="0" rIns="0" bIns="0" rtlCol="0" anchor="ctr"/>
          <a:lstStyle/>
          <a:p>
            <a:pPr>
              <a:lnSpc>
                <a:spcPct val="120000"/>
              </a:lnSpc>
            </a:pPr>
            <a:r>
              <a:rPr lang="en-US" sz="1400" b="1" dirty="0">
                <a:solidFill>
                  <a:srgbClr val="333333"/>
                </a:solidFill>
                <a:latin typeface="MiSans" pitchFamily="34" charset="0"/>
                <a:ea typeface="MiSans" pitchFamily="34" charset="-122"/>
                <a:cs typeface="MiSans" pitchFamily="34" charset="-120"/>
              </a:rPr>
              <a:t>Contratos Anuales Firmados</a:t>
            </a:r>
            <a:endParaRPr lang="en-US" sz="1600" dirty="0"/>
          </a:p>
        </p:txBody>
      </p:sp>
      <p:sp>
        <p:nvSpPr>
          <p:cNvPr id="8" name="Shape 6"/>
          <p:cNvSpPr/>
          <p:nvPr/>
        </p:nvSpPr>
        <p:spPr>
          <a:xfrm>
            <a:off x="7092302" y="3391155"/>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00AEEF">
              <a:alpha val="20000"/>
            </a:srgbClr>
          </a:solidFill>
          <a:ln/>
        </p:spPr>
        <p:txBody>
          <a:bodyPr/>
          <a:lstStyle/>
          <a:p>
            <a:endParaRPr lang="es-ES"/>
          </a:p>
        </p:txBody>
      </p:sp>
      <p:sp>
        <p:nvSpPr>
          <p:cNvPr id="9" name="Shape 7"/>
          <p:cNvSpPr/>
          <p:nvPr/>
        </p:nvSpPr>
        <p:spPr>
          <a:xfrm>
            <a:off x="7311377" y="3607055"/>
            <a:ext cx="381000" cy="381000"/>
          </a:xfrm>
          <a:custGeom>
            <a:avLst/>
            <a:gdLst/>
            <a:ahLst/>
            <a:cxnLst/>
            <a:rect l="l" t="t" r="r" b="b"/>
            <a:pathLst>
              <a:path w="381000" h="381000">
                <a:moveTo>
                  <a:pt x="47625" y="47625"/>
                </a:moveTo>
                <a:cubicBezTo>
                  <a:pt x="47625" y="34454"/>
                  <a:pt x="36984" y="23812"/>
                  <a:pt x="23812" y="23812"/>
                </a:cubicBezTo>
                <a:cubicBezTo>
                  <a:pt x="10641" y="23812"/>
                  <a:pt x="0" y="34454"/>
                  <a:pt x="0" y="47625"/>
                </a:cubicBezTo>
                <a:lnTo>
                  <a:pt x="0" y="297656"/>
                </a:lnTo>
                <a:cubicBezTo>
                  <a:pt x="0" y="330547"/>
                  <a:pt x="26640" y="357188"/>
                  <a:pt x="59531" y="357188"/>
                </a:cubicBezTo>
                <a:lnTo>
                  <a:pt x="357188" y="357188"/>
                </a:lnTo>
                <a:cubicBezTo>
                  <a:pt x="370359" y="357188"/>
                  <a:pt x="381000" y="346546"/>
                  <a:pt x="381000" y="333375"/>
                </a:cubicBezTo>
                <a:cubicBezTo>
                  <a:pt x="381000" y="320204"/>
                  <a:pt x="370359" y="309563"/>
                  <a:pt x="357188" y="309563"/>
                </a:cubicBezTo>
                <a:lnTo>
                  <a:pt x="59531" y="309563"/>
                </a:lnTo>
                <a:cubicBezTo>
                  <a:pt x="52983" y="309563"/>
                  <a:pt x="47625" y="304205"/>
                  <a:pt x="47625" y="297656"/>
                </a:cubicBezTo>
                <a:lnTo>
                  <a:pt x="47625" y="47625"/>
                </a:lnTo>
                <a:close/>
                <a:moveTo>
                  <a:pt x="350193" y="112068"/>
                </a:moveTo>
                <a:cubicBezTo>
                  <a:pt x="359494" y="102766"/>
                  <a:pt x="359494" y="87660"/>
                  <a:pt x="350193" y="78358"/>
                </a:cubicBezTo>
                <a:cubicBezTo>
                  <a:pt x="340891" y="69056"/>
                  <a:pt x="325785" y="69056"/>
                  <a:pt x="316483" y="78358"/>
                </a:cubicBezTo>
                <a:lnTo>
                  <a:pt x="238125" y="156790"/>
                </a:lnTo>
                <a:lnTo>
                  <a:pt x="195411" y="114151"/>
                </a:lnTo>
                <a:cubicBezTo>
                  <a:pt x="186110" y="104849"/>
                  <a:pt x="171004" y="104849"/>
                  <a:pt x="161702" y="114151"/>
                </a:cubicBezTo>
                <a:lnTo>
                  <a:pt x="90264" y="185589"/>
                </a:lnTo>
                <a:cubicBezTo>
                  <a:pt x="80963" y="194890"/>
                  <a:pt x="80963" y="209996"/>
                  <a:pt x="90264" y="219298"/>
                </a:cubicBezTo>
                <a:cubicBezTo>
                  <a:pt x="99566" y="228600"/>
                  <a:pt x="114672" y="228600"/>
                  <a:pt x="123974" y="219298"/>
                </a:cubicBezTo>
                <a:lnTo>
                  <a:pt x="178594" y="164678"/>
                </a:lnTo>
                <a:lnTo>
                  <a:pt x="221307" y="207392"/>
                </a:lnTo>
                <a:cubicBezTo>
                  <a:pt x="230609" y="216694"/>
                  <a:pt x="245715" y="216694"/>
                  <a:pt x="255017" y="207392"/>
                </a:cubicBezTo>
                <a:lnTo>
                  <a:pt x="350267" y="112142"/>
                </a:lnTo>
                <a:close/>
              </a:path>
            </a:pathLst>
          </a:custGeom>
          <a:solidFill>
            <a:srgbClr val="00AEEF"/>
          </a:solidFill>
          <a:ln/>
        </p:spPr>
        <p:txBody>
          <a:bodyPr/>
          <a:lstStyle/>
          <a:p>
            <a:endParaRPr lang="es-ES"/>
          </a:p>
        </p:txBody>
      </p:sp>
      <p:sp>
        <p:nvSpPr>
          <p:cNvPr id="10" name="Text 8"/>
          <p:cNvSpPr/>
          <p:nvPr/>
        </p:nvSpPr>
        <p:spPr>
          <a:xfrm>
            <a:off x="8108302" y="3411475"/>
            <a:ext cx="3594100" cy="520700"/>
          </a:xfrm>
          <a:prstGeom prst="rect">
            <a:avLst/>
          </a:prstGeom>
          <a:noFill/>
          <a:ln/>
        </p:spPr>
        <p:txBody>
          <a:bodyPr wrap="square" lIns="0" tIns="0" rIns="0" bIns="0" rtlCol="0" anchor="ctr"/>
          <a:lstStyle/>
          <a:p>
            <a:pPr>
              <a:lnSpc>
                <a:spcPct val="90000"/>
              </a:lnSpc>
            </a:pPr>
            <a:r>
              <a:rPr lang="en-US" sz="3600" b="1" dirty="0">
                <a:solidFill>
                  <a:srgbClr val="00AEEF"/>
                </a:solidFill>
                <a:latin typeface="Noto Sans SC" pitchFamily="34" charset="0"/>
                <a:ea typeface="Noto Sans SC" pitchFamily="34" charset="-122"/>
                <a:cs typeface="Noto Sans SC" pitchFamily="34" charset="-120"/>
              </a:rPr>
              <a:t>1.30% </a:t>
            </a:r>
            <a:r>
              <a:rPr lang="en-US" sz="2400" b="1" dirty="0">
                <a:solidFill>
                  <a:srgbClr val="00AEEF"/>
                </a:solidFill>
                <a:latin typeface="Noto Sans SC" pitchFamily="34" charset="0"/>
                <a:ea typeface="Noto Sans SC" pitchFamily="34" charset="-122"/>
                <a:cs typeface="Noto Sans SC" pitchFamily="34" charset="-120"/>
              </a:rPr>
              <a:t>→</a:t>
            </a:r>
            <a:r>
              <a:rPr lang="en-US" sz="3600" b="1" dirty="0">
                <a:solidFill>
                  <a:srgbClr val="00AEEF"/>
                </a:solidFill>
                <a:latin typeface="Noto Sans SC" pitchFamily="34" charset="0"/>
                <a:ea typeface="Noto Sans SC" pitchFamily="34" charset="-122"/>
                <a:cs typeface="Noto Sans SC" pitchFamily="34" charset="-120"/>
              </a:rPr>
              <a:t> 1.10%</a:t>
            </a:r>
            <a:endParaRPr lang="en-US" sz="1600" dirty="0"/>
          </a:p>
        </p:txBody>
      </p:sp>
      <p:sp>
        <p:nvSpPr>
          <p:cNvPr id="11" name="Text 9"/>
          <p:cNvSpPr/>
          <p:nvPr/>
        </p:nvSpPr>
        <p:spPr>
          <a:xfrm>
            <a:off x="8108302" y="3929476"/>
            <a:ext cx="3314700" cy="254000"/>
          </a:xfrm>
          <a:prstGeom prst="rect">
            <a:avLst/>
          </a:prstGeom>
          <a:noFill/>
          <a:ln/>
        </p:spPr>
        <p:txBody>
          <a:bodyPr wrap="square" lIns="0" tIns="0" rIns="0" bIns="0" rtlCol="0" anchor="ctr"/>
          <a:lstStyle/>
          <a:p>
            <a:pPr>
              <a:lnSpc>
                <a:spcPct val="120000"/>
              </a:lnSpc>
            </a:pPr>
            <a:r>
              <a:rPr lang="en-US" sz="1400" b="1" dirty="0">
                <a:solidFill>
                  <a:srgbClr val="333333"/>
                </a:solidFill>
                <a:latin typeface="MiSans" pitchFamily="34" charset="0"/>
                <a:ea typeface="MiSans" pitchFamily="34" charset="-122"/>
                <a:cs typeface="MiSans" pitchFamily="34" charset="-120"/>
              </a:rPr>
              <a:t>Tasa Mensual de Rotación</a:t>
            </a:r>
            <a:endParaRPr lang="en-US" sz="1600" dirty="0"/>
          </a:p>
        </p:txBody>
      </p:sp>
      <p:sp>
        <p:nvSpPr>
          <p:cNvPr id="12" name="Shape 10"/>
          <p:cNvSpPr/>
          <p:nvPr/>
        </p:nvSpPr>
        <p:spPr>
          <a:xfrm>
            <a:off x="1047102" y="4508755"/>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00AEEF">
              <a:alpha val="20000"/>
            </a:srgbClr>
          </a:solidFill>
          <a:ln/>
        </p:spPr>
        <p:txBody>
          <a:bodyPr/>
          <a:lstStyle/>
          <a:p>
            <a:endParaRPr lang="es-ES"/>
          </a:p>
        </p:txBody>
      </p:sp>
      <p:sp>
        <p:nvSpPr>
          <p:cNvPr id="13" name="Shape 11"/>
          <p:cNvSpPr/>
          <p:nvPr/>
        </p:nvSpPr>
        <p:spPr>
          <a:xfrm>
            <a:off x="1218552" y="4724655"/>
            <a:ext cx="476250" cy="381000"/>
          </a:xfrm>
          <a:custGeom>
            <a:avLst/>
            <a:gdLst/>
            <a:ahLst/>
            <a:cxnLst/>
            <a:rect l="l" t="t" r="r" b="b"/>
            <a:pathLst>
              <a:path w="476250" h="381000">
                <a:moveTo>
                  <a:pt x="101203" y="95250"/>
                </a:moveTo>
                <a:cubicBezTo>
                  <a:pt x="101203" y="45966"/>
                  <a:pt x="141216" y="5953"/>
                  <a:pt x="190500" y="5953"/>
                </a:cubicBezTo>
                <a:cubicBezTo>
                  <a:pt x="239784" y="5953"/>
                  <a:pt x="279797" y="45966"/>
                  <a:pt x="279797" y="95250"/>
                </a:cubicBezTo>
                <a:cubicBezTo>
                  <a:pt x="279797" y="144534"/>
                  <a:pt x="239784" y="184547"/>
                  <a:pt x="190500" y="184547"/>
                </a:cubicBezTo>
                <a:cubicBezTo>
                  <a:pt x="141216" y="184547"/>
                  <a:pt x="101203" y="144534"/>
                  <a:pt x="101203" y="95250"/>
                </a:cubicBezTo>
                <a:close/>
                <a:moveTo>
                  <a:pt x="35719" y="358899"/>
                </a:moveTo>
                <a:cubicBezTo>
                  <a:pt x="35719" y="285601"/>
                  <a:pt x="95101" y="226219"/>
                  <a:pt x="168399" y="226219"/>
                </a:cubicBezTo>
                <a:lnTo>
                  <a:pt x="212601" y="226219"/>
                </a:lnTo>
                <a:cubicBezTo>
                  <a:pt x="285899" y="226219"/>
                  <a:pt x="345281" y="285601"/>
                  <a:pt x="345281" y="358899"/>
                </a:cubicBezTo>
                <a:cubicBezTo>
                  <a:pt x="345281" y="371103"/>
                  <a:pt x="335384" y="381000"/>
                  <a:pt x="323180" y="381000"/>
                </a:cubicBezTo>
                <a:lnTo>
                  <a:pt x="57820" y="381000"/>
                </a:lnTo>
                <a:cubicBezTo>
                  <a:pt x="45616" y="381000"/>
                  <a:pt x="35719" y="371103"/>
                  <a:pt x="35719" y="358899"/>
                </a:cubicBezTo>
                <a:close/>
                <a:moveTo>
                  <a:pt x="351234" y="125016"/>
                </a:moveTo>
                <a:lnTo>
                  <a:pt x="458391" y="125016"/>
                </a:lnTo>
                <a:cubicBezTo>
                  <a:pt x="468288" y="125016"/>
                  <a:pt x="476250" y="132978"/>
                  <a:pt x="476250" y="142875"/>
                </a:cubicBezTo>
                <a:cubicBezTo>
                  <a:pt x="476250" y="152772"/>
                  <a:pt x="468288" y="160734"/>
                  <a:pt x="458391" y="160734"/>
                </a:cubicBezTo>
                <a:lnTo>
                  <a:pt x="351234" y="160734"/>
                </a:lnTo>
                <a:cubicBezTo>
                  <a:pt x="341337" y="160734"/>
                  <a:pt x="333375" y="152772"/>
                  <a:pt x="333375" y="142875"/>
                </a:cubicBezTo>
                <a:cubicBezTo>
                  <a:pt x="333375" y="132978"/>
                  <a:pt x="341337" y="125016"/>
                  <a:pt x="351234" y="125016"/>
                </a:cubicBezTo>
                <a:close/>
              </a:path>
            </a:pathLst>
          </a:custGeom>
          <a:solidFill>
            <a:srgbClr val="00AEEF"/>
          </a:solidFill>
          <a:ln/>
        </p:spPr>
        <p:txBody>
          <a:bodyPr/>
          <a:lstStyle/>
          <a:p>
            <a:endParaRPr lang="es-ES"/>
          </a:p>
        </p:txBody>
      </p:sp>
      <p:sp>
        <p:nvSpPr>
          <p:cNvPr id="14" name="Text 12"/>
          <p:cNvSpPr/>
          <p:nvPr/>
        </p:nvSpPr>
        <p:spPr>
          <a:xfrm>
            <a:off x="2063102" y="4529075"/>
            <a:ext cx="3594100" cy="520700"/>
          </a:xfrm>
          <a:prstGeom prst="rect">
            <a:avLst/>
          </a:prstGeom>
          <a:noFill/>
          <a:ln/>
        </p:spPr>
        <p:txBody>
          <a:bodyPr wrap="square" lIns="0" tIns="0" rIns="0" bIns="0" rtlCol="0" anchor="ctr"/>
          <a:lstStyle/>
          <a:p>
            <a:pPr>
              <a:lnSpc>
                <a:spcPct val="90000"/>
              </a:lnSpc>
            </a:pPr>
            <a:r>
              <a:rPr lang="en-US" sz="3600" b="1" dirty="0">
                <a:solidFill>
                  <a:srgbClr val="00AEEF"/>
                </a:solidFill>
                <a:latin typeface="Noto Sans SC" pitchFamily="34" charset="0"/>
                <a:ea typeface="Noto Sans SC" pitchFamily="34" charset="-122"/>
                <a:cs typeface="Noto Sans SC" pitchFamily="34" charset="-120"/>
              </a:rPr>
              <a:t>3.9% </a:t>
            </a:r>
            <a:r>
              <a:rPr lang="en-US" sz="2400" b="1" dirty="0">
                <a:solidFill>
                  <a:srgbClr val="00AEEF"/>
                </a:solidFill>
                <a:latin typeface="Noto Sans SC" pitchFamily="34" charset="0"/>
                <a:ea typeface="Noto Sans SC" pitchFamily="34" charset="-122"/>
                <a:cs typeface="Noto Sans SC" pitchFamily="34" charset="-120"/>
              </a:rPr>
              <a:t>→</a:t>
            </a:r>
            <a:r>
              <a:rPr lang="en-US" sz="3600" b="1" dirty="0">
                <a:solidFill>
                  <a:srgbClr val="00AEEF"/>
                </a:solidFill>
                <a:latin typeface="Noto Sans SC" pitchFamily="34" charset="0"/>
                <a:ea typeface="Noto Sans SC" pitchFamily="34" charset="-122"/>
                <a:cs typeface="Noto Sans SC" pitchFamily="34" charset="-120"/>
              </a:rPr>
              <a:t> 2.9%</a:t>
            </a:r>
            <a:endParaRPr lang="en-US" sz="1600" dirty="0"/>
          </a:p>
        </p:txBody>
      </p:sp>
      <p:sp>
        <p:nvSpPr>
          <p:cNvPr id="15" name="Text 13"/>
          <p:cNvSpPr/>
          <p:nvPr/>
        </p:nvSpPr>
        <p:spPr>
          <a:xfrm>
            <a:off x="2063102" y="5047076"/>
            <a:ext cx="3314700" cy="254000"/>
          </a:xfrm>
          <a:prstGeom prst="rect">
            <a:avLst/>
          </a:prstGeom>
          <a:noFill/>
          <a:ln/>
        </p:spPr>
        <p:txBody>
          <a:bodyPr wrap="square" lIns="0" tIns="0" rIns="0" bIns="0" rtlCol="0" anchor="ctr"/>
          <a:lstStyle/>
          <a:p>
            <a:pPr>
              <a:lnSpc>
                <a:spcPct val="120000"/>
              </a:lnSpc>
            </a:pPr>
            <a:r>
              <a:rPr lang="en-US" sz="1400" b="1" dirty="0">
                <a:solidFill>
                  <a:srgbClr val="333333"/>
                </a:solidFill>
                <a:latin typeface="MiSans" pitchFamily="34" charset="0"/>
                <a:ea typeface="MiSans" pitchFamily="34" charset="-122"/>
                <a:cs typeface="MiSans" pitchFamily="34" charset="-120"/>
              </a:rPr>
              <a:t>Transiciones al Desempleo (Trim.)</a:t>
            </a:r>
            <a:endParaRPr lang="en-US" sz="1600" dirty="0"/>
          </a:p>
        </p:txBody>
      </p:sp>
      <p:sp>
        <p:nvSpPr>
          <p:cNvPr id="16" name="Shape 14"/>
          <p:cNvSpPr/>
          <p:nvPr/>
        </p:nvSpPr>
        <p:spPr>
          <a:xfrm>
            <a:off x="7092302" y="4508755"/>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00AEEF">
              <a:alpha val="20000"/>
            </a:srgbClr>
          </a:solidFill>
          <a:ln/>
        </p:spPr>
        <p:txBody>
          <a:bodyPr/>
          <a:lstStyle/>
          <a:p>
            <a:endParaRPr lang="es-ES"/>
          </a:p>
        </p:txBody>
      </p:sp>
      <p:sp>
        <p:nvSpPr>
          <p:cNvPr id="17" name="Shape 15"/>
          <p:cNvSpPr/>
          <p:nvPr/>
        </p:nvSpPr>
        <p:spPr>
          <a:xfrm>
            <a:off x="7335190" y="4724655"/>
            <a:ext cx="333375" cy="381000"/>
          </a:xfrm>
          <a:custGeom>
            <a:avLst/>
            <a:gdLst/>
            <a:ahLst/>
            <a:cxnLst/>
            <a:rect l="l" t="t" r="r" b="b"/>
            <a:pathLst>
              <a:path w="333375" h="381000">
                <a:moveTo>
                  <a:pt x="95250" y="0"/>
                </a:moveTo>
                <a:cubicBezTo>
                  <a:pt x="108421" y="0"/>
                  <a:pt x="119063" y="10641"/>
                  <a:pt x="119063" y="23812"/>
                </a:cubicBezTo>
                <a:lnTo>
                  <a:pt x="119063" y="47625"/>
                </a:lnTo>
                <a:lnTo>
                  <a:pt x="214313" y="47625"/>
                </a:lnTo>
                <a:lnTo>
                  <a:pt x="214313" y="23812"/>
                </a:lnTo>
                <a:cubicBezTo>
                  <a:pt x="214313" y="10641"/>
                  <a:pt x="224954" y="0"/>
                  <a:pt x="238125" y="0"/>
                </a:cubicBezTo>
                <a:cubicBezTo>
                  <a:pt x="251296" y="0"/>
                  <a:pt x="261938" y="10641"/>
                  <a:pt x="261938" y="23812"/>
                </a:cubicBezTo>
                <a:lnTo>
                  <a:pt x="261938" y="47625"/>
                </a:lnTo>
                <a:lnTo>
                  <a:pt x="285750" y="47625"/>
                </a:lnTo>
                <a:cubicBezTo>
                  <a:pt x="312018" y="47625"/>
                  <a:pt x="333375" y="68982"/>
                  <a:pt x="333375" y="95250"/>
                </a:cubicBezTo>
                <a:lnTo>
                  <a:pt x="333375" y="309563"/>
                </a:lnTo>
                <a:cubicBezTo>
                  <a:pt x="333375" y="335831"/>
                  <a:pt x="312018" y="357188"/>
                  <a:pt x="285750" y="357188"/>
                </a:cubicBezTo>
                <a:lnTo>
                  <a:pt x="47625" y="357188"/>
                </a:lnTo>
                <a:cubicBezTo>
                  <a:pt x="21357" y="357188"/>
                  <a:pt x="0" y="335831"/>
                  <a:pt x="0" y="309563"/>
                </a:cubicBezTo>
                <a:lnTo>
                  <a:pt x="0" y="95250"/>
                </a:lnTo>
                <a:cubicBezTo>
                  <a:pt x="0" y="68982"/>
                  <a:pt x="21357" y="47625"/>
                  <a:pt x="47625" y="47625"/>
                </a:cubicBezTo>
                <a:lnTo>
                  <a:pt x="71438" y="47625"/>
                </a:lnTo>
                <a:lnTo>
                  <a:pt x="71438" y="23812"/>
                </a:lnTo>
                <a:cubicBezTo>
                  <a:pt x="71438" y="10641"/>
                  <a:pt x="82079" y="0"/>
                  <a:pt x="95250" y="0"/>
                </a:cubicBezTo>
                <a:close/>
                <a:moveTo>
                  <a:pt x="229493" y="170185"/>
                </a:moveTo>
                <a:cubicBezTo>
                  <a:pt x="234702" y="161851"/>
                  <a:pt x="232172" y="150837"/>
                  <a:pt x="223837" y="145554"/>
                </a:cubicBezTo>
                <a:cubicBezTo>
                  <a:pt x="215503" y="140271"/>
                  <a:pt x="204490" y="142875"/>
                  <a:pt x="199206" y="151209"/>
                </a:cubicBezTo>
                <a:lnTo>
                  <a:pt x="153516" y="224358"/>
                </a:lnTo>
                <a:lnTo>
                  <a:pt x="133424" y="197569"/>
                </a:lnTo>
                <a:cubicBezTo>
                  <a:pt x="127471" y="189681"/>
                  <a:pt x="116309" y="188044"/>
                  <a:pt x="108421" y="193997"/>
                </a:cubicBezTo>
                <a:cubicBezTo>
                  <a:pt x="100533" y="199951"/>
                  <a:pt x="98896" y="211113"/>
                  <a:pt x="104849" y="219001"/>
                </a:cubicBezTo>
                <a:lnTo>
                  <a:pt x="140568" y="266626"/>
                </a:lnTo>
                <a:cubicBezTo>
                  <a:pt x="144066" y="271314"/>
                  <a:pt x="149721" y="273993"/>
                  <a:pt x="155600" y="273769"/>
                </a:cubicBezTo>
                <a:cubicBezTo>
                  <a:pt x="161479" y="273546"/>
                  <a:pt x="166836" y="270421"/>
                  <a:pt x="169962" y="265361"/>
                </a:cubicBezTo>
                <a:lnTo>
                  <a:pt x="229493" y="170111"/>
                </a:lnTo>
                <a:close/>
              </a:path>
            </a:pathLst>
          </a:custGeom>
          <a:solidFill>
            <a:srgbClr val="00AEEF"/>
          </a:solidFill>
          <a:ln/>
        </p:spPr>
        <p:txBody>
          <a:bodyPr/>
          <a:lstStyle/>
          <a:p>
            <a:endParaRPr lang="es-ES"/>
          </a:p>
        </p:txBody>
      </p:sp>
      <p:sp>
        <p:nvSpPr>
          <p:cNvPr id="18" name="Text 16"/>
          <p:cNvSpPr/>
          <p:nvPr/>
        </p:nvSpPr>
        <p:spPr>
          <a:xfrm>
            <a:off x="8108302" y="4529075"/>
            <a:ext cx="3733800" cy="520700"/>
          </a:xfrm>
          <a:prstGeom prst="rect">
            <a:avLst/>
          </a:prstGeom>
          <a:noFill/>
          <a:ln/>
        </p:spPr>
        <p:txBody>
          <a:bodyPr wrap="square" lIns="0" tIns="0" rIns="0" bIns="0" rtlCol="0" anchor="ctr"/>
          <a:lstStyle/>
          <a:p>
            <a:pPr>
              <a:lnSpc>
                <a:spcPct val="90000"/>
              </a:lnSpc>
            </a:pPr>
            <a:r>
              <a:rPr lang="en-US" sz="3600" b="1" dirty="0">
                <a:solidFill>
                  <a:srgbClr val="00AEEF"/>
                </a:solidFill>
                <a:latin typeface="Noto Sans SC" pitchFamily="34" charset="0"/>
                <a:ea typeface="Noto Sans SC" pitchFamily="34" charset="-122"/>
                <a:cs typeface="Noto Sans SC" pitchFamily="34" charset="-120"/>
              </a:rPr>
              <a:t>11% </a:t>
            </a:r>
            <a:r>
              <a:rPr lang="en-US" sz="2400" b="1" dirty="0">
                <a:solidFill>
                  <a:srgbClr val="00AEEF"/>
                </a:solidFill>
                <a:latin typeface="Noto Sans SC" pitchFamily="34" charset="0"/>
                <a:ea typeface="Noto Sans SC" pitchFamily="34" charset="-122"/>
                <a:cs typeface="Noto Sans SC" pitchFamily="34" charset="-120"/>
              </a:rPr>
              <a:t>→</a:t>
            </a:r>
            <a:r>
              <a:rPr lang="en-US" sz="3600" b="1" dirty="0">
                <a:solidFill>
                  <a:srgbClr val="00AEEF"/>
                </a:solidFill>
                <a:latin typeface="Noto Sans SC" pitchFamily="34" charset="0"/>
                <a:ea typeface="Noto Sans SC" pitchFamily="34" charset="-122"/>
                <a:cs typeface="Noto Sans SC" pitchFamily="34" charset="-120"/>
              </a:rPr>
              <a:t> 16%</a:t>
            </a:r>
            <a:endParaRPr lang="en-US" sz="1600" dirty="0"/>
          </a:p>
        </p:txBody>
      </p:sp>
      <p:sp>
        <p:nvSpPr>
          <p:cNvPr id="19" name="Text 17"/>
          <p:cNvSpPr/>
          <p:nvPr/>
        </p:nvSpPr>
        <p:spPr>
          <a:xfrm>
            <a:off x="8108302" y="5047076"/>
            <a:ext cx="3454400" cy="254000"/>
          </a:xfrm>
          <a:prstGeom prst="rect">
            <a:avLst/>
          </a:prstGeom>
          <a:noFill/>
          <a:ln/>
        </p:spPr>
        <p:txBody>
          <a:bodyPr wrap="square" lIns="0" tIns="0" rIns="0" bIns="0" rtlCol="0" anchor="ctr"/>
          <a:lstStyle/>
          <a:p>
            <a:pPr>
              <a:lnSpc>
                <a:spcPct val="120000"/>
              </a:lnSpc>
            </a:pPr>
            <a:r>
              <a:rPr lang="en-US" sz="1400" b="1" dirty="0">
                <a:solidFill>
                  <a:srgbClr val="333333"/>
                </a:solidFill>
                <a:latin typeface="MiSans" pitchFamily="34" charset="0"/>
                <a:ea typeface="MiSans" pitchFamily="34" charset="-122"/>
                <a:cs typeface="MiSans" pitchFamily="34" charset="-120"/>
              </a:rPr>
              <a:t>Supervivencia de Contratos a 1 Año</a:t>
            </a:r>
            <a:endParaRPr lang="en-US" sz="1600" dirty="0"/>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4C067-9DE8-1737-A634-3A59F453235E}"/>
            </a:ext>
          </a:extLst>
        </p:cNvPr>
        <p:cNvGrpSpPr/>
        <p:nvPr/>
      </p:nvGrpSpPr>
      <p:grpSpPr>
        <a:xfrm>
          <a:off x="0" y="0"/>
          <a:ext cx="0" cy="0"/>
          <a:chOff x="0" y="0"/>
          <a:chExt cx="0" cy="0"/>
        </a:xfrm>
      </p:grpSpPr>
      <p:pic>
        <p:nvPicPr>
          <p:cNvPr id="2" name="Image 0" descr="https://kimi-img.moonshot.cn/pub/slides/slides_tmpl/image/25-08-27-19:57:41-d2nf5d98bjvh7rlivsmg.png">
            <a:extLst>
              <a:ext uri="{FF2B5EF4-FFF2-40B4-BE49-F238E27FC236}">
                <a16:creationId xmlns:a16="http://schemas.microsoft.com/office/drawing/2014/main" id="{AC142AEC-44E4-CF90-9150-96AA8D8C61B8}"/>
              </a:ext>
            </a:extLst>
          </p:cNvPr>
          <p:cNvPicPr>
            <a:picLocks noChangeAspect="1"/>
          </p:cNvPicPr>
          <p:nvPr/>
        </p:nvPicPr>
        <p:blipFill>
          <a:blip r:embed="rId3"/>
          <a:stretch>
            <a:fillRect/>
          </a:stretch>
        </p:blipFill>
        <p:spPr>
          <a:xfrm>
            <a:off x="4558665" y="1141095"/>
            <a:ext cx="3619500" cy="3912870"/>
          </a:xfrm>
          <a:prstGeom prst="rect">
            <a:avLst/>
          </a:prstGeom>
        </p:spPr>
      </p:pic>
      <p:sp>
        <p:nvSpPr>
          <p:cNvPr id="3" name="Shape 0">
            <a:extLst>
              <a:ext uri="{FF2B5EF4-FFF2-40B4-BE49-F238E27FC236}">
                <a16:creationId xmlns:a16="http://schemas.microsoft.com/office/drawing/2014/main" id="{81DB6B50-A1F8-2E3F-8A3D-2898BA2B7C60}"/>
              </a:ext>
            </a:extLst>
          </p:cNvPr>
          <p:cNvSpPr/>
          <p:nvPr/>
        </p:nvSpPr>
        <p:spPr>
          <a:xfrm>
            <a:off x="2047240" y="5053965"/>
            <a:ext cx="8642985" cy="1199515"/>
          </a:xfrm>
          <a:prstGeom prst="roundRect">
            <a:avLst>
              <a:gd name="adj" fmla="val 50000"/>
            </a:avLst>
          </a:prstGeom>
          <a:solidFill>
            <a:srgbClr val="00B0F0"/>
          </a:solidFill>
          <a:ln w="57150">
            <a:solidFill>
              <a:srgbClr val="FFFFFF">
                <a:alpha val="0"/>
              </a:srgbClr>
            </a:solidFill>
            <a:prstDash val="solid"/>
          </a:ln>
        </p:spPr>
        <p:txBody>
          <a:bodyPr/>
          <a:lstStyle/>
          <a:p>
            <a:endParaRPr lang="es-ES"/>
          </a:p>
        </p:txBody>
      </p:sp>
      <p:sp>
        <p:nvSpPr>
          <p:cNvPr id="4" name="Text 1">
            <a:extLst>
              <a:ext uri="{FF2B5EF4-FFF2-40B4-BE49-F238E27FC236}">
                <a16:creationId xmlns:a16="http://schemas.microsoft.com/office/drawing/2014/main" id="{2DE8D706-4485-47A0-2069-84EED7A29851}"/>
              </a:ext>
            </a:extLst>
          </p:cNvPr>
          <p:cNvSpPr/>
          <p:nvPr/>
        </p:nvSpPr>
        <p:spPr>
          <a:xfrm>
            <a:off x="2047240" y="5053965"/>
            <a:ext cx="8642985" cy="1199515"/>
          </a:xfrm>
          <a:prstGeom prst="rect">
            <a:avLst/>
          </a:prstGeom>
          <a:noFill/>
          <a:ln/>
        </p:spPr>
        <p:txBody>
          <a:bodyPr wrap="square" lIns="45720" tIns="91440" rIns="91440" bIns="45720" rtlCol="0" anchor="ctr"/>
          <a:lstStyle/>
          <a:p>
            <a:pPr>
              <a:lnSpc>
                <a:spcPct val="100000"/>
              </a:lnSpc>
            </a:pPr>
            <a:endParaRPr lang="en-US" sz="1600" dirty="0"/>
          </a:p>
        </p:txBody>
      </p:sp>
      <p:sp>
        <p:nvSpPr>
          <p:cNvPr id="5" name="Shape 2">
            <a:extLst>
              <a:ext uri="{FF2B5EF4-FFF2-40B4-BE49-F238E27FC236}">
                <a16:creationId xmlns:a16="http://schemas.microsoft.com/office/drawing/2014/main" id="{6D626F8A-194F-5D3E-3812-57705F5F0D99}"/>
              </a:ext>
            </a:extLst>
          </p:cNvPr>
          <p:cNvSpPr/>
          <p:nvPr/>
        </p:nvSpPr>
        <p:spPr>
          <a:xfrm>
            <a:off x="1920240" y="4884420"/>
            <a:ext cx="8642985" cy="1199515"/>
          </a:xfrm>
          <a:prstGeom prst="roundRect">
            <a:avLst>
              <a:gd name="adj" fmla="val 50000"/>
            </a:avLst>
          </a:prstGeom>
          <a:solidFill>
            <a:srgbClr val="FFFFFF"/>
          </a:solidFill>
          <a:ln w="57150">
            <a:solidFill>
              <a:srgbClr val="000000"/>
            </a:solidFill>
            <a:prstDash val="solid"/>
          </a:ln>
        </p:spPr>
        <p:txBody>
          <a:bodyPr/>
          <a:lstStyle/>
          <a:p>
            <a:endParaRPr lang="es-ES"/>
          </a:p>
        </p:txBody>
      </p:sp>
      <p:sp>
        <p:nvSpPr>
          <p:cNvPr id="6" name="Text 3">
            <a:extLst>
              <a:ext uri="{FF2B5EF4-FFF2-40B4-BE49-F238E27FC236}">
                <a16:creationId xmlns:a16="http://schemas.microsoft.com/office/drawing/2014/main" id="{B239E03F-C399-DF52-11FF-CDF6B911A0BD}"/>
              </a:ext>
            </a:extLst>
          </p:cNvPr>
          <p:cNvSpPr/>
          <p:nvPr/>
        </p:nvSpPr>
        <p:spPr>
          <a:xfrm>
            <a:off x="1920240" y="4884420"/>
            <a:ext cx="8642985" cy="1199515"/>
          </a:xfrm>
          <a:prstGeom prst="rect">
            <a:avLst/>
          </a:prstGeom>
          <a:noFill/>
          <a:ln/>
        </p:spPr>
        <p:txBody>
          <a:bodyPr wrap="square" lIns="45720" tIns="91440" rIns="91440" bIns="45720" rtlCol="0" anchor="ctr"/>
          <a:lstStyle/>
          <a:p>
            <a:pPr>
              <a:lnSpc>
                <a:spcPct val="100000"/>
              </a:lnSpc>
            </a:pPr>
            <a:endParaRPr lang="en-US" sz="1600" dirty="0"/>
          </a:p>
        </p:txBody>
      </p:sp>
      <p:sp>
        <p:nvSpPr>
          <p:cNvPr id="7" name="Text 4">
            <a:extLst>
              <a:ext uri="{FF2B5EF4-FFF2-40B4-BE49-F238E27FC236}">
                <a16:creationId xmlns:a16="http://schemas.microsoft.com/office/drawing/2014/main" id="{CD2D498F-1BF9-41A0-5B66-190FE4DE5C99}"/>
              </a:ext>
            </a:extLst>
          </p:cNvPr>
          <p:cNvSpPr/>
          <p:nvPr/>
        </p:nvSpPr>
        <p:spPr>
          <a:xfrm>
            <a:off x="1920240" y="4998383"/>
            <a:ext cx="8643620" cy="923330"/>
          </a:xfrm>
          <a:prstGeom prst="rect">
            <a:avLst/>
          </a:prstGeom>
          <a:noFill/>
          <a:ln/>
        </p:spPr>
        <p:txBody>
          <a:bodyPr wrap="square" lIns="91440" tIns="45720" rIns="91440" bIns="45720" rtlCol="0" anchor="ctr">
            <a:spAutoFit/>
          </a:bodyPr>
          <a:lstStyle/>
          <a:p>
            <a:pPr algn="ctr">
              <a:lnSpc>
                <a:spcPct val="100000"/>
              </a:lnSpc>
            </a:pPr>
            <a:r>
              <a:rPr lang="en-US" sz="5400" b="1" dirty="0">
                <a:solidFill>
                  <a:srgbClr val="000000"/>
                </a:solidFill>
                <a:latin typeface="MiSans" pitchFamily="34" charset="0"/>
                <a:ea typeface="MiSans" pitchFamily="34" charset="-122"/>
                <a:cs typeface="MiSans" pitchFamily="34" charset="-120"/>
              </a:rPr>
              <a:t>Los ERTEs</a:t>
            </a:r>
            <a:endParaRPr lang="en-US" sz="1600" dirty="0"/>
          </a:p>
        </p:txBody>
      </p:sp>
      <p:sp>
        <p:nvSpPr>
          <p:cNvPr id="8" name="Text 5">
            <a:extLst>
              <a:ext uri="{FF2B5EF4-FFF2-40B4-BE49-F238E27FC236}">
                <a16:creationId xmlns:a16="http://schemas.microsoft.com/office/drawing/2014/main" id="{DD7B1B0C-1271-3677-6A56-F400DF1ABF15}"/>
              </a:ext>
            </a:extLst>
          </p:cNvPr>
          <p:cNvSpPr/>
          <p:nvPr/>
        </p:nvSpPr>
        <p:spPr>
          <a:xfrm>
            <a:off x="3447415" y="256898"/>
            <a:ext cx="5640070" cy="1107996"/>
          </a:xfrm>
          <a:prstGeom prst="rect">
            <a:avLst/>
          </a:prstGeom>
          <a:noFill/>
          <a:ln/>
        </p:spPr>
        <p:txBody>
          <a:bodyPr wrap="square" lIns="91440" tIns="45720" rIns="91440" bIns="45720" rtlCol="0" anchor="ctr">
            <a:spAutoFit/>
          </a:bodyPr>
          <a:lstStyle/>
          <a:p>
            <a:pPr algn="ctr">
              <a:lnSpc>
                <a:spcPct val="100000"/>
              </a:lnSpc>
            </a:pPr>
            <a:r>
              <a:rPr lang="en-US" sz="6600" b="1" dirty="0">
                <a:solidFill>
                  <a:srgbClr val="000000"/>
                </a:solidFill>
                <a:latin typeface="MiSans" pitchFamily="34" charset="0"/>
                <a:ea typeface="MiSans" pitchFamily="34" charset="-122"/>
                <a:cs typeface="MiSans" pitchFamily="34" charset="-120"/>
              </a:rPr>
              <a:t>PARTE  6.4</a:t>
            </a:r>
            <a:endParaRPr lang="en-US" sz="1600" dirty="0"/>
          </a:p>
        </p:txBody>
      </p:sp>
      <p:sp>
        <p:nvSpPr>
          <p:cNvPr id="9" name="Shape 6">
            <a:extLst>
              <a:ext uri="{FF2B5EF4-FFF2-40B4-BE49-F238E27FC236}">
                <a16:creationId xmlns:a16="http://schemas.microsoft.com/office/drawing/2014/main" id="{D5CA6347-588B-4BC7-8F54-650F20A27924}"/>
              </a:ext>
            </a:extLst>
          </p:cNvPr>
          <p:cNvSpPr/>
          <p:nvPr/>
        </p:nvSpPr>
        <p:spPr>
          <a:xfrm>
            <a:off x="291465" y="6075045"/>
            <a:ext cx="607496" cy="0"/>
          </a:xfrm>
          <a:prstGeom prst="line">
            <a:avLst/>
          </a:prstGeom>
          <a:noFill/>
          <a:ln w="57150">
            <a:solidFill>
              <a:srgbClr val="00B0F0"/>
            </a:solidFill>
            <a:prstDash val="solid"/>
            <a:headEnd type="none"/>
            <a:tailEnd type="none"/>
          </a:ln>
        </p:spPr>
        <p:txBody>
          <a:bodyPr/>
          <a:lstStyle/>
          <a:p>
            <a:endParaRPr lang="es-ES"/>
          </a:p>
        </p:txBody>
      </p:sp>
      <p:sp>
        <p:nvSpPr>
          <p:cNvPr id="10" name="Shape 7">
            <a:extLst>
              <a:ext uri="{FF2B5EF4-FFF2-40B4-BE49-F238E27FC236}">
                <a16:creationId xmlns:a16="http://schemas.microsoft.com/office/drawing/2014/main" id="{D2A88EC9-0442-A1C5-CADE-3D40CA8D516D}"/>
              </a:ext>
            </a:extLst>
          </p:cNvPr>
          <p:cNvSpPr/>
          <p:nvPr/>
        </p:nvSpPr>
        <p:spPr>
          <a:xfrm>
            <a:off x="291465" y="6308725"/>
            <a:ext cx="607496" cy="0"/>
          </a:xfrm>
          <a:prstGeom prst="line">
            <a:avLst/>
          </a:prstGeom>
          <a:noFill/>
          <a:ln w="57150">
            <a:solidFill>
              <a:srgbClr val="00B0F0"/>
            </a:solidFill>
            <a:prstDash val="solid"/>
            <a:headEnd type="none"/>
            <a:tailEnd type="none"/>
          </a:ln>
        </p:spPr>
        <p:txBody>
          <a:bodyPr/>
          <a:lstStyle/>
          <a:p>
            <a:endParaRPr lang="es-ES"/>
          </a:p>
        </p:txBody>
      </p:sp>
      <p:sp>
        <p:nvSpPr>
          <p:cNvPr id="11" name="Shape 8">
            <a:extLst>
              <a:ext uri="{FF2B5EF4-FFF2-40B4-BE49-F238E27FC236}">
                <a16:creationId xmlns:a16="http://schemas.microsoft.com/office/drawing/2014/main" id="{A32965B1-6A1F-E696-2BDB-09367CDC4A00}"/>
              </a:ext>
            </a:extLst>
          </p:cNvPr>
          <p:cNvSpPr/>
          <p:nvPr/>
        </p:nvSpPr>
        <p:spPr>
          <a:xfrm>
            <a:off x="291465" y="6542405"/>
            <a:ext cx="607496" cy="0"/>
          </a:xfrm>
          <a:prstGeom prst="line">
            <a:avLst/>
          </a:prstGeom>
          <a:noFill/>
          <a:ln w="57150">
            <a:solidFill>
              <a:srgbClr val="00B0F0"/>
            </a:solidFill>
            <a:prstDash val="solid"/>
            <a:headEnd type="none"/>
            <a:tailEnd type="none"/>
          </a:ln>
        </p:spPr>
        <p:txBody>
          <a:bodyPr/>
          <a:lstStyle/>
          <a:p>
            <a:endParaRPr lang="es-ES"/>
          </a:p>
        </p:txBody>
      </p:sp>
      <p:sp>
        <p:nvSpPr>
          <p:cNvPr id="12" name="Shape 9">
            <a:extLst>
              <a:ext uri="{FF2B5EF4-FFF2-40B4-BE49-F238E27FC236}">
                <a16:creationId xmlns:a16="http://schemas.microsoft.com/office/drawing/2014/main" id="{6B59BB28-0369-BEFA-A527-C97B72ACDABB}"/>
              </a:ext>
            </a:extLst>
          </p:cNvPr>
          <p:cNvSpPr/>
          <p:nvPr/>
        </p:nvSpPr>
        <p:spPr>
          <a:xfrm>
            <a:off x="291465" y="202565"/>
            <a:ext cx="337185" cy="337185"/>
          </a:xfrm>
          <a:prstGeom prst="ellipse">
            <a:avLst/>
          </a:prstGeom>
          <a:solidFill>
            <a:srgbClr val="FFFFFF"/>
          </a:solidFill>
          <a:ln w="19050">
            <a:solidFill>
              <a:srgbClr val="00B0F0"/>
            </a:solidFill>
            <a:prstDash val="solid"/>
          </a:ln>
        </p:spPr>
        <p:txBody>
          <a:bodyPr/>
          <a:lstStyle/>
          <a:p>
            <a:endParaRPr lang="es-ES"/>
          </a:p>
        </p:txBody>
      </p:sp>
      <p:sp>
        <p:nvSpPr>
          <p:cNvPr id="13" name="Text 10">
            <a:extLst>
              <a:ext uri="{FF2B5EF4-FFF2-40B4-BE49-F238E27FC236}">
                <a16:creationId xmlns:a16="http://schemas.microsoft.com/office/drawing/2014/main" id="{10E8DFA1-A94E-F179-152F-3C075E1C01AF}"/>
              </a:ext>
            </a:extLst>
          </p:cNvPr>
          <p:cNvSpPr/>
          <p:nvPr/>
        </p:nvSpPr>
        <p:spPr>
          <a:xfrm>
            <a:off x="291465" y="202565"/>
            <a:ext cx="337185" cy="337185"/>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1">
            <a:extLst>
              <a:ext uri="{FF2B5EF4-FFF2-40B4-BE49-F238E27FC236}">
                <a16:creationId xmlns:a16="http://schemas.microsoft.com/office/drawing/2014/main" id="{76807753-0107-AAD0-7B0F-9937458A18EE}"/>
              </a:ext>
            </a:extLst>
          </p:cNvPr>
          <p:cNvSpPr/>
          <p:nvPr/>
        </p:nvSpPr>
        <p:spPr>
          <a:xfrm>
            <a:off x="1251585" y="202565"/>
            <a:ext cx="337185" cy="337185"/>
          </a:xfrm>
          <a:prstGeom prst="ellipse">
            <a:avLst/>
          </a:prstGeom>
          <a:solidFill>
            <a:srgbClr val="FFFFFF"/>
          </a:solidFill>
          <a:ln w="19050">
            <a:solidFill>
              <a:srgbClr val="00B0F0"/>
            </a:solidFill>
            <a:prstDash val="solid"/>
          </a:ln>
        </p:spPr>
        <p:txBody>
          <a:bodyPr/>
          <a:lstStyle/>
          <a:p>
            <a:endParaRPr lang="es-ES"/>
          </a:p>
        </p:txBody>
      </p:sp>
      <p:sp>
        <p:nvSpPr>
          <p:cNvPr id="15" name="Text 12">
            <a:extLst>
              <a:ext uri="{FF2B5EF4-FFF2-40B4-BE49-F238E27FC236}">
                <a16:creationId xmlns:a16="http://schemas.microsoft.com/office/drawing/2014/main" id="{95092139-0AE4-79AE-08B5-BBCEA06B8389}"/>
              </a:ext>
            </a:extLst>
          </p:cNvPr>
          <p:cNvSpPr/>
          <p:nvPr/>
        </p:nvSpPr>
        <p:spPr>
          <a:xfrm>
            <a:off x="1251585" y="202565"/>
            <a:ext cx="337185" cy="337185"/>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3">
            <a:extLst>
              <a:ext uri="{FF2B5EF4-FFF2-40B4-BE49-F238E27FC236}">
                <a16:creationId xmlns:a16="http://schemas.microsoft.com/office/drawing/2014/main" id="{E78153CE-BE5C-C226-439A-773FDAB48AA6}"/>
              </a:ext>
            </a:extLst>
          </p:cNvPr>
          <p:cNvSpPr/>
          <p:nvPr/>
        </p:nvSpPr>
        <p:spPr>
          <a:xfrm>
            <a:off x="771525" y="202565"/>
            <a:ext cx="337185" cy="337185"/>
          </a:xfrm>
          <a:prstGeom prst="ellipse">
            <a:avLst/>
          </a:prstGeom>
          <a:solidFill>
            <a:srgbClr val="00B0F0"/>
          </a:solidFill>
          <a:ln w="19050">
            <a:solidFill>
              <a:srgbClr val="FFFFFF"/>
            </a:solidFill>
            <a:prstDash val="solid"/>
          </a:ln>
        </p:spPr>
        <p:txBody>
          <a:bodyPr/>
          <a:lstStyle/>
          <a:p>
            <a:endParaRPr lang="es-ES"/>
          </a:p>
        </p:txBody>
      </p:sp>
      <p:sp>
        <p:nvSpPr>
          <p:cNvPr id="17" name="Text 14">
            <a:extLst>
              <a:ext uri="{FF2B5EF4-FFF2-40B4-BE49-F238E27FC236}">
                <a16:creationId xmlns:a16="http://schemas.microsoft.com/office/drawing/2014/main" id="{81716008-1E28-1E73-5A3B-84392B595CB4}"/>
              </a:ext>
            </a:extLst>
          </p:cNvPr>
          <p:cNvSpPr/>
          <p:nvPr/>
        </p:nvSpPr>
        <p:spPr>
          <a:xfrm>
            <a:off x="771525" y="202565"/>
            <a:ext cx="337185" cy="337185"/>
          </a:xfrm>
          <a:prstGeom prst="rect">
            <a:avLst/>
          </a:prstGeom>
          <a:noFill/>
          <a:ln/>
        </p:spPr>
        <p:txBody>
          <a:bodyPr wrap="square" lIns="45720" tIns="91440" rIns="91440" bIns="45720" rtlCol="0" anchor="ctr"/>
          <a:lstStyle/>
          <a:p>
            <a:pPr>
              <a:lnSpc>
                <a:spcPct val="100000"/>
              </a:lnSpc>
            </a:pPr>
            <a:endParaRPr lang="en-US" sz="1600" dirty="0"/>
          </a:p>
        </p:txBody>
      </p:sp>
      <p:sp>
        <p:nvSpPr>
          <p:cNvPr id="18" name="Shape 15">
            <a:extLst>
              <a:ext uri="{FF2B5EF4-FFF2-40B4-BE49-F238E27FC236}">
                <a16:creationId xmlns:a16="http://schemas.microsoft.com/office/drawing/2014/main" id="{C4B66003-D6BC-2387-7485-8838363AEE22}"/>
              </a:ext>
            </a:extLst>
          </p:cNvPr>
          <p:cNvSpPr/>
          <p:nvPr/>
        </p:nvSpPr>
        <p:spPr>
          <a:xfrm>
            <a:off x="1731645" y="202565"/>
            <a:ext cx="337185" cy="337185"/>
          </a:xfrm>
          <a:prstGeom prst="ellipse">
            <a:avLst/>
          </a:prstGeom>
          <a:solidFill>
            <a:srgbClr val="00B0F0"/>
          </a:solidFill>
          <a:ln w="19050">
            <a:solidFill>
              <a:srgbClr val="FFFFFF"/>
            </a:solidFill>
            <a:prstDash val="solid"/>
          </a:ln>
        </p:spPr>
        <p:txBody>
          <a:bodyPr/>
          <a:lstStyle/>
          <a:p>
            <a:endParaRPr lang="es-ES"/>
          </a:p>
        </p:txBody>
      </p:sp>
      <p:sp>
        <p:nvSpPr>
          <p:cNvPr id="19" name="Text 16">
            <a:extLst>
              <a:ext uri="{FF2B5EF4-FFF2-40B4-BE49-F238E27FC236}">
                <a16:creationId xmlns:a16="http://schemas.microsoft.com/office/drawing/2014/main" id="{F8A7C78B-4986-2644-88EC-2A81D7CBA6A5}"/>
              </a:ext>
            </a:extLst>
          </p:cNvPr>
          <p:cNvSpPr/>
          <p:nvPr/>
        </p:nvSpPr>
        <p:spPr>
          <a:xfrm>
            <a:off x="1731645" y="202565"/>
            <a:ext cx="337185" cy="337185"/>
          </a:xfrm>
          <a:prstGeom prst="rect">
            <a:avLst/>
          </a:prstGeom>
          <a:noFill/>
          <a:ln/>
        </p:spPr>
        <p:txBody>
          <a:bodyPr wrap="square" lIns="45720" tIns="91440" rIns="91440" bIns="45720" rtlCol="0" anchor="ctr"/>
          <a:lstStyle/>
          <a:p>
            <a:pPr>
              <a:lnSpc>
                <a:spcPct val="100000"/>
              </a:lnSpc>
            </a:pPr>
            <a:endParaRPr lang="en-US" sz="1600" dirty="0"/>
          </a:p>
        </p:txBody>
      </p:sp>
    </p:spTree>
    <p:extLst>
      <p:ext uri="{BB962C8B-B14F-4D97-AF65-F5344CB8AC3E}">
        <p14:creationId xmlns:p14="http://schemas.microsoft.com/office/powerpoint/2010/main" val="855177784"/>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142240"/>
            <a:ext cx="7499985" cy="368300"/>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Lección de la COVID-19: ERTE</a:t>
            </a:r>
            <a:endParaRPr lang="en-US" sz="1600" dirty="0"/>
          </a:p>
        </p:txBody>
      </p:sp>
      <p:sp>
        <p:nvSpPr>
          <p:cNvPr id="12" name="Shape 10"/>
          <p:cNvSpPr/>
          <p:nvPr/>
        </p:nvSpPr>
        <p:spPr>
          <a:xfrm>
            <a:off x="714375" y="1840865"/>
            <a:ext cx="2893060" cy="3590925"/>
          </a:xfrm>
          <a:prstGeom prst="roundRect">
            <a:avLst/>
          </a:prstGeom>
          <a:solidFill>
            <a:srgbClr val="00B0F0"/>
          </a:solidFill>
          <a:ln w="28575">
            <a:solidFill>
              <a:srgbClr val="FFFFFF">
                <a:alpha val="0"/>
              </a:srgbClr>
            </a:solidFill>
            <a:prstDash val="solid"/>
          </a:ln>
        </p:spPr>
        <p:txBody>
          <a:bodyPr/>
          <a:lstStyle/>
          <a:p>
            <a:endParaRPr lang="es-ES"/>
          </a:p>
        </p:txBody>
      </p:sp>
      <p:sp>
        <p:nvSpPr>
          <p:cNvPr id="13" name="Text 11"/>
          <p:cNvSpPr/>
          <p:nvPr/>
        </p:nvSpPr>
        <p:spPr>
          <a:xfrm>
            <a:off x="714375" y="1840865"/>
            <a:ext cx="2893060" cy="359092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600075" y="1676400"/>
            <a:ext cx="2836545" cy="3590925"/>
          </a:xfrm>
          <a:prstGeom prst="roundRect">
            <a:avLst>
              <a:gd name="adj" fmla="val 14996"/>
            </a:avLst>
          </a:prstGeom>
          <a:solidFill>
            <a:srgbClr val="FFFFFF"/>
          </a:solidFill>
          <a:ln w="19050">
            <a:solidFill>
              <a:srgbClr val="000000"/>
            </a:solidFill>
            <a:prstDash val="solid"/>
          </a:ln>
        </p:spPr>
        <p:txBody>
          <a:bodyPr/>
          <a:lstStyle/>
          <a:p>
            <a:endParaRPr lang="es-ES"/>
          </a:p>
        </p:txBody>
      </p:sp>
      <p:sp>
        <p:nvSpPr>
          <p:cNvPr id="15" name="Text 13"/>
          <p:cNvSpPr/>
          <p:nvPr/>
        </p:nvSpPr>
        <p:spPr>
          <a:xfrm>
            <a:off x="600075" y="1676400"/>
            <a:ext cx="2836545" cy="359092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4561840" y="1981835"/>
            <a:ext cx="2893060" cy="3590925"/>
          </a:xfrm>
          <a:prstGeom prst="roundRect">
            <a:avLst/>
          </a:prstGeom>
          <a:solidFill>
            <a:srgbClr val="00B0F0"/>
          </a:solidFill>
          <a:ln w="28575">
            <a:solidFill>
              <a:srgbClr val="FFFFFF">
                <a:alpha val="0"/>
              </a:srgbClr>
            </a:solidFill>
            <a:prstDash val="solid"/>
          </a:ln>
        </p:spPr>
        <p:txBody>
          <a:bodyPr/>
          <a:lstStyle/>
          <a:p>
            <a:endParaRPr lang="es-ES"/>
          </a:p>
        </p:txBody>
      </p:sp>
      <p:sp>
        <p:nvSpPr>
          <p:cNvPr id="17" name="Text 15"/>
          <p:cNvSpPr/>
          <p:nvPr/>
        </p:nvSpPr>
        <p:spPr>
          <a:xfrm>
            <a:off x="4561840" y="1981835"/>
            <a:ext cx="2893060" cy="359092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Shape 16"/>
          <p:cNvSpPr/>
          <p:nvPr/>
        </p:nvSpPr>
        <p:spPr>
          <a:xfrm>
            <a:off x="4447540" y="1734820"/>
            <a:ext cx="2836545" cy="3590925"/>
          </a:xfrm>
          <a:prstGeom prst="roundRect">
            <a:avLst>
              <a:gd name="adj" fmla="val 14996"/>
            </a:avLst>
          </a:prstGeom>
          <a:solidFill>
            <a:srgbClr val="FFFFFF"/>
          </a:solidFill>
          <a:ln w="19050">
            <a:solidFill>
              <a:srgbClr val="000000"/>
            </a:solidFill>
            <a:prstDash val="solid"/>
          </a:ln>
        </p:spPr>
        <p:txBody>
          <a:bodyPr/>
          <a:lstStyle/>
          <a:p>
            <a:endParaRPr lang="es-ES"/>
          </a:p>
        </p:txBody>
      </p:sp>
      <p:sp>
        <p:nvSpPr>
          <p:cNvPr id="19" name="Text 17"/>
          <p:cNvSpPr/>
          <p:nvPr/>
        </p:nvSpPr>
        <p:spPr>
          <a:xfrm>
            <a:off x="4447540" y="1734820"/>
            <a:ext cx="2836545" cy="359092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0" name="Shape 18"/>
          <p:cNvSpPr/>
          <p:nvPr/>
        </p:nvSpPr>
        <p:spPr>
          <a:xfrm>
            <a:off x="8579485" y="2040255"/>
            <a:ext cx="2893060" cy="3590925"/>
          </a:xfrm>
          <a:prstGeom prst="roundRect">
            <a:avLst/>
          </a:prstGeom>
          <a:solidFill>
            <a:srgbClr val="00B0F0"/>
          </a:solidFill>
          <a:ln w="28575">
            <a:solidFill>
              <a:srgbClr val="FFFFFF">
                <a:alpha val="0"/>
              </a:srgbClr>
            </a:solidFill>
            <a:prstDash val="solid"/>
          </a:ln>
        </p:spPr>
        <p:txBody>
          <a:bodyPr/>
          <a:lstStyle/>
          <a:p>
            <a:endParaRPr lang="es-ES"/>
          </a:p>
        </p:txBody>
      </p:sp>
      <p:sp>
        <p:nvSpPr>
          <p:cNvPr id="21" name="Text 19"/>
          <p:cNvSpPr/>
          <p:nvPr/>
        </p:nvSpPr>
        <p:spPr>
          <a:xfrm>
            <a:off x="8579485" y="2040255"/>
            <a:ext cx="2893060" cy="359092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2" name="Shape 20"/>
          <p:cNvSpPr/>
          <p:nvPr/>
        </p:nvSpPr>
        <p:spPr>
          <a:xfrm>
            <a:off x="8465185" y="1793240"/>
            <a:ext cx="2836545" cy="3590925"/>
          </a:xfrm>
          <a:prstGeom prst="roundRect">
            <a:avLst>
              <a:gd name="adj" fmla="val 14996"/>
            </a:avLst>
          </a:prstGeom>
          <a:solidFill>
            <a:srgbClr val="FFFFFF"/>
          </a:solidFill>
          <a:ln w="19050">
            <a:solidFill>
              <a:srgbClr val="000000"/>
            </a:solidFill>
            <a:prstDash val="solid"/>
          </a:ln>
        </p:spPr>
        <p:txBody>
          <a:bodyPr/>
          <a:lstStyle/>
          <a:p>
            <a:endParaRPr lang="es-ES"/>
          </a:p>
        </p:txBody>
      </p:sp>
      <p:sp>
        <p:nvSpPr>
          <p:cNvPr id="23" name="Text 21"/>
          <p:cNvSpPr/>
          <p:nvPr/>
        </p:nvSpPr>
        <p:spPr>
          <a:xfrm>
            <a:off x="8465185" y="1793240"/>
            <a:ext cx="2836545" cy="359092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4" name="Shape 22"/>
          <p:cNvSpPr/>
          <p:nvPr/>
        </p:nvSpPr>
        <p:spPr>
          <a:xfrm>
            <a:off x="3816985" y="3035935"/>
            <a:ext cx="420370" cy="871220"/>
          </a:xfrm>
          <a:prstGeom prst="chevron">
            <a:avLst/>
          </a:prstGeom>
          <a:solidFill>
            <a:srgbClr val="00B0F0"/>
          </a:solidFill>
          <a:ln/>
        </p:spPr>
        <p:txBody>
          <a:bodyPr/>
          <a:lstStyle/>
          <a:p>
            <a:endParaRPr lang="es-ES"/>
          </a:p>
        </p:txBody>
      </p:sp>
      <p:sp>
        <p:nvSpPr>
          <p:cNvPr id="25" name="Text 23"/>
          <p:cNvSpPr/>
          <p:nvPr/>
        </p:nvSpPr>
        <p:spPr>
          <a:xfrm>
            <a:off x="3816985" y="3035935"/>
            <a:ext cx="420370" cy="8712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6" name="Shape 24"/>
          <p:cNvSpPr/>
          <p:nvPr/>
        </p:nvSpPr>
        <p:spPr>
          <a:xfrm>
            <a:off x="7750175" y="3035935"/>
            <a:ext cx="420370" cy="871220"/>
          </a:xfrm>
          <a:prstGeom prst="chevron">
            <a:avLst/>
          </a:prstGeom>
          <a:solidFill>
            <a:srgbClr val="00B0F0"/>
          </a:solidFill>
          <a:ln/>
        </p:spPr>
        <p:txBody>
          <a:bodyPr/>
          <a:lstStyle/>
          <a:p>
            <a:endParaRPr lang="es-ES"/>
          </a:p>
        </p:txBody>
      </p:sp>
      <p:sp>
        <p:nvSpPr>
          <p:cNvPr id="27" name="Text 25"/>
          <p:cNvSpPr/>
          <p:nvPr/>
        </p:nvSpPr>
        <p:spPr>
          <a:xfrm>
            <a:off x="7750175" y="3035935"/>
            <a:ext cx="420370" cy="8712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8" name="Shape 26"/>
          <p:cNvSpPr/>
          <p:nvPr/>
        </p:nvSpPr>
        <p:spPr>
          <a:xfrm>
            <a:off x="0" y="6569075"/>
            <a:ext cx="12192000" cy="310515"/>
          </a:xfrm>
          <a:prstGeom prst="rect">
            <a:avLst/>
          </a:prstGeom>
          <a:solidFill>
            <a:srgbClr val="00B0F0"/>
          </a:solidFill>
          <a:ln/>
        </p:spPr>
        <p:txBody>
          <a:bodyPr/>
          <a:lstStyle/>
          <a:p>
            <a:endParaRPr lang="es-ES"/>
          </a:p>
        </p:txBody>
      </p:sp>
      <p:sp>
        <p:nvSpPr>
          <p:cNvPr id="29" name="Text 27"/>
          <p:cNvSpPr/>
          <p:nvPr/>
        </p:nvSpPr>
        <p:spPr>
          <a:xfrm>
            <a:off x="0" y="6569075"/>
            <a:ext cx="12192000" cy="3105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30" name="Text 28"/>
          <p:cNvSpPr/>
          <p:nvPr/>
        </p:nvSpPr>
        <p:spPr>
          <a:xfrm>
            <a:off x="836295" y="1734820"/>
            <a:ext cx="2200275" cy="645160"/>
          </a:xfrm>
          <a:prstGeom prst="rect">
            <a:avLst/>
          </a:prstGeom>
          <a:noFill/>
          <a:ln/>
        </p:spPr>
        <p:txBody>
          <a:bodyPr wrap="square" lIns="91440" tIns="45720" rIns="91440" bIns="45720" rtlCol="0" anchor="t"/>
          <a:lstStyle/>
          <a:p>
            <a:pPr marL="0" indent="0" algn="ctr">
              <a:lnSpc>
                <a:spcPct val="100000"/>
              </a:lnSpc>
              <a:buNone/>
            </a:pPr>
            <a:r>
              <a:rPr lang="en-US" sz="1800" dirty="0">
                <a:solidFill>
                  <a:srgbClr val="00B0F0"/>
                </a:solidFill>
                <a:latin typeface="MiSans" pitchFamily="34" charset="0"/>
                <a:ea typeface="MiSans" pitchFamily="34" charset="-122"/>
                <a:cs typeface="MiSans" pitchFamily="34" charset="-120"/>
              </a:rPr>
              <a:t>Preservación masiva de empleo</a:t>
            </a:r>
            <a:endParaRPr lang="en-US" sz="1600" dirty="0"/>
          </a:p>
        </p:txBody>
      </p:sp>
      <p:sp>
        <p:nvSpPr>
          <p:cNvPr id="31" name="Text 29"/>
          <p:cNvSpPr/>
          <p:nvPr/>
        </p:nvSpPr>
        <p:spPr>
          <a:xfrm>
            <a:off x="714375" y="2379980"/>
            <a:ext cx="2578735" cy="2624455"/>
          </a:xfrm>
          <a:prstGeom prst="rect">
            <a:avLst/>
          </a:prstGeom>
          <a:noFill/>
          <a:ln/>
        </p:spPr>
        <p:txBody>
          <a:bodyPr wrap="square" lIns="91440" tIns="45720" rIns="91440" bIns="45720" rtlCol="0" anchor="t"/>
          <a:lstStyle/>
          <a:p>
            <a:pPr marL="0" indent="0">
              <a:lnSpc>
                <a:spcPct val="130000"/>
              </a:lnSpc>
              <a:buNone/>
            </a:pPr>
            <a:r>
              <a:rPr lang="en-US" sz="1400" dirty="0">
                <a:solidFill>
                  <a:srgbClr val="000000"/>
                </a:solidFill>
                <a:latin typeface="MiSans" pitchFamily="34" charset="0"/>
                <a:ea typeface="MiSans" pitchFamily="34" charset="-122"/>
                <a:cs typeface="MiSans" pitchFamily="34" charset="-120"/>
              </a:rPr>
              <a:t>En 2020-2021 los ERTE protegieron a más de 3,5 millones de trabajadores, evitando subida exponencial del paro. La experiencia demostró que flexibilidad interna bien financiada y regulada puede ser herramienta eficaz de protección en crisis agudas.</a:t>
            </a:r>
            <a:endParaRPr lang="en-US" sz="1600" dirty="0"/>
          </a:p>
        </p:txBody>
      </p:sp>
      <p:sp>
        <p:nvSpPr>
          <p:cNvPr id="32" name="Text 30"/>
          <p:cNvSpPr/>
          <p:nvPr/>
        </p:nvSpPr>
        <p:spPr>
          <a:xfrm>
            <a:off x="4683760" y="1793240"/>
            <a:ext cx="2200275" cy="645160"/>
          </a:xfrm>
          <a:prstGeom prst="rect">
            <a:avLst/>
          </a:prstGeom>
          <a:noFill/>
          <a:ln/>
        </p:spPr>
        <p:txBody>
          <a:bodyPr wrap="square" lIns="91440" tIns="45720" rIns="91440" bIns="45720" rtlCol="0" anchor="t"/>
          <a:lstStyle/>
          <a:p>
            <a:pPr marL="0" indent="0" algn="ctr">
              <a:lnSpc>
                <a:spcPct val="100000"/>
              </a:lnSpc>
              <a:buNone/>
            </a:pPr>
            <a:r>
              <a:rPr lang="en-US" sz="1800" dirty="0">
                <a:solidFill>
                  <a:srgbClr val="00B0F0"/>
                </a:solidFill>
                <a:latin typeface="MiSans" pitchFamily="34" charset="0"/>
                <a:ea typeface="MiSans" pitchFamily="34" charset="-122"/>
                <a:cs typeface="MiSans" pitchFamily="34" charset="-120"/>
              </a:rPr>
              <a:t>Recuperación más rápida</a:t>
            </a:r>
            <a:endParaRPr lang="en-US" sz="1600" dirty="0"/>
          </a:p>
        </p:txBody>
      </p:sp>
      <p:sp>
        <p:nvSpPr>
          <p:cNvPr id="33" name="Text 31"/>
          <p:cNvSpPr/>
          <p:nvPr/>
        </p:nvSpPr>
        <p:spPr>
          <a:xfrm>
            <a:off x="4561840" y="2438400"/>
            <a:ext cx="2578735" cy="2624455"/>
          </a:xfrm>
          <a:prstGeom prst="rect">
            <a:avLst/>
          </a:prstGeom>
          <a:noFill/>
          <a:ln/>
        </p:spPr>
        <p:txBody>
          <a:bodyPr wrap="square" lIns="91440" tIns="45720" rIns="91440" bIns="45720" rtlCol="0" anchor="t"/>
          <a:lstStyle/>
          <a:p>
            <a:pPr marL="0" indent="0">
              <a:lnSpc>
                <a:spcPct val="130000"/>
              </a:lnSpc>
              <a:buNone/>
            </a:pPr>
            <a:r>
              <a:rPr lang="en-US" sz="1400" dirty="0">
                <a:solidFill>
                  <a:srgbClr val="000000"/>
                </a:solidFill>
                <a:latin typeface="MiSans" pitchFamily="34" charset="0"/>
                <a:ea typeface="MiSans" pitchFamily="34" charset="-122"/>
                <a:cs typeface="MiSans" pitchFamily="34" charset="-120"/>
              </a:rPr>
              <a:t>Al mantener vínculo laboral, la reactivación fue más veloz que en crisis anteriores: las empresas pudieron reincorporar personal cualificado sin costes de selección y formación, y los trabajadores volvieron a sus puestos con trayectoria laboral intacta.</a:t>
            </a:r>
            <a:endParaRPr lang="en-US" sz="1600" dirty="0"/>
          </a:p>
        </p:txBody>
      </p:sp>
      <p:sp>
        <p:nvSpPr>
          <p:cNvPr id="34" name="Text 32"/>
          <p:cNvSpPr/>
          <p:nvPr/>
        </p:nvSpPr>
        <p:spPr>
          <a:xfrm>
            <a:off x="8701405" y="1851660"/>
            <a:ext cx="2200275" cy="645160"/>
          </a:xfrm>
          <a:prstGeom prst="rect">
            <a:avLst/>
          </a:prstGeom>
          <a:noFill/>
          <a:ln/>
        </p:spPr>
        <p:txBody>
          <a:bodyPr wrap="square" lIns="91440" tIns="45720" rIns="91440" bIns="45720" rtlCol="0" anchor="t"/>
          <a:lstStyle/>
          <a:p>
            <a:pPr marL="0" indent="0" algn="ctr">
              <a:lnSpc>
                <a:spcPct val="100000"/>
              </a:lnSpc>
              <a:buNone/>
            </a:pPr>
            <a:r>
              <a:rPr lang="en-US" sz="1800" dirty="0">
                <a:solidFill>
                  <a:srgbClr val="00B0F0"/>
                </a:solidFill>
                <a:latin typeface="MiSans" pitchFamily="34" charset="0"/>
                <a:ea typeface="MiSans" pitchFamily="34" charset="-122"/>
                <a:cs typeface="MiSans" pitchFamily="34" charset="-120"/>
              </a:rPr>
              <a:t>Consenso social y político</a:t>
            </a:r>
            <a:endParaRPr lang="en-US" sz="1600" dirty="0"/>
          </a:p>
        </p:txBody>
      </p:sp>
      <p:sp>
        <p:nvSpPr>
          <p:cNvPr id="35" name="Text 33"/>
          <p:cNvSpPr/>
          <p:nvPr/>
        </p:nvSpPr>
        <p:spPr>
          <a:xfrm>
            <a:off x="8579485" y="2496820"/>
            <a:ext cx="2578735" cy="2624455"/>
          </a:xfrm>
          <a:prstGeom prst="rect">
            <a:avLst/>
          </a:prstGeom>
          <a:noFill/>
          <a:ln/>
        </p:spPr>
        <p:txBody>
          <a:bodyPr wrap="square" lIns="91440" tIns="45720" rIns="91440" bIns="45720" rtlCol="0" anchor="t"/>
          <a:lstStyle/>
          <a:p>
            <a:pPr marL="0" indent="0">
              <a:lnSpc>
                <a:spcPct val="130000"/>
              </a:lnSpc>
              <a:buNone/>
            </a:pPr>
            <a:r>
              <a:rPr lang="en-US" sz="1400" dirty="0">
                <a:solidFill>
                  <a:srgbClr val="000000"/>
                </a:solidFill>
                <a:latin typeface="MiSans" pitchFamily="34" charset="0"/>
                <a:ea typeface="MiSans" pitchFamily="34" charset="-122"/>
                <a:cs typeface="MiSans" pitchFamily="34" charset="-120"/>
              </a:rPr>
              <a:t>El éxito de los ERTE se basó en acuerdo entre gobierno, sindicatos y patronal, y en financiación pública compartida. Esto mostró viabilidad de políticas activas de empleo con respaldo tripartito, sentando precedente para futuros shocks económicos.</a:t>
            </a:r>
            <a:endParaRPr lang="en-US" sz="1600" dirty="0"/>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19:57:41-d2nf5d98bjvh7rlivsmg.png"/>
          <p:cNvPicPr>
            <a:picLocks noChangeAspect="1"/>
          </p:cNvPicPr>
          <p:nvPr/>
        </p:nvPicPr>
        <p:blipFill>
          <a:blip r:embed="rId3"/>
          <a:stretch>
            <a:fillRect/>
          </a:stretch>
        </p:blipFill>
        <p:spPr>
          <a:xfrm>
            <a:off x="4558665" y="1141095"/>
            <a:ext cx="3619500" cy="3912870"/>
          </a:xfrm>
          <a:prstGeom prst="rect">
            <a:avLst/>
          </a:prstGeom>
        </p:spPr>
      </p:pic>
      <p:sp>
        <p:nvSpPr>
          <p:cNvPr id="3" name="Shape 0"/>
          <p:cNvSpPr/>
          <p:nvPr/>
        </p:nvSpPr>
        <p:spPr>
          <a:xfrm>
            <a:off x="2047240" y="5053965"/>
            <a:ext cx="8642985" cy="1199515"/>
          </a:xfrm>
          <a:prstGeom prst="roundRect">
            <a:avLst>
              <a:gd name="adj" fmla="val 50000"/>
            </a:avLst>
          </a:prstGeom>
          <a:solidFill>
            <a:srgbClr val="00B0F0"/>
          </a:solidFill>
          <a:ln w="57150">
            <a:solidFill>
              <a:srgbClr val="FFFFFF">
                <a:alpha val="0"/>
              </a:srgbClr>
            </a:solidFill>
            <a:prstDash val="solid"/>
          </a:ln>
        </p:spPr>
        <p:txBody>
          <a:bodyPr/>
          <a:lstStyle/>
          <a:p>
            <a:endParaRPr lang="es-ES"/>
          </a:p>
        </p:txBody>
      </p:sp>
      <p:sp>
        <p:nvSpPr>
          <p:cNvPr id="4" name="Text 1"/>
          <p:cNvSpPr/>
          <p:nvPr/>
        </p:nvSpPr>
        <p:spPr>
          <a:xfrm>
            <a:off x="2047240" y="5053965"/>
            <a:ext cx="8642985" cy="11995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a:off x="1920240" y="4884420"/>
            <a:ext cx="8642985" cy="1199515"/>
          </a:xfrm>
          <a:prstGeom prst="roundRect">
            <a:avLst>
              <a:gd name="adj" fmla="val 50000"/>
            </a:avLst>
          </a:prstGeom>
          <a:solidFill>
            <a:srgbClr val="FFFFFF"/>
          </a:solidFill>
          <a:ln w="57150">
            <a:solidFill>
              <a:srgbClr val="000000"/>
            </a:solidFill>
            <a:prstDash val="solid"/>
          </a:ln>
        </p:spPr>
        <p:txBody>
          <a:bodyPr/>
          <a:lstStyle/>
          <a:p>
            <a:endParaRPr lang="es-ES"/>
          </a:p>
        </p:txBody>
      </p:sp>
      <p:sp>
        <p:nvSpPr>
          <p:cNvPr id="6" name="Text 3"/>
          <p:cNvSpPr/>
          <p:nvPr/>
        </p:nvSpPr>
        <p:spPr>
          <a:xfrm>
            <a:off x="1920240" y="4884420"/>
            <a:ext cx="8642985" cy="11995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7" name="Text 4"/>
          <p:cNvSpPr/>
          <p:nvPr/>
        </p:nvSpPr>
        <p:spPr>
          <a:xfrm>
            <a:off x="1920240" y="5045710"/>
            <a:ext cx="8643620" cy="828675"/>
          </a:xfrm>
          <a:prstGeom prst="rect">
            <a:avLst/>
          </a:prstGeom>
          <a:noFill/>
          <a:ln/>
        </p:spPr>
        <p:txBody>
          <a:bodyPr wrap="square" lIns="91440" tIns="45720" rIns="91440" bIns="45720" rtlCol="0" anchor="ctr">
            <a:spAutoFit/>
          </a:bodyPr>
          <a:lstStyle/>
          <a:p>
            <a:pPr marL="0" indent="0" algn="ctr">
              <a:lnSpc>
                <a:spcPct val="100000"/>
              </a:lnSpc>
              <a:buNone/>
            </a:pPr>
            <a:r>
              <a:rPr lang="en-US" sz="5400" b="1" dirty="0">
                <a:solidFill>
                  <a:srgbClr val="000000"/>
                </a:solidFill>
                <a:latin typeface="MiSans" pitchFamily="34" charset="0"/>
                <a:ea typeface="MiSans" pitchFamily="34" charset="-122"/>
                <a:cs typeface="MiSans" pitchFamily="34" charset="-120"/>
              </a:rPr>
              <a:t>Modelo Español y Retos</a:t>
            </a:r>
            <a:endParaRPr lang="en-US" sz="1600" dirty="0"/>
          </a:p>
        </p:txBody>
      </p:sp>
      <p:sp>
        <p:nvSpPr>
          <p:cNvPr id="8" name="Text 5"/>
          <p:cNvSpPr/>
          <p:nvPr/>
        </p:nvSpPr>
        <p:spPr>
          <a:xfrm>
            <a:off x="3447415" y="256898"/>
            <a:ext cx="5640070" cy="1107996"/>
          </a:xfrm>
          <a:prstGeom prst="rect">
            <a:avLst/>
          </a:prstGeom>
          <a:noFill/>
          <a:ln/>
        </p:spPr>
        <p:txBody>
          <a:bodyPr wrap="square" lIns="91440" tIns="45720" rIns="91440" bIns="45720" rtlCol="0" anchor="ctr">
            <a:spAutoFit/>
          </a:bodyPr>
          <a:lstStyle/>
          <a:p>
            <a:pPr marL="0" indent="0" algn="ctr">
              <a:lnSpc>
                <a:spcPct val="100000"/>
              </a:lnSpc>
              <a:buNone/>
            </a:pPr>
            <a:r>
              <a:rPr lang="en-US" sz="6600" b="1" dirty="0">
                <a:solidFill>
                  <a:srgbClr val="000000"/>
                </a:solidFill>
                <a:latin typeface="MiSans" pitchFamily="34" charset="0"/>
                <a:ea typeface="MiSans" pitchFamily="34" charset="-122"/>
                <a:cs typeface="MiSans" pitchFamily="34" charset="-120"/>
              </a:rPr>
              <a:t>PARTE  07</a:t>
            </a:r>
            <a:endParaRPr lang="en-US" sz="1600" dirty="0"/>
          </a:p>
        </p:txBody>
      </p:sp>
      <p:sp>
        <p:nvSpPr>
          <p:cNvPr id="9" name="Shape 6"/>
          <p:cNvSpPr/>
          <p:nvPr/>
        </p:nvSpPr>
        <p:spPr>
          <a:xfrm>
            <a:off x="291465" y="6075045"/>
            <a:ext cx="607496" cy="0"/>
          </a:xfrm>
          <a:prstGeom prst="line">
            <a:avLst/>
          </a:prstGeom>
          <a:noFill/>
          <a:ln w="57150">
            <a:solidFill>
              <a:srgbClr val="00B0F0"/>
            </a:solidFill>
            <a:prstDash val="solid"/>
            <a:headEnd type="none"/>
            <a:tailEnd type="none"/>
          </a:ln>
        </p:spPr>
        <p:txBody>
          <a:bodyPr/>
          <a:lstStyle/>
          <a:p>
            <a:endParaRPr lang="es-ES"/>
          </a:p>
        </p:txBody>
      </p:sp>
      <p:sp>
        <p:nvSpPr>
          <p:cNvPr id="10" name="Shape 7"/>
          <p:cNvSpPr/>
          <p:nvPr/>
        </p:nvSpPr>
        <p:spPr>
          <a:xfrm>
            <a:off x="291465" y="6308725"/>
            <a:ext cx="607496" cy="0"/>
          </a:xfrm>
          <a:prstGeom prst="line">
            <a:avLst/>
          </a:prstGeom>
          <a:noFill/>
          <a:ln w="57150">
            <a:solidFill>
              <a:srgbClr val="00B0F0"/>
            </a:solidFill>
            <a:prstDash val="solid"/>
            <a:headEnd type="none"/>
            <a:tailEnd type="none"/>
          </a:ln>
        </p:spPr>
        <p:txBody>
          <a:bodyPr/>
          <a:lstStyle/>
          <a:p>
            <a:endParaRPr lang="es-ES"/>
          </a:p>
        </p:txBody>
      </p:sp>
      <p:sp>
        <p:nvSpPr>
          <p:cNvPr id="11" name="Shape 8"/>
          <p:cNvSpPr/>
          <p:nvPr/>
        </p:nvSpPr>
        <p:spPr>
          <a:xfrm>
            <a:off x="291465" y="6542405"/>
            <a:ext cx="607496" cy="0"/>
          </a:xfrm>
          <a:prstGeom prst="line">
            <a:avLst/>
          </a:prstGeom>
          <a:noFill/>
          <a:ln w="57150">
            <a:solidFill>
              <a:srgbClr val="00B0F0"/>
            </a:solidFill>
            <a:prstDash val="solid"/>
            <a:headEnd type="none"/>
            <a:tailEnd type="none"/>
          </a:ln>
        </p:spPr>
        <p:txBody>
          <a:bodyPr/>
          <a:lstStyle/>
          <a:p>
            <a:endParaRPr lang="es-ES"/>
          </a:p>
        </p:txBody>
      </p:sp>
      <p:sp>
        <p:nvSpPr>
          <p:cNvPr id="12" name="Shape 9"/>
          <p:cNvSpPr/>
          <p:nvPr/>
        </p:nvSpPr>
        <p:spPr>
          <a:xfrm>
            <a:off x="291465" y="202565"/>
            <a:ext cx="337185" cy="337185"/>
          </a:xfrm>
          <a:prstGeom prst="ellipse">
            <a:avLst/>
          </a:prstGeom>
          <a:solidFill>
            <a:srgbClr val="FFFFFF"/>
          </a:solidFill>
          <a:ln w="19050">
            <a:solidFill>
              <a:srgbClr val="00B0F0"/>
            </a:solidFill>
            <a:prstDash val="solid"/>
          </a:ln>
        </p:spPr>
        <p:txBody>
          <a:bodyPr/>
          <a:lstStyle/>
          <a:p>
            <a:endParaRPr lang="es-ES"/>
          </a:p>
        </p:txBody>
      </p:sp>
      <p:sp>
        <p:nvSpPr>
          <p:cNvPr id="13" name="Text 10"/>
          <p:cNvSpPr/>
          <p:nvPr/>
        </p:nvSpPr>
        <p:spPr>
          <a:xfrm>
            <a:off x="29146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1251585" y="202565"/>
            <a:ext cx="337185" cy="337185"/>
          </a:xfrm>
          <a:prstGeom prst="ellipse">
            <a:avLst/>
          </a:prstGeom>
          <a:solidFill>
            <a:srgbClr val="FFFFFF"/>
          </a:solidFill>
          <a:ln w="19050">
            <a:solidFill>
              <a:srgbClr val="00B0F0"/>
            </a:solidFill>
            <a:prstDash val="solid"/>
          </a:ln>
        </p:spPr>
        <p:txBody>
          <a:bodyPr/>
          <a:lstStyle/>
          <a:p>
            <a:endParaRPr lang="es-ES"/>
          </a:p>
        </p:txBody>
      </p:sp>
      <p:sp>
        <p:nvSpPr>
          <p:cNvPr id="15" name="Text 12"/>
          <p:cNvSpPr/>
          <p:nvPr/>
        </p:nvSpPr>
        <p:spPr>
          <a:xfrm>
            <a:off x="125158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771525" y="202565"/>
            <a:ext cx="337185" cy="337185"/>
          </a:xfrm>
          <a:prstGeom prst="ellipse">
            <a:avLst/>
          </a:prstGeom>
          <a:solidFill>
            <a:srgbClr val="00B0F0"/>
          </a:solidFill>
          <a:ln w="19050">
            <a:solidFill>
              <a:srgbClr val="FFFFFF"/>
            </a:solidFill>
            <a:prstDash val="solid"/>
          </a:ln>
        </p:spPr>
        <p:txBody>
          <a:bodyPr/>
          <a:lstStyle/>
          <a:p>
            <a:endParaRPr lang="es-ES"/>
          </a:p>
        </p:txBody>
      </p:sp>
      <p:sp>
        <p:nvSpPr>
          <p:cNvPr id="17" name="Text 14"/>
          <p:cNvSpPr/>
          <p:nvPr/>
        </p:nvSpPr>
        <p:spPr>
          <a:xfrm>
            <a:off x="77152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Shape 15"/>
          <p:cNvSpPr/>
          <p:nvPr/>
        </p:nvSpPr>
        <p:spPr>
          <a:xfrm>
            <a:off x="1731645" y="202565"/>
            <a:ext cx="337185" cy="337185"/>
          </a:xfrm>
          <a:prstGeom prst="ellipse">
            <a:avLst/>
          </a:prstGeom>
          <a:solidFill>
            <a:srgbClr val="00B0F0"/>
          </a:solidFill>
          <a:ln w="19050">
            <a:solidFill>
              <a:srgbClr val="FFFFFF"/>
            </a:solidFill>
            <a:prstDash val="solid"/>
          </a:ln>
        </p:spPr>
        <p:txBody>
          <a:bodyPr/>
          <a:lstStyle/>
          <a:p>
            <a:endParaRPr lang="es-ES"/>
          </a:p>
        </p:txBody>
      </p:sp>
      <p:sp>
        <p:nvSpPr>
          <p:cNvPr id="19" name="Text 16"/>
          <p:cNvSpPr/>
          <p:nvPr/>
        </p:nvSpPr>
        <p:spPr>
          <a:xfrm>
            <a:off x="173164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142240"/>
            <a:ext cx="7499985" cy="368300"/>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Retos de futuro I</a:t>
            </a:r>
            <a:endParaRPr lang="en-US" sz="1600" dirty="0"/>
          </a:p>
        </p:txBody>
      </p:sp>
      <p:sp>
        <p:nvSpPr>
          <p:cNvPr id="12" name="Shape 10"/>
          <p:cNvSpPr/>
          <p:nvPr/>
        </p:nvSpPr>
        <p:spPr>
          <a:xfrm>
            <a:off x="7728585" y="3213735"/>
            <a:ext cx="3923030" cy="2591435"/>
          </a:xfrm>
          <a:prstGeom prst="roundRect">
            <a:avLst/>
          </a:prstGeom>
          <a:solidFill>
            <a:srgbClr val="00B0F0"/>
          </a:solidFill>
          <a:ln w="28575">
            <a:solidFill>
              <a:srgbClr val="FFFFFF">
                <a:alpha val="0"/>
              </a:srgbClr>
            </a:solidFill>
            <a:prstDash val="solid"/>
          </a:ln>
        </p:spPr>
        <p:txBody>
          <a:bodyPr/>
          <a:lstStyle/>
          <a:p>
            <a:endParaRPr lang="es-ES"/>
          </a:p>
        </p:txBody>
      </p:sp>
      <p:sp>
        <p:nvSpPr>
          <p:cNvPr id="13" name="Text 11"/>
          <p:cNvSpPr/>
          <p:nvPr/>
        </p:nvSpPr>
        <p:spPr>
          <a:xfrm>
            <a:off x="7728585" y="3213735"/>
            <a:ext cx="3923030" cy="25914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2"/>
          <p:cNvSpPr/>
          <p:nvPr/>
        </p:nvSpPr>
        <p:spPr>
          <a:xfrm>
            <a:off x="7614285" y="3049270"/>
            <a:ext cx="3846195" cy="2591435"/>
          </a:xfrm>
          <a:prstGeom prst="roundRect">
            <a:avLst>
              <a:gd name="adj" fmla="val 14996"/>
            </a:avLst>
          </a:prstGeom>
          <a:solidFill>
            <a:srgbClr val="FFFFFF"/>
          </a:solidFill>
          <a:ln w="19050">
            <a:solidFill>
              <a:srgbClr val="000000"/>
            </a:solidFill>
            <a:prstDash val="solid"/>
          </a:ln>
        </p:spPr>
        <p:txBody>
          <a:bodyPr/>
          <a:lstStyle/>
          <a:p>
            <a:endParaRPr lang="es-ES"/>
          </a:p>
        </p:txBody>
      </p:sp>
      <p:sp>
        <p:nvSpPr>
          <p:cNvPr id="15" name="Text 13"/>
          <p:cNvSpPr/>
          <p:nvPr/>
        </p:nvSpPr>
        <p:spPr>
          <a:xfrm>
            <a:off x="7614285" y="3049270"/>
            <a:ext cx="3846195" cy="25914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4"/>
          <p:cNvSpPr/>
          <p:nvPr/>
        </p:nvSpPr>
        <p:spPr>
          <a:xfrm>
            <a:off x="3296920" y="3187065"/>
            <a:ext cx="3923030" cy="2591435"/>
          </a:xfrm>
          <a:prstGeom prst="roundRect">
            <a:avLst/>
          </a:prstGeom>
          <a:solidFill>
            <a:srgbClr val="00B0F0"/>
          </a:solidFill>
          <a:ln w="28575">
            <a:solidFill>
              <a:srgbClr val="FFFFFF">
                <a:alpha val="0"/>
              </a:srgbClr>
            </a:solidFill>
            <a:prstDash val="solid"/>
          </a:ln>
        </p:spPr>
        <p:txBody>
          <a:bodyPr/>
          <a:lstStyle/>
          <a:p>
            <a:endParaRPr lang="es-ES"/>
          </a:p>
        </p:txBody>
      </p:sp>
      <p:sp>
        <p:nvSpPr>
          <p:cNvPr id="17" name="Text 15"/>
          <p:cNvSpPr/>
          <p:nvPr/>
        </p:nvSpPr>
        <p:spPr>
          <a:xfrm>
            <a:off x="3296920" y="3187065"/>
            <a:ext cx="3923030" cy="25914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Shape 16"/>
          <p:cNvSpPr/>
          <p:nvPr/>
        </p:nvSpPr>
        <p:spPr>
          <a:xfrm>
            <a:off x="3182620" y="3022600"/>
            <a:ext cx="3846195" cy="2591435"/>
          </a:xfrm>
          <a:prstGeom prst="roundRect">
            <a:avLst>
              <a:gd name="adj" fmla="val 14996"/>
            </a:avLst>
          </a:prstGeom>
          <a:solidFill>
            <a:srgbClr val="FFFFFF"/>
          </a:solidFill>
          <a:ln w="19050">
            <a:solidFill>
              <a:srgbClr val="000000"/>
            </a:solidFill>
            <a:prstDash val="solid"/>
          </a:ln>
        </p:spPr>
        <p:txBody>
          <a:bodyPr/>
          <a:lstStyle/>
          <a:p>
            <a:endParaRPr lang="es-ES"/>
          </a:p>
        </p:txBody>
      </p:sp>
      <p:sp>
        <p:nvSpPr>
          <p:cNvPr id="19" name="Text 17"/>
          <p:cNvSpPr/>
          <p:nvPr/>
        </p:nvSpPr>
        <p:spPr>
          <a:xfrm>
            <a:off x="3182620" y="3022600"/>
            <a:ext cx="3846195" cy="25914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0" name="Shape 18"/>
          <p:cNvSpPr/>
          <p:nvPr/>
        </p:nvSpPr>
        <p:spPr>
          <a:xfrm>
            <a:off x="523240" y="2232025"/>
            <a:ext cx="2063115" cy="3128010"/>
          </a:xfrm>
          <a:prstGeom prst="rect">
            <a:avLst/>
          </a:prstGeom>
          <a:solidFill>
            <a:srgbClr val="000000">
              <a:alpha val="0"/>
            </a:srgbClr>
          </a:solidFill>
          <a:ln w="28575">
            <a:solidFill>
              <a:srgbClr val="000000"/>
            </a:solidFill>
            <a:prstDash val="solid"/>
          </a:ln>
        </p:spPr>
        <p:txBody>
          <a:bodyPr/>
          <a:lstStyle/>
          <a:p>
            <a:endParaRPr lang="es-ES"/>
          </a:p>
        </p:txBody>
      </p:sp>
      <p:sp>
        <p:nvSpPr>
          <p:cNvPr id="21" name="Text 19"/>
          <p:cNvSpPr/>
          <p:nvPr/>
        </p:nvSpPr>
        <p:spPr>
          <a:xfrm>
            <a:off x="523240" y="2232025"/>
            <a:ext cx="2063115" cy="3128010"/>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22" name="Image 0" descr="https://kimi-img.moonshot.cn/pub/slides/slides_tmpl/image/25-08-27-19:57:42-d2nf5dh8bjvh7rlivt00.png"/>
          <p:cNvPicPr>
            <a:picLocks noChangeAspect="1"/>
          </p:cNvPicPr>
          <p:nvPr/>
        </p:nvPicPr>
        <p:blipFill>
          <a:blip r:embed="rId3"/>
          <a:stretch>
            <a:fillRect/>
          </a:stretch>
        </p:blipFill>
        <p:spPr>
          <a:xfrm>
            <a:off x="408305" y="1727200"/>
            <a:ext cx="2603500" cy="3441700"/>
          </a:xfrm>
          <a:prstGeom prst="rect">
            <a:avLst/>
          </a:prstGeom>
        </p:spPr>
      </p:pic>
      <p:sp>
        <p:nvSpPr>
          <p:cNvPr id="23" name="Shape 20"/>
          <p:cNvSpPr/>
          <p:nvPr/>
        </p:nvSpPr>
        <p:spPr>
          <a:xfrm>
            <a:off x="3133090" y="1163320"/>
            <a:ext cx="85725" cy="343535"/>
          </a:xfrm>
          <a:prstGeom prst="rect">
            <a:avLst/>
          </a:prstGeom>
          <a:solidFill>
            <a:srgbClr val="00B0F0"/>
          </a:solidFill>
          <a:ln/>
        </p:spPr>
        <p:txBody>
          <a:bodyPr/>
          <a:lstStyle/>
          <a:p>
            <a:endParaRPr lang="es-ES"/>
          </a:p>
        </p:txBody>
      </p:sp>
      <p:sp>
        <p:nvSpPr>
          <p:cNvPr id="24" name="Text 21"/>
          <p:cNvSpPr/>
          <p:nvPr/>
        </p:nvSpPr>
        <p:spPr>
          <a:xfrm>
            <a:off x="3133090" y="1163320"/>
            <a:ext cx="85725" cy="34353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5" name="Text 22"/>
          <p:cNvSpPr/>
          <p:nvPr/>
        </p:nvSpPr>
        <p:spPr>
          <a:xfrm>
            <a:off x="3218498" y="1114534"/>
            <a:ext cx="4358640" cy="368300"/>
          </a:xfrm>
          <a:prstGeom prst="rect">
            <a:avLst/>
          </a:prstGeom>
          <a:noFill/>
          <a:ln/>
        </p:spPr>
        <p:txBody>
          <a:bodyPr wrap="square" lIns="91440" tIns="45720" rIns="91440" bIns="45720" rtlCol="0" anchor="t">
            <a:spAutoFit/>
          </a:bodyPr>
          <a:lstStyle/>
          <a:p>
            <a:pPr marL="0" indent="0">
              <a:lnSpc>
                <a:spcPct val="100000"/>
              </a:lnSpc>
              <a:buNone/>
            </a:pPr>
            <a:r>
              <a:rPr lang="en-US" sz="2400" dirty="0">
                <a:solidFill>
                  <a:srgbClr val="00B0F0"/>
                </a:solidFill>
                <a:latin typeface="MiSans" pitchFamily="34" charset="0"/>
                <a:ea typeface="MiSans" pitchFamily="34" charset="-122"/>
                <a:cs typeface="MiSans" pitchFamily="34" charset="-120"/>
              </a:rPr>
              <a:t>Reducir dualidad estructural</a:t>
            </a:r>
            <a:endParaRPr lang="en-US" sz="1600" dirty="0"/>
          </a:p>
        </p:txBody>
      </p:sp>
      <p:sp>
        <p:nvSpPr>
          <p:cNvPr id="26" name="Text 23"/>
          <p:cNvSpPr/>
          <p:nvPr/>
        </p:nvSpPr>
        <p:spPr>
          <a:xfrm>
            <a:off x="3133090" y="1727200"/>
            <a:ext cx="8551545" cy="1143000"/>
          </a:xfrm>
          <a:prstGeom prst="rect">
            <a:avLst/>
          </a:prstGeom>
          <a:noFill/>
          <a:ln/>
        </p:spPr>
        <p:txBody>
          <a:bodyPr wrap="square" lIns="91440" tIns="45720" rIns="91440" bIns="45720" rtlCol="0" anchor="t"/>
          <a:lstStyle/>
          <a:p>
            <a:pPr marL="0" indent="0">
              <a:lnSpc>
                <a:spcPct val="130000"/>
              </a:lnSpc>
              <a:buNone/>
            </a:pPr>
            <a:r>
              <a:rPr lang="en-US" sz="1600" dirty="0">
                <a:solidFill>
                  <a:srgbClr val="000000"/>
                </a:solidFill>
                <a:latin typeface="MiSans" pitchFamily="34" charset="0"/>
                <a:ea typeface="MiSans" pitchFamily="34" charset="-122"/>
                <a:cs typeface="MiSans" pitchFamily="34" charset="-120"/>
              </a:rPr>
              <a:t>Es necesario converger condiciones entre temporales e indefinidos: acercar indemnizaciones, derechos a formación y promoción. El objetivo es que el tipo de contrato no determine calidad de vida ni oportunidades, eliminando incentivos a uso abusivo de temporalidad.</a:t>
            </a:r>
            <a:endParaRPr lang="en-US" sz="1600" dirty="0"/>
          </a:p>
        </p:txBody>
      </p:sp>
      <p:sp>
        <p:nvSpPr>
          <p:cNvPr id="27" name="Text 24"/>
          <p:cNvSpPr/>
          <p:nvPr/>
        </p:nvSpPr>
        <p:spPr>
          <a:xfrm>
            <a:off x="3232583" y="3189192"/>
            <a:ext cx="3662680" cy="303411"/>
          </a:xfrm>
          <a:prstGeom prst="rect">
            <a:avLst/>
          </a:prstGeom>
          <a:noFill/>
          <a:ln/>
        </p:spPr>
        <p:txBody>
          <a:bodyPr wrap="square" lIns="91440" tIns="45720" rIns="91440" bIns="45720" rtlCol="0" anchor="t">
            <a:spAutoFit/>
          </a:bodyPr>
          <a:lstStyle/>
          <a:p>
            <a:pPr marL="0" indent="0">
              <a:lnSpc>
                <a:spcPct val="100000"/>
              </a:lnSpc>
              <a:buNone/>
            </a:pPr>
            <a:r>
              <a:rPr lang="en-US" sz="2000" dirty="0">
                <a:solidFill>
                  <a:srgbClr val="000000"/>
                </a:solidFill>
                <a:latin typeface="MiSans" pitchFamily="34" charset="0"/>
                <a:ea typeface="MiSans" pitchFamily="34" charset="-122"/>
                <a:cs typeface="MiSans" pitchFamily="34" charset="-120"/>
              </a:rPr>
              <a:t>Potenciar formación continua</a:t>
            </a:r>
            <a:endParaRPr lang="en-US" sz="1600" dirty="0"/>
          </a:p>
        </p:txBody>
      </p:sp>
      <p:sp>
        <p:nvSpPr>
          <p:cNvPr id="28" name="Text 25"/>
          <p:cNvSpPr/>
          <p:nvPr/>
        </p:nvSpPr>
        <p:spPr>
          <a:xfrm>
            <a:off x="3232583" y="3682365"/>
            <a:ext cx="3662680" cy="1841500"/>
          </a:xfrm>
          <a:prstGeom prst="rect">
            <a:avLst/>
          </a:prstGeom>
          <a:noFill/>
          <a:ln/>
        </p:spPr>
        <p:txBody>
          <a:bodyPr wrap="square" lIns="91440" tIns="45720" rIns="91440" bIns="45720" rtlCol="0" anchor="t"/>
          <a:lstStyle/>
          <a:p>
            <a:pPr marL="0" indent="0">
              <a:lnSpc>
                <a:spcPct val="130000"/>
              </a:lnSpc>
              <a:buNone/>
            </a:pPr>
            <a:r>
              <a:rPr lang="en-US" sz="1200" dirty="0">
                <a:solidFill>
                  <a:srgbClr val="000000"/>
                </a:solidFill>
                <a:latin typeface="MiSans" pitchFamily="34" charset="0"/>
                <a:ea typeface="MiSans" pitchFamily="34" charset="-122"/>
                <a:cs typeface="MiSans" pitchFamily="34" charset="-120"/>
              </a:rPr>
              <a:t>La seguridad debe basarse en empleabilidad, no en protección estática del puesto. Requiere sistema de formación profesional ágil, con incentivos fiscales a empresas que forman y cuentas individuales de formación para trabajadores, especialmente temporales y de baja cualificación.</a:t>
            </a:r>
            <a:endParaRPr lang="en-US" sz="1400" dirty="0"/>
          </a:p>
        </p:txBody>
      </p:sp>
      <p:sp>
        <p:nvSpPr>
          <p:cNvPr id="29" name="Text 26"/>
          <p:cNvSpPr/>
          <p:nvPr/>
        </p:nvSpPr>
        <p:spPr>
          <a:xfrm>
            <a:off x="7664248" y="3215862"/>
            <a:ext cx="3662680" cy="638770"/>
          </a:xfrm>
          <a:prstGeom prst="rect">
            <a:avLst/>
          </a:prstGeom>
          <a:noFill/>
          <a:ln/>
        </p:spPr>
        <p:txBody>
          <a:bodyPr wrap="square" lIns="91440" tIns="45720" rIns="91440" bIns="45720" rtlCol="0" anchor="t">
            <a:spAutoFit/>
          </a:bodyPr>
          <a:lstStyle/>
          <a:p>
            <a:pPr marL="0" indent="0">
              <a:lnSpc>
                <a:spcPct val="100000"/>
              </a:lnSpc>
              <a:buNone/>
            </a:pPr>
            <a:r>
              <a:rPr lang="en-US" sz="2000" dirty="0">
                <a:solidFill>
                  <a:srgbClr val="000000"/>
                </a:solidFill>
                <a:latin typeface="MiSans" pitchFamily="34" charset="0"/>
                <a:ea typeface="MiSans" pitchFamily="34" charset="-122"/>
                <a:cs typeface="MiSans" pitchFamily="34" charset="-120"/>
              </a:rPr>
              <a:t>Fortalecer políticas activas de empleo</a:t>
            </a:r>
            <a:endParaRPr lang="en-US" sz="1600" dirty="0"/>
          </a:p>
        </p:txBody>
      </p:sp>
      <p:sp>
        <p:nvSpPr>
          <p:cNvPr id="30" name="Text 27"/>
          <p:cNvSpPr/>
          <p:nvPr/>
        </p:nvSpPr>
        <p:spPr>
          <a:xfrm>
            <a:off x="7664248" y="3831701"/>
            <a:ext cx="3662680" cy="1841500"/>
          </a:xfrm>
          <a:prstGeom prst="rect">
            <a:avLst/>
          </a:prstGeom>
          <a:noFill/>
          <a:ln/>
        </p:spPr>
        <p:txBody>
          <a:bodyPr wrap="square" lIns="91440" tIns="45720" rIns="91440" bIns="45720" rtlCol="0" anchor="t"/>
          <a:lstStyle/>
          <a:p>
            <a:pPr marL="0" indent="0">
              <a:lnSpc>
                <a:spcPct val="130000"/>
              </a:lnSpc>
              <a:buNone/>
            </a:pPr>
            <a:r>
              <a:rPr lang="en-US" sz="1200" dirty="0">
                <a:solidFill>
                  <a:srgbClr val="000000"/>
                </a:solidFill>
                <a:latin typeface="MiSans" pitchFamily="34" charset="0"/>
                <a:ea typeface="MiSans" pitchFamily="34" charset="-122"/>
                <a:cs typeface="MiSans" pitchFamily="34" charset="-120"/>
              </a:rPr>
              <a:t>Servicios públicos de empleo deben ofrecer orientación personalizada, formación acreditada e intermediación eficaz. Meta: reducir duración media del desempleo y facilitar transiciones entre sectores, especialmente para colectivos vulnerables (jóvenes, mayores de 45, temporales crónicos).</a:t>
            </a:r>
            <a:endParaRPr lang="en-US" sz="1400" dirty="0"/>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142240"/>
            <a:ext cx="7499985" cy="368300"/>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Retos de futuro II</a:t>
            </a:r>
            <a:endParaRPr lang="en-US" sz="1600" dirty="0"/>
          </a:p>
        </p:txBody>
      </p:sp>
      <p:sp>
        <p:nvSpPr>
          <p:cNvPr id="12" name="Shape 10"/>
          <p:cNvSpPr/>
          <p:nvPr/>
        </p:nvSpPr>
        <p:spPr>
          <a:xfrm>
            <a:off x="4747260" y="1337945"/>
            <a:ext cx="2980055" cy="4182110"/>
          </a:xfrm>
          <a:custGeom>
            <a:avLst/>
            <a:gdLst/>
            <a:ahLst/>
            <a:cxnLst/>
            <a:rect l="l" t="t" r="r" b="b"/>
            <a:pathLst>
              <a:path w="2980055" h="4182110">
                <a:moveTo>
                  <a:pt x="257368" y="0"/>
                </a:moveTo>
                <a:cubicBezTo>
                  <a:pt x="2722686" y="0"/>
                  <a:pt x="2722686" y="0"/>
                  <a:pt x="2722686" y="0"/>
                </a:cubicBezTo>
                <a:cubicBezTo>
                  <a:pt x="2864916" y="0"/>
                  <a:pt x="2980055" y="108127"/>
                  <a:pt x="2980055" y="250043"/>
                </a:cubicBezTo>
                <a:cubicBezTo>
                  <a:pt x="2980055" y="2240461"/>
                  <a:pt x="2980055" y="3422272"/>
                  <a:pt x="2980055" y="4123972"/>
                </a:cubicBezTo>
                <a:lnTo>
                  <a:pt x="2980055" y="4182110"/>
                </a:lnTo>
                <a:lnTo>
                  <a:pt x="0" y="4182110"/>
                </a:lnTo>
                <a:lnTo>
                  <a:pt x="0" y="4088591"/>
                </a:lnTo>
                <a:cubicBezTo>
                  <a:pt x="0" y="250043"/>
                  <a:pt x="0" y="250043"/>
                  <a:pt x="0" y="250043"/>
                </a:cubicBezTo>
                <a:cubicBezTo>
                  <a:pt x="0" y="108127"/>
                  <a:pt x="115139" y="0"/>
                  <a:pt x="257368" y="0"/>
                </a:cubicBezTo>
                <a:close/>
              </a:path>
            </a:pathLst>
          </a:custGeom>
          <a:solidFill>
            <a:srgbClr val="00B0F0"/>
          </a:solidFill>
          <a:ln/>
        </p:spPr>
        <p:txBody>
          <a:bodyPr/>
          <a:lstStyle/>
          <a:p>
            <a:endParaRPr lang="es-ES"/>
          </a:p>
        </p:txBody>
      </p:sp>
      <p:sp>
        <p:nvSpPr>
          <p:cNvPr id="13" name="Text 11"/>
          <p:cNvSpPr/>
          <p:nvPr/>
        </p:nvSpPr>
        <p:spPr>
          <a:xfrm>
            <a:off x="4747260" y="1337945"/>
            <a:ext cx="2980055" cy="4182110"/>
          </a:xfrm>
          <a:prstGeom prst="rect">
            <a:avLst/>
          </a:prstGeom>
          <a:noFill/>
          <a:ln/>
        </p:spPr>
        <p:txBody>
          <a:bodyPr wrap="square" lIns="22860" tIns="45720" rIns="45720" bIns="22860" rtlCol="0" anchor="t"/>
          <a:lstStyle/>
          <a:p>
            <a:pPr marL="0" indent="0">
              <a:lnSpc>
                <a:spcPct val="100000"/>
              </a:lnSpc>
              <a:buNone/>
            </a:pPr>
            <a:endParaRPr lang="en-US" sz="1600" dirty="0"/>
          </a:p>
        </p:txBody>
      </p:sp>
      <p:sp>
        <p:nvSpPr>
          <p:cNvPr id="14" name="Shape 12"/>
          <p:cNvSpPr/>
          <p:nvPr/>
        </p:nvSpPr>
        <p:spPr>
          <a:xfrm>
            <a:off x="4890770" y="1522095"/>
            <a:ext cx="2707640" cy="829945"/>
          </a:xfrm>
          <a:prstGeom prst="roundRect">
            <a:avLst>
              <a:gd name="adj" fmla="val 25937"/>
            </a:avLst>
          </a:prstGeom>
          <a:solidFill>
            <a:srgbClr val="FFFFFF"/>
          </a:solidFill>
          <a:ln/>
        </p:spPr>
        <p:txBody>
          <a:bodyPr/>
          <a:lstStyle/>
          <a:p>
            <a:endParaRPr lang="es-ES"/>
          </a:p>
        </p:txBody>
      </p:sp>
      <p:sp>
        <p:nvSpPr>
          <p:cNvPr id="15" name="Text 13"/>
          <p:cNvSpPr/>
          <p:nvPr/>
        </p:nvSpPr>
        <p:spPr>
          <a:xfrm>
            <a:off x="4890770" y="1522095"/>
            <a:ext cx="2707640" cy="829945"/>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6" name="Image 0" descr="https://kimi-img.moonshot.cn/pub/slides/slides_tmpl/image/25-08-27-19:57:42-d2nf5dh8bjvh7rlivsrg.png"/>
          <p:cNvPicPr>
            <a:picLocks noChangeAspect="1"/>
          </p:cNvPicPr>
          <p:nvPr/>
        </p:nvPicPr>
        <p:blipFill>
          <a:blip r:embed="rId3"/>
          <a:stretch>
            <a:fillRect/>
          </a:stretch>
        </p:blipFill>
        <p:spPr>
          <a:xfrm>
            <a:off x="-401320" y="1337945"/>
            <a:ext cx="5292090" cy="4710430"/>
          </a:xfrm>
          <a:prstGeom prst="rect">
            <a:avLst/>
          </a:prstGeom>
        </p:spPr>
      </p:pic>
      <p:sp>
        <p:nvSpPr>
          <p:cNvPr id="17" name="Shape 14"/>
          <p:cNvSpPr/>
          <p:nvPr/>
        </p:nvSpPr>
        <p:spPr>
          <a:xfrm>
            <a:off x="8560435" y="1337945"/>
            <a:ext cx="2980055" cy="4182110"/>
          </a:xfrm>
          <a:custGeom>
            <a:avLst/>
            <a:gdLst/>
            <a:ahLst/>
            <a:cxnLst/>
            <a:rect l="l" t="t" r="r" b="b"/>
            <a:pathLst>
              <a:path w="2980055" h="4182110">
                <a:moveTo>
                  <a:pt x="257368" y="0"/>
                </a:moveTo>
                <a:cubicBezTo>
                  <a:pt x="2722686" y="0"/>
                  <a:pt x="2722686" y="0"/>
                  <a:pt x="2722686" y="0"/>
                </a:cubicBezTo>
                <a:cubicBezTo>
                  <a:pt x="2864916" y="0"/>
                  <a:pt x="2980055" y="108127"/>
                  <a:pt x="2980055" y="250043"/>
                </a:cubicBezTo>
                <a:cubicBezTo>
                  <a:pt x="2980055" y="2240461"/>
                  <a:pt x="2980055" y="3422272"/>
                  <a:pt x="2980055" y="4123972"/>
                </a:cubicBezTo>
                <a:lnTo>
                  <a:pt x="2980055" y="4182110"/>
                </a:lnTo>
                <a:lnTo>
                  <a:pt x="0" y="4182110"/>
                </a:lnTo>
                <a:lnTo>
                  <a:pt x="0" y="4088591"/>
                </a:lnTo>
                <a:cubicBezTo>
                  <a:pt x="0" y="250043"/>
                  <a:pt x="0" y="250043"/>
                  <a:pt x="0" y="250043"/>
                </a:cubicBezTo>
                <a:cubicBezTo>
                  <a:pt x="0" y="108127"/>
                  <a:pt x="115139" y="0"/>
                  <a:pt x="257368" y="0"/>
                </a:cubicBezTo>
                <a:close/>
              </a:path>
            </a:pathLst>
          </a:custGeom>
          <a:solidFill>
            <a:srgbClr val="00B0F0"/>
          </a:solidFill>
          <a:ln/>
        </p:spPr>
        <p:txBody>
          <a:bodyPr/>
          <a:lstStyle/>
          <a:p>
            <a:endParaRPr lang="es-ES"/>
          </a:p>
        </p:txBody>
      </p:sp>
      <p:sp>
        <p:nvSpPr>
          <p:cNvPr id="18" name="Text 15"/>
          <p:cNvSpPr/>
          <p:nvPr/>
        </p:nvSpPr>
        <p:spPr>
          <a:xfrm>
            <a:off x="8560435" y="1337945"/>
            <a:ext cx="2980055" cy="4182110"/>
          </a:xfrm>
          <a:prstGeom prst="rect">
            <a:avLst/>
          </a:prstGeom>
          <a:noFill/>
          <a:ln/>
        </p:spPr>
        <p:txBody>
          <a:bodyPr wrap="square" lIns="22860" tIns="45720" rIns="45720" bIns="22860" rtlCol="0" anchor="t"/>
          <a:lstStyle/>
          <a:p>
            <a:pPr marL="0" indent="0">
              <a:lnSpc>
                <a:spcPct val="100000"/>
              </a:lnSpc>
              <a:buNone/>
            </a:pPr>
            <a:endParaRPr lang="en-US" sz="1600" dirty="0"/>
          </a:p>
        </p:txBody>
      </p:sp>
      <p:sp>
        <p:nvSpPr>
          <p:cNvPr id="19" name="Shape 16"/>
          <p:cNvSpPr/>
          <p:nvPr/>
        </p:nvSpPr>
        <p:spPr>
          <a:xfrm>
            <a:off x="8703945" y="1522095"/>
            <a:ext cx="2707640" cy="829945"/>
          </a:xfrm>
          <a:prstGeom prst="roundRect">
            <a:avLst>
              <a:gd name="adj" fmla="val 25937"/>
            </a:avLst>
          </a:prstGeom>
          <a:solidFill>
            <a:srgbClr val="FFFFFF"/>
          </a:solidFill>
          <a:ln/>
        </p:spPr>
        <p:txBody>
          <a:bodyPr/>
          <a:lstStyle/>
          <a:p>
            <a:endParaRPr lang="es-ES"/>
          </a:p>
        </p:txBody>
      </p:sp>
      <p:sp>
        <p:nvSpPr>
          <p:cNvPr id="20" name="Text 17"/>
          <p:cNvSpPr/>
          <p:nvPr/>
        </p:nvSpPr>
        <p:spPr>
          <a:xfrm>
            <a:off x="8703945" y="1522095"/>
            <a:ext cx="2707640" cy="82994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1" name="Text 18"/>
          <p:cNvSpPr/>
          <p:nvPr/>
        </p:nvSpPr>
        <p:spPr>
          <a:xfrm>
            <a:off x="5005705" y="1537335"/>
            <a:ext cx="2498090" cy="681355"/>
          </a:xfrm>
          <a:prstGeom prst="rect">
            <a:avLst/>
          </a:prstGeom>
          <a:noFill/>
          <a:ln/>
        </p:spPr>
        <p:txBody>
          <a:bodyPr wrap="square" lIns="91440" tIns="45720" rIns="91440" bIns="45720" rtlCol="0" anchor="t"/>
          <a:lstStyle/>
          <a:p>
            <a:pPr marL="0" indent="0" algn="ctr">
              <a:lnSpc>
                <a:spcPct val="100000"/>
              </a:lnSpc>
              <a:buNone/>
            </a:pPr>
            <a:r>
              <a:rPr lang="en-US" sz="1600" b="1" dirty="0">
                <a:solidFill>
                  <a:srgbClr val="00B0F0"/>
                </a:solidFill>
                <a:latin typeface="MiSans" pitchFamily="34" charset="0"/>
                <a:ea typeface="MiSans" pitchFamily="34" charset="-122"/>
                <a:cs typeface="MiSans" pitchFamily="34" charset="-120"/>
              </a:rPr>
              <a:t>Adaptar regulación a nuevas formas de trabajo</a:t>
            </a:r>
            <a:endParaRPr lang="en-US" sz="1100" dirty="0"/>
          </a:p>
        </p:txBody>
      </p:sp>
      <p:sp>
        <p:nvSpPr>
          <p:cNvPr id="22" name="Text 19"/>
          <p:cNvSpPr/>
          <p:nvPr/>
        </p:nvSpPr>
        <p:spPr>
          <a:xfrm>
            <a:off x="4890770" y="2407920"/>
            <a:ext cx="2708275" cy="2985770"/>
          </a:xfrm>
          <a:prstGeom prst="rect">
            <a:avLst/>
          </a:prstGeom>
          <a:noFill/>
          <a:ln/>
        </p:spPr>
        <p:txBody>
          <a:bodyPr wrap="square" lIns="91440" tIns="45720" rIns="91440" bIns="45720" rtlCol="0" anchor="t"/>
          <a:lstStyle/>
          <a:p>
            <a:pPr marL="0" indent="0">
              <a:lnSpc>
                <a:spcPct val="130000"/>
              </a:lnSpc>
              <a:buNone/>
            </a:pPr>
            <a:r>
              <a:rPr lang="en-US" sz="1400" dirty="0">
                <a:solidFill>
                  <a:srgbClr val="FFFFFF"/>
                </a:solidFill>
                <a:latin typeface="MiSans" pitchFamily="34" charset="0"/>
                <a:ea typeface="MiSans" pitchFamily="34" charset="-122"/>
                <a:cs typeface="MiSans" pitchFamily="34" charset="-120"/>
              </a:rPr>
              <a:t>Teletrabajo, plataformas digitales y trabajo por proyectos requieren marcos específicos que garanticen derechos (desconexión, cotización, protección de datos) sin frenar innovación. La clave es extender principios de seguridad social y negociación colectiva a estos ámbitos.</a:t>
            </a:r>
            <a:endParaRPr lang="en-US" sz="1400" dirty="0"/>
          </a:p>
        </p:txBody>
      </p:sp>
      <p:sp>
        <p:nvSpPr>
          <p:cNvPr id="23" name="Text 20"/>
          <p:cNvSpPr/>
          <p:nvPr/>
        </p:nvSpPr>
        <p:spPr>
          <a:xfrm>
            <a:off x="8809355" y="1537335"/>
            <a:ext cx="2463800" cy="681355"/>
          </a:xfrm>
          <a:prstGeom prst="rect">
            <a:avLst/>
          </a:prstGeom>
          <a:noFill/>
          <a:ln/>
        </p:spPr>
        <p:txBody>
          <a:bodyPr wrap="square" lIns="91440" tIns="45720" rIns="91440" bIns="45720" rtlCol="0" anchor="t"/>
          <a:lstStyle/>
          <a:p>
            <a:pPr marL="0" indent="0" algn="ctr">
              <a:lnSpc>
                <a:spcPct val="100000"/>
              </a:lnSpc>
              <a:buNone/>
            </a:pPr>
            <a:r>
              <a:rPr lang="en-US" sz="1600" b="1" dirty="0">
                <a:solidFill>
                  <a:srgbClr val="00B0F0"/>
                </a:solidFill>
                <a:latin typeface="MiSans" pitchFamily="34" charset="0"/>
                <a:ea typeface="MiSans" pitchFamily="34" charset="-122"/>
                <a:cs typeface="MiSans" pitchFamily="34" charset="-120"/>
              </a:rPr>
              <a:t>Consolidar mecanismos de flexibilidad interna</a:t>
            </a:r>
            <a:endParaRPr lang="en-US" sz="1100" dirty="0"/>
          </a:p>
        </p:txBody>
      </p:sp>
      <p:sp>
        <p:nvSpPr>
          <p:cNvPr id="24" name="Text 21"/>
          <p:cNvSpPr/>
          <p:nvPr/>
        </p:nvSpPr>
        <p:spPr>
          <a:xfrm>
            <a:off x="8703945" y="2407920"/>
            <a:ext cx="2708275" cy="2985770"/>
          </a:xfrm>
          <a:prstGeom prst="rect">
            <a:avLst/>
          </a:prstGeom>
          <a:noFill/>
          <a:ln/>
        </p:spPr>
        <p:txBody>
          <a:bodyPr wrap="square" lIns="91440" tIns="45720" rIns="91440" bIns="45720" rtlCol="0" anchor="t"/>
          <a:lstStyle/>
          <a:p>
            <a:pPr marL="0" indent="0">
              <a:lnSpc>
                <a:spcPct val="130000"/>
              </a:lnSpc>
              <a:buNone/>
            </a:pPr>
            <a:r>
              <a:rPr lang="en-US" sz="1400" dirty="0">
                <a:solidFill>
                  <a:srgbClr val="FFFFFF"/>
                </a:solidFill>
                <a:latin typeface="MiSans" pitchFamily="34" charset="0"/>
                <a:ea typeface="MiSans" pitchFamily="34" charset="-122"/>
                <a:cs typeface="MiSans" pitchFamily="34" charset="-120"/>
              </a:rPr>
              <a:t>Hacer ERTE más ágiles y accesibles para crisis sectoriales o transformaciones tecnológicas. Promover reducciones de jornada voluntarias con compensación parcial y negociación colectiva. Objetivo: que empresas perciban ajuste interno como alternativa real y </a:t>
            </a:r>
            <a:r>
              <a:rPr lang="en-US" sz="1400" dirty="0" err="1">
                <a:solidFill>
                  <a:srgbClr val="FFFFFF"/>
                </a:solidFill>
                <a:latin typeface="MiSans" pitchFamily="34" charset="0"/>
                <a:ea typeface="MiSans" pitchFamily="34" charset="-122"/>
                <a:cs typeface="MiSans" pitchFamily="34" charset="-120"/>
              </a:rPr>
              <a:t>menos</a:t>
            </a:r>
            <a:r>
              <a:rPr lang="en-US" sz="1400" dirty="0">
                <a:solidFill>
                  <a:srgbClr val="FFFFFF"/>
                </a:solidFill>
                <a:latin typeface="MiSans" pitchFamily="34" charset="0"/>
                <a:ea typeface="MiSans" pitchFamily="34" charset="-122"/>
                <a:cs typeface="MiSans" pitchFamily="34" charset="-120"/>
              </a:rPr>
              <a:t> </a:t>
            </a:r>
            <a:r>
              <a:rPr lang="en-US" sz="1400" dirty="0" err="1">
                <a:solidFill>
                  <a:srgbClr val="FFFFFF"/>
                </a:solidFill>
                <a:latin typeface="MiSans" pitchFamily="34" charset="0"/>
                <a:ea typeface="MiSans" pitchFamily="34" charset="-122"/>
                <a:cs typeface="MiSans" pitchFamily="34" charset="-120"/>
              </a:rPr>
              <a:t>costesa</a:t>
            </a:r>
            <a:r>
              <a:rPr lang="en-US" sz="1400" dirty="0">
                <a:solidFill>
                  <a:srgbClr val="FFFFFF"/>
                </a:solidFill>
                <a:latin typeface="MiSans" pitchFamily="34" charset="0"/>
                <a:ea typeface="MiSans" pitchFamily="34" charset="-122"/>
                <a:cs typeface="MiSans" pitchFamily="34" charset="-120"/>
              </a:rPr>
              <a:t> que despido.</a:t>
            </a:r>
            <a:endParaRPr lang="en-US" sz="1400" dirty="0"/>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0720"/>
          </a:xfrm>
          <a:prstGeom prst="rect">
            <a:avLst/>
          </a:prstGeom>
          <a:solidFill>
            <a:srgbClr val="00B0F0"/>
          </a:solidFill>
          <a:ln/>
        </p:spPr>
        <p:txBody>
          <a:bodyPr/>
          <a:lstStyle/>
          <a:p>
            <a:endParaRPr lang="es-ES"/>
          </a:p>
        </p:txBody>
      </p:sp>
      <p:sp>
        <p:nvSpPr>
          <p:cNvPr id="3" name="Text 1"/>
          <p:cNvSpPr/>
          <p:nvPr/>
        </p:nvSpPr>
        <p:spPr>
          <a:xfrm>
            <a:off x="0" y="0"/>
            <a:ext cx="12192000" cy="6807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2220595" y="129540"/>
            <a:ext cx="7731125" cy="447675"/>
          </a:xfrm>
          <a:prstGeom prst="roundRect">
            <a:avLst>
              <a:gd name="adj" fmla="val 50000"/>
            </a:avLst>
          </a:prstGeom>
          <a:solidFill>
            <a:srgbClr val="FFFFFF"/>
          </a:solidFill>
          <a:ln/>
        </p:spPr>
        <p:txBody>
          <a:bodyPr/>
          <a:lstStyle/>
          <a:p>
            <a:endParaRPr lang="es-ES"/>
          </a:p>
        </p:txBody>
      </p:sp>
      <p:sp>
        <p:nvSpPr>
          <p:cNvPr id="5" name="Text 3"/>
          <p:cNvSpPr/>
          <p:nvPr/>
        </p:nvSpPr>
        <p:spPr>
          <a:xfrm>
            <a:off x="2220595" y="129540"/>
            <a:ext cx="7731125" cy="447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11540490" y="202030"/>
            <a:ext cx="360045" cy="0"/>
          </a:xfrm>
          <a:prstGeom prst="line">
            <a:avLst/>
          </a:prstGeom>
          <a:noFill/>
          <a:ln w="38100">
            <a:solidFill>
              <a:srgbClr val="FFFFFF"/>
            </a:solidFill>
            <a:prstDash val="solid"/>
            <a:headEnd type="none"/>
            <a:tailEnd type="none"/>
          </a:ln>
        </p:spPr>
        <p:txBody>
          <a:bodyPr/>
          <a:lstStyle/>
          <a:p>
            <a:endParaRPr lang="es-ES"/>
          </a:p>
        </p:txBody>
      </p:sp>
      <p:sp>
        <p:nvSpPr>
          <p:cNvPr id="7" name="Shape 5"/>
          <p:cNvSpPr/>
          <p:nvPr/>
        </p:nvSpPr>
        <p:spPr>
          <a:xfrm>
            <a:off x="11540490" y="340460"/>
            <a:ext cx="360045" cy="0"/>
          </a:xfrm>
          <a:prstGeom prst="line">
            <a:avLst/>
          </a:prstGeom>
          <a:noFill/>
          <a:ln w="38100">
            <a:solidFill>
              <a:srgbClr val="FFFFFF"/>
            </a:solidFill>
            <a:prstDash val="solid"/>
            <a:headEnd type="none"/>
            <a:tailEnd type="none"/>
          </a:ln>
        </p:spPr>
        <p:txBody>
          <a:bodyPr/>
          <a:lstStyle/>
          <a:p>
            <a:endParaRPr lang="es-ES"/>
          </a:p>
        </p:txBody>
      </p:sp>
      <p:sp>
        <p:nvSpPr>
          <p:cNvPr id="8" name="Shape 6"/>
          <p:cNvSpPr/>
          <p:nvPr/>
        </p:nvSpPr>
        <p:spPr>
          <a:xfrm>
            <a:off x="11540490" y="478890"/>
            <a:ext cx="360045" cy="0"/>
          </a:xfrm>
          <a:prstGeom prst="line">
            <a:avLst/>
          </a:prstGeom>
          <a:noFill/>
          <a:ln w="38100">
            <a:solidFill>
              <a:srgbClr val="FFFFFF"/>
            </a:solidFill>
            <a:prstDash val="solid"/>
            <a:headEnd type="none"/>
            <a:tailEnd type="none"/>
          </a:ln>
        </p:spPr>
        <p:txBody>
          <a:bodyPr/>
          <a:lstStyle/>
          <a:p>
            <a:endParaRPr lang="es-ES"/>
          </a:p>
        </p:txBody>
      </p:sp>
      <p:sp>
        <p:nvSpPr>
          <p:cNvPr id="9" name="Shape 7"/>
          <p:cNvSpPr/>
          <p:nvPr/>
        </p:nvSpPr>
        <p:spPr>
          <a:xfrm flipH="1">
            <a:off x="240030" y="154940"/>
            <a:ext cx="322580" cy="323850"/>
          </a:xfrm>
          <a:prstGeom prst="chevron">
            <a:avLst>
              <a:gd name="adj" fmla="val 69082"/>
            </a:avLst>
          </a:prstGeom>
          <a:solidFill>
            <a:srgbClr val="FFFFFF"/>
          </a:solidFill>
          <a:ln/>
        </p:spPr>
        <p:txBody>
          <a:bodyPr/>
          <a:lstStyle/>
          <a:p>
            <a:endParaRPr lang="es-ES"/>
          </a:p>
        </p:txBody>
      </p:sp>
      <p:sp>
        <p:nvSpPr>
          <p:cNvPr id="10" name="Text 8"/>
          <p:cNvSpPr/>
          <p:nvPr/>
        </p:nvSpPr>
        <p:spPr>
          <a:xfrm>
            <a:off x="240030" y="154940"/>
            <a:ext cx="322580" cy="3238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Text 9"/>
          <p:cNvSpPr/>
          <p:nvPr/>
        </p:nvSpPr>
        <p:spPr>
          <a:xfrm>
            <a:off x="2256155" y="142240"/>
            <a:ext cx="7499985" cy="368300"/>
          </a:xfrm>
          <a:prstGeom prst="rect">
            <a:avLst/>
          </a:prstGeom>
          <a:noFill/>
          <a:ln/>
        </p:spPr>
        <p:txBody>
          <a:bodyPr wrap="square" lIns="91440" tIns="45720" rIns="91440" bIns="45720" rtlCol="0" anchor="ctr">
            <a:spAutoFit/>
          </a:bodyPr>
          <a:lstStyle/>
          <a:p>
            <a:pPr marL="0" indent="0" algn="ctr">
              <a:lnSpc>
                <a:spcPct val="100000"/>
              </a:lnSpc>
              <a:buNone/>
            </a:pPr>
            <a:r>
              <a:rPr lang="en-US" sz="2400" dirty="0">
                <a:solidFill>
                  <a:srgbClr val="000000"/>
                </a:solidFill>
                <a:latin typeface="MiSans" pitchFamily="34" charset="0"/>
                <a:ea typeface="MiSans" pitchFamily="34" charset="-122"/>
                <a:cs typeface="MiSans" pitchFamily="34" charset="-120"/>
              </a:rPr>
              <a:t>Conclusión: cambio de paradigma</a:t>
            </a:r>
            <a:endParaRPr lang="en-US" sz="1600" dirty="0"/>
          </a:p>
        </p:txBody>
      </p:sp>
      <p:sp>
        <p:nvSpPr>
          <p:cNvPr id="12" name="Shape 10"/>
          <p:cNvSpPr/>
          <p:nvPr/>
        </p:nvSpPr>
        <p:spPr>
          <a:xfrm>
            <a:off x="1713865" y="1899285"/>
            <a:ext cx="2498725" cy="3649980"/>
          </a:xfrm>
          <a:prstGeom prst="rect">
            <a:avLst/>
          </a:prstGeom>
          <a:solidFill>
            <a:srgbClr val="00B0F0"/>
          </a:solidFill>
          <a:ln/>
        </p:spPr>
        <p:txBody>
          <a:bodyPr/>
          <a:lstStyle/>
          <a:p>
            <a:endParaRPr lang="es-ES"/>
          </a:p>
        </p:txBody>
      </p:sp>
      <p:sp>
        <p:nvSpPr>
          <p:cNvPr id="13" name="Text 11"/>
          <p:cNvSpPr/>
          <p:nvPr/>
        </p:nvSpPr>
        <p:spPr>
          <a:xfrm>
            <a:off x="1713865" y="1899285"/>
            <a:ext cx="2498725" cy="3649980"/>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4" name="Image 0" descr="https://kimi-img.moonshot.cn/pub/slides/slides_tmpl/image/25-08-27-19:57:42-d2nf5dh8bjvh7rlivss0.png"/>
          <p:cNvPicPr>
            <a:picLocks noChangeAspect="1"/>
          </p:cNvPicPr>
          <p:nvPr/>
        </p:nvPicPr>
        <p:blipFill>
          <a:blip r:embed="rId3"/>
          <a:stretch>
            <a:fillRect/>
          </a:stretch>
        </p:blipFill>
        <p:spPr>
          <a:xfrm>
            <a:off x="-441325" y="1277620"/>
            <a:ext cx="5758815" cy="5107305"/>
          </a:xfrm>
          <a:prstGeom prst="rect">
            <a:avLst/>
          </a:prstGeom>
        </p:spPr>
      </p:pic>
      <p:sp>
        <p:nvSpPr>
          <p:cNvPr id="15" name="Shape 12"/>
          <p:cNvSpPr/>
          <p:nvPr/>
        </p:nvSpPr>
        <p:spPr>
          <a:xfrm>
            <a:off x="0" y="6620510"/>
            <a:ext cx="12192000" cy="237490"/>
          </a:xfrm>
          <a:prstGeom prst="rect">
            <a:avLst/>
          </a:prstGeom>
          <a:solidFill>
            <a:srgbClr val="00B0F0"/>
          </a:solidFill>
          <a:ln/>
        </p:spPr>
        <p:txBody>
          <a:bodyPr/>
          <a:lstStyle/>
          <a:p>
            <a:endParaRPr lang="es-ES"/>
          </a:p>
        </p:txBody>
      </p:sp>
      <p:sp>
        <p:nvSpPr>
          <p:cNvPr id="16" name="Text 13"/>
          <p:cNvSpPr/>
          <p:nvPr/>
        </p:nvSpPr>
        <p:spPr>
          <a:xfrm>
            <a:off x="0" y="6620510"/>
            <a:ext cx="12192000" cy="23749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7" name="Shape 14"/>
          <p:cNvSpPr/>
          <p:nvPr/>
        </p:nvSpPr>
        <p:spPr>
          <a:xfrm>
            <a:off x="5078095" y="1470025"/>
            <a:ext cx="6604000" cy="2033270"/>
          </a:xfrm>
          <a:prstGeom prst="roundRect">
            <a:avLst/>
          </a:prstGeom>
          <a:solidFill>
            <a:srgbClr val="00B0F0"/>
          </a:solidFill>
          <a:ln w="28575">
            <a:solidFill>
              <a:srgbClr val="FFFFFF">
                <a:alpha val="0"/>
              </a:srgbClr>
            </a:solidFill>
            <a:prstDash val="solid"/>
          </a:ln>
        </p:spPr>
        <p:txBody>
          <a:bodyPr/>
          <a:lstStyle/>
          <a:p>
            <a:endParaRPr lang="es-ES"/>
          </a:p>
        </p:txBody>
      </p:sp>
      <p:sp>
        <p:nvSpPr>
          <p:cNvPr id="18" name="Text 15"/>
          <p:cNvSpPr/>
          <p:nvPr/>
        </p:nvSpPr>
        <p:spPr>
          <a:xfrm>
            <a:off x="5078095" y="1470025"/>
            <a:ext cx="6604000" cy="203327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9" name="Shape 16"/>
          <p:cNvSpPr/>
          <p:nvPr/>
        </p:nvSpPr>
        <p:spPr>
          <a:xfrm>
            <a:off x="4963795" y="1305560"/>
            <a:ext cx="6475730" cy="2033270"/>
          </a:xfrm>
          <a:prstGeom prst="roundRect">
            <a:avLst>
              <a:gd name="adj" fmla="val 14996"/>
            </a:avLst>
          </a:prstGeom>
          <a:solidFill>
            <a:srgbClr val="FFFFFF"/>
          </a:solidFill>
          <a:ln w="19050">
            <a:solidFill>
              <a:srgbClr val="000000"/>
            </a:solidFill>
            <a:prstDash val="solid"/>
          </a:ln>
        </p:spPr>
        <p:txBody>
          <a:bodyPr/>
          <a:lstStyle/>
          <a:p>
            <a:endParaRPr lang="es-ES"/>
          </a:p>
        </p:txBody>
      </p:sp>
      <p:sp>
        <p:nvSpPr>
          <p:cNvPr id="20" name="Text 17"/>
          <p:cNvSpPr/>
          <p:nvPr/>
        </p:nvSpPr>
        <p:spPr>
          <a:xfrm>
            <a:off x="4963795" y="1305560"/>
            <a:ext cx="6475730" cy="203327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1" name="Shape 18"/>
          <p:cNvSpPr/>
          <p:nvPr/>
        </p:nvSpPr>
        <p:spPr>
          <a:xfrm>
            <a:off x="5128260" y="3963035"/>
            <a:ext cx="6604000" cy="2033270"/>
          </a:xfrm>
          <a:prstGeom prst="roundRect">
            <a:avLst/>
          </a:prstGeom>
          <a:solidFill>
            <a:srgbClr val="00B0F0"/>
          </a:solidFill>
          <a:ln w="28575">
            <a:solidFill>
              <a:srgbClr val="FFFFFF">
                <a:alpha val="0"/>
              </a:srgbClr>
            </a:solidFill>
            <a:prstDash val="solid"/>
          </a:ln>
        </p:spPr>
        <p:txBody>
          <a:bodyPr/>
          <a:lstStyle/>
          <a:p>
            <a:endParaRPr lang="es-ES"/>
          </a:p>
        </p:txBody>
      </p:sp>
      <p:sp>
        <p:nvSpPr>
          <p:cNvPr id="22" name="Text 19"/>
          <p:cNvSpPr/>
          <p:nvPr/>
        </p:nvSpPr>
        <p:spPr>
          <a:xfrm>
            <a:off x="5128260" y="3963035"/>
            <a:ext cx="6604000" cy="203327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3" name="Shape 20"/>
          <p:cNvSpPr/>
          <p:nvPr/>
        </p:nvSpPr>
        <p:spPr>
          <a:xfrm>
            <a:off x="5013960" y="3798570"/>
            <a:ext cx="6475730" cy="2033270"/>
          </a:xfrm>
          <a:prstGeom prst="roundRect">
            <a:avLst>
              <a:gd name="adj" fmla="val 14996"/>
            </a:avLst>
          </a:prstGeom>
          <a:solidFill>
            <a:srgbClr val="FFFFFF"/>
          </a:solidFill>
          <a:ln w="19050">
            <a:solidFill>
              <a:srgbClr val="000000"/>
            </a:solidFill>
            <a:prstDash val="solid"/>
          </a:ln>
        </p:spPr>
        <p:txBody>
          <a:bodyPr/>
          <a:lstStyle/>
          <a:p>
            <a:endParaRPr lang="es-ES"/>
          </a:p>
        </p:txBody>
      </p:sp>
      <p:sp>
        <p:nvSpPr>
          <p:cNvPr id="24" name="Text 21"/>
          <p:cNvSpPr/>
          <p:nvPr/>
        </p:nvSpPr>
        <p:spPr>
          <a:xfrm>
            <a:off x="5013960" y="3798570"/>
            <a:ext cx="6475730" cy="203327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5" name="Text 22"/>
          <p:cNvSpPr/>
          <p:nvPr/>
        </p:nvSpPr>
        <p:spPr>
          <a:xfrm>
            <a:off x="5013960" y="1471930"/>
            <a:ext cx="4443095" cy="638770"/>
          </a:xfrm>
          <a:prstGeom prst="rect">
            <a:avLst/>
          </a:prstGeom>
          <a:noFill/>
          <a:ln/>
        </p:spPr>
        <p:txBody>
          <a:bodyPr wrap="square" lIns="91440" tIns="45720" rIns="91440" bIns="45720" rtlCol="0" anchor="t">
            <a:spAutoFit/>
          </a:bodyPr>
          <a:lstStyle/>
          <a:p>
            <a:pPr marL="0" indent="0">
              <a:lnSpc>
                <a:spcPct val="100000"/>
              </a:lnSpc>
              <a:buNone/>
            </a:pPr>
            <a:r>
              <a:rPr lang="en-US" sz="2000" dirty="0">
                <a:solidFill>
                  <a:srgbClr val="000000"/>
                </a:solidFill>
                <a:latin typeface="MiSans" pitchFamily="34" charset="0"/>
                <a:ea typeface="MiSans" pitchFamily="34" charset="-122"/>
                <a:cs typeface="MiSans" pitchFamily="34" charset="-120"/>
              </a:rPr>
              <a:t>De proteger el puesto a proteger la persona</a:t>
            </a:r>
            <a:endParaRPr lang="en-US" sz="1600" dirty="0"/>
          </a:p>
        </p:txBody>
      </p:sp>
      <p:sp>
        <p:nvSpPr>
          <p:cNvPr id="26" name="Text 23"/>
          <p:cNvSpPr/>
          <p:nvPr/>
        </p:nvSpPr>
        <p:spPr>
          <a:xfrm>
            <a:off x="5013960" y="2110700"/>
            <a:ext cx="6260465" cy="1228130"/>
          </a:xfrm>
          <a:prstGeom prst="rect">
            <a:avLst/>
          </a:prstGeom>
          <a:noFill/>
          <a:ln/>
        </p:spPr>
        <p:txBody>
          <a:bodyPr wrap="square" lIns="91440" tIns="45720" rIns="91440" bIns="45720" rtlCol="0" anchor="t"/>
          <a:lstStyle/>
          <a:p>
            <a:pPr marL="0" indent="0">
              <a:lnSpc>
                <a:spcPct val="130000"/>
              </a:lnSpc>
              <a:buNone/>
            </a:pPr>
            <a:r>
              <a:rPr lang="en-US" sz="1400" dirty="0">
                <a:solidFill>
                  <a:srgbClr val="000000"/>
                </a:solidFill>
                <a:latin typeface="MiSans" pitchFamily="34" charset="0"/>
                <a:ea typeface="MiSans" pitchFamily="34" charset="-122"/>
                <a:cs typeface="MiSans" pitchFamily="34" charset="-120"/>
              </a:rPr>
              <a:t>El futuro del mercado laboral español pasa por sustituir la lógica de altas indemnizaciones y temporalidad extrema por un modelo centrado en empleabilidad continua, formación permanente y transiciones laborales seguras. Esto reduce costes sociales y aumenta productividad.</a:t>
            </a:r>
            <a:endParaRPr lang="en-US" sz="1600" dirty="0"/>
          </a:p>
        </p:txBody>
      </p:sp>
      <p:sp>
        <p:nvSpPr>
          <p:cNvPr id="27" name="Text 24"/>
          <p:cNvSpPr/>
          <p:nvPr/>
        </p:nvSpPr>
        <p:spPr>
          <a:xfrm>
            <a:off x="5064125" y="3964940"/>
            <a:ext cx="5927336" cy="400110"/>
          </a:xfrm>
          <a:prstGeom prst="rect">
            <a:avLst/>
          </a:prstGeom>
          <a:noFill/>
          <a:ln/>
        </p:spPr>
        <p:txBody>
          <a:bodyPr wrap="square" lIns="91440" tIns="45720" rIns="91440" bIns="45720" rtlCol="0" anchor="t">
            <a:spAutoFit/>
          </a:bodyPr>
          <a:lstStyle/>
          <a:p>
            <a:pPr marL="0" indent="0">
              <a:lnSpc>
                <a:spcPct val="100000"/>
              </a:lnSpc>
              <a:buNone/>
            </a:pPr>
            <a:r>
              <a:rPr lang="en-US" sz="2000" dirty="0">
                <a:solidFill>
                  <a:srgbClr val="000000"/>
                </a:solidFill>
                <a:latin typeface="MiSans" pitchFamily="34" charset="0"/>
                <a:ea typeface="MiSans" pitchFamily="34" charset="-122"/>
                <a:cs typeface="MiSans" pitchFamily="34" charset="-120"/>
              </a:rPr>
              <a:t>Hacia un mercado dinámico, eficiente y justo</a:t>
            </a:r>
            <a:endParaRPr lang="en-US" sz="1600" dirty="0"/>
          </a:p>
        </p:txBody>
      </p:sp>
      <p:sp>
        <p:nvSpPr>
          <p:cNvPr id="28" name="Text 25"/>
          <p:cNvSpPr/>
          <p:nvPr/>
        </p:nvSpPr>
        <p:spPr>
          <a:xfrm>
            <a:off x="5064125" y="4458335"/>
            <a:ext cx="6260465" cy="1373505"/>
          </a:xfrm>
          <a:prstGeom prst="rect">
            <a:avLst/>
          </a:prstGeom>
          <a:noFill/>
          <a:ln/>
        </p:spPr>
        <p:txBody>
          <a:bodyPr wrap="square" lIns="91440" tIns="45720" rIns="91440" bIns="45720" rtlCol="0" anchor="t"/>
          <a:lstStyle/>
          <a:p>
            <a:pPr marL="0" indent="0">
              <a:lnSpc>
                <a:spcPct val="130000"/>
              </a:lnSpc>
              <a:buNone/>
            </a:pPr>
            <a:r>
              <a:rPr lang="en-US" sz="1400" dirty="0">
                <a:solidFill>
                  <a:srgbClr val="000000"/>
                </a:solidFill>
                <a:latin typeface="MiSans" pitchFamily="34" charset="0"/>
                <a:ea typeface="MiSans" pitchFamily="34" charset="-122"/>
                <a:cs typeface="MiSans" pitchFamily="34" charset="-120"/>
              </a:rPr>
              <a:t>Lograrlo exige coordinar reformas legales, políticas activas de empleo y cultura de negociación colectiva. Solo combinando flexibilidad interna, seguridad social activa y reducción de dualidad se construirá un mercado laboral capaz de adaptarse sin dejar a nadie atrás.</a:t>
            </a:r>
            <a:endParaRPr lang="en-US" sz="1600" dirty="0"/>
          </a:p>
        </p:txBody>
      </p:sp>
    </p:spTree>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9368155" y="6143625"/>
            <a:ext cx="2667000" cy="5111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5" name="Text 3"/>
          <p:cNvSpPr/>
          <p:nvPr/>
        </p:nvSpPr>
        <p:spPr>
          <a:xfrm>
            <a:off x="9368155" y="5563870"/>
            <a:ext cx="2667000" cy="5111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Text 4"/>
          <p:cNvSpPr/>
          <p:nvPr/>
        </p:nvSpPr>
        <p:spPr>
          <a:xfrm>
            <a:off x="1870710" y="1315085"/>
            <a:ext cx="8588375" cy="1771015"/>
          </a:xfrm>
          <a:prstGeom prst="rect">
            <a:avLst/>
          </a:prstGeom>
          <a:noFill/>
          <a:ln/>
        </p:spPr>
        <p:txBody>
          <a:bodyPr wrap="square" lIns="91440" tIns="45720" rIns="91440" bIns="45720" rtlCol="0" anchor="ctr"/>
          <a:lstStyle/>
          <a:p>
            <a:pPr marL="0" indent="0" algn="ctr">
              <a:lnSpc>
                <a:spcPct val="100000"/>
              </a:lnSpc>
              <a:buNone/>
            </a:pPr>
            <a:r>
              <a:rPr lang="en-US" sz="11500" b="1" dirty="0">
                <a:solidFill>
                  <a:srgbClr val="000000"/>
                </a:solidFill>
                <a:latin typeface="MiSans" pitchFamily="34" charset="0"/>
                <a:ea typeface="MiSans" pitchFamily="34" charset="-122"/>
                <a:cs typeface="MiSans" pitchFamily="34" charset="-120"/>
              </a:rPr>
              <a:t>FIN!</a:t>
            </a:r>
            <a:endParaRPr lang="en-US" sz="1600" dirty="0"/>
          </a:p>
        </p:txBody>
      </p:sp>
      <p:sp>
        <p:nvSpPr>
          <p:cNvPr id="7" name="Shape 5"/>
          <p:cNvSpPr/>
          <p:nvPr/>
        </p:nvSpPr>
        <p:spPr>
          <a:xfrm>
            <a:off x="291465" y="202565"/>
            <a:ext cx="337185" cy="337185"/>
          </a:xfrm>
          <a:prstGeom prst="ellipse">
            <a:avLst/>
          </a:prstGeom>
          <a:solidFill>
            <a:srgbClr val="FFFFFF"/>
          </a:solidFill>
          <a:ln w="19050">
            <a:solidFill>
              <a:srgbClr val="00B0F0"/>
            </a:solidFill>
            <a:prstDash val="solid"/>
          </a:ln>
        </p:spPr>
        <p:txBody>
          <a:bodyPr/>
          <a:lstStyle/>
          <a:p>
            <a:endParaRPr lang="es-ES"/>
          </a:p>
        </p:txBody>
      </p:sp>
      <p:sp>
        <p:nvSpPr>
          <p:cNvPr id="8" name="Text 6"/>
          <p:cNvSpPr/>
          <p:nvPr/>
        </p:nvSpPr>
        <p:spPr>
          <a:xfrm>
            <a:off x="29146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9" name="Shape 7"/>
          <p:cNvSpPr/>
          <p:nvPr/>
        </p:nvSpPr>
        <p:spPr>
          <a:xfrm>
            <a:off x="1251585" y="202565"/>
            <a:ext cx="337185" cy="337185"/>
          </a:xfrm>
          <a:prstGeom prst="ellipse">
            <a:avLst/>
          </a:prstGeom>
          <a:solidFill>
            <a:srgbClr val="FFFFFF"/>
          </a:solidFill>
          <a:ln w="19050">
            <a:solidFill>
              <a:srgbClr val="00B0F0"/>
            </a:solidFill>
            <a:prstDash val="solid"/>
          </a:ln>
        </p:spPr>
        <p:txBody>
          <a:bodyPr/>
          <a:lstStyle/>
          <a:p>
            <a:endParaRPr lang="es-ES"/>
          </a:p>
        </p:txBody>
      </p:sp>
      <p:sp>
        <p:nvSpPr>
          <p:cNvPr id="10" name="Text 8"/>
          <p:cNvSpPr/>
          <p:nvPr/>
        </p:nvSpPr>
        <p:spPr>
          <a:xfrm>
            <a:off x="125158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Shape 9"/>
          <p:cNvSpPr/>
          <p:nvPr/>
        </p:nvSpPr>
        <p:spPr>
          <a:xfrm>
            <a:off x="771525" y="202565"/>
            <a:ext cx="337185" cy="337185"/>
          </a:xfrm>
          <a:prstGeom prst="ellipse">
            <a:avLst/>
          </a:prstGeom>
          <a:solidFill>
            <a:srgbClr val="00B0F0"/>
          </a:solidFill>
          <a:ln w="19050">
            <a:solidFill>
              <a:srgbClr val="FFFFFF"/>
            </a:solidFill>
            <a:prstDash val="solid"/>
          </a:ln>
        </p:spPr>
        <p:txBody>
          <a:bodyPr/>
          <a:lstStyle/>
          <a:p>
            <a:endParaRPr lang="es-ES"/>
          </a:p>
        </p:txBody>
      </p:sp>
      <p:sp>
        <p:nvSpPr>
          <p:cNvPr id="12" name="Text 10"/>
          <p:cNvSpPr/>
          <p:nvPr/>
        </p:nvSpPr>
        <p:spPr>
          <a:xfrm>
            <a:off x="77152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3" name="Shape 11"/>
          <p:cNvSpPr/>
          <p:nvPr/>
        </p:nvSpPr>
        <p:spPr>
          <a:xfrm>
            <a:off x="1731645" y="202565"/>
            <a:ext cx="337185" cy="337185"/>
          </a:xfrm>
          <a:prstGeom prst="ellipse">
            <a:avLst/>
          </a:prstGeom>
          <a:solidFill>
            <a:srgbClr val="00B0F0"/>
          </a:solidFill>
          <a:ln w="19050">
            <a:solidFill>
              <a:srgbClr val="FFFFFF"/>
            </a:solidFill>
            <a:prstDash val="solid"/>
          </a:ln>
        </p:spPr>
        <p:txBody>
          <a:bodyPr/>
          <a:lstStyle/>
          <a:p>
            <a:endParaRPr lang="es-ES"/>
          </a:p>
        </p:txBody>
      </p:sp>
      <p:sp>
        <p:nvSpPr>
          <p:cNvPr id="14" name="Text 12"/>
          <p:cNvSpPr/>
          <p:nvPr/>
        </p:nvSpPr>
        <p:spPr>
          <a:xfrm>
            <a:off x="1731645" y="202565"/>
            <a:ext cx="337185" cy="33718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Text 14"/>
          <p:cNvSpPr/>
          <p:nvPr/>
        </p:nvSpPr>
        <p:spPr>
          <a:xfrm>
            <a:off x="1701165" y="1215390"/>
            <a:ext cx="8762365" cy="1905635"/>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7" name="Image 0" descr="https://kimi-img.moonshot.cn/pub/slides/slides_tmpl/image/25-08-27-19:57:41-d2nf5d98bjvh7rlivslg.png"/>
          <p:cNvPicPr>
            <a:picLocks noChangeAspect="1"/>
          </p:cNvPicPr>
          <p:nvPr/>
        </p:nvPicPr>
        <p:blipFill>
          <a:blip r:embed="rId3"/>
          <a:srcRect b="42278"/>
          <a:stretch/>
        </p:blipFill>
        <p:spPr>
          <a:xfrm>
            <a:off x="2338070" y="2733675"/>
            <a:ext cx="7030085" cy="4124325"/>
          </a:xfrm>
          <a:prstGeom prst="rect">
            <a:avLst/>
          </a:prstGeom>
        </p:spPr>
      </p:pic>
      <p:sp>
        <p:nvSpPr>
          <p:cNvPr id="20" name="Shape 17"/>
          <p:cNvSpPr/>
          <p:nvPr/>
        </p:nvSpPr>
        <p:spPr>
          <a:xfrm>
            <a:off x="291465" y="6075045"/>
            <a:ext cx="607496" cy="0"/>
          </a:xfrm>
          <a:prstGeom prst="line">
            <a:avLst/>
          </a:prstGeom>
          <a:noFill/>
          <a:ln w="57150">
            <a:solidFill>
              <a:srgbClr val="00B0F0"/>
            </a:solidFill>
            <a:prstDash val="solid"/>
            <a:headEnd type="none"/>
            <a:tailEnd type="none"/>
          </a:ln>
        </p:spPr>
        <p:txBody>
          <a:bodyPr/>
          <a:lstStyle/>
          <a:p>
            <a:endParaRPr lang="es-ES"/>
          </a:p>
        </p:txBody>
      </p:sp>
      <p:sp>
        <p:nvSpPr>
          <p:cNvPr id="21" name="Shape 18"/>
          <p:cNvSpPr/>
          <p:nvPr/>
        </p:nvSpPr>
        <p:spPr>
          <a:xfrm>
            <a:off x="291465" y="6308725"/>
            <a:ext cx="607496" cy="0"/>
          </a:xfrm>
          <a:prstGeom prst="line">
            <a:avLst/>
          </a:prstGeom>
          <a:noFill/>
          <a:ln w="57150">
            <a:solidFill>
              <a:srgbClr val="00B0F0"/>
            </a:solidFill>
            <a:prstDash val="solid"/>
            <a:headEnd type="none"/>
            <a:tailEnd type="none"/>
          </a:ln>
        </p:spPr>
        <p:txBody>
          <a:bodyPr/>
          <a:lstStyle/>
          <a:p>
            <a:endParaRPr lang="es-ES"/>
          </a:p>
        </p:txBody>
      </p:sp>
      <p:sp>
        <p:nvSpPr>
          <p:cNvPr id="22" name="Shape 19"/>
          <p:cNvSpPr/>
          <p:nvPr/>
        </p:nvSpPr>
        <p:spPr>
          <a:xfrm>
            <a:off x="291465" y="6542405"/>
            <a:ext cx="607496" cy="0"/>
          </a:xfrm>
          <a:prstGeom prst="line">
            <a:avLst/>
          </a:prstGeom>
          <a:noFill/>
          <a:ln w="57150">
            <a:solidFill>
              <a:srgbClr val="00B0F0"/>
            </a:solidFill>
            <a:prstDash val="solid"/>
            <a:headEnd type="none"/>
            <a:tailEnd type="none"/>
          </a:ln>
        </p:spPr>
        <p:txBody>
          <a:bodyPr/>
          <a:lstStyle/>
          <a:p>
            <a:endParaRPr lang="es-ES"/>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1124</TotalTime>
  <Words>4350</Words>
  <Application>Microsoft Office PowerPoint</Application>
  <PresentationFormat>Panorámica</PresentationFormat>
  <Paragraphs>343</Paragraphs>
  <Slides>54</Slides>
  <Notes>50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54</vt:i4>
      </vt:variant>
    </vt:vector>
  </HeadingPairs>
  <TitlesOfParts>
    <vt:vector size="58" baseType="lpstr">
      <vt:lpstr>Arial</vt:lpstr>
      <vt:lpstr>MiSans</vt:lpstr>
      <vt:lpstr>Noto Sans SC</vt:lpstr>
      <vt:lpstr>Custom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Flexibilidad Laboral y Protección del Empleo</dc:title>
  <dc:subject>Flexibilidad Laboral y Protección del Empleo</dc:subject>
  <dc:creator>Kimi</dc:creator>
  <cp:lastModifiedBy>Manuel Alejandro Hidalgo Perez</cp:lastModifiedBy>
  <cp:revision>13</cp:revision>
  <dcterms:created xsi:type="dcterms:W3CDTF">2025-11-01T09:42:16Z</dcterms:created>
  <dcterms:modified xsi:type="dcterms:W3CDTF">2025-11-06T05:58:17Z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{"Label":"Flexibilidad Laboral y Protección del Empleo","ContentProducer":"001191110108MACG2KBH8F10000","ProduceID":"d42sdk0gts4eek4sjva0","ReservedCode1":"","ContentPropagator":"001191110108MACG2KBH8F20000","PropagateID":"d42sdk0gts4eek4sjva0","ReservedCode2":""}</vt:lpwstr>
  </property>
</Properties>
</file>