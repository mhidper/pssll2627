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9" r:id="rId4"/>
    <p:sldId id="267" r:id="rId5"/>
    <p:sldId id="258" r:id="rId6"/>
    <p:sldId id="268" r:id="rId7"/>
    <p:sldId id="260" r:id="rId8"/>
    <p:sldId id="261" r:id="rId9"/>
    <p:sldId id="269" r:id="rId10"/>
    <p:sldId id="289" r:id="rId11"/>
    <p:sldId id="262" r:id="rId12"/>
    <p:sldId id="285" r:id="rId13"/>
    <p:sldId id="286" r:id="rId14"/>
    <p:sldId id="290" r:id="rId15"/>
    <p:sldId id="303" r:id="rId16"/>
    <p:sldId id="296" r:id="rId17"/>
    <p:sldId id="297" r:id="rId18"/>
    <p:sldId id="298" r:id="rId19"/>
    <p:sldId id="292" r:id="rId20"/>
    <p:sldId id="299" r:id="rId21"/>
    <p:sldId id="300" r:id="rId22"/>
    <p:sldId id="304" r:id="rId23"/>
    <p:sldId id="302" r:id="rId24"/>
    <p:sldId id="305" r:id="rId25"/>
    <p:sldId id="284" r:id="rId26"/>
    <p:sldId id="308" r:id="rId27"/>
    <p:sldId id="309" r:id="rId28"/>
    <p:sldId id="315" r:id="rId29"/>
    <p:sldId id="316" r:id="rId30"/>
    <p:sldId id="306" r:id="rId31"/>
    <p:sldId id="307" r:id="rId32"/>
    <p:sldId id="310" r:id="rId33"/>
    <p:sldId id="311" r:id="rId34"/>
    <p:sldId id="263" r:id="rId35"/>
    <p:sldId id="312" r:id="rId36"/>
    <p:sldId id="313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0BF830-8D6D-403B-A83C-B510F6E84E9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39FF6A-360E-474A-82A2-5E29861BBCD9}">
      <dgm:prSet/>
      <dgm:spPr/>
      <dgm:t>
        <a:bodyPr/>
        <a:lstStyle/>
        <a:p>
          <a:r>
            <a:rPr lang="es-ES" b="1" i="0"/>
            <a:t>Transición Demográfica:</a:t>
          </a:r>
          <a:endParaRPr lang="en-US"/>
        </a:p>
      </dgm:t>
    </dgm:pt>
    <dgm:pt modelId="{5C0B4DA6-1026-43C9-BDBD-43D703099CA9}" type="parTrans" cxnId="{CA3DEE49-899F-4EA9-BCC2-44925F1C6F85}">
      <dgm:prSet/>
      <dgm:spPr/>
      <dgm:t>
        <a:bodyPr/>
        <a:lstStyle/>
        <a:p>
          <a:endParaRPr lang="en-US"/>
        </a:p>
      </dgm:t>
    </dgm:pt>
    <dgm:pt modelId="{6F0B777E-15C7-477B-9E2D-81D8F07779CB}" type="sibTrans" cxnId="{CA3DEE49-899F-4EA9-BCC2-44925F1C6F85}">
      <dgm:prSet/>
      <dgm:spPr/>
      <dgm:t>
        <a:bodyPr/>
        <a:lstStyle/>
        <a:p>
          <a:endParaRPr lang="en-US"/>
        </a:p>
      </dgm:t>
    </dgm:pt>
    <dgm:pt modelId="{0088E609-E216-4B52-A9D2-306874B16090}">
      <dgm:prSet/>
      <dgm:spPr/>
      <dgm:t>
        <a:bodyPr/>
        <a:lstStyle/>
        <a:p>
          <a:r>
            <a:rPr lang="es-ES" b="0" i="0"/>
            <a:t>Proceso de modernización y cambio demográfico.</a:t>
          </a:r>
          <a:endParaRPr lang="en-US"/>
        </a:p>
      </dgm:t>
    </dgm:pt>
    <dgm:pt modelId="{084E3E06-3E32-4FED-8622-1C633CEA7897}" type="parTrans" cxnId="{3FD9B5DE-14A7-4317-B739-223594A3E885}">
      <dgm:prSet/>
      <dgm:spPr/>
      <dgm:t>
        <a:bodyPr/>
        <a:lstStyle/>
        <a:p>
          <a:endParaRPr lang="en-US"/>
        </a:p>
      </dgm:t>
    </dgm:pt>
    <dgm:pt modelId="{ED84F6D7-4267-445E-9744-B83943ED4C64}" type="sibTrans" cxnId="{3FD9B5DE-14A7-4317-B739-223594A3E885}">
      <dgm:prSet/>
      <dgm:spPr/>
      <dgm:t>
        <a:bodyPr/>
        <a:lstStyle/>
        <a:p>
          <a:endParaRPr lang="en-US"/>
        </a:p>
      </dgm:t>
    </dgm:pt>
    <dgm:pt modelId="{1BAFC7E0-D683-424E-ABB2-E311D6687DAC}">
      <dgm:prSet/>
      <dgm:spPr/>
      <dgm:t>
        <a:bodyPr/>
        <a:lstStyle/>
        <a:p>
          <a:r>
            <a:rPr lang="es-ES" b="0" i="0"/>
            <a:t>Características específicas en España: inicio tardío y ritmo rápido.</a:t>
          </a:r>
          <a:endParaRPr lang="en-US"/>
        </a:p>
      </dgm:t>
    </dgm:pt>
    <dgm:pt modelId="{D7BD0E0F-1DFA-4110-9D50-ACA2D0D5AA8F}" type="parTrans" cxnId="{A5F2EA96-EC0C-4BD6-A1EF-896FAAA2CFFE}">
      <dgm:prSet/>
      <dgm:spPr/>
      <dgm:t>
        <a:bodyPr/>
        <a:lstStyle/>
        <a:p>
          <a:endParaRPr lang="en-US"/>
        </a:p>
      </dgm:t>
    </dgm:pt>
    <dgm:pt modelId="{CB24DF78-076E-4AAB-9AFC-6EB7ED770427}" type="sibTrans" cxnId="{A5F2EA96-EC0C-4BD6-A1EF-896FAAA2CFFE}">
      <dgm:prSet/>
      <dgm:spPr/>
      <dgm:t>
        <a:bodyPr/>
        <a:lstStyle/>
        <a:p>
          <a:endParaRPr lang="en-US"/>
        </a:p>
      </dgm:t>
    </dgm:pt>
    <dgm:pt modelId="{0CE1E228-44DC-409A-BB7A-9A46359FDC6A}">
      <dgm:prSet/>
      <dgm:spPr/>
      <dgm:t>
        <a:bodyPr/>
        <a:lstStyle/>
        <a:p>
          <a:r>
            <a:rPr lang="es-ES" b="0" i="0"/>
            <a:t>Secuencia de etapas: disminución de mortalidad, descenso de natalidad, envejecimiento.</a:t>
          </a:r>
          <a:endParaRPr lang="en-US"/>
        </a:p>
      </dgm:t>
    </dgm:pt>
    <dgm:pt modelId="{43658D14-176C-4AAB-8857-43238968CDAA}" type="parTrans" cxnId="{FC4E6CBD-800D-43C3-94CB-E2933D76AB35}">
      <dgm:prSet/>
      <dgm:spPr/>
      <dgm:t>
        <a:bodyPr/>
        <a:lstStyle/>
        <a:p>
          <a:endParaRPr lang="en-US"/>
        </a:p>
      </dgm:t>
    </dgm:pt>
    <dgm:pt modelId="{F25C68F0-C67D-44C4-B8C1-9C383D220A30}" type="sibTrans" cxnId="{FC4E6CBD-800D-43C3-94CB-E2933D76AB35}">
      <dgm:prSet/>
      <dgm:spPr/>
      <dgm:t>
        <a:bodyPr/>
        <a:lstStyle/>
        <a:p>
          <a:endParaRPr lang="en-US"/>
        </a:p>
      </dgm:t>
    </dgm:pt>
    <dgm:pt modelId="{E354F4DB-1A4A-405A-B593-A5BE75B81A75}">
      <dgm:prSet/>
      <dgm:spPr/>
      <dgm:t>
        <a:bodyPr/>
        <a:lstStyle/>
        <a:p>
          <a:r>
            <a:rPr lang="es-ES" b="1" i="0"/>
            <a:t>Fecundidad y Natalidad:</a:t>
          </a:r>
          <a:endParaRPr lang="en-US"/>
        </a:p>
      </dgm:t>
    </dgm:pt>
    <dgm:pt modelId="{4752A42E-2107-49CC-AD6E-C97B100EC4F9}" type="parTrans" cxnId="{D960C23C-E389-4FEA-A165-A35D22DFB91C}">
      <dgm:prSet/>
      <dgm:spPr/>
      <dgm:t>
        <a:bodyPr/>
        <a:lstStyle/>
        <a:p>
          <a:endParaRPr lang="en-US"/>
        </a:p>
      </dgm:t>
    </dgm:pt>
    <dgm:pt modelId="{5E8922BA-1621-4509-BAB0-89690C557022}" type="sibTrans" cxnId="{D960C23C-E389-4FEA-A165-A35D22DFB91C}">
      <dgm:prSet/>
      <dgm:spPr/>
      <dgm:t>
        <a:bodyPr/>
        <a:lstStyle/>
        <a:p>
          <a:endParaRPr lang="en-US"/>
        </a:p>
      </dgm:t>
    </dgm:pt>
    <dgm:pt modelId="{C47B16BC-1E72-4683-8A85-3D8988B4EDF9}">
      <dgm:prSet/>
      <dgm:spPr/>
      <dgm:t>
        <a:bodyPr/>
        <a:lstStyle/>
        <a:p>
          <a:r>
            <a:rPr lang="es-ES" b="0" i="0"/>
            <a:t>Drástica reducción desde la década de 1970.</a:t>
          </a:r>
          <a:endParaRPr lang="en-US"/>
        </a:p>
      </dgm:t>
    </dgm:pt>
    <dgm:pt modelId="{B2700C6E-D591-4D52-A859-E89833EEFC08}" type="parTrans" cxnId="{77C8DE90-B970-442D-804A-F53391E7CBAC}">
      <dgm:prSet/>
      <dgm:spPr/>
      <dgm:t>
        <a:bodyPr/>
        <a:lstStyle/>
        <a:p>
          <a:endParaRPr lang="en-US"/>
        </a:p>
      </dgm:t>
    </dgm:pt>
    <dgm:pt modelId="{04BEA8AB-C3BC-4821-9CC6-1172B5D63A5B}" type="sibTrans" cxnId="{77C8DE90-B970-442D-804A-F53391E7CBAC}">
      <dgm:prSet/>
      <dgm:spPr/>
      <dgm:t>
        <a:bodyPr/>
        <a:lstStyle/>
        <a:p>
          <a:endParaRPr lang="en-US"/>
        </a:p>
      </dgm:t>
    </dgm:pt>
    <dgm:pt modelId="{2FBE49BD-D61B-41FC-8539-6E8673108D9E}">
      <dgm:prSet/>
      <dgm:spPr/>
      <dgm:t>
        <a:bodyPr/>
        <a:lstStyle/>
        <a:p>
          <a:r>
            <a:rPr lang="es-ES" b="0" i="0"/>
            <a:t>Breve recuperación en la década de 2000, pero sin alcanzar la tasa de reemplazo generacional.</a:t>
          </a:r>
          <a:endParaRPr lang="en-US"/>
        </a:p>
      </dgm:t>
    </dgm:pt>
    <dgm:pt modelId="{DA839DAC-ACDD-444F-A55B-703CD0C5665E}" type="parTrans" cxnId="{FC2BEAAF-2F48-418A-835E-8E066C848E48}">
      <dgm:prSet/>
      <dgm:spPr/>
      <dgm:t>
        <a:bodyPr/>
        <a:lstStyle/>
        <a:p>
          <a:endParaRPr lang="en-US"/>
        </a:p>
      </dgm:t>
    </dgm:pt>
    <dgm:pt modelId="{7A09BA60-6769-48CD-B907-34C39B2A6105}" type="sibTrans" cxnId="{FC2BEAAF-2F48-418A-835E-8E066C848E48}">
      <dgm:prSet/>
      <dgm:spPr/>
      <dgm:t>
        <a:bodyPr/>
        <a:lstStyle/>
        <a:p>
          <a:endParaRPr lang="en-US"/>
        </a:p>
      </dgm:t>
    </dgm:pt>
    <dgm:pt modelId="{250A3472-9B0D-4C3D-B9BF-09109845821A}">
      <dgm:prSet/>
      <dgm:spPr/>
      <dgm:t>
        <a:bodyPr/>
        <a:lstStyle/>
        <a:p>
          <a:r>
            <a:rPr lang="es-ES" b="0" i="0"/>
            <a:t>En 2019, 1,24 hijos por mujer, alejándose de la tasa de reemplazo.</a:t>
          </a:r>
          <a:endParaRPr lang="en-US"/>
        </a:p>
      </dgm:t>
    </dgm:pt>
    <dgm:pt modelId="{E7843B96-FBB0-413E-9A9A-30410158B4CD}" type="parTrans" cxnId="{50122357-313D-43ED-A4C5-717BF7E0EBFE}">
      <dgm:prSet/>
      <dgm:spPr/>
      <dgm:t>
        <a:bodyPr/>
        <a:lstStyle/>
        <a:p>
          <a:endParaRPr lang="en-US"/>
        </a:p>
      </dgm:t>
    </dgm:pt>
    <dgm:pt modelId="{87B4F4E5-4CA9-4570-96DB-1F8C8318B657}" type="sibTrans" cxnId="{50122357-313D-43ED-A4C5-717BF7E0EBFE}">
      <dgm:prSet/>
      <dgm:spPr/>
      <dgm:t>
        <a:bodyPr/>
        <a:lstStyle/>
        <a:p>
          <a:endParaRPr lang="en-US"/>
        </a:p>
      </dgm:t>
    </dgm:pt>
    <dgm:pt modelId="{9AF0BEDB-9F86-45F5-A2CD-ABBA9C6BAC70}" type="pres">
      <dgm:prSet presAssocID="{900BF830-8D6D-403B-A83C-B510F6E84E9B}" presName="linear" presStyleCnt="0">
        <dgm:presLayoutVars>
          <dgm:animLvl val="lvl"/>
          <dgm:resizeHandles val="exact"/>
        </dgm:presLayoutVars>
      </dgm:prSet>
      <dgm:spPr/>
    </dgm:pt>
    <dgm:pt modelId="{E5A691AB-DB18-4082-811D-721B40D3FCDA}" type="pres">
      <dgm:prSet presAssocID="{7739FF6A-360E-474A-82A2-5E29861BBC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77E0C8B-B207-4361-9CB2-A713665D0B8D}" type="pres">
      <dgm:prSet presAssocID="{7739FF6A-360E-474A-82A2-5E29861BBCD9}" presName="childText" presStyleLbl="revTx" presStyleIdx="0" presStyleCnt="2">
        <dgm:presLayoutVars>
          <dgm:bulletEnabled val="1"/>
        </dgm:presLayoutVars>
      </dgm:prSet>
      <dgm:spPr/>
    </dgm:pt>
    <dgm:pt modelId="{D141D6F2-3A55-449F-A996-3A2E794E4C3A}" type="pres">
      <dgm:prSet presAssocID="{E354F4DB-1A4A-405A-B593-A5BE75B81A7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E90886-B805-493F-8AF2-94CC088DD07F}" type="pres">
      <dgm:prSet presAssocID="{E354F4DB-1A4A-405A-B593-A5BE75B81A7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F2BE62A-D19E-4506-B624-8E238257A875}" type="presOf" srcId="{2FBE49BD-D61B-41FC-8539-6E8673108D9E}" destId="{B5E90886-B805-493F-8AF2-94CC088DD07F}" srcOrd="0" destOrd="1" presId="urn:microsoft.com/office/officeart/2005/8/layout/vList2"/>
    <dgm:cxn modelId="{D960C23C-E389-4FEA-A165-A35D22DFB91C}" srcId="{900BF830-8D6D-403B-A83C-B510F6E84E9B}" destId="{E354F4DB-1A4A-405A-B593-A5BE75B81A75}" srcOrd="1" destOrd="0" parTransId="{4752A42E-2107-49CC-AD6E-C97B100EC4F9}" sibTransId="{5E8922BA-1621-4509-BAB0-89690C557022}"/>
    <dgm:cxn modelId="{6D69F23C-7295-47FE-9A87-6F70ED699F6F}" type="presOf" srcId="{E354F4DB-1A4A-405A-B593-A5BE75B81A75}" destId="{D141D6F2-3A55-449F-A996-3A2E794E4C3A}" srcOrd="0" destOrd="0" presId="urn:microsoft.com/office/officeart/2005/8/layout/vList2"/>
    <dgm:cxn modelId="{03BA053E-ACD8-4005-A182-5FABF2905CD3}" type="presOf" srcId="{250A3472-9B0D-4C3D-B9BF-09109845821A}" destId="{B5E90886-B805-493F-8AF2-94CC088DD07F}" srcOrd="0" destOrd="2" presId="urn:microsoft.com/office/officeart/2005/8/layout/vList2"/>
    <dgm:cxn modelId="{37D1B042-3A09-4DD3-9572-CD027857127C}" type="presOf" srcId="{1BAFC7E0-D683-424E-ABB2-E311D6687DAC}" destId="{077E0C8B-B207-4361-9CB2-A713665D0B8D}" srcOrd="0" destOrd="1" presId="urn:microsoft.com/office/officeart/2005/8/layout/vList2"/>
    <dgm:cxn modelId="{CA3DEE49-899F-4EA9-BCC2-44925F1C6F85}" srcId="{900BF830-8D6D-403B-A83C-B510F6E84E9B}" destId="{7739FF6A-360E-474A-82A2-5E29861BBCD9}" srcOrd="0" destOrd="0" parTransId="{5C0B4DA6-1026-43C9-BDBD-43D703099CA9}" sibTransId="{6F0B777E-15C7-477B-9E2D-81D8F07779CB}"/>
    <dgm:cxn modelId="{50122357-313D-43ED-A4C5-717BF7E0EBFE}" srcId="{E354F4DB-1A4A-405A-B593-A5BE75B81A75}" destId="{250A3472-9B0D-4C3D-B9BF-09109845821A}" srcOrd="2" destOrd="0" parTransId="{E7843B96-FBB0-413E-9A9A-30410158B4CD}" sibTransId="{87B4F4E5-4CA9-4570-96DB-1F8C8318B657}"/>
    <dgm:cxn modelId="{8FCE9479-FB4A-4AE2-85B7-0FC0016130D8}" type="presOf" srcId="{900BF830-8D6D-403B-A83C-B510F6E84E9B}" destId="{9AF0BEDB-9F86-45F5-A2CD-ABBA9C6BAC70}" srcOrd="0" destOrd="0" presId="urn:microsoft.com/office/officeart/2005/8/layout/vList2"/>
    <dgm:cxn modelId="{77C8DE90-B970-442D-804A-F53391E7CBAC}" srcId="{E354F4DB-1A4A-405A-B593-A5BE75B81A75}" destId="{C47B16BC-1E72-4683-8A85-3D8988B4EDF9}" srcOrd="0" destOrd="0" parTransId="{B2700C6E-D591-4D52-A859-E89833EEFC08}" sibTransId="{04BEA8AB-C3BC-4821-9CC6-1172B5D63A5B}"/>
    <dgm:cxn modelId="{A5F2EA96-EC0C-4BD6-A1EF-896FAAA2CFFE}" srcId="{7739FF6A-360E-474A-82A2-5E29861BBCD9}" destId="{1BAFC7E0-D683-424E-ABB2-E311D6687DAC}" srcOrd="1" destOrd="0" parTransId="{D7BD0E0F-1DFA-4110-9D50-ACA2D0D5AA8F}" sibTransId="{CB24DF78-076E-4AAB-9AFC-6EB7ED770427}"/>
    <dgm:cxn modelId="{6493E4A4-6691-40D4-A0BB-89913DEA141F}" type="presOf" srcId="{7739FF6A-360E-474A-82A2-5E29861BBCD9}" destId="{E5A691AB-DB18-4082-811D-721B40D3FCDA}" srcOrd="0" destOrd="0" presId="urn:microsoft.com/office/officeart/2005/8/layout/vList2"/>
    <dgm:cxn modelId="{22EA6BA6-B5EE-4776-9C7A-3CA775839EF9}" type="presOf" srcId="{0088E609-E216-4B52-A9D2-306874B16090}" destId="{077E0C8B-B207-4361-9CB2-A713665D0B8D}" srcOrd="0" destOrd="0" presId="urn:microsoft.com/office/officeart/2005/8/layout/vList2"/>
    <dgm:cxn modelId="{FC2BEAAF-2F48-418A-835E-8E066C848E48}" srcId="{E354F4DB-1A4A-405A-B593-A5BE75B81A75}" destId="{2FBE49BD-D61B-41FC-8539-6E8673108D9E}" srcOrd="1" destOrd="0" parTransId="{DA839DAC-ACDD-444F-A55B-703CD0C5665E}" sibTransId="{7A09BA60-6769-48CD-B907-34C39B2A6105}"/>
    <dgm:cxn modelId="{FC4E6CBD-800D-43C3-94CB-E2933D76AB35}" srcId="{7739FF6A-360E-474A-82A2-5E29861BBCD9}" destId="{0CE1E228-44DC-409A-BB7A-9A46359FDC6A}" srcOrd="2" destOrd="0" parTransId="{43658D14-176C-4AAB-8857-43238968CDAA}" sibTransId="{F25C68F0-C67D-44C4-B8C1-9C383D220A30}"/>
    <dgm:cxn modelId="{326428C8-05C2-4666-9A2A-F38FCC852804}" type="presOf" srcId="{C47B16BC-1E72-4683-8A85-3D8988B4EDF9}" destId="{B5E90886-B805-493F-8AF2-94CC088DD07F}" srcOrd="0" destOrd="0" presId="urn:microsoft.com/office/officeart/2005/8/layout/vList2"/>
    <dgm:cxn modelId="{3FD9B5DE-14A7-4317-B739-223594A3E885}" srcId="{7739FF6A-360E-474A-82A2-5E29861BBCD9}" destId="{0088E609-E216-4B52-A9D2-306874B16090}" srcOrd="0" destOrd="0" parTransId="{084E3E06-3E32-4FED-8622-1C633CEA7897}" sibTransId="{ED84F6D7-4267-445E-9744-B83943ED4C64}"/>
    <dgm:cxn modelId="{89928AFA-6182-45AB-892E-6FAC87B42373}" type="presOf" srcId="{0CE1E228-44DC-409A-BB7A-9A46359FDC6A}" destId="{077E0C8B-B207-4361-9CB2-A713665D0B8D}" srcOrd="0" destOrd="2" presId="urn:microsoft.com/office/officeart/2005/8/layout/vList2"/>
    <dgm:cxn modelId="{8B4FE4B9-7563-4E6B-B50A-6DBEAD29F5FB}" type="presParOf" srcId="{9AF0BEDB-9F86-45F5-A2CD-ABBA9C6BAC70}" destId="{E5A691AB-DB18-4082-811D-721B40D3FCDA}" srcOrd="0" destOrd="0" presId="urn:microsoft.com/office/officeart/2005/8/layout/vList2"/>
    <dgm:cxn modelId="{D5AA65CD-FF5A-4FA8-B761-254978C36A57}" type="presParOf" srcId="{9AF0BEDB-9F86-45F5-A2CD-ABBA9C6BAC70}" destId="{077E0C8B-B207-4361-9CB2-A713665D0B8D}" srcOrd="1" destOrd="0" presId="urn:microsoft.com/office/officeart/2005/8/layout/vList2"/>
    <dgm:cxn modelId="{1BD6AD30-3888-4487-8F0A-8BC5647A282B}" type="presParOf" srcId="{9AF0BEDB-9F86-45F5-A2CD-ABBA9C6BAC70}" destId="{D141D6F2-3A55-449F-A996-3A2E794E4C3A}" srcOrd="2" destOrd="0" presId="urn:microsoft.com/office/officeart/2005/8/layout/vList2"/>
    <dgm:cxn modelId="{792FAD37-D70C-40DF-9271-AF4C80D9B47C}" type="presParOf" srcId="{9AF0BEDB-9F86-45F5-A2CD-ABBA9C6BAC70}" destId="{B5E90886-B805-493F-8AF2-94CC088DD07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4F9F6-A823-4D3C-8385-317C982B711E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11424E-CDEB-4D6E-893C-C4BA61061085}">
      <dgm:prSet/>
      <dgm:spPr/>
      <dgm:t>
        <a:bodyPr/>
        <a:lstStyle/>
        <a:p>
          <a:r>
            <a:rPr lang="es-ES" b="0" i="0"/>
            <a:t>Las pautas demográficas han llevado a un envejecimiento progresivo de la población española.</a:t>
          </a:r>
          <a:endParaRPr lang="en-US"/>
        </a:p>
      </dgm:t>
    </dgm:pt>
    <dgm:pt modelId="{FB0B90AE-28BC-47FD-BEF5-AFB342E668BB}" type="parTrans" cxnId="{6557931B-7959-496B-AF1E-EC427CDFD3F6}">
      <dgm:prSet/>
      <dgm:spPr/>
      <dgm:t>
        <a:bodyPr/>
        <a:lstStyle/>
        <a:p>
          <a:endParaRPr lang="en-US"/>
        </a:p>
      </dgm:t>
    </dgm:pt>
    <dgm:pt modelId="{21BB31BE-F323-4EAD-B0DC-048274915A9F}" type="sibTrans" cxnId="{6557931B-7959-496B-AF1E-EC427CDFD3F6}">
      <dgm:prSet/>
      <dgm:spPr/>
      <dgm:t>
        <a:bodyPr/>
        <a:lstStyle/>
        <a:p>
          <a:endParaRPr lang="en-US"/>
        </a:p>
      </dgm:t>
    </dgm:pt>
    <dgm:pt modelId="{23BFA441-EB64-4F6E-B39C-63DFC5E96874}">
      <dgm:prSet/>
      <dgm:spPr/>
      <dgm:t>
        <a:bodyPr/>
        <a:lstStyle/>
        <a:p>
          <a:r>
            <a:rPr lang="es-ES" b="0" i="0"/>
            <a:t>A pesar de la caída en la fecundidad, la década de 2000 mostró una recuperación, superando la tasa de natalidad promedio de la Unión Europea.</a:t>
          </a:r>
          <a:endParaRPr lang="en-US"/>
        </a:p>
      </dgm:t>
    </dgm:pt>
    <dgm:pt modelId="{FA5950AF-FA68-464A-A12D-E937A8C5D463}" type="parTrans" cxnId="{B256E6E9-9DC1-4315-8338-151DE5795730}">
      <dgm:prSet/>
      <dgm:spPr/>
      <dgm:t>
        <a:bodyPr/>
        <a:lstStyle/>
        <a:p>
          <a:endParaRPr lang="en-US"/>
        </a:p>
      </dgm:t>
    </dgm:pt>
    <dgm:pt modelId="{5C3BEE58-8490-4799-B4C6-B60BB8A4F70A}" type="sibTrans" cxnId="{B256E6E9-9DC1-4315-8338-151DE5795730}">
      <dgm:prSet/>
      <dgm:spPr/>
      <dgm:t>
        <a:bodyPr/>
        <a:lstStyle/>
        <a:p>
          <a:endParaRPr lang="en-US"/>
        </a:p>
      </dgm:t>
    </dgm:pt>
    <dgm:pt modelId="{9597C5E6-B9C0-4A30-AB9E-7C829E732343}">
      <dgm:prSet/>
      <dgm:spPr/>
      <dgm:t>
        <a:bodyPr/>
        <a:lstStyle/>
        <a:p>
          <a:r>
            <a:rPr lang="es-ES" b="0" i="0"/>
            <a:t>La población inmigrante desempeñó un papel crucial en esta recuperación, registrando tasas de fecundidad más altas y contribuyendo al aumento de la natalidad.</a:t>
          </a:r>
          <a:endParaRPr lang="en-US"/>
        </a:p>
      </dgm:t>
    </dgm:pt>
    <dgm:pt modelId="{28FE6275-9DF5-4D83-8B36-7FB4866286FA}" type="parTrans" cxnId="{8F2CDB33-326A-4D5E-A5E1-CDD3F6B03699}">
      <dgm:prSet/>
      <dgm:spPr/>
      <dgm:t>
        <a:bodyPr/>
        <a:lstStyle/>
        <a:p>
          <a:endParaRPr lang="en-US"/>
        </a:p>
      </dgm:t>
    </dgm:pt>
    <dgm:pt modelId="{2E7802B4-B083-40C0-90D3-278F1B533B12}" type="sibTrans" cxnId="{8F2CDB33-326A-4D5E-A5E1-CDD3F6B03699}">
      <dgm:prSet/>
      <dgm:spPr/>
      <dgm:t>
        <a:bodyPr/>
        <a:lstStyle/>
        <a:p>
          <a:endParaRPr lang="en-US"/>
        </a:p>
      </dgm:t>
    </dgm:pt>
    <dgm:pt modelId="{3E27BA57-859B-4F74-B24E-5AF0A3023B7D}">
      <dgm:prSet/>
      <dgm:spPr/>
      <dgm:t>
        <a:bodyPr/>
        <a:lstStyle/>
        <a:p>
          <a:r>
            <a:rPr lang="es-ES" b="0" i="0"/>
            <a:t>Sin embargo, tras la crisis financiera internacional, la natalidad se redujo nuevamente, situándose por debajo del promedio de la Unión Europea en 2019.</a:t>
          </a:r>
          <a:endParaRPr lang="en-US"/>
        </a:p>
      </dgm:t>
    </dgm:pt>
    <dgm:pt modelId="{AEDF8B7D-F38D-4F7C-8B66-F59E21B82AB5}" type="parTrans" cxnId="{DD746EF9-3FB7-4B84-A2D4-4783B0A04509}">
      <dgm:prSet/>
      <dgm:spPr/>
      <dgm:t>
        <a:bodyPr/>
        <a:lstStyle/>
        <a:p>
          <a:endParaRPr lang="en-US"/>
        </a:p>
      </dgm:t>
    </dgm:pt>
    <dgm:pt modelId="{3FEB281C-D23E-4476-B22B-E510122CF374}" type="sibTrans" cxnId="{DD746EF9-3FB7-4B84-A2D4-4783B0A04509}">
      <dgm:prSet/>
      <dgm:spPr/>
      <dgm:t>
        <a:bodyPr/>
        <a:lstStyle/>
        <a:p>
          <a:endParaRPr lang="en-US"/>
        </a:p>
      </dgm:t>
    </dgm:pt>
    <dgm:pt modelId="{A7EA9E84-5DE1-41B4-914C-430F532A2971}" type="pres">
      <dgm:prSet presAssocID="{AFD4F9F6-A823-4D3C-8385-317C982B711E}" presName="vert0" presStyleCnt="0">
        <dgm:presLayoutVars>
          <dgm:dir/>
          <dgm:animOne val="branch"/>
          <dgm:animLvl val="lvl"/>
        </dgm:presLayoutVars>
      </dgm:prSet>
      <dgm:spPr/>
    </dgm:pt>
    <dgm:pt modelId="{9E6C5E8A-31BF-4D76-8C55-498CCE8CEEBC}" type="pres">
      <dgm:prSet presAssocID="{3211424E-CDEB-4D6E-893C-C4BA61061085}" presName="thickLine" presStyleLbl="alignNode1" presStyleIdx="0" presStyleCnt="4"/>
      <dgm:spPr/>
    </dgm:pt>
    <dgm:pt modelId="{CA195A68-FAF6-4099-86A9-7F38B52CCDE6}" type="pres">
      <dgm:prSet presAssocID="{3211424E-CDEB-4D6E-893C-C4BA61061085}" presName="horz1" presStyleCnt="0"/>
      <dgm:spPr/>
    </dgm:pt>
    <dgm:pt modelId="{CC571682-2150-4F60-8831-D0F36246ED8C}" type="pres">
      <dgm:prSet presAssocID="{3211424E-CDEB-4D6E-893C-C4BA61061085}" presName="tx1" presStyleLbl="revTx" presStyleIdx="0" presStyleCnt="4"/>
      <dgm:spPr/>
    </dgm:pt>
    <dgm:pt modelId="{27D57201-5C3C-4716-BE22-908C515A846C}" type="pres">
      <dgm:prSet presAssocID="{3211424E-CDEB-4D6E-893C-C4BA61061085}" presName="vert1" presStyleCnt="0"/>
      <dgm:spPr/>
    </dgm:pt>
    <dgm:pt modelId="{34E81B83-9980-4B5E-BC69-C687EC46D940}" type="pres">
      <dgm:prSet presAssocID="{23BFA441-EB64-4F6E-B39C-63DFC5E96874}" presName="thickLine" presStyleLbl="alignNode1" presStyleIdx="1" presStyleCnt="4"/>
      <dgm:spPr/>
    </dgm:pt>
    <dgm:pt modelId="{6159D5C7-8AAD-4E77-B9B1-19210E5D3F0A}" type="pres">
      <dgm:prSet presAssocID="{23BFA441-EB64-4F6E-B39C-63DFC5E96874}" presName="horz1" presStyleCnt="0"/>
      <dgm:spPr/>
    </dgm:pt>
    <dgm:pt modelId="{3B418E51-0ACC-40CA-8222-96F46B0AE3CA}" type="pres">
      <dgm:prSet presAssocID="{23BFA441-EB64-4F6E-B39C-63DFC5E96874}" presName="tx1" presStyleLbl="revTx" presStyleIdx="1" presStyleCnt="4"/>
      <dgm:spPr/>
    </dgm:pt>
    <dgm:pt modelId="{688AB317-3B19-4ED3-9CE6-255F0F6228BB}" type="pres">
      <dgm:prSet presAssocID="{23BFA441-EB64-4F6E-B39C-63DFC5E96874}" presName="vert1" presStyleCnt="0"/>
      <dgm:spPr/>
    </dgm:pt>
    <dgm:pt modelId="{268DE670-63FF-4ACA-B2B8-3BC695B22573}" type="pres">
      <dgm:prSet presAssocID="{9597C5E6-B9C0-4A30-AB9E-7C829E732343}" presName="thickLine" presStyleLbl="alignNode1" presStyleIdx="2" presStyleCnt="4"/>
      <dgm:spPr/>
    </dgm:pt>
    <dgm:pt modelId="{18209920-F498-45F1-A5E7-471F1B276BBB}" type="pres">
      <dgm:prSet presAssocID="{9597C5E6-B9C0-4A30-AB9E-7C829E732343}" presName="horz1" presStyleCnt="0"/>
      <dgm:spPr/>
    </dgm:pt>
    <dgm:pt modelId="{C1D36A61-469E-42A2-B8DE-35F72743E9A0}" type="pres">
      <dgm:prSet presAssocID="{9597C5E6-B9C0-4A30-AB9E-7C829E732343}" presName="tx1" presStyleLbl="revTx" presStyleIdx="2" presStyleCnt="4"/>
      <dgm:spPr/>
    </dgm:pt>
    <dgm:pt modelId="{556241C0-2F2E-4088-90C6-BE6ABF837181}" type="pres">
      <dgm:prSet presAssocID="{9597C5E6-B9C0-4A30-AB9E-7C829E732343}" presName="vert1" presStyleCnt="0"/>
      <dgm:spPr/>
    </dgm:pt>
    <dgm:pt modelId="{E497744C-442A-4D33-A4C7-3D18B632B323}" type="pres">
      <dgm:prSet presAssocID="{3E27BA57-859B-4F74-B24E-5AF0A3023B7D}" presName="thickLine" presStyleLbl="alignNode1" presStyleIdx="3" presStyleCnt="4"/>
      <dgm:spPr/>
    </dgm:pt>
    <dgm:pt modelId="{9CB6787F-BEBC-4565-A821-B69AE81F6CEA}" type="pres">
      <dgm:prSet presAssocID="{3E27BA57-859B-4F74-B24E-5AF0A3023B7D}" presName="horz1" presStyleCnt="0"/>
      <dgm:spPr/>
    </dgm:pt>
    <dgm:pt modelId="{862CCEF1-8689-48AF-9815-925368392004}" type="pres">
      <dgm:prSet presAssocID="{3E27BA57-859B-4F74-B24E-5AF0A3023B7D}" presName="tx1" presStyleLbl="revTx" presStyleIdx="3" presStyleCnt="4"/>
      <dgm:spPr/>
    </dgm:pt>
    <dgm:pt modelId="{02D5BF20-2911-46F5-BD68-15481B767FA0}" type="pres">
      <dgm:prSet presAssocID="{3E27BA57-859B-4F74-B24E-5AF0A3023B7D}" presName="vert1" presStyleCnt="0"/>
      <dgm:spPr/>
    </dgm:pt>
  </dgm:ptLst>
  <dgm:cxnLst>
    <dgm:cxn modelId="{6557931B-7959-496B-AF1E-EC427CDFD3F6}" srcId="{AFD4F9F6-A823-4D3C-8385-317C982B711E}" destId="{3211424E-CDEB-4D6E-893C-C4BA61061085}" srcOrd="0" destOrd="0" parTransId="{FB0B90AE-28BC-47FD-BEF5-AFB342E668BB}" sibTransId="{21BB31BE-F323-4EAD-B0DC-048274915A9F}"/>
    <dgm:cxn modelId="{6F6BA221-2857-4633-8063-89212734EB60}" type="presOf" srcId="{9597C5E6-B9C0-4A30-AB9E-7C829E732343}" destId="{C1D36A61-469E-42A2-B8DE-35F72743E9A0}" srcOrd="0" destOrd="0" presId="urn:microsoft.com/office/officeart/2008/layout/LinedList"/>
    <dgm:cxn modelId="{8F2CDB33-326A-4D5E-A5E1-CDD3F6B03699}" srcId="{AFD4F9F6-A823-4D3C-8385-317C982B711E}" destId="{9597C5E6-B9C0-4A30-AB9E-7C829E732343}" srcOrd="2" destOrd="0" parTransId="{28FE6275-9DF5-4D83-8B36-7FB4866286FA}" sibTransId="{2E7802B4-B083-40C0-90D3-278F1B533B12}"/>
    <dgm:cxn modelId="{DFAEE579-D69F-424C-93AA-DFBD9B58F028}" type="presOf" srcId="{23BFA441-EB64-4F6E-B39C-63DFC5E96874}" destId="{3B418E51-0ACC-40CA-8222-96F46B0AE3CA}" srcOrd="0" destOrd="0" presId="urn:microsoft.com/office/officeart/2008/layout/LinedList"/>
    <dgm:cxn modelId="{8A9B8C8B-89CB-4A5F-921D-6C0D39961209}" type="presOf" srcId="{3211424E-CDEB-4D6E-893C-C4BA61061085}" destId="{CC571682-2150-4F60-8831-D0F36246ED8C}" srcOrd="0" destOrd="0" presId="urn:microsoft.com/office/officeart/2008/layout/LinedList"/>
    <dgm:cxn modelId="{0E52E393-FBBA-4A41-B72B-DC52DBCE0A1B}" type="presOf" srcId="{AFD4F9F6-A823-4D3C-8385-317C982B711E}" destId="{A7EA9E84-5DE1-41B4-914C-430F532A2971}" srcOrd="0" destOrd="0" presId="urn:microsoft.com/office/officeart/2008/layout/LinedList"/>
    <dgm:cxn modelId="{A70AF6C0-C434-4B4A-BCD7-CCD55F7DFF25}" type="presOf" srcId="{3E27BA57-859B-4F74-B24E-5AF0A3023B7D}" destId="{862CCEF1-8689-48AF-9815-925368392004}" srcOrd="0" destOrd="0" presId="urn:microsoft.com/office/officeart/2008/layout/LinedList"/>
    <dgm:cxn modelId="{B256E6E9-9DC1-4315-8338-151DE5795730}" srcId="{AFD4F9F6-A823-4D3C-8385-317C982B711E}" destId="{23BFA441-EB64-4F6E-B39C-63DFC5E96874}" srcOrd="1" destOrd="0" parTransId="{FA5950AF-FA68-464A-A12D-E937A8C5D463}" sibTransId="{5C3BEE58-8490-4799-B4C6-B60BB8A4F70A}"/>
    <dgm:cxn modelId="{DD746EF9-3FB7-4B84-A2D4-4783B0A04509}" srcId="{AFD4F9F6-A823-4D3C-8385-317C982B711E}" destId="{3E27BA57-859B-4F74-B24E-5AF0A3023B7D}" srcOrd="3" destOrd="0" parTransId="{AEDF8B7D-F38D-4F7C-8B66-F59E21B82AB5}" sibTransId="{3FEB281C-D23E-4476-B22B-E510122CF374}"/>
    <dgm:cxn modelId="{E6603883-1FF3-4C49-89E9-814CCA902A4C}" type="presParOf" srcId="{A7EA9E84-5DE1-41B4-914C-430F532A2971}" destId="{9E6C5E8A-31BF-4D76-8C55-498CCE8CEEBC}" srcOrd="0" destOrd="0" presId="urn:microsoft.com/office/officeart/2008/layout/LinedList"/>
    <dgm:cxn modelId="{E6B87BE6-C009-4040-AFBF-8C0EC63F982B}" type="presParOf" srcId="{A7EA9E84-5DE1-41B4-914C-430F532A2971}" destId="{CA195A68-FAF6-4099-86A9-7F38B52CCDE6}" srcOrd="1" destOrd="0" presId="urn:microsoft.com/office/officeart/2008/layout/LinedList"/>
    <dgm:cxn modelId="{D6EBBFB2-CE43-44E2-87D6-803FD55E040B}" type="presParOf" srcId="{CA195A68-FAF6-4099-86A9-7F38B52CCDE6}" destId="{CC571682-2150-4F60-8831-D0F36246ED8C}" srcOrd="0" destOrd="0" presId="urn:microsoft.com/office/officeart/2008/layout/LinedList"/>
    <dgm:cxn modelId="{394B1CF2-A97A-43FC-805B-C6E8F24CC652}" type="presParOf" srcId="{CA195A68-FAF6-4099-86A9-7F38B52CCDE6}" destId="{27D57201-5C3C-4716-BE22-908C515A846C}" srcOrd="1" destOrd="0" presId="urn:microsoft.com/office/officeart/2008/layout/LinedList"/>
    <dgm:cxn modelId="{7AA56523-4E1B-443F-BC53-0DC98E50F74C}" type="presParOf" srcId="{A7EA9E84-5DE1-41B4-914C-430F532A2971}" destId="{34E81B83-9980-4B5E-BC69-C687EC46D940}" srcOrd="2" destOrd="0" presId="urn:microsoft.com/office/officeart/2008/layout/LinedList"/>
    <dgm:cxn modelId="{ED92EE16-C753-47C4-B0BD-99C278AC7BE9}" type="presParOf" srcId="{A7EA9E84-5DE1-41B4-914C-430F532A2971}" destId="{6159D5C7-8AAD-4E77-B9B1-19210E5D3F0A}" srcOrd="3" destOrd="0" presId="urn:microsoft.com/office/officeart/2008/layout/LinedList"/>
    <dgm:cxn modelId="{E53BF20C-E6E6-414E-A6C3-CE1554F96304}" type="presParOf" srcId="{6159D5C7-8AAD-4E77-B9B1-19210E5D3F0A}" destId="{3B418E51-0ACC-40CA-8222-96F46B0AE3CA}" srcOrd="0" destOrd="0" presId="urn:microsoft.com/office/officeart/2008/layout/LinedList"/>
    <dgm:cxn modelId="{BF952BA2-0436-4D2E-8057-3159CDA04EB5}" type="presParOf" srcId="{6159D5C7-8AAD-4E77-B9B1-19210E5D3F0A}" destId="{688AB317-3B19-4ED3-9CE6-255F0F6228BB}" srcOrd="1" destOrd="0" presId="urn:microsoft.com/office/officeart/2008/layout/LinedList"/>
    <dgm:cxn modelId="{DBF5E283-1970-4502-9B83-B3ACC74A2B24}" type="presParOf" srcId="{A7EA9E84-5DE1-41B4-914C-430F532A2971}" destId="{268DE670-63FF-4ACA-B2B8-3BC695B22573}" srcOrd="4" destOrd="0" presId="urn:microsoft.com/office/officeart/2008/layout/LinedList"/>
    <dgm:cxn modelId="{DC685EEF-4E90-4F09-94C1-804F5AC52E7C}" type="presParOf" srcId="{A7EA9E84-5DE1-41B4-914C-430F532A2971}" destId="{18209920-F498-45F1-A5E7-471F1B276BBB}" srcOrd="5" destOrd="0" presId="urn:microsoft.com/office/officeart/2008/layout/LinedList"/>
    <dgm:cxn modelId="{265ED4A6-BE39-432D-8A76-5750B2559313}" type="presParOf" srcId="{18209920-F498-45F1-A5E7-471F1B276BBB}" destId="{C1D36A61-469E-42A2-B8DE-35F72743E9A0}" srcOrd="0" destOrd="0" presId="urn:microsoft.com/office/officeart/2008/layout/LinedList"/>
    <dgm:cxn modelId="{B19831B3-49F7-4DBA-9C4D-F7724BC269B2}" type="presParOf" srcId="{18209920-F498-45F1-A5E7-471F1B276BBB}" destId="{556241C0-2F2E-4088-90C6-BE6ABF837181}" srcOrd="1" destOrd="0" presId="urn:microsoft.com/office/officeart/2008/layout/LinedList"/>
    <dgm:cxn modelId="{E31A10B2-4C06-443E-B6D1-F470352DBE90}" type="presParOf" srcId="{A7EA9E84-5DE1-41B4-914C-430F532A2971}" destId="{E497744C-442A-4D33-A4C7-3D18B632B323}" srcOrd="6" destOrd="0" presId="urn:microsoft.com/office/officeart/2008/layout/LinedList"/>
    <dgm:cxn modelId="{D20A934F-7CD6-4844-B687-62E9D7F1C61E}" type="presParOf" srcId="{A7EA9E84-5DE1-41B4-914C-430F532A2971}" destId="{9CB6787F-BEBC-4565-A821-B69AE81F6CEA}" srcOrd="7" destOrd="0" presId="urn:microsoft.com/office/officeart/2008/layout/LinedList"/>
    <dgm:cxn modelId="{ED9816B4-36CD-460F-871A-5D17F5F2E875}" type="presParOf" srcId="{9CB6787F-BEBC-4565-A821-B69AE81F6CEA}" destId="{862CCEF1-8689-48AF-9815-925368392004}" srcOrd="0" destOrd="0" presId="urn:microsoft.com/office/officeart/2008/layout/LinedList"/>
    <dgm:cxn modelId="{40566CA3-EE31-472F-AE07-890686B176AF}" type="presParOf" srcId="{9CB6787F-BEBC-4565-A821-B69AE81F6CEA}" destId="{02D5BF20-2911-46F5-BD68-15481B767F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7475D6-4025-4448-B632-2C488AC5B7C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44305D-BFC9-4770-9E0B-38B4ABB37D02}">
      <dgm:prSet/>
      <dgm:spPr/>
      <dgm:t>
        <a:bodyPr/>
        <a:lstStyle/>
        <a:p>
          <a:r>
            <a:rPr lang="es-ES" b="1" i="0"/>
            <a:t>Crecimiento Poblacional:</a:t>
          </a:r>
          <a:endParaRPr lang="en-US"/>
        </a:p>
      </dgm:t>
    </dgm:pt>
    <dgm:pt modelId="{B15EAB20-D9CA-4C11-8942-8AB0DE046CAE}" type="parTrans" cxnId="{213889D0-7B01-4119-B24D-FA608795A616}">
      <dgm:prSet/>
      <dgm:spPr/>
      <dgm:t>
        <a:bodyPr/>
        <a:lstStyle/>
        <a:p>
          <a:endParaRPr lang="en-US"/>
        </a:p>
      </dgm:t>
    </dgm:pt>
    <dgm:pt modelId="{4E4DDA28-06D9-4934-9CAD-9BC29886218B}" type="sibTrans" cxnId="{213889D0-7B01-4119-B24D-FA608795A616}">
      <dgm:prSet/>
      <dgm:spPr/>
      <dgm:t>
        <a:bodyPr/>
        <a:lstStyle/>
        <a:p>
          <a:endParaRPr lang="en-US"/>
        </a:p>
      </dgm:t>
    </dgm:pt>
    <dgm:pt modelId="{79C5621E-EFC3-417E-81ED-4DF0C9675029}">
      <dgm:prSet/>
      <dgm:spPr/>
      <dgm:t>
        <a:bodyPr/>
        <a:lstStyle/>
        <a:p>
          <a:r>
            <a:rPr lang="es-ES" b="0" i="0"/>
            <a:t>Duplicación de la población en el siglo XX (de casi 19 millones en 1900 a 40 millones en 2000).</a:t>
          </a:r>
          <a:endParaRPr lang="en-US"/>
        </a:p>
      </dgm:t>
    </dgm:pt>
    <dgm:pt modelId="{A7E5C3FE-2034-4442-8C5F-2FC0B3BA607C}" type="parTrans" cxnId="{DA36FEF2-84C9-4131-ABB9-2D6473AB16CF}">
      <dgm:prSet/>
      <dgm:spPr/>
      <dgm:t>
        <a:bodyPr/>
        <a:lstStyle/>
        <a:p>
          <a:endParaRPr lang="en-US"/>
        </a:p>
      </dgm:t>
    </dgm:pt>
    <dgm:pt modelId="{27886D42-3830-45A0-A538-D36392B7597A}" type="sibTrans" cxnId="{DA36FEF2-84C9-4131-ABB9-2D6473AB16CF}">
      <dgm:prSet/>
      <dgm:spPr/>
      <dgm:t>
        <a:bodyPr/>
        <a:lstStyle/>
        <a:p>
          <a:endParaRPr lang="en-US"/>
        </a:p>
      </dgm:t>
    </dgm:pt>
    <dgm:pt modelId="{0BCABD73-F127-4157-969E-316802C2FA70}">
      <dgm:prSet/>
      <dgm:spPr/>
      <dgm:t>
        <a:bodyPr/>
        <a:lstStyle/>
        <a:p>
          <a:r>
            <a:rPr lang="es-ES" b="0" i="0"/>
            <a:t>Brecha entre mortalidad y natalidad.</a:t>
          </a:r>
          <a:endParaRPr lang="en-US"/>
        </a:p>
      </dgm:t>
    </dgm:pt>
    <dgm:pt modelId="{34D93CBE-E7F6-4E42-B93E-4884FB79883D}" type="parTrans" cxnId="{CE67F5FF-530F-415B-B228-CD69795DB5BF}">
      <dgm:prSet/>
      <dgm:spPr/>
      <dgm:t>
        <a:bodyPr/>
        <a:lstStyle/>
        <a:p>
          <a:endParaRPr lang="en-US"/>
        </a:p>
      </dgm:t>
    </dgm:pt>
    <dgm:pt modelId="{44C5749D-59B8-4400-978A-780396A1D822}" type="sibTrans" cxnId="{CE67F5FF-530F-415B-B228-CD69795DB5BF}">
      <dgm:prSet/>
      <dgm:spPr/>
      <dgm:t>
        <a:bodyPr/>
        <a:lstStyle/>
        <a:p>
          <a:endParaRPr lang="en-US"/>
        </a:p>
      </dgm:t>
    </dgm:pt>
    <dgm:pt modelId="{DFEA54E7-BFDB-4219-A1EA-1C4D31399724}">
      <dgm:prSet/>
      <dgm:spPr/>
      <dgm:t>
        <a:bodyPr/>
        <a:lstStyle/>
        <a:p>
          <a:r>
            <a:rPr lang="es-ES" b="0" i="0"/>
            <a:t>Oscilaciones en el crecimiento vegetativo, actualmente en negativo.</a:t>
          </a:r>
          <a:endParaRPr lang="en-US"/>
        </a:p>
      </dgm:t>
    </dgm:pt>
    <dgm:pt modelId="{54961987-D400-43AD-B592-31D8D3E87CDE}" type="parTrans" cxnId="{E402565F-8FD4-4E3F-859E-594FDFBE101F}">
      <dgm:prSet/>
      <dgm:spPr/>
      <dgm:t>
        <a:bodyPr/>
        <a:lstStyle/>
        <a:p>
          <a:endParaRPr lang="en-US"/>
        </a:p>
      </dgm:t>
    </dgm:pt>
    <dgm:pt modelId="{0922B2DE-B7ED-442B-ABF6-6F5BA5090082}" type="sibTrans" cxnId="{E402565F-8FD4-4E3F-859E-594FDFBE101F}">
      <dgm:prSet/>
      <dgm:spPr/>
      <dgm:t>
        <a:bodyPr/>
        <a:lstStyle/>
        <a:p>
          <a:endParaRPr lang="en-US"/>
        </a:p>
      </dgm:t>
    </dgm:pt>
    <dgm:pt modelId="{75EBA9A1-244E-42B4-982A-2861A072BE83}">
      <dgm:prSet/>
      <dgm:spPr/>
      <dgm:t>
        <a:bodyPr/>
        <a:lstStyle/>
        <a:p>
          <a:r>
            <a:rPr lang="es-ES" b="1" i="0"/>
            <a:t>Transformación y Adaptación:</a:t>
          </a:r>
          <a:endParaRPr lang="en-US"/>
        </a:p>
      </dgm:t>
    </dgm:pt>
    <dgm:pt modelId="{F89019D4-6095-4BDC-BA8B-47C548C34463}" type="parTrans" cxnId="{CF1B6EAB-B3D0-44CA-A913-44FAFC779391}">
      <dgm:prSet/>
      <dgm:spPr/>
      <dgm:t>
        <a:bodyPr/>
        <a:lstStyle/>
        <a:p>
          <a:endParaRPr lang="en-US"/>
        </a:p>
      </dgm:t>
    </dgm:pt>
    <dgm:pt modelId="{D943F283-2323-4489-8D5D-3FB09BA3E9DA}" type="sibTrans" cxnId="{CF1B6EAB-B3D0-44CA-A913-44FAFC779391}">
      <dgm:prSet/>
      <dgm:spPr/>
      <dgm:t>
        <a:bodyPr/>
        <a:lstStyle/>
        <a:p>
          <a:endParaRPr lang="en-US"/>
        </a:p>
      </dgm:t>
    </dgm:pt>
    <dgm:pt modelId="{B65853B1-BA28-41BD-AABC-D395BDB910DF}">
      <dgm:prSet/>
      <dgm:spPr/>
      <dgm:t>
        <a:bodyPr/>
        <a:lstStyle/>
        <a:p>
          <a:r>
            <a:rPr lang="es-ES" b="0" i="0"/>
            <a:t>Cambios revelan transformación en pautas tradicionales.</a:t>
          </a:r>
          <a:endParaRPr lang="en-US"/>
        </a:p>
      </dgm:t>
    </dgm:pt>
    <dgm:pt modelId="{82E30A64-FD0E-4E81-B801-1EDFF194B96C}" type="parTrans" cxnId="{58190958-ADB4-452A-A785-A16B51032DCF}">
      <dgm:prSet/>
      <dgm:spPr/>
      <dgm:t>
        <a:bodyPr/>
        <a:lstStyle/>
        <a:p>
          <a:endParaRPr lang="en-US"/>
        </a:p>
      </dgm:t>
    </dgm:pt>
    <dgm:pt modelId="{FF782A37-1324-4BC3-B25A-D5CB3D19095F}" type="sibTrans" cxnId="{58190958-ADB4-452A-A785-A16B51032DCF}">
      <dgm:prSet/>
      <dgm:spPr/>
      <dgm:t>
        <a:bodyPr/>
        <a:lstStyle/>
        <a:p>
          <a:endParaRPr lang="en-US"/>
        </a:p>
      </dgm:t>
    </dgm:pt>
    <dgm:pt modelId="{98805A4A-8C9D-448E-AAEE-CE1E510F193D}">
      <dgm:prSet/>
      <dgm:spPr/>
      <dgm:t>
        <a:bodyPr/>
        <a:lstStyle/>
        <a:p>
          <a:r>
            <a:rPr lang="es-ES" b="0" i="0"/>
            <a:t>España se adapta a características de países desarrollados.</a:t>
          </a:r>
          <a:endParaRPr lang="en-US"/>
        </a:p>
      </dgm:t>
    </dgm:pt>
    <dgm:pt modelId="{D163B992-8308-4EE9-BC18-FE438127B9C4}" type="parTrans" cxnId="{8FBA901C-0F52-4BD8-ACF6-F869FD5CAC28}">
      <dgm:prSet/>
      <dgm:spPr/>
      <dgm:t>
        <a:bodyPr/>
        <a:lstStyle/>
        <a:p>
          <a:endParaRPr lang="en-US"/>
        </a:p>
      </dgm:t>
    </dgm:pt>
    <dgm:pt modelId="{504FFFF8-49E9-4CA3-9CDB-FFFE65415D63}" type="sibTrans" cxnId="{8FBA901C-0F52-4BD8-ACF6-F869FD5CAC28}">
      <dgm:prSet/>
      <dgm:spPr/>
      <dgm:t>
        <a:bodyPr/>
        <a:lstStyle/>
        <a:p>
          <a:endParaRPr lang="en-US"/>
        </a:p>
      </dgm:t>
    </dgm:pt>
    <dgm:pt modelId="{5D55048F-9CB7-4B67-BEF2-3A7D99D9B376}">
      <dgm:prSet/>
      <dgm:spPr/>
      <dgm:t>
        <a:bodyPr/>
        <a:lstStyle/>
        <a:p>
          <a:r>
            <a:rPr lang="es-ES" b="0" i="0"/>
            <a:t>Panorama actual: baja natalidad, elevada esperanza de vida, envejecimiento y crecimiento vegetativo negativo desde 2017.</a:t>
          </a:r>
          <a:endParaRPr lang="en-US"/>
        </a:p>
      </dgm:t>
    </dgm:pt>
    <dgm:pt modelId="{4332FEC6-D484-4FBC-908D-1402440E742C}" type="parTrans" cxnId="{0D2FE5BD-FF0A-4978-BCCC-2B0AAB371087}">
      <dgm:prSet/>
      <dgm:spPr/>
      <dgm:t>
        <a:bodyPr/>
        <a:lstStyle/>
        <a:p>
          <a:endParaRPr lang="en-US"/>
        </a:p>
      </dgm:t>
    </dgm:pt>
    <dgm:pt modelId="{16FD4C2A-AC91-423D-9DB3-F0C0AE40A960}" type="sibTrans" cxnId="{0D2FE5BD-FF0A-4978-BCCC-2B0AAB371087}">
      <dgm:prSet/>
      <dgm:spPr/>
      <dgm:t>
        <a:bodyPr/>
        <a:lstStyle/>
        <a:p>
          <a:endParaRPr lang="en-US"/>
        </a:p>
      </dgm:t>
    </dgm:pt>
    <dgm:pt modelId="{1B80219B-77D8-451F-9852-44FA75A6CC70}" type="pres">
      <dgm:prSet presAssocID="{C97475D6-4025-4448-B632-2C488AC5B7C5}" presName="linear" presStyleCnt="0">
        <dgm:presLayoutVars>
          <dgm:animLvl val="lvl"/>
          <dgm:resizeHandles val="exact"/>
        </dgm:presLayoutVars>
      </dgm:prSet>
      <dgm:spPr/>
    </dgm:pt>
    <dgm:pt modelId="{1251BEAE-322A-4AA8-B203-82AC1C6D1C40}" type="pres">
      <dgm:prSet presAssocID="{5C44305D-BFC9-4770-9E0B-38B4ABB37D0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DBCEC6-41D3-4FEA-89F1-2A1FBDC8DF1E}" type="pres">
      <dgm:prSet presAssocID="{5C44305D-BFC9-4770-9E0B-38B4ABB37D02}" presName="childText" presStyleLbl="revTx" presStyleIdx="0" presStyleCnt="2">
        <dgm:presLayoutVars>
          <dgm:bulletEnabled val="1"/>
        </dgm:presLayoutVars>
      </dgm:prSet>
      <dgm:spPr/>
    </dgm:pt>
    <dgm:pt modelId="{6F0DDDBD-0995-468C-86F7-8ED13FD4BD9C}" type="pres">
      <dgm:prSet presAssocID="{75EBA9A1-244E-42B4-982A-2861A072BE8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CC5577-C63D-416E-8DD0-6B4DD049724B}" type="pres">
      <dgm:prSet presAssocID="{75EBA9A1-244E-42B4-982A-2861A072BE8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111810F-9D9B-4A7E-94D9-6B61066058A1}" type="presOf" srcId="{75EBA9A1-244E-42B4-982A-2861A072BE83}" destId="{6F0DDDBD-0995-468C-86F7-8ED13FD4BD9C}" srcOrd="0" destOrd="0" presId="urn:microsoft.com/office/officeart/2005/8/layout/vList2"/>
    <dgm:cxn modelId="{45132415-2F31-4C7F-8CE9-7B08CAA4B31F}" type="presOf" srcId="{5C44305D-BFC9-4770-9E0B-38B4ABB37D02}" destId="{1251BEAE-322A-4AA8-B203-82AC1C6D1C40}" srcOrd="0" destOrd="0" presId="urn:microsoft.com/office/officeart/2005/8/layout/vList2"/>
    <dgm:cxn modelId="{1F96C815-680F-4F09-BA9A-68614C2326A1}" type="presOf" srcId="{5D55048F-9CB7-4B67-BEF2-3A7D99D9B376}" destId="{00CC5577-C63D-416E-8DD0-6B4DD049724B}" srcOrd="0" destOrd="2" presId="urn:microsoft.com/office/officeart/2005/8/layout/vList2"/>
    <dgm:cxn modelId="{A666611C-B580-4D8B-B7BC-445B0BB87CE2}" type="presOf" srcId="{79C5621E-EFC3-417E-81ED-4DF0C9675029}" destId="{C2DBCEC6-41D3-4FEA-89F1-2A1FBDC8DF1E}" srcOrd="0" destOrd="0" presId="urn:microsoft.com/office/officeart/2005/8/layout/vList2"/>
    <dgm:cxn modelId="{8FBA901C-0F52-4BD8-ACF6-F869FD5CAC28}" srcId="{75EBA9A1-244E-42B4-982A-2861A072BE83}" destId="{98805A4A-8C9D-448E-AAEE-CE1E510F193D}" srcOrd="1" destOrd="0" parTransId="{D163B992-8308-4EE9-BC18-FE438127B9C4}" sibTransId="{504FFFF8-49E9-4CA3-9CDB-FFFE65415D63}"/>
    <dgm:cxn modelId="{9F873E27-6053-4923-8BCE-A5B047A3B020}" type="presOf" srcId="{0BCABD73-F127-4157-969E-316802C2FA70}" destId="{C2DBCEC6-41D3-4FEA-89F1-2A1FBDC8DF1E}" srcOrd="0" destOrd="1" presId="urn:microsoft.com/office/officeart/2005/8/layout/vList2"/>
    <dgm:cxn modelId="{E402565F-8FD4-4E3F-859E-594FDFBE101F}" srcId="{5C44305D-BFC9-4770-9E0B-38B4ABB37D02}" destId="{DFEA54E7-BFDB-4219-A1EA-1C4D31399724}" srcOrd="2" destOrd="0" parTransId="{54961987-D400-43AD-B592-31D8D3E87CDE}" sibTransId="{0922B2DE-B7ED-442B-ABF6-6F5BA5090082}"/>
    <dgm:cxn modelId="{FD9F0956-ABFD-4506-B0B8-EAA09D1CFEF6}" type="presOf" srcId="{C97475D6-4025-4448-B632-2C488AC5B7C5}" destId="{1B80219B-77D8-451F-9852-44FA75A6CC70}" srcOrd="0" destOrd="0" presId="urn:microsoft.com/office/officeart/2005/8/layout/vList2"/>
    <dgm:cxn modelId="{58190958-ADB4-452A-A785-A16B51032DCF}" srcId="{75EBA9A1-244E-42B4-982A-2861A072BE83}" destId="{B65853B1-BA28-41BD-AABC-D395BDB910DF}" srcOrd="0" destOrd="0" parTransId="{82E30A64-FD0E-4E81-B801-1EDFF194B96C}" sibTransId="{FF782A37-1324-4BC3-B25A-D5CB3D19095F}"/>
    <dgm:cxn modelId="{CF1B6EAB-B3D0-44CA-A913-44FAFC779391}" srcId="{C97475D6-4025-4448-B632-2C488AC5B7C5}" destId="{75EBA9A1-244E-42B4-982A-2861A072BE83}" srcOrd="1" destOrd="0" parTransId="{F89019D4-6095-4BDC-BA8B-47C548C34463}" sibTransId="{D943F283-2323-4489-8D5D-3FB09BA3E9DA}"/>
    <dgm:cxn modelId="{0D2FE5BD-FF0A-4978-BCCC-2B0AAB371087}" srcId="{75EBA9A1-244E-42B4-982A-2861A072BE83}" destId="{5D55048F-9CB7-4B67-BEF2-3A7D99D9B376}" srcOrd="2" destOrd="0" parTransId="{4332FEC6-D484-4FBC-908D-1402440E742C}" sibTransId="{16FD4C2A-AC91-423D-9DB3-F0C0AE40A960}"/>
    <dgm:cxn modelId="{51A363CF-AE4C-4D76-916D-BB4F86EFFCD7}" type="presOf" srcId="{B65853B1-BA28-41BD-AABC-D395BDB910DF}" destId="{00CC5577-C63D-416E-8DD0-6B4DD049724B}" srcOrd="0" destOrd="0" presId="urn:microsoft.com/office/officeart/2005/8/layout/vList2"/>
    <dgm:cxn modelId="{213889D0-7B01-4119-B24D-FA608795A616}" srcId="{C97475D6-4025-4448-B632-2C488AC5B7C5}" destId="{5C44305D-BFC9-4770-9E0B-38B4ABB37D02}" srcOrd="0" destOrd="0" parTransId="{B15EAB20-D9CA-4C11-8942-8AB0DE046CAE}" sibTransId="{4E4DDA28-06D9-4934-9CAD-9BC29886218B}"/>
    <dgm:cxn modelId="{EC2251EE-3EAF-45CB-9B31-3BDAE461206A}" type="presOf" srcId="{98805A4A-8C9D-448E-AAEE-CE1E510F193D}" destId="{00CC5577-C63D-416E-8DD0-6B4DD049724B}" srcOrd="0" destOrd="1" presId="urn:microsoft.com/office/officeart/2005/8/layout/vList2"/>
    <dgm:cxn modelId="{DA36FEF2-84C9-4131-ABB9-2D6473AB16CF}" srcId="{5C44305D-BFC9-4770-9E0B-38B4ABB37D02}" destId="{79C5621E-EFC3-417E-81ED-4DF0C9675029}" srcOrd="0" destOrd="0" parTransId="{A7E5C3FE-2034-4442-8C5F-2FC0B3BA607C}" sibTransId="{27886D42-3830-45A0-A538-D36392B7597A}"/>
    <dgm:cxn modelId="{02B720F5-15AC-4596-B13C-F3BA7A3F981A}" type="presOf" srcId="{DFEA54E7-BFDB-4219-A1EA-1C4D31399724}" destId="{C2DBCEC6-41D3-4FEA-89F1-2A1FBDC8DF1E}" srcOrd="0" destOrd="2" presId="urn:microsoft.com/office/officeart/2005/8/layout/vList2"/>
    <dgm:cxn modelId="{CE67F5FF-530F-415B-B228-CD69795DB5BF}" srcId="{5C44305D-BFC9-4770-9E0B-38B4ABB37D02}" destId="{0BCABD73-F127-4157-969E-316802C2FA70}" srcOrd="1" destOrd="0" parTransId="{34D93CBE-E7F6-4E42-B93E-4884FB79883D}" sibTransId="{44C5749D-59B8-4400-978A-780396A1D822}"/>
    <dgm:cxn modelId="{06B0FA29-CF71-41B8-92F1-3D4FA771F359}" type="presParOf" srcId="{1B80219B-77D8-451F-9852-44FA75A6CC70}" destId="{1251BEAE-322A-4AA8-B203-82AC1C6D1C40}" srcOrd="0" destOrd="0" presId="urn:microsoft.com/office/officeart/2005/8/layout/vList2"/>
    <dgm:cxn modelId="{4A425C93-4A3D-4FFC-B821-A505A7579AF9}" type="presParOf" srcId="{1B80219B-77D8-451F-9852-44FA75A6CC70}" destId="{C2DBCEC6-41D3-4FEA-89F1-2A1FBDC8DF1E}" srcOrd="1" destOrd="0" presId="urn:microsoft.com/office/officeart/2005/8/layout/vList2"/>
    <dgm:cxn modelId="{800FB261-A21D-4AD4-ADF4-1F458BD89278}" type="presParOf" srcId="{1B80219B-77D8-451F-9852-44FA75A6CC70}" destId="{6F0DDDBD-0995-468C-86F7-8ED13FD4BD9C}" srcOrd="2" destOrd="0" presId="urn:microsoft.com/office/officeart/2005/8/layout/vList2"/>
    <dgm:cxn modelId="{8C6ED20F-F910-43D3-8148-05C6CF38354A}" type="presParOf" srcId="{1B80219B-77D8-451F-9852-44FA75A6CC70}" destId="{00CC5577-C63D-416E-8DD0-6B4DD049724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9744DF-2CEC-4D7D-BE3B-C2CD520F82B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BD5F89-FF37-492B-B567-60A9E6660A3C}">
      <dgm:prSet custT="1"/>
      <dgm:spPr/>
      <dgm:t>
        <a:bodyPr/>
        <a:lstStyle/>
        <a:p>
          <a:r>
            <a:rPr lang="es-ES" sz="2800" b="1" i="0"/>
            <a:t>Movimientos Migratorios:</a:t>
          </a:r>
          <a:endParaRPr lang="en-US" sz="2800"/>
        </a:p>
      </dgm:t>
    </dgm:pt>
    <dgm:pt modelId="{7C6E1149-1469-443F-B61A-B866C9CAC35C}" type="parTrans" cxnId="{17494B5F-735B-432F-884D-3018D83F6C2B}">
      <dgm:prSet/>
      <dgm:spPr/>
      <dgm:t>
        <a:bodyPr/>
        <a:lstStyle/>
        <a:p>
          <a:endParaRPr lang="en-US" sz="1400"/>
        </a:p>
      </dgm:t>
    </dgm:pt>
    <dgm:pt modelId="{A9BB0DC1-AFB3-4B83-9A3A-76DAB195BE3B}" type="sibTrans" cxnId="{17494B5F-735B-432F-884D-3018D83F6C2B}">
      <dgm:prSet/>
      <dgm:spPr/>
      <dgm:t>
        <a:bodyPr/>
        <a:lstStyle/>
        <a:p>
          <a:endParaRPr lang="en-US" sz="1400"/>
        </a:p>
      </dgm:t>
    </dgm:pt>
    <dgm:pt modelId="{27133068-CD3E-40D3-A110-05EA45D44489}">
      <dgm:prSet custT="1"/>
      <dgm:spPr/>
      <dgm:t>
        <a:bodyPr/>
        <a:lstStyle/>
        <a:p>
          <a:r>
            <a:rPr lang="es-ES" sz="2000" b="0" i="0" dirty="0"/>
            <a:t>Segundo efecto importante en la estructura demográfica de España.</a:t>
          </a:r>
          <a:endParaRPr lang="en-US" sz="2000" dirty="0"/>
        </a:p>
      </dgm:t>
    </dgm:pt>
    <dgm:pt modelId="{DA54D71C-326D-47A2-BF81-B7C6A14649C6}" type="parTrans" cxnId="{018C13A8-5F37-46C4-ACA8-B54B065FC8E8}">
      <dgm:prSet/>
      <dgm:spPr/>
      <dgm:t>
        <a:bodyPr/>
        <a:lstStyle/>
        <a:p>
          <a:endParaRPr lang="en-US" sz="1400"/>
        </a:p>
      </dgm:t>
    </dgm:pt>
    <dgm:pt modelId="{880A6CFF-4F32-4E5A-8D6F-CDE3E24B3393}" type="sibTrans" cxnId="{018C13A8-5F37-46C4-ACA8-B54B065FC8E8}">
      <dgm:prSet/>
      <dgm:spPr/>
      <dgm:t>
        <a:bodyPr/>
        <a:lstStyle/>
        <a:p>
          <a:endParaRPr lang="en-US" sz="1400"/>
        </a:p>
      </dgm:t>
    </dgm:pt>
    <dgm:pt modelId="{023CC873-AB7A-4164-A47D-120CDC3A3FE0}">
      <dgm:prSet custT="1"/>
      <dgm:spPr/>
      <dgm:t>
        <a:bodyPr/>
        <a:lstStyle/>
        <a:p>
          <a:r>
            <a:rPr lang="es-ES" sz="2000" b="0" i="0"/>
            <a:t>Cambios cualitativos en las migraciones interiores y exteriores.</a:t>
          </a:r>
          <a:endParaRPr lang="en-US" sz="2000"/>
        </a:p>
      </dgm:t>
    </dgm:pt>
    <dgm:pt modelId="{D6B8DEF0-D41B-4A2A-AC41-14904247737A}" type="parTrans" cxnId="{506A4956-8D44-400E-A094-B54955C1383F}">
      <dgm:prSet/>
      <dgm:spPr/>
      <dgm:t>
        <a:bodyPr/>
        <a:lstStyle/>
        <a:p>
          <a:endParaRPr lang="en-US" sz="1400"/>
        </a:p>
      </dgm:t>
    </dgm:pt>
    <dgm:pt modelId="{25A065C4-582E-41FF-960D-5D6D2CDCA0C2}" type="sibTrans" cxnId="{506A4956-8D44-400E-A094-B54955C1383F}">
      <dgm:prSet/>
      <dgm:spPr/>
      <dgm:t>
        <a:bodyPr/>
        <a:lstStyle/>
        <a:p>
          <a:endParaRPr lang="en-US" sz="1400"/>
        </a:p>
      </dgm:t>
    </dgm:pt>
    <dgm:pt modelId="{10A037F4-1819-498C-AE1B-89450A4536F8}">
      <dgm:prSet custT="1"/>
      <dgm:spPr/>
      <dgm:t>
        <a:bodyPr/>
        <a:lstStyle/>
        <a:p>
          <a:r>
            <a:rPr lang="es-ES" sz="2800" b="1" i="0"/>
            <a:t>Inversión de Flujos Migratorios:</a:t>
          </a:r>
          <a:endParaRPr lang="en-US" sz="2800"/>
        </a:p>
      </dgm:t>
    </dgm:pt>
    <dgm:pt modelId="{DE3323C0-56C9-40E7-B1C7-D558E9ED251E}" type="parTrans" cxnId="{8162521C-D8E1-4363-B15B-D89287A8B6FE}">
      <dgm:prSet/>
      <dgm:spPr/>
      <dgm:t>
        <a:bodyPr/>
        <a:lstStyle/>
        <a:p>
          <a:endParaRPr lang="en-US" sz="1400"/>
        </a:p>
      </dgm:t>
    </dgm:pt>
    <dgm:pt modelId="{2D5527EA-6D4A-432B-8BCB-C02E27580BA0}" type="sibTrans" cxnId="{8162521C-D8E1-4363-B15B-D89287A8B6FE}">
      <dgm:prSet/>
      <dgm:spPr/>
      <dgm:t>
        <a:bodyPr/>
        <a:lstStyle/>
        <a:p>
          <a:endParaRPr lang="en-US" sz="1400"/>
        </a:p>
      </dgm:t>
    </dgm:pt>
    <dgm:pt modelId="{9AA23B94-B63F-450A-BE57-49695E7FAEAB}">
      <dgm:prSet custT="1"/>
      <dgm:spPr/>
      <dgm:t>
        <a:bodyPr/>
        <a:lstStyle/>
        <a:p>
          <a:r>
            <a:rPr lang="es-ES" sz="2000" b="0" i="0"/>
            <a:t>España cambió de país de emigración a país de inmigración en la última década.</a:t>
          </a:r>
          <a:endParaRPr lang="en-US" sz="2000"/>
        </a:p>
      </dgm:t>
    </dgm:pt>
    <dgm:pt modelId="{86D58C39-2546-4B1B-BF93-1B7EBC09D77A}" type="parTrans" cxnId="{BD82104B-087C-4759-8D51-19EB545FE3AC}">
      <dgm:prSet/>
      <dgm:spPr/>
      <dgm:t>
        <a:bodyPr/>
        <a:lstStyle/>
        <a:p>
          <a:endParaRPr lang="en-US" sz="1400"/>
        </a:p>
      </dgm:t>
    </dgm:pt>
    <dgm:pt modelId="{CF27624D-A5F8-4A9A-8523-57F33B85D050}" type="sibTrans" cxnId="{BD82104B-087C-4759-8D51-19EB545FE3AC}">
      <dgm:prSet/>
      <dgm:spPr/>
      <dgm:t>
        <a:bodyPr/>
        <a:lstStyle/>
        <a:p>
          <a:endParaRPr lang="en-US" sz="1400"/>
        </a:p>
      </dgm:t>
    </dgm:pt>
    <dgm:pt modelId="{2A838D86-5C94-4D02-A2D8-86134C1A7E0B}">
      <dgm:prSet custT="1"/>
      <dgm:spPr/>
      <dgm:t>
        <a:bodyPr/>
        <a:lstStyle/>
        <a:p>
          <a:r>
            <a:rPr lang="es-ES" sz="2000" b="0" i="0"/>
            <a:t>Factores: libre circulación en la UE, atractivo como lugar de residencia.</a:t>
          </a:r>
          <a:endParaRPr lang="en-US" sz="2000"/>
        </a:p>
      </dgm:t>
    </dgm:pt>
    <dgm:pt modelId="{A2944928-F182-4F31-ADB1-B0AAEAF17D9A}" type="parTrans" cxnId="{0866921D-0A9B-451D-9F5A-52388C07D837}">
      <dgm:prSet/>
      <dgm:spPr/>
      <dgm:t>
        <a:bodyPr/>
        <a:lstStyle/>
        <a:p>
          <a:endParaRPr lang="en-US" sz="1400"/>
        </a:p>
      </dgm:t>
    </dgm:pt>
    <dgm:pt modelId="{737580C0-3AA0-4C73-9DA1-DFBFE566B4D0}" type="sibTrans" cxnId="{0866921D-0A9B-451D-9F5A-52388C07D837}">
      <dgm:prSet/>
      <dgm:spPr/>
      <dgm:t>
        <a:bodyPr/>
        <a:lstStyle/>
        <a:p>
          <a:endParaRPr lang="en-US" sz="1400"/>
        </a:p>
      </dgm:t>
    </dgm:pt>
    <dgm:pt modelId="{A4D9CB4F-C350-4EDF-A607-F27792D00E17}" type="pres">
      <dgm:prSet presAssocID="{559744DF-2CEC-4D7D-BE3B-C2CD520F82B9}" presName="linear" presStyleCnt="0">
        <dgm:presLayoutVars>
          <dgm:animLvl val="lvl"/>
          <dgm:resizeHandles val="exact"/>
        </dgm:presLayoutVars>
      </dgm:prSet>
      <dgm:spPr/>
    </dgm:pt>
    <dgm:pt modelId="{F5B72EBE-E3DC-4BB0-9B07-9ABFA1BDB849}" type="pres">
      <dgm:prSet presAssocID="{31BD5F89-FF37-492B-B567-60A9E6660A3C}" presName="parentText" presStyleLbl="node1" presStyleIdx="0" presStyleCnt="2" custScaleY="53825">
        <dgm:presLayoutVars>
          <dgm:chMax val="0"/>
          <dgm:bulletEnabled val="1"/>
        </dgm:presLayoutVars>
      </dgm:prSet>
      <dgm:spPr/>
    </dgm:pt>
    <dgm:pt modelId="{50387584-65DC-4B37-974D-A12EA5A6790B}" type="pres">
      <dgm:prSet presAssocID="{31BD5F89-FF37-492B-B567-60A9E6660A3C}" presName="childText" presStyleLbl="revTx" presStyleIdx="0" presStyleCnt="2">
        <dgm:presLayoutVars>
          <dgm:bulletEnabled val="1"/>
        </dgm:presLayoutVars>
      </dgm:prSet>
      <dgm:spPr/>
    </dgm:pt>
    <dgm:pt modelId="{9E47C4C9-4D93-4053-81A8-57EA3CFAC2BC}" type="pres">
      <dgm:prSet presAssocID="{10A037F4-1819-498C-AE1B-89450A4536F8}" presName="parentText" presStyleLbl="node1" presStyleIdx="1" presStyleCnt="2" custScaleY="67126">
        <dgm:presLayoutVars>
          <dgm:chMax val="0"/>
          <dgm:bulletEnabled val="1"/>
        </dgm:presLayoutVars>
      </dgm:prSet>
      <dgm:spPr/>
    </dgm:pt>
    <dgm:pt modelId="{DF5AA497-76E1-404E-9058-6B440675D8E8}" type="pres">
      <dgm:prSet presAssocID="{10A037F4-1819-498C-AE1B-89450A4536F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DF9E302-1661-4610-ACDA-BD4407FD6B4F}" type="presOf" srcId="{31BD5F89-FF37-492B-B567-60A9E6660A3C}" destId="{F5B72EBE-E3DC-4BB0-9B07-9ABFA1BDB849}" srcOrd="0" destOrd="0" presId="urn:microsoft.com/office/officeart/2005/8/layout/vList2"/>
    <dgm:cxn modelId="{8162521C-D8E1-4363-B15B-D89287A8B6FE}" srcId="{559744DF-2CEC-4D7D-BE3B-C2CD520F82B9}" destId="{10A037F4-1819-498C-AE1B-89450A4536F8}" srcOrd="1" destOrd="0" parTransId="{DE3323C0-56C9-40E7-B1C7-D558E9ED251E}" sibTransId="{2D5527EA-6D4A-432B-8BCB-C02E27580BA0}"/>
    <dgm:cxn modelId="{0866921D-0A9B-451D-9F5A-52388C07D837}" srcId="{10A037F4-1819-498C-AE1B-89450A4536F8}" destId="{2A838D86-5C94-4D02-A2D8-86134C1A7E0B}" srcOrd="1" destOrd="0" parTransId="{A2944928-F182-4F31-ADB1-B0AAEAF17D9A}" sibTransId="{737580C0-3AA0-4C73-9DA1-DFBFE566B4D0}"/>
    <dgm:cxn modelId="{C4996D36-3C03-437A-9FCC-483FE9A1DECE}" type="presOf" srcId="{559744DF-2CEC-4D7D-BE3B-C2CD520F82B9}" destId="{A4D9CB4F-C350-4EDF-A607-F27792D00E17}" srcOrd="0" destOrd="0" presId="urn:microsoft.com/office/officeart/2005/8/layout/vList2"/>
    <dgm:cxn modelId="{014F5438-ACD6-4611-AF99-A92AA97C04D0}" type="presOf" srcId="{27133068-CD3E-40D3-A110-05EA45D44489}" destId="{50387584-65DC-4B37-974D-A12EA5A6790B}" srcOrd="0" destOrd="0" presId="urn:microsoft.com/office/officeart/2005/8/layout/vList2"/>
    <dgm:cxn modelId="{17494B5F-735B-432F-884D-3018D83F6C2B}" srcId="{559744DF-2CEC-4D7D-BE3B-C2CD520F82B9}" destId="{31BD5F89-FF37-492B-B567-60A9E6660A3C}" srcOrd="0" destOrd="0" parTransId="{7C6E1149-1469-443F-B61A-B866C9CAC35C}" sibTransId="{A9BB0DC1-AFB3-4B83-9A3A-76DAB195BE3B}"/>
    <dgm:cxn modelId="{36390D66-24A5-4E3A-8F0F-33DACC5CB1AC}" type="presOf" srcId="{2A838D86-5C94-4D02-A2D8-86134C1A7E0B}" destId="{DF5AA497-76E1-404E-9058-6B440675D8E8}" srcOrd="0" destOrd="1" presId="urn:microsoft.com/office/officeart/2005/8/layout/vList2"/>
    <dgm:cxn modelId="{D2263246-A99F-4B5F-BC3B-9FC7352C42E7}" type="presOf" srcId="{10A037F4-1819-498C-AE1B-89450A4536F8}" destId="{9E47C4C9-4D93-4053-81A8-57EA3CFAC2BC}" srcOrd="0" destOrd="0" presId="urn:microsoft.com/office/officeart/2005/8/layout/vList2"/>
    <dgm:cxn modelId="{BD82104B-087C-4759-8D51-19EB545FE3AC}" srcId="{10A037F4-1819-498C-AE1B-89450A4536F8}" destId="{9AA23B94-B63F-450A-BE57-49695E7FAEAB}" srcOrd="0" destOrd="0" parTransId="{86D58C39-2546-4B1B-BF93-1B7EBC09D77A}" sibTransId="{CF27624D-A5F8-4A9A-8523-57F33B85D050}"/>
    <dgm:cxn modelId="{506A4956-8D44-400E-A094-B54955C1383F}" srcId="{31BD5F89-FF37-492B-B567-60A9E6660A3C}" destId="{023CC873-AB7A-4164-A47D-120CDC3A3FE0}" srcOrd="1" destOrd="0" parTransId="{D6B8DEF0-D41B-4A2A-AC41-14904247737A}" sibTransId="{25A065C4-582E-41FF-960D-5D6D2CDCA0C2}"/>
    <dgm:cxn modelId="{BA7A8C96-0035-4A9B-89B7-9E53CEFD7A7E}" type="presOf" srcId="{023CC873-AB7A-4164-A47D-120CDC3A3FE0}" destId="{50387584-65DC-4B37-974D-A12EA5A6790B}" srcOrd="0" destOrd="1" presId="urn:microsoft.com/office/officeart/2005/8/layout/vList2"/>
    <dgm:cxn modelId="{018C13A8-5F37-46C4-ACA8-B54B065FC8E8}" srcId="{31BD5F89-FF37-492B-B567-60A9E6660A3C}" destId="{27133068-CD3E-40D3-A110-05EA45D44489}" srcOrd="0" destOrd="0" parTransId="{DA54D71C-326D-47A2-BF81-B7C6A14649C6}" sibTransId="{880A6CFF-4F32-4E5A-8D6F-CDE3E24B3393}"/>
    <dgm:cxn modelId="{C79ABDC8-1F06-4042-B160-6EDBC2FF8D37}" type="presOf" srcId="{9AA23B94-B63F-450A-BE57-49695E7FAEAB}" destId="{DF5AA497-76E1-404E-9058-6B440675D8E8}" srcOrd="0" destOrd="0" presId="urn:microsoft.com/office/officeart/2005/8/layout/vList2"/>
    <dgm:cxn modelId="{DF6E2D65-D511-4EFA-93DE-62FDEF3F0C2F}" type="presParOf" srcId="{A4D9CB4F-C350-4EDF-A607-F27792D00E17}" destId="{F5B72EBE-E3DC-4BB0-9B07-9ABFA1BDB849}" srcOrd="0" destOrd="0" presId="urn:microsoft.com/office/officeart/2005/8/layout/vList2"/>
    <dgm:cxn modelId="{8EA3FD38-8CE6-4F2E-A807-46BC7398D17B}" type="presParOf" srcId="{A4D9CB4F-C350-4EDF-A607-F27792D00E17}" destId="{50387584-65DC-4B37-974D-A12EA5A6790B}" srcOrd="1" destOrd="0" presId="urn:microsoft.com/office/officeart/2005/8/layout/vList2"/>
    <dgm:cxn modelId="{5BC99019-4A4C-4EDA-A0A2-6EB55BBFAFC7}" type="presParOf" srcId="{A4D9CB4F-C350-4EDF-A607-F27792D00E17}" destId="{9E47C4C9-4D93-4053-81A8-57EA3CFAC2BC}" srcOrd="2" destOrd="0" presId="urn:microsoft.com/office/officeart/2005/8/layout/vList2"/>
    <dgm:cxn modelId="{9936C0EE-968B-434A-930B-6F780803E6B4}" type="presParOf" srcId="{A4D9CB4F-C350-4EDF-A607-F27792D00E17}" destId="{DF5AA497-76E1-404E-9058-6B440675D8E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DBD9ED-79C7-44CF-969E-88A97C40C93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5AEFF1-AA92-4FEB-BB72-3560F73232CB}">
      <dgm:prSet/>
      <dgm:spPr/>
      <dgm:t>
        <a:bodyPr/>
        <a:lstStyle/>
        <a:p>
          <a:r>
            <a:rPr lang="es-ES" b="1" i="0"/>
            <a:t>Crecimiento Sobresaliente:</a:t>
          </a:r>
          <a:endParaRPr lang="en-US"/>
        </a:p>
      </dgm:t>
    </dgm:pt>
    <dgm:pt modelId="{7FB0F8D3-DAA6-45F1-8394-E386D9B4D8E6}" type="parTrans" cxnId="{F752ECA4-2941-4694-B42A-3FB60A5F1073}">
      <dgm:prSet/>
      <dgm:spPr/>
      <dgm:t>
        <a:bodyPr/>
        <a:lstStyle/>
        <a:p>
          <a:endParaRPr lang="en-US"/>
        </a:p>
      </dgm:t>
    </dgm:pt>
    <dgm:pt modelId="{A4F49327-0F65-421C-B5B6-16A7A3AE333D}" type="sibTrans" cxnId="{F752ECA4-2941-4694-B42A-3FB60A5F1073}">
      <dgm:prSet/>
      <dgm:spPr/>
      <dgm:t>
        <a:bodyPr/>
        <a:lstStyle/>
        <a:p>
          <a:endParaRPr lang="en-US"/>
        </a:p>
      </dgm:t>
    </dgm:pt>
    <dgm:pt modelId="{9BF75DB4-CAE9-4A57-83E0-8CFD7D22D191}">
      <dgm:prSet/>
      <dgm:spPr/>
      <dgm:t>
        <a:bodyPr/>
        <a:lstStyle/>
        <a:p>
          <a:r>
            <a:rPr lang="es-ES" b="0" i="0"/>
            <a:t>Inmigración joven durante la década de 2000.</a:t>
          </a:r>
          <a:endParaRPr lang="en-US"/>
        </a:p>
      </dgm:t>
    </dgm:pt>
    <dgm:pt modelId="{BB696493-2E5A-43B8-BFE5-2F7C4E1F177A}" type="parTrans" cxnId="{4B025E3F-089D-425D-B5F8-7138A5D20C84}">
      <dgm:prSet/>
      <dgm:spPr/>
      <dgm:t>
        <a:bodyPr/>
        <a:lstStyle/>
        <a:p>
          <a:endParaRPr lang="en-US"/>
        </a:p>
      </dgm:t>
    </dgm:pt>
    <dgm:pt modelId="{759130DA-83B1-4440-9B51-657E4C7326BB}" type="sibTrans" cxnId="{4B025E3F-089D-425D-B5F8-7138A5D20C84}">
      <dgm:prSet/>
      <dgm:spPr/>
      <dgm:t>
        <a:bodyPr/>
        <a:lstStyle/>
        <a:p>
          <a:endParaRPr lang="en-US"/>
        </a:p>
      </dgm:t>
    </dgm:pt>
    <dgm:pt modelId="{0342BD30-6413-473E-AB39-BA6E6657E6F8}">
      <dgm:prSet/>
      <dgm:spPr/>
      <dgm:t>
        <a:bodyPr/>
        <a:lstStyle/>
        <a:p>
          <a:r>
            <a:rPr lang="es-ES" b="0" i="0"/>
            <a:t>Cuadruplicación de la población de origen extranjero.</a:t>
          </a:r>
          <a:endParaRPr lang="en-US"/>
        </a:p>
      </dgm:t>
    </dgm:pt>
    <dgm:pt modelId="{C546C4E1-00B4-4BDF-846D-7627D9582A25}" type="parTrans" cxnId="{1B1B56C1-1124-4144-A54D-5E130E8B8F60}">
      <dgm:prSet/>
      <dgm:spPr/>
      <dgm:t>
        <a:bodyPr/>
        <a:lstStyle/>
        <a:p>
          <a:endParaRPr lang="en-US"/>
        </a:p>
      </dgm:t>
    </dgm:pt>
    <dgm:pt modelId="{FB0948C0-5072-460B-A113-8FDE36DAF89D}" type="sibTrans" cxnId="{1B1B56C1-1124-4144-A54D-5E130E8B8F60}">
      <dgm:prSet/>
      <dgm:spPr/>
      <dgm:t>
        <a:bodyPr/>
        <a:lstStyle/>
        <a:p>
          <a:endParaRPr lang="en-US"/>
        </a:p>
      </dgm:t>
    </dgm:pt>
    <dgm:pt modelId="{F06E8352-4970-4AE8-8B4C-84FE5B1A25F0}">
      <dgm:prSet/>
      <dgm:spPr/>
      <dgm:t>
        <a:bodyPr/>
        <a:lstStyle/>
        <a:p>
          <a:r>
            <a:rPr lang="es-ES" b="0" i="0" dirty="0"/>
            <a:t>Desafíos: desequilibrios por edades y regiones, volatilidad frente al ciclo económico.</a:t>
          </a:r>
          <a:endParaRPr lang="en-US" dirty="0"/>
        </a:p>
      </dgm:t>
    </dgm:pt>
    <dgm:pt modelId="{E900EC87-51DB-45D4-979E-2003A396418F}" type="parTrans" cxnId="{7CB6E586-6655-4725-A914-C3523448B5BF}">
      <dgm:prSet/>
      <dgm:spPr/>
      <dgm:t>
        <a:bodyPr/>
        <a:lstStyle/>
        <a:p>
          <a:endParaRPr lang="en-US"/>
        </a:p>
      </dgm:t>
    </dgm:pt>
    <dgm:pt modelId="{4AD5D27C-AA6C-499E-9FB5-22E53BC469E1}" type="sibTrans" cxnId="{7CB6E586-6655-4725-A914-C3523448B5BF}">
      <dgm:prSet/>
      <dgm:spPr/>
      <dgm:t>
        <a:bodyPr/>
        <a:lstStyle/>
        <a:p>
          <a:endParaRPr lang="en-US"/>
        </a:p>
      </dgm:t>
    </dgm:pt>
    <dgm:pt modelId="{1DA2F992-15B5-4CA8-BEB4-CA2E695B6EDA}">
      <dgm:prSet/>
      <dgm:spPr/>
      <dgm:t>
        <a:bodyPr/>
        <a:lstStyle/>
        <a:p>
          <a:r>
            <a:rPr lang="es-ES" b="1" i="0"/>
            <a:t>Impacto Económico y Perspectivas:</a:t>
          </a:r>
          <a:endParaRPr lang="en-US"/>
        </a:p>
      </dgm:t>
    </dgm:pt>
    <dgm:pt modelId="{2253B90D-70B8-4626-8DDC-C7A46A2AEFBD}" type="parTrans" cxnId="{B8EF8E32-F0FB-4FC0-B634-A603C8ABA956}">
      <dgm:prSet/>
      <dgm:spPr/>
      <dgm:t>
        <a:bodyPr/>
        <a:lstStyle/>
        <a:p>
          <a:endParaRPr lang="en-US"/>
        </a:p>
      </dgm:t>
    </dgm:pt>
    <dgm:pt modelId="{B73E2154-8179-49DE-A120-644E6A516341}" type="sibTrans" cxnId="{B8EF8E32-F0FB-4FC0-B634-A603C8ABA956}">
      <dgm:prSet/>
      <dgm:spPr/>
      <dgm:t>
        <a:bodyPr/>
        <a:lstStyle/>
        <a:p>
          <a:endParaRPr lang="en-US"/>
        </a:p>
      </dgm:t>
    </dgm:pt>
    <dgm:pt modelId="{324782CB-A9E0-45CE-BB83-EB21B2D11B5E}">
      <dgm:prSet/>
      <dgm:spPr/>
      <dgm:t>
        <a:bodyPr/>
        <a:lstStyle/>
        <a:p>
          <a:r>
            <a:rPr lang="es-ES" b="0" i="0"/>
            <a:t>Contribución a fases recientes del crecimiento económico.</a:t>
          </a:r>
          <a:endParaRPr lang="en-US"/>
        </a:p>
      </dgm:t>
    </dgm:pt>
    <dgm:pt modelId="{BEBC0594-0CA1-4BCD-AEBA-58CEDC3612EE}" type="parTrans" cxnId="{7B9B521B-DA87-4424-AFD8-5CE2663C4399}">
      <dgm:prSet/>
      <dgm:spPr/>
      <dgm:t>
        <a:bodyPr/>
        <a:lstStyle/>
        <a:p>
          <a:endParaRPr lang="en-US"/>
        </a:p>
      </dgm:t>
    </dgm:pt>
    <dgm:pt modelId="{31C1FD28-C8BD-4058-9EC7-76B8324DD558}" type="sibTrans" cxnId="{7B9B521B-DA87-4424-AFD8-5CE2663C4399}">
      <dgm:prSet/>
      <dgm:spPr/>
      <dgm:t>
        <a:bodyPr/>
        <a:lstStyle/>
        <a:p>
          <a:endParaRPr lang="en-US"/>
        </a:p>
      </dgm:t>
    </dgm:pt>
    <dgm:pt modelId="{2F4F1A9F-D5A0-45BF-A29A-8482EF6C2FFB}">
      <dgm:prSet/>
      <dgm:spPr/>
      <dgm:t>
        <a:bodyPr/>
        <a:lstStyle/>
        <a:p>
          <a:r>
            <a:rPr lang="es-ES" b="0" i="0"/>
            <a:t>Relación con la crisis económica y la pandemia.</a:t>
          </a:r>
          <a:endParaRPr lang="en-US"/>
        </a:p>
      </dgm:t>
    </dgm:pt>
    <dgm:pt modelId="{F8E4CCC4-C259-47F4-917B-07E4F30FE728}" type="parTrans" cxnId="{4630A005-5E2B-4786-B8AB-EE3234CCBDEF}">
      <dgm:prSet/>
      <dgm:spPr/>
      <dgm:t>
        <a:bodyPr/>
        <a:lstStyle/>
        <a:p>
          <a:endParaRPr lang="en-US"/>
        </a:p>
      </dgm:t>
    </dgm:pt>
    <dgm:pt modelId="{17259B97-0495-4F1C-88B3-0A70AB352075}" type="sibTrans" cxnId="{4630A005-5E2B-4786-B8AB-EE3234CCBDEF}">
      <dgm:prSet/>
      <dgm:spPr/>
      <dgm:t>
        <a:bodyPr/>
        <a:lstStyle/>
        <a:p>
          <a:endParaRPr lang="en-US"/>
        </a:p>
      </dgm:t>
    </dgm:pt>
    <dgm:pt modelId="{6E300BDC-CAFC-4C3D-82FA-AFBCDBF9B6D9}">
      <dgm:prSet/>
      <dgm:spPr/>
      <dgm:t>
        <a:bodyPr/>
        <a:lstStyle/>
        <a:p>
          <a:r>
            <a:rPr lang="es-ES" b="0" i="0"/>
            <a:t>Perspectivas a medio plazo: dependencia del aumento poblacional de las pautas migratorias.</a:t>
          </a:r>
          <a:endParaRPr lang="en-US"/>
        </a:p>
      </dgm:t>
    </dgm:pt>
    <dgm:pt modelId="{3BC64123-3326-45EB-8554-A41E72258232}" type="parTrans" cxnId="{DC9E0AB8-465D-4B6F-958D-4564F56198BC}">
      <dgm:prSet/>
      <dgm:spPr/>
      <dgm:t>
        <a:bodyPr/>
        <a:lstStyle/>
        <a:p>
          <a:endParaRPr lang="en-US"/>
        </a:p>
      </dgm:t>
    </dgm:pt>
    <dgm:pt modelId="{CCE0DE64-1E7B-41BF-AB4E-25EB17C545C0}" type="sibTrans" cxnId="{DC9E0AB8-465D-4B6F-958D-4564F56198BC}">
      <dgm:prSet/>
      <dgm:spPr/>
      <dgm:t>
        <a:bodyPr/>
        <a:lstStyle/>
        <a:p>
          <a:endParaRPr lang="en-US"/>
        </a:p>
      </dgm:t>
    </dgm:pt>
    <dgm:pt modelId="{20769ED0-B1B0-4338-AC58-E7F0B97458B7}">
      <dgm:prSet/>
      <dgm:spPr/>
      <dgm:t>
        <a:bodyPr/>
        <a:lstStyle/>
        <a:p>
          <a:r>
            <a:rPr lang="en-US" dirty="0" err="1"/>
            <a:t>Repunte</a:t>
          </a:r>
          <a:r>
            <a:rPr lang="en-US" dirty="0"/>
            <a:t> considerable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últimos</a:t>
          </a:r>
          <a:r>
            <a:rPr lang="en-US" dirty="0"/>
            <a:t> dos </a:t>
          </a:r>
          <a:r>
            <a:rPr lang="en-US" dirty="0" err="1"/>
            <a:t>años</a:t>
          </a:r>
          <a:r>
            <a:rPr lang="en-US" dirty="0"/>
            <a:t>.</a:t>
          </a:r>
        </a:p>
      </dgm:t>
    </dgm:pt>
    <dgm:pt modelId="{D01C1F5F-9330-4D6A-9F7C-F86AC9ED19AD}" type="parTrans" cxnId="{9BB4C83F-E147-407D-AD3B-E4B71FC42F0B}">
      <dgm:prSet/>
      <dgm:spPr/>
    </dgm:pt>
    <dgm:pt modelId="{8143FED4-E907-49E0-9792-C1F1D07378D4}" type="sibTrans" cxnId="{9BB4C83F-E147-407D-AD3B-E4B71FC42F0B}">
      <dgm:prSet/>
      <dgm:spPr/>
    </dgm:pt>
    <dgm:pt modelId="{7F4B3D19-1F2D-4E58-BF73-3C5B962DD4DD}" type="pres">
      <dgm:prSet presAssocID="{2ADBD9ED-79C7-44CF-969E-88A97C40C93D}" presName="linear" presStyleCnt="0">
        <dgm:presLayoutVars>
          <dgm:animLvl val="lvl"/>
          <dgm:resizeHandles val="exact"/>
        </dgm:presLayoutVars>
      </dgm:prSet>
      <dgm:spPr/>
    </dgm:pt>
    <dgm:pt modelId="{C2C7E20A-4443-4A4A-8B9B-649EB26097E1}" type="pres">
      <dgm:prSet presAssocID="{6C5AEFF1-AA92-4FEB-BB72-3560F73232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28F8D5A-6897-4462-8CB6-F1D2E4B6EE24}" type="pres">
      <dgm:prSet presAssocID="{6C5AEFF1-AA92-4FEB-BB72-3560F73232CB}" presName="childText" presStyleLbl="revTx" presStyleIdx="0" presStyleCnt="2">
        <dgm:presLayoutVars>
          <dgm:bulletEnabled val="1"/>
        </dgm:presLayoutVars>
      </dgm:prSet>
      <dgm:spPr/>
    </dgm:pt>
    <dgm:pt modelId="{C0CDE86B-3CBC-4610-A38D-93B3EBE5E6A9}" type="pres">
      <dgm:prSet presAssocID="{1DA2F992-15B5-4CA8-BEB4-CA2E695B6ED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4531445-45A6-4EDD-8C34-7C5A5F807568}" type="pres">
      <dgm:prSet presAssocID="{1DA2F992-15B5-4CA8-BEB4-CA2E695B6ED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630A005-5E2B-4786-B8AB-EE3234CCBDEF}" srcId="{1DA2F992-15B5-4CA8-BEB4-CA2E695B6EDA}" destId="{2F4F1A9F-D5A0-45BF-A29A-8482EF6C2FFB}" srcOrd="1" destOrd="0" parTransId="{F8E4CCC4-C259-47F4-917B-07E4F30FE728}" sibTransId="{17259B97-0495-4F1C-88B3-0A70AB352075}"/>
    <dgm:cxn modelId="{7B9B521B-DA87-4424-AFD8-5CE2663C4399}" srcId="{1DA2F992-15B5-4CA8-BEB4-CA2E695B6EDA}" destId="{324782CB-A9E0-45CE-BB83-EB21B2D11B5E}" srcOrd="0" destOrd="0" parTransId="{BEBC0594-0CA1-4BCD-AEBA-58CEDC3612EE}" sibTransId="{31C1FD28-C8BD-4058-9EC7-76B8324DD558}"/>
    <dgm:cxn modelId="{96DF0E1F-485B-4848-89C8-75552052F8F6}" type="presOf" srcId="{1DA2F992-15B5-4CA8-BEB4-CA2E695B6EDA}" destId="{C0CDE86B-3CBC-4610-A38D-93B3EBE5E6A9}" srcOrd="0" destOrd="0" presId="urn:microsoft.com/office/officeart/2005/8/layout/vList2"/>
    <dgm:cxn modelId="{B8EF8E32-F0FB-4FC0-B634-A603C8ABA956}" srcId="{2ADBD9ED-79C7-44CF-969E-88A97C40C93D}" destId="{1DA2F992-15B5-4CA8-BEB4-CA2E695B6EDA}" srcOrd="1" destOrd="0" parTransId="{2253B90D-70B8-4626-8DDC-C7A46A2AEFBD}" sibTransId="{B73E2154-8179-49DE-A120-644E6A516341}"/>
    <dgm:cxn modelId="{4B025E3F-089D-425D-B5F8-7138A5D20C84}" srcId="{6C5AEFF1-AA92-4FEB-BB72-3560F73232CB}" destId="{9BF75DB4-CAE9-4A57-83E0-8CFD7D22D191}" srcOrd="0" destOrd="0" parTransId="{BB696493-2E5A-43B8-BFE5-2F7C4E1F177A}" sibTransId="{759130DA-83B1-4440-9B51-657E4C7326BB}"/>
    <dgm:cxn modelId="{9BB4C83F-E147-407D-AD3B-E4B71FC42F0B}" srcId="{6C5AEFF1-AA92-4FEB-BB72-3560F73232CB}" destId="{20769ED0-B1B0-4338-AC58-E7F0B97458B7}" srcOrd="3" destOrd="0" parTransId="{D01C1F5F-9330-4D6A-9F7C-F86AC9ED19AD}" sibTransId="{8143FED4-E907-49E0-9792-C1F1D07378D4}"/>
    <dgm:cxn modelId="{319A0176-04DC-4E11-B459-6E5D6C5E2CC1}" type="presOf" srcId="{0342BD30-6413-473E-AB39-BA6E6657E6F8}" destId="{F28F8D5A-6897-4462-8CB6-F1D2E4B6EE24}" srcOrd="0" destOrd="1" presId="urn:microsoft.com/office/officeart/2005/8/layout/vList2"/>
    <dgm:cxn modelId="{7CB6E586-6655-4725-A914-C3523448B5BF}" srcId="{6C5AEFF1-AA92-4FEB-BB72-3560F73232CB}" destId="{F06E8352-4970-4AE8-8B4C-84FE5B1A25F0}" srcOrd="2" destOrd="0" parTransId="{E900EC87-51DB-45D4-979E-2003A396418F}" sibTransId="{4AD5D27C-AA6C-499E-9FB5-22E53BC469E1}"/>
    <dgm:cxn modelId="{4A2A2A8E-DFDF-482C-B61C-23F0FE5A3B35}" type="presOf" srcId="{20769ED0-B1B0-4338-AC58-E7F0B97458B7}" destId="{F28F8D5A-6897-4462-8CB6-F1D2E4B6EE24}" srcOrd="0" destOrd="3" presId="urn:microsoft.com/office/officeart/2005/8/layout/vList2"/>
    <dgm:cxn modelId="{ACF1AC91-5A18-48F1-AA9A-84DD2039129B}" type="presOf" srcId="{6E300BDC-CAFC-4C3D-82FA-AFBCDBF9B6D9}" destId="{94531445-45A6-4EDD-8C34-7C5A5F807568}" srcOrd="0" destOrd="2" presId="urn:microsoft.com/office/officeart/2005/8/layout/vList2"/>
    <dgm:cxn modelId="{F752ECA4-2941-4694-B42A-3FB60A5F1073}" srcId="{2ADBD9ED-79C7-44CF-969E-88A97C40C93D}" destId="{6C5AEFF1-AA92-4FEB-BB72-3560F73232CB}" srcOrd="0" destOrd="0" parTransId="{7FB0F8D3-DAA6-45F1-8394-E386D9B4D8E6}" sibTransId="{A4F49327-0F65-421C-B5B6-16A7A3AE333D}"/>
    <dgm:cxn modelId="{36F31BA7-6547-49E9-BC44-5275ED476DC2}" type="presOf" srcId="{6C5AEFF1-AA92-4FEB-BB72-3560F73232CB}" destId="{C2C7E20A-4443-4A4A-8B9B-649EB26097E1}" srcOrd="0" destOrd="0" presId="urn:microsoft.com/office/officeart/2005/8/layout/vList2"/>
    <dgm:cxn modelId="{DC9E0AB8-465D-4B6F-958D-4564F56198BC}" srcId="{1DA2F992-15B5-4CA8-BEB4-CA2E695B6EDA}" destId="{6E300BDC-CAFC-4C3D-82FA-AFBCDBF9B6D9}" srcOrd="2" destOrd="0" parTransId="{3BC64123-3326-45EB-8554-A41E72258232}" sibTransId="{CCE0DE64-1E7B-41BF-AB4E-25EB17C545C0}"/>
    <dgm:cxn modelId="{1B1B56C1-1124-4144-A54D-5E130E8B8F60}" srcId="{6C5AEFF1-AA92-4FEB-BB72-3560F73232CB}" destId="{0342BD30-6413-473E-AB39-BA6E6657E6F8}" srcOrd="1" destOrd="0" parTransId="{C546C4E1-00B4-4BDF-846D-7627D9582A25}" sibTransId="{FB0948C0-5072-460B-A113-8FDE36DAF89D}"/>
    <dgm:cxn modelId="{49A9F4C8-B1C5-4D60-AD42-FF8F45D61A01}" type="presOf" srcId="{F06E8352-4970-4AE8-8B4C-84FE5B1A25F0}" destId="{F28F8D5A-6897-4462-8CB6-F1D2E4B6EE24}" srcOrd="0" destOrd="2" presId="urn:microsoft.com/office/officeart/2005/8/layout/vList2"/>
    <dgm:cxn modelId="{89883BD6-5624-47A6-9965-22A771FB55C7}" type="presOf" srcId="{2F4F1A9F-D5A0-45BF-A29A-8482EF6C2FFB}" destId="{94531445-45A6-4EDD-8C34-7C5A5F807568}" srcOrd="0" destOrd="1" presId="urn:microsoft.com/office/officeart/2005/8/layout/vList2"/>
    <dgm:cxn modelId="{655F70ED-1F8D-4473-A5F0-BE80FCA57A9D}" type="presOf" srcId="{9BF75DB4-CAE9-4A57-83E0-8CFD7D22D191}" destId="{F28F8D5A-6897-4462-8CB6-F1D2E4B6EE24}" srcOrd="0" destOrd="0" presId="urn:microsoft.com/office/officeart/2005/8/layout/vList2"/>
    <dgm:cxn modelId="{A848CAFB-7A53-41B2-B278-5D09F2B1ECDD}" type="presOf" srcId="{2ADBD9ED-79C7-44CF-969E-88A97C40C93D}" destId="{7F4B3D19-1F2D-4E58-BF73-3C5B962DD4DD}" srcOrd="0" destOrd="0" presId="urn:microsoft.com/office/officeart/2005/8/layout/vList2"/>
    <dgm:cxn modelId="{A35807FE-A6B8-45E7-B084-31DF2EC335BC}" type="presOf" srcId="{324782CB-A9E0-45CE-BB83-EB21B2D11B5E}" destId="{94531445-45A6-4EDD-8C34-7C5A5F807568}" srcOrd="0" destOrd="0" presId="urn:microsoft.com/office/officeart/2005/8/layout/vList2"/>
    <dgm:cxn modelId="{CAB3915F-392C-48E6-9582-1FEFBCF36E2F}" type="presParOf" srcId="{7F4B3D19-1F2D-4E58-BF73-3C5B962DD4DD}" destId="{C2C7E20A-4443-4A4A-8B9B-649EB26097E1}" srcOrd="0" destOrd="0" presId="urn:microsoft.com/office/officeart/2005/8/layout/vList2"/>
    <dgm:cxn modelId="{BB3FE515-CC59-48B7-B788-02CF4C483D28}" type="presParOf" srcId="{7F4B3D19-1F2D-4E58-BF73-3C5B962DD4DD}" destId="{F28F8D5A-6897-4462-8CB6-F1D2E4B6EE24}" srcOrd="1" destOrd="0" presId="urn:microsoft.com/office/officeart/2005/8/layout/vList2"/>
    <dgm:cxn modelId="{1F74C253-CD86-4BA2-93A4-7B9011375904}" type="presParOf" srcId="{7F4B3D19-1F2D-4E58-BF73-3C5B962DD4DD}" destId="{C0CDE86B-3CBC-4610-A38D-93B3EBE5E6A9}" srcOrd="2" destOrd="0" presId="urn:microsoft.com/office/officeart/2005/8/layout/vList2"/>
    <dgm:cxn modelId="{D4DCF88F-0E03-4B6E-918E-B90B29A8CF8E}" type="presParOf" srcId="{7F4B3D19-1F2D-4E58-BF73-3C5B962DD4DD}" destId="{94531445-45A6-4EDD-8C34-7C5A5F80756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9C3BA7-3C0A-4E9D-9B33-926FAC86E1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931BA7F-C54A-4BD6-9E41-53561819E53A}">
      <dgm:prSet/>
      <dgm:spPr/>
      <dgm:t>
        <a:bodyPr/>
        <a:lstStyle/>
        <a:p>
          <a:r>
            <a:rPr lang="es-ES"/>
            <a:t>Disminución de la fuerza laboral: Menor oferta de trabajo y posible reducción de la producción.</a:t>
          </a:r>
          <a:endParaRPr lang="en-US"/>
        </a:p>
      </dgm:t>
    </dgm:pt>
    <dgm:pt modelId="{BFFEDCEC-3DC4-4D47-9AB4-0B5310C6253B}" type="parTrans" cxnId="{5DDCF3F5-EE0B-491C-9290-00E56F5A2FA9}">
      <dgm:prSet/>
      <dgm:spPr/>
      <dgm:t>
        <a:bodyPr/>
        <a:lstStyle/>
        <a:p>
          <a:endParaRPr lang="en-US"/>
        </a:p>
      </dgm:t>
    </dgm:pt>
    <dgm:pt modelId="{4ADF5735-18FE-4F80-8B03-8C39BD26ADCC}" type="sibTrans" cxnId="{5DDCF3F5-EE0B-491C-9290-00E56F5A2FA9}">
      <dgm:prSet/>
      <dgm:spPr/>
      <dgm:t>
        <a:bodyPr/>
        <a:lstStyle/>
        <a:p>
          <a:endParaRPr lang="en-US"/>
        </a:p>
      </dgm:t>
    </dgm:pt>
    <dgm:pt modelId="{C5564AB3-8D0B-46E7-8667-CEAE7145A700}">
      <dgm:prSet/>
      <dgm:spPr/>
      <dgm:t>
        <a:bodyPr/>
        <a:lstStyle/>
        <a:p>
          <a:r>
            <a:rPr lang="es-ES"/>
            <a:t>Aumento de la dependencia económica: Mayor carga para los trabajadores y presión sobre el gasto público (pensiones, salud).</a:t>
          </a:r>
          <a:endParaRPr lang="en-US"/>
        </a:p>
      </dgm:t>
    </dgm:pt>
    <dgm:pt modelId="{BE72D6DF-3B4F-40B1-9120-B93F9A26D6C4}" type="parTrans" cxnId="{1D212DA1-6B6A-4F4B-A84F-CB86B0E7AD23}">
      <dgm:prSet/>
      <dgm:spPr/>
      <dgm:t>
        <a:bodyPr/>
        <a:lstStyle/>
        <a:p>
          <a:endParaRPr lang="en-US"/>
        </a:p>
      </dgm:t>
    </dgm:pt>
    <dgm:pt modelId="{D89523DA-CEAE-4FF0-A098-794A35E71FE6}" type="sibTrans" cxnId="{1D212DA1-6B6A-4F4B-A84F-CB86B0E7AD23}">
      <dgm:prSet/>
      <dgm:spPr/>
      <dgm:t>
        <a:bodyPr/>
        <a:lstStyle/>
        <a:p>
          <a:endParaRPr lang="en-US"/>
        </a:p>
      </dgm:t>
    </dgm:pt>
    <dgm:pt modelId="{9B67E30D-81BB-4A8F-802E-2667862AD0E1}">
      <dgm:prSet/>
      <dgm:spPr/>
      <dgm:t>
        <a:bodyPr/>
        <a:lstStyle/>
        <a:p>
          <a:r>
            <a:rPr lang="es-ES"/>
            <a:t>Cambios en el consumo y la demanda: Modificación de los patrones de gasto, afectando la inversión y la estructura económica.</a:t>
          </a:r>
          <a:endParaRPr lang="en-US"/>
        </a:p>
      </dgm:t>
    </dgm:pt>
    <dgm:pt modelId="{053C9C3F-0336-4671-ACB2-3987E4E5527A}" type="parTrans" cxnId="{BCDE2168-B85C-484D-A055-ED650439EE9A}">
      <dgm:prSet/>
      <dgm:spPr/>
      <dgm:t>
        <a:bodyPr/>
        <a:lstStyle/>
        <a:p>
          <a:endParaRPr lang="en-US"/>
        </a:p>
      </dgm:t>
    </dgm:pt>
    <dgm:pt modelId="{61C5EAA0-8F21-46E0-96BE-79EA13D33312}" type="sibTrans" cxnId="{BCDE2168-B85C-484D-A055-ED650439EE9A}">
      <dgm:prSet/>
      <dgm:spPr/>
      <dgm:t>
        <a:bodyPr/>
        <a:lstStyle/>
        <a:p>
          <a:endParaRPr lang="en-US"/>
        </a:p>
      </dgm:t>
    </dgm:pt>
    <dgm:pt modelId="{0A64543B-3B5F-4270-BF6E-22B74DD61B33}">
      <dgm:prSet/>
      <dgm:spPr/>
      <dgm:t>
        <a:bodyPr/>
        <a:lstStyle/>
        <a:p>
          <a:r>
            <a:rPr lang="es-ES"/>
            <a:t>Desafíos para la productividad: Riesgo de menor innovación.</a:t>
          </a:r>
          <a:endParaRPr lang="en-US"/>
        </a:p>
      </dgm:t>
    </dgm:pt>
    <dgm:pt modelId="{5128DF0D-BD27-4D75-842E-CD3987E93E1E}" type="parTrans" cxnId="{889CDC22-156F-4900-8EE9-F19D6F76DF18}">
      <dgm:prSet/>
      <dgm:spPr/>
      <dgm:t>
        <a:bodyPr/>
        <a:lstStyle/>
        <a:p>
          <a:endParaRPr lang="en-US"/>
        </a:p>
      </dgm:t>
    </dgm:pt>
    <dgm:pt modelId="{969958A2-FA41-424A-AA6D-BE28718D6A47}" type="sibTrans" cxnId="{889CDC22-156F-4900-8EE9-F19D6F76DF18}">
      <dgm:prSet/>
      <dgm:spPr/>
      <dgm:t>
        <a:bodyPr/>
        <a:lstStyle/>
        <a:p>
          <a:endParaRPr lang="en-US"/>
        </a:p>
      </dgm:t>
    </dgm:pt>
    <dgm:pt modelId="{85069F71-0D3B-4EDD-9CEB-7CA6E32DCD79}">
      <dgm:prSet/>
      <dgm:spPr/>
      <dgm:t>
        <a:bodyPr/>
        <a:lstStyle/>
        <a:p>
          <a:r>
            <a:rPr lang="es-ES"/>
            <a:t>Implicaciones fiscales: Reducción de ingresos fiscales y aumento del gasto público.</a:t>
          </a:r>
          <a:endParaRPr lang="en-US"/>
        </a:p>
      </dgm:t>
    </dgm:pt>
    <dgm:pt modelId="{66B2F619-1041-43C7-873E-344E493576AA}" type="parTrans" cxnId="{99537775-F3DA-450C-8B59-8ECB56877810}">
      <dgm:prSet/>
      <dgm:spPr/>
      <dgm:t>
        <a:bodyPr/>
        <a:lstStyle/>
        <a:p>
          <a:endParaRPr lang="en-US"/>
        </a:p>
      </dgm:t>
    </dgm:pt>
    <dgm:pt modelId="{D38316E1-A0E3-4602-B708-D9778727F656}" type="sibTrans" cxnId="{99537775-F3DA-450C-8B59-8ECB56877810}">
      <dgm:prSet/>
      <dgm:spPr/>
      <dgm:t>
        <a:bodyPr/>
        <a:lstStyle/>
        <a:p>
          <a:endParaRPr lang="en-US"/>
        </a:p>
      </dgm:t>
    </dgm:pt>
    <dgm:pt modelId="{D7FF16D9-F968-44D2-A404-CDBA0DCCC9A9}" type="pres">
      <dgm:prSet presAssocID="{A59C3BA7-3C0A-4E9D-9B33-926FAC86E1A7}" presName="root" presStyleCnt="0">
        <dgm:presLayoutVars>
          <dgm:dir/>
          <dgm:resizeHandles val="exact"/>
        </dgm:presLayoutVars>
      </dgm:prSet>
      <dgm:spPr/>
    </dgm:pt>
    <dgm:pt modelId="{B0E9FC8A-14FF-49C2-A348-BBC2C3E5C777}" type="pres">
      <dgm:prSet presAssocID="{4931BA7F-C54A-4BD6-9E41-53561819E53A}" presName="compNode" presStyleCnt="0"/>
      <dgm:spPr/>
    </dgm:pt>
    <dgm:pt modelId="{F29E31AC-4D35-440F-9087-1AF16579E366}" type="pres">
      <dgm:prSet presAssocID="{4931BA7F-C54A-4BD6-9E41-53561819E53A}" presName="bgRect" presStyleLbl="bgShp" presStyleIdx="0" presStyleCnt="5"/>
      <dgm:spPr/>
    </dgm:pt>
    <dgm:pt modelId="{BFAF5F2E-F829-4AFE-8D38-F4E61D3B4BB4}" type="pres">
      <dgm:prSet presAssocID="{4931BA7F-C54A-4BD6-9E41-53561819E53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959A5817-4E3D-4AD8-BA29-33D1F3F07ACF}" type="pres">
      <dgm:prSet presAssocID="{4931BA7F-C54A-4BD6-9E41-53561819E53A}" presName="spaceRect" presStyleCnt="0"/>
      <dgm:spPr/>
    </dgm:pt>
    <dgm:pt modelId="{06FE7EF7-8823-4450-8369-1B0F59320BCD}" type="pres">
      <dgm:prSet presAssocID="{4931BA7F-C54A-4BD6-9E41-53561819E53A}" presName="parTx" presStyleLbl="revTx" presStyleIdx="0" presStyleCnt="5">
        <dgm:presLayoutVars>
          <dgm:chMax val="0"/>
          <dgm:chPref val="0"/>
        </dgm:presLayoutVars>
      </dgm:prSet>
      <dgm:spPr/>
    </dgm:pt>
    <dgm:pt modelId="{AD71E70D-BEBB-4EE0-83EC-BAA3F27E192C}" type="pres">
      <dgm:prSet presAssocID="{4ADF5735-18FE-4F80-8B03-8C39BD26ADCC}" presName="sibTrans" presStyleCnt="0"/>
      <dgm:spPr/>
    </dgm:pt>
    <dgm:pt modelId="{25DA928F-D264-4B20-8E4B-E00CD428CD99}" type="pres">
      <dgm:prSet presAssocID="{C5564AB3-8D0B-46E7-8667-CEAE7145A700}" presName="compNode" presStyleCnt="0"/>
      <dgm:spPr/>
    </dgm:pt>
    <dgm:pt modelId="{8E3642C0-B26E-4E5B-9080-E60DE8BC07B6}" type="pres">
      <dgm:prSet presAssocID="{C5564AB3-8D0B-46E7-8667-CEAE7145A700}" presName="bgRect" presStyleLbl="bgShp" presStyleIdx="1" presStyleCnt="5"/>
      <dgm:spPr/>
    </dgm:pt>
    <dgm:pt modelId="{97BD8C31-70F0-4863-90FD-E5421AF9709C}" type="pres">
      <dgm:prSet presAssocID="{C5564AB3-8D0B-46E7-8667-CEAE7145A70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EAA3BBD-2AB5-41CB-9A09-CB49E5D33280}" type="pres">
      <dgm:prSet presAssocID="{C5564AB3-8D0B-46E7-8667-CEAE7145A700}" presName="spaceRect" presStyleCnt="0"/>
      <dgm:spPr/>
    </dgm:pt>
    <dgm:pt modelId="{3E8773ED-045B-47A4-AF00-8A9F287906C8}" type="pres">
      <dgm:prSet presAssocID="{C5564AB3-8D0B-46E7-8667-CEAE7145A700}" presName="parTx" presStyleLbl="revTx" presStyleIdx="1" presStyleCnt="5">
        <dgm:presLayoutVars>
          <dgm:chMax val="0"/>
          <dgm:chPref val="0"/>
        </dgm:presLayoutVars>
      </dgm:prSet>
      <dgm:spPr/>
    </dgm:pt>
    <dgm:pt modelId="{654A25FF-07C7-466C-9EDD-3D281F1A2319}" type="pres">
      <dgm:prSet presAssocID="{D89523DA-CEAE-4FF0-A098-794A35E71FE6}" presName="sibTrans" presStyleCnt="0"/>
      <dgm:spPr/>
    </dgm:pt>
    <dgm:pt modelId="{EBC75990-296E-4B26-936B-04FEBCFEAFE4}" type="pres">
      <dgm:prSet presAssocID="{9B67E30D-81BB-4A8F-802E-2667862AD0E1}" presName="compNode" presStyleCnt="0"/>
      <dgm:spPr/>
    </dgm:pt>
    <dgm:pt modelId="{FFA40A6A-8B39-40C5-A670-02E07C03A9BF}" type="pres">
      <dgm:prSet presAssocID="{9B67E30D-81BB-4A8F-802E-2667862AD0E1}" presName="bgRect" presStyleLbl="bgShp" presStyleIdx="2" presStyleCnt="5"/>
      <dgm:spPr/>
    </dgm:pt>
    <dgm:pt modelId="{BC5BA32A-06E5-4C2A-B761-11E42D6C058B}" type="pres">
      <dgm:prSet presAssocID="{9B67E30D-81BB-4A8F-802E-2667862AD0E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9829FCA0-9692-4DF1-8BC5-0FB2897F3F3E}" type="pres">
      <dgm:prSet presAssocID="{9B67E30D-81BB-4A8F-802E-2667862AD0E1}" presName="spaceRect" presStyleCnt="0"/>
      <dgm:spPr/>
    </dgm:pt>
    <dgm:pt modelId="{D3F2FE20-1FBF-4E47-BE35-ED9980D9074D}" type="pres">
      <dgm:prSet presAssocID="{9B67E30D-81BB-4A8F-802E-2667862AD0E1}" presName="parTx" presStyleLbl="revTx" presStyleIdx="2" presStyleCnt="5">
        <dgm:presLayoutVars>
          <dgm:chMax val="0"/>
          <dgm:chPref val="0"/>
        </dgm:presLayoutVars>
      </dgm:prSet>
      <dgm:spPr/>
    </dgm:pt>
    <dgm:pt modelId="{DED8495D-65D3-4B09-B5D2-58E49289B278}" type="pres">
      <dgm:prSet presAssocID="{61C5EAA0-8F21-46E0-96BE-79EA13D33312}" presName="sibTrans" presStyleCnt="0"/>
      <dgm:spPr/>
    </dgm:pt>
    <dgm:pt modelId="{1E8F14DA-73A5-4BCC-83E5-5BAAE11862CC}" type="pres">
      <dgm:prSet presAssocID="{0A64543B-3B5F-4270-BF6E-22B74DD61B33}" presName="compNode" presStyleCnt="0"/>
      <dgm:spPr/>
    </dgm:pt>
    <dgm:pt modelId="{DCA8AAE9-745E-4215-9E5C-A18F0052373A}" type="pres">
      <dgm:prSet presAssocID="{0A64543B-3B5F-4270-BF6E-22B74DD61B33}" presName="bgRect" presStyleLbl="bgShp" presStyleIdx="3" presStyleCnt="5"/>
      <dgm:spPr/>
    </dgm:pt>
    <dgm:pt modelId="{05EB7D98-AE73-4F8A-B8FD-211FEA5AAEF5}" type="pres">
      <dgm:prSet presAssocID="{0A64543B-3B5F-4270-BF6E-22B74DD61B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866579B9-F3F5-4ECB-9398-7D24E9B19A14}" type="pres">
      <dgm:prSet presAssocID="{0A64543B-3B5F-4270-BF6E-22B74DD61B33}" presName="spaceRect" presStyleCnt="0"/>
      <dgm:spPr/>
    </dgm:pt>
    <dgm:pt modelId="{045C3A21-7043-4DC3-B4D6-9CBE17899A60}" type="pres">
      <dgm:prSet presAssocID="{0A64543B-3B5F-4270-BF6E-22B74DD61B33}" presName="parTx" presStyleLbl="revTx" presStyleIdx="3" presStyleCnt="5">
        <dgm:presLayoutVars>
          <dgm:chMax val="0"/>
          <dgm:chPref val="0"/>
        </dgm:presLayoutVars>
      </dgm:prSet>
      <dgm:spPr/>
    </dgm:pt>
    <dgm:pt modelId="{35A0A416-7D9B-41F7-9103-5FE747B68707}" type="pres">
      <dgm:prSet presAssocID="{969958A2-FA41-424A-AA6D-BE28718D6A47}" presName="sibTrans" presStyleCnt="0"/>
      <dgm:spPr/>
    </dgm:pt>
    <dgm:pt modelId="{09700579-A243-44CF-BBC7-BACAD4EAC9E7}" type="pres">
      <dgm:prSet presAssocID="{85069F71-0D3B-4EDD-9CEB-7CA6E32DCD79}" presName="compNode" presStyleCnt="0"/>
      <dgm:spPr/>
    </dgm:pt>
    <dgm:pt modelId="{1B8D9FA0-DD23-4669-A01D-71403EDE24C0}" type="pres">
      <dgm:prSet presAssocID="{85069F71-0D3B-4EDD-9CEB-7CA6E32DCD79}" presName="bgRect" presStyleLbl="bgShp" presStyleIdx="4" presStyleCnt="5"/>
      <dgm:spPr/>
    </dgm:pt>
    <dgm:pt modelId="{1D972228-7270-4788-B365-60EB06840AAC}" type="pres">
      <dgm:prSet presAssocID="{85069F71-0D3B-4EDD-9CEB-7CA6E32DCD7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75714E7A-440F-426E-A02A-F435CD2BBBA5}" type="pres">
      <dgm:prSet presAssocID="{85069F71-0D3B-4EDD-9CEB-7CA6E32DCD79}" presName="spaceRect" presStyleCnt="0"/>
      <dgm:spPr/>
    </dgm:pt>
    <dgm:pt modelId="{DDFA5A83-93F0-45EC-ABA8-A2C2636C452C}" type="pres">
      <dgm:prSet presAssocID="{85069F71-0D3B-4EDD-9CEB-7CA6E32DCD7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89CDC22-156F-4900-8EE9-F19D6F76DF18}" srcId="{A59C3BA7-3C0A-4E9D-9B33-926FAC86E1A7}" destId="{0A64543B-3B5F-4270-BF6E-22B74DD61B33}" srcOrd="3" destOrd="0" parTransId="{5128DF0D-BD27-4D75-842E-CD3987E93E1E}" sibTransId="{969958A2-FA41-424A-AA6D-BE28718D6A47}"/>
    <dgm:cxn modelId="{42A23C33-411A-4067-A790-21C1CA30D6B6}" type="presOf" srcId="{A59C3BA7-3C0A-4E9D-9B33-926FAC86E1A7}" destId="{D7FF16D9-F968-44D2-A404-CDBA0DCCC9A9}" srcOrd="0" destOrd="0" presId="urn:microsoft.com/office/officeart/2018/2/layout/IconVerticalSolidList"/>
    <dgm:cxn modelId="{BCDE2168-B85C-484D-A055-ED650439EE9A}" srcId="{A59C3BA7-3C0A-4E9D-9B33-926FAC86E1A7}" destId="{9B67E30D-81BB-4A8F-802E-2667862AD0E1}" srcOrd="2" destOrd="0" parTransId="{053C9C3F-0336-4671-ACB2-3987E4E5527A}" sibTransId="{61C5EAA0-8F21-46E0-96BE-79EA13D33312}"/>
    <dgm:cxn modelId="{7AE5FF48-4ABC-4A53-B961-9FFBA625F020}" type="presOf" srcId="{4931BA7F-C54A-4BD6-9E41-53561819E53A}" destId="{06FE7EF7-8823-4450-8369-1B0F59320BCD}" srcOrd="0" destOrd="0" presId="urn:microsoft.com/office/officeart/2018/2/layout/IconVerticalSolidList"/>
    <dgm:cxn modelId="{B3DA4751-D9EC-42EB-918C-05341F81B2A7}" type="presOf" srcId="{0A64543B-3B5F-4270-BF6E-22B74DD61B33}" destId="{045C3A21-7043-4DC3-B4D6-9CBE17899A60}" srcOrd="0" destOrd="0" presId="urn:microsoft.com/office/officeart/2018/2/layout/IconVerticalSolidList"/>
    <dgm:cxn modelId="{99537775-F3DA-450C-8B59-8ECB56877810}" srcId="{A59C3BA7-3C0A-4E9D-9B33-926FAC86E1A7}" destId="{85069F71-0D3B-4EDD-9CEB-7CA6E32DCD79}" srcOrd="4" destOrd="0" parTransId="{66B2F619-1041-43C7-873E-344E493576AA}" sibTransId="{D38316E1-A0E3-4602-B708-D9778727F656}"/>
    <dgm:cxn modelId="{1D212DA1-6B6A-4F4B-A84F-CB86B0E7AD23}" srcId="{A59C3BA7-3C0A-4E9D-9B33-926FAC86E1A7}" destId="{C5564AB3-8D0B-46E7-8667-CEAE7145A700}" srcOrd="1" destOrd="0" parTransId="{BE72D6DF-3B4F-40B1-9120-B93F9A26D6C4}" sibTransId="{D89523DA-CEAE-4FF0-A098-794A35E71FE6}"/>
    <dgm:cxn modelId="{218DEBC8-3236-4B06-B299-82E318FCE6B7}" type="presOf" srcId="{C5564AB3-8D0B-46E7-8667-CEAE7145A700}" destId="{3E8773ED-045B-47A4-AF00-8A9F287906C8}" srcOrd="0" destOrd="0" presId="urn:microsoft.com/office/officeart/2018/2/layout/IconVerticalSolidList"/>
    <dgm:cxn modelId="{7472D3E5-F6C2-4673-9854-FEA8ADB1F397}" type="presOf" srcId="{85069F71-0D3B-4EDD-9CEB-7CA6E32DCD79}" destId="{DDFA5A83-93F0-45EC-ABA8-A2C2636C452C}" srcOrd="0" destOrd="0" presId="urn:microsoft.com/office/officeart/2018/2/layout/IconVerticalSolidList"/>
    <dgm:cxn modelId="{27C258E7-773D-40BC-9F13-B3355A7566F4}" type="presOf" srcId="{9B67E30D-81BB-4A8F-802E-2667862AD0E1}" destId="{D3F2FE20-1FBF-4E47-BE35-ED9980D9074D}" srcOrd="0" destOrd="0" presId="urn:microsoft.com/office/officeart/2018/2/layout/IconVerticalSolidList"/>
    <dgm:cxn modelId="{5DDCF3F5-EE0B-491C-9290-00E56F5A2FA9}" srcId="{A59C3BA7-3C0A-4E9D-9B33-926FAC86E1A7}" destId="{4931BA7F-C54A-4BD6-9E41-53561819E53A}" srcOrd="0" destOrd="0" parTransId="{BFFEDCEC-3DC4-4D47-9AB4-0B5310C6253B}" sibTransId="{4ADF5735-18FE-4F80-8B03-8C39BD26ADCC}"/>
    <dgm:cxn modelId="{AE6BE7B1-43F1-4641-8C48-B4168218C5BA}" type="presParOf" srcId="{D7FF16D9-F968-44D2-A404-CDBA0DCCC9A9}" destId="{B0E9FC8A-14FF-49C2-A348-BBC2C3E5C777}" srcOrd="0" destOrd="0" presId="urn:microsoft.com/office/officeart/2018/2/layout/IconVerticalSolidList"/>
    <dgm:cxn modelId="{51EEC47E-9DF2-4716-8369-B3AFB6129262}" type="presParOf" srcId="{B0E9FC8A-14FF-49C2-A348-BBC2C3E5C777}" destId="{F29E31AC-4D35-440F-9087-1AF16579E366}" srcOrd="0" destOrd="0" presId="urn:microsoft.com/office/officeart/2018/2/layout/IconVerticalSolidList"/>
    <dgm:cxn modelId="{B6C0B1DD-616C-4A9C-99F6-697E56348218}" type="presParOf" srcId="{B0E9FC8A-14FF-49C2-A348-BBC2C3E5C777}" destId="{BFAF5F2E-F829-4AFE-8D38-F4E61D3B4BB4}" srcOrd="1" destOrd="0" presId="urn:microsoft.com/office/officeart/2018/2/layout/IconVerticalSolidList"/>
    <dgm:cxn modelId="{F3C39E32-B9D7-4D45-B182-A7FA722248E1}" type="presParOf" srcId="{B0E9FC8A-14FF-49C2-A348-BBC2C3E5C777}" destId="{959A5817-4E3D-4AD8-BA29-33D1F3F07ACF}" srcOrd="2" destOrd="0" presId="urn:microsoft.com/office/officeart/2018/2/layout/IconVerticalSolidList"/>
    <dgm:cxn modelId="{6C1CB50C-8F9B-4379-9E45-1078B89316BF}" type="presParOf" srcId="{B0E9FC8A-14FF-49C2-A348-BBC2C3E5C777}" destId="{06FE7EF7-8823-4450-8369-1B0F59320BCD}" srcOrd="3" destOrd="0" presId="urn:microsoft.com/office/officeart/2018/2/layout/IconVerticalSolidList"/>
    <dgm:cxn modelId="{26DE8459-6FC8-439C-B357-7EDAE15F53B0}" type="presParOf" srcId="{D7FF16D9-F968-44D2-A404-CDBA0DCCC9A9}" destId="{AD71E70D-BEBB-4EE0-83EC-BAA3F27E192C}" srcOrd="1" destOrd="0" presId="urn:microsoft.com/office/officeart/2018/2/layout/IconVerticalSolidList"/>
    <dgm:cxn modelId="{A781DE67-509D-482D-BFF4-F20EC61770A7}" type="presParOf" srcId="{D7FF16D9-F968-44D2-A404-CDBA0DCCC9A9}" destId="{25DA928F-D264-4B20-8E4B-E00CD428CD99}" srcOrd="2" destOrd="0" presId="urn:microsoft.com/office/officeart/2018/2/layout/IconVerticalSolidList"/>
    <dgm:cxn modelId="{C6B9CF5B-9F74-475B-A980-538651C85A19}" type="presParOf" srcId="{25DA928F-D264-4B20-8E4B-E00CD428CD99}" destId="{8E3642C0-B26E-4E5B-9080-E60DE8BC07B6}" srcOrd="0" destOrd="0" presId="urn:microsoft.com/office/officeart/2018/2/layout/IconVerticalSolidList"/>
    <dgm:cxn modelId="{E9E7568C-4F10-4C5B-A98A-495616B60657}" type="presParOf" srcId="{25DA928F-D264-4B20-8E4B-E00CD428CD99}" destId="{97BD8C31-70F0-4863-90FD-E5421AF9709C}" srcOrd="1" destOrd="0" presId="urn:microsoft.com/office/officeart/2018/2/layout/IconVerticalSolidList"/>
    <dgm:cxn modelId="{69201E02-DC4A-48BE-B5F5-AE76711F48F3}" type="presParOf" srcId="{25DA928F-D264-4B20-8E4B-E00CD428CD99}" destId="{CEAA3BBD-2AB5-41CB-9A09-CB49E5D33280}" srcOrd="2" destOrd="0" presId="urn:microsoft.com/office/officeart/2018/2/layout/IconVerticalSolidList"/>
    <dgm:cxn modelId="{0027C4D5-BFBB-436A-BE37-9ACB3194B5EC}" type="presParOf" srcId="{25DA928F-D264-4B20-8E4B-E00CD428CD99}" destId="{3E8773ED-045B-47A4-AF00-8A9F287906C8}" srcOrd="3" destOrd="0" presId="urn:microsoft.com/office/officeart/2018/2/layout/IconVerticalSolidList"/>
    <dgm:cxn modelId="{B782DFCC-5E2D-4079-8752-D2961903E534}" type="presParOf" srcId="{D7FF16D9-F968-44D2-A404-CDBA0DCCC9A9}" destId="{654A25FF-07C7-466C-9EDD-3D281F1A2319}" srcOrd="3" destOrd="0" presId="urn:microsoft.com/office/officeart/2018/2/layout/IconVerticalSolidList"/>
    <dgm:cxn modelId="{63E92A95-2D3E-4608-B37C-EE41C9A7D57E}" type="presParOf" srcId="{D7FF16D9-F968-44D2-A404-CDBA0DCCC9A9}" destId="{EBC75990-296E-4B26-936B-04FEBCFEAFE4}" srcOrd="4" destOrd="0" presId="urn:microsoft.com/office/officeart/2018/2/layout/IconVerticalSolidList"/>
    <dgm:cxn modelId="{14C24EA9-4B36-4FF3-8EA6-2F76C71BAB26}" type="presParOf" srcId="{EBC75990-296E-4B26-936B-04FEBCFEAFE4}" destId="{FFA40A6A-8B39-40C5-A670-02E07C03A9BF}" srcOrd="0" destOrd="0" presId="urn:microsoft.com/office/officeart/2018/2/layout/IconVerticalSolidList"/>
    <dgm:cxn modelId="{8AAFF6F1-5789-4F16-A5DA-2551E700E71A}" type="presParOf" srcId="{EBC75990-296E-4B26-936B-04FEBCFEAFE4}" destId="{BC5BA32A-06E5-4C2A-B761-11E42D6C058B}" srcOrd="1" destOrd="0" presId="urn:microsoft.com/office/officeart/2018/2/layout/IconVerticalSolidList"/>
    <dgm:cxn modelId="{96309A76-9EC1-4642-AC3E-FE861963E425}" type="presParOf" srcId="{EBC75990-296E-4B26-936B-04FEBCFEAFE4}" destId="{9829FCA0-9692-4DF1-8BC5-0FB2897F3F3E}" srcOrd="2" destOrd="0" presId="urn:microsoft.com/office/officeart/2018/2/layout/IconVerticalSolidList"/>
    <dgm:cxn modelId="{535E25AA-8FC7-47C4-8CE6-4DBA688C6FC1}" type="presParOf" srcId="{EBC75990-296E-4B26-936B-04FEBCFEAFE4}" destId="{D3F2FE20-1FBF-4E47-BE35-ED9980D9074D}" srcOrd="3" destOrd="0" presId="urn:microsoft.com/office/officeart/2018/2/layout/IconVerticalSolidList"/>
    <dgm:cxn modelId="{0E8823C4-E2E5-496D-8710-990E00A21299}" type="presParOf" srcId="{D7FF16D9-F968-44D2-A404-CDBA0DCCC9A9}" destId="{DED8495D-65D3-4B09-B5D2-58E49289B278}" srcOrd="5" destOrd="0" presId="urn:microsoft.com/office/officeart/2018/2/layout/IconVerticalSolidList"/>
    <dgm:cxn modelId="{91842D8B-8B31-4681-895A-0B4CFE99DF06}" type="presParOf" srcId="{D7FF16D9-F968-44D2-A404-CDBA0DCCC9A9}" destId="{1E8F14DA-73A5-4BCC-83E5-5BAAE11862CC}" srcOrd="6" destOrd="0" presId="urn:microsoft.com/office/officeart/2018/2/layout/IconVerticalSolidList"/>
    <dgm:cxn modelId="{23A053A5-A0B9-4DD9-A35C-F8FCFBE6B578}" type="presParOf" srcId="{1E8F14DA-73A5-4BCC-83E5-5BAAE11862CC}" destId="{DCA8AAE9-745E-4215-9E5C-A18F0052373A}" srcOrd="0" destOrd="0" presId="urn:microsoft.com/office/officeart/2018/2/layout/IconVerticalSolidList"/>
    <dgm:cxn modelId="{9793EE46-E5DD-458C-96C0-4E77B497DC49}" type="presParOf" srcId="{1E8F14DA-73A5-4BCC-83E5-5BAAE11862CC}" destId="{05EB7D98-AE73-4F8A-B8FD-211FEA5AAEF5}" srcOrd="1" destOrd="0" presId="urn:microsoft.com/office/officeart/2018/2/layout/IconVerticalSolidList"/>
    <dgm:cxn modelId="{015555FC-5F9E-47D5-BF49-758356CE365C}" type="presParOf" srcId="{1E8F14DA-73A5-4BCC-83E5-5BAAE11862CC}" destId="{866579B9-F3F5-4ECB-9398-7D24E9B19A14}" srcOrd="2" destOrd="0" presId="urn:microsoft.com/office/officeart/2018/2/layout/IconVerticalSolidList"/>
    <dgm:cxn modelId="{03975281-0C8D-4C2F-A221-B066C161129E}" type="presParOf" srcId="{1E8F14DA-73A5-4BCC-83E5-5BAAE11862CC}" destId="{045C3A21-7043-4DC3-B4D6-9CBE17899A60}" srcOrd="3" destOrd="0" presId="urn:microsoft.com/office/officeart/2018/2/layout/IconVerticalSolidList"/>
    <dgm:cxn modelId="{F303CC02-6FD2-400B-AB0F-E96396557702}" type="presParOf" srcId="{D7FF16D9-F968-44D2-A404-CDBA0DCCC9A9}" destId="{35A0A416-7D9B-41F7-9103-5FE747B68707}" srcOrd="7" destOrd="0" presId="urn:microsoft.com/office/officeart/2018/2/layout/IconVerticalSolidList"/>
    <dgm:cxn modelId="{2C98F2CC-BC88-4168-BB3A-E651F6B6EE4A}" type="presParOf" srcId="{D7FF16D9-F968-44D2-A404-CDBA0DCCC9A9}" destId="{09700579-A243-44CF-BBC7-BACAD4EAC9E7}" srcOrd="8" destOrd="0" presId="urn:microsoft.com/office/officeart/2018/2/layout/IconVerticalSolidList"/>
    <dgm:cxn modelId="{7440845C-88D8-47DC-9C1F-09ADBC2BCA9F}" type="presParOf" srcId="{09700579-A243-44CF-BBC7-BACAD4EAC9E7}" destId="{1B8D9FA0-DD23-4669-A01D-71403EDE24C0}" srcOrd="0" destOrd="0" presId="urn:microsoft.com/office/officeart/2018/2/layout/IconVerticalSolidList"/>
    <dgm:cxn modelId="{AE54244E-C1F5-4889-9BF5-B2CA2865ADEB}" type="presParOf" srcId="{09700579-A243-44CF-BBC7-BACAD4EAC9E7}" destId="{1D972228-7270-4788-B365-60EB06840AAC}" srcOrd="1" destOrd="0" presId="urn:microsoft.com/office/officeart/2018/2/layout/IconVerticalSolidList"/>
    <dgm:cxn modelId="{DF370E0F-D9E3-40AF-9241-F164F86F2F6C}" type="presParOf" srcId="{09700579-A243-44CF-BBC7-BACAD4EAC9E7}" destId="{75714E7A-440F-426E-A02A-F435CD2BBBA5}" srcOrd="2" destOrd="0" presId="urn:microsoft.com/office/officeart/2018/2/layout/IconVerticalSolidList"/>
    <dgm:cxn modelId="{E5831FCA-5451-4098-8167-DDB39B8C95E2}" type="presParOf" srcId="{09700579-A243-44CF-BBC7-BACAD4EAC9E7}" destId="{DDFA5A83-93F0-45EC-ABA8-A2C2636C45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B9D7D0-F1E7-44CA-8A1D-21C063A32C3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A51071-DB48-404F-8A04-88BCF2746827}">
      <dgm:prSet/>
      <dgm:spPr/>
      <dgm:t>
        <a:bodyPr/>
        <a:lstStyle/>
        <a:p>
          <a:r>
            <a:rPr lang="es-ES"/>
            <a:t>Aumento de la edad de jubilación</a:t>
          </a:r>
          <a:endParaRPr lang="en-US"/>
        </a:p>
      </dgm:t>
    </dgm:pt>
    <dgm:pt modelId="{59D3BA39-1511-427C-977C-EC45B84E55E5}" type="parTrans" cxnId="{F17CA7BB-6A0B-486A-9430-A5B676DA799C}">
      <dgm:prSet/>
      <dgm:spPr/>
      <dgm:t>
        <a:bodyPr/>
        <a:lstStyle/>
        <a:p>
          <a:endParaRPr lang="en-US"/>
        </a:p>
      </dgm:t>
    </dgm:pt>
    <dgm:pt modelId="{6D8A1BE5-B596-45C6-9084-A99B1DF7C1B1}" type="sibTrans" cxnId="{F17CA7BB-6A0B-486A-9430-A5B676DA799C}">
      <dgm:prSet/>
      <dgm:spPr/>
      <dgm:t>
        <a:bodyPr/>
        <a:lstStyle/>
        <a:p>
          <a:endParaRPr lang="en-US"/>
        </a:p>
      </dgm:t>
    </dgm:pt>
    <dgm:pt modelId="{3B2FD540-75A5-46A7-9FA0-E141A467C554}">
      <dgm:prSet/>
      <dgm:spPr/>
      <dgm:t>
        <a:bodyPr/>
        <a:lstStyle/>
        <a:p>
          <a:r>
            <a:rPr lang="es-ES"/>
            <a:t>Fomento de la inmigración</a:t>
          </a:r>
          <a:endParaRPr lang="en-US"/>
        </a:p>
      </dgm:t>
    </dgm:pt>
    <dgm:pt modelId="{731425FF-4D30-4375-88BA-77BE21879D2D}" type="parTrans" cxnId="{E1C19235-7717-4F6A-A350-D92BBF14348F}">
      <dgm:prSet/>
      <dgm:spPr/>
      <dgm:t>
        <a:bodyPr/>
        <a:lstStyle/>
        <a:p>
          <a:endParaRPr lang="en-US"/>
        </a:p>
      </dgm:t>
    </dgm:pt>
    <dgm:pt modelId="{48BBBB5E-5ADF-49B1-A5E2-5833778B3804}" type="sibTrans" cxnId="{E1C19235-7717-4F6A-A350-D92BBF14348F}">
      <dgm:prSet/>
      <dgm:spPr/>
      <dgm:t>
        <a:bodyPr/>
        <a:lstStyle/>
        <a:p>
          <a:endParaRPr lang="en-US"/>
        </a:p>
      </dgm:t>
    </dgm:pt>
    <dgm:pt modelId="{7DC731BB-4402-4B87-BCB0-A606DD230037}">
      <dgm:prSet/>
      <dgm:spPr/>
      <dgm:t>
        <a:bodyPr/>
        <a:lstStyle/>
        <a:p>
          <a:r>
            <a:rPr lang="es-ES"/>
            <a:t>Inversión en tecnología y automatización</a:t>
          </a:r>
          <a:endParaRPr lang="en-US"/>
        </a:p>
      </dgm:t>
    </dgm:pt>
    <dgm:pt modelId="{3573E513-1928-4867-AC69-2AECAE276A1F}" type="parTrans" cxnId="{3AC2FD14-527E-46DC-9F58-D3A161AAEBD7}">
      <dgm:prSet/>
      <dgm:spPr/>
      <dgm:t>
        <a:bodyPr/>
        <a:lstStyle/>
        <a:p>
          <a:endParaRPr lang="en-US"/>
        </a:p>
      </dgm:t>
    </dgm:pt>
    <dgm:pt modelId="{204C773D-C4F0-4AE4-A9B1-A83C6DA78D07}" type="sibTrans" cxnId="{3AC2FD14-527E-46DC-9F58-D3A161AAEBD7}">
      <dgm:prSet/>
      <dgm:spPr/>
      <dgm:t>
        <a:bodyPr/>
        <a:lstStyle/>
        <a:p>
          <a:endParaRPr lang="en-US"/>
        </a:p>
      </dgm:t>
    </dgm:pt>
    <dgm:pt modelId="{4409938F-ECFB-4C0B-835B-58E114443ABA}">
      <dgm:prSet/>
      <dgm:spPr/>
      <dgm:t>
        <a:bodyPr/>
        <a:lstStyle/>
        <a:p>
          <a:r>
            <a:rPr lang="es-ES"/>
            <a:t>Políticas para aumentar la fertilidad</a:t>
          </a:r>
          <a:endParaRPr lang="en-US"/>
        </a:p>
      </dgm:t>
    </dgm:pt>
    <dgm:pt modelId="{35C3A5E9-D70E-4ABC-8BF2-0CAB42FBF7DA}" type="parTrans" cxnId="{70A54466-4F9B-411C-A20A-A4D88074DAB9}">
      <dgm:prSet/>
      <dgm:spPr/>
      <dgm:t>
        <a:bodyPr/>
        <a:lstStyle/>
        <a:p>
          <a:endParaRPr lang="en-US"/>
        </a:p>
      </dgm:t>
    </dgm:pt>
    <dgm:pt modelId="{00A79A3D-EB76-4571-B64C-90CCF183D6E6}" type="sibTrans" cxnId="{70A54466-4F9B-411C-A20A-A4D88074DAB9}">
      <dgm:prSet/>
      <dgm:spPr/>
      <dgm:t>
        <a:bodyPr/>
        <a:lstStyle/>
        <a:p>
          <a:endParaRPr lang="en-US"/>
        </a:p>
      </dgm:t>
    </dgm:pt>
    <dgm:pt modelId="{EF6ECD92-0A99-4727-AE7F-CEB44C3D01F3}" type="pres">
      <dgm:prSet presAssocID="{0EB9D7D0-F1E7-44CA-8A1D-21C063A32C3B}" presName="linear" presStyleCnt="0">
        <dgm:presLayoutVars>
          <dgm:animLvl val="lvl"/>
          <dgm:resizeHandles val="exact"/>
        </dgm:presLayoutVars>
      </dgm:prSet>
      <dgm:spPr/>
    </dgm:pt>
    <dgm:pt modelId="{9F827D78-74CA-4123-9C95-9A0AFCAA0B21}" type="pres">
      <dgm:prSet presAssocID="{60A51071-DB48-404F-8A04-88BCF27468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57880E-4733-4441-A526-D7FC89EACA34}" type="pres">
      <dgm:prSet presAssocID="{6D8A1BE5-B596-45C6-9084-A99B1DF7C1B1}" presName="spacer" presStyleCnt="0"/>
      <dgm:spPr/>
    </dgm:pt>
    <dgm:pt modelId="{CACE3F49-C934-4F69-8E2D-3EE5AAF69A45}" type="pres">
      <dgm:prSet presAssocID="{3B2FD540-75A5-46A7-9FA0-E141A467C5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389E96F-420C-40A2-B543-49F62B96848B}" type="pres">
      <dgm:prSet presAssocID="{48BBBB5E-5ADF-49B1-A5E2-5833778B3804}" presName="spacer" presStyleCnt="0"/>
      <dgm:spPr/>
    </dgm:pt>
    <dgm:pt modelId="{2677DF0F-5469-40F2-9DFC-DC055C46B2F4}" type="pres">
      <dgm:prSet presAssocID="{7DC731BB-4402-4B87-BCB0-A606DD2300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6F416CE-5321-4F6F-A5DE-7FB35EF7C842}" type="pres">
      <dgm:prSet presAssocID="{204C773D-C4F0-4AE4-A9B1-A83C6DA78D07}" presName="spacer" presStyleCnt="0"/>
      <dgm:spPr/>
    </dgm:pt>
    <dgm:pt modelId="{769029DA-F5F2-4AD0-89C3-23353BA574F3}" type="pres">
      <dgm:prSet presAssocID="{4409938F-ECFB-4C0B-835B-58E114443A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AC2FD14-527E-46DC-9F58-D3A161AAEBD7}" srcId="{0EB9D7D0-F1E7-44CA-8A1D-21C063A32C3B}" destId="{7DC731BB-4402-4B87-BCB0-A606DD230037}" srcOrd="2" destOrd="0" parTransId="{3573E513-1928-4867-AC69-2AECAE276A1F}" sibTransId="{204C773D-C4F0-4AE4-A9B1-A83C6DA78D07}"/>
    <dgm:cxn modelId="{E1C19235-7717-4F6A-A350-D92BBF14348F}" srcId="{0EB9D7D0-F1E7-44CA-8A1D-21C063A32C3B}" destId="{3B2FD540-75A5-46A7-9FA0-E141A467C554}" srcOrd="1" destOrd="0" parTransId="{731425FF-4D30-4375-88BA-77BE21879D2D}" sibTransId="{48BBBB5E-5ADF-49B1-A5E2-5833778B3804}"/>
    <dgm:cxn modelId="{70A54466-4F9B-411C-A20A-A4D88074DAB9}" srcId="{0EB9D7D0-F1E7-44CA-8A1D-21C063A32C3B}" destId="{4409938F-ECFB-4C0B-835B-58E114443ABA}" srcOrd="3" destOrd="0" parTransId="{35C3A5E9-D70E-4ABC-8BF2-0CAB42FBF7DA}" sibTransId="{00A79A3D-EB76-4571-B64C-90CCF183D6E6}"/>
    <dgm:cxn modelId="{A571326E-F8DB-403F-A0DE-087B9DF31A34}" type="presOf" srcId="{60A51071-DB48-404F-8A04-88BCF2746827}" destId="{9F827D78-74CA-4123-9C95-9A0AFCAA0B21}" srcOrd="0" destOrd="0" presId="urn:microsoft.com/office/officeart/2005/8/layout/vList2"/>
    <dgm:cxn modelId="{C456E886-307E-4120-8937-897084171AB9}" type="presOf" srcId="{0EB9D7D0-F1E7-44CA-8A1D-21C063A32C3B}" destId="{EF6ECD92-0A99-4727-AE7F-CEB44C3D01F3}" srcOrd="0" destOrd="0" presId="urn:microsoft.com/office/officeart/2005/8/layout/vList2"/>
    <dgm:cxn modelId="{5D5C6994-014A-4EBD-B2FB-532A541EBDD4}" type="presOf" srcId="{4409938F-ECFB-4C0B-835B-58E114443ABA}" destId="{769029DA-F5F2-4AD0-89C3-23353BA574F3}" srcOrd="0" destOrd="0" presId="urn:microsoft.com/office/officeart/2005/8/layout/vList2"/>
    <dgm:cxn modelId="{405CFD9D-CAA3-4682-B389-07D7B4991AE6}" type="presOf" srcId="{7DC731BB-4402-4B87-BCB0-A606DD230037}" destId="{2677DF0F-5469-40F2-9DFC-DC055C46B2F4}" srcOrd="0" destOrd="0" presId="urn:microsoft.com/office/officeart/2005/8/layout/vList2"/>
    <dgm:cxn modelId="{F17CA7BB-6A0B-486A-9430-A5B676DA799C}" srcId="{0EB9D7D0-F1E7-44CA-8A1D-21C063A32C3B}" destId="{60A51071-DB48-404F-8A04-88BCF2746827}" srcOrd="0" destOrd="0" parTransId="{59D3BA39-1511-427C-977C-EC45B84E55E5}" sibTransId="{6D8A1BE5-B596-45C6-9084-A99B1DF7C1B1}"/>
    <dgm:cxn modelId="{C8C76CF3-B810-44F6-B715-8121AB7DF826}" type="presOf" srcId="{3B2FD540-75A5-46A7-9FA0-E141A467C554}" destId="{CACE3F49-C934-4F69-8E2D-3EE5AAF69A45}" srcOrd="0" destOrd="0" presId="urn:microsoft.com/office/officeart/2005/8/layout/vList2"/>
    <dgm:cxn modelId="{8B14C15E-BBDD-4677-B3E1-117F66C03D6A}" type="presParOf" srcId="{EF6ECD92-0A99-4727-AE7F-CEB44C3D01F3}" destId="{9F827D78-74CA-4123-9C95-9A0AFCAA0B21}" srcOrd="0" destOrd="0" presId="urn:microsoft.com/office/officeart/2005/8/layout/vList2"/>
    <dgm:cxn modelId="{B4355074-AF69-4398-B179-CE466572A785}" type="presParOf" srcId="{EF6ECD92-0A99-4727-AE7F-CEB44C3D01F3}" destId="{2857880E-4733-4441-A526-D7FC89EACA34}" srcOrd="1" destOrd="0" presId="urn:microsoft.com/office/officeart/2005/8/layout/vList2"/>
    <dgm:cxn modelId="{2B86BD53-9644-4085-BF05-2E2CBEB5EF35}" type="presParOf" srcId="{EF6ECD92-0A99-4727-AE7F-CEB44C3D01F3}" destId="{CACE3F49-C934-4F69-8E2D-3EE5AAF69A45}" srcOrd="2" destOrd="0" presId="urn:microsoft.com/office/officeart/2005/8/layout/vList2"/>
    <dgm:cxn modelId="{9B49EA75-40B5-4121-8B80-EAC2D0157B06}" type="presParOf" srcId="{EF6ECD92-0A99-4727-AE7F-CEB44C3D01F3}" destId="{9389E96F-420C-40A2-B543-49F62B96848B}" srcOrd="3" destOrd="0" presId="urn:microsoft.com/office/officeart/2005/8/layout/vList2"/>
    <dgm:cxn modelId="{B4412541-60D0-410A-AD29-7968939C3A3D}" type="presParOf" srcId="{EF6ECD92-0A99-4727-AE7F-CEB44C3D01F3}" destId="{2677DF0F-5469-40F2-9DFC-DC055C46B2F4}" srcOrd="4" destOrd="0" presId="urn:microsoft.com/office/officeart/2005/8/layout/vList2"/>
    <dgm:cxn modelId="{DA830278-CDDF-4ADC-9FDA-74A92E69799B}" type="presParOf" srcId="{EF6ECD92-0A99-4727-AE7F-CEB44C3D01F3}" destId="{B6F416CE-5321-4F6F-A5DE-7FB35EF7C842}" srcOrd="5" destOrd="0" presId="urn:microsoft.com/office/officeart/2005/8/layout/vList2"/>
    <dgm:cxn modelId="{A3005958-7163-421F-8132-32422103B5BF}" type="presParOf" srcId="{EF6ECD92-0A99-4727-AE7F-CEB44C3D01F3}" destId="{769029DA-F5F2-4AD0-89C3-23353BA574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2D3498-686B-4181-BDBA-137177615FB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6C574E-7375-4499-A86D-F0852D0C3BEF}">
      <dgm:prSet/>
      <dgm:spPr/>
      <dgm:t>
        <a:bodyPr/>
        <a:lstStyle/>
        <a:p>
          <a:r>
            <a:rPr lang="es-ES" b="0" i="0"/>
            <a:t>Definición de Capital Humano: conjunto de intangibles en la fuerza de trabajo.</a:t>
          </a:r>
          <a:endParaRPr lang="en-US"/>
        </a:p>
      </dgm:t>
    </dgm:pt>
    <dgm:pt modelId="{A49DF839-CCD5-489A-8696-5A0DB825AA97}" type="parTrans" cxnId="{6A3B8E50-0DDE-41CB-AD3D-7D02F5012AA8}">
      <dgm:prSet/>
      <dgm:spPr/>
      <dgm:t>
        <a:bodyPr/>
        <a:lstStyle/>
        <a:p>
          <a:endParaRPr lang="en-US"/>
        </a:p>
      </dgm:t>
    </dgm:pt>
    <dgm:pt modelId="{4B9B3481-2705-49FC-8AFD-7A97CA5BE18D}" type="sibTrans" cxnId="{6A3B8E50-0DDE-41CB-AD3D-7D02F5012AA8}">
      <dgm:prSet/>
      <dgm:spPr/>
      <dgm:t>
        <a:bodyPr/>
        <a:lstStyle/>
        <a:p>
          <a:endParaRPr lang="en-US"/>
        </a:p>
      </dgm:t>
    </dgm:pt>
    <dgm:pt modelId="{76C2B90A-0B1E-4206-8618-8F2A10BF7564}">
      <dgm:prSet/>
      <dgm:spPr/>
      <dgm:t>
        <a:bodyPr/>
        <a:lstStyle/>
        <a:p>
          <a:r>
            <a:rPr lang="es-ES" b="0" i="0"/>
            <a:t>Importancia estratégica: contribuye al crecimiento económico y al progreso tecnológico.</a:t>
          </a:r>
          <a:endParaRPr lang="en-US"/>
        </a:p>
      </dgm:t>
    </dgm:pt>
    <dgm:pt modelId="{63F6FF91-BA66-4FD2-8A6D-D0969502ABD3}" type="parTrans" cxnId="{E190F4CA-C1B4-4ED5-921C-8E1595504634}">
      <dgm:prSet/>
      <dgm:spPr/>
      <dgm:t>
        <a:bodyPr/>
        <a:lstStyle/>
        <a:p>
          <a:endParaRPr lang="en-US"/>
        </a:p>
      </dgm:t>
    </dgm:pt>
    <dgm:pt modelId="{8D340D7A-933A-4961-A30B-0FFA32E9CEBE}" type="sibTrans" cxnId="{E190F4CA-C1B4-4ED5-921C-8E1595504634}">
      <dgm:prSet/>
      <dgm:spPr/>
      <dgm:t>
        <a:bodyPr/>
        <a:lstStyle/>
        <a:p>
          <a:endParaRPr lang="en-US"/>
        </a:p>
      </dgm:t>
    </dgm:pt>
    <dgm:pt modelId="{7725FF71-2382-444F-AB54-3137662305C2}">
      <dgm:prSet/>
      <dgm:spPr/>
      <dgm:t>
        <a:bodyPr/>
        <a:lstStyle/>
        <a:p>
          <a:r>
            <a:rPr lang="es-ES" b="0" i="0"/>
            <a:t>Externalidades positivas y círculo virtuoso de crecimiento.</a:t>
          </a:r>
          <a:endParaRPr lang="en-US"/>
        </a:p>
      </dgm:t>
    </dgm:pt>
    <dgm:pt modelId="{6DC2E756-5184-4DC1-9B61-D296D1F2C91C}" type="parTrans" cxnId="{CC9119DC-7FA6-4F9A-9ADA-B7FF7D319895}">
      <dgm:prSet/>
      <dgm:spPr/>
      <dgm:t>
        <a:bodyPr/>
        <a:lstStyle/>
        <a:p>
          <a:endParaRPr lang="en-US"/>
        </a:p>
      </dgm:t>
    </dgm:pt>
    <dgm:pt modelId="{414B9062-D264-488D-92B0-01DEB77B6BE9}" type="sibTrans" cxnId="{CC9119DC-7FA6-4F9A-9ADA-B7FF7D319895}">
      <dgm:prSet/>
      <dgm:spPr/>
      <dgm:t>
        <a:bodyPr/>
        <a:lstStyle/>
        <a:p>
          <a:endParaRPr lang="en-US"/>
        </a:p>
      </dgm:t>
    </dgm:pt>
    <dgm:pt modelId="{362F9096-AA95-41C2-B584-5B44B779EA36}" type="pres">
      <dgm:prSet presAssocID="{602D3498-686B-4181-BDBA-137177615FB9}" presName="linear" presStyleCnt="0">
        <dgm:presLayoutVars>
          <dgm:animLvl val="lvl"/>
          <dgm:resizeHandles val="exact"/>
        </dgm:presLayoutVars>
      </dgm:prSet>
      <dgm:spPr/>
    </dgm:pt>
    <dgm:pt modelId="{2D7B793E-ECEE-45B0-BECD-A770B46ACC76}" type="pres">
      <dgm:prSet presAssocID="{376C574E-7375-4499-A86D-F0852D0C3B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5E28FD-BA78-4CAF-A437-ABBF9D0D8BD7}" type="pres">
      <dgm:prSet presAssocID="{4B9B3481-2705-49FC-8AFD-7A97CA5BE18D}" presName="spacer" presStyleCnt="0"/>
      <dgm:spPr/>
    </dgm:pt>
    <dgm:pt modelId="{CD640227-214E-45A5-90AA-E60E37A7B1FF}" type="pres">
      <dgm:prSet presAssocID="{76C2B90A-0B1E-4206-8618-8F2A10BF75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BC8CDC-A817-42EB-9128-52DC8530C006}" type="pres">
      <dgm:prSet presAssocID="{8D340D7A-933A-4961-A30B-0FFA32E9CEBE}" presName="spacer" presStyleCnt="0"/>
      <dgm:spPr/>
    </dgm:pt>
    <dgm:pt modelId="{F8B92C60-5CD7-4EC1-B3A3-34A0856B4F00}" type="pres">
      <dgm:prSet presAssocID="{7725FF71-2382-444F-AB54-3137662305C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3386170-B85D-4E91-B35A-6EBA01E6333B}" type="presOf" srcId="{7725FF71-2382-444F-AB54-3137662305C2}" destId="{F8B92C60-5CD7-4EC1-B3A3-34A0856B4F00}" srcOrd="0" destOrd="0" presId="urn:microsoft.com/office/officeart/2005/8/layout/vList2"/>
    <dgm:cxn modelId="{6A3B8E50-0DDE-41CB-AD3D-7D02F5012AA8}" srcId="{602D3498-686B-4181-BDBA-137177615FB9}" destId="{376C574E-7375-4499-A86D-F0852D0C3BEF}" srcOrd="0" destOrd="0" parTransId="{A49DF839-CCD5-489A-8696-5A0DB825AA97}" sibTransId="{4B9B3481-2705-49FC-8AFD-7A97CA5BE18D}"/>
    <dgm:cxn modelId="{21D1048E-0F79-4D75-A4EF-1E299796F301}" type="presOf" srcId="{376C574E-7375-4499-A86D-F0852D0C3BEF}" destId="{2D7B793E-ECEE-45B0-BECD-A770B46ACC76}" srcOrd="0" destOrd="0" presId="urn:microsoft.com/office/officeart/2005/8/layout/vList2"/>
    <dgm:cxn modelId="{D95738C0-F69E-4FDB-BD12-60EB11EB3AC4}" type="presOf" srcId="{602D3498-686B-4181-BDBA-137177615FB9}" destId="{362F9096-AA95-41C2-B584-5B44B779EA36}" srcOrd="0" destOrd="0" presId="urn:microsoft.com/office/officeart/2005/8/layout/vList2"/>
    <dgm:cxn modelId="{E190F4CA-C1B4-4ED5-921C-8E1595504634}" srcId="{602D3498-686B-4181-BDBA-137177615FB9}" destId="{76C2B90A-0B1E-4206-8618-8F2A10BF7564}" srcOrd="1" destOrd="0" parTransId="{63F6FF91-BA66-4FD2-8A6D-D0969502ABD3}" sibTransId="{8D340D7A-933A-4961-A30B-0FFA32E9CEBE}"/>
    <dgm:cxn modelId="{CC9119DC-7FA6-4F9A-9ADA-B7FF7D319895}" srcId="{602D3498-686B-4181-BDBA-137177615FB9}" destId="{7725FF71-2382-444F-AB54-3137662305C2}" srcOrd="2" destOrd="0" parTransId="{6DC2E756-5184-4DC1-9B61-D296D1F2C91C}" sibTransId="{414B9062-D264-488D-92B0-01DEB77B6BE9}"/>
    <dgm:cxn modelId="{AD66EEFB-14E1-4064-A4FF-8DC34B8FC5FE}" type="presOf" srcId="{76C2B90A-0B1E-4206-8618-8F2A10BF7564}" destId="{CD640227-214E-45A5-90AA-E60E37A7B1FF}" srcOrd="0" destOrd="0" presId="urn:microsoft.com/office/officeart/2005/8/layout/vList2"/>
    <dgm:cxn modelId="{AB4264D6-3E1A-4DD3-B0E8-05FDDF80E93F}" type="presParOf" srcId="{362F9096-AA95-41C2-B584-5B44B779EA36}" destId="{2D7B793E-ECEE-45B0-BECD-A770B46ACC76}" srcOrd="0" destOrd="0" presId="urn:microsoft.com/office/officeart/2005/8/layout/vList2"/>
    <dgm:cxn modelId="{680E0393-573B-4826-BC67-7E797798FDC1}" type="presParOf" srcId="{362F9096-AA95-41C2-B584-5B44B779EA36}" destId="{E45E28FD-BA78-4CAF-A437-ABBF9D0D8BD7}" srcOrd="1" destOrd="0" presId="urn:microsoft.com/office/officeart/2005/8/layout/vList2"/>
    <dgm:cxn modelId="{CC7C00A4-BD87-4E7B-B938-8200E408D1BC}" type="presParOf" srcId="{362F9096-AA95-41C2-B584-5B44B779EA36}" destId="{CD640227-214E-45A5-90AA-E60E37A7B1FF}" srcOrd="2" destOrd="0" presId="urn:microsoft.com/office/officeart/2005/8/layout/vList2"/>
    <dgm:cxn modelId="{94EAA069-31FB-4E36-953F-329A75830FC0}" type="presParOf" srcId="{362F9096-AA95-41C2-B584-5B44B779EA36}" destId="{CBBC8CDC-A817-42EB-9128-52DC8530C006}" srcOrd="3" destOrd="0" presId="urn:microsoft.com/office/officeart/2005/8/layout/vList2"/>
    <dgm:cxn modelId="{FE607F8F-5CA1-45C7-8AB8-9D8CA75BF6A8}" type="presParOf" srcId="{362F9096-AA95-41C2-B584-5B44B779EA36}" destId="{F8B92C60-5CD7-4EC1-B3A3-34A0856B4F0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4D86A78-B335-4282-9B31-DDE3C2F766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7AAEEC-3D4F-4A29-9141-791F450A9445}">
      <dgm:prSet/>
      <dgm:spPr/>
      <dgm:t>
        <a:bodyPr/>
        <a:lstStyle/>
        <a:p>
          <a:r>
            <a:rPr lang="es-ES"/>
            <a:t>Aumento de la demanda de servicios de salud: Las personas mayores requieren más atención médica, hospitalizaciones y cuidados a largo plazo.</a:t>
          </a:r>
          <a:endParaRPr lang="en-US"/>
        </a:p>
      </dgm:t>
    </dgm:pt>
    <dgm:pt modelId="{F9E3A307-56EC-4C6F-B66F-24745EE8A8CF}" type="parTrans" cxnId="{69555E30-6055-49C3-977A-CBF242875134}">
      <dgm:prSet/>
      <dgm:spPr/>
      <dgm:t>
        <a:bodyPr/>
        <a:lstStyle/>
        <a:p>
          <a:endParaRPr lang="en-US"/>
        </a:p>
      </dgm:t>
    </dgm:pt>
    <dgm:pt modelId="{9D4C7DE1-DDDE-417E-AF4B-976D3AF17586}" type="sibTrans" cxnId="{69555E30-6055-49C3-977A-CBF242875134}">
      <dgm:prSet/>
      <dgm:spPr/>
      <dgm:t>
        <a:bodyPr/>
        <a:lstStyle/>
        <a:p>
          <a:endParaRPr lang="en-US"/>
        </a:p>
      </dgm:t>
    </dgm:pt>
    <dgm:pt modelId="{0DF364BE-3ED5-4D94-8FAA-C8179F22CDB7}">
      <dgm:prSet/>
      <dgm:spPr/>
      <dgm:t>
        <a:bodyPr/>
        <a:lstStyle/>
        <a:p>
          <a:r>
            <a:rPr lang="es-ES"/>
            <a:t>Mayor prevalencia de enfermedades crónicas: El envejecimiento se asocia con una mayor incidencia de enfermedades como la demencia, el Alzheimer, enfermedades cardíacas y cáncer.</a:t>
          </a:r>
          <a:endParaRPr lang="en-US"/>
        </a:p>
      </dgm:t>
    </dgm:pt>
    <dgm:pt modelId="{C125AFF8-082C-44D6-AE2D-8737A0637DD7}" type="parTrans" cxnId="{D42A357C-D0D2-4465-8BA0-90C4494E78F6}">
      <dgm:prSet/>
      <dgm:spPr/>
      <dgm:t>
        <a:bodyPr/>
        <a:lstStyle/>
        <a:p>
          <a:endParaRPr lang="en-US"/>
        </a:p>
      </dgm:t>
    </dgm:pt>
    <dgm:pt modelId="{8FEF66D6-3C63-4F5B-9896-27B9E9B4E67B}" type="sibTrans" cxnId="{D42A357C-D0D2-4465-8BA0-90C4494E78F6}">
      <dgm:prSet/>
      <dgm:spPr/>
      <dgm:t>
        <a:bodyPr/>
        <a:lstStyle/>
        <a:p>
          <a:endParaRPr lang="en-US"/>
        </a:p>
      </dgm:t>
    </dgm:pt>
    <dgm:pt modelId="{C3DF7408-DBC7-4B6E-B9AF-48A8F94CB543}">
      <dgm:prSet/>
      <dgm:spPr/>
      <dgm:t>
        <a:bodyPr/>
        <a:lstStyle/>
        <a:p>
          <a:r>
            <a:rPr lang="es-ES"/>
            <a:t>Necesidad de adaptar la infraestructura y la formación del personal: Se requiere invertir en instalaciones geriátricas, equipos especializados y capacitar a los profesionales de la salud en el cuidado de pacientes mayores.</a:t>
          </a:r>
          <a:endParaRPr lang="en-US"/>
        </a:p>
      </dgm:t>
    </dgm:pt>
    <dgm:pt modelId="{16AB60C4-6F00-4418-BED8-D5727D58E80A}" type="parTrans" cxnId="{6CB7190D-E17C-4C91-A4E3-1AB7C43B3F72}">
      <dgm:prSet/>
      <dgm:spPr/>
      <dgm:t>
        <a:bodyPr/>
        <a:lstStyle/>
        <a:p>
          <a:endParaRPr lang="en-US"/>
        </a:p>
      </dgm:t>
    </dgm:pt>
    <dgm:pt modelId="{E63AE203-217B-4631-AB3B-91133987778F}" type="sibTrans" cxnId="{6CB7190D-E17C-4C91-A4E3-1AB7C43B3F72}">
      <dgm:prSet/>
      <dgm:spPr/>
      <dgm:t>
        <a:bodyPr/>
        <a:lstStyle/>
        <a:p>
          <a:endParaRPr lang="en-US"/>
        </a:p>
      </dgm:t>
    </dgm:pt>
    <dgm:pt modelId="{46CCC261-08EC-4208-9652-8B446568F8BF}" type="pres">
      <dgm:prSet presAssocID="{D4D86A78-B335-4282-9B31-DDE3C2F766C1}" presName="linear" presStyleCnt="0">
        <dgm:presLayoutVars>
          <dgm:animLvl val="lvl"/>
          <dgm:resizeHandles val="exact"/>
        </dgm:presLayoutVars>
      </dgm:prSet>
      <dgm:spPr/>
    </dgm:pt>
    <dgm:pt modelId="{19EDB3A8-4403-461A-9B50-6DBC12BACB95}" type="pres">
      <dgm:prSet presAssocID="{207AAEEC-3D4F-4A29-9141-791F450A94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22FAE4-C7A9-4780-8250-469024BB6213}" type="pres">
      <dgm:prSet presAssocID="{9D4C7DE1-DDDE-417E-AF4B-976D3AF17586}" presName="spacer" presStyleCnt="0"/>
      <dgm:spPr/>
    </dgm:pt>
    <dgm:pt modelId="{D8D9E0B4-AB93-49AB-A267-694B527F561E}" type="pres">
      <dgm:prSet presAssocID="{0DF364BE-3ED5-4D94-8FAA-C8179F22CD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CAA2CE-35E6-4EEB-9C41-90D7C23D2734}" type="pres">
      <dgm:prSet presAssocID="{8FEF66D6-3C63-4F5B-9896-27B9E9B4E67B}" presName="spacer" presStyleCnt="0"/>
      <dgm:spPr/>
    </dgm:pt>
    <dgm:pt modelId="{40A1F01D-5116-4D65-A4D2-548A60F76F5F}" type="pres">
      <dgm:prSet presAssocID="{C3DF7408-DBC7-4B6E-B9AF-48A8F94CB5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99CF02-2519-4354-80CF-69163DEA36F1}" type="presOf" srcId="{207AAEEC-3D4F-4A29-9141-791F450A9445}" destId="{19EDB3A8-4403-461A-9B50-6DBC12BACB95}" srcOrd="0" destOrd="0" presId="urn:microsoft.com/office/officeart/2005/8/layout/vList2"/>
    <dgm:cxn modelId="{6CB7190D-E17C-4C91-A4E3-1AB7C43B3F72}" srcId="{D4D86A78-B335-4282-9B31-DDE3C2F766C1}" destId="{C3DF7408-DBC7-4B6E-B9AF-48A8F94CB543}" srcOrd="2" destOrd="0" parTransId="{16AB60C4-6F00-4418-BED8-D5727D58E80A}" sibTransId="{E63AE203-217B-4631-AB3B-91133987778F}"/>
    <dgm:cxn modelId="{56405510-A5AC-44A8-9305-1EB528B92874}" type="presOf" srcId="{C3DF7408-DBC7-4B6E-B9AF-48A8F94CB543}" destId="{40A1F01D-5116-4D65-A4D2-548A60F76F5F}" srcOrd="0" destOrd="0" presId="urn:microsoft.com/office/officeart/2005/8/layout/vList2"/>
    <dgm:cxn modelId="{6D3F071D-53AE-44AB-AE54-1DAF4289AF8E}" type="presOf" srcId="{D4D86A78-B335-4282-9B31-DDE3C2F766C1}" destId="{46CCC261-08EC-4208-9652-8B446568F8BF}" srcOrd="0" destOrd="0" presId="urn:microsoft.com/office/officeart/2005/8/layout/vList2"/>
    <dgm:cxn modelId="{69555E30-6055-49C3-977A-CBF242875134}" srcId="{D4D86A78-B335-4282-9B31-DDE3C2F766C1}" destId="{207AAEEC-3D4F-4A29-9141-791F450A9445}" srcOrd="0" destOrd="0" parTransId="{F9E3A307-56EC-4C6F-B66F-24745EE8A8CF}" sibTransId="{9D4C7DE1-DDDE-417E-AF4B-976D3AF17586}"/>
    <dgm:cxn modelId="{A3898E76-A7E1-4CE9-AC40-9DD7956A1578}" type="presOf" srcId="{0DF364BE-3ED5-4D94-8FAA-C8179F22CDB7}" destId="{D8D9E0B4-AB93-49AB-A267-694B527F561E}" srcOrd="0" destOrd="0" presId="urn:microsoft.com/office/officeart/2005/8/layout/vList2"/>
    <dgm:cxn modelId="{D42A357C-D0D2-4465-8BA0-90C4494E78F6}" srcId="{D4D86A78-B335-4282-9B31-DDE3C2F766C1}" destId="{0DF364BE-3ED5-4D94-8FAA-C8179F22CDB7}" srcOrd="1" destOrd="0" parTransId="{C125AFF8-082C-44D6-AE2D-8737A0637DD7}" sibTransId="{8FEF66D6-3C63-4F5B-9896-27B9E9B4E67B}"/>
    <dgm:cxn modelId="{42A5AA5A-35C3-4719-9A28-53F29EE8BC04}" type="presParOf" srcId="{46CCC261-08EC-4208-9652-8B446568F8BF}" destId="{19EDB3A8-4403-461A-9B50-6DBC12BACB95}" srcOrd="0" destOrd="0" presId="urn:microsoft.com/office/officeart/2005/8/layout/vList2"/>
    <dgm:cxn modelId="{E579FB6D-AF73-469D-9731-A7B17864AA75}" type="presParOf" srcId="{46CCC261-08EC-4208-9652-8B446568F8BF}" destId="{3622FAE4-C7A9-4780-8250-469024BB6213}" srcOrd="1" destOrd="0" presId="urn:microsoft.com/office/officeart/2005/8/layout/vList2"/>
    <dgm:cxn modelId="{791F2922-B746-4D34-ABF2-838003B0A7F8}" type="presParOf" srcId="{46CCC261-08EC-4208-9652-8B446568F8BF}" destId="{D8D9E0B4-AB93-49AB-A267-694B527F561E}" srcOrd="2" destOrd="0" presId="urn:microsoft.com/office/officeart/2005/8/layout/vList2"/>
    <dgm:cxn modelId="{99FEAE5A-6509-47A6-A819-B5170CF9501F}" type="presParOf" srcId="{46CCC261-08EC-4208-9652-8B446568F8BF}" destId="{11CAA2CE-35E6-4EEB-9C41-90D7C23D2734}" srcOrd="3" destOrd="0" presId="urn:microsoft.com/office/officeart/2005/8/layout/vList2"/>
    <dgm:cxn modelId="{F11E2F56-C0AA-4571-9566-A6C91081FF08}" type="presParOf" srcId="{46CCC261-08EC-4208-9652-8B446568F8BF}" destId="{40A1F01D-5116-4D65-A4D2-548A60F76F5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3C5C6DE-63C2-47B1-945B-53D0DE1726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0A2EBC-DA91-47A9-9638-E081D005DF5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Incremento del gasto público en salud: El aumento de la demanda de servicios y la mayor prevalencia de enfermedades crónicas elevan los costos de atención médica.</a:t>
          </a:r>
          <a:endParaRPr lang="en-US"/>
        </a:p>
      </dgm:t>
    </dgm:pt>
    <dgm:pt modelId="{2FF77745-C361-410E-AF8F-47E962E31E06}" type="parTrans" cxnId="{E614F01F-5E30-4791-AC6A-A1C9817629DC}">
      <dgm:prSet/>
      <dgm:spPr/>
      <dgm:t>
        <a:bodyPr/>
        <a:lstStyle/>
        <a:p>
          <a:endParaRPr lang="en-US"/>
        </a:p>
      </dgm:t>
    </dgm:pt>
    <dgm:pt modelId="{B0BDB436-0B8C-4ACD-99F7-FF620CD65E45}" type="sibTrans" cxnId="{E614F01F-5E30-4791-AC6A-A1C9817629DC}">
      <dgm:prSet/>
      <dgm:spPr/>
      <dgm:t>
        <a:bodyPr/>
        <a:lstStyle/>
        <a:p>
          <a:endParaRPr lang="en-US"/>
        </a:p>
      </dgm:t>
    </dgm:pt>
    <dgm:pt modelId="{904A2FA5-D4E6-482D-A4A2-F15DAC82E02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Sostenibilidad de los sistemas de salud: El envejecimiento de la población plantea desafíos para la sostenibilidad financiera de los sistemas de salud, especialmente en países con sistemas de salud pública.</a:t>
          </a:r>
          <a:endParaRPr lang="en-US"/>
        </a:p>
      </dgm:t>
    </dgm:pt>
    <dgm:pt modelId="{E5898D9E-7809-4855-970E-F563537CB0D4}" type="parTrans" cxnId="{4E60E9FC-681E-4C8D-BF8A-84FA22B5C504}">
      <dgm:prSet/>
      <dgm:spPr/>
      <dgm:t>
        <a:bodyPr/>
        <a:lstStyle/>
        <a:p>
          <a:endParaRPr lang="en-US"/>
        </a:p>
      </dgm:t>
    </dgm:pt>
    <dgm:pt modelId="{D5C0C193-16EF-45F6-988D-EE17986568E5}" type="sibTrans" cxnId="{4E60E9FC-681E-4C8D-BF8A-84FA22B5C504}">
      <dgm:prSet/>
      <dgm:spPr/>
      <dgm:t>
        <a:bodyPr/>
        <a:lstStyle/>
        <a:p>
          <a:endParaRPr lang="en-US"/>
        </a:p>
      </dgm:t>
    </dgm:pt>
    <dgm:pt modelId="{69B29FE5-D2D0-4456-B406-50FB5AF81FE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Búsqueda de soluciones para contener los costos: Es necesario implementar medidas como la promoción de la prevención, la gestión eficiente de los recursos y la búsqueda de modelos de atención innovadores.</a:t>
          </a:r>
          <a:endParaRPr lang="en-US"/>
        </a:p>
      </dgm:t>
    </dgm:pt>
    <dgm:pt modelId="{75BAEBDA-E20F-4525-906E-ADB31005859A}" type="parTrans" cxnId="{5376C998-3056-4B54-B49B-B3E42AB33EE1}">
      <dgm:prSet/>
      <dgm:spPr/>
      <dgm:t>
        <a:bodyPr/>
        <a:lstStyle/>
        <a:p>
          <a:endParaRPr lang="en-US"/>
        </a:p>
      </dgm:t>
    </dgm:pt>
    <dgm:pt modelId="{40145AA8-1431-430E-AAFB-94F4FE131845}" type="sibTrans" cxnId="{5376C998-3056-4B54-B49B-B3E42AB33EE1}">
      <dgm:prSet/>
      <dgm:spPr/>
      <dgm:t>
        <a:bodyPr/>
        <a:lstStyle/>
        <a:p>
          <a:endParaRPr lang="en-US"/>
        </a:p>
      </dgm:t>
    </dgm:pt>
    <dgm:pt modelId="{3FFC5A06-3126-493E-B768-6A23D00BA4D3}" type="pres">
      <dgm:prSet presAssocID="{83C5C6DE-63C2-47B1-945B-53D0DE1726B2}" presName="root" presStyleCnt="0">
        <dgm:presLayoutVars>
          <dgm:dir/>
          <dgm:resizeHandles val="exact"/>
        </dgm:presLayoutVars>
      </dgm:prSet>
      <dgm:spPr/>
    </dgm:pt>
    <dgm:pt modelId="{FE9CE778-5824-427E-8CF0-1CE75D024BE9}" type="pres">
      <dgm:prSet presAssocID="{E30A2EBC-DA91-47A9-9638-E081D005DF51}" presName="compNode" presStyleCnt="0"/>
      <dgm:spPr/>
    </dgm:pt>
    <dgm:pt modelId="{90C1A91A-CF64-451F-A864-C498EC7F7977}" type="pres">
      <dgm:prSet presAssocID="{E30A2EBC-DA91-47A9-9638-E081D005DF51}" presName="bgRect" presStyleLbl="bgShp" presStyleIdx="0" presStyleCnt="3"/>
      <dgm:spPr/>
    </dgm:pt>
    <dgm:pt modelId="{6C659301-38A7-4395-85D7-73ABA8E12140}" type="pres">
      <dgm:prSet presAssocID="{E30A2EBC-DA91-47A9-9638-E081D005DF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01D79105-B7A9-43A5-BD9D-FC084C270732}" type="pres">
      <dgm:prSet presAssocID="{E30A2EBC-DA91-47A9-9638-E081D005DF51}" presName="spaceRect" presStyleCnt="0"/>
      <dgm:spPr/>
    </dgm:pt>
    <dgm:pt modelId="{C31B3659-36EF-4C40-9B7A-8ECEE24D6CE7}" type="pres">
      <dgm:prSet presAssocID="{E30A2EBC-DA91-47A9-9638-E081D005DF51}" presName="parTx" presStyleLbl="revTx" presStyleIdx="0" presStyleCnt="3">
        <dgm:presLayoutVars>
          <dgm:chMax val="0"/>
          <dgm:chPref val="0"/>
        </dgm:presLayoutVars>
      </dgm:prSet>
      <dgm:spPr/>
    </dgm:pt>
    <dgm:pt modelId="{F64CD214-00CA-4EC1-9102-4E15D903DC04}" type="pres">
      <dgm:prSet presAssocID="{B0BDB436-0B8C-4ACD-99F7-FF620CD65E45}" presName="sibTrans" presStyleCnt="0"/>
      <dgm:spPr/>
    </dgm:pt>
    <dgm:pt modelId="{3E8B936B-DB4A-42C7-BC87-50787210BE24}" type="pres">
      <dgm:prSet presAssocID="{904A2FA5-D4E6-482D-A4A2-F15DAC82E02E}" presName="compNode" presStyleCnt="0"/>
      <dgm:spPr/>
    </dgm:pt>
    <dgm:pt modelId="{FCA64231-3332-47B1-A516-8489105FC791}" type="pres">
      <dgm:prSet presAssocID="{904A2FA5-D4E6-482D-A4A2-F15DAC82E02E}" presName="bgRect" presStyleLbl="bgShp" presStyleIdx="1" presStyleCnt="3"/>
      <dgm:spPr/>
    </dgm:pt>
    <dgm:pt modelId="{A4B7D1B4-C2AC-4958-98AC-78B606F7B3F8}" type="pres">
      <dgm:prSet presAssocID="{904A2FA5-D4E6-482D-A4A2-F15DAC82E0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88296D47-66B6-4CF4-AB47-2946C6752C7F}" type="pres">
      <dgm:prSet presAssocID="{904A2FA5-D4E6-482D-A4A2-F15DAC82E02E}" presName="spaceRect" presStyleCnt="0"/>
      <dgm:spPr/>
    </dgm:pt>
    <dgm:pt modelId="{10237E9F-B45D-46CE-97F4-89C2DD7DDB9D}" type="pres">
      <dgm:prSet presAssocID="{904A2FA5-D4E6-482D-A4A2-F15DAC82E02E}" presName="parTx" presStyleLbl="revTx" presStyleIdx="1" presStyleCnt="3">
        <dgm:presLayoutVars>
          <dgm:chMax val="0"/>
          <dgm:chPref val="0"/>
        </dgm:presLayoutVars>
      </dgm:prSet>
      <dgm:spPr/>
    </dgm:pt>
    <dgm:pt modelId="{635DF5E7-CCC8-4CF6-8251-246F841AB496}" type="pres">
      <dgm:prSet presAssocID="{D5C0C193-16EF-45F6-988D-EE17986568E5}" presName="sibTrans" presStyleCnt="0"/>
      <dgm:spPr/>
    </dgm:pt>
    <dgm:pt modelId="{A14C0BD8-E0F6-441A-8C2D-515253BB9842}" type="pres">
      <dgm:prSet presAssocID="{69B29FE5-D2D0-4456-B406-50FB5AF81FEB}" presName="compNode" presStyleCnt="0"/>
      <dgm:spPr/>
    </dgm:pt>
    <dgm:pt modelId="{2C4C5632-E94A-4E75-BD23-70DF5D0B8CE6}" type="pres">
      <dgm:prSet presAssocID="{69B29FE5-D2D0-4456-B406-50FB5AF81FEB}" presName="bgRect" presStyleLbl="bgShp" presStyleIdx="2" presStyleCnt="3"/>
      <dgm:spPr/>
    </dgm:pt>
    <dgm:pt modelId="{E8B90F23-FA17-4841-9E95-F6631D05D86C}" type="pres">
      <dgm:prSet presAssocID="{69B29FE5-D2D0-4456-B406-50FB5AF81F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áfono"/>
        </a:ext>
      </dgm:extLst>
    </dgm:pt>
    <dgm:pt modelId="{087D35C1-F7D2-4932-B185-980FA53D6335}" type="pres">
      <dgm:prSet presAssocID="{69B29FE5-D2D0-4456-B406-50FB5AF81FEB}" presName="spaceRect" presStyleCnt="0"/>
      <dgm:spPr/>
    </dgm:pt>
    <dgm:pt modelId="{002C8966-92FE-4E4C-B03F-5103BFAC13C6}" type="pres">
      <dgm:prSet presAssocID="{69B29FE5-D2D0-4456-B406-50FB5AF81F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614F01F-5E30-4791-AC6A-A1C9817629DC}" srcId="{83C5C6DE-63C2-47B1-945B-53D0DE1726B2}" destId="{E30A2EBC-DA91-47A9-9638-E081D005DF51}" srcOrd="0" destOrd="0" parTransId="{2FF77745-C361-410E-AF8F-47E962E31E06}" sibTransId="{B0BDB436-0B8C-4ACD-99F7-FF620CD65E45}"/>
    <dgm:cxn modelId="{6E10DA20-2F9A-4307-9ABA-27CB65B944F1}" type="presOf" srcId="{904A2FA5-D4E6-482D-A4A2-F15DAC82E02E}" destId="{10237E9F-B45D-46CE-97F4-89C2DD7DDB9D}" srcOrd="0" destOrd="0" presId="urn:microsoft.com/office/officeart/2018/2/layout/IconVerticalSolidList"/>
    <dgm:cxn modelId="{F9072330-A54C-4D01-80B3-63825DF509E5}" type="presOf" srcId="{E30A2EBC-DA91-47A9-9638-E081D005DF51}" destId="{C31B3659-36EF-4C40-9B7A-8ECEE24D6CE7}" srcOrd="0" destOrd="0" presId="urn:microsoft.com/office/officeart/2018/2/layout/IconVerticalSolidList"/>
    <dgm:cxn modelId="{5376C998-3056-4B54-B49B-B3E42AB33EE1}" srcId="{83C5C6DE-63C2-47B1-945B-53D0DE1726B2}" destId="{69B29FE5-D2D0-4456-B406-50FB5AF81FEB}" srcOrd="2" destOrd="0" parTransId="{75BAEBDA-E20F-4525-906E-ADB31005859A}" sibTransId="{40145AA8-1431-430E-AAFB-94F4FE131845}"/>
    <dgm:cxn modelId="{F3028FDE-732C-4168-8175-C7311E5DC99A}" type="presOf" srcId="{69B29FE5-D2D0-4456-B406-50FB5AF81FEB}" destId="{002C8966-92FE-4E4C-B03F-5103BFAC13C6}" srcOrd="0" destOrd="0" presId="urn:microsoft.com/office/officeart/2018/2/layout/IconVerticalSolidList"/>
    <dgm:cxn modelId="{4E60E9FC-681E-4C8D-BF8A-84FA22B5C504}" srcId="{83C5C6DE-63C2-47B1-945B-53D0DE1726B2}" destId="{904A2FA5-D4E6-482D-A4A2-F15DAC82E02E}" srcOrd="1" destOrd="0" parTransId="{E5898D9E-7809-4855-970E-F563537CB0D4}" sibTransId="{D5C0C193-16EF-45F6-988D-EE17986568E5}"/>
    <dgm:cxn modelId="{E69A3DFF-F09F-476C-8E65-E9C0773BC28F}" type="presOf" srcId="{83C5C6DE-63C2-47B1-945B-53D0DE1726B2}" destId="{3FFC5A06-3126-493E-B768-6A23D00BA4D3}" srcOrd="0" destOrd="0" presId="urn:microsoft.com/office/officeart/2018/2/layout/IconVerticalSolidList"/>
    <dgm:cxn modelId="{D4E4DEA5-EB1C-4B1B-87A6-D0CC799EF298}" type="presParOf" srcId="{3FFC5A06-3126-493E-B768-6A23D00BA4D3}" destId="{FE9CE778-5824-427E-8CF0-1CE75D024BE9}" srcOrd="0" destOrd="0" presId="urn:microsoft.com/office/officeart/2018/2/layout/IconVerticalSolidList"/>
    <dgm:cxn modelId="{52CCDD35-9AE5-4299-9134-014007AC1F99}" type="presParOf" srcId="{FE9CE778-5824-427E-8CF0-1CE75D024BE9}" destId="{90C1A91A-CF64-451F-A864-C498EC7F7977}" srcOrd="0" destOrd="0" presId="urn:microsoft.com/office/officeart/2018/2/layout/IconVerticalSolidList"/>
    <dgm:cxn modelId="{59BB7B3A-B49A-4A5E-8359-62139DADFADF}" type="presParOf" srcId="{FE9CE778-5824-427E-8CF0-1CE75D024BE9}" destId="{6C659301-38A7-4395-85D7-73ABA8E12140}" srcOrd="1" destOrd="0" presId="urn:microsoft.com/office/officeart/2018/2/layout/IconVerticalSolidList"/>
    <dgm:cxn modelId="{0D3839CB-585E-4038-BF3B-488614F74C40}" type="presParOf" srcId="{FE9CE778-5824-427E-8CF0-1CE75D024BE9}" destId="{01D79105-B7A9-43A5-BD9D-FC084C270732}" srcOrd="2" destOrd="0" presId="urn:microsoft.com/office/officeart/2018/2/layout/IconVerticalSolidList"/>
    <dgm:cxn modelId="{48B4851A-3EF0-4898-99A3-D032D28FAE18}" type="presParOf" srcId="{FE9CE778-5824-427E-8CF0-1CE75D024BE9}" destId="{C31B3659-36EF-4C40-9B7A-8ECEE24D6CE7}" srcOrd="3" destOrd="0" presId="urn:microsoft.com/office/officeart/2018/2/layout/IconVerticalSolidList"/>
    <dgm:cxn modelId="{0CC7E149-44E8-4166-A226-40074E7DA556}" type="presParOf" srcId="{3FFC5A06-3126-493E-B768-6A23D00BA4D3}" destId="{F64CD214-00CA-4EC1-9102-4E15D903DC04}" srcOrd="1" destOrd="0" presId="urn:microsoft.com/office/officeart/2018/2/layout/IconVerticalSolidList"/>
    <dgm:cxn modelId="{2AC38F95-EDE8-4DBD-A8E3-887628E77EA4}" type="presParOf" srcId="{3FFC5A06-3126-493E-B768-6A23D00BA4D3}" destId="{3E8B936B-DB4A-42C7-BC87-50787210BE24}" srcOrd="2" destOrd="0" presId="urn:microsoft.com/office/officeart/2018/2/layout/IconVerticalSolidList"/>
    <dgm:cxn modelId="{A5DD00B1-8B2C-4965-9FC5-D0FB57DDC998}" type="presParOf" srcId="{3E8B936B-DB4A-42C7-BC87-50787210BE24}" destId="{FCA64231-3332-47B1-A516-8489105FC791}" srcOrd="0" destOrd="0" presId="urn:microsoft.com/office/officeart/2018/2/layout/IconVerticalSolidList"/>
    <dgm:cxn modelId="{BA8DCD2D-0C79-408F-BE0A-CA177770B281}" type="presParOf" srcId="{3E8B936B-DB4A-42C7-BC87-50787210BE24}" destId="{A4B7D1B4-C2AC-4958-98AC-78B606F7B3F8}" srcOrd="1" destOrd="0" presId="urn:microsoft.com/office/officeart/2018/2/layout/IconVerticalSolidList"/>
    <dgm:cxn modelId="{A353BE30-1F20-4C58-AD26-52ECCBEE6467}" type="presParOf" srcId="{3E8B936B-DB4A-42C7-BC87-50787210BE24}" destId="{88296D47-66B6-4CF4-AB47-2946C6752C7F}" srcOrd="2" destOrd="0" presId="urn:microsoft.com/office/officeart/2018/2/layout/IconVerticalSolidList"/>
    <dgm:cxn modelId="{97DBD1BD-FEBD-4608-9D38-D9EFF33E97FE}" type="presParOf" srcId="{3E8B936B-DB4A-42C7-BC87-50787210BE24}" destId="{10237E9F-B45D-46CE-97F4-89C2DD7DDB9D}" srcOrd="3" destOrd="0" presId="urn:microsoft.com/office/officeart/2018/2/layout/IconVerticalSolidList"/>
    <dgm:cxn modelId="{15702EF3-C985-444F-AC60-023E46A9A9EF}" type="presParOf" srcId="{3FFC5A06-3126-493E-B768-6A23D00BA4D3}" destId="{635DF5E7-CCC8-4CF6-8251-246F841AB496}" srcOrd="3" destOrd="0" presId="urn:microsoft.com/office/officeart/2018/2/layout/IconVerticalSolidList"/>
    <dgm:cxn modelId="{802DCB00-0C43-45ED-BF18-803431E5F381}" type="presParOf" srcId="{3FFC5A06-3126-493E-B768-6A23D00BA4D3}" destId="{A14C0BD8-E0F6-441A-8C2D-515253BB9842}" srcOrd="4" destOrd="0" presId="urn:microsoft.com/office/officeart/2018/2/layout/IconVerticalSolidList"/>
    <dgm:cxn modelId="{F359E1CE-69E9-43BA-AB69-2246EA7099BB}" type="presParOf" srcId="{A14C0BD8-E0F6-441A-8C2D-515253BB9842}" destId="{2C4C5632-E94A-4E75-BD23-70DF5D0B8CE6}" srcOrd="0" destOrd="0" presId="urn:microsoft.com/office/officeart/2018/2/layout/IconVerticalSolidList"/>
    <dgm:cxn modelId="{8CC15699-FAF0-48C6-B28E-EAB2E1AFC728}" type="presParOf" srcId="{A14C0BD8-E0F6-441A-8C2D-515253BB9842}" destId="{E8B90F23-FA17-4841-9E95-F6631D05D86C}" srcOrd="1" destOrd="0" presId="urn:microsoft.com/office/officeart/2018/2/layout/IconVerticalSolidList"/>
    <dgm:cxn modelId="{DB4D004E-7268-42C4-B215-F673ACD4CE3D}" type="presParOf" srcId="{A14C0BD8-E0F6-441A-8C2D-515253BB9842}" destId="{087D35C1-F7D2-4932-B185-980FA53D6335}" srcOrd="2" destOrd="0" presId="urn:microsoft.com/office/officeart/2018/2/layout/IconVerticalSolidList"/>
    <dgm:cxn modelId="{B924D61F-70D0-465F-B76F-A04C1E01F3C2}" type="presParOf" srcId="{A14C0BD8-E0F6-441A-8C2D-515253BB9842}" destId="{002C8966-92FE-4E4C-B03F-5103BFAC13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691AB-DB18-4082-811D-721B40D3FCDA}">
      <dsp:nvSpPr>
        <dsp:cNvPr id="0" name=""/>
        <dsp:cNvSpPr/>
      </dsp:nvSpPr>
      <dsp:spPr>
        <a:xfrm>
          <a:off x="0" y="271219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Transición Demográfica:</a:t>
          </a:r>
          <a:endParaRPr lang="en-US" sz="2800" kern="1200"/>
        </a:p>
      </dsp:txBody>
      <dsp:txXfrm>
        <a:off x="33583" y="304802"/>
        <a:ext cx="6599667" cy="620794"/>
      </dsp:txXfrm>
    </dsp:sp>
    <dsp:sp modelId="{077E0C8B-B207-4361-9CB2-A713665D0B8D}">
      <dsp:nvSpPr>
        <dsp:cNvPr id="0" name=""/>
        <dsp:cNvSpPr/>
      </dsp:nvSpPr>
      <dsp:spPr>
        <a:xfrm>
          <a:off x="0" y="959179"/>
          <a:ext cx="6666833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Proceso de modernización y cambio demográfico.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Características específicas en España: inicio tardío y ritmo rápido.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Secuencia de etapas: disminución de mortalidad, descenso de natalidad, envejecimiento.</a:t>
          </a:r>
          <a:endParaRPr lang="en-US" sz="2200" kern="1200"/>
        </a:p>
      </dsp:txBody>
      <dsp:txXfrm>
        <a:off x="0" y="959179"/>
        <a:ext cx="6666833" cy="1767780"/>
      </dsp:txXfrm>
    </dsp:sp>
    <dsp:sp modelId="{D141D6F2-3A55-449F-A996-3A2E794E4C3A}">
      <dsp:nvSpPr>
        <dsp:cNvPr id="0" name=""/>
        <dsp:cNvSpPr/>
      </dsp:nvSpPr>
      <dsp:spPr>
        <a:xfrm>
          <a:off x="0" y="272696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Fecundidad y Natalidad:</a:t>
          </a:r>
          <a:endParaRPr lang="en-US" sz="2800" kern="1200"/>
        </a:p>
      </dsp:txBody>
      <dsp:txXfrm>
        <a:off x="33583" y="2760543"/>
        <a:ext cx="6599667" cy="620794"/>
      </dsp:txXfrm>
    </dsp:sp>
    <dsp:sp modelId="{B5E90886-B805-493F-8AF2-94CC088DD07F}">
      <dsp:nvSpPr>
        <dsp:cNvPr id="0" name=""/>
        <dsp:cNvSpPr/>
      </dsp:nvSpPr>
      <dsp:spPr>
        <a:xfrm>
          <a:off x="0" y="3414920"/>
          <a:ext cx="6666833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Drástica reducción desde la década de 1970.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Breve recuperación en la década de 2000, pero sin alcanzar la tasa de reemplazo generacional.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En 2019, 1,24 hijos por mujer, alejándose de la tasa de reemplazo.</a:t>
          </a:r>
          <a:endParaRPr lang="en-US" sz="2200" kern="1200"/>
        </a:p>
      </dsp:txBody>
      <dsp:txXfrm>
        <a:off x="0" y="3414920"/>
        <a:ext cx="6666833" cy="1767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C5E8A-31BF-4D76-8C55-498CCE8CEEBC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571682-2150-4F60-8831-D0F36246ED8C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Las pautas demográficas han llevado a un envejecimiento progresivo de la población española.</a:t>
          </a:r>
          <a:endParaRPr lang="en-US" sz="2100" kern="1200"/>
        </a:p>
      </dsp:txBody>
      <dsp:txXfrm>
        <a:off x="0" y="0"/>
        <a:ext cx="6666833" cy="1363480"/>
      </dsp:txXfrm>
    </dsp:sp>
    <dsp:sp modelId="{34E81B83-9980-4B5E-BC69-C687EC46D940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418E51-0ACC-40CA-8222-96F46B0AE3CA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A pesar de la caída en la fecundidad, la década de 2000 mostró una recuperación, superando la tasa de natalidad promedio de la Unión Europea.</a:t>
          </a:r>
          <a:endParaRPr lang="en-US" sz="2100" kern="1200"/>
        </a:p>
      </dsp:txBody>
      <dsp:txXfrm>
        <a:off x="0" y="1363480"/>
        <a:ext cx="6666833" cy="1363480"/>
      </dsp:txXfrm>
    </dsp:sp>
    <dsp:sp modelId="{268DE670-63FF-4ACA-B2B8-3BC695B22573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D36A61-469E-42A2-B8DE-35F72743E9A0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La población inmigrante desempeñó un papel crucial en esta recuperación, registrando tasas de fecundidad más altas y contribuyendo al aumento de la natalidad.</a:t>
          </a:r>
          <a:endParaRPr lang="en-US" sz="2100" kern="1200"/>
        </a:p>
      </dsp:txBody>
      <dsp:txXfrm>
        <a:off x="0" y="2726960"/>
        <a:ext cx="6666833" cy="1363480"/>
      </dsp:txXfrm>
    </dsp:sp>
    <dsp:sp modelId="{E497744C-442A-4D33-A4C7-3D18B632B323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2CCEF1-8689-48AF-9815-92536839200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Sin embargo, tras la crisis financiera internacional, la natalidad se redujo nuevamente, situándose por debajo del promedio de la Unión Europea en 2019.</a:t>
          </a:r>
          <a:endParaRPr lang="en-US" sz="2100" kern="1200"/>
        </a:p>
      </dsp:txBody>
      <dsp:txXfrm>
        <a:off x="0" y="4090440"/>
        <a:ext cx="6666833" cy="136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1BEAE-322A-4AA8-B203-82AC1C6D1C40}">
      <dsp:nvSpPr>
        <dsp:cNvPr id="0" name=""/>
        <dsp:cNvSpPr/>
      </dsp:nvSpPr>
      <dsp:spPr>
        <a:xfrm>
          <a:off x="0" y="79475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i="0" kern="1200"/>
            <a:t>Crecimiento Poblacional:</a:t>
          </a:r>
          <a:endParaRPr lang="en-US" sz="2700" kern="1200"/>
        </a:p>
      </dsp:txBody>
      <dsp:txXfrm>
        <a:off x="32384" y="111859"/>
        <a:ext cx="6602065" cy="598621"/>
      </dsp:txXfrm>
    </dsp:sp>
    <dsp:sp modelId="{C2DBCEC6-41D3-4FEA-89F1-2A1FBDC8DF1E}">
      <dsp:nvSpPr>
        <dsp:cNvPr id="0" name=""/>
        <dsp:cNvSpPr/>
      </dsp:nvSpPr>
      <dsp:spPr>
        <a:xfrm>
          <a:off x="0" y="742865"/>
          <a:ext cx="6666833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Duplicación de la población en el siglo XX (de casi 19 millones en 1900 a 40 millones en 2000).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Brecha entre mortalidad y natalidad.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Oscilaciones en el crecimiento vegetativo, actualmente en negativo.</a:t>
          </a:r>
          <a:endParaRPr lang="en-US" sz="2100" kern="1200"/>
        </a:p>
      </dsp:txBody>
      <dsp:txXfrm>
        <a:off x="0" y="742865"/>
        <a:ext cx="6666833" cy="1676699"/>
      </dsp:txXfrm>
    </dsp:sp>
    <dsp:sp modelId="{6F0DDDBD-0995-468C-86F7-8ED13FD4BD9C}">
      <dsp:nvSpPr>
        <dsp:cNvPr id="0" name=""/>
        <dsp:cNvSpPr/>
      </dsp:nvSpPr>
      <dsp:spPr>
        <a:xfrm>
          <a:off x="0" y="2419565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i="0" kern="1200"/>
            <a:t>Transformación y Adaptación:</a:t>
          </a:r>
          <a:endParaRPr lang="en-US" sz="2700" kern="1200"/>
        </a:p>
      </dsp:txBody>
      <dsp:txXfrm>
        <a:off x="32384" y="2451949"/>
        <a:ext cx="6602065" cy="598621"/>
      </dsp:txXfrm>
    </dsp:sp>
    <dsp:sp modelId="{00CC5577-C63D-416E-8DD0-6B4DD049724B}">
      <dsp:nvSpPr>
        <dsp:cNvPr id="0" name=""/>
        <dsp:cNvSpPr/>
      </dsp:nvSpPr>
      <dsp:spPr>
        <a:xfrm>
          <a:off x="0" y="3082955"/>
          <a:ext cx="6666833" cy="2291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Cambios revelan transformación en pautas tradicionales.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España se adapta a características de países desarrollados.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0" i="0" kern="1200"/>
            <a:t>Panorama actual: baja natalidad, elevada esperanza de vida, envejecimiento y crecimiento vegetativo negativo desde 2017.</a:t>
          </a:r>
          <a:endParaRPr lang="en-US" sz="2100" kern="1200"/>
        </a:p>
      </dsp:txBody>
      <dsp:txXfrm>
        <a:off x="0" y="3082955"/>
        <a:ext cx="6666833" cy="22914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72EBE-E3DC-4BB0-9B07-9ABFA1BDB849}">
      <dsp:nvSpPr>
        <dsp:cNvPr id="0" name=""/>
        <dsp:cNvSpPr/>
      </dsp:nvSpPr>
      <dsp:spPr>
        <a:xfrm>
          <a:off x="0" y="879655"/>
          <a:ext cx="7029773" cy="6754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Movimientos Migratorios:</a:t>
          </a:r>
          <a:endParaRPr lang="en-US" sz="2800" kern="1200"/>
        </a:p>
      </dsp:txBody>
      <dsp:txXfrm>
        <a:off x="32971" y="912626"/>
        <a:ext cx="6963831" cy="609467"/>
      </dsp:txXfrm>
    </dsp:sp>
    <dsp:sp modelId="{50387584-65DC-4B37-974D-A12EA5A6790B}">
      <dsp:nvSpPr>
        <dsp:cNvPr id="0" name=""/>
        <dsp:cNvSpPr/>
      </dsp:nvSpPr>
      <dsp:spPr>
        <a:xfrm>
          <a:off x="0" y="1555065"/>
          <a:ext cx="7029773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1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b="0" i="0" kern="1200" dirty="0"/>
            <a:t>Segundo efecto importante en la estructura demográfica de España.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b="0" i="0" kern="1200"/>
            <a:t>Cambios cualitativos en las migraciones interiores y exteriores.</a:t>
          </a:r>
          <a:endParaRPr lang="en-US" sz="2000" kern="1200"/>
        </a:p>
      </dsp:txBody>
      <dsp:txXfrm>
        <a:off x="0" y="1555065"/>
        <a:ext cx="7029773" cy="1244587"/>
      </dsp:txXfrm>
    </dsp:sp>
    <dsp:sp modelId="{9E47C4C9-4D93-4053-81A8-57EA3CFAC2BC}">
      <dsp:nvSpPr>
        <dsp:cNvPr id="0" name=""/>
        <dsp:cNvSpPr/>
      </dsp:nvSpPr>
      <dsp:spPr>
        <a:xfrm>
          <a:off x="0" y="2799652"/>
          <a:ext cx="7029773" cy="842313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Inversión de Flujos Migratorios:</a:t>
          </a:r>
          <a:endParaRPr lang="en-US" sz="2800" kern="1200"/>
        </a:p>
      </dsp:txBody>
      <dsp:txXfrm>
        <a:off x="41118" y="2840770"/>
        <a:ext cx="6947537" cy="760077"/>
      </dsp:txXfrm>
    </dsp:sp>
    <dsp:sp modelId="{DF5AA497-76E1-404E-9058-6B440675D8E8}">
      <dsp:nvSpPr>
        <dsp:cNvPr id="0" name=""/>
        <dsp:cNvSpPr/>
      </dsp:nvSpPr>
      <dsp:spPr>
        <a:xfrm>
          <a:off x="0" y="3641966"/>
          <a:ext cx="7029773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1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b="0" i="0" kern="1200"/>
            <a:t>España cambió de país de emigración a país de inmigración en la última década.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b="0" i="0" kern="1200"/>
            <a:t>Factores: libre circulación en la UE, atractivo como lugar de residencia.</a:t>
          </a:r>
          <a:endParaRPr lang="en-US" sz="2000" kern="1200"/>
        </a:p>
      </dsp:txBody>
      <dsp:txXfrm>
        <a:off x="0" y="3641966"/>
        <a:ext cx="7029773" cy="12445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7E20A-4443-4A4A-8B9B-649EB26097E1}">
      <dsp:nvSpPr>
        <dsp:cNvPr id="0" name=""/>
        <dsp:cNvSpPr/>
      </dsp:nvSpPr>
      <dsp:spPr>
        <a:xfrm>
          <a:off x="0" y="82849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Crecimiento Sobresaliente:</a:t>
          </a:r>
          <a:endParaRPr lang="en-US" sz="2800" kern="1200"/>
        </a:p>
      </dsp:txBody>
      <dsp:txXfrm>
        <a:off x="33583" y="116432"/>
        <a:ext cx="6599667" cy="620794"/>
      </dsp:txXfrm>
    </dsp:sp>
    <dsp:sp modelId="{F28F8D5A-6897-4462-8CB6-F1D2E4B6EE24}">
      <dsp:nvSpPr>
        <dsp:cNvPr id="0" name=""/>
        <dsp:cNvSpPr/>
      </dsp:nvSpPr>
      <dsp:spPr>
        <a:xfrm>
          <a:off x="0" y="770809"/>
          <a:ext cx="6666833" cy="214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Inmigración joven durante la década de 2000.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Cuadruplicación de la población de origen extranjero.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 dirty="0"/>
            <a:t>Desafíos: desequilibrios por edades y regiones, volatilidad frente al ciclo económico.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 err="1"/>
            <a:t>Repunte</a:t>
          </a:r>
          <a:r>
            <a:rPr lang="en-US" sz="2200" kern="1200" dirty="0"/>
            <a:t> considerable </a:t>
          </a:r>
          <a:r>
            <a:rPr lang="en-US" sz="2200" kern="1200" dirty="0" err="1"/>
            <a:t>en</a:t>
          </a:r>
          <a:r>
            <a:rPr lang="en-US" sz="2200" kern="1200" dirty="0"/>
            <a:t> </a:t>
          </a:r>
          <a:r>
            <a:rPr lang="en-US" sz="2200" kern="1200" dirty="0" err="1"/>
            <a:t>últimos</a:t>
          </a:r>
          <a:r>
            <a:rPr lang="en-US" sz="2200" kern="1200" dirty="0"/>
            <a:t> dos </a:t>
          </a:r>
          <a:r>
            <a:rPr lang="en-US" sz="2200" kern="1200" dirty="0" err="1"/>
            <a:t>años</a:t>
          </a:r>
          <a:r>
            <a:rPr lang="en-US" sz="2200" kern="1200" dirty="0"/>
            <a:t>.</a:t>
          </a:r>
        </a:p>
      </dsp:txBody>
      <dsp:txXfrm>
        <a:off x="0" y="770809"/>
        <a:ext cx="6666833" cy="2144520"/>
      </dsp:txXfrm>
    </dsp:sp>
    <dsp:sp modelId="{C0CDE86B-3CBC-4610-A38D-93B3EBE5E6A9}">
      <dsp:nvSpPr>
        <dsp:cNvPr id="0" name=""/>
        <dsp:cNvSpPr/>
      </dsp:nvSpPr>
      <dsp:spPr>
        <a:xfrm>
          <a:off x="0" y="291533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i="0" kern="1200"/>
            <a:t>Impacto Económico y Perspectivas:</a:t>
          </a:r>
          <a:endParaRPr lang="en-US" sz="2800" kern="1200"/>
        </a:p>
      </dsp:txBody>
      <dsp:txXfrm>
        <a:off x="33583" y="2948913"/>
        <a:ext cx="6599667" cy="620794"/>
      </dsp:txXfrm>
    </dsp:sp>
    <dsp:sp modelId="{94531445-45A6-4EDD-8C34-7C5A5F807568}">
      <dsp:nvSpPr>
        <dsp:cNvPr id="0" name=""/>
        <dsp:cNvSpPr/>
      </dsp:nvSpPr>
      <dsp:spPr>
        <a:xfrm>
          <a:off x="0" y="3603290"/>
          <a:ext cx="6666833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Contribución a fases recientes del crecimiento económico.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Relación con la crisis económica y la pandemia.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/>
            <a:t>Perspectivas a medio plazo: dependencia del aumento poblacional de las pautas migratorias.</a:t>
          </a:r>
          <a:endParaRPr lang="en-US" sz="2200" kern="1200"/>
        </a:p>
      </dsp:txBody>
      <dsp:txXfrm>
        <a:off x="0" y="3603290"/>
        <a:ext cx="6666833" cy="1767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E31AC-4D35-440F-9087-1AF16579E366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F5F2E-F829-4AFE-8D38-F4E61D3B4BB4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E7EF7-8823-4450-8369-1B0F59320BCD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Disminución de la fuerza laboral: Menor oferta de trabajo y posible reducción de la producción.</a:t>
          </a:r>
          <a:endParaRPr lang="en-US" sz="1900" kern="1200"/>
        </a:p>
      </dsp:txBody>
      <dsp:txXfrm>
        <a:off x="837512" y="3404"/>
        <a:ext cx="9678087" cy="725119"/>
      </dsp:txXfrm>
    </dsp:sp>
    <dsp:sp modelId="{8E3642C0-B26E-4E5B-9080-E60DE8BC07B6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D8C31-70F0-4863-90FD-E5421AF9709C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773ED-045B-47A4-AF00-8A9F287906C8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Aumento de la dependencia económica: Mayor carga para los trabajadores y presión sobre el gasto público (pensiones, salud).</a:t>
          </a:r>
          <a:endParaRPr lang="en-US" sz="1900" kern="1200"/>
        </a:p>
      </dsp:txBody>
      <dsp:txXfrm>
        <a:off x="837512" y="909803"/>
        <a:ext cx="9678087" cy="725119"/>
      </dsp:txXfrm>
    </dsp:sp>
    <dsp:sp modelId="{FFA40A6A-8B39-40C5-A670-02E07C03A9BF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BA32A-06E5-4C2A-B761-11E42D6C058B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2FE20-1FBF-4E47-BE35-ED9980D9074D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Cambios en el consumo y la demanda: Modificación de los patrones de gasto, afectando la inversión y la estructura económica.</a:t>
          </a:r>
          <a:endParaRPr lang="en-US" sz="1900" kern="1200"/>
        </a:p>
      </dsp:txBody>
      <dsp:txXfrm>
        <a:off x="837512" y="1816202"/>
        <a:ext cx="9678087" cy="725119"/>
      </dsp:txXfrm>
    </dsp:sp>
    <dsp:sp modelId="{DCA8AAE9-745E-4215-9E5C-A18F0052373A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B7D98-AE73-4F8A-B8FD-211FEA5AAEF5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C3A21-7043-4DC3-B4D6-9CBE17899A60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Desafíos para la productividad: Riesgo de menor innovación.</a:t>
          </a:r>
          <a:endParaRPr lang="en-US" sz="1900" kern="1200"/>
        </a:p>
      </dsp:txBody>
      <dsp:txXfrm>
        <a:off x="837512" y="2722601"/>
        <a:ext cx="9678087" cy="725119"/>
      </dsp:txXfrm>
    </dsp:sp>
    <dsp:sp modelId="{1B8D9FA0-DD23-4669-A01D-71403EDE24C0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72228-7270-4788-B365-60EB06840AAC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A5A83-93F0-45EC-ABA8-A2C2636C452C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Implicaciones fiscales: Reducción de ingresos fiscales y aumento del gasto público.</a:t>
          </a:r>
          <a:endParaRPr lang="en-US" sz="1900" kern="1200"/>
        </a:p>
      </dsp:txBody>
      <dsp:txXfrm>
        <a:off x="837512" y="3629000"/>
        <a:ext cx="9678087" cy="7251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27D78-74CA-4123-9C95-9A0AFCAA0B21}">
      <dsp:nvSpPr>
        <dsp:cNvPr id="0" name=""/>
        <dsp:cNvSpPr/>
      </dsp:nvSpPr>
      <dsp:spPr>
        <a:xfrm>
          <a:off x="0" y="334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Aumento de la edad de jubilación</a:t>
          </a:r>
          <a:endParaRPr lang="en-US" sz="3200" kern="1200"/>
        </a:p>
      </dsp:txBody>
      <dsp:txXfrm>
        <a:off x="62369" y="95808"/>
        <a:ext cx="6542095" cy="1152902"/>
      </dsp:txXfrm>
    </dsp:sp>
    <dsp:sp modelId="{CACE3F49-C934-4F69-8E2D-3EE5AAF69A45}">
      <dsp:nvSpPr>
        <dsp:cNvPr id="0" name=""/>
        <dsp:cNvSpPr/>
      </dsp:nvSpPr>
      <dsp:spPr>
        <a:xfrm>
          <a:off x="0" y="1403239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Fomento de la inmigración</a:t>
          </a:r>
          <a:endParaRPr lang="en-US" sz="3200" kern="1200"/>
        </a:p>
      </dsp:txBody>
      <dsp:txXfrm>
        <a:off x="62369" y="1465608"/>
        <a:ext cx="6542095" cy="1152902"/>
      </dsp:txXfrm>
    </dsp:sp>
    <dsp:sp modelId="{2677DF0F-5469-40F2-9DFC-DC055C46B2F4}">
      <dsp:nvSpPr>
        <dsp:cNvPr id="0" name=""/>
        <dsp:cNvSpPr/>
      </dsp:nvSpPr>
      <dsp:spPr>
        <a:xfrm>
          <a:off x="0" y="2773040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Inversión en tecnología y automatización</a:t>
          </a:r>
          <a:endParaRPr lang="en-US" sz="3200" kern="1200"/>
        </a:p>
      </dsp:txBody>
      <dsp:txXfrm>
        <a:off x="62369" y="2835409"/>
        <a:ext cx="6542095" cy="1152902"/>
      </dsp:txXfrm>
    </dsp:sp>
    <dsp:sp modelId="{769029DA-F5F2-4AD0-89C3-23353BA574F3}">
      <dsp:nvSpPr>
        <dsp:cNvPr id="0" name=""/>
        <dsp:cNvSpPr/>
      </dsp:nvSpPr>
      <dsp:spPr>
        <a:xfrm>
          <a:off x="0" y="4142840"/>
          <a:ext cx="6666833" cy="12776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Políticas para aumentar la fertilidad</a:t>
          </a:r>
          <a:endParaRPr lang="en-US" sz="3200" kern="1200"/>
        </a:p>
      </dsp:txBody>
      <dsp:txXfrm>
        <a:off x="62369" y="4205209"/>
        <a:ext cx="6542095" cy="11529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7B793E-ECEE-45B0-BECD-A770B46ACC76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0" i="0" kern="1200"/>
            <a:t>Definición de Capital Humano: conjunto de intangibles en la fuerza de trabajo.</a:t>
          </a:r>
          <a:endParaRPr lang="en-US" sz="3100" kern="1200"/>
        </a:p>
      </dsp:txBody>
      <dsp:txXfrm>
        <a:off x="83216" y="163860"/>
        <a:ext cx="6500401" cy="1538258"/>
      </dsp:txXfrm>
    </dsp:sp>
    <dsp:sp modelId="{CD640227-214E-45A5-90AA-E60E37A7B1FF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0" i="0" kern="1200"/>
            <a:t>Importancia estratégica: contribuye al crecimiento económico y al progreso tecnológico.</a:t>
          </a:r>
          <a:endParaRPr lang="en-US" sz="3100" kern="1200"/>
        </a:p>
      </dsp:txBody>
      <dsp:txXfrm>
        <a:off x="83216" y="1957830"/>
        <a:ext cx="6500401" cy="1538258"/>
      </dsp:txXfrm>
    </dsp:sp>
    <dsp:sp modelId="{F8B92C60-5CD7-4EC1-B3A3-34A0856B4F00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0" i="0" kern="1200"/>
            <a:t>Externalidades positivas y círculo virtuoso de crecimiento.</a:t>
          </a:r>
          <a:endParaRPr lang="en-US" sz="3100" kern="1200"/>
        </a:p>
      </dsp:txBody>
      <dsp:txXfrm>
        <a:off x="83216" y="3751801"/>
        <a:ext cx="6500401" cy="15382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DB3A8-4403-461A-9B50-6DBC12BACB95}">
      <dsp:nvSpPr>
        <dsp:cNvPr id="0" name=""/>
        <dsp:cNvSpPr/>
      </dsp:nvSpPr>
      <dsp:spPr>
        <a:xfrm>
          <a:off x="0" y="92686"/>
          <a:ext cx="10515600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Aumento de la demanda de servicios de salud: Las personas mayores requieren más atención médica, hospitalizaciones y cuidados a largo plazo.</a:t>
          </a:r>
          <a:endParaRPr lang="en-US" sz="2400" kern="1200"/>
        </a:p>
      </dsp:txBody>
      <dsp:txXfrm>
        <a:off x="65539" y="158225"/>
        <a:ext cx="10384522" cy="1211496"/>
      </dsp:txXfrm>
    </dsp:sp>
    <dsp:sp modelId="{D8D9E0B4-AB93-49AB-A267-694B527F561E}">
      <dsp:nvSpPr>
        <dsp:cNvPr id="0" name=""/>
        <dsp:cNvSpPr/>
      </dsp:nvSpPr>
      <dsp:spPr>
        <a:xfrm>
          <a:off x="0" y="1504381"/>
          <a:ext cx="10515600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Mayor prevalencia de enfermedades crónicas: El envejecimiento se asocia con una mayor incidencia de enfermedades como la demencia, el Alzheimer, enfermedades cardíacas y cáncer.</a:t>
          </a:r>
          <a:endParaRPr lang="en-US" sz="2400" kern="1200"/>
        </a:p>
      </dsp:txBody>
      <dsp:txXfrm>
        <a:off x="65539" y="1569920"/>
        <a:ext cx="10384522" cy="1211496"/>
      </dsp:txXfrm>
    </dsp:sp>
    <dsp:sp modelId="{40A1F01D-5116-4D65-A4D2-548A60F76F5F}">
      <dsp:nvSpPr>
        <dsp:cNvPr id="0" name=""/>
        <dsp:cNvSpPr/>
      </dsp:nvSpPr>
      <dsp:spPr>
        <a:xfrm>
          <a:off x="0" y="2916076"/>
          <a:ext cx="10515600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Necesidad de adaptar la infraestructura y la formación del personal: Se requiere invertir en instalaciones geriátricas, equipos especializados y capacitar a los profesionales de la salud en el cuidado de pacientes mayores.</a:t>
          </a:r>
          <a:endParaRPr lang="en-US" sz="2400" kern="1200"/>
        </a:p>
      </dsp:txBody>
      <dsp:txXfrm>
        <a:off x="65539" y="2981615"/>
        <a:ext cx="10384522" cy="121149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1A91A-CF64-451F-A864-C498EC7F797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59301-38A7-4395-85D7-73ABA8E1214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3659-36EF-4C40-9B7A-8ECEE24D6CE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Incremento del gasto público en salud: El aumento de la demanda de servicios y la mayor prevalencia de enfermedades crónicas elevan los costos de atención médica.</a:t>
          </a:r>
          <a:endParaRPr lang="en-US" sz="2000" kern="1200"/>
        </a:p>
      </dsp:txBody>
      <dsp:txXfrm>
        <a:off x="1435590" y="531"/>
        <a:ext cx="9080009" cy="1242935"/>
      </dsp:txXfrm>
    </dsp:sp>
    <dsp:sp modelId="{FCA64231-3332-47B1-A516-8489105FC79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7D1B4-C2AC-4958-98AC-78B606F7B3F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37E9F-B45D-46CE-97F4-89C2DD7DDB9D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Sostenibilidad de los sistemas de salud: El envejecimiento de la población plantea desafíos para la sostenibilidad financiera de los sistemas de salud, especialmente en países con sistemas de salud pública.</a:t>
          </a:r>
          <a:endParaRPr lang="en-US" sz="2000" kern="1200"/>
        </a:p>
      </dsp:txBody>
      <dsp:txXfrm>
        <a:off x="1435590" y="1554201"/>
        <a:ext cx="9080009" cy="1242935"/>
      </dsp:txXfrm>
    </dsp:sp>
    <dsp:sp modelId="{2C4C5632-E94A-4E75-BD23-70DF5D0B8CE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90F23-FA17-4841-9E95-F6631D05D86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C8966-92FE-4E4C-B03F-5103BFAC13C6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Búsqueda de soluciones para contener los costos: Es necesario implementar medidas como la promoción de la prevención, la gestión eficiente de los recursos y la búsqueda de modelos de atención innovadores.</a:t>
          </a:r>
          <a:endParaRPr lang="en-US" sz="20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0A40C-5795-5655-6C64-7A702AE1E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EAF2AB-D50B-7EFA-A61E-69B7208AC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2CA0D6-C2D9-25A1-C1AB-ADFB5AF3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63A8D9-55AA-1A9D-7F39-26B63C0A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83AB9E-74B8-105D-4860-C93CFF7C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667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47D1-D7DF-9FFA-86C6-085433D2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FBFCA-810D-FC7E-10B6-647674FD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D9611-FF98-9C43-BEA7-82A06C51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66C573-5E16-BEFF-616C-52825E42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E4545C-ABDE-AE7F-C8A9-44E90F6A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234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9C063-A2A0-A496-DA65-22400F40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FECEEB-C775-B491-1470-6F348700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67F2BB-DA50-C61C-8D2C-234645A3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9C9588-8689-1813-0490-4E7D3850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E399DB-61C5-2A07-09FA-A804CBC3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31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0C49C-65FD-EEF3-6A5A-25A75F6E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22EF70-D57F-6186-EDA0-B60E748F2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98502B-ED9E-3F08-7127-DDA76E317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F38AF0-5584-1A65-EDF9-E7379E66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9E9A4B-2666-514D-0046-013A9570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A330A9-68EB-74D7-B66F-1EFF7ED7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33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5BECD-79E1-6443-E357-9DA10A9C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83073-877A-2CF6-12BF-10DD5FBF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A3224C-5F66-6DB9-0265-73A6C0635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FBA00C-9EC5-2986-E681-9CC295E41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0F209B-5877-15E4-D0E2-37CE92465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C6369E-9052-54D3-E164-CB1FADA4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F97182-B634-0283-7025-ADB9A828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AB8ABB-9357-3A7E-D56E-8E362A55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7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50F48-9C6C-7BBA-399F-DF1BDF6B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879D31-BE80-114B-5DD2-AFBA93FC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1918FB-9301-5900-9D75-E63348C4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8CCBB5-ED70-3AE8-1C06-24AA2EF7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16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42CDC1-36B2-788E-FCD9-57FAF4B7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EDE5DB5-EAEB-763F-836C-90D793EA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C0125B-B208-BB76-40DF-FF649151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963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91E17-A36A-F061-4507-55018B39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73EFB9-6C30-F30E-9ABC-E446052E6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5B4899-1352-AD60-F12A-7ED5D7BD3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7172EA-B6B4-70F8-2B7A-4DF0C4C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6B7319-77B7-A022-4189-7E6E8BA4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B9BBE-7633-1100-8165-EB327DDE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451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6C4159-7346-57EC-FF9F-6621E88A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5B34DC-8F49-C1BE-50ED-DD8AA964F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2D1B8-48E8-FF69-A128-EE18C2388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C9A005-01A0-3023-0ABE-22EEAF45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73456E-9198-BFF4-4B52-99E8BDA4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3E0808-6BFC-B744-0FB2-6D24312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933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A4724-F822-2CB5-713A-852C098D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EA800C-7CFB-47B2-BDB1-16BE39E60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B3628C-61B6-DD78-DDAF-DC47E61C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49DF1F-B1D0-0253-9213-31629CD5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9F7234-8DF7-9665-0EB2-5D5857DD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69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79ED31-82D9-D2CE-560F-D2F159955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C3792E-9B28-6EAD-C634-CBB0BDE7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971E13-CDB2-F7EF-A880-57BBB18C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EC4861-FA9E-2F20-A92D-D2B4EF76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9FDAC-A76A-67AB-5D9F-D10FADDC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03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A2DE3D-8B45-D769-436B-47CBC20B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8D6DC2-677F-9118-3660-84F74407A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39438B-FBE3-5B3D-AF97-AAD81DBDB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EF39D-ED4A-43F3-8311-09F3E3C1A359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DE60FF-FB09-37F5-E5FD-E81A4696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A87575-474B-CDBB-F298-3A6A220D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7FECC-577C-48F5-9814-F225C32914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61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guras talladas de seres humanos coloridas">
            <a:extLst>
              <a:ext uri="{FF2B5EF4-FFF2-40B4-BE49-F238E27FC236}">
                <a16:creationId xmlns:a16="http://schemas.microsoft.com/office/drawing/2014/main" id="{19C53F6B-B94A-4B67-9813-BE1E49163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14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9DCB29-F99C-AF0F-86D6-D93E3DE37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2155188"/>
            <a:ext cx="4160233" cy="2839273"/>
          </a:xfrm>
        </p:spPr>
        <p:txBody>
          <a:bodyPr>
            <a:normAutofit/>
          </a:bodyPr>
          <a:lstStyle/>
          <a:p>
            <a:pPr algn="l"/>
            <a:r>
              <a:rPr lang="es-ES" sz="4000">
                <a:solidFill>
                  <a:srgbClr val="FFFFFF"/>
                </a:solidFill>
              </a:rPr>
              <a:t>LA DEMOGRAFÍA Y EL CAPITAL HUMANO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2E2C67-7998-9315-1B72-BD5FF4F3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8" y="5166367"/>
            <a:ext cx="4160233" cy="850998"/>
          </a:xfrm>
        </p:spPr>
        <p:txBody>
          <a:bodyPr>
            <a:normAutofit/>
          </a:bodyPr>
          <a:lstStyle/>
          <a:p>
            <a:pPr algn="l"/>
            <a:r>
              <a:rPr lang="es-ES" sz="2000" dirty="0">
                <a:solidFill>
                  <a:srgbClr val="FFFFFF"/>
                </a:solidFill>
              </a:rPr>
              <a:t>TEMAS 2.1 y 2.2</a:t>
            </a:r>
          </a:p>
        </p:txBody>
      </p:sp>
    </p:spTree>
    <p:extLst>
      <p:ext uri="{BB962C8B-B14F-4D97-AF65-F5344CB8AC3E}">
        <p14:creationId xmlns:p14="http://schemas.microsoft.com/office/powerpoint/2010/main" val="107237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ECE850-BFF5-222D-1165-9C1CF9D5D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03" r="1" b="1427"/>
          <a:stretch/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3720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CF6203-2373-D1A9-DAA6-E4EFA57A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 b="0" i="1">
                <a:solidFill>
                  <a:srgbClr val="FFFFFF"/>
                </a:solidFill>
                <a:effectLst/>
                <a:latin typeface="Söhne"/>
              </a:rPr>
              <a:t>Evolución Demográfica en España</a:t>
            </a: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CC9F17D-9BC6-D3A2-CE39-62118351A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9944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58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408E1F5-2C1F-70D3-0305-367A85D9E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65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ABF739-B988-1355-8FEE-EC8FDEA9F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73" y="95202"/>
            <a:ext cx="611590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5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B5E8AF-14F6-84AA-1C8D-E22B10E6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400" b="1" i="0">
                <a:solidFill>
                  <a:srgbClr val="FFFFFF"/>
                </a:solidFill>
                <a:effectLst/>
                <a:latin typeface="Söhne"/>
              </a:rPr>
              <a:t>Envejecimiento y Cambios Recientes</a:t>
            </a:r>
            <a:endParaRPr lang="es-ES" sz="34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A04A82E-754C-4130-4F97-1FB29E522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97072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12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979BA8-BA7D-8828-0553-A3929D45A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06"/>
          <a:stretch/>
        </p:blipFill>
        <p:spPr>
          <a:xfrm>
            <a:off x="2332598" y="457200"/>
            <a:ext cx="752680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EACAB3-C5A0-D8A1-5A78-58DEAE67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 b="0" i="1">
                <a:solidFill>
                  <a:srgbClr val="FFFFFF"/>
                </a:solidFill>
                <a:effectLst/>
                <a:latin typeface="Söhne"/>
              </a:rPr>
              <a:t>Dinámica Poblacional y Perspectivas</a:t>
            </a: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D5ADCF3-8B32-5CBA-4DBB-87AA11BF3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21027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832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1D8367-330F-D408-992E-2176CAFD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100" b="0" i="1">
                <a:solidFill>
                  <a:srgbClr val="FFFFFF"/>
                </a:solidFill>
                <a:effectLst/>
                <a:latin typeface="Söhne"/>
              </a:rPr>
              <a:t>Impacto de la Migración en la Demografía Española</a:t>
            </a:r>
            <a:br>
              <a:rPr lang="es-ES" sz="3100" b="0" i="0">
                <a:solidFill>
                  <a:srgbClr val="FFFFFF"/>
                </a:solidFill>
                <a:effectLst/>
                <a:latin typeface="Söhne"/>
              </a:rPr>
            </a:br>
            <a:endParaRPr lang="es-ES" sz="31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8F02000-1557-110E-6FCA-01D7D0593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696781"/>
              </p:ext>
            </p:extLst>
          </p:nvPr>
        </p:nvGraphicFramePr>
        <p:xfrm>
          <a:off x="4905052" y="438150"/>
          <a:ext cx="7029773" cy="5766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22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57FD419-6845-71D7-91A5-DE391F068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176" y="457200"/>
            <a:ext cx="10519648" cy="5943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CABF87-F2F6-1150-893C-D3D37289D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37" y="552411"/>
            <a:ext cx="4296375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9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8E8377-440D-558C-4474-6C910703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57" y="643467"/>
            <a:ext cx="742808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4AAB5F-6BDC-F690-8A20-6261B576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100" b="0" i="1">
                <a:solidFill>
                  <a:srgbClr val="FFFFFF"/>
                </a:solidFill>
                <a:effectLst/>
                <a:latin typeface="Söhne"/>
              </a:rPr>
              <a:t>Impacto de la Migración en la Demografía Española</a:t>
            </a:r>
            <a:br>
              <a:rPr lang="es-ES" sz="3100" b="0" i="0">
                <a:solidFill>
                  <a:srgbClr val="FFFFFF"/>
                </a:solidFill>
                <a:effectLst/>
                <a:latin typeface="Söhne"/>
              </a:rPr>
            </a:br>
            <a:endParaRPr lang="es-ES" sz="31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9E4FA3-4739-14E4-09D3-B4EEFA7AD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95269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45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6E4E19-885B-FD65-9384-830BA3B03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562" y="457200"/>
            <a:ext cx="928687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7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14DC29-06A5-A8E1-448B-0CB8849B6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152" y="457200"/>
            <a:ext cx="903969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nos ancianas con algunas monedas">
            <a:extLst>
              <a:ext uri="{FF2B5EF4-FFF2-40B4-BE49-F238E27FC236}">
                <a16:creationId xmlns:a16="http://schemas.microsoft.com/office/drawing/2014/main" id="{53066AF0-3EE2-355C-D60C-06856B3A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0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1556E4-7A25-9F34-76B5-B62044DC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Consecuencias I: las pensiones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21A91B-1BC6-3A61-B48D-C5F05BC51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5166367"/>
            <a:ext cx="4160233" cy="85099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9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9F2C00-4376-ECBD-ABEE-9F3554C0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90" y="643467"/>
            <a:ext cx="665201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6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75BC1A-D15A-E541-6D06-2C2B8C00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s-ES" sz="4000" b="1"/>
              <a:t>Estado Actual del Sistema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BE7C2-607D-4CB4-E6F3-6917DBEB6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1900" dirty="0"/>
              <a:t>Sistema de reparto: Las cotizaciones de trabajadores actuales financian las pensiones de jubilados actuales.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900" dirty="0"/>
              <a:t>Las cotizaciones pasadas de los pensionistas ya se usaron para pagar pensiones anteriores.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900" dirty="0"/>
              <a:t>El sistema arrastra déficits contributivos desde 2010, que no han dejado de crecer.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900" dirty="0"/>
              <a:t>Las bases de cotización solo sirven como referencia en el cálculo de la pensión, pero este cálculo es siempre reversible por ley.</a:t>
            </a:r>
          </a:p>
          <a:p>
            <a:pPr algn="just"/>
            <a:endParaRPr lang="es-ES" sz="1900" dirty="0"/>
          </a:p>
        </p:txBody>
      </p:sp>
      <p:pic>
        <p:nvPicPr>
          <p:cNvPr id="4" name="Picture 2" descr="Imagen">
            <a:extLst>
              <a:ext uri="{FF2B5EF4-FFF2-40B4-BE49-F238E27FC236}">
                <a16:creationId xmlns:a16="http://schemas.microsoft.com/office/drawing/2014/main" id="{7281AA83-6B39-4FAF-BE92-559FE7F88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1886" y="2161432"/>
            <a:ext cx="5934904" cy="296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78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882F81-C9EB-6AA5-BDFA-E1BDB98B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000" b="1"/>
              <a:t>Magnitudes Económicas Clave (2024)</a:t>
            </a:r>
            <a:endParaRPr lang="es-ES" sz="50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5794B-EC83-A205-E57C-2AAE20612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Gasto en pensiones contributivas y clases pasivas: 226.242 millones € (14,26% del PIB)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Cotizaciones sociales contributivas: 166.136 millones € (10,47% del PIB)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Déficit del sistema contributivo: 60.105 millones € (3,79% del PIB)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Déficit total del sistema: 66.206 millones € (4,17% del PIB), cubierto mediante transferencias y préstamos.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Sin este déficit, las administraciones públicas tendrían superávit.</a:t>
            </a:r>
          </a:p>
          <a:p>
            <a:endParaRPr lang="es-ES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8B8BD4-59C0-9D14-F762-7F45C3EB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762" y="329183"/>
            <a:ext cx="3554372" cy="34299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3FEDB4-4B88-0ABC-2465-F50BB42AA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03210"/>
            <a:ext cx="3995928" cy="172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7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B99DBA-2A4C-6994-D892-2C69D4DE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ES" sz="3000" b="1"/>
              <a:t>Tendencias Demográficas y Proyecciones</a:t>
            </a:r>
            <a:endParaRPr lang="es-ES" sz="3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E3FE3-53B7-A349-E807-791DB291A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900"/>
              <a:t>Envejecimiento acelerado de la población española.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900"/>
              <a:t>Según previsiones del Ministerio de Economía, el gasto total del sistema alcanzará un máximo del 17,3% del PIB en 2050.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900"/>
              <a:t>Esto supone aproximadamente 4 puntos adicionales respecto al gasto actual.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900"/>
              <a:t>El sistema de reparto es muy vulnerable a la disminución de la ratio trabajadores/pensionistas.</a:t>
            </a:r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9310A7-4101-4C5E-4B21-1FE55B194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197647"/>
            <a:ext cx="5458968" cy="446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6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38AD8D-3DA9-A0A0-6996-AE41AB4C9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92" y="643467"/>
            <a:ext cx="909561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42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065EDF-70EE-28D9-6B27-39584051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3800" b="1"/>
              <a:t>Distribución de Renta entre Generaciones</a:t>
            </a:r>
            <a:br>
              <a:rPr lang="es-ES" sz="3800" b="1"/>
            </a:br>
            <a:endParaRPr lang="es-ES" sz="38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4E87E-3FD7-6C45-FC51-1F76358C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La renta disponible extendida es mayor en personas entre 65-85 años que en cualquier otro grupo de edad.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Los mayores de 65 años tienen 1.551€ per cápita más al año que el segundo grupo con mayor renta (50-65 años).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Desde 2010, la brecha entre la renta media de mayores de 65 años y personas entre 18-64 años ha aumentado significativamente.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/>
              <a:t>El ajuste fiscal tras la crisis del euro recayó exclusivamente sobre personas de 18-64 años.</a:t>
            </a:r>
          </a:p>
          <a:p>
            <a:endParaRPr lang="es-ES" sz="2000"/>
          </a:p>
        </p:txBody>
      </p:sp>
      <p:pic>
        <p:nvPicPr>
          <p:cNvPr id="5" name="Imagen 4" descr="Gráfico, Escala de tiempo&#10;&#10;El contenido generado por IA puede ser incorrecto.">
            <a:extLst>
              <a:ext uri="{FF2B5EF4-FFF2-40B4-BE49-F238E27FC236}">
                <a16:creationId xmlns:a16="http://schemas.microsoft.com/office/drawing/2014/main" id="{822DC89A-5222-0D66-6A6E-4B36BD87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6" name="Picture 2" descr="Imagen">
            <a:extLst>
              <a:ext uri="{FF2B5EF4-FFF2-40B4-BE49-F238E27FC236}">
                <a16:creationId xmlns:a16="http://schemas.microsoft.com/office/drawing/2014/main" id="{15021FB1-A48A-03E2-0605-D95FA7FFD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4163" y="4079193"/>
            <a:ext cx="3335282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734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6410B7-C7B5-1174-678F-2A433F13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s-ES" sz="3200" b="1">
                <a:solidFill>
                  <a:srgbClr val="595959"/>
                </a:solidFill>
              </a:rPr>
              <a:t>La "Hucha de las Pensiones" y su Insuficiencia</a:t>
            </a:r>
            <a:endParaRPr lang="es-ES" sz="3200">
              <a:solidFill>
                <a:srgbClr val="595959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B2319F-10C6-2EE2-273A-52B4301C5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000">
                <a:solidFill>
                  <a:srgbClr val="595959"/>
                </a:solidFill>
              </a:rPr>
              <a:t>El Fondo de Reserva contenía 9.378 millones € a finales de 2024, apenas suficiente para cubrir 52 días de déficit.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>
                <a:solidFill>
                  <a:srgbClr val="595959"/>
                </a:solidFill>
              </a:rPr>
              <a:t>El mecanismo de equidad intergeneracional: una cotización adicional finalista que nutre el Fondo de Reserva.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>
                <a:solidFill>
                  <a:srgbClr val="595959"/>
                </a:solidFill>
              </a:rPr>
              <a:t>Por cada euro que entra en el Fondo de Reserva, el sistema crea un euro adicional de deuda pública.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574F5B-FAE3-0E92-F65C-BDB4ED24B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754827"/>
            <a:ext cx="4797056" cy="339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48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949C3A-E5C4-107B-97A9-11884814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Potenciales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soluciones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CF395B-D157-B50A-9CE4-2556BC790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7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24B9D6-61F2-FCA5-B9A4-DCA33452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332943"/>
            <a:ext cx="8240275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90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715DCB-C2DC-856D-062D-E98A74BD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78" y="0"/>
            <a:ext cx="6565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84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ro analógico mostrando información de vuelos">
            <a:extLst>
              <a:ext uri="{FF2B5EF4-FFF2-40B4-BE49-F238E27FC236}">
                <a16:creationId xmlns:a16="http://schemas.microsoft.com/office/drawing/2014/main" id="{930E4041-2971-2108-03AD-6D7D326224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5"/>
          <a:stretch/>
        </p:blipFill>
        <p:spPr>
          <a:xfrm>
            <a:off x="-1" y="-1"/>
            <a:ext cx="11416413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2E0396-FE29-01BB-8CCD-5B970D3F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1948171"/>
            <a:ext cx="4501057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LA REFORMA DE LAS PENSIONES DE 2023</a:t>
            </a: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37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1BB3D-C329-97BF-DCF4-EDC6103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54" y="341679"/>
            <a:ext cx="6089301" cy="62294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23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564911-69AD-7642-FF1A-8544D9F3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94834"/>
            <a:ext cx="5291666" cy="48683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576FA2-6123-EBA3-5E78-5D075F2E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834886"/>
            <a:ext cx="5291667" cy="31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0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E4F832-09EA-278A-4943-F14AF3BE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51" y="92382"/>
            <a:ext cx="6306206" cy="66732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99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F3524E-04FC-07E5-ED72-FBCD897B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1271286"/>
            <a:ext cx="764964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27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D34BF-79A6-B8ED-89D4-E4B9A781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nos ancianas con algunas monedas">
            <a:extLst>
              <a:ext uri="{FF2B5EF4-FFF2-40B4-BE49-F238E27FC236}">
                <a16:creationId xmlns:a16="http://schemas.microsoft.com/office/drawing/2014/main" id="{07AD5453-1D67-7D20-8DDD-C5FB23F3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0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DA67176-B41E-1B7C-6FEF-99E9F5E70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096F84-C4F3-19FD-C318-CB31924B3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EC5079-7489-FAA0-0BED-165D53738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86511E-A746-7D8A-C252-8CC388FDD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4F830D-54B3-3CEE-E7C4-25EEB9F68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CF4DA-3B8E-297C-36C7-C3917A0EE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02D531-5FDC-9DAF-600F-7D81A29E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590415-7BA7-ADB1-60C1-C374C4D7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Consecuencias</a:t>
            </a:r>
            <a:r>
              <a:rPr lang="en-US" sz="4000" dirty="0">
                <a:solidFill>
                  <a:srgbClr val="FFFFFF"/>
                </a:solidFill>
              </a:rPr>
              <a:t> II: </a:t>
            </a:r>
            <a:r>
              <a:rPr lang="en-US" sz="4000" dirty="0" err="1">
                <a:solidFill>
                  <a:srgbClr val="FFFFFF"/>
                </a:solidFill>
              </a:rPr>
              <a:t>Crecimiento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económico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157DBC-D9F0-258B-8963-B263079EA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5166367"/>
            <a:ext cx="4160233" cy="85099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817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EA64C4-A246-62FD-D672-7345C3CC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ES" sz="3100" b="1"/>
              <a:t>El Envejecimiento de la Población y sus Consecuencias Económicas</a:t>
            </a:r>
            <a:endParaRPr lang="es-ES" sz="3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5969336-E466-5CA0-583A-466F345A4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47484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8973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7D4AC7-B97D-93C5-D833-54AE9FDB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700" b="1">
                <a:solidFill>
                  <a:srgbClr val="FFFFFF"/>
                </a:solidFill>
              </a:rPr>
              <a:t>Soluciones y Adaptaciones</a:t>
            </a:r>
            <a:endParaRPr lang="es-ES" sz="37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6231ED0-5C09-B07B-6BDD-B0786E94F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058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9507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01516-323F-35C2-ED30-6B21FF3C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nos ancianas con algunas monedas">
            <a:extLst>
              <a:ext uri="{FF2B5EF4-FFF2-40B4-BE49-F238E27FC236}">
                <a16:creationId xmlns:a16="http://schemas.microsoft.com/office/drawing/2014/main" id="{47965681-B76E-CCA4-1B5A-3DF36267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0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E6075C-1186-4EB3-0291-6C990CD7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7780147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Consecuencias</a:t>
            </a:r>
            <a:r>
              <a:rPr lang="en-US" sz="4000" dirty="0">
                <a:solidFill>
                  <a:srgbClr val="FFFFFF"/>
                </a:solidFill>
              </a:rPr>
              <a:t> III: </a:t>
            </a:r>
            <a:r>
              <a:rPr lang="en-US" sz="4000" dirty="0" err="1">
                <a:solidFill>
                  <a:srgbClr val="FFFFFF"/>
                </a:solidFill>
              </a:rPr>
              <a:t>Consecuencias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el</a:t>
            </a:r>
            <a:r>
              <a:rPr lang="en-US" sz="4000" dirty="0">
                <a:solidFill>
                  <a:srgbClr val="FFFFFF"/>
                </a:solidFill>
              </a:rPr>
              <a:t> Sistema de </a:t>
            </a:r>
            <a:r>
              <a:rPr lang="en-US" sz="4000" dirty="0" err="1">
                <a:solidFill>
                  <a:srgbClr val="FFFFFF"/>
                </a:solidFill>
              </a:rPr>
              <a:t>salud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4D33EE-8A8F-06A3-DCB9-2B44154C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5166367"/>
            <a:ext cx="4160233" cy="85099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938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059B9D-85FB-8C0B-B839-0E6306C0E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400" b="0" i="0">
                <a:solidFill>
                  <a:srgbClr val="FFFFFF"/>
                </a:solidFill>
                <a:effectLst/>
                <a:latin typeface="Söhne"/>
              </a:rPr>
              <a:t>Capital Humano y Crecimiento Económico</a:t>
            </a:r>
            <a:br>
              <a:rPr lang="es-ES" sz="3400" b="0" i="0">
                <a:solidFill>
                  <a:srgbClr val="FFFFFF"/>
                </a:solidFill>
                <a:effectLst/>
                <a:latin typeface="Söhne"/>
              </a:rPr>
            </a:br>
            <a:endParaRPr lang="es-ES" sz="34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46451E0-7C39-EE3C-D13C-38F70737C1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4219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3091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95038-F157-48ED-E0D7-3ABE48F1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Impacto del Envejecimiento en el Sistema Sanitario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21BE956-F561-8C10-ACEB-EAF5166925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1882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60505-769A-D0FB-22FD-B0E8167B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El Envejecimiento y el Aumento del Gasto en Salud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8E48B92-F888-CBBF-C1BC-DE4C54D428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4658</TotalTime>
  <Words>1181</Words>
  <Application>Microsoft Office PowerPoint</Application>
  <PresentationFormat>Panorámica</PresentationFormat>
  <Paragraphs>95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Söhne</vt:lpstr>
      <vt:lpstr>Tema de Office</vt:lpstr>
      <vt:lpstr>LA DEMOGRAFÍA Y EL CAPITAL HUMANO</vt:lpstr>
      <vt:lpstr>Presentación de PowerPoint</vt:lpstr>
      <vt:lpstr>Evolución Demográfica en España</vt:lpstr>
      <vt:lpstr>Presentación de PowerPoint</vt:lpstr>
      <vt:lpstr>Envejecimiento y Cambios Recientes</vt:lpstr>
      <vt:lpstr>Presentación de PowerPoint</vt:lpstr>
      <vt:lpstr>Dinámica Poblacional y Perspectivas</vt:lpstr>
      <vt:lpstr>Impacto de la Migración en la Demografía Española </vt:lpstr>
      <vt:lpstr>Presentación de PowerPoint</vt:lpstr>
      <vt:lpstr>Presentación de PowerPoint</vt:lpstr>
      <vt:lpstr>Impacto de la Migración en la Demografía Española </vt:lpstr>
      <vt:lpstr>Presentación de PowerPoint</vt:lpstr>
      <vt:lpstr>Presentación de PowerPoint</vt:lpstr>
      <vt:lpstr>Consecuencias I: las pensiones</vt:lpstr>
      <vt:lpstr>Presentación de PowerPoint</vt:lpstr>
      <vt:lpstr>Estado Actual del Sistema</vt:lpstr>
      <vt:lpstr>Magnitudes Económicas Clave (2024)</vt:lpstr>
      <vt:lpstr>Tendencias Demográficas y Proyecciones</vt:lpstr>
      <vt:lpstr>Presentación de PowerPoint</vt:lpstr>
      <vt:lpstr>Distribución de Renta entre Generaciones </vt:lpstr>
      <vt:lpstr>La "Hucha de las Pensiones" y su Insuficiencia</vt:lpstr>
      <vt:lpstr>Potenciales soluciones</vt:lpstr>
      <vt:lpstr>Presentación de PowerPoint</vt:lpstr>
      <vt:lpstr>Presentación de PowerPoint</vt:lpstr>
      <vt:lpstr>LA REFORMA DE LAS PENSIONES DE 2023 </vt:lpstr>
      <vt:lpstr>Presentación de PowerPoint</vt:lpstr>
      <vt:lpstr>Presentación de PowerPoint</vt:lpstr>
      <vt:lpstr>Presentación de PowerPoint</vt:lpstr>
      <vt:lpstr>Presentación de PowerPoint</vt:lpstr>
      <vt:lpstr>Consecuencias II: Crecimiento económico</vt:lpstr>
      <vt:lpstr>El Envejecimiento de la Población y sus Consecuencias Económicas</vt:lpstr>
      <vt:lpstr>Soluciones y Adaptaciones</vt:lpstr>
      <vt:lpstr>Consecuencias III: Consecuencias en el Sistema de salud</vt:lpstr>
      <vt:lpstr>Capital Humano y Crecimiento Económico </vt:lpstr>
      <vt:lpstr>Impacto del Envejecimiento en el Sistema Sanitario</vt:lpstr>
      <vt:lpstr>El Envejecimiento y el Aumento del Gasto en Salud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DEMOGRAFÍA Y EL CAPITAL HUMANO</dc:title>
  <dc:creator>Manuel Alejandro Hidalgo Perez</dc:creator>
  <cp:lastModifiedBy>Manuel Alejandro Hidalgo Perez</cp:lastModifiedBy>
  <cp:revision>12</cp:revision>
  <dcterms:created xsi:type="dcterms:W3CDTF">2024-02-16T12:19:21Z</dcterms:created>
  <dcterms:modified xsi:type="dcterms:W3CDTF">2025-11-29T07:15:40Z</dcterms:modified>
</cp:coreProperties>
</file>