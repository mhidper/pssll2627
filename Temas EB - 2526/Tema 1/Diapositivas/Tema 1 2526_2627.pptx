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59" r:id="rId4"/>
    <p:sldId id="260" r:id="rId5"/>
    <p:sldId id="261" r:id="rId6"/>
    <p:sldId id="307" r:id="rId7"/>
    <p:sldId id="308" r:id="rId8"/>
    <p:sldId id="262" r:id="rId9"/>
    <p:sldId id="263" r:id="rId10"/>
    <p:sldId id="309" r:id="rId11"/>
    <p:sldId id="310" r:id="rId12"/>
    <p:sldId id="311" r:id="rId13"/>
    <p:sldId id="264" r:id="rId14"/>
    <p:sldId id="265" r:id="rId15"/>
    <p:sldId id="312" r:id="rId16"/>
    <p:sldId id="313" r:id="rId17"/>
    <p:sldId id="266" r:id="rId18"/>
    <p:sldId id="267" r:id="rId19"/>
    <p:sldId id="314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315" r:id="rId37"/>
    <p:sldId id="284" r:id="rId38"/>
    <p:sldId id="285" r:id="rId39"/>
    <p:sldId id="286" r:id="rId40"/>
    <p:sldId id="287" r:id="rId41"/>
    <p:sldId id="288" r:id="rId42"/>
    <p:sldId id="289" r:id="rId43"/>
    <p:sldId id="316" r:id="rId44"/>
    <p:sldId id="290" r:id="rId45"/>
    <p:sldId id="291" r:id="rId46"/>
    <p:sldId id="317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</p:sldIdLst>
  <p:sldSz cx="12192000" cy="6858000"/>
  <p:notesSz cx="6858000" cy="12192000"/>
  <p:embeddedFontLst>
    <p:embeddedFont>
      <p:font typeface="MiSans" panose="020B0604020202020204" charset="-122"/>
      <p:regular r:id="rId64"/>
    </p:embeddedFont>
    <p:embeddedFont>
      <p:font typeface="Noto Sans SC" panose="020B0604020202020204" charset="-128"/>
      <p:regular r:id="rId65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1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3351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1DFCB-1AB2-665E-F61A-396827F9F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485D2A-92AD-CBCA-6835-367299D2D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BEFB95-844F-E30D-0E71-D50DC784F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27585-D9F7-B56E-803E-3CCFFC85E2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842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2B6AE-755B-C5A9-5144-6079F8F5B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83D6AD-297A-0432-253B-03CE6DC6E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4DAA62-5B1D-E97D-6D0C-14F835004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45969-D5A1-0498-7DDF-DC8732BBC4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16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C9276-2611-9E49-3185-BDD897F90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1F1AD0-4008-26AF-F4E4-0376C1F717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8E112-1725-44A0-3CB4-19A5543A1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FC76C-85B6-D7DB-9681-30739C268E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010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49A92-44B8-1FFF-04CE-2C8831D01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CBFA6-33A7-1B4B-8494-A4C83E547C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31B76-4AD0-7C30-7DB2-6ED0777AC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FF1B7-EA7D-832C-2F89-C5838EADE9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527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7F867-CB54-360E-D3D7-2AF1BD6AB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FCE1B-B66E-AB9A-AC71-D9E2E7943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190C1-4CCD-5C7F-398D-3D333BC6F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E0B8E-0A3C-B25C-BCBE-6C62B96A07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876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7FDB7-8895-8C46-5D3A-0771D54FD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64AF1-E94A-A563-DB0D-0285E302F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B8FDF3-D31B-448B-FF6B-7E47D3081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4CEAA-10FB-3073-86BC-95D3E7C9BE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2327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DB4EF-9E86-E930-705A-72E050BA1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DA91AB-BEEB-E72F-804B-929E43759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0698DB-D084-D809-1F22-EA00842C5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2D252-94EA-9769-54E9-B97A388396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867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B092E-788D-894C-FACA-5F217A01C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56D1D7-5FF9-9C1E-803D-F9556AC3D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8E42F-EB29-31B4-10E5-E8041C4A5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3150F-B76E-0FFC-00EB-D183E16064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0979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4F883-9897-A9DD-4731-9EE1D99BB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1E43C6-61BD-7B07-F455-CA82E9B68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1B6F2F-97D5-4061-C4CA-95C9C6F44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35803-46A3-96B1-B5B1-E30BB9EBE8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0846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9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5.jp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7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2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9.pn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9.png"/><Relationship Id="rId4" Type="http://schemas.openxmlformats.org/officeDocument/2006/relationships/image" Target="../media/image3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3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72390" y="-84455"/>
            <a:ext cx="13742035" cy="7143115"/>
          </a:xfrm>
          <a:prstGeom prst="rect">
            <a:avLst/>
          </a:prstGeom>
          <a:gradFill flip="none" rotWithShape="1">
            <a:gsLst>
              <a:gs pos="0">
                <a:srgbClr val="EAEEF4"/>
              </a:gs>
              <a:gs pos="14000">
                <a:srgbClr val="EFF3F7"/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-72390" y="-84455"/>
            <a:ext cx="13742035" cy="71431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99607" y="629319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1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16200000">
            <a:off x="1080135" y="44450"/>
            <a:ext cx="262890" cy="117030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6745" y="2816860"/>
            <a:ext cx="7075805" cy="21855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 Sociolaborales: Claves del Mercado de Trabajo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33-d2nf6998bjvh7rlj00rg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9631680" y="1380490"/>
            <a:ext cx="1750695" cy="142303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33-d2nf6998bjvh7rlj00t0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1290955" y="4163060"/>
            <a:ext cx="3957955" cy="448119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458970" y="2210840"/>
            <a:ext cx="1619250" cy="6679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02.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642610" y="2440840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Equilibrio y Salarios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4458970" y="2780840"/>
            <a:ext cx="1619250" cy="6679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03.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5642610" y="3010840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Tipología del Desempleo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4458970" y="3350840"/>
            <a:ext cx="1619250" cy="6679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04.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5642610" y="3580840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NAIRU y Curva de Phillips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4458970" y="3920840"/>
            <a:ext cx="1619250" cy="6679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05.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5642610" y="4150840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Curva de Beveridge</a:t>
            </a: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1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 flipH="1">
            <a:off x="4570730" y="1833880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26"/>
          <p:cNvSpPr/>
          <p:nvPr/>
        </p:nvSpPr>
        <p:spPr>
          <a:xfrm>
            <a:off x="4747260" y="1640840"/>
            <a:ext cx="1043305" cy="8020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01.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5642610" y="1870840"/>
            <a:ext cx="4537710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Fundamentos del Mercado Laboral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844549" y="2980055"/>
            <a:ext cx="3531507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CONTENIDOS</a:t>
            </a:r>
            <a:endParaRPr lang="en-US" sz="1600" dirty="0"/>
          </a:p>
        </p:txBody>
      </p:sp>
      <p:sp>
        <p:nvSpPr>
          <p:cNvPr id="100" name="Text 100"/>
          <p:cNvSpPr/>
          <p:nvPr/>
        </p:nvSpPr>
        <p:spPr>
          <a:xfrm>
            <a:off x="4458970" y="4490840"/>
            <a:ext cx="1619250" cy="6679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06.</a:t>
            </a:r>
            <a:endParaRPr lang="en-US" sz="1600" dirty="0"/>
          </a:p>
        </p:txBody>
      </p:sp>
      <p:sp>
        <p:nvSpPr>
          <p:cNvPr id="101" name="Text 101"/>
          <p:cNvSpPr/>
          <p:nvPr/>
        </p:nvSpPr>
        <p:spPr>
          <a:xfrm>
            <a:off x="5642610" y="4720840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Reformas y Escenarios</a:t>
            </a:r>
            <a:endParaRPr lang="en-US" sz="1600" dirty="0"/>
          </a:p>
        </p:txBody>
      </p:sp>
      <p:sp>
        <p:nvSpPr>
          <p:cNvPr id="102" name="Text 102"/>
          <p:cNvSpPr/>
          <p:nvPr/>
        </p:nvSpPr>
        <p:spPr>
          <a:xfrm>
            <a:off x="4458970" y="5060840"/>
            <a:ext cx="1619250" cy="6679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07.</a:t>
            </a:r>
            <a:endParaRPr lang="en-US" sz="1600" dirty="0"/>
          </a:p>
        </p:txBody>
      </p:sp>
      <p:sp>
        <p:nvSpPr>
          <p:cNvPr id="103" name="Text 103"/>
          <p:cNvSpPr/>
          <p:nvPr/>
        </p:nvSpPr>
        <p:spPr>
          <a:xfrm>
            <a:off x="5642610" y="5290840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Conclusiones y Agenda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32-d2nf6918bjvh7rlj00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33-d2nf6998bjvh7rlj00q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295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Fundamentos del Mercado Laboral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50-d2nf6dh8bjvh7rlj01h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51-d2nf6dp8bjvh7rlj01j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98780" y="-5142865"/>
            <a:ext cx="13035915" cy="811466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4365" y="1880870"/>
            <a:ext cx="779145" cy="790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948180" y="200787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3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2615" y="2307590"/>
            <a:ext cx="779145" cy="79057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726430" y="243459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pic>
        <p:nvPicPr>
          <p:cNvPr id="8" name="Image 4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0" y="1881505"/>
            <a:ext cx="779145" cy="790575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9527540" y="200850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¿Qué es el mercado de trabajo?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866775" y="3543935"/>
            <a:ext cx="2853055" cy="27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mercado de trabajo es donde oferta y demanda de trabajo se encuentran. Es un espacio complejo donde trabajadores y empresas interactúan para producir bienes y servicios.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866775" y="283019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4655820" y="3961765"/>
            <a:ext cx="2853055" cy="27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diferencia de otros mercados, el mercado laboral es multidimensional, con heterogeneidad en habilidades, información imperfecta, regulación extensa y factores no monetarios que influyen en decisiones.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4655820" y="324802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 únicas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444865" y="3523615"/>
            <a:ext cx="2853055" cy="2718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mercado de trabajo afecta el bienestar económico y social de las personas, definiendo su identidad y lugar en la sociedad. Es motor económico, fuente principal de ingresos y un indicador de salud económica.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8444865" y="280987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económico y social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41-d2nf6b98bjvh7rlj014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40" y="5133340"/>
            <a:ext cx="475615" cy="93281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2155" y="90551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Indicadores esenciales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732155" y="2329180"/>
            <a:ext cx="3596640" cy="699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Tasa de actividad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32155" y="3028950"/>
            <a:ext cx="3596640" cy="2962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Mide el porcentaje de población en edad de trabajar que participa en el mercado laboral, ya sea trabajando o buscando empleo. Refleja la propensión a participar en la producción económica.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999730" y="2329815"/>
            <a:ext cx="380619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Tasa de desempleo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999730" y="3023870"/>
            <a:ext cx="3596640" cy="276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 el porcentaje de la población activa que está sin empleo pero busca trabajo y está disponible para trabajar. Proporciona una medida directa de la subutilización de la fuerza laboral.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28795" y="4899025"/>
            <a:ext cx="3431540" cy="1268095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6"/>
          <p:cNvSpPr/>
          <p:nvPr/>
        </p:nvSpPr>
        <p:spPr>
          <a:xfrm>
            <a:off x="4328795" y="4899025"/>
            <a:ext cx="3431540" cy="12680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2" descr="https://kimi-img.moonshot.cn/pub/slides/slides_tmpl/image/25-08-27-19:59:45-d2nf6c98bjvh7rlj01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9780" y="2643505"/>
            <a:ext cx="2904490" cy="3145790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8-27-19:59:42-d2nf6bh8bjvh7rlj0160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flipH="1" flipV="1">
            <a:off x="6543040" y="2043430"/>
            <a:ext cx="1456690" cy="1456690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8-27-19:59:39-d2nf6ap8bjvh7rlj0110.png"/>
          <p:cNvPicPr>
            <a:picLocks noChangeAspect="1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>
            <a:off x="4328795" y="5132070"/>
            <a:ext cx="461645" cy="462915"/>
          </a:xfrm>
          <a:prstGeom prst="rect">
            <a:avLst/>
          </a:prstGeom>
        </p:spPr>
      </p:pic>
      <p:pic>
        <p:nvPicPr>
          <p:cNvPr id="14" name="Image 5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8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8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9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0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1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3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4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5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16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1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19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10473D-EC1F-933A-BA89-68B4F2F8E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8-27-19:59:41-d2nf6b98bjvh7rlj014g.png">
            <a:extLst>
              <a:ext uri="{FF2B5EF4-FFF2-40B4-BE49-F238E27FC236}">
                <a16:creationId xmlns:a16="http://schemas.microsoft.com/office/drawing/2014/main" id="{E4636970-E440-4B1E-8D37-C61A58B1B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5133340"/>
            <a:ext cx="475615" cy="93281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706EFD71-F6E6-73FF-C2E6-CF74F89BE0C1}"/>
              </a:ext>
            </a:extLst>
          </p:cNvPr>
          <p:cNvSpPr/>
          <p:nvPr/>
        </p:nvSpPr>
        <p:spPr>
          <a:xfrm>
            <a:off x="732155" y="90551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Indicadores esenciales</a:t>
            </a:r>
            <a:endParaRPr lang="en-US" sz="16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17A2C52-A2E3-2D26-29B0-94AB96F68BE2}"/>
              </a:ext>
            </a:extLst>
          </p:cNvPr>
          <p:cNvSpPr/>
          <p:nvPr/>
        </p:nvSpPr>
        <p:spPr>
          <a:xfrm>
            <a:off x="4328795" y="4899025"/>
            <a:ext cx="3431540" cy="1268095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3CE2EB4-1DEA-7EDF-C494-4DF849CF30C1}"/>
              </a:ext>
            </a:extLst>
          </p:cNvPr>
          <p:cNvSpPr/>
          <p:nvPr/>
        </p:nvSpPr>
        <p:spPr>
          <a:xfrm>
            <a:off x="4328795" y="4899025"/>
            <a:ext cx="3431540" cy="12680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2" descr="https://kimi-img.moonshot.cn/pub/slides/slides_tmpl/image/25-08-27-19:59:45-d2nf6c98bjvh7rlj0190.png">
            <a:extLst>
              <a:ext uri="{FF2B5EF4-FFF2-40B4-BE49-F238E27FC236}">
                <a16:creationId xmlns:a16="http://schemas.microsoft.com/office/drawing/2014/main" id="{EAD6EA47-CD3D-AFE1-221F-43BBBF8E6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702" y="2626678"/>
            <a:ext cx="2904490" cy="3145790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8-27-19:59:42-d2nf6bh8bjvh7rlj0160.png">
            <a:extLst>
              <a:ext uri="{FF2B5EF4-FFF2-40B4-BE49-F238E27FC236}">
                <a16:creationId xmlns:a16="http://schemas.microsoft.com/office/drawing/2014/main" id="{2EDABCCD-05C4-619B-0506-84F51995236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flipH="1" flipV="1">
            <a:off x="6543040" y="2043430"/>
            <a:ext cx="1456690" cy="1456690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8-27-19:59:39-d2nf6ap8bjvh7rlj0110.png">
            <a:extLst>
              <a:ext uri="{FF2B5EF4-FFF2-40B4-BE49-F238E27FC236}">
                <a16:creationId xmlns:a16="http://schemas.microsoft.com/office/drawing/2014/main" id="{0A74AA26-3272-E26D-97B6-A25D826422A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4328795" y="5132070"/>
            <a:ext cx="461645" cy="462915"/>
          </a:xfrm>
          <a:prstGeom prst="rect">
            <a:avLst/>
          </a:prstGeom>
        </p:spPr>
      </p:pic>
      <p:pic>
        <p:nvPicPr>
          <p:cNvPr id="14" name="Image 5" descr="https://kimi-img.moonshot.cn/pub/slides/slides_tmpl/image/25-08-27-19:59:30-d2nf68h8bjvh7rlj00p0.png">
            <a:extLst>
              <a:ext uri="{FF2B5EF4-FFF2-40B4-BE49-F238E27FC236}">
                <a16:creationId xmlns:a16="http://schemas.microsoft.com/office/drawing/2014/main" id="{AA1B2247-8731-0C18-2078-9223FCB111A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15" name="Shape 7">
            <a:extLst>
              <a:ext uri="{FF2B5EF4-FFF2-40B4-BE49-F238E27FC236}">
                <a16:creationId xmlns:a16="http://schemas.microsoft.com/office/drawing/2014/main" id="{0E5F2C14-2397-E867-A640-6AAD0F4A4F42}"/>
              </a:ext>
            </a:extLst>
          </p:cNvPr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3E13F263-DFE3-7FB5-6C70-B57687932957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BAF0B085-E968-F66B-73E6-B60583FE57DA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9717511D-31D8-4952-ECCC-788E29DD7003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767B8A6-FAE0-77F9-9509-9309523D6E72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C3142D36-80E3-1647-2404-31E2FB258C5B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517C691B-A7ED-7D2D-A2D6-4CE99FDDEA15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596E17E7-BED5-D313-34FD-D1D68F1B4EE7}"/>
              </a:ext>
            </a:extLst>
          </p:cNvPr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DB90C081-902D-2712-3E2F-C6019F968EAD}"/>
              </a:ext>
            </a:extLst>
          </p:cNvPr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450B2B8A-CD20-756D-AE33-1285154F88F6}"/>
              </a:ext>
            </a:extLst>
          </p:cNvPr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459D23A3-3030-7EFD-8885-574BEEF0B049}"/>
              </a:ext>
            </a:extLst>
          </p:cNvPr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51829DE4-5E83-87F6-F5EE-607329636F5F}"/>
              </a:ext>
            </a:extLst>
          </p:cNvPr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4F791949-E364-307D-FF33-0DC10F7D07D7}"/>
              </a:ext>
            </a:extLst>
          </p:cNvPr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28" name="Imagen 27" descr="Diagrama&#10;&#10;El contenido generado por IA puede ser incorrecto.">
            <a:extLst>
              <a:ext uri="{FF2B5EF4-FFF2-40B4-BE49-F238E27FC236}">
                <a16:creationId xmlns:a16="http://schemas.microsoft.com/office/drawing/2014/main" id="{7841C3C2-C536-F972-B642-B885028638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4681" y="1884543"/>
            <a:ext cx="8693901" cy="38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396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9B3804-2A07-798D-10D3-815CE3686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8-27-19:59:41-d2nf6b98bjvh7rlj014g.png">
            <a:extLst>
              <a:ext uri="{FF2B5EF4-FFF2-40B4-BE49-F238E27FC236}">
                <a16:creationId xmlns:a16="http://schemas.microsoft.com/office/drawing/2014/main" id="{EA8E8131-A7F3-BD51-0281-A698AC180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5133340"/>
            <a:ext cx="475615" cy="93281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4B70CD5-B3D7-E8D3-55DE-2966521974B3}"/>
              </a:ext>
            </a:extLst>
          </p:cNvPr>
          <p:cNvSpPr/>
          <p:nvPr/>
        </p:nvSpPr>
        <p:spPr>
          <a:xfrm>
            <a:off x="732155" y="90551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Indicadores esenciales</a:t>
            </a:r>
            <a:endParaRPr lang="en-US" sz="16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3451C607-B4FC-87CB-6D75-8B905257EA91}"/>
              </a:ext>
            </a:extLst>
          </p:cNvPr>
          <p:cNvSpPr/>
          <p:nvPr/>
        </p:nvSpPr>
        <p:spPr>
          <a:xfrm>
            <a:off x="4328795" y="4899025"/>
            <a:ext cx="3431540" cy="1268095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6198F91-D44C-3889-07D8-AFC707A1EAC2}"/>
              </a:ext>
            </a:extLst>
          </p:cNvPr>
          <p:cNvSpPr/>
          <p:nvPr/>
        </p:nvSpPr>
        <p:spPr>
          <a:xfrm>
            <a:off x="4328795" y="4899025"/>
            <a:ext cx="3431540" cy="12680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2" descr="https://kimi-img.moonshot.cn/pub/slides/slides_tmpl/image/25-08-27-19:59:45-d2nf6c98bjvh7rlj0190.png">
            <a:extLst>
              <a:ext uri="{FF2B5EF4-FFF2-40B4-BE49-F238E27FC236}">
                <a16:creationId xmlns:a16="http://schemas.microsoft.com/office/drawing/2014/main" id="{88F1D5D5-32EA-283D-A5D5-A7FDCD80E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702" y="2626678"/>
            <a:ext cx="2904490" cy="3145790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8-27-19:59:42-d2nf6bh8bjvh7rlj0160.png">
            <a:extLst>
              <a:ext uri="{FF2B5EF4-FFF2-40B4-BE49-F238E27FC236}">
                <a16:creationId xmlns:a16="http://schemas.microsoft.com/office/drawing/2014/main" id="{04DB60DC-1AD4-207D-F06E-12AFC0A4C2A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flipH="1" flipV="1">
            <a:off x="6543040" y="2043430"/>
            <a:ext cx="1456690" cy="1456690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8-27-19:59:39-d2nf6ap8bjvh7rlj0110.png">
            <a:extLst>
              <a:ext uri="{FF2B5EF4-FFF2-40B4-BE49-F238E27FC236}">
                <a16:creationId xmlns:a16="http://schemas.microsoft.com/office/drawing/2014/main" id="{C1E21870-F14D-EE4D-9318-45C9C0541BF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4328795" y="5132070"/>
            <a:ext cx="461645" cy="462915"/>
          </a:xfrm>
          <a:prstGeom prst="rect">
            <a:avLst/>
          </a:prstGeom>
        </p:spPr>
      </p:pic>
      <p:pic>
        <p:nvPicPr>
          <p:cNvPr id="14" name="Image 5" descr="https://kimi-img.moonshot.cn/pub/slides/slides_tmpl/image/25-08-27-19:59:30-d2nf68h8bjvh7rlj00p0.png">
            <a:extLst>
              <a:ext uri="{FF2B5EF4-FFF2-40B4-BE49-F238E27FC236}">
                <a16:creationId xmlns:a16="http://schemas.microsoft.com/office/drawing/2014/main" id="{4177F474-BE87-0EE5-6AA1-DF18A56571ED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15" name="Shape 7">
            <a:extLst>
              <a:ext uri="{FF2B5EF4-FFF2-40B4-BE49-F238E27FC236}">
                <a16:creationId xmlns:a16="http://schemas.microsoft.com/office/drawing/2014/main" id="{29B8CAEB-E036-8974-D932-70B70BD143B0}"/>
              </a:ext>
            </a:extLst>
          </p:cNvPr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934D6283-AE13-E5A0-766F-A1DDBD4D5D93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BFE44EE7-9C3A-33DC-5FD6-9A6FA7EA957B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88A3A3A0-C243-B16E-65E5-FAC36126A29F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FA67417B-6CCE-6C26-7EBB-F889505E49E0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94F01F22-1E08-A3E3-E2D1-539D4F3B4587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2A0A01D6-8C18-62DD-EED6-90B7BB288BAA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58101EAC-9E6F-F6ED-B24A-FA8D7BAB2D90}"/>
              </a:ext>
            </a:extLst>
          </p:cNvPr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4405A886-23D8-05DF-EABF-384C7B9699F8}"/>
              </a:ext>
            </a:extLst>
          </p:cNvPr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49657AFC-28E2-6B29-DEEE-51D3EF054270}"/>
              </a:ext>
            </a:extLst>
          </p:cNvPr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36C4CF49-8543-FC25-C711-719A70704A06}"/>
              </a:ext>
            </a:extLst>
          </p:cNvPr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15B9EE6D-3036-6234-1CE0-81A123393282}"/>
              </a:ext>
            </a:extLst>
          </p:cNvPr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5626CF48-3DF8-153D-6EA0-B83639711830}"/>
              </a:ext>
            </a:extLst>
          </p:cNvPr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790F3AE6-E04A-CA08-E29F-5A5A833AA9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50" y="1925597"/>
            <a:ext cx="7103829" cy="407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01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62230" y="4094480"/>
            <a:ext cx="12422505" cy="191770"/>
          </a:xfrm>
          <a:prstGeom prst="rect">
            <a:avLst/>
          </a:prstGeom>
          <a:solidFill>
            <a:srgbClr val="5B78BC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-62230" y="4094480"/>
            <a:ext cx="12422505" cy="191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77875" y="1838960"/>
            <a:ext cx="5057140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Demografía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875" y="2275840"/>
            <a:ext cx="5057140" cy="136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crecimiento vegetativo y los movimientos migratorios influyen en la composición de la población en edad de trabajar, afectando la tasa de actividad.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796415" y="3913505"/>
            <a:ext cx="2770505" cy="609600"/>
          </a:xfrm>
          <a:prstGeom prst="line">
            <a:avLst/>
          </a:prstGeom>
          <a:noFill/>
          <a:ln w="38100">
            <a:gradFill flip="none" rotWithShape="1">
              <a:gsLst>
                <a:gs pos="0">
                  <a:srgbClr val="8DD4FB"/>
                </a:gs>
                <a:gs pos="49000">
                  <a:srgbClr val="5B78BC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 flipV="1">
            <a:off x="5033645" y="3912870"/>
            <a:ext cx="1826895" cy="610235"/>
          </a:xfrm>
          <a:prstGeom prst="line">
            <a:avLst/>
          </a:prstGeom>
          <a:noFill/>
          <a:ln w="38100">
            <a:gradFill flip="none" rotWithShape="1">
              <a:gsLst>
                <a:gs pos="0">
                  <a:srgbClr val="8DD4FB"/>
                </a:gs>
                <a:gs pos="49000">
                  <a:srgbClr val="5B78BC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7326630" y="3912870"/>
            <a:ext cx="3623310" cy="418465"/>
          </a:xfrm>
          <a:prstGeom prst="line">
            <a:avLst/>
          </a:prstGeom>
          <a:noFill/>
          <a:ln w="38100">
            <a:gradFill flip="none" rotWithShape="1">
              <a:gsLst>
                <a:gs pos="0">
                  <a:srgbClr val="8DD4FB"/>
                </a:gs>
                <a:gs pos="49000">
                  <a:srgbClr val="5B78BC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1" descr="https://kimi-img.moonshot.cn/pub/slides/slides_tmpl/image/25-08-27-19:59:50-d2nf6dh8bjvh7rlj01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470" y="3716020"/>
            <a:ext cx="425450" cy="846455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325" y="3676650"/>
            <a:ext cx="466090" cy="4730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875" y="4626610"/>
            <a:ext cx="505714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Factores sociales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777875" y="5041265"/>
            <a:ext cx="5057140" cy="136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 de igualdad de género, conciliación vida-laboral y edad de jubilación impactan la participación laboral, especialmente en mujeres y jóvenes.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499860" y="1838960"/>
            <a:ext cx="505841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Ciclos económicos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99860" y="2252980"/>
            <a:ext cx="5057775" cy="136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recesiones, el efecto del trabajador desanimado reduce la actividad; en crisis, el efecto añadido puede aumentar temporalmente la participación.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99860" y="4626610"/>
            <a:ext cx="505841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políticas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499860" y="5040630"/>
            <a:ext cx="5057775" cy="136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deben abordar estos factores para mantener una oferta de trabajo amplia y cualificada, adaptándose a los cambios demográficos y sociales.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77875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Factores que mueven la participación</a:t>
            </a:r>
            <a:endParaRPr lang="en-US" sz="1600" dirty="0"/>
          </a:p>
        </p:txBody>
      </p:sp>
      <p:pic>
        <p:nvPicPr>
          <p:cNvPr id="19" name="Image 3" descr="https://kimi-img.moonshot.cn/pub/slides/slides_tmpl/image/25-08-27-19:59:50-d2nf6dh8bjvh7rlj01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095" y="4370705"/>
            <a:ext cx="425450" cy="846455"/>
          </a:xfrm>
          <a:prstGeom prst="rect">
            <a:avLst/>
          </a:prstGeom>
        </p:spPr>
      </p:pic>
      <p:pic>
        <p:nvPicPr>
          <p:cNvPr id="20" name="Image 4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2950" y="4331335"/>
            <a:ext cx="466090" cy="473075"/>
          </a:xfrm>
          <a:prstGeom prst="rect">
            <a:avLst/>
          </a:prstGeom>
        </p:spPr>
      </p:pic>
      <p:pic>
        <p:nvPicPr>
          <p:cNvPr id="21" name="Image 5" descr="https://kimi-img.moonshot.cn/pub/slides/slides_tmpl/image/25-08-27-19:59:50-d2nf6dh8bjvh7rlj01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770" y="3739515"/>
            <a:ext cx="425450" cy="846455"/>
          </a:xfrm>
          <a:prstGeom prst="rect">
            <a:avLst/>
          </a:prstGeom>
        </p:spPr>
      </p:pic>
      <p:pic>
        <p:nvPicPr>
          <p:cNvPr id="22" name="Image 6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5625" y="3700145"/>
            <a:ext cx="466090" cy="473075"/>
          </a:xfrm>
          <a:prstGeom prst="rect">
            <a:avLst/>
          </a:prstGeom>
        </p:spPr>
      </p:pic>
      <p:pic>
        <p:nvPicPr>
          <p:cNvPr id="23" name="Image 7" descr="https://kimi-img.moonshot.cn/pub/slides/slides_tmpl/image/25-08-27-19:59:50-d2nf6dh8bjvh7rlj01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7720" y="4189095"/>
            <a:ext cx="425450" cy="846455"/>
          </a:xfrm>
          <a:prstGeom prst="rect">
            <a:avLst/>
          </a:prstGeom>
        </p:spPr>
      </p:pic>
      <p:pic>
        <p:nvPicPr>
          <p:cNvPr id="24" name="Image 8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0575" y="4149725"/>
            <a:ext cx="466090" cy="473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PIB y productividad laboral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0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74065" y="1918970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8"/>
          <p:cNvSpPr/>
          <p:nvPr/>
        </p:nvSpPr>
        <p:spPr>
          <a:xfrm>
            <a:off x="77406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120140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PIB mide el valor monetario total de bienes y servicios finales producidos en un país. Refleja el crecimiento económico y la salud de la economía.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097915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 de PIB</a:t>
            </a:r>
            <a:endParaRPr lang="en-US" sz="1600" dirty="0"/>
          </a:p>
        </p:txBody>
      </p:sp>
      <p:pic>
        <p:nvPicPr>
          <p:cNvPr id="16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0905" y="2049780"/>
            <a:ext cx="688340" cy="6915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152015" y="213614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18" name="Image 4" descr="https://kimi-img.moonshot.cn/pub/slides/slides_tmpl/image/25-08-27-19:59:47-d2nf6cp8bjvh7rlj01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6740" y="2232025"/>
            <a:ext cx="1288415" cy="3302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4437380" y="1918335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3"/>
          <p:cNvSpPr/>
          <p:nvPr/>
        </p:nvSpPr>
        <p:spPr>
          <a:xfrm>
            <a:off x="4437380" y="1918335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4755515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calcula como producción por trabajador o por hora. Aumentos sostenidos en la productividad permiten subir salarios reales sin inflación ni pérdida de competitividad.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4733290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Productividad laboral</a:t>
            </a:r>
            <a:endParaRPr lang="en-US" sz="1600" dirty="0"/>
          </a:p>
        </p:txBody>
      </p:sp>
      <p:pic>
        <p:nvPicPr>
          <p:cNvPr id="23" name="Image 5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280" y="2049780"/>
            <a:ext cx="688340" cy="69151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796915" y="214185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pic>
        <p:nvPicPr>
          <p:cNvPr id="25" name="Image 6" descr="https://kimi-img.moonshot.cn/pub/slides/slides_tmpl/image/25-08-27-19:59:47-d2nf6cp8bjvh7rlj01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2115" y="2232025"/>
            <a:ext cx="1288415" cy="3302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082915" y="1918970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18"/>
          <p:cNvSpPr/>
          <p:nvPr/>
        </p:nvSpPr>
        <p:spPr>
          <a:xfrm>
            <a:off x="808291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8395970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corto plazo, aumentos de productividad pueden reducir empleo en sectores específicos, pero a largo plazo generan nuevas oportunidades y empleo de calidad.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8373745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Relación con empleo</a:t>
            </a:r>
            <a:endParaRPr lang="en-US" sz="1600" dirty="0"/>
          </a:p>
        </p:txBody>
      </p:sp>
      <p:pic>
        <p:nvPicPr>
          <p:cNvPr id="30" name="Image 7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735" y="2049780"/>
            <a:ext cx="688340" cy="691515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9431020" y="214566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pic>
        <p:nvPicPr>
          <p:cNvPr id="32" name="Image 8" descr="https://kimi-img.moonshot.cn/pub/slides/slides_tmpl/image/25-08-27-19:59:47-d2nf6cp8bjvh7rlj01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2570" y="2232025"/>
            <a:ext cx="1288415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46675E-7910-5290-280F-916F61051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>
            <a:extLst>
              <a:ext uri="{FF2B5EF4-FFF2-40B4-BE49-F238E27FC236}">
                <a16:creationId xmlns:a16="http://schemas.microsoft.com/office/drawing/2014/main" id="{DB51461A-8C10-AB2D-BA7D-59300E24B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6FE7AA7-232A-FB63-6030-945EB7A309CF}"/>
              </a:ext>
            </a:extLst>
          </p:cNvPr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PIB y productividad laboral</a:t>
            </a:r>
            <a:endParaRPr lang="en-US" sz="16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3F42801-5DF3-199D-F0DF-4DBD87FFA791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058BA69-4218-4C5A-55CC-8EFCEBBB7D12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A14FC30-0DE1-CF29-5887-2CF9D758336B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9D01A6F-88C9-D6CC-1E19-995547DC466C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67F5E4B-F824-52C6-C4CC-80D077C453A2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D2E0E73-D426-815C-93CA-26CD877CB11F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0" name="Image 1" descr="https://kimi-img.moonshot.cn/pub/slides/slides_tmpl/image/25-08-27-19:59:30-d2nf68h8bjvh7rlj00pg.png">
            <a:extLst>
              <a:ext uri="{FF2B5EF4-FFF2-40B4-BE49-F238E27FC236}">
                <a16:creationId xmlns:a16="http://schemas.microsoft.com/office/drawing/2014/main" id="{0E4ADC3D-2884-06BB-C998-AFFCDE5B75A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0-d2nf68h8bjvh7rlj00pg.png">
            <a:extLst>
              <a:ext uri="{FF2B5EF4-FFF2-40B4-BE49-F238E27FC236}">
                <a16:creationId xmlns:a16="http://schemas.microsoft.com/office/drawing/2014/main" id="{C7003F08-B788-CBEF-274F-D78C6620172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2" name="Shape 7">
            <a:extLst>
              <a:ext uri="{FF2B5EF4-FFF2-40B4-BE49-F238E27FC236}">
                <a16:creationId xmlns:a16="http://schemas.microsoft.com/office/drawing/2014/main" id="{1D41D1B8-83AD-16EC-AE80-9944A93397A0}"/>
              </a:ext>
            </a:extLst>
          </p:cNvPr>
          <p:cNvSpPr/>
          <p:nvPr/>
        </p:nvSpPr>
        <p:spPr>
          <a:xfrm>
            <a:off x="774065" y="1918970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635EF597-56E5-21AE-6670-897233BE60E1}"/>
              </a:ext>
            </a:extLst>
          </p:cNvPr>
          <p:cNvSpPr/>
          <p:nvPr/>
        </p:nvSpPr>
        <p:spPr>
          <a:xfrm>
            <a:off x="77406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7ADDE1F2-A385-B82E-726D-B037DDDA43A8}"/>
              </a:ext>
            </a:extLst>
          </p:cNvPr>
          <p:cNvSpPr/>
          <p:nvPr/>
        </p:nvSpPr>
        <p:spPr>
          <a:xfrm>
            <a:off x="1120140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PIB mide el valor monetario total de bienes y servicios finales producidos en un país. Refleja el crecimiento económico y la salud de la economía.</a:t>
            </a:r>
            <a:endParaRPr lang="en-US" sz="16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6AF5DCE8-82EC-7712-5545-BD629393712D}"/>
              </a:ext>
            </a:extLst>
          </p:cNvPr>
          <p:cNvSpPr/>
          <p:nvPr/>
        </p:nvSpPr>
        <p:spPr>
          <a:xfrm>
            <a:off x="1097915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 de PIB</a:t>
            </a:r>
            <a:endParaRPr lang="en-US" sz="1600" dirty="0"/>
          </a:p>
        </p:txBody>
      </p:sp>
      <p:pic>
        <p:nvPicPr>
          <p:cNvPr id="16" name="Image 3" descr="https://kimi-img.moonshot.cn/pub/slides/slides_tmpl/image/25-08-27-19:59:33-d2nf6998bjvh7rlj00r0.png">
            <a:extLst>
              <a:ext uri="{FF2B5EF4-FFF2-40B4-BE49-F238E27FC236}">
                <a16:creationId xmlns:a16="http://schemas.microsoft.com/office/drawing/2014/main" id="{F2B85ADB-7564-782D-E227-F9CCD8EDB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0905" y="2049780"/>
            <a:ext cx="688340" cy="691515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EF7CF0FD-C05A-AA7E-9997-5ADFC907C4FD}"/>
              </a:ext>
            </a:extLst>
          </p:cNvPr>
          <p:cNvSpPr/>
          <p:nvPr/>
        </p:nvSpPr>
        <p:spPr>
          <a:xfrm>
            <a:off x="2152015" y="213614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18" name="Image 4" descr="https://kimi-img.moonshot.cn/pub/slides/slides_tmpl/image/25-08-27-19:59:47-d2nf6cp8bjvh7rlj01c0.png">
            <a:extLst>
              <a:ext uri="{FF2B5EF4-FFF2-40B4-BE49-F238E27FC236}">
                <a16:creationId xmlns:a16="http://schemas.microsoft.com/office/drawing/2014/main" id="{F4CB74E8-CC24-0435-62C8-584F061CA3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6740" y="2232025"/>
            <a:ext cx="1288415" cy="330200"/>
          </a:xfrm>
          <a:prstGeom prst="rect">
            <a:avLst/>
          </a:prstGeom>
        </p:spPr>
      </p:pic>
      <p:sp>
        <p:nvSpPr>
          <p:cNvPr id="19" name="Shape 12">
            <a:extLst>
              <a:ext uri="{FF2B5EF4-FFF2-40B4-BE49-F238E27FC236}">
                <a16:creationId xmlns:a16="http://schemas.microsoft.com/office/drawing/2014/main" id="{F2A14AE1-132F-459E-8560-3FD08F05A664}"/>
              </a:ext>
            </a:extLst>
          </p:cNvPr>
          <p:cNvSpPr/>
          <p:nvPr/>
        </p:nvSpPr>
        <p:spPr>
          <a:xfrm>
            <a:off x="4437380" y="1918335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9406B7F0-2019-3592-459E-933BF03C2E6C}"/>
              </a:ext>
            </a:extLst>
          </p:cNvPr>
          <p:cNvSpPr/>
          <p:nvPr/>
        </p:nvSpPr>
        <p:spPr>
          <a:xfrm>
            <a:off x="4437380" y="1918335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E050E9F0-5BDB-D9C8-4726-6549825B605C}"/>
              </a:ext>
            </a:extLst>
          </p:cNvPr>
          <p:cNvSpPr/>
          <p:nvPr/>
        </p:nvSpPr>
        <p:spPr>
          <a:xfrm>
            <a:off x="5796915" y="214185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3B66D328-A5FF-C824-EF8E-6F8B4C762DED}"/>
              </a:ext>
            </a:extLst>
          </p:cNvPr>
          <p:cNvSpPr/>
          <p:nvPr/>
        </p:nvSpPr>
        <p:spPr>
          <a:xfrm>
            <a:off x="8082915" y="1918970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64B2D099-2B75-DFBB-BE45-3B175B99FAEA}"/>
              </a:ext>
            </a:extLst>
          </p:cNvPr>
          <p:cNvSpPr/>
          <p:nvPr/>
        </p:nvSpPr>
        <p:spPr>
          <a:xfrm>
            <a:off x="808291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30451F10-2E3C-1C67-BBC2-A77FE3A3A884}"/>
              </a:ext>
            </a:extLst>
          </p:cNvPr>
          <p:cNvSpPr/>
          <p:nvPr/>
        </p:nvSpPr>
        <p:spPr>
          <a:xfrm>
            <a:off x="9431020" y="214566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pic>
        <p:nvPicPr>
          <p:cNvPr id="33" name="Imagen 3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188D66F8-D4D9-E442-924B-8CF7F0FB1C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8848" y="2342832"/>
            <a:ext cx="6813136" cy="274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892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EC8AF-3984-83DC-E566-BA190FE03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>
            <a:extLst>
              <a:ext uri="{FF2B5EF4-FFF2-40B4-BE49-F238E27FC236}">
                <a16:creationId xmlns:a16="http://schemas.microsoft.com/office/drawing/2014/main" id="{28A42610-553A-26AB-C483-0B9CF93F2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B3132F7-015C-CE6E-4FA1-2D7B2BF32F02}"/>
              </a:ext>
            </a:extLst>
          </p:cNvPr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PIB y productividad laboral</a:t>
            </a:r>
            <a:endParaRPr lang="en-US" sz="16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0B210B8-156C-8B27-E274-9AB84C09F4E0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83CB564-B383-B3B6-27AB-D8F7B5FB94F5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142669D-D98A-E3A6-7665-0F8E966CE73D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D2B4463-1837-01BE-A0FF-981FB2B86FC9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66325E1-85A1-9563-1E8C-668BAEAB6779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C22A272-1360-2997-5610-58BA8C5695A7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0" name="Image 1" descr="https://kimi-img.moonshot.cn/pub/slides/slides_tmpl/image/25-08-27-19:59:30-d2nf68h8bjvh7rlj00pg.png">
            <a:extLst>
              <a:ext uri="{FF2B5EF4-FFF2-40B4-BE49-F238E27FC236}">
                <a16:creationId xmlns:a16="http://schemas.microsoft.com/office/drawing/2014/main" id="{4C06C0C6-7903-96D5-DBCA-46513838E12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0-d2nf68h8bjvh7rlj00pg.png">
            <a:extLst>
              <a:ext uri="{FF2B5EF4-FFF2-40B4-BE49-F238E27FC236}">
                <a16:creationId xmlns:a16="http://schemas.microsoft.com/office/drawing/2014/main" id="{6795392A-9F04-3C12-AFF7-FC82E9C3E80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56644297-4BC9-7073-D112-88AEE678EB7C}"/>
              </a:ext>
            </a:extLst>
          </p:cNvPr>
          <p:cNvSpPr/>
          <p:nvPr/>
        </p:nvSpPr>
        <p:spPr>
          <a:xfrm>
            <a:off x="77406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D0B82F7E-776D-B45F-D8AF-D36E459CCE7F}"/>
              </a:ext>
            </a:extLst>
          </p:cNvPr>
          <p:cNvSpPr/>
          <p:nvPr/>
        </p:nvSpPr>
        <p:spPr>
          <a:xfrm>
            <a:off x="2152015" y="213614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DCA2ED56-AD8A-1309-E9B2-663D08F1DD8B}"/>
              </a:ext>
            </a:extLst>
          </p:cNvPr>
          <p:cNvSpPr/>
          <p:nvPr/>
        </p:nvSpPr>
        <p:spPr>
          <a:xfrm>
            <a:off x="1262380" y="1918335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3C3066FD-4C76-4A62-498E-DA7F9D05CAE9}"/>
              </a:ext>
            </a:extLst>
          </p:cNvPr>
          <p:cNvSpPr/>
          <p:nvPr/>
        </p:nvSpPr>
        <p:spPr>
          <a:xfrm>
            <a:off x="4437380" y="1918335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9AD6EB30-F8CB-9492-2F4B-5DA0EDB3846B}"/>
              </a:ext>
            </a:extLst>
          </p:cNvPr>
          <p:cNvSpPr/>
          <p:nvPr/>
        </p:nvSpPr>
        <p:spPr>
          <a:xfrm>
            <a:off x="1580515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calcula como producción por trabajador o por hora. Aumentos sostenidos en la productividad permiten subir salarios reales sin inflación ni pérdida de competitividad.</a:t>
            </a:r>
            <a:endParaRPr lang="en-US" sz="160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2E7A42A5-9721-C0CA-D07F-1103B6ECABE3}"/>
              </a:ext>
            </a:extLst>
          </p:cNvPr>
          <p:cNvSpPr/>
          <p:nvPr/>
        </p:nvSpPr>
        <p:spPr>
          <a:xfrm>
            <a:off x="1558290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Productividad laboral</a:t>
            </a:r>
            <a:endParaRPr lang="en-US" sz="1600" dirty="0"/>
          </a:p>
        </p:txBody>
      </p:sp>
      <p:pic>
        <p:nvPicPr>
          <p:cNvPr id="23" name="Image 5" descr="https://kimi-img.moonshot.cn/pub/slides/slides_tmpl/image/25-08-27-19:59:33-d2nf6998bjvh7rlj00r0.png">
            <a:extLst>
              <a:ext uri="{FF2B5EF4-FFF2-40B4-BE49-F238E27FC236}">
                <a16:creationId xmlns:a16="http://schemas.microsoft.com/office/drawing/2014/main" id="{6A743A3F-CE8A-5596-5255-E17E4870E6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1280" y="2049780"/>
            <a:ext cx="688340" cy="691515"/>
          </a:xfrm>
          <a:prstGeom prst="rect">
            <a:avLst/>
          </a:prstGeom>
        </p:spPr>
      </p:pic>
      <p:sp>
        <p:nvSpPr>
          <p:cNvPr id="24" name="Text 16">
            <a:extLst>
              <a:ext uri="{FF2B5EF4-FFF2-40B4-BE49-F238E27FC236}">
                <a16:creationId xmlns:a16="http://schemas.microsoft.com/office/drawing/2014/main" id="{5DD1F5C5-BEE0-6FA5-732B-DB03A5E81DBC}"/>
              </a:ext>
            </a:extLst>
          </p:cNvPr>
          <p:cNvSpPr/>
          <p:nvPr/>
        </p:nvSpPr>
        <p:spPr>
          <a:xfrm>
            <a:off x="2633663" y="215519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pic>
        <p:nvPicPr>
          <p:cNvPr id="25" name="Image 6" descr="https://kimi-img.moonshot.cn/pub/slides/slides_tmpl/image/25-08-27-19:59:47-d2nf6cp8bjvh7rlj01c0.png">
            <a:extLst>
              <a:ext uri="{FF2B5EF4-FFF2-40B4-BE49-F238E27FC236}">
                <a16:creationId xmlns:a16="http://schemas.microsoft.com/office/drawing/2014/main" id="{0ABF23B1-99D7-AD6E-AFF2-5C5B48B8E3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7115" y="2232025"/>
            <a:ext cx="1288415" cy="330200"/>
          </a:xfrm>
          <a:prstGeom prst="rect">
            <a:avLst/>
          </a:prstGeom>
        </p:spPr>
      </p:pic>
      <p:sp>
        <p:nvSpPr>
          <p:cNvPr id="27" name="Text 18">
            <a:extLst>
              <a:ext uri="{FF2B5EF4-FFF2-40B4-BE49-F238E27FC236}">
                <a16:creationId xmlns:a16="http://schemas.microsoft.com/office/drawing/2014/main" id="{26007A73-D5C8-90C6-C46C-0187ED1CF594}"/>
              </a:ext>
            </a:extLst>
          </p:cNvPr>
          <p:cNvSpPr/>
          <p:nvPr/>
        </p:nvSpPr>
        <p:spPr>
          <a:xfrm>
            <a:off x="808291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48825F69-FD27-029E-C45D-2D7BE6D8E4B5}"/>
              </a:ext>
            </a:extLst>
          </p:cNvPr>
          <p:cNvSpPr/>
          <p:nvPr/>
        </p:nvSpPr>
        <p:spPr>
          <a:xfrm>
            <a:off x="9431020" y="214566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AD628C6D-F65B-BCFD-21AA-B01A1CB35C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1543" y="2357179"/>
            <a:ext cx="5106113" cy="3801005"/>
          </a:xfrm>
          <a:prstGeom prst="rect">
            <a:avLst/>
          </a:prstGeom>
        </p:spPr>
      </p:pic>
      <p:sp>
        <p:nvSpPr>
          <p:cNvPr id="35" name="Rectángulo 34">
            <a:extLst>
              <a:ext uri="{FF2B5EF4-FFF2-40B4-BE49-F238E27FC236}">
                <a16:creationId xmlns:a16="http://schemas.microsoft.com/office/drawing/2014/main" id="{A30721E5-07A5-CB32-A227-879EE1FFD321}"/>
              </a:ext>
            </a:extLst>
          </p:cNvPr>
          <p:cNvSpPr/>
          <p:nvPr/>
        </p:nvSpPr>
        <p:spPr>
          <a:xfrm>
            <a:off x="6629399" y="2357179"/>
            <a:ext cx="3457938" cy="406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0126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31C57A-6B8E-A634-2BD7-2CDD56608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>
            <a:extLst>
              <a:ext uri="{FF2B5EF4-FFF2-40B4-BE49-F238E27FC236}">
                <a16:creationId xmlns:a16="http://schemas.microsoft.com/office/drawing/2014/main" id="{622B7B27-F282-4EA1-8E3E-BE3A60EF3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DC43352-FF52-591C-661F-DA31F72CA3F1}"/>
              </a:ext>
            </a:extLst>
          </p:cNvPr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PIB y productividad laboral</a:t>
            </a:r>
            <a:endParaRPr lang="en-US" sz="16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50AA157-7869-D6F3-AAB4-B66C6B6F576C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1A8ED2B-340D-9B07-49E1-ACC3D8E7CC4F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C0AF193-AC1A-F5B5-E937-3DA39F778EBD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9A95419-7F55-1E23-7B81-A3C13F910E81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38211C0-2E1F-FA9A-B2D2-341CF56831C3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B484D2B-E9B8-9E7A-FA45-993E61F5DEB3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0" name="Image 1" descr="https://kimi-img.moonshot.cn/pub/slides/slides_tmpl/image/25-08-27-19:59:30-d2nf68h8bjvh7rlj00pg.png">
            <a:extLst>
              <a:ext uri="{FF2B5EF4-FFF2-40B4-BE49-F238E27FC236}">
                <a16:creationId xmlns:a16="http://schemas.microsoft.com/office/drawing/2014/main" id="{A8AC6850-D8C7-E661-97B5-BB06D3FE26D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0-d2nf68h8bjvh7rlj00pg.png">
            <a:extLst>
              <a:ext uri="{FF2B5EF4-FFF2-40B4-BE49-F238E27FC236}">
                <a16:creationId xmlns:a16="http://schemas.microsoft.com/office/drawing/2014/main" id="{98881350-5DDE-E57C-7AE7-BAB8CB19982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7814E45B-C291-DAF1-D03D-AC32DB578142}"/>
              </a:ext>
            </a:extLst>
          </p:cNvPr>
          <p:cNvSpPr/>
          <p:nvPr/>
        </p:nvSpPr>
        <p:spPr>
          <a:xfrm>
            <a:off x="77406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0F30639B-47E1-02CD-794C-181519F71CF6}"/>
              </a:ext>
            </a:extLst>
          </p:cNvPr>
          <p:cNvSpPr/>
          <p:nvPr/>
        </p:nvSpPr>
        <p:spPr>
          <a:xfrm>
            <a:off x="2152015" y="213614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3FC0362E-666D-6B6D-26D7-4638F65A13D9}"/>
              </a:ext>
            </a:extLst>
          </p:cNvPr>
          <p:cNvSpPr/>
          <p:nvPr/>
        </p:nvSpPr>
        <p:spPr>
          <a:xfrm>
            <a:off x="4437380" y="1918335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8AD81053-AE72-C145-8468-79ECF2241BF9}"/>
              </a:ext>
            </a:extLst>
          </p:cNvPr>
          <p:cNvSpPr/>
          <p:nvPr/>
        </p:nvSpPr>
        <p:spPr>
          <a:xfrm>
            <a:off x="2633663" y="215519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DCA8B5E8-7C85-3ECA-FC61-3FE9CB7DA7AD}"/>
              </a:ext>
            </a:extLst>
          </p:cNvPr>
          <p:cNvSpPr/>
          <p:nvPr/>
        </p:nvSpPr>
        <p:spPr>
          <a:xfrm>
            <a:off x="808291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418AD72F-6F4F-7ECE-CB3D-61CA8DD50D2D}"/>
              </a:ext>
            </a:extLst>
          </p:cNvPr>
          <p:cNvSpPr/>
          <p:nvPr/>
        </p:nvSpPr>
        <p:spPr>
          <a:xfrm>
            <a:off x="9431020" y="214566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17">
            <a:extLst>
              <a:ext uri="{FF2B5EF4-FFF2-40B4-BE49-F238E27FC236}">
                <a16:creationId xmlns:a16="http://schemas.microsoft.com/office/drawing/2014/main" id="{94AD31B4-0CB3-D65C-1678-4555540E91A9}"/>
              </a:ext>
            </a:extLst>
          </p:cNvPr>
          <p:cNvSpPr/>
          <p:nvPr/>
        </p:nvSpPr>
        <p:spPr>
          <a:xfrm>
            <a:off x="978495" y="1918970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D187FE90-9BA6-4F21-AD63-D8216C259AD7}"/>
              </a:ext>
            </a:extLst>
          </p:cNvPr>
          <p:cNvSpPr/>
          <p:nvPr/>
        </p:nvSpPr>
        <p:spPr>
          <a:xfrm>
            <a:off x="1291550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corto plazo, aumentos de productividad pueden reducir empleo en sectores específicos, pero a largo plazo generan nuevas oportunidades y empleo de calidad.</a:t>
            </a:r>
            <a:endParaRPr lang="en-US" sz="1600" dirty="0"/>
          </a:p>
        </p:txBody>
      </p:sp>
      <p:sp>
        <p:nvSpPr>
          <p:cNvPr id="15" name="Text 20">
            <a:extLst>
              <a:ext uri="{FF2B5EF4-FFF2-40B4-BE49-F238E27FC236}">
                <a16:creationId xmlns:a16="http://schemas.microsoft.com/office/drawing/2014/main" id="{954D6F21-3D31-BA47-B4EE-FB8141240A69}"/>
              </a:ext>
            </a:extLst>
          </p:cNvPr>
          <p:cNvSpPr/>
          <p:nvPr/>
        </p:nvSpPr>
        <p:spPr>
          <a:xfrm>
            <a:off x="1269325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Relación con empleo</a:t>
            </a:r>
            <a:endParaRPr lang="en-US" sz="1600" dirty="0"/>
          </a:p>
        </p:txBody>
      </p:sp>
      <p:pic>
        <p:nvPicPr>
          <p:cNvPr id="16" name="Image 7" descr="https://kimi-img.moonshot.cn/pub/slides/slides_tmpl/image/25-08-27-19:59:33-d2nf6998bjvh7rlj00r0.png">
            <a:extLst>
              <a:ext uri="{FF2B5EF4-FFF2-40B4-BE49-F238E27FC236}">
                <a16:creationId xmlns:a16="http://schemas.microsoft.com/office/drawing/2014/main" id="{50C3B3D7-4DBC-95FA-5581-9AE0C45FCC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2315" y="2049780"/>
            <a:ext cx="688340" cy="691515"/>
          </a:xfrm>
          <a:prstGeom prst="rect">
            <a:avLst/>
          </a:prstGeom>
        </p:spPr>
      </p:pic>
      <p:pic>
        <p:nvPicPr>
          <p:cNvPr id="18" name="Image 8" descr="https://kimi-img.moonshot.cn/pub/slides/slides_tmpl/image/25-08-27-19:59:47-d2nf6cp8bjvh7rlj01c0.png">
            <a:extLst>
              <a:ext uri="{FF2B5EF4-FFF2-40B4-BE49-F238E27FC236}">
                <a16:creationId xmlns:a16="http://schemas.microsoft.com/office/drawing/2014/main" id="{01947E32-67C9-7C96-8462-2553B3D3E3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8150" y="2232025"/>
            <a:ext cx="1288415" cy="330200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62177170-7CB5-7781-DFBA-6A4A4B583D93}"/>
              </a:ext>
            </a:extLst>
          </p:cNvPr>
          <p:cNvSpPr txBox="1"/>
          <p:nvPr/>
        </p:nvSpPr>
        <p:spPr>
          <a:xfrm>
            <a:off x="2472507" y="2096346"/>
            <a:ext cx="428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>
                <a:solidFill>
                  <a:schemeClr val="bg1"/>
                </a:solidFill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3</a:t>
            </a: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16A52E59-4E0C-00F1-6C65-59249B1A00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3643" y="1918335"/>
            <a:ext cx="4665555" cy="435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713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50-d2nf6dh8bjvh7rlj01h0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-240665" y="-157480"/>
            <a:ext cx="12669520" cy="7191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6000" y="81280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Sectores y calidad del empleo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70505" y="2576195"/>
            <a:ext cx="7731760" cy="138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Sectores de alto valor añadido ofrecen mejores salarios y contratos estables, mientras que sectores de bajo valor añadido generan empleos precarios y bajos salarios.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770505" y="1993265"/>
            <a:ext cx="7732395" cy="588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Valor añadido y empleo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70505" y="4587875"/>
            <a:ext cx="7731760" cy="147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deben orientarse a subir en la cadena de valor para transformar trabajo en empleo de calidad, fomentando sectores de alta productividad.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70505" y="4004945"/>
            <a:ext cx="7732395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 industrial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595" y="1953895"/>
            <a:ext cx="688340" cy="69151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04406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10" name="Image 2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595" y="3961130"/>
            <a:ext cx="688340" cy="6915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405130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807845" y="2580640"/>
            <a:ext cx="0" cy="147066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21075" y="213614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largo plazo, los salarios reales no pueden crecer más rápido que la productividad sin generar inflación ni pérdida de competitividad.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521075" y="1721485"/>
            <a:ext cx="6654165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Límite a largo plazo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105025" y="374650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distribución de las ganancias de productividad entre salarios y beneficios empresariales depende de la negociación colectiva y el poder de mercado.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105025" y="3331845"/>
            <a:ext cx="382524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Distribución de ganancias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08045" y="5356860"/>
            <a:ext cx="77946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España, la productividad crece más que los salarios medios, lo que alimenta el debate sobre equidad y modelo productivo.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08045" y="4942205"/>
            <a:ext cx="382524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Caso español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Relación salarios-productividad</a:t>
            </a:r>
            <a:endParaRPr lang="en-US" sz="1600" dirty="0"/>
          </a:p>
        </p:txBody>
      </p:sp>
      <p:pic>
        <p:nvPicPr>
          <p:cNvPr id="10" name="Image 1" descr="https://kimi-img.moonshot.cn/pub/slides/slides_tmpl/image/25-08-27-19:59:48-d2nf6d18bjvh7rlj01d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1151255" y="-1030605"/>
            <a:ext cx="3615055" cy="8472805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8595" y="1642110"/>
            <a:ext cx="688340" cy="691515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30" y="3331845"/>
            <a:ext cx="688340" cy="691515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970" y="5222875"/>
            <a:ext cx="688340" cy="69151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63040" y="173228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54710" y="342900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1543685" y="532574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018F53-E314-0577-D2F9-E3D241B05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642A18E-11EC-AF25-E9AB-2D7F9B8866DA}"/>
              </a:ext>
            </a:extLst>
          </p:cNvPr>
          <p:cNvSpPr/>
          <p:nvPr/>
        </p:nvSpPr>
        <p:spPr>
          <a:xfrm>
            <a:off x="3521075" y="213614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largo plazo, los salarios reales no pueden crecer más rápido que la productividad sin generar inflación ni pérdida de competitividad.</a:t>
            </a:r>
            <a:endParaRPr lang="en-US" sz="16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F5F6C18-EDEB-C551-5F72-A110FF807403}"/>
              </a:ext>
            </a:extLst>
          </p:cNvPr>
          <p:cNvSpPr/>
          <p:nvPr/>
        </p:nvSpPr>
        <p:spPr>
          <a:xfrm>
            <a:off x="3521075" y="1721485"/>
            <a:ext cx="6654165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Límite a largo plazo</a:t>
            </a:r>
            <a:endParaRPr lang="en-US" sz="1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ABE5511-7FF9-3673-7B41-9C9BEE0D5BB4}"/>
              </a:ext>
            </a:extLst>
          </p:cNvPr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Relación salarios-productividad</a:t>
            </a:r>
            <a:endParaRPr lang="en-US" sz="1600" dirty="0"/>
          </a:p>
        </p:txBody>
      </p:sp>
      <p:pic>
        <p:nvPicPr>
          <p:cNvPr id="10" name="Image 1" descr="https://kimi-img.moonshot.cn/pub/slides/slides_tmpl/image/25-08-27-19:59:48-d2nf6d18bjvh7rlj01dg.png">
            <a:extLst>
              <a:ext uri="{FF2B5EF4-FFF2-40B4-BE49-F238E27FC236}">
                <a16:creationId xmlns:a16="http://schemas.microsoft.com/office/drawing/2014/main" id="{10649C01-0766-11C2-3BCE-4F51070625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151255" y="-1030605"/>
            <a:ext cx="3615055" cy="8472805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3-d2nf6998bjvh7rlj00r0.png">
            <a:extLst>
              <a:ext uri="{FF2B5EF4-FFF2-40B4-BE49-F238E27FC236}">
                <a16:creationId xmlns:a16="http://schemas.microsoft.com/office/drawing/2014/main" id="{707F8BC3-3D32-1E7D-3CEB-6F9CE8E44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595" y="1642110"/>
            <a:ext cx="688340" cy="691515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8-27-19:59:33-d2nf6998bjvh7rlj00r0.png">
            <a:extLst>
              <a:ext uri="{FF2B5EF4-FFF2-40B4-BE49-F238E27FC236}">
                <a16:creationId xmlns:a16="http://schemas.microsoft.com/office/drawing/2014/main" id="{B54E9CF1-4066-116D-910B-4C7C2AB79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630" y="3331845"/>
            <a:ext cx="688340" cy="691515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8-27-19:59:33-d2nf6998bjvh7rlj00r0.png">
            <a:extLst>
              <a:ext uri="{FF2B5EF4-FFF2-40B4-BE49-F238E27FC236}">
                <a16:creationId xmlns:a16="http://schemas.microsoft.com/office/drawing/2014/main" id="{6C94BE9B-D25B-D4A1-7625-0875A0D54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7970" y="5222875"/>
            <a:ext cx="688340" cy="691515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B5EF7BE4-6436-CCD7-EB4F-2CBD4B66A8BA}"/>
              </a:ext>
            </a:extLst>
          </p:cNvPr>
          <p:cNvSpPr/>
          <p:nvPr/>
        </p:nvSpPr>
        <p:spPr>
          <a:xfrm>
            <a:off x="1463040" y="173228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18C4647A-2B4A-B4C5-B047-B29677875BCB}"/>
              </a:ext>
            </a:extLst>
          </p:cNvPr>
          <p:cNvSpPr/>
          <p:nvPr/>
        </p:nvSpPr>
        <p:spPr>
          <a:xfrm>
            <a:off x="854710" y="342900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824D30F1-4B40-2F77-569F-D24AF510297D}"/>
              </a:ext>
            </a:extLst>
          </p:cNvPr>
          <p:cNvSpPr/>
          <p:nvPr/>
        </p:nvSpPr>
        <p:spPr>
          <a:xfrm>
            <a:off x="1543685" y="532574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02CF99EF-EB08-C901-F381-26E208696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6310" y="3289340"/>
            <a:ext cx="4278267" cy="3184754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2056AF8B-E6B7-8941-6A0D-4FADEDC79284}"/>
              </a:ext>
            </a:extLst>
          </p:cNvPr>
          <p:cNvSpPr/>
          <p:nvPr/>
        </p:nvSpPr>
        <p:spPr>
          <a:xfrm>
            <a:off x="6096000" y="3289340"/>
            <a:ext cx="2948577" cy="407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2410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07352C-5FE5-9B73-69A0-BC1B65250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>
            <a:extLst>
              <a:ext uri="{FF2B5EF4-FFF2-40B4-BE49-F238E27FC236}">
                <a16:creationId xmlns:a16="http://schemas.microsoft.com/office/drawing/2014/main" id="{E8E849FD-78BB-47FE-D6B4-C7998591604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6E84F829-ECA3-7DB7-C794-ED4C3BCEABFA}"/>
              </a:ext>
            </a:extLst>
          </p:cNvPr>
          <p:cNvSpPr/>
          <p:nvPr/>
        </p:nvSpPr>
        <p:spPr>
          <a:xfrm>
            <a:off x="2105025" y="374650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distribución de las ganancias de </a:t>
            </a:r>
            <a:r>
              <a:rPr lang="en-US" sz="1400" dirty="0" err="1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productividad</a:t>
            </a: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entre salarios y beneficios empresariales </a:t>
            </a:r>
            <a:r>
              <a:rPr lang="en-US" sz="1400" dirty="0" err="1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depende</a:t>
            </a: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 la negociación colectiva y el poder de mercado.</a:t>
            </a:r>
            <a:endParaRPr lang="en-US" sz="1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558AD22-C462-68C7-F45B-FD7DE99F767D}"/>
              </a:ext>
            </a:extLst>
          </p:cNvPr>
          <p:cNvSpPr/>
          <p:nvPr/>
        </p:nvSpPr>
        <p:spPr>
          <a:xfrm>
            <a:off x="2105025" y="3331845"/>
            <a:ext cx="382524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Distribución de ganancias</a:t>
            </a:r>
            <a:endParaRPr lang="en-US" sz="1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0C6BF76-EEC3-71A7-FABF-458E08F9D4EF}"/>
              </a:ext>
            </a:extLst>
          </p:cNvPr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Relación salarios-productividad</a:t>
            </a:r>
            <a:endParaRPr lang="en-US" sz="1600" dirty="0"/>
          </a:p>
        </p:txBody>
      </p:sp>
      <p:pic>
        <p:nvPicPr>
          <p:cNvPr id="10" name="Image 1" descr="https://kimi-img.moonshot.cn/pub/slides/slides_tmpl/image/25-08-27-19:59:48-d2nf6d18bjvh7rlj01dg.png">
            <a:extLst>
              <a:ext uri="{FF2B5EF4-FFF2-40B4-BE49-F238E27FC236}">
                <a16:creationId xmlns:a16="http://schemas.microsoft.com/office/drawing/2014/main" id="{3100A083-1A1E-7B6D-A93B-DAE4A86085E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1151255" y="-1030605"/>
            <a:ext cx="3615055" cy="8472805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3-d2nf6998bjvh7rlj00r0.png">
            <a:extLst>
              <a:ext uri="{FF2B5EF4-FFF2-40B4-BE49-F238E27FC236}">
                <a16:creationId xmlns:a16="http://schemas.microsoft.com/office/drawing/2014/main" id="{827009BB-F7B4-1AD3-5BD6-8A3348945C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8595" y="1642110"/>
            <a:ext cx="688340" cy="691515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8-27-19:59:33-d2nf6998bjvh7rlj00r0.png">
            <a:extLst>
              <a:ext uri="{FF2B5EF4-FFF2-40B4-BE49-F238E27FC236}">
                <a16:creationId xmlns:a16="http://schemas.microsoft.com/office/drawing/2014/main" id="{9181E9C0-EADD-F07B-B836-A8C6632DAD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30" y="3331845"/>
            <a:ext cx="688340" cy="691515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8-27-19:59:33-d2nf6998bjvh7rlj00r0.png">
            <a:extLst>
              <a:ext uri="{FF2B5EF4-FFF2-40B4-BE49-F238E27FC236}">
                <a16:creationId xmlns:a16="http://schemas.microsoft.com/office/drawing/2014/main" id="{2F5AF7B9-0C72-310F-38FA-2FD6934B9A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970" y="5222875"/>
            <a:ext cx="688340" cy="691515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C1842A5C-7AB8-E76F-359B-448544E7DCE8}"/>
              </a:ext>
            </a:extLst>
          </p:cNvPr>
          <p:cNvSpPr/>
          <p:nvPr/>
        </p:nvSpPr>
        <p:spPr>
          <a:xfrm>
            <a:off x="1463040" y="173228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2A9F6199-2502-702A-964E-863F312F9605}"/>
              </a:ext>
            </a:extLst>
          </p:cNvPr>
          <p:cNvSpPr/>
          <p:nvPr/>
        </p:nvSpPr>
        <p:spPr>
          <a:xfrm>
            <a:off x="854710" y="342900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227BBA25-4910-A410-E346-6A719233F8FF}"/>
              </a:ext>
            </a:extLst>
          </p:cNvPr>
          <p:cNvSpPr/>
          <p:nvPr/>
        </p:nvSpPr>
        <p:spPr>
          <a:xfrm>
            <a:off x="1543685" y="532574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DFDC1C11-5E69-816B-6212-63C135BB6A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1605" y="1887180"/>
            <a:ext cx="5219693" cy="397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906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32-d2nf6918bjvh7rlj00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33-d2nf6998bjvh7rlj00q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295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Equilibrio y Salarios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46-d2nf6ch8bjvh7rlj01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9745"/>
            <a:ext cx="12192000" cy="58610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2155" y="75311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Oferta de trabajo: efectos dualidad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71830" y="367855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sustitución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129348" y="4100830"/>
            <a:ext cx="408305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Cuando los salarios aumentan, el ocio cuesta más y las personas prefieren trabajar más horas, aumentando la oferta de trabajo.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539865" y="367855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renta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997383" y="4100830"/>
            <a:ext cx="408305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 salarios muy altos, las personas pueden alcanzar su nivel de vida deseado con menos horas de trabajo, reduciendo la oferta de trabajo.</a:t>
            </a:r>
            <a:endParaRPr lang="en-US" sz="1600" dirty="0"/>
          </a:p>
        </p:txBody>
      </p:sp>
      <p:pic>
        <p:nvPicPr>
          <p:cNvPr id="9" name="Image 2" descr="https://kimi-img.moonshot.cn/pub/slides/slides_tmpl/image/25-08-27-19:59:48-d2nf6d18bjvh7rlj01cg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2615883" y="1976755"/>
            <a:ext cx="1348105" cy="1344930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8-27-19:59:47-d2nf6cp8bjvh7rlj01b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4748" y="2197418"/>
            <a:ext cx="1244600" cy="1193800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8-27-19:59:38-d2nf6ah8bjvh7rlj01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700000">
            <a:off x="3609023" y="2885440"/>
            <a:ext cx="530225" cy="48323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913063" y="228981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Shape 6"/>
          <p:cNvSpPr/>
          <p:nvPr/>
        </p:nvSpPr>
        <p:spPr>
          <a:xfrm>
            <a:off x="6104891" y="2514139"/>
            <a:ext cx="0" cy="257810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5" descr="https://kimi-img.moonshot.cn/pub/slides/slides_tmpl/image/25-08-27-19:59:48-d2nf6d18bjvh7rlj01cg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8483600" y="1976755"/>
            <a:ext cx="1348105" cy="1344930"/>
          </a:xfrm>
          <a:prstGeom prst="rect">
            <a:avLst/>
          </a:prstGeom>
        </p:spPr>
      </p:pic>
      <p:pic>
        <p:nvPicPr>
          <p:cNvPr id="15" name="Image 6" descr="https://kimi-img.moonshot.cn/pub/slides/slides_tmpl/image/25-08-27-19:59:47-d2nf6cp8bjvh7rlj01b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0850" y="2188143"/>
            <a:ext cx="1244600" cy="1193800"/>
          </a:xfrm>
          <a:prstGeom prst="rect">
            <a:avLst/>
          </a:prstGeom>
        </p:spPr>
      </p:pic>
      <p:pic>
        <p:nvPicPr>
          <p:cNvPr id="16" name="Image 7" descr="https://kimi-img.moonshot.cn/pub/slides/slides_tmpl/image/25-08-27-19:59:38-d2nf6ah8bjvh7rlj01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700000">
            <a:off x="9476740" y="2885440"/>
            <a:ext cx="530225" cy="483235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8693150" y="2289810"/>
            <a:ext cx="92837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BA5422-C4B1-1895-1E17-4989C6AE5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>
            <a:extLst>
              <a:ext uri="{FF2B5EF4-FFF2-40B4-BE49-F238E27FC236}">
                <a16:creationId xmlns:a16="http://schemas.microsoft.com/office/drawing/2014/main" id="{AFEAA4F4-AD5A-84F1-C505-A1D6857374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46-d2nf6ch8bjvh7rlj01a0.png">
            <a:extLst>
              <a:ext uri="{FF2B5EF4-FFF2-40B4-BE49-F238E27FC236}">
                <a16:creationId xmlns:a16="http://schemas.microsoft.com/office/drawing/2014/main" id="{F7900DF7-9630-E296-93BE-457540320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9745"/>
            <a:ext cx="12192000" cy="586105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F75E3FCE-B0CA-B321-E6A6-467316FD0B5A}"/>
              </a:ext>
            </a:extLst>
          </p:cNvPr>
          <p:cNvSpPr/>
          <p:nvPr/>
        </p:nvSpPr>
        <p:spPr>
          <a:xfrm>
            <a:off x="732155" y="75311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Oferta de trabajo: efectos dualidad</a:t>
            </a:r>
            <a:endParaRPr lang="en-US" sz="16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22EBDF9-9D9C-CFF1-BE62-8D0D0A76C22D}"/>
              </a:ext>
            </a:extLst>
          </p:cNvPr>
          <p:cNvSpPr/>
          <p:nvPr/>
        </p:nvSpPr>
        <p:spPr>
          <a:xfrm>
            <a:off x="671830" y="367855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sustitución</a:t>
            </a:r>
            <a:endParaRPr lang="en-US" sz="16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C9ABB21-7E3E-C108-C302-525B48D466C2}"/>
              </a:ext>
            </a:extLst>
          </p:cNvPr>
          <p:cNvSpPr/>
          <p:nvPr/>
        </p:nvSpPr>
        <p:spPr>
          <a:xfrm>
            <a:off x="1129348" y="4100830"/>
            <a:ext cx="408305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Cuando los salarios aumentan, el ocio cuesta más y las personas prefieren trabajar más horas, aumentando la oferta de trabajo.</a:t>
            </a:r>
            <a:endParaRPr lang="en-US" sz="16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5178EAE-5E8F-FCEE-71E9-A78D2A08FBE2}"/>
              </a:ext>
            </a:extLst>
          </p:cNvPr>
          <p:cNvSpPr/>
          <p:nvPr/>
        </p:nvSpPr>
        <p:spPr>
          <a:xfrm>
            <a:off x="6539865" y="367855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renta</a:t>
            </a:r>
            <a:endParaRPr lang="en-US" sz="16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A6DFDF3-5DB9-2D51-7508-D786E4A94EFA}"/>
              </a:ext>
            </a:extLst>
          </p:cNvPr>
          <p:cNvSpPr/>
          <p:nvPr/>
        </p:nvSpPr>
        <p:spPr>
          <a:xfrm>
            <a:off x="6997383" y="4100830"/>
            <a:ext cx="408305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 salarios muy altos, las personas pueden alcanzar su nivel de vida deseado con menos horas de trabajo, reduciendo la oferta de trabajo.</a:t>
            </a:r>
            <a:endParaRPr lang="en-US" sz="1600" dirty="0"/>
          </a:p>
        </p:txBody>
      </p:sp>
      <p:pic>
        <p:nvPicPr>
          <p:cNvPr id="9" name="Image 2" descr="https://kimi-img.moonshot.cn/pub/slides/slides_tmpl/image/25-08-27-19:59:48-d2nf6d18bjvh7rlj01cg.png">
            <a:extLst>
              <a:ext uri="{FF2B5EF4-FFF2-40B4-BE49-F238E27FC236}">
                <a16:creationId xmlns:a16="http://schemas.microsoft.com/office/drawing/2014/main" id="{8985AACE-8F06-0356-8AAB-64E2731DCB6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2615883" y="1976755"/>
            <a:ext cx="1348105" cy="1344930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8-27-19:59:47-d2nf6cp8bjvh7rlj01b0.png">
            <a:extLst>
              <a:ext uri="{FF2B5EF4-FFF2-40B4-BE49-F238E27FC236}">
                <a16:creationId xmlns:a16="http://schemas.microsoft.com/office/drawing/2014/main" id="{A2554163-EF6D-C698-D8F5-F1162F93B7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4748" y="2197418"/>
            <a:ext cx="1244600" cy="1193800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8-27-19:59:38-d2nf6ah8bjvh7rlj010g.png">
            <a:extLst>
              <a:ext uri="{FF2B5EF4-FFF2-40B4-BE49-F238E27FC236}">
                <a16:creationId xmlns:a16="http://schemas.microsoft.com/office/drawing/2014/main" id="{D6D35274-EB7C-7194-1CFE-A48C017892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700000">
            <a:off x="3609023" y="2885440"/>
            <a:ext cx="530225" cy="483235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0DE8BCDA-ABDC-5B1E-697F-255D2B28A742}"/>
              </a:ext>
            </a:extLst>
          </p:cNvPr>
          <p:cNvSpPr/>
          <p:nvPr/>
        </p:nvSpPr>
        <p:spPr>
          <a:xfrm>
            <a:off x="2913063" y="228981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7A02BFA5-FBA8-E0B0-E42B-5EBB934C9FCA}"/>
              </a:ext>
            </a:extLst>
          </p:cNvPr>
          <p:cNvSpPr/>
          <p:nvPr/>
        </p:nvSpPr>
        <p:spPr>
          <a:xfrm>
            <a:off x="6104891" y="2514139"/>
            <a:ext cx="0" cy="257810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5" descr="https://kimi-img.moonshot.cn/pub/slides/slides_tmpl/image/25-08-27-19:59:48-d2nf6d18bjvh7rlj01cg.png">
            <a:extLst>
              <a:ext uri="{FF2B5EF4-FFF2-40B4-BE49-F238E27FC236}">
                <a16:creationId xmlns:a16="http://schemas.microsoft.com/office/drawing/2014/main" id="{30DC0AC6-4B61-1199-2F3C-F498AB025D0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8483600" y="1976755"/>
            <a:ext cx="1348105" cy="1344930"/>
          </a:xfrm>
          <a:prstGeom prst="rect">
            <a:avLst/>
          </a:prstGeom>
        </p:spPr>
      </p:pic>
      <p:pic>
        <p:nvPicPr>
          <p:cNvPr id="15" name="Image 6" descr="https://kimi-img.moonshot.cn/pub/slides/slides_tmpl/image/25-08-27-19:59:47-d2nf6cp8bjvh7rlj01b0.png">
            <a:extLst>
              <a:ext uri="{FF2B5EF4-FFF2-40B4-BE49-F238E27FC236}">
                <a16:creationId xmlns:a16="http://schemas.microsoft.com/office/drawing/2014/main" id="{48B00701-015B-F6C4-EEF7-5CFFF4B81C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0850" y="2188143"/>
            <a:ext cx="1244600" cy="1193800"/>
          </a:xfrm>
          <a:prstGeom prst="rect">
            <a:avLst/>
          </a:prstGeom>
        </p:spPr>
      </p:pic>
      <p:pic>
        <p:nvPicPr>
          <p:cNvPr id="16" name="Image 7" descr="https://kimi-img.moonshot.cn/pub/slides/slides_tmpl/image/25-08-27-19:59:38-d2nf6ah8bjvh7rlj010g.png">
            <a:extLst>
              <a:ext uri="{FF2B5EF4-FFF2-40B4-BE49-F238E27FC236}">
                <a16:creationId xmlns:a16="http://schemas.microsoft.com/office/drawing/2014/main" id="{2385BA68-C712-9193-6395-B048C12579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700000">
            <a:off x="9476740" y="2885440"/>
            <a:ext cx="530225" cy="483235"/>
          </a:xfrm>
          <a:prstGeom prst="rect">
            <a:avLst/>
          </a:prstGeom>
        </p:spPr>
      </p:pic>
      <p:sp>
        <p:nvSpPr>
          <p:cNvPr id="17" name="Text 7">
            <a:extLst>
              <a:ext uri="{FF2B5EF4-FFF2-40B4-BE49-F238E27FC236}">
                <a16:creationId xmlns:a16="http://schemas.microsoft.com/office/drawing/2014/main" id="{2354EDC6-177E-9D46-C86C-5D064D0EF6F0}"/>
              </a:ext>
            </a:extLst>
          </p:cNvPr>
          <p:cNvSpPr/>
          <p:nvPr/>
        </p:nvSpPr>
        <p:spPr>
          <a:xfrm>
            <a:off x="8693150" y="2289810"/>
            <a:ext cx="92837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18" name="Imagen 17" descr="Diagrama&#10;&#10;El contenido generado por IA puede ser incorrecto.">
            <a:extLst>
              <a:ext uri="{FF2B5EF4-FFF2-40B4-BE49-F238E27FC236}">
                <a16:creationId xmlns:a16="http://schemas.microsoft.com/office/drawing/2014/main" id="{C1D69A69-EE81-DC02-0E49-1AAC57453F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631" y="1735137"/>
            <a:ext cx="5400040" cy="38868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4487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2765" y="3225800"/>
            <a:ext cx="11161395" cy="1572260"/>
          </a:xfrm>
          <a:prstGeom prst="roundRect">
            <a:avLst/>
          </a:prstGeom>
          <a:gradFill flip="none" rotWithShape="1">
            <a:gsLst>
              <a:gs pos="0">
                <a:srgbClr val="2F5BEE">
                  <a:alpha val="25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>
                  <a:alpha val="78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532765" y="3225800"/>
            <a:ext cx="11161395" cy="1572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32765" y="4980305"/>
            <a:ext cx="11161395" cy="1572260"/>
          </a:xfrm>
          <a:prstGeom prst="roundRect">
            <a:avLst/>
          </a:prstGeom>
          <a:gradFill flip="none" rotWithShape="1">
            <a:gsLst>
              <a:gs pos="0">
                <a:srgbClr val="2F5BEE">
                  <a:alpha val="25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>
                  <a:alpha val="7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32765" y="4980305"/>
            <a:ext cx="11161395" cy="1572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2765" y="1504315"/>
            <a:ext cx="11161395" cy="1572260"/>
          </a:xfrm>
          <a:prstGeom prst="roundRect">
            <a:avLst/>
          </a:prstGeom>
          <a:gradFill flip="none" rotWithShape="1">
            <a:gsLst>
              <a:gs pos="0">
                <a:srgbClr val="2F5BEE">
                  <a:alpha val="25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>
                  <a:alpha val="7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532765" y="1504315"/>
            <a:ext cx="11161395" cy="1572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Demanda de trabajo de la empresa</a:t>
            </a:r>
            <a:endParaRPr lang="en-US" sz="1600" dirty="0"/>
          </a:p>
        </p:txBody>
      </p:sp>
      <p:pic>
        <p:nvPicPr>
          <p:cNvPr id="10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21075" y="1966595"/>
            <a:ext cx="77952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empresas están dispuestas a pagar salarios más altos si la productividad de los trabajadores es mayor, lo que justifica el costo adicional.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521075" y="1614805"/>
            <a:ext cx="7733665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Relación negativa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58595" y="3715385"/>
            <a:ext cx="779526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empresas contratan menos trabajadores a salarios más altos debido al aumento en los costos laborales.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58595" y="3363595"/>
            <a:ext cx="779526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Influencia de la productividad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225165" y="5445760"/>
            <a:ext cx="779526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curva de demanda de trabajo tiene una pendiente negativa, reflejando la relación inversa entre salarios y cantidad de trabajo demandada.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225165" y="5093970"/>
            <a:ext cx="7794625" cy="366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Curva de demanda</a:t>
            </a:r>
            <a:endParaRPr lang="en-US" sz="1600" dirty="0"/>
          </a:p>
        </p:txBody>
      </p:sp>
      <p:pic>
        <p:nvPicPr>
          <p:cNvPr id="18" name="Image 3" descr="https://kimi-img.moonshot.cn/pub/slides/slides_tmpl/image/25-08-27-19:59:37-d2nf6a98bjvh7rlj00u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369695" y="1567180"/>
            <a:ext cx="1396365" cy="1476375"/>
          </a:xfrm>
          <a:prstGeom prst="rect">
            <a:avLst/>
          </a:prstGeom>
        </p:spPr>
      </p:pic>
      <p:pic>
        <p:nvPicPr>
          <p:cNvPr id="19" name="Image 4" descr="https://kimi-img.moonshot.cn/pub/slides/slides_tmpl/image/25-08-27-19:59:49-d2nf6d98bjvh7rlj01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1" y="2131785"/>
            <a:ext cx="876300" cy="889000"/>
          </a:xfrm>
          <a:prstGeom prst="rect">
            <a:avLst/>
          </a:prstGeom>
        </p:spPr>
      </p:pic>
      <p:pic>
        <p:nvPicPr>
          <p:cNvPr id="20" name="Image 5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4675" y="1614805"/>
            <a:ext cx="1204595" cy="1209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114550" y="184912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22" name="Image 6" descr="https://kimi-img.moonshot.cn/pub/slides/slides_tmpl/image/25-08-27-19:59:37-d2nf6a98bjvh7rlj00u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69340" y="5031105"/>
            <a:ext cx="1396365" cy="1476375"/>
          </a:xfrm>
          <a:prstGeom prst="rect">
            <a:avLst/>
          </a:prstGeom>
        </p:spPr>
      </p:pic>
      <p:pic>
        <p:nvPicPr>
          <p:cNvPr id="23" name="Image 7" descr="https://kimi-img.moonshot.cn/pub/slides/slides_tmpl/image/25-08-27-19:59:49-d2nf6d98bjvh7rlj01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88" y="5641023"/>
            <a:ext cx="876300" cy="889000"/>
          </a:xfrm>
          <a:prstGeom prst="rect">
            <a:avLst/>
          </a:prstGeom>
        </p:spPr>
      </p:pic>
      <p:pic>
        <p:nvPicPr>
          <p:cNvPr id="24" name="Image 8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4320" y="5078730"/>
            <a:ext cx="1204595" cy="120904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711325" y="5327015"/>
            <a:ext cx="86614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26" name="Image 9" descr="https://kimi-img.moonshot.cn/pub/slides/slides_tmpl/image/25-08-27-19:59:37-d2nf6a98bjvh7rlj00u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9723120" y="3263265"/>
            <a:ext cx="1396365" cy="1476375"/>
          </a:xfrm>
          <a:prstGeom prst="rect">
            <a:avLst/>
          </a:prstGeom>
        </p:spPr>
      </p:pic>
      <p:pic>
        <p:nvPicPr>
          <p:cNvPr id="27" name="Image 10" descr="https://kimi-img.moonshot.cn/pub/slides/slides_tmpl/image/25-08-27-19:59:49-d2nf6d98bjvh7rlj01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053" y="3858578"/>
            <a:ext cx="876300" cy="889000"/>
          </a:xfrm>
          <a:prstGeom prst="rect">
            <a:avLst/>
          </a:prstGeom>
        </p:spPr>
      </p:pic>
      <p:pic>
        <p:nvPicPr>
          <p:cNvPr id="28" name="Image 11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8100" y="3310890"/>
            <a:ext cx="1204595" cy="120904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10387965" y="3547745"/>
            <a:ext cx="86614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02680" y="1847215"/>
            <a:ext cx="2790190" cy="41484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6202680" y="1847215"/>
            <a:ext cx="2790190" cy="41484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43865" y="1741170"/>
            <a:ext cx="2790190" cy="41484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443865" y="1741170"/>
            <a:ext cx="2790190" cy="41484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22955" y="2245360"/>
            <a:ext cx="2790190" cy="41484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3322955" y="2245360"/>
            <a:ext cx="2790190" cy="41484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011920" y="2245360"/>
            <a:ext cx="2790190" cy="41484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9011920" y="2245360"/>
            <a:ext cx="2790190" cy="41484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6298" y="535305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Salario de equilibrio: mito y realidad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15620" y="2214245"/>
            <a:ext cx="270764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Equilibrio teórico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4510" y="2829560"/>
            <a:ext cx="2708275" cy="3034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salario de equilibrio se determina por la intersección de la oferta y demanda de trabajo, donde la cantidad ofrecida iguala la demandada.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354705" y="2655570"/>
            <a:ext cx="276669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Mercado no competitivo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437890" y="3270885"/>
            <a:ext cx="2640965" cy="3034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mercado laboral no es perfectamente competitivo debido a regulaciones, negociación colectiva, salario mínimo y heterogeneidad de trabajadores.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24905" y="2200910"/>
            <a:ext cx="269621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Ajuste por cantidad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03645" y="2816225"/>
            <a:ext cx="2708275" cy="3034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ajuste en el mercado laboral ocurre no solo por precios (salarios) sino también por cantidad y calidad de empleo.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028430" y="2704465"/>
            <a:ext cx="276669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políticas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11615" y="3319780"/>
            <a:ext cx="2640965" cy="298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deben considerar estas imperfecciones para evitar distorsiones en el mercado laboral.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43865" y="160528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443865" y="1605280"/>
            <a:ext cx="690245" cy="3695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45135" y="156019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319780" y="203454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3319780" y="2034540"/>
            <a:ext cx="690245" cy="3695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321050" y="198945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208395" y="160528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/>
          <p:nvPr/>
        </p:nvSpPr>
        <p:spPr>
          <a:xfrm>
            <a:off x="6208395" y="1605280"/>
            <a:ext cx="690245" cy="3695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209665" y="156019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9024620" y="2079625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/>
          <p:nvPr/>
        </p:nvSpPr>
        <p:spPr>
          <a:xfrm>
            <a:off x="9024620" y="2079625"/>
            <a:ext cx="690245" cy="3695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025890" y="203454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2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4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8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39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49-d2nf6d98bjvh7rlj01eg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635" y="2811780"/>
            <a:ext cx="12191365" cy="45154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Negociación colectiva como fijador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rot="1740000">
            <a:off x="9091295" y="1026795"/>
            <a:ext cx="805815" cy="8477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8-27-19:59:39-d2nf6ap8bjvh7rlj0110.png"/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10052050" y="-999490"/>
            <a:ext cx="3007995" cy="301625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1740000">
            <a:off x="3428365" y="5163185"/>
            <a:ext cx="425450" cy="44767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740000">
            <a:off x="11146790" y="5626100"/>
            <a:ext cx="425450" cy="447675"/>
          </a:xfrm>
          <a:prstGeom prst="rect">
            <a:avLst/>
          </a:prstGeom>
        </p:spPr>
      </p:pic>
      <p:sp>
        <p:nvSpPr>
          <p:cNvPr id="9" name="Shape 1"/>
          <p:cNvSpPr/>
          <p:nvPr/>
        </p:nvSpPr>
        <p:spPr>
          <a:xfrm>
            <a:off x="4296410" y="1910080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2"/>
          <p:cNvSpPr/>
          <p:nvPr/>
        </p:nvSpPr>
        <p:spPr>
          <a:xfrm>
            <a:off x="4296410" y="1910080"/>
            <a:ext cx="3388995" cy="37414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4587240" y="290957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España, los convenios de empresa pagan un 5-7% más que los sectoriales, y </a:t>
            </a:r>
            <a:r>
              <a:rPr lang="en-US" sz="1400" dirty="0" err="1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generan</a:t>
            </a: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mayor flexibilidad salarial.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4587240" y="219583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Diferencias por tipo de convenio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7752080" y="2186305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9000"/>
                </a:srgbClr>
              </a:gs>
              <a:gs pos="26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6"/>
          <p:cNvSpPr/>
          <p:nvPr/>
        </p:nvSpPr>
        <p:spPr>
          <a:xfrm>
            <a:off x="7752080" y="2186305"/>
            <a:ext cx="3388995" cy="37414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8042910" y="318579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Durante crisis, los convenios sectoriales ajustan más por empleo, mientras que los de empresa pueden mantener salarios pero reducir contratación.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8042910" y="247205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Ajuste en crisis</a:t>
            </a:r>
            <a:endParaRPr lang="en-US" sz="1600" dirty="0"/>
          </a:p>
        </p:txBody>
      </p:sp>
      <p:pic>
        <p:nvPicPr>
          <p:cNvPr id="17" name="Image 6" descr="https://kimi-img.moonshot.cn/pub/slides/slides_tmpl/image/25-08-27-19:59:39-d2nf6ap8bjvh7rlj0110.png"/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-1176020" y="5157470"/>
            <a:ext cx="3007995" cy="301625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791845" y="1572895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0"/>
          <p:cNvSpPr/>
          <p:nvPr/>
        </p:nvSpPr>
        <p:spPr>
          <a:xfrm>
            <a:off x="791845" y="1572895"/>
            <a:ext cx="3388995" cy="37414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Text 11"/>
          <p:cNvSpPr/>
          <p:nvPr/>
        </p:nvSpPr>
        <p:spPr>
          <a:xfrm>
            <a:off x="1082675" y="257238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salarios se fijan mediante convenios entre sindicatos y empresas, buscando equidad interna, estabilidad y competitividad.</a:t>
            </a:r>
            <a:endParaRPr lang="en-US" sz="1600" dirty="0"/>
          </a:p>
        </p:txBody>
      </p:sp>
      <p:sp>
        <p:nvSpPr>
          <p:cNvPr id="21" name="Text 12"/>
          <p:cNvSpPr/>
          <p:nvPr/>
        </p:nvSpPr>
        <p:spPr>
          <a:xfrm>
            <a:off x="1082675" y="185864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Proceso de negociación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5-d2nf6c98bjvh7rlj019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0279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43-d2nf6bp8bjvh7rlj01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1290" y="2486660"/>
            <a:ext cx="9105265" cy="391604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512820" y="3658870"/>
            <a:ext cx="3385820" cy="2693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Cambios demográficos y tecnológicos desplazan la oferta y demanda de trabajo, afectando el equilibrio salarial.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530860" y="1240155"/>
            <a:ext cx="11169650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Factores que desplazan el equilibrio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3370580" y="2826385"/>
            <a:ext cx="3712210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Demografía y tecnología</a:t>
            </a:r>
            <a:endParaRPr lang="en-US" sz="1600" dirty="0"/>
          </a:p>
        </p:txBody>
      </p:sp>
      <p:pic>
        <p:nvPicPr>
          <p:cNvPr id="7" name="Image 2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21905" y="3658870"/>
            <a:ext cx="3385820" cy="2693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 como salario mínimo, subsidios y cotizaciones alteran los costes y beneficios, impactando el equilibrio en el mercado laboral.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7479665" y="2826385"/>
            <a:ext cx="3712210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 de mercado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6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8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0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6" name="Image 3" descr="https://kimi-img.moonshot.cn/pub/slides/slides_tmpl/image/25-08-27-19:59:47-d2nf6cp8bjvh7rlj01b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10" y="4102100"/>
            <a:ext cx="2884170" cy="1807845"/>
          </a:xfrm>
          <a:prstGeom prst="rect">
            <a:avLst/>
          </a:prstGeom>
        </p:spPr>
      </p:pic>
      <p:pic>
        <p:nvPicPr>
          <p:cNvPr id="17" name="Image 4" descr="https://kimi-img.moonshot.cn/pub/slides/slides_tmpl/image/25-08-27-19:59:39-d2nf6ap8bjvh7rlj01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040" y="3285490"/>
            <a:ext cx="262255" cy="263525"/>
          </a:xfrm>
          <a:prstGeom prst="rect">
            <a:avLst/>
          </a:prstGeom>
        </p:spPr>
      </p:pic>
      <p:pic>
        <p:nvPicPr>
          <p:cNvPr id="18" name="Image 5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8">
            <a:alphaModFix amt="40000"/>
          </a:blip>
          <a:stretch>
            <a:fillRect/>
          </a:stretch>
        </p:blipFill>
        <p:spPr>
          <a:xfrm>
            <a:off x="785495" y="3761105"/>
            <a:ext cx="469900" cy="340995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 rot="16200000">
            <a:off x="379730" y="3850005"/>
            <a:ext cx="913765" cy="209550"/>
          </a:xfrm>
          <a:prstGeom prst="parallelogram">
            <a:avLst>
              <a:gd name="adj" fmla="val 38342"/>
            </a:avLst>
          </a:prstGeom>
          <a:solidFill>
            <a:srgbClr val="2F5BEE">
              <a:alpha val="34118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2"/>
          <p:cNvSpPr/>
          <p:nvPr/>
        </p:nvSpPr>
        <p:spPr>
          <a:xfrm rot="16200000">
            <a:off x="379730" y="3850005"/>
            <a:ext cx="913765" cy="2095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 rot="16200000" flipV="1">
            <a:off x="1584325" y="3179445"/>
            <a:ext cx="692150" cy="123190"/>
          </a:xfrm>
          <a:prstGeom prst="parallelogram">
            <a:avLst>
              <a:gd name="adj" fmla="val 38342"/>
            </a:avLst>
          </a:prstGeom>
          <a:solidFill>
            <a:srgbClr val="2F5BEE">
              <a:alpha val="12941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4"/>
          <p:cNvSpPr/>
          <p:nvPr/>
        </p:nvSpPr>
        <p:spPr>
          <a:xfrm rot="16200000">
            <a:off x="1584325" y="3179445"/>
            <a:ext cx="692150" cy="1231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 rot="16200000" flipV="1">
            <a:off x="1781175" y="3522345"/>
            <a:ext cx="692150" cy="76200"/>
          </a:xfrm>
          <a:prstGeom prst="parallelogram">
            <a:avLst>
              <a:gd name="adj" fmla="val 38342"/>
            </a:avLst>
          </a:prstGeom>
          <a:solidFill>
            <a:srgbClr val="4B8BF7">
              <a:alpha val="45882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16"/>
          <p:cNvSpPr/>
          <p:nvPr/>
        </p:nvSpPr>
        <p:spPr>
          <a:xfrm rot="16200000">
            <a:off x="1781175" y="3522345"/>
            <a:ext cx="692150" cy="76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0800000">
            <a:off x="581660" y="1812290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flip="none" rotWithShape="1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 rot="10800000">
            <a:off x="581660" y="1812290"/>
            <a:ext cx="2198370" cy="54038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77595" y="1812290"/>
            <a:ext cx="4129405" cy="548005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1077595" y="1812290"/>
            <a:ext cx="4129405" cy="54800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54455" y="1931035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Desempleo persistente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76020" y="2435225"/>
            <a:ext cx="4496435" cy="170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desempleo persistente indica fallos en el mercado laboral que requieren intervención política para corregir ineficiencias.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10800000">
            <a:off x="581660" y="4219575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flip="none" rotWithShape="1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 rot="10800000">
            <a:off x="581660" y="4219575"/>
            <a:ext cx="2198370" cy="54038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77595" y="4219575"/>
            <a:ext cx="4129405" cy="548005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1077595" y="4219575"/>
            <a:ext cx="4129405" cy="54800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54455" y="4338320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Información imperfecta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76020" y="4842510"/>
            <a:ext cx="4496435" cy="180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información imperfecta entre empleadores y trabajadores genera asimetrías que afectan la eficiencia del mercado laboral.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rot="10800000">
            <a:off x="6457315" y="1812290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flip="none" rotWithShape="1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 rot="10800000">
            <a:off x="6457315" y="1812290"/>
            <a:ext cx="2198370" cy="54038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953250" y="1812290"/>
            <a:ext cx="4129405" cy="548005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6953250" y="1812290"/>
            <a:ext cx="4129405" cy="54800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208520" y="1931035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Barreras de movilidad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051675" y="2435225"/>
            <a:ext cx="4496435" cy="170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barreras geográficas y ocupacionales limitan la movilidad laboral, afectando la asignación eficiente de recursos.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 rot="10800000">
            <a:off x="6457315" y="4219575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flip="none" rotWithShape="1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 rot="10800000">
            <a:off x="6457315" y="4219575"/>
            <a:ext cx="2198370" cy="54038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953250" y="4219575"/>
            <a:ext cx="4129405" cy="548005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6953250" y="4219575"/>
            <a:ext cx="4129405" cy="54800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208520" y="4338320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Desigualdad extrema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051675" y="4842510"/>
            <a:ext cx="4496435" cy="180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desigualdad extrema en salarios y oportunidades justifica políticas redistributivas para promover la equidad social.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81660" y="532130"/>
            <a:ext cx="10966450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Fallos de mercado que justifican política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32-d2nf6918bjvh7rlj00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33-d2nf6998bjvh7rlj00q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295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Tipología del Desempleo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37230" y="2660650"/>
            <a:ext cx="281813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Paro estructural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13430" y="3303905"/>
            <a:ext cx="2720975" cy="337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Ocurre por desajuste entre habilidades y demanda, o ubicación geográfica. Requiere políticas de formación y desarrollo regional.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083935" y="2660650"/>
            <a:ext cx="28041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Paro cíclico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158865" y="3303905"/>
            <a:ext cx="2720975" cy="337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Aumenta en recesiones y disminuye en expansiones económicas. Se aborda con políticas macroeconómicas de estabilización.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044305" y="2660650"/>
            <a:ext cx="278003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Paro estacional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18600" y="3303905"/>
            <a:ext cx="2699385" cy="337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 predecible y afecta sectores como agricultura y turismo. Se gestiona con diversificación económica y contratos flexibles.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20675" y="2660650"/>
            <a:ext cx="280543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Paro friccional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00685" y="3303905"/>
            <a:ext cx="2720975" cy="337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 el tiempo normal de búsqueda de empleo en una economía dinámica. Dura semanas y es inevitable, pero puede reducirse con mejores servicios de empleo.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166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Cuatro familias de paro</a:t>
            </a:r>
            <a:endParaRPr lang="en-US" sz="1600" dirty="0"/>
          </a:p>
        </p:txBody>
      </p:sp>
      <p:pic>
        <p:nvPicPr>
          <p:cNvPr id="12" name="Image 1" descr="https://kimi-img.moonshot.cn/pub/slides/slides_tmpl/image/25-08-27-19:59:42-d2nf6bh8bjvh7rlj016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935" y="1658620"/>
            <a:ext cx="751205" cy="15754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4950" y="1869440"/>
            <a:ext cx="850265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14" name="Image 2" descr="https://kimi-img.moonshot.cn/pub/slides/slides_tmpl/image/25-08-27-19:59:42-d2nf6bh8bjvh7rlj016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775" y="1658620"/>
            <a:ext cx="751205" cy="15754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25950" y="1869440"/>
            <a:ext cx="850265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16" name="Image 3" descr="https://kimi-img.moonshot.cn/pub/slides/slides_tmpl/image/25-08-27-19:59:42-d2nf6bh8bjvh7rlj016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615" y="1658620"/>
            <a:ext cx="751205" cy="157543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26630" y="1869440"/>
            <a:ext cx="850265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18" name="Image 4" descr="https://kimi-img.moonshot.cn/pub/slides/slides_tmpl/image/25-08-27-19:59:42-d2nf6bh8bjvh7rlj016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455" y="1658620"/>
            <a:ext cx="751205" cy="157543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237470" y="1869440"/>
            <a:ext cx="850265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2143760" y="2068830"/>
            <a:ext cx="2108835" cy="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C59EE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4"/>
          <p:cNvSpPr/>
          <p:nvPr/>
        </p:nvSpPr>
        <p:spPr>
          <a:xfrm>
            <a:off x="5088255" y="2068830"/>
            <a:ext cx="2108835" cy="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C59EE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15"/>
          <p:cNvSpPr/>
          <p:nvPr/>
        </p:nvSpPr>
        <p:spPr>
          <a:xfrm>
            <a:off x="8013700" y="2068830"/>
            <a:ext cx="2108835" cy="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C59EE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23" name="Image 5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24" name="Image 6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7760" y="335915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paro friccional es temporal y necesario en economías dinámicas, donde trabajadores y empresas buscan emparejarse.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127760" y="264541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728210" y="279971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Contratos temporales recurrentes, mala información y sistemas de protección que desincentivan la búsqueda rápida pueden aumentar el paro friccional.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728210" y="208597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Factores que lo agravan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28025" y="349123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Mejorar la eficiencia del emparejamiento y los sistemas de información puede reducir el paro friccional sin eliminar la movilidad saludable.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28025" y="277749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Reducción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Paro friccional: breve y necesario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672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79248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3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pic>
        <p:nvPicPr>
          <p:cNvPr id="14" name="Image 3" descr="https://kimi-img.moonshot.cn/pub/slides/slides_tmpl/image/25-08-27-19:59:49-d2nf6d98bjvh7rlj01fg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59055" y="5581650"/>
            <a:ext cx="12192000" cy="13144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52-d2nf6e18bjvh7rlj01l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75" y="2244725"/>
            <a:ext cx="10607675" cy="4876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66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 contra fricciones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3340100" y="1816100"/>
            <a:ext cx="251523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Transparencia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3354070" y="2431415"/>
            <a:ext cx="2613660" cy="2726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Transparentar salarios y condiciones laborales facilita el emparejamiento entre trabajadores y puestos.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285865" y="1816100"/>
            <a:ext cx="251523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Flexibilidad contractual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299835" y="2431415"/>
            <a:ext cx="2658745" cy="2726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Fomentar contratos indefinidos reduce la rotación y establece una cultura de estabilidad laboral.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217660" y="2431415"/>
            <a:ext cx="251523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Movilidad geográfica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231630" y="3046730"/>
            <a:ext cx="2658745" cy="2726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Facilitar la movilidad geográfica y homologar titulaciones acorta la brecha informativa y reduce el paro friccional.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82270" y="2431415"/>
            <a:ext cx="251523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Modernización de servicios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77190" y="3046730"/>
            <a:ext cx="2613660" cy="2726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Modernizar servicios de empleo con big data y asesoramiento en búsqueda mejora la eficiencia del mercado laboral.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11406074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0"/>
          <p:cNvSpPr/>
          <p:nvPr/>
        </p:nvSpPr>
        <p:spPr>
          <a:xfrm>
            <a:off x="11406074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1406074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/>
          <p:nvPr/>
        </p:nvSpPr>
        <p:spPr>
          <a:xfrm>
            <a:off x="11406074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11406074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4"/>
          <p:cNvSpPr/>
          <p:nvPr/>
        </p:nvSpPr>
        <p:spPr>
          <a:xfrm>
            <a:off x="11406074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51-d2nf6dp8bjvh7rlj01j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45615" y="1824990"/>
            <a:ext cx="10120630" cy="439547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path path="circle">
              <a:fillToRect l="100000" t="100000"/>
            </a:path>
            <a:tileRect r="-100000" b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1745615" y="1824990"/>
            <a:ext cx="10120630" cy="43954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1020" y="532130"/>
            <a:ext cx="10993120" cy="97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Desempleo estructural: el desajuste profundo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68855" y="3138805"/>
            <a:ext cx="2513965" cy="298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desempleo estructural persiste aunque haya vacantes porque las habilidades, sectores o ubicaciones no coinciden.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246630" y="2352040"/>
            <a:ext cx="251460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91175" y="3145790"/>
            <a:ext cx="2513965" cy="298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alimenta de cambio tecnológico, desajuste educativo, rigidez institucional y histéresis, que deteriora el capital humano.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568950" y="2359025"/>
            <a:ext cx="251460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Causas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874760" y="3166110"/>
            <a:ext cx="2513965" cy="2959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Requiere formación, reformas educativas y políticas de desarrollo regional de largo plazo para corregir el desajuste.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852535" y="2379345"/>
            <a:ext cx="251460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Solución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177791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8518526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https://kimi-img.moonshot.cn/pub/slides/slides_tmpl/image/25-08-27-19:59:38-d2nf6ah8bjvh7rlj01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660000">
            <a:off x="859790" y="1539875"/>
            <a:ext cx="1212850" cy="1104900"/>
          </a:xfrm>
          <a:prstGeom prst="rect">
            <a:avLst/>
          </a:prstGeom>
        </p:spPr>
      </p:pic>
      <p:pic>
        <p:nvPicPr>
          <p:cNvPr id="15" name="Image 2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6860" y="2763520"/>
            <a:ext cx="534670" cy="537210"/>
          </a:xfrm>
          <a:prstGeom prst="rect">
            <a:avLst/>
          </a:prstGeom>
        </p:spPr>
      </p:pic>
      <p:pic>
        <p:nvPicPr>
          <p:cNvPr id="16" name="Image 3" descr="https://kimi-img.moonshot.cn/pub/slides/slides_tmpl/image/25-08-27-19:59:50-d2nf6dh8bjvh7rlj01i0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rot="1080000">
            <a:off x="-203835" y="4772025"/>
            <a:ext cx="852805" cy="2002790"/>
          </a:xfrm>
          <a:prstGeom prst="rect">
            <a:avLst/>
          </a:prstGeom>
        </p:spPr>
      </p:pic>
      <p:pic>
        <p:nvPicPr>
          <p:cNvPr id="17" name="Image 4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7-d2nf6cp8bjvh7rlj01a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42-d2nf6bh8bjvh7rlj017g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461645" y="1942465"/>
            <a:ext cx="11273790" cy="45078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875" y="64643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Medir el componente estructural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821055" y="228790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Indicadores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95655" y="2704465"/>
            <a:ext cx="4998085" cy="1598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usa paro de larga duración, disparidades por nivel educativo y desplazamientos de la curva de Beveridge para medir el componente estructural.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57950" y="4302760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57950" y="4719320"/>
            <a:ext cx="4998085" cy="1598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Estimar el tamaño del desempleo estructural guía la intensidad de políticas de reconversión y mejora la eficiencia del mercado laboral.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4-d2nf6c18bjvh7rlj018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51-d2nf6dp8bjvh7rlj01k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2130"/>
            <a:ext cx="12192000" cy="5886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660" y="75311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Recetas de largo plazo para estructural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581660" y="2120900"/>
            <a:ext cx="5175250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Formación continua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81660" y="2522220"/>
            <a:ext cx="5175885" cy="148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formación continua alineada con la demanda del mercado es crucial para reducir el desempleo estructural.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533515" y="2120900"/>
            <a:ext cx="5175250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Reformas educativas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533515" y="2522220"/>
            <a:ext cx="5176520" cy="148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Reformas educativas en áreas de alta demanda, como STEM y digitales, preparan a los trabajadores para el futuro.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81660" y="4095115"/>
            <a:ext cx="5175250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Certificación de competencias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81660" y="4496435"/>
            <a:ext cx="5175885" cy="17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Certificar competencias laborales mejora la transparencia y el reconocimiento de habilidades en el mercado laboral.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33515" y="4095115"/>
            <a:ext cx="5175250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Flexibilidad contractual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3515" y="4496435"/>
            <a:ext cx="5176520" cy="17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Flexibilidad contractual que proteja pero permita reasignación mejora la eficiencia del mercado laboral.</a:t>
            </a:r>
            <a:endParaRPr lang="en-US" sz="1600" dirty="0"/>
          </a:p>
        </p:txBody>
      </p:sp>
      <p:pic>
        <p:nvPicPr>
          <p:cNvPr id="13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999490"/>
            <a:ext cx="762000" cy="76200"/>
          </a:xfrm>
          <a:prstGeom prst="rect">
            <a:avLst/>
          </a:prstGeom>
        </p:spPr>
      </p:pic>
      <p:pic>
        <p:nvPicPr>
          <p:cNvPr id="14" name="Image 3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1130300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21075" y="213614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paro cíclico aumenta en recesiones y disminuye en expansiones económicas, debido a la caída de demanda de bienes y servicios.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521075" y="1721485"/>
            <a:ext cx="6654165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105025" y="374650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 fiscales y monetarias expansivas pueden reducir el paro cíclico, pero deben ser cuidadosamente diseñadas.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105025" y="3331845"/>
            <a:ext cx="382524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 de estabilización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08045" y="5356860"/>
            <a:ext cx="77946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 el paro se alarga, puede convertirse en estructural por depreciación de habilidades y pérdida de redes.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08045" y="4942205"/>
            <a:ext cx="382524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Riesgo de estructural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Paro cíclico: la economía castiga</a:t>
            </a:r>
            <a:endParaRPr lang="en-US" sz="1600" dirty="0"/>
          </a:p>
        </p:txBody>
      </p:sp>
      <p:pic>
        <p:nvPicPr>
          <p:cNvPr id="10" name="Image 1" descr="https://kimi-img.moonshot.cn/pub/slides/slides_tmpl/image/25-08-27-19:59:48-d2nf6d18bjvh7rlj01d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1151255" y="-1030605"/>
            <a:ext cx="3615055" cy="8472805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8595" y="1642110"/>
            <a:ext cx="688340" cy="691515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30" y="3331845"/>
            <a:ext cx="688340" cy="691515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970" y="5222875"/>
            <a:ext cx="688340" cy="69151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63040" y="173228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54710" y="342900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1543685" y="532574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80110" y="1675765"/>
            <a:ext cx="4953000" cy="44132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FFFFFF">
                  <a:alpha val="86000"/>
                </a:srgbClr>
              </a:gs>
              <a:gs pos="5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880110" y="1675765"/>
            <a:ext cx="4953000" cy="44132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357620" y="1675765"/>
            <a:ext cx="4953000" cy="44132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FFFFFF">
                  <a:alpha val="86000"/>
                </a:srgbClr>
              </a:gs>
              <a:gs pos="4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6357620" y="1675765"/>
            <a:ext cx="4953000" cy="44132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76300" y="2032000"/>
            <a:ext cx="4953000" cy="43008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876300" y="2032000"/>
            <a:ext cx="4953000" cy="43008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53810" y="2032000"/>
            <a:ext cx="4953000" cy="43008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4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353810" y="2032000"/>
            <a:ext cx="4953000" cy="43008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2155" y="75311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Paro estacional: predecible y manejable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05510" y="367855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63345" y="4100830"/>
            <a:ext cx="408305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paro estacional es regular y conocido, afectando sectores como agricultura, turismo y construcción.</a:t>
            </a:r>
            <a:endParaRPr lang="en-US" sz="1600" dirty="0"/>
          </a:p>
        </p:txBody>
      </p:sp>
      <p:pic>
        <p:nvPicPr>
          <p:cNvPr id="14" name="Image 1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/>
          <p:nvPr/>
        </p:nvSpPr>
        <p:spPr>
          <a:xfrm>
            <a:off x="6353810" y="367855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811645" y="4100830"/>
            <a:ext cx="408305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puede gestionar con políticas de formación en temporada baja, diversificación regional y contratos flexibles.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882265" y="2546350"/>
            <a:ext cx="878205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416925" y="2546350"/>
            <a:ext cx="878205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7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9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1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3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5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7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2" name="Image 2" descr="https://kimi-img.moonshot.cn/pub/slides/slides_tmpl/image/25-08-27-19:59:42-d2nf6bh8bjvh7rlj016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8335" y="2204085"/>
            <a:ext cx="1207135" cy="2529840"/>
          </a:xfrm>
          <a:prstGeom prst="rect">
            <a:avLst/>
          </a:prstGeom>
        </p:spPr>
      </p:pic>
      <p:pic>
        <p:nvPicPr>
          <p:cNvPr id="33" name="Image 3" descr="https://kimi-img.moonshot.cn/pub/slides/slides_tmpl/image/25-08-27-19:59:42-d2nf6bh8bjvh7rlj016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5105" y="2204085"/>
            <a:ext cx="1207135" cy="25298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32-d2nf6918bjvh7rlj00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33-d2nf6998bjvh7rlj00q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295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 err="1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Sobre</a:t>
            </a: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</a:t>
            </a:r>
            <a:r>
              <a:rPr lang="en-US" sz="3400" dirty="0" err="1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desempleo</a:t>
            </a: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3400" dirty="0" err="1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estructural</a:t>
            </a: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gran </a:t>
            </a:r>
            <a:r>
              <a:rPr lang="en-US" sz="3400" dirty="0" err="1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objetivo</a:t>
            </a: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las PPSSLL: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3400" dirty="0">
              <a:solidFill>
                <a:srgbClr val="0D0D0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NAIRU y Curva de Phillips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2765" y="3225800"/>
            <a:ext cx="11161395" cy="1572260"/>
          </a:xfrm>
          <a:prstGeom prst="roundRect">
            <a:avLst/>
          </a:prstGeom>
          <a:gradFill flip="none" rotWithShape="1">
            <a:gsLst>
              <a:gs pos="0">
                <a:srgbClr val="2F5BEE">
                  <a:alpha val="25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>
                  <a:alpha val="78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532765" y="3225800"/>
            <a:ext cx="11161395" cy="1572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32765" y="4980305"/>
            <a:ext cx="11161395" cy="1572260"/>
          </a:xfrm>
          <a:prstGeom prst="roundRect">
            <a:avLst/>
          </a:prstGeom>
          <a:gradFill flip="none" rotWithShape="1">
            <a:gsLst>
              <a:gs pos="0">
                <a:srgbClr val="2F5BEE">
                  <a:alpha val="25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>
                  <a:alpha val="7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32765" y="4980305"/>
            <a:ext cx="11161395" cy="1572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2765" y="1504315"/>
            <a:ext cx="11161395" cy="1572260"/>
          </a:xfrm>
          <a:prstGeom prst="roundRect">
            <a:avLst/>
          </a:prstGeom>
          <a:gradFill flip="none" rotWithShape="1">
            <a:gsLst>
              <a:gs pos="0">
                <a:srgbClr val="2F5BEE">
                  <a:alpha val="25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>
                  <a:alpha val="7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532765" y="1504315"/>
            <a:ext cx="11161395" cy="1572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Tasa natural de desempleo (NAIRU)</a:t>
            </a:r>
            <a:endParaRPr lang="en-US" sz="1600" dirty="0"/>
          </a:p>
        </p:txBody>
      </p:sp>
      <p:pic>
        <p:nvPicPr>
          <p:cNvPr id="10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21075" y="1966595"/>
            <a:ext cx="77952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es fija ni óptima: refleja fricciones y desajustes estructurales. Por debajo genera presiones inflacionarias; por encima, deflacionarias.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521075" y="1614805"/>
            <a:ext cx="7733665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58595" y="3715385"/>
            <a:ext cx="779526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tasa natural de desempleo, también conocida como NAIRU, es el nivel de paro compatible con inflación estable a largo plazo.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58595" y="3363595"/>
            <a:ext cx="779526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225165" y="5445760"/>
            <a:ext cx="779526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relaciona con el PIB potencial: cuando el desempleo cae por debajo de la NAIRU, la economía sobrecalienta; por encima, se crea deflación.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225165" y="5093970"/>
            <a:ext cx="7794625" cy="366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Relación con PIB</a:t>
            </a:r>
            <a:endParaRPr lang="en-US" sz="1600" dirty="0"/>
          </a:p>
        </p:txBody>
      </p:sp>
      <p:pic>
        <p:nvPicPr>
          <p:cNvPr id="18" name="Image 3" descr="https://kimi-img.moonshot.cn/pub/slides/slides_tmpl/image/25-08-27-19:59:37-d2nf6a98bjvh7rlj00u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369695" y="1567180"/>
            <a:ext cx="1396365" cy="1476375"/>
          </a:xfrm>
          <a:prstGeom prst="rect">
            <a:avLst/>
          </a:prstGeom>
        </p:spPr>
      </p:pic>
      <p:pic>
        <p:nvPicPr>
          <p:cNvPr id="19" name="Image 4" descr="https://kimi-img.moonshot.cn/pub/slides/slides_tmpl/image/25-08-27-19:59:49-d2nf6d98bjvh7rlj01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1" y="2131785"/>
            <a:ext cx="876300" cy="889000"/>
          </a:xfrm>
          <a:prstGeom prst="rect">
            <a:avLst/>
          </a:prstGeom>
        </p:spPr>
      </p:pic>
      <p:pic>
        <p:nvPicPr>
          <p:cNvPr id="20" name="Image 5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4675" y="1614805"/>
            <a:ext cx="1204595" cy="1209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114550" y="184912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22" name="Image 6" descr="https://kimi-img.moonshot.cn/pub/slides/slides_tmpl/image/25-08-27-19:59:37-d2nf6a98bjvh7rlj00u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69340" y="5031105"/>
            <a:ext cx="1396365" cy="1476375"/>
          </a:xfrm>
          <a:prstGeom prst="rect">
            <a:avLst/>
          </a:prstGeom>
        </p:spPr>
      </p:pic>
      <p:pic>
        <p:nvPicPr>
          <p:cNvPr id="23" name="Image 7" descr="https://kimi-img.moonshot.cn/pub/slides/slides_tmpl/image/25-08-27-19:59:49-d2nf6d98bjvh7rlj01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88" y="5641023"/>
            <a:ext cx="876300" cy="889000"/>
          </a:xfrm>
          <a:prstGeom prst="rect">
            <a:avLst/>
          </a:prstGeom>
        </p:spPr>
      </p:pic>
      <p:pic>
        <p:nvPicPr>
          <p:cNvPr id="24" name="Image 8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4320" y="5078730"/>
            <a:ext cx="1204595" cy="120904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711325" y="5327015"/>
            <a:ext cx="86614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26" name="Image 9" descr="https://kimi-img.moonshot.cn/pub/slides/slides_tmpl/image/25-08-27-19:59:37-d2nf6a98bjvh7rlj00u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9723120" y="3263265"/>
            <a:ext cx="1396365" cy="1476375"/>
          </a:xfrm>
          <a:prstGeom prst="rect">
            <a:avLst/>
          </a:prstGeom>
        </p:spPr>
      </p:pic>
      <p:pic>
        <p:nvPicPr>
          <p:cNvPr id="27" name="Image 10" descr="https://kimi-img.moonshot.cn/pub/slides/slides_tmpl/image/25-08-27-19:59:49-d2nf6d98bjvh7rlj01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053" y="3858578"/>
            <a:ext cx="876300" cy="889000"/>
          </a:xfrm>
          <a:prstGeom prst="rect">
            <a:avLst/>
          </a:prstGeom>
        </p:spPr>
      </p:pic>
      <p:pic>
        <p:nvPicPr>
          <p:cNvPr id="28" name="Image 11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8100" y="3310890"/>
            <a:ext cx="1204595" cy="120904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10387965" y="3547745"/>
            <a:ext cx="86614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F19E4-63BD-1080-E867-EDE02CD3D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>
            <a:extLst>
              <a:ext uri="{FF2B5EF4-FFF2-40B4-BE49-F238E27FC236}">
                <a16:creationId xmlns:a16="http://schemas.microsoft.com/office/drawing/2014/main" id="{20259AE6-90B0-B7D6-CCEB-FD0815E31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F4367BD-6DB9-DD08-E6BF-5B46ECDA8363}"/>
              </a:ext>
            </a:extLst>
          </p:cNvPr>
          <p:cNvSpPr/>
          <p:nvPr/>
        </p:nvSpPr>
        <p:spPr>
          <a:xfrm>
            <a:off x="880110" y="1675765"/>
            <a:ext cx="4953000" cy="44132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FBBD5C3-E376-BEC1-5EB2-A514027671D3}"/>
              </a:ext>
            </a:extLst>
          </p:cNvPr>
          <p:cNvSpPr/>
          <p:nvPr/>
        </p:nvSpPr>
        <p:spPr>
          <a:xfrm>
            <a:off x="6357620" y="1675765"/>
            <a:ext cx="4953000" cy="44132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64469B9-5673-0C25-2DF6-D02434EF26E5}"/>
              </a:ext>
            </a:extLst>
          </p:cNvPr>
          <p:cNvSpPr/>
          <p:nvPr/>
        </p:nvSpPr>
        <p:spPr>
          <a:xfrm>
            <a:off x="876300" y="2032000"/>
            <a:ext cx="4953000" cy="43008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192FB9A-AF23-178A-2757-FB1FAF3F40EB}"/>
              </a:ext>
            </a:extLst>
          </p:cNvPr>
          <p:cNvSpPr/>
          <p:nvPr/>
        </p:nvSpPr>
        <p:spPr>
          <a:xfrm>
            <a:off x="6353810" y="2032000"/>
            <a:ext cx="4953000" cy="43008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1" descr="https://kimi-img.moonshot.cn/pub/slides/slides_tmpl/image/25-08-27-19:59:30-d2nf68h8bjvh7rlj00p0.png">
            <a:extLst>
              <a:ext uri="{FF2B5EF4-FFF2-40B4-BE49-F238E27FC236}">
                <a16:creationId xmlns:a16="http://schemas.microsoft.com/office/drawing/2014/main" id="{E5824CB2-B7A4-5E3A-706A-0B58F28E95C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15" name="Shape 11">
            <a:extLst>
              <a:ext uri="{FF2B5EF4-FFF2-40B4-BE49-F238E27FC236}">
                <a16:creationId xmlns:a16="http://schemas.microsoft.com/office/drawing/2014/main" id="{16BB5889-0A37-AB5B-737B-58C13343C8B7}"/>
              </a:ext>
            </a:extLst>
          </p:cNvPr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08143B32-7B7B-1F8F-143A-9760F228368C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57EC7114-4706-B068-65A6-F60280DD1964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B3D99A29-4A85-0E15-B1B1-F097BE0CF1F9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0CC9019-A4E3-B209-D082-0732205E377F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36DC4403-B96A-0A1D-2DF9-15BC9194B2E0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4FE92772-4ED6-8019-78B2-4E236723988F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1A3547EE-35B2-1BB7-DCDF-509CBAA08639}"/>
              </a:ext>
            </a:extLst>
          </p:cNvPr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4493D849-F0EA-7FBF-F2BB-0C14455A64A1}"/>
              </a:ext>
            </a:extLst>
          </p:cNvPr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3E440539-5096-DF2D-B70B-69FB9655B9EC}"/>
              </a:ext>
            </a:extLst>
          </p:cNvPr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F46C01F8-B6BE-1062-854C-58074B9B7797}"/>
              </a:ext>
            </a:extLst>
          </p:cNvPr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50941F7C-1672-3CFA-8EBF-B7AF4D9BA692}"/>
              </a:ext>
            </a:extLst>
          </p:cNvPr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29505CF3-463B-81E7-26F2-CA1A3D9B9382}"/>
              </a:ext>
            </a:extLst>
          </p:cNvPr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4" name="Imagen 33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0DA02696-3984-686F-F8EA-70800FEF55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1" y="537686"/>
            <a:ext cx="5050970" cy="580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7464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7760" y="335915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corto plazo, existe una relación inversa entre desempleo e inflación, capturada en la Curva de Phillips.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127760" y="264541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Relación a corto plazo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728210" y="279971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NAIRU es la tasa de desempleo que no acelera la inflación. Cuando el desempleo actual es igual a la NAIRU, la inflación se mantiene estable.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728210" y="208597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NAIRU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28025" y="349123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largo plazo, la Curva de Phillips se vuelve vertical en el punto correspondiente a la NAIRU, indicando que no hay trade-off permanente entre inflación y desempleo.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28025" y="277749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largo plazo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Curva de Phillips: trade-off limitado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672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79248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3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pic>
        <p:nvPicPr>
          <p:cNvPr id="14" name="Image 3" descr="https://kimi-img.moonshot.cn/pub/slides/slides_tmpl/image/25-08-27-19:59:49-d2nf6d98bjvh7rlj01fg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59055" y="5581650"/>
            <a:ext cx="12192000" cy="131445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51-d2nf6dp8bjvh7rlj01k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166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Qué mueve la NAIRU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247890" y="1911985"/>
            <a:ext cx="4364990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Tecnología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247890" y="2313305"/>
            <a:ext cx="4364355" cy="17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Cambios tecnológicos que afectan la demanda de habilidades pueden crear desajustes temporales o permanentes, alterando la NAIRU.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247890" y="4252595"/>
            <a:ext cx="4364355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Costes laborales unitarios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247890" y="4653915"/>
            <a:ext cx="4364355" cy="17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Variaciones en la relación entre salarios y productividad también impactan la NAIRU, afectando la competitividad.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19760" y="1911985"/>
            <a:ext cx="4364990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Cambios demográficos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19760" y="2313305"/>
            <a:ext cx="4364355" cy="17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Cambios en la estructura demográfica, como el envejecimiento, pueden bajar la NAIRU si los mayores tienen menor desempleo.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19760" y="4252595"/>
            <a:ext cx="4364355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Protección por desempleo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9760" y="4653915"/>
            <a:ext cx="4364355" cy="17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Subsidios generosos sin control pueden elevar la NAIRU al desincentivar la búsqueda de empleo.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155" y="90551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Estimación y uso en política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057650" y="2726055"/>
            <a:ext cx="7212965" cy="1106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estima con modelos econométricos que relacionan desempleo, inflación y variables estructurales. Bancos centrales y organismos como OCDE actualizan sus series.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057650" y="2143125"/>
            <a:ext cx="7212965" cy="576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Métodos de estimación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057650" y="4629785"/>
            <a:ext cx="7212965" cy="1106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usa como referencia para políticas monetarias y fiscales, aunque la incertidumbre en su estimación requiere cautela para evitar políticas inadecuadas.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057650" y="4046855"/>
            <a:ext cx="7213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Uso en política</a:t>
            </a:r>
            <a:endParaRPr lang="en-US" sz="1600" dirty="0"/>
          </a:p>
        </p:txBody>
      </p:sp>
      <p:pic>
        <p:nvPicPr>
          <p:cNvPr id="22" name="Image 2" descr="https://kimi-img.moonshot.cn/pub/slides/slides_tmpl/image/25-08-27-19:59:48-d2nf6d18bjvh7rlj01d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90" y="1907540"/>
            <a:ext cx="3719830" cy="2069465"/>
          </a:xfrm>
          <a:prstGeom prst="rect">
            <a:avLst/>
          </a:prstGeom>
        </p:spPr>
      </p:pic>
      <p:pic>
        <p:nvPicPr>
          <p:cNvPr id="23" name="Image 3" descr="https://kimi-img.moonshot.cn/pub/slides/slides_tmpl/image/25-08-27-19:59:50-d2nf6dh8bjvh7rlj01gg.png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-22225" y="3512185"/>
            <a:ext cx="4290060" cy="26162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32-d2nf6918bjvh7rlj00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33-d2nf6998bjvh7rlj00q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295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Curva de Beveridge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49-d2nf6d98bjvh7rlj01eg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635" y="2811780"/>
            <a:ext cx="12191365" cy="45154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Beveridge: termómetro del emparejamiento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rot="1740000">
            <a:off x="9091295" y="1026795"/>
            <a:ext cx="805815" cy="8477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8-27-19:59:39-d2nf6ap8bjvh7rlj0110.png"/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10052050" y="-999490"/>
            <a:ext cx="3007995" cy="301625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1740000">
            <a:off x="3428365" y="5163185"/>
            <a:ext cx="425450" cy="44767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740000">
            <a:off x="11146790" y="5626100"/>
            <a:ext cx="425450" cy="447675"/>
          </a:xfrm>
          <a:prstGeom prst="rect">
            <a:avLst/>
          </a:prstGeom>
        </p:spPr>
      </p:pic>
      <p:sp>
        <p:nvSpPr>
          <p:cNvPr id="9" name="Shape 1"/>
          <p:cNvSpPr/>
          <p:nvPr/>
        </p:nvSpPr>
        <p:spPr>
          <a:xfrm>
            <a:off x="4296410" y="1910080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2"/>
          <p:cNvSpPr/>
          <p:nvPr/>
        </p:nvSpPr>
        <p:spPr>
          <a:xfrm>
            <a:off x="4296410" y="1910080"/>
            <a:ext cx="3388995" cy="37414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4587240" y="290957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Tiene pendiente negativa: más vacantes, menos paro. Su posición respecto al origen indica eficiencia: curva alejada significa peor emparejamiento.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4587240" y="219583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7752080" y="2186305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9000"/>
                </a:srgbClr>
              </a:gs>
              <a:gs pos="26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6"/>
          <p:cNvSpPr/>
          <p:nvPr/>
        </p:nvSpPr>
        <p:spPr>
          <a:xfrm>
            <a:off x="7752080" y="2186305"/>
            <a:ext cx="3388995" cy="37414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8042910" y="318579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Movimientos a lo largo reflejan ciclos económicos; desplazamientos hacia fuera, aumento de desempleo estructural o fricciones crecientes.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8042910" y="247205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Movimientos</a:t>
            </a:r>
            <a:endParaRPr lang="en-US" sz="1600" dirty="0"/>
          </a:p>
        </p:txBody>
      </p:sp>
      <p:pic>
        <p:nvPicPr>
          <p:cNvPr id="17" name="Image 6" descr="https://kimi-img.moonshot.cn/pub/slides/slides_tmpl/image/25-08-27-19:59:39-d2nf6ap8bjvh7rlj0110.png"/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-1176020" y="5157470"/>
            <a:ext cx="3007995" cy="301625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791845" y="1572895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0"/>
          <p:cNvSpPr/>
          <p:nvPr/>
        </p:nvSpPr>
        <p:spPr>
          <a:xfrm>
            <a:off x="791845" y="1572895"/>
            <a:ext cx="3388995" cy="37414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Text 11"/>
          <p:cNvSpPr/>
          <p:nvPr/>
        </p:nvSpPr>
        <p:spPr>
          <a:xfrm>
            <a:off x="1082675" y="257238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Curva de Beveridge relaciona la tasa de vacantes con la tasa de desempleo, mostrando la eficiencia del mercado laboral.</a:t>
            </a:r>
            <a:endParaRPr lang="en-US" sz="1600" dirty="0"/>
          </a:p>
        </p:txBody>
      </p:sp>
      <p:sp>
        <p:nvSpPr>
          <p:cNvPr id="21" name="Text 12"/>
          <p:cNvSpPr/>
          <p:nvPr/>
        </p:nvSpPr>
        <p:spPr>
          <a:xfrm>
            <a:off x="1082675" y="185864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50-d2nf6dh8bjvh7rlj01h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51-d2nf6dp8bjvh7rlj01j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98780" y="-5142865"/>
            <a:ext cx="13035915" cy="811466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4365" y="1880870"/>
            <a:ext cx="779145" cy="790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948180" y="200787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3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2615" y="2307590"/>
            <a:ext cx="779145" cy="79057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726430" y="243459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pic>
        <p:nvPicPr>
          <p:cNvPr id="8" name="Image 4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0" y="1881505"/>
            <a:ext cx="779145" cy="790575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9527540" y="200850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Función de emparejamiento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866775" y="3543935"/>
            <a:ext cx="2853055" cy="27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contrataciones dependen de número de desempleados, vacantes y eficiencia del proceso de emparejamiento.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866775" y="283019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4655820" y="3961765"/>
            <a:ext cx="2853055" cy="27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Instituciones, información y geografía afectan la eficiencia del emparejamiento, lo que puede desplazar la curva hacia el origen o alejarla.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4655820" y="324802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Influencia de instituciones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444865" y="3523615"/>
            <a:ext cx="2853055" cy="2718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Mejorar la eficiencia del emparejamiento reduce el desempleo sin necesidad de crear más vacantes.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8444865" y="280987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A4F5F1B3-3FB0-2B99-BDD6-C7AB2BF5B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596" y="643467"/>
            <a:ext cx="9688808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4977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Puntos clave en el gráfico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0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74065" y="1918970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8"/>
          <p:cNvSpPr/>
          <p:nvPr/>
        </p:nvSpPr>
        <p:spPr>
          <a:xfrm>
            <a:off x="77406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120140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intersección con la bisectriz es el punto donde desempleo iguala a vacantes, interpretado como tasa natural.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097915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Intersección con la bisectriz</a:t>
            </a:r>
            <a:endParaRPr lang="en-US" sz="1600" dirty="0"/>
          </a:p>
        </p:txBody>
      </p:sp>
      <p:pic>
        <p:nvPicPr>
          <p:cNvPr id="16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0905" y="2049780"/>
            <a:ext cx="688340" cy="6915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152015" y="213614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18" name="Image 4" descr="https://kimi-img.moonshot.cn/pub/slides/slides_tmpl/image/25-08-27-19:59:47-d2nf6cp8bjvh7rlj01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6740" y="2232025"/>
            <a:ext cx="1288415" cy="3302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4437380" y="1918335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3"/>
          <p:cNvSpPr/>
          <p:nvPr/>
        </p:nvSpPr>
        <p:spPr>
          <a:xfrm>
            <a:off x="4437380" y="1918335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4755515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 debajo, la economía está recalentada, lo que puede indicar una demanda agregada excesiva.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4733290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 debajo de la bisectriz</a:t>
            </a:r>
            <a:endParaRPr lang="en-US" sz="1600" dirty="0"/>
          </a:p>
        </p:txBody>
      </p:sp>
      <p:pic>
        <p:nvPicPr>
          <p:cNvPr id="23" name="Image 5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280" y="2049780"/>
            <a:ext cx="688340" cy="69151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796915" y="214185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pic>
        <p:nvPicPr>
          <p:cNvPr id="25" name="Image 6" descr="https://kimi-img.moonshot.cn/pub/slides/slides_tmpl/image/25-08-27-19:59:47-d2nf6cp8bjvh7rlj01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2115" y="2232025"/>
            <a:ext cx="1288415" cy="3302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082915" y="1918970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18"/>
          <p:cNvSpPr/>
          <p:nvPr/>
        </p:nvSpPr>
        <p:spPr>
          <a:xfrm>
            <a:off x="808291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8395970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 encima, la economía tiene falta de demanda agregada, lo que puede requerir políticas anticíclicas.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8373745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 encima de la bisectriz</a:t>
            </a:r>
            <a:endParaRPr lang="en-US" sz="1600" dirty="0"/>
          </a:p>
        </p:txBody>
      </p:sp>
      <p:pic>
        <p:nvPicPr>
          <p:cNvPr id="30" name="Image 7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735" y="2049780"/>
            <a:ext cx="688340" cy="691515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9431020" y="214566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pic>
        <p:nvPicPr>
          <p:cNvPr id="32" name="Image 8" descr="https://kimi-img.moonshot.cn/pub/slides/slides_tmpl/image/25-08-27-19:59:47-d2nf6cp8bjvh7rlj01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2570" y="2232025"/>
            <a:ext cx="1288415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37230" y="2660650"/>
            <a:ext cx="281813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Crisis 2008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13430" y="3303905"/>
            <a:ext cx="2720975" cy="337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crisis financiera de 2008 provocó un desplazamiento fuerte hacia la derecha, indicando una pérdida de eficiencia.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083935" y="2660650"/>
            <a:ext cx="28041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Recuperación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158865" y="3303905"/>
            <a:ext cx="2720975" cy="337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Entre 2014 y 2016, la curva retornó parcialmente, explicando hasta el 31% de la destrucción de empleo y el 55% de la caída del PIB.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044305" y="2660650"/>
            <a:ext cx="278003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 laboral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18600" y="3303905"/>
            <a:ext cx="2699385" cy="337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reforma laboral de 2012 probablemente fue un catalizador de la mejora en la eficiencia del mercado laboral.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20675" y="2660650"/>
            <a:ext cx="280543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de expansión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00685" y="3303905"/>
            <a:ext cx="2720975" cy="337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Entre 1994 y 2007, la curva fue estable y cercana al origen, indicando un mercado laboral eficiente.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166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España 1994-2016: una historia ilustrativa</a:t>
            </a:r>
            <a:endParaRPr lang="en-US" sz="1600" dirty="0"/>
          </a:p>
        </p:txBody>
      </p:sp>
      <p:pic>
        <p:nvPicPr>
          <p:cNvPr id="12" name="Image 1" descr="https://kimi-img.moonshot.cn/pub/slides/slides_tmpl/image/25-08-27-19:59:42-d2nf6bh8bjvh7rlj016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935" y="1658620"/>
            <a:ext cx="751205" cy="15754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4950" y="1869440"/>
            <a:ext cx="850265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14" name="Image 2" descr="https://kimi-img.moonshot.cn/pub/slides/slides_tmpl/image/25-08-27-19:59:42-d2nf6bh8bjvh7rlj016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775" y="1658620"/>
            <a:ext cx="751205" cy="15754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25950" y="1869440"/>
            <a:ext cx="850265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16" name="Image 3" descr="https://kimi-img.moonshot.cn/pub/slides/slides_tmpl/image/25-08-27-19:59:42-d2nf6bh8bjvh7rlj016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615" y="1658620"/>
            <a:ext cx="751205" cy="157543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26630" y="1869440"/>
            <a:ext cx="850265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18" name="Image 4" descr="https://kimi-img.moonshot.cn/pub/slides/slides_tmpl/image/25-08-27-19:59:42-d2nf6bh8bjvh7rlj016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455" y="1658620"/>
            <a:ext cx="751205" cy="157543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237470" y="1869440"/>
            <a:ext cx="850265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2143760" y="2068830"/>
            <a:ext cx="2108835" cy="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C59EE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4"/>
          <p:cNvSpPr/>
          <p:nvPr/>
        </p:nvSpPr>
        <p:spPr>
          <a:xfrm>
            <a:off x="5088255" y="2068830"/>
            <a:ext cx="2108835" cy="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C59EE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15"/>
          <p:cNvSpPr/>
          <p:nvPr/>
        </p:nvSpPr>
        <p:spPr>
          <a:xfrm>
            <a:off x="8013700" y="2068830"/>
            <a:ext cx="2108835" cy="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C59EE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23" name="Image 5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24" name="Image 6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BEEA9F51-A934-F34C-F8EF-6BB51B58D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96428"/>
            <a:ext cx="5294716" cy="386514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6ADA8B7B-882A-1021-E9AF-67AD67CA0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1205220"/>
            <a:ext cx="5294715" cy="444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1622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51-d2nf6dp8bjvh7rlj01j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45615" y="1824990"/>
            <a:ext cx="10120630" cy="439547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path path="circle">
              <a:fillToRect l="100000" t="100000"/>
            </a:path>
            <a:tileRect r="-100000" b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1745615" y="1824990"/>
            <a:ext cx="10120630" cy="43954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1020" y="532130"/>
            <a:ext cx="10993120" cy="97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Lecciones de la crisis española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68855" y="3138805"/>
            <a:ext cx="2513965" cy="298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Cambios institucionales y flexibilidad interna pueden mejorar el emparejamiento y reducir la volatilidad del mercado laboral.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246630" y="2352040"/>
            <a:ext cx="251460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Cambios institucionales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91175" y="3145790"/>
            <a:ext cx="2513965" cy="298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recuperación incompleta sugiere que el desajuste de habilidades y capital humano persiste, requiriendo más esfuerzos.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568950" y="2359025"/>
            <a:ext cx="251460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Recuperación incompleta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874760" y="3166110"/>
            <a:ext cx="2513965" cy="2959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Coordinar políticas de formación con reformas de mercado es esencial para reducir el desempleo estructural de forma permanente.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852535" y="2379345"/>
            <a:ext cx="251460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Coordinación de políticas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177791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8518526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https://kimi-img.moonshot.cn/pub/slides/slides_tmpl/image/25-08-27-19:59:38-d2nf6ah8bjvh7rlj01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660000">
            <a:off x="859790" y="1539875"/>
            <a:ext cx="1212850" cy="1104900"/>
          </a:xfrm>
          <a:prstGeom prst="rect">
            <a:avLst/>
          </a:prstGeom>
        </p:spPr>
      </p:pic>
      <p:pic>
        <p:nvPicPr>
          <p:cNvPr id="15" name="Image 2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6860" y="2763520"/>
            <a:ext cx="534670" cy="537210"/>
          </a:xfrm>
          <a:prstGeom prst="rect">
            <a:avLst/>
          </a:prstGeom>
        </p:spPr>
      </p:pic>
      <p:pic>
        <p:nvPicPr>
          <p:cNvPr id="16" name="Image 3" descr="https://kimi-img.moonshot.cn/pub/slides/slides_tmpl/image/25-08-27-19:59:50-d2nf6dh8bjvh7rlj01i0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rot="1080000">
            <a:off x="-203835" y="4772025"/>
            <a:ext cx="852805" cy="2002790"/>
          </a:xfrm>
          <a:prstGeom prst="rect">
            <a:avLst/>
          </a:prstGeom>
        </p:spPr>
      </p:pic>
      <p:pic>
        <p:nvPicPr>
          <p:cNvPr id="17" name="Image 4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32-d2nf6918bjvh7rlj00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33-d2nf6998bjvh7rlj00q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295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Reformas y Escenarios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49-d2nf6d98bjvh7rlj01eg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635" y="2811780"/>
            <a:ext cx="12191365" cy="45154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Retos estructurales de España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rot="1740000">
            <a:off x="9091295" y="1026795"/>
            <a:ext cx="805815" cy="8477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8-27-19:59:39-d2nf6ap8bjvh7rlj0110.png"/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10052050" y="-999490"/>
            <a:ext cx="3007995" cy="301625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1740000">
            <a:off x="3428365" y="5163185"/>
            <a:ext cx="425450" cy="44767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740000">
            <a:off x="11146790" y="5626100"/>
            <a:ext cx="425450" cy="447675"/>
          </a:xfrm>
          <a:prstGeom prst="rect">
            <a:avLst/>
          </a:prstGeom>
        </p:spPr>
      </p:pic>
      <p:sp>
        <p:nvSpPr>
          <p:cNvPr id="9" name="Shape 1"/>
          <p:cNvSpPr/>
          <p:nvPr/>
        </p:nvSpPr>
        <p:spPr>
          <a:xfrm>
            <a:off x="4296410" y="1910080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2"/>
          <p:cNvSpPr/>
          <p:nvPr/>
        </p:nvSpPr>
        <p:spPr>
          <a:xfrm>
            <a:off x="4296410" y="1910080"/>
            <a:ext cx="3388995" cy="37414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4587240" y="290957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rigidez salarial y la indexación a la inflación complican la adaptación de salarios a las condiciones económicas cambiantes.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4587240" y="219583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Rigidez salarial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7752080" y="2186305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9000"/>
                </a:srgbClr>
              </a:gs>
              <a:gs pos="26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6"/>
          <p:cNvSpPr/>
          <p:nvPr/>
        </p:nvSpPr>
        <p:spPr>
          <a:xfrm>
            <a:off x="7752080" y="2186305"/>
            <a:ext cx="3388995" cy="37414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8042910" y="318579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fiscalidad actual no incentiva suficientemente la contratación de trabajadores, afectando la creación de empleo.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8042910" y="247205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Fiscalidad desfavorable</a:t>
            </a:r>
            <a:endParaRPr lang="en-US" sz="1600" dirty="0"/>
          </a:p>
        </p:txBody>
      </p:sp>
      <p:pic>
        <p:nvPicPr>
          <p:cNvPr id="17" name="Image 6" descr="https://kimi-img.moonshot.cn/pub/slides/slides_tmpl/image/25-08-27-19:59:39-d2nf6ap8bjvh7rlj0110.png"/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-1176020" y="5157470"/>
            <a:ext cx="3007995" cy="301625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791845" y="1572895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0"/>
          <p:cNvSpPr/>
          <p:nvPr/>
        </p:nvSpPr>
        <p:spPr>
          <a:xfrm>
            <a:off x="791845" y="1572895"/>
            <a:ext cx="3388995" cy="37414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Text 11"/>
          <p:cNvSpPr/>
          <p:nvPr/>
        </p:nvSpPr>
        <p:spPr>
          <a:xfrm>
            <a:off x="1082675" y="257238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negociación colectiva en España está desconectada de la productividad empresarial, lo que afecta la eficiencia del mercado laboral.</a:t>
            </a:r>
            <a:endParaRPr lang="en-US" sz="1600" dirty="0"/>
          </a:p>
        </p:txBody>
      </p:sp>
      <p:sp>
        <p:nvSpPr>
          <p:cNvPr id="21" name="Text 12"/>
          <p:cNvSpPr/>
          <p:nvPr/>
        </p:nvSpPr>
        <p:spPr>
          <a:xfrm>
            <a:off x="1082675" y="185864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Negociación colectiva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02680" y="1847215"/>
            <a:ext cx="2790190" cy="41484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6202680" y="1847215"/>
            <a:ext cx="2790190" cy="41484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43865" y="1741170"/>
            <a:ext cx="2790190" cy="41484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443865" y="1741170"/>
            <a:ext cx="2790190" cy="41484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22955" y="2245360"/>
            <a:ext cx="2790190" cy="41484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3322955" y="2245360"/>
            <a:ext cx="2790190" cy="41484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011920" y="2245360"/>
            <a:ext cx="2790190" cy="41484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9011920" y="2245360"/>
            <a:ext cx="2790190" cy="41484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6298" y="535305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Reformas para bajar NAIRU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15620" y="2214245"/>
            <a:ext cx="270764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Vincular convenios a productividad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4510" y="2829560"/>
            <a:ext cx="2708275" cy="3034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Vincular convenios colectivos a la productividad y competencias empresariales mejora la eficiencia del mercado laboral.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354705" y="2655570"/>
            <a:ext cx="276669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Homogeneizar costes de despido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437890" y="3270885"/>
            <a:ext cx="2640965" cy="3034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Homogeneizar los costes de despido reduce la dualidad y mejora la flexibilidad del mercado laboral.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24905" y="2200910"/>
            <a:ext cx="269621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Reducir tipos sociales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03645" y="2816225"/>
            <a:ext cx="2708275" cy="3034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Reducir tipos sociales a bajos salarios incentiva la contratación y mejora la competitividad.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028430" y="2704465"/>
            <a:ext cx="276669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Incentivar formación continua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11615" y="3319780"/>
            <a:ext cx="2640965" cy="298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Incentivar la formación continua y evaluar políticas activas mejora la adaptabilidad de los trabajadores.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43865" y="160528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443865" y="1605280"/>
            <a:ext cx="690245" cy="3695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45135" y="156019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319780" y="203454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3319780" y="2034540"/>
            <a:ext cx="690245" cy="3695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321050" y="198945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208395" y="160528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/>
          <p:nvPr/>
        </p:nvSpPr>
        <p:spPr>
          <a:xfrm>
            <a:off x="6208395" y="1605280"/>
            <a:ext cx="690245" cy="3695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209665" y="156019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9024620" y="2079625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/>
          <p:nvPr/>
        </p:nvSpPr>
        <p:spPr>
          <a:xfrm>
            <a:off x="9024620" y="2079625"/>
            <a:ext cx="690245" cy="3695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025890" y="203454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2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4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8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39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21075" y="213614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aceleración digital y el teletrabajo modifican el skill-mismatch y la distribución geográfica del empleo.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521075" y="1721485"/>
            <a:ext cx="6654165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Aceleración digital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105025" y="374650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deben anticipar nuevas necesidades de competencias digitales y regular el trabajo híbrido.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105025" y="3331845"/>
            <a:ext cx="382524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Nuevas necesidades de competencias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08045" y="5356860"/>
            <a:ext cx="77946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Invertir en recualificación es crítico para evitar que el paro estructural repunte tras la crisis.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08045" y="4942205"/>
            <a:ext cx="382524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Recualificación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Escenarios tras COVID-19</a:t>
            </a:r>
            <a:endParaRPr lang="en-US" sz="1600" dirty="0"/>
          </a:p>
        </p:txBody>
      </p:sp>
      <p:pic>
        <p:nvPicPr>
          <p:cNvPr id="10" name="Image 1" descr="https://kimi-img.moonshot.cn/pub/slides/slides_tmpl/image/25-08-27-19:59:48-d2nf6d18bjvh7rlj01d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1151255" y="-1030605"/>
            <a:ext cx="3615055" cy="8472805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8595" y="1642110"/>
            <a:ext cx="688340" cy="691515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30" y="3331845"/>
            <a:ext cx="688340" cy="691515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970" y="5222875"/>
            <a:ext cx="688340" cy="69151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63040" y="173228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54710" y="342900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1543685" y="532574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62230" y="4094480"/>
            <a:ext cx="12422505" cy="191770"/>
          </a:xfrm>
          <a:prstGeom prst="rect">
            <a:avLst/>
          </a:prstGeom>
          <a:solidFill>
            <a:srgbClr val="5B78BC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-62230" y="4094480"/>
            <a:ext cx="12422505" cy="191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77875" y="1838960"/>
            <a:ext cx="5057140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Descarbonización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875" y="2275840"/>
            <a:ext cx="5057140" cy="136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descarbonización destruirá empleos en sectores intensivos en carbono y los creará en sectores verdes.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796415" y="3913505"/>
            <a:ext cx="2770505" cy="609600"/>
          </a:xfrm>
          <a:prstGeom prst="line">
            <a:avLst/>
          </a:prstGeom>
          <a:noFill/>
          <a:ln w="38100">
            <a:gradFill flip="none" rotWithShape="1">
              <a:gsLst>
                <a:gs pos="0">
                  <a:srgbClr val="8DD4FB"/>
                </a:gs>
                <a:gs pos="49000">
                  <a:srgbClr val="5B78BC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 flipV="1">
            <a:off x="5033645" y="3912870"/>
            <a:ext cx="1826895" cy="610235"/>
          </a:xfrm>
          <a:prstGeom prst="line">
            <a:avLst/>
          </a:prstGeom>
          <a:noFill/>
          <a:ln w="38100">
            <a:gradFill flip="none" rotWithShape="1">
              <a:gsLst>
                <a:gs pos="0">
                  <a:srgbClr val="8DD4FB"/>
                </a:gs>
                <a:gs pos="49000">
                  <a:srgbClr val="5B78BC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7326630" y="3912870"/>
            <a:ext cx="3623310" cy="418465"/>
          </a:xfrm>
          <a:prstGeom prst="line">
            <a:avLst/>
          </a:prstGeom>
          <a:noFill/>
          <a:ln w="38100">
            <a:gradFill flip="none" rotWithShape="1">
              <a:gsLst>
                <a:gs pos="0">
                  <a:srgbClr val="8DD4FB"/>
                </a:gs>
                <a:gs pos="49000">
                  <a:srgbClr val="5B78BC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1" descr="https://kimi-img.moonshot.cn/pub/slides/slides_tmpl/image/25-08-27-19:59:50-d2nf6dh8bjvh7rlj01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470" y="3716020"/>
            <a:ext cx="425450" cy="846455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325" y="3676650"/>
            <a:ext cx="466090" cy="4730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875" y="4626610"/>
            <a:ext cx="505714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Desajuste regional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777875" y="5041265"/>
            <a:ext cx="5057140" cy="136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políticas activas, el desajuste regional y de cualificaciones puede generar paro estructural.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499860" y="1838960"/>
            <a:ext cx="505841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Reconversión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99860" y="2252980"/>
            <a:ext cx="5057775" cy="136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Anticipar cierres con reconversión e incentivar formación en energías renovables convierte el reto en oportunidad.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99860" y="4626610"/>
            <a:ext cx="505841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Movilidad sostenible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499860" y="5040630"/>
            <a:ext cx="5057775" cy="136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Promover la movilidad sostenible mejora la adaptabilidad del mercado laboral a la transición ecológica.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77875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Transición ecológica y empleo</a:t>
            </a:r>
            <a:endParaRPr lang="en-US" sz="1600" dirty="0"/>
          </a:p>
        </p:txBody>
      </p:sp>
      <p:pic>
        <p:nvPicPr>
          <p:cNvPr id="19" name="Image 3" descr="https://kimi-img.moonshot.cn/pub/slides/slides_tmpl/image/25-08-27-19:59:50-d2nf6dh8bjvh7rlj01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095" y="4370705"/>
            <a:ext cx="425450" cy="846455"/>
          </a:xfrm>
          <a:prstGeom prst="rect">
            <a:avLst/>
          </a:prstGeom>
        </p:spPr>
      </p:pic>
      <p:pic>
        <p:nvPicPr>
          <p:cNvPr id="20" name="Image 4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2950" y="4331335"/>
            <a:ext cx="466090" cy="473075"/>
          </a:xfrm>
          <a:prstGeom prst="rect">
            <a:avLst/>
          </a:prstGeom>
        </p:spPr>
      </p:pic>
      <p:pic>
        <p:nvPicPr>
          <p:cNvPr id="21" name="Image 5" descr="https://kimi-img.moonshot.cn/pub/slides/slides_tmpl/image/25-08-27-19:59:50-d2nf6dh8bjvh7rlj01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770" y="3739515"/>
            <a:ext cx="425450" cy="846455"/>
          </a:xfrm>
          <a:prstGeom prst="rect">
            <a:avLst/>
          </a:prstGeom>
        </p:spPr>
      </p:pic>
      <p:pic>
        <p:nvPicPr>
          <p:cNvPr id="22" name="Image 6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5625" y="3700145"/>
            <a:ext cx="466090" cy="473075"/>
          </a:xfrm>
          <a:prstGeom prst="rect">
            <a:avLst/>
          </a:prstGeom>
        </p:spPr>
      </p:pic>
      <p:pic>
        <p:nvPicPr>
          <p:cNvPr id="23" name="Image 7" descr="https://kimi-img.moonshot.cn/pub/slides/slides_tmpl/image/25-08-27-19:59:50-d2nf6dh8bjvh7rlj01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7720" y="4189095"/>
            <a:ext cx="425450" cy="846455"/>
          </a:xfrm>
          <a:prstGeom prst="rect">
            <a:avLst/>
          </a:prstGeom>
        </p:spPr>
      </p:pic>
      <p:pic>
        <p:nvPicPr>
          <p:cNvPr id="24" name="Image 8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0575" y="4149725"/>
            <a:ext cx="466090" cy="47307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6298" y="657860"/>
            <a:ext cx="10479405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Envejecimiento y mercado laboral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0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74065" y="1918970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8"/>
          <p:cNvSpPr/>
          <p:nvPr/>
        </p:nvSpPr>
        <p:spPr>
          <a:xfrm>
            <a:off x="77406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120140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mayor peso de la población mayor puede reducir la NAIRU si mantiene bajo desempleo, pero presiona las pensiones.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097915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Mayor peso de población mayor</a:t>
            </a:r>
            <a:endParaRPr lang="en-US" sz="1600" dirty="0"/>
          </a:p>
        </p:txBody>
      </p:sp>
      <p:pic>
        <p:nvPicPr>
          <p:cNvPr id="16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0905" y="2049780"/>
            <a:ext cx="688340" cy="6915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152015" y="213614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18" name="Image 4" descr="https://kimi-img.moonshot.cn/pub/slides/slides_tmpl/image/25-08-27-19:59:47-d2nf6cp8bjvh7rlj01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6740" y="2232025"/>
            <a:ext cx="1288415" cy="3302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4437380" y="1918335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3"/>
          <p:cNvSpPr/>
          <p:nvPr/>
        </p:nvSpPr>
        <p:spPr>
          <a:xfrm>
            <a:off x="4437380" y="1918335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4755515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de empleo deben retener a mayores con jornadas flexibles y formación digital.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4733290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 de empleo</a:t>
            </a:r>
            <a:endParaRPr lang="en-US" sz="1600" dirty="0"/>
          </a:p>
        </p:txBody>
      </p:sp>
      <p:pic>
        <p:nvPicPr>
          <p:cNvPr id="23" name="Image 5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280" y="2049780"/>
            <a:ext cx="688340" cy="69151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796915" y="214185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pic>
        <p:nvPicPr>
          <p:cNvPr id="25" name="Image 6" descr="https://kimi-img.moonshot.cn/pub/slides/slides_tmpl/image/25-08-27-19:59:47-d2nf6cp8bjvh7rlj01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2115" y="2232025"/>
            <a:ext cx="1288415" cy="3302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082915" y="1918970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18"/>
          <p:cNvSpPr/>
          <p:nvPr/>
        </p:nvSpPr>
        <p:spPr>
          <a:xfrm>
            <a:off x="808291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8395970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Alinear la edad de jubilación con la esperanza de vida saludable sostiene la financiación social y la experiencia productiva.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8373745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Alinear edad de jubilación</a:t>
            </a:r>
            <a:endParaRPr lang="en-US" sz="1600" dirty="0"/>
          </a:p>
        </p:txBody>
      </p:sp>
      <p:pic>
        <p:nvPicPr>
          <p:cNvPr id="30" name="Image 7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735" y="2049780"/>
            <a:ext cx="688340" cy="691515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9431020" y="214566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pic>
        <p:nvPicPr>
          <p:cNvPr id="32" name="Image 8" descr="https://kimi-img.moonshot.cn/pub/slides/slides_tmpl/image/25-08-27-19:59:47-d2nf6cp8bjvh7rlj01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2570" y="2232025"/>
            <a:ext cx="1288415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50-d2nf6dh8bjvh7rlj01h0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-240665" y="-157480"/>
            <a:ext cx="12669520" cy="7191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6000" y="812800"/>
            <a:ext cx="10649585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Gobernanza multinivel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70505" y="2576195"/>
            <a:ext cx="7731760" cy="138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Competencias compartidas entre Estado, autonomías y ayuntamientos requieren coordinación para evitar duplicidades y lagunas.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770505" y="1993265"/>
            <a:ext cx="7732395" cy="588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Competencias compartidas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70505" y="4587875"/>
            <a:ext cx="7731760" cy="147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Crear plataformas de datos compartidos y establecer objetivos comunes mejora la eficacia de las políticas.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70505" y="4004945"/>
            <a:ext cx="7732395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Plataformas de datos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595" y="1953895"/>
            <a:ext cx="688340" cy="69151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04406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10" name="Image 2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595" y="3961130"/>
            <a:ext cx="688340" cy="6915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405130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807845" y="2580640"/>
            <a:ext cx="0" cy="147066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32-d2nf6918bjvh7rlj00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33-d2nf6998bjvh7rlj00q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Conclusiones y Agenda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4-d2nf6c18bjvh7rlj018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51-d2nf6dp8bjvh7rlj01k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2130"/>
            <a:ext cx="12192000" cy="5886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660" y="753110"/>
            <a:ext cx="10479405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Síntesis de políticas por tipo de paro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581660" y="2120900"/>
            <a:ext cx="5175250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Friccional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81660" y="2522220"/>
            <a:ext cx="5175885" cy="148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Mejora de información y servicios de empleo para reducir el paro friccional y mejorar la eficiencia del mercado laboral.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533515" y="2120900"/>
            <a:ext cx="5175250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Cíclico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533515" y="2522220"/>
            <a:ext cx="5176520" cy="148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Estabilización macro y protección social anticíclica para manejar el paro cíclico y su impacto en la economía.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81660" y="4095115"/>
            <a:ext cx="5175250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Estructural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81660" y="4496435"/>
            <a:ext cx="5175885" cy="17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Formación, innovación educativa y desarrollo regional para abordar el desempleo estructural de forma sostenible.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33515" y="4095115"/>
            <a:ext cx="5175250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Estacional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3515" y="4496435"/>
            <a:ext cx="5176520" cy="17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Diversificación económica y flexibilidad interna para gestionar el paro estacional y mejorar la estabilidad de ingresos.</a:t>
            </a:r>
            <a:endParaRPr lang="en-US" sz="1600" dirty="0"/>
          </a:p>
        </p:txBody>
      </p:sp>
      <p:pic>
        <p:nvPicPr>
          <p:cNvPr id="13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999490"/>
            <a:ext cx="762000" cy="76200"/>
          </a:xfrm>
          <a:prstGeom prst="rect">
            <a:avLst/>
          </a:prstGeom>
        </p:spPr>
      </p:pic>
      <p:pic>
        <p:nvPicPr>
          <p:cNvPr id="14" name="Image 3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1130300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2765" y="3225800"/>
            <a:ext cx="11161395" cy="1572260"/>
          </a:xfrm>
          <a:prstGeom prst="roundRect">
            <a:avLst/>
          </a:prstGeom>
          <a:gradFill flip="none" rotWithShape="1">
            <a:gsLst>
              <a:gs pos="0">
                <a:srgbClr val="2F5BEE">
                  <a:alpha val="25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>
                  <a:alpha val="78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532765" y="3225800"/>
            <a:ext cx="11161395" cy="1572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32765" y="4980305"/>
            <a:ext cx="11161395" cy="1572260"/>
          </a:xfrm>
          <a:prstGeom prst="roundRect">
            <a:avLst/>
          </a:prstGeom>
          <a:gradFill flip="none" rotWithShape="1">
            <a:gsLst>
              <a:gs pos="0">
                <a:srgbClr val="2F5BEE">
                  <a:alpha val="25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>
                  <a:alpha val="7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32765" y="4980305"/>
            <a:ext cx="11161395" cy="1572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2765" y="1504315"/>
            <a:ext cx="11161395" cy="1572260"/>
          </a:xfrm>
          <a:prstGeom prst="roundRect">
            <a:avLst/>
          </a:prstGeom>
          <a:gradFill flip="none" rotWithShape="1">
            <a:gsLst>
              <a:gs pos="0">
                <a:srgbClr val="2F5BEE">
                  <a:alpha val="25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>
                  <a:alpha val="7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532765" y="1504315"/>
            <a:ext cx="11161395" cy="1572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1020" y="532130"/>
            <a:ext cx="10479405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Principios para agenda 2025-30</a:t>
            </a:r>
            <a:endParaRPr lang="en-US" sz="1600" dirty="0"/>
          </a:p>
        </p:txBody>
      </p:sp>
      <p:pic>
        <p:nvPicPr>
          <p:cNvPr id="10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21075" y="1966595"/>
            <a:ext cx="77952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Flexibilidad contractual con suficiente protección social para adaptarse a los cambios económicos y tecnológicos.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521075" y="1614805"/>
            <a:ext cx="7733665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Apuesta por productividad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58595" y="3715385"/>
            <a:ext cx="779526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Invertir en productividad y capital humano es esencial para crear empleo de calidad y sostener el crecimiento económico.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58595" y="3363595"/>
            <a:ext cx="779526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Flexibilidad con protección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225165" y="5445760"/>
            <a:ext cx="779526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Coordinación entre niveles de gobierno y agentes sociales para implementar políticas efectivas y sostenibles.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225165" y="5093970"/>
            <a:ext cx="7794625" cy="366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Gobernanza coordinada</a:t>
            </a:r>
            <a:endParaRPr lang="en-US" sz="1600" dirty="0"/>
          </a:p>
        </p:txBody>
      </p:sp>
      <p:pic>
        <p:nvPicPr>
          <p:cNvPr id="18" name="Image 3" descr="https://kimi-img.moonshot.cn/pub/slides/slides_tmpl/image/25-08-27-19:59:37-d2nf6a98bjvh7rlj00u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369695" y="1567180"/>
            <a:ext cx="1396365" cy="1476375"/>
          </a:xfrm>
          <a:prstGeom prst="rect">
            <a:avLst/>
          </a:prstGeom>
        </p:spPr>
      </p:pic>
      <p:pic>
        <p:nvPicPr>
          <p:cNvPr id="19" name="Image 4" descr="https://kimi-img.moonshot.cn/pub/slides/slides_tmpl/image/25-08-27-19:59:49-d2nf6d98bjvh7rlj01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1" y="2131785"/>
            <a:ext cx="876300" cy="889000"/>
          </a:xfrm>
          <a:prstGeom prst="rect">
            <a:avLst/>
          </a:prstGeom>
        </p:spPr>
      </p:pic>
      <p:pic>
        <p:nvPicPr>
          <p:cNvPr id="20" name="Image 5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4675" y="1614805"/>
            <a:ext cx="1204595" cy="1209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114550" y="184912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22" name="Image 6" descr="https://kimi-img.moonshot.cn/pub/slides/slides_tmpl/image/25-08-27-19:59:37-d2nf6a98bjvh7rlj00u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69340" y="5031105"/>
            <a:ext cx="1396365" cy="1476375"/>
          </a:xfrm>
          <a:prstGeom prst="rect">
            <a:avLst/>
          </a:prstGeom>
        </p:spPr>
      </p:pic>
      <p:pic>
        <p:nvPicPr>
          <p:cNvPr id="23" name="Image 7" descr="https://kimi-img.moonshot.cn/pub/slides/slides_tmpl/image/25-08-27-19:59:49-d2nf6d98bjvh7rlj01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88" y="5641023"/>
            <a:ext cx="876300" cy="889000"/>
          </a:xfrm>
          <a:prstGeom prst="rect">
            <a:avLst/>
          </a:prstGeom>
        </p:spPr>
      </p:pic>
      <p:pic>
        <p:nvPicPr>
          <p:cNvPr id="24" name="Image 8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4320" y="5078730"/>
            <a:ext cx="1204595" cy="120904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711325" y="5327015"/>
            <a:ext cx="86614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26" name="Image 9" descr="https://kimi-img.moonshot.cn/pub/slides/slides_tmpl/image/25-08-27-19:59:37-d2nf6a98bjvh7rlj00u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9723120" y="3263265"/>
            <a:ext cx="1396365" cy="1476375"/>
          </a:xfrm>
          <a:prstGeom prst="rect">
            <a:avLst/>
          </a:prstGeom>
        </p:spPr>
      </p:pic>
      <p:pic>
        <p:nvPicPr>
          <p:cNvPr id="27" name="Image 10" descr="https://kimi-img.moonshot.cn/pub/slides/slides_tmpl/image/25-08-27-19:59:49-d2nf6d98bjvh7rlj01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053" y="3858578"/>
            <a:ext cx="876300" cy="889000"/>
          </a:xfrm>
          <a:prstGeom prst="rect">
            <a:avLst/>
          </a:prstGeom>
        </p:spPr>
      </p:pic>
      <p:pic>
        <p:nvPicPr>
          <p:cNvPr id="28" name="Image 11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8100" y="3310890"/>
            <a:ext cx="1204595" cy="120904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10387965" y="3547745"/>
            <a:ext cx="86614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0800000">
            <a:off x="581660" y="1812290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flip="none" rotWithShape="1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 rot="10800000">
            <a:off x="581660" y="1812290"/>
            <a:ext cx="2198370" cy="54038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77595" y="1812290"/>
            <a:ext cx="4129405" cy="548005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1077595" y="1812290"/>
            <a:ext cx="4129405" cy="54800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54455" y="1931035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Tasa de empleo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76020" y="2435225"/>
            <a:ext cx="4496435" cy="170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tasa de empleo es un indicador clave para evaluar la capacidad del mercado laboral para crear empleo de calidad.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10800000">
            <a:off x="581660" y="4219575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flip="none" rotWithShape="1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 rot="10800000">
            <a:off x="581660" y="4219575"/>
            <a:ext cx="2198370" cy="54038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77595" y="4219575"/>
            <a:ext cx="4129405" cy="548005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1077595" y="4219575"/>
            <a:ext cx="4129405" cy="54800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54455" y="4338320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NAIRU estimada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76020" y="4842510"/>
            <a:ext cx="4496435" cy="180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NAIRU estimada permite monitorear el desempleo estructural y su impacto en la inflación.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rot="10800000">
            <a:off x="6457315" y="1812290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flip="none" rotWithShape="1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 rot="10800000">
            <a:off x="6457315" y="1812290"/>
            <a:ext cx="2198370" cy="54038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953250" y="1812290"/>
            <a:ext cx="4129405" cy="548005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6953250" y="1812290"/>
            <a:ext cx="4129405" cy="54800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208520" y="1931035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Duración media del desempleo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051675" y="2435225"/>
            <a:ext cx="4496435" cy="170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duración media del desempleo indica la eficiencia del mercado laboral en la reinserción de trabajadores.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 rot="10800000">
            <a:off x="6457315" y="4219575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flip="none" rotWithShape="1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 rot="10800000">
            <a:off x="6457315" y="4219575"/>
            <a:ext cx="2198370" cy="54038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953250" y="4219575"/>
            <a:ext cx="4129405" cy="548005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6953250" y="4219575"/>
            <a:ext cx="4129405" cy="54800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208520" y="4338320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Brecha de género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051675" y="4842510"/>
            <a:ext cx="4496435" cy="180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brecha de género en el empleo y salarios es un indicador crucial para evaluar la equidad en el mercado laboral.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81660" y="532130"/>
            <a:ext cx="1096645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Indicadores de seguimiento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7760" y="335915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digitalización puede aumentar la polarización salarial si no se gestionan adecuadamente las transiciones tecnológicas.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127760" y="264541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Digitalización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728210" y="279971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transición ecológica puede generar desajuste regional si no se implementan políticas de reconversión y formación adecuadas.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728210" y="208597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Transición verde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28025" y="349123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Crisis geopolíticas pueden reavivar el paro cíclico, requiriendo políticas anticíclicas para mitigar su impacto.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28025" y="277749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Crisis geopolíticas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6298" y="657860"/>
            <a:ext cx="10479405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Riesgos y vigilancia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672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79248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3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pic>
        <p:nvPicPr>
          <p:cNvPr id="14" name="Image 3" descr="https://kimi-img.moonshot.cn/pub/slides/slides_tmpl/image/25-08-27-19:59:49-d2nf6d98bjvh7rlj01fg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59055" y="5581650"/>
            <a:ext cx="12192000" cy="131445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50-d2nf6dh8bjvh7rlj01h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51-d2nf6dp8bjvh7rlj01j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98780" y="-5142865"/>
            <a:ext cx="13035915" cy="811466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4365" y="1880870"/>
            <a:ext cx="779145" cy="790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948180" y="200787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3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2615" y="2307590"/>
            <a:ext cx="779145" cy="79057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726430" y="243459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pic>
        <p:nvPicPr>
          <p:cNvPr id="8" name="Image 4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0" y="1881505"/>
            <a:ext cx="779145" cy="790575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9527540" y="200850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856298" y="657860"/>
            <a:ext cx="10479405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Compromiso colectivo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866775" y="3543935"/>
            <a:ext cx="2853055" cy="27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Reducir el desempleo estructural y mejorar la calidad del empleo requiere un pacto entre gobierno, empresas y sindicatos.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866775" y="283019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Pacto social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4655820" y="3961765"/>
            <a:ext cx="2853055" cy="27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Invertir en formación y aceptar flexibilidad productiva son fundamentales para adaptarse a los cambios económicos.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4655820" y="324802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Inversión en formación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444865" y="3523615"/>
            <a:ext cx="2853055" cy="2718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Distribuir justamente las ganancias de productividad entre salarios y beneficios empresariales es esencial para la equidad.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8444865" y="280987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Distribución justa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2459</TotalTime>
  <Words>3413</Words>
  <Application>Microsoft Office PowerPoint</Application>
  <PresentationFormat>Panorámica</PresentationFormat>
  <Paragraphs>476</Paragraphs>
  <Slides>61</Slides>
  <Notes>59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61</vt:i4>
      </vt:variant>
    </vt:vector>
  </HeadingPairs>
  <TitlesOfParts>
    <vt:vector size="65" baseType="lpstr">
      <vt:lpstr>Noto Sans SC</vt:lpstr>
      <vt:lpstr>MiSans</vt:lpstr>
      <vt:lpstr>Arial</vt:lpstr>
      <vt:lpstr>Custom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Políticas Sociolaborales: Claves del Mercado de Trabajo</dc:title>
  <dc:subject>Políticas Sociolaborales: Claves del Mercado de Trabajo</dc:subject>
  <dc:creator>Kimi</dc:creator>
  <cp:lastModifiedBy>Manuel Alejandro Hidalgo Perez</cp:lastModifiedBy>
  <cp:revision>9</cp:revision>
  <dcterms:created xsi:type="dcterms:W3CDTF">2025-09-08T15:16:04Z</dcterms:created>
  <dcterms:modified xsi:type="dcterms:W3CDTF">2025-09-22T16:41:33Z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{"Label":"Políticas Sociolaborales: Claves del Mercado de Trabajo","ContentProducer":"001191110108MACG2KBH8F10000","ProduceID":"d2vcvs6uvalt76lbc9f0","ReservedCode1":"","ContentPropagator":"001191110108MACG2KBH8F20000","PropagateID":"d2vcvs6uvalt76lbc9f0","ReservedCode2":""}</vt:lpwstr>
  </property>
</Properties>
</file>