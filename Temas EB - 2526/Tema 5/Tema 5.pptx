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9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95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12192000"/>
  <p:embeddedFontLst>
    <p:embeddedFont>
      <p:font typeface="MiSans" panose="020B0604020202020204" charset="-122"/>
      <p:regular r:id="rId43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4-d2r90she3tpg8rchuptg.png"/>
          <p:cNvPicPr>
            <a:picLocks noChangeAspect="1"/>
          </p:cNvPicPr>
          <p:nvPr/>
        </p:nvPicPr>
        <p:blipFill>
          <a:blip r:embed="rId3"/>
          <a:srcRect l="190" r="190"/>
          <a:stretch/>
        </p:blipFill>
        <p:spPr>
          <a:xfrm>
            <a:off x="0" y="12700"/>
            <a:ext cx="12186920" cy="68554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55771" y="2409044"/>
            <a:ext cx="10830560" cy="15696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TEMA 5.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Negociación Colectiva en España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10005" y="909955"/>
            <a:ext cx="9890125" cy="5229225"/>
          </a:xfrm>
          <a:prstGeom prst="roundRect">
            <a:avLst>
              <a:gd name="adj" fmla="val 1226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310005" y="909955"/>
            <a:ext cx="9890125" cy="52292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11250" y="747395"/>
            <a:ext cx="3517900" cy="5391785"/>
          </a:xfrm>
          <a:prstGeom prst="round2Diag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111250" y="747395"/>
            <a:ext cx="3517900" cy="539178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788660" y="1445895"/>
            <a:ext cx="0" cy="52197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5788660" y="2384425"/>
            <a:ext cx="0" cy="52197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5788660" y="3322955"/>
            <a:ext cx="0" cy="52197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788660" y="4261485"/>
            <a:ext cx="0" cy="52197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5788660" y="5200015"/>
            <a:ext cx="0" cy="52197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141413" y="3014980"/>
            <a:ext cx="3513455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15205" y="1384300"/>
            <a:ext cx="868680" cy="48756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74715" y="1445895"/>
            <a:ext cx="528002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Institucional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15205" y="2322830"/>
            <a:ext cx="868680" cy="48756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74715" y="2384425"/>
            <a:ext cx="528002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Negociadora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15205" y="3261360"/>
            <a:ext cx="868680" cy="48756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74715" y="3322955"/>
            <a:ext cx="528002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Salarial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5205" y="4199890"/>
            <a:ext cx="868680" cy="48756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74715" y="4261485"/>
            <a:ext cx="528002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 y Desempleo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15205" y="5138420"/>
            <a:ext cx="868680" cy="48756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74715" y="5200015"/>
            <a:ext cx="528002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Propuestas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7235" y="2696210"/>
            <a:ext cx="4088765" cy="12342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835" y="2849245"/>
            <a:ext cx="8738235" cy="68183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Marco Institucional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57120" y="1290955"/>
            <a:ext cx="3550920" cy="46786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357120" y="1290955"/>
            <a:ext cx="3550920" cy="467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94915" y="2877185"/>
            <a:ext cx="3367405" cy="1397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543800" y="1290955"/>
            <a:ext cx="3550920" cy="46786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543800" y="1290955"/>
            <a:ext cx="3550920" cy="467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1595" y="2877185"/>
            <a:ext cx="3367405" cy="1397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0" descr="https://kimi-img.moonshot.cn/pub/slides/slides_tmpl/image/25-09-02-14:36:35-d2r90spe3tpg8rchuq20.png"/>
          <p:cNvPicPr>
            <a:picLocks noChangeAspect="1"/>
          </p:cNvPicPr>
          <p:nvPr/>
        </p:nvPicPr>
        <p:blipFill>
          <a:blip r:embed="rId3"/>
          <a:srcRect l="55" r="55"/>
          <a:stretch/>
        </p:blipFill>
        <p:spPr>
          <a:xfrm>
            <a:off x="1205865" y="1290955"/>
            <a:ext cx="1150620" cy="4678680"/>
          </a:xfrm>
          <a:prstGeom prst="rect">
            <a:avLst/>
          </a:prstGeom>
        </p:spPr>
      </p:pic>
      <p:pic>
        <p:nvPicPr>
          <p:cNvPr id="13" name="Image 1" descr="https://kimi-img.moonshot.cn/pub/slides/slides_tmpl/image/25-09-02-14:36:35-d2r90spe3tpg8rchuq30.png"/>
          <p:cNvPicPr>
            <a:picLocks noChangeAspect="1"/>
          </p:cNvPicPr>
          <p:nvPr/>
        </p:nvPicPr>
        <p:blipFill>
          <a:blip r:embed="rId4"/>
          <a:srcRect l="55" r="55"/>
          <a:stretch/>
        </p:blipFill>
        <p:spPr>
          <a:xfrm>
            <a:off x="6393180" y="1290955"/>
            <a:ext cx="1150620" cy="467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24560" y="497840"/>
            <a:ext cx="10782935" cy="4329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Alta cobertura, baja afiliación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494915" y="1424940"/>
            <a:ext cx="325374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494915" y="2098040"/>
            <a:ext cx="325374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Alta cobertura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2494915" y="2873375"/>
            <a:ext cx="3258185" cy="2853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sistema español de negociación colectiva alcanza al 80% de los trabajadores, lo que es una cobertura muy alta en comparación con otros países europeos. Esto asegura que una gran mayoría de los trabajadores estén protegidos por convenios colectivos.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681595" y="1424940"/>
            <a:ext cx="3253740" cy="5625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681595" y="2098040"/>
            <a:ext cx="3253740" cy="3034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Baja afiliación sindical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681595" y="2873375"/>
            <a:ext cx="3258185" cy="2853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pesar de la alta cobertura, la afiliación sindical en España es baja, alrededor del 18%. Esta paradoja se debe a que los convenios se aplican universalmente, independientemente de la afiliación sindical de los trabajadores.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Gráfico&#10;&#10;Descripción generada automáticamente">
            <a:extLst>
              <a:ext uri="{FF2B5EF4-FFF2-40B4-BE49-F238E27FC236}">
                <a16:creationId xmlns:a16="http://schemas.microsoft.com/office/drawing/2014/main" id="{9F1CB5BB-674F-9C4B-06EA-F919A14D0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49375"/>
            <a:ext cx="5294716" cy="3759248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 descr="Gráfico, Gráfico de barras&#10;&#10;Descripción generada automáticamente">
            <a:extLst>
              <a:ext uri="{FF2B5EF4-FFF2-40B4-BE49-F238E27FC236}">
                <a16:creationId xmlns:a16="http://schemas.microsoft.com/office/drawing/2014/main" id="{215BA006-8EB9-D943-5296-4D2469A8F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503047"/>
            <a:ext cx="5294715" cy="38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6-d2r90t1e3tpg8rchuq8g.png"/>
          <p:cNvPicPr>
            <a:picLocks noChangeAspect="1"/>
          </p:cNvPicPr>
          <p:nvPr/>
        </p:nvPicPr>
        <p:blipFill>
          <a:blip r:embed="rId3"/>
          <a:srcRect l="23" r="23"/>
          <a:stretch/>
        </p:blipFill>
        <p:spPr>
          <a:xfrm>
            <a:off x="0" y="1396365"/>
            <a:ext cx="12192635" cy="19919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656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36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2196561" y="2473621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388111" y="2665171"/>
            <a:ext cx="1075939" cy="1075939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388111" y="2665171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6648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366481" y="2473621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58031" y="2665171"/>
            <a:ext cx="1075939" cy="1075939"/>
          </a:xfrm>
          <a:prstGeom prst="ellipse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558031" y="2665171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3640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36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8536401" y="2473621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27951" y="2665171"/>
            <a:ext cx="1075939" cy="1075939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727951" y="2665171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Legitimidad electoral sindical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52868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2552868" y="2907327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6045" y="40366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electoral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6045" y="43948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España, la legitimidad para negociar no depende de la afiliación sindical, sino de los resultados electorales sindicales. Esto es único en el contexto europeo y asegura que los sindicatos representativos tengan voz en la negociación.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722788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5722788" y="2907327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708525" y="40366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Requisitos de representatividad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708525" y="43948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sindicatos necesitan obtener al menos el 10% de los representantes a nivel nacional o el 15% a nivel regional para tener capacidad negociadora. Esto garantiza que solo los sindicatos con suficiente apoyo puedan participar en la negociación colectiva.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912650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8912650" y="2907327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29600" y="40366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Sistema único en Europa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229600" y="43948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Este sistema basado en la legitimidad electoral es único en Europa, diferenciándose de otros países donde la capacidad negociadora depende directamente de la afiliación sindical.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 rot="5400000">
            <a:off x="467360" y="562610"/>
            <a:ext cx="354339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 rot="5400000">
            <a:off x="467360" y="562610"/>
            <a:ext cx="354339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603644" y="689610"/>
            <a:ext cx="354339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 rot="5400000">
            <a:off x="603644" y="689610"/>
            <a:ext cx="354339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7983" y="497840"/>
            <a:ext cx="11571202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legal y niveles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20615" y="1456690"/>
            <a:ext cx="1520825" cy="1501775"/>
          </a:xfrm>
          <a:prstGeom prst="diamond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920615" y="1456690"/>
            <a:ext cx="1520825" cy="1501775"/>
          </a:xfrm>
          <a:prstGeom prst="rect">
            <a:avLst/>
          </a:prstGeom>
          <a:noFill/>
          <a:ln/>
        </p:spPr>
        <p:txBody>
          <a:bodyPr wrap="square" lIns="45466" tIns="91059" rIns="91059" bIns="45466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21350" y="2332990"/>
            <a:ext cx="1520825" cy="1501775"/>
          </a:xfrm>
          <a:prstGeom prst="diamond">
            <a:avLst/>
          </a:prstGeom>
          <a:solidFill>
            <a:srgbClr val="7D7F8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721350" y="2332990"/>
            <a:ext cx="1520825" cy="1501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11725" y="3209290"/>
            <a:ext cx="1520825" cy="1501775"/>
          </a:xfrm>
          <a:prstGeom prst="diamond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911725" y="3209290"/>
            <a:ext cx="1520825" cy="1501775"/>
          </a:xfrm>
          <a:prstGeom prst="rect">
            <a:avLst/>
          </a:prstGeom>
          <a:noFill/>
          <a:ln/>
        </p:spPr>
        <p:txBody>
          <a:bodyPr wrap="square" lIns="45466" tIns="91059" rIns="91059" bIns="45466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21350" y="4085590"/>
            <a:ext cx="1520825" cy="1500505"/>
          </a:xfrm>
          <a:prstGeom prst="diamond">
            <a:avLst/>
          </a:prstGeom>
          <a:solidFill>
            <a:srgbClr val="7D7F8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721350" y="4085590"/>
            <a:ext cx="1520825" cy="1500505"/>
          </a:xfrm>
          <a:prstGeom prst="rect">
            <a:avLst/>
          </a:prstGeom>
          <a:noFill/>
          <a:ln/>
        </p:spPr>
        <p:txBody>
          <a:bodyPr wrap="square" lIns="45466" tIns="91059" rIns="91059" bIns="45466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270500" y="1877695"/>
            <a:ext cx="819785" cy="58356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270500" y="1877695"/>
            <a:ext cx="819785" cy="5835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3420" y="1343660"/>
            <a:ext cx="4315460" cy="33718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Fuerza vinculante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3420" y="1673860"/>
            <a:ext cx="4315460" cy="13830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convenios colectivos en España tienen fuerza vinculante, lo que significa que son de obligado cumplimiento para todas las partes involucradas. Esto asegura que los acuerdos negociados se respeten y se apliquen.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72505" y="2750820"/>
            <a:ext cx="819785" cy="58356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6072505" y="2750820"/>
            <a:ext cx="819785" cy="5835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11720" y="2322195"/>
            <a:ext cx="4315460" cy="33718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Ultraactividad indefinida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11720" y="2667635"/>
            <a:ext cx="4315460" cy="13830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Hasta la reforma de 2012 y su reintroducción en 2022, los convenios tenían ultraactividad indefinida, lo que significaba que seguían vigentes hasta la firma de uno nuevo. Esto ha sido modificado para limitar la prórroga automática a un año.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52720" y="3630295"/>
            <a:ext cx="819785" cy="58356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5252720" y="3630295"/>
            <a:ext cx="819785" cy="5835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3420" y="3706495"/>
            <a:ext cx="4315460" cy="33718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compleja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3420" y="4036695"/>
            <a:ext cx="4315460" cy="13830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estructura de la negociación colectiva en España es compleja, con múltiples niveles de negociación: empresa, sector provincial, autonómico y nacional. Cada nivel tiene su propia dinámica y alcance.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51550" y="4549775"/>
            <a:ext cx="819785" cy="58356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051550" y="4549775"/>
            <a:ext cx="819785" cy="5835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11720" y="4574540"/>
            <a:ext cx="4315460" cy="33718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Predominio sectorial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84415" y="4904740"/>
            <a:ext cx="4315460" cy="13830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nivel sectorial-provincial es el predominante, afectando a más del 50% de los trabajadores cubiertos. Esto se debe a la presencia de pequeñas y medianas empresas que encuentran en este nivel una forma eficiente de negociar.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3-d2r90s9e3tpg8rchupsg.png"/>
          <p:cNvPicPr>
            <a:picLocks noChangeAspect="1"/>
          </p:cNvPicPr>
          <p:nvPr/>
        </p:nvPicPr>
        <p:blipFill>
          <a:blip r:embed="rId3"/>
          <a:srcRect l="26" r="26"/>
          <a:stretch/>
        </p:blipFill>
        <p:spPr>
          <a:xfrm>
            <a:off x="0" y="3683635"/>
            <a:ext cx="12192000" cy="3174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5400000">
            <a:off x="479425" y="562610"/>
            <a:ext cx="329846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 rot="5400000">
            <a:off x="479425" y="562610"/>
            <a:ext cx="329846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606289" y="689610"/>
            <a:ext cx="329846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5400000">
            <a:off x="606289" y="689610"/>
            <a:ext cx="329846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36134" y="497840"/>
            <a:ext cx="10771361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sur europeo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9425" y="1635125"/>
            <a:ext cx="1046035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Similitudes con Francia e Italia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0060" y="2194560"/>
            <a:ext cx="11226800" cy="12528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España comparte características con otros países del sur de Europa, como Francia e Italia, en términos de alta cobertura, rol importante de los sindicatos y estructura sectorial predominante. Esto contrasta con los modelos más flexibles del norte de Europa.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6-d2r90t1e3tpg8rchuq7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60" y="1297305"/>
            <a:ext cx="3463925" cy="46018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81450" y="5556885"/>
            <a:ext cx="668020" cy="727075"/>
          </a:xfrm>
          <a:prstGeom prst="roundRect">
            <a:avLst>
              <a:gd name="adj" fmla="val 10513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871720" y="3066415"/>
            <a:ext cx="3194685" cy="29216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871720" y="3066415"/>
            <a:ext cx="3194685" cy="29216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93100" y="3091815"/>
            <a:ext cx="3157220" cy="29102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93100" y="3091815"/>
            <a:ext cx="3157220" cy="29102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6200000">
            <a:off x="7311390" y="-730250"/>
            <a:ext cx="199390" cy="51669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66666"/>
              </a:gs>
              <a:gs pos="28000">
                <a:srgbClr val="666666"/>
              </a:gs>
              <a:gs pos="100000">
                <a:srgbClr val="808080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16200000">
            <a:off x="7311390" y="-730250"/>
            <a:ext cx="199390" cy="5166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32000" y="1793240"/>
            <a:ext cx="40640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Evolución reformas laborales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02505" y="1275715"/>
            <a:ext cx="663511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808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 de 1994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02505" y="1991995"/>
            <a:ext cx="6647815" cy="1209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reforma laboral de 1994 buscó introducir mayor flexibilidad en el sistema de negociación colectiva, aunque los resultados fueron limitados en términos de descentralización efectiva.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48250" y="32365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 de 2012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48250" y="36455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reforma de 2012 fue más profunda, estableciendo la prioridad del convenio de empresa en materias clave como salarios y tiempo de trabajo. También limitó la ultraactividad a un año.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37550" y="32365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 de 2022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18195" y="3771900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reforma de 2022 recuperó la ultraactividad indefinida de los convenios, lo que ha sido un punto de debate sobre la flexibilidad y estabilidad del sistema.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7235" y="2696210"/>
            <a:ext cx="4088765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835" y="2849245"/>
            <a:ext cx="8738235" cy="768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Negociadora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5-d2r90spe3tpg8rchupvg.png"/>
          <p:cNvPicPr>
            <a:picLocks noChangeAspect="1"/>
          </p:cNvPicPr>
          <p:nvPr/>
        </p:nvPicPr>
        <p:blipFill>
          <a:blip r:embed="rId3"/>
          <a:srcRect t="137" b="137"/>
          <a:stretch/>
        </p:blipFill>
        <p:spPr>
          <a:xfrm>
            <a:off x="0" y="4779010"/>
            <a:ext cx="12207875" cy="207899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28395" y="1508760"/>
            <a:ext cx="9935845" cy="4114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128395" y="1508760"/>
            <a:ext cx="9935845" cy="4114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88317" y="3566160"/>
            <a:ext cx="9216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Predominio sectorial-provincial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48435" y="1863725"/>
            <a:ext cx="927227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 del sectorial-provincial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48435" y="2273300"/>
            <a:ext cx="929513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Aproximadamente el 50% de los trabajadores cubiertos por convenios colectivos están bajo negociación sectorial-provincial. Este nivel es crucial para reducir costes de transacción en la negociación colectiva, especialmente para pymes.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48435" y="3773805"/>
            <a:ext cx="927227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Ventajas para pymes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48435" y="4183380"/>
            <a:ext cx="929513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pequeñas y medianas empresas encuentran en la negociación sectorial-provincial una forma eficiente de reducir los costes asociados a la negociación colectiva, lo que les permite aplicar acuerdos más amplios.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99785"/>
            <a:ext cx="12190095" cy="95821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5899785"/>
            <a:ext cx="12190095" cy="9582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56175" y="2925445"/>
            <a:ext cx="6500495" cy="1539875"/>
          </a:xfrm>
          <a:prstGeom prst="roundRect">
            <a:avLst>
              <a:gd name="adj" fmla="val 11000"/>
            </a:avLst>
          </a:prstGeom>
          <a:solidFill>
            <a:srgbClr val="079F92"/>
          </a:solidFill>
          <a:ln w="19050">
            <a:solidFill>
              <a:srgbClr val="A0D1FA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1E69D5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956175" y="2925445"/>
            <a:ext cx="6500495" cy="15398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56175" y="1461770"/>
            <a:ext cx="6500495" cy="1339215"/>
          </a:xfrm>
          <a:prstGeom prst="roundRect">
            <a:avLst>
              <a:gd name="adj" fmla="val 8155"/>
            </a:avLst>
          </a:prstGeom>
          <a:solidFill>
            <a:srgbClr val="FFFFFF"/>
          </a:solidFill>
          <a:ln w="19050">
            <a:solidFill>
              <a:srgbClr val="A0D1FA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1E69D5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956175" y="1461770"/>
            <a:ext cx="6500495" cy="13392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5965" y="1255395"/>
            <a:ext cx="10720070" cy="1545590"/>
          </a:xfrm>
          <a:prstGeom prst="roundRect">
            <a:avLst>
              <a:gd name="adj" fmla="val 8155"/>
            </a:avLst>
          </a:prstGeom>
          <a:solidFill>
            <a:srgbClr val="FFFFFF"/>
          </a:solidFill>
          <a:ln w="19050">
            <a:solidFill>
              <a:srgbClr val="CCCCCC">
                <a:alpha val="67059"/>
              </a:srgbClr>
            </a:solidFill>
            <a:prstDash val="solid"/>
          </a:ln>
          <a:effectLst>
            <a:outerShdw blurRad="254000" dist="134704" dir="27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5965" y="1255395"/>
            <a:ext cx="10720070" cy="1545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5965" y="2931160"/>
            <a:ext cx="10720705" cy="1545590"/>
          </a:xfrm>
          <a:prstGeom prst="roundRect">
            <a:avLst>
              <a:gd name="adj" fmla="val 11000"/>
            </a:avLst>
          </a:prstGeom>
          <a:solidFill>
            <a:srgbClr val="000000"/>
          </a:solidFill>
          <a:ln w="19050">
            <a:solidFill>
              <a:srgbClr val="CCCCCC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5965" y="2931160"/>
            <a:ext cx="10720705" cy="1545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600" y="4594860"/>
            <a:ext cx="10720070" cy="1590675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19050">
            <a:solidFill>
              <a:srgbClr val="CCCCCC">
                <a:alpha val="67059"/>
              </a:srgbClr>
            </a:solidFill>
            <a:prstDash val="solid"/>
          </a:ln>
          <a:effectLst>
            <a:outerShdw blurRad="254000" dist="134704" dir="27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36600" y="4594860"/>
            <a:ext cx="10720070" cy="15906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Negociación empresa limitada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9005" y="1496695"/>
            <a:ext cx="102492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Baja participación de empresas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9005" y="1983740"/>
            <a:ext cx="10249200" cy="65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Solo entre el 10-15% de los trabajadores cubiertos tienen convenios de empresa, una proporción que ha disminuido en años recientes. Esto limita la capacidad de adaptación a nivel de empresa.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9005" y="3118485"/>
            <a:ext cx="102492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Concentración en grandes empresas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005" y="3617595"/>
            <a:ext cx="10249200" cy="65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convenios de empresa se concentran en grandes empresas con una media de 300 trabajadores, mientras que las pymes rara vez tienen convenios propios debido a los costes fijos y la necesidad de representación sindical.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9005" y="4831080"/>
            <a:ext cx="102492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Efectos en la flexibilidad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9005" y="5386705"/>
            <a:ext cx="10249200" cy="65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limitada negociación a nivel de empresa afecta la capacidad de adaptación de las condiciones laborales a las circunstancias específicas de cada empresa, lo que puede ser un obstáculo en contextos económicos cambiantes.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6265" y="1584960"/>
            <a:ext cx="155575" cy="156210"/>
          </a:xfrm>
          <a:prstGeom prst="donu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96265" y="1584960"/>
            <a:ext cx="155575" cy="15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flipH="1">
            <a:off x="667385" y="1741170"/>
            <a:ext cx="6985" cy="3298825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FFFFFF"/>
                </a:gs>
              </a:gsLst>
              <a:lin ang="16200000" scaled="1"/>
            </a:gra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403600" y="1842135"/>
            <a:ext cx="155575" cy="156210"/>
          </a:xfrm>
          <a:prstGeom prst="donu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403600" y="1842135"/>
            <a:ext cx="155575" cy="15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 flipH="1">
            <a:off x="3474720" y="1998345"/>
            <a:ext cx="6985" cy="3298825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FFFFFF"/>
                </a:gs>
              </a:gsLst>
              <a:lin ang="16200000" scaled="1"/>
            </a:gra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210935" y="1889760"/>
            <a:ext cx="155575" cy="156210"/>
          </a:xfrm>
          <a:prstGeom prst="donu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210935" y="1889760"/>
            <a:ext cx="155575" cy="15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flipH="1">
            <a:off x="6282055" y="2045970"/>
            <a:ext cx="6985" cy="3298825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FFFFFF"/>
                </a:gs>
              </a:gsLst>
              <a:lin ang="16200000" scaled="1"/>
            </a:gra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9018270" y="1600835"/>
            <a:ext cx="155575" cy="156210"/>
          </a:xfrm>
          <a:prstGeom prst="donu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9018270" y="1600835"/>
            <a:ext cx="155575" cy="15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flipH="1">
            <a:off x="9089390" y="1757045"/>
            <a:ext cx="6985" cy="3298825"/>
          </a:xfrm>
          <a:prstGeom prst="line">
            <a:avLst/>
          </a:prstGeom>
          <a:noFill/>
          <a:ln w="1270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FFFFFF"/>
                </a:gs>
              </a:gsLst>
              <a:lin ang="16200000" scaled="1"/>
            </a:gra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0" descr="https://kimi-img.moonshot.cn/pub/slides/slides_tmpl/image/25-09-02-14:36:33-d2r90s9e3tpg8rchupsg.png"/>
          <p:cNvPicPr>
            <a:picLocks noChangeAspect="1"/>
          </p:cNvPicPr>
          <p:nvPr/>
        </p:nvPicPr>
        <p:blipFill>
          <a:blip r:embed="rId3"/>
          <a:srcRect l="26" r="26" b="42148"/>
          <a:stretch/>
        </p:blipFill>
        <p:spPr>
          <a:xfrm>
            <a:off x="0" y="5069205"/>
            <a:ext cx="12192000" cy="18364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por tamaño empresarial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0100" y="1492250"/>
            <a:ext cx="64706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26770" y="2084705"/>
            <a:ext cx="2329180" cy="52768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Grandes empresas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6770" y="2663190"/>
            <a:ext cx="2566670" cy="2795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grandes empresas, con una media de 300 trabajadores, son las que más frecuentemente negocian convenios propios. Esto les permite adaptar las condiciones laborales a sus necesidades específicas.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607435" y="1749425"/>
            <a:ext cx="64706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634105" y="2341880"/>
            <a:ext cx="2329180" cy="52768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Pymes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634105" y="2920365"/>
            <a:ext cx="2566670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pymes, con una media de 15 trabajadores, se ven afectadas principalmente por convenios sectoriales provinciales, lo que les reduce los costes de negociación.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414770" y="1797050"/>
            <a:ext cx="64706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41440" y="2389505"/>
            <a:ext cx="2329180" cy="52768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Empresas medianas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41440" y="2967990"/>
            <a:ext cx="2566670" cy="2795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empresas medianas, con una media de 185 trabajadores, suelen estar cubiertas por convenios sectoriales nacionales, lo que les ofrece un equilibrio entre cobertura y adaptación.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222105" y="1508125"/>
            <a:ext cx="64706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248775" y="2100580"/>
            <a:ext cx="2329180" cy="52768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estructura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248775" y="2679065"/>
            <a:ext cx="2566670" cy="2338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 distribución por tamaño empresarial influye en la estructura de la negociación colectiva, afectando la capacidad de adaptación y flexibilidad del sistema en su conjunto.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" y="4201795"/>
            <a:ext cx="12207240" cy="201104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540" y="4201795"/>
            <a:ext cx="12207240" cy="2011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1336675"/>
            <a:ext cx="4510405" cy="2757805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1336675"/>
            <a:ext cx="4510405" cy="27578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0" descr="https://kimi-img.moonshot.cn/pub/slides/slides_tmpl/image/25-09-02-14:36:34-d2r90she3tpg8rchupu0.png"/>
          <p:cNvPicPr>
            <a:picLocks noChangeAspect="1"/>
          </p:cNvPicPr>
          <p:nvPr/>
        </p:nvPicPr>
        <p:blipFill>
          <a:blip r:embed="rId3"/>
          <a:srcRect t="57" b="57"/>
          <a:stretch/>
        </p:blipFill>
        <p:spPr>
          <a:xfrm>
            <a:off x="5470525" y="1336675"/>
            <a:ext cx="5805805" cy="276415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Coordinación entre niveles débil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1188" y="1680845"/>
            <a:ext cx="41832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Problemas de coordinación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7445" y="2179320"/>
            <a:ext cx="4184015" cy="14890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diferencia de Alemania o países nórdicos, España presenta una coordinación deficiente entre niveles de negociación. Esto limita la capacidad de adaptación de las condiciones laborales a nivel de empresa.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95045" y="4332605"/>
            <a:ext cx="1054925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Jerarquía normativa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95045" y="4815840"/>
            <a:ext cx="10386060" cy="11703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relación entre niveles se basa en la jerarquía normativa y la norma más favorable al trabajador, lo que puede dificultar la implementación de acuerdos específicos en empresas individuales.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71545" y="1610995"/>
            <a:ext cx="7499350" cy="4164330"/>
          </a:xfrm>
          <a:prstGeom prst="roundRect">
            <a:avLst>
              <a:gd name="adj" fmla="val 50000"/>
            </a:avLst>
          </a:prstGeom>
          <a:solidFill>
            <a:srgbClr val="000000">
              <a:alpha val="23137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3471545" y="1610995"/>
            <a:ext cx="7499350" cy="4164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2-14:36:36-d2r90t1e3tpg8rchuq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3540" y="1755140"/>
            <a:ext cx="4224655" cy="37915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3773170" y="1443355"/>
            <a:ext cx="8102600" cy="449961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000000"/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-3773170" y="1443355"/>
            <a:ext cx="8102600" cy="44996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08605" y="1239520"/>
            <a:ext cx="652145" cy="66357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808605" y="123952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10025" y="3220720"/>
            <a:ext cx="652145" cy="66357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4010025" y="322072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61030" y="5215890"/>
            <a:ext cx="652145" cy="66357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3161030" y="521589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Heterogeneidad sectorial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846705" y="1313815"/>
            <a:ext cx="59182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10685" y="1246505"/>
            <a:ext cx="683895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Sector energía y transporte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10685" y="1601470"/>
            <a:ext cx="683895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sectores como la energía y el transporte, los convenios de empresa son más frecuentes, lo que permite una mayor adaptación y flexibilidad en las condiciones laborales.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027170" y="3285490"/>
            <a:ext cx="64262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59020" y="3302000"/>
            <a:ext cx="683895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Sector construcción, comercio y hostelería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59020" y="3656965"/>
            <a:ext cx="683895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sectores como la construcción, el comercio y la hostelería, predominan los convenios sectoriales-provinciales, lo que limita la capacidad de adaptación a nivel de empresa.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167380" y="5291455"/>
            <a:ext cx="6673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027170" y="5089525"/>
            <a:ext cx="683895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negociación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027170" y="5445125"/>
            <a:ext cx="6839585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 heterogeneidad sectorial refleja diferentes tradiciones negociadoras y características productivas, afectando la capacidad de adaptación y flexibilidad en cada sector.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7235" y="2696210"/>
            <a:ext cx="4088765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835" y="2849245"/>
            <a:ext cx="8738235" cy="768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Salarial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367916" y="1062304"/>
            <a:ext cx="1357317" cy="1357318"/>
          </a:xfrm>
          <a:custGeom>
            <a:avLst/>
            <a:gdLst/>
            <a:ahLst/>
            <a:cxnLst/>
            <a:rect l="l" t="t" r="r" b="b"/>
            <a:pathLst>
              <a:path w="1357317" h="1357318">
                <a:moveTo>
                  <a:pt x="497288" y="1333638"/>
                </a:moveTo>
                <a:cubicBezTo>
                  <a:pt x="497288" y="1333638"/>
                  <a:pt x="497288" y="1333638"/>
                  <a:pt x="860028" y="1333638"/>
                </a:cubicBezTo>
                <a:cubicBezTo>
                  <a:pt x="802893" y="1349425"/>
                  <a:pt x="741772" y="1357318"/>
                  <a:pt x="677994" y="1357318"/>
                </a:cubicBezTo>
                <a:cubicBezTo>
                  <a:pt x="615544" y="1357318"/>
                  <a:pt x="554422" y="1349425"/>
                  <a:pt x="497288" y="1333638"/>
                </a:cubicBezTo>
                <a:close/>
                <a:moveTo>
                  <a:pt x="337983" y="1265826"/>
                </a:moveTo>
                <a:lnTo>
                  <a:pt x="1018256" y="1265826"/>
                </a:lnTo>
                <a:cubicBezTo>
                  <a:pt x="990409" y="1281569"/>
                  <a:pt x="962561" y="1295998"/>
                  <a:pt x="932062" y="1307805"/>
                </a:cubicBezTo>
                <a:cubicBezTo>
                  <a:pt x="932062" y="1307805"/>
                  <a:pt x="932062" y="1307805"/>
                  <a:pt x="422852" y="1307805"/>
                </a:cubicBezTo>
                <a:cubicBezTo>
                  <a:pt x="393678" y="1295998"/>
                  <a:pt x="364505" y="1281569"/>
                  <a:pt x="337983" y="1265826"/>
                </a:cubicBezTo>
                <a:close/>
                <a:moveTo>
                  <a:pt x="242186" y="1199090"/>
                </a:moveTo>
                <a:lnTo>
                  <a:pt x="1114055" y="1199090"/>
                </a:lnTo>
                <a:cubicBezTo>
                  <a:pt x="1095476" y="1213604"/>
                  <a:pt x="1076898" y="1226799"/>
                  <a:pt x="1058319" y="1239993"/>
                </a:cubicBezTo>
                <a:cubicBezTo>
                  <a:pt x="1058319" y="1239993"/>
                  <a:pt x="1058319" y="1239993"/>
                  <a:pt x="297921" y="1239993"/>
                </a:cubicBezTo>
                <a:cubicBezTo>
                  <a:pt x="278016" y="1226799"/>
                  <a:pt x="259437" y="1213604"/>
                  <a:pt x="242186" y="1199090"/>
                </a:cubicBezTo>
                <a:close/>
                <a:moveTo>
                  <a:pt x="173297" y="1131278"/>
                </a:moveTo>
                <a:lnTo>
                  <a:pt x="1182943" y="1131278"/>
                </a:lnTo>
                <a:cubicBezTo>
                  <a:pt x="1169676" y="1146078"/>
                  <a:pt x="1156408" y="1160878"/>
                  <a:pt x="1141814" y="1174333"/>
                </a:cubicBezTo>
                <a:cubicBezTo>
                  <a:pt x="1141814" y="1174333"/>
                  <a:pt x="1141814" y="1174333"/>
                  <a:pt x="214426" y="1174333"/>
                </a:cubicBezTo>
                <a:cubicBezTo>
                  <a:pt x="199832" y="1160878"/>
                  <a:pt x="185238" y="1146078"/>
                  <a:pt x="173297" y="1131278"/>
                </a:cubicBezTo>
                <a:close/>
                <a:moveTo>
                  <a:pt x="120554" y="1065619"/>
                </a:moveTo>
                <a:lnTo>
                  <a:pt x="1236762" y="1065619"/>
                </a:lnTo>
                <a:cubicBezTo>
                  <a:pt x="1226144" y="1080132"/>
                  <a:pt x="1216853" y="1093327"/>
                  <a:pt x="1204908" y="1106521"/>
                </a:cubicBezTo>
                <a:cubicBezTo>
                  <a:pt x="1204908" y="1106521"/>
                  <a:pt x="1204908" y="1106521"/>
                  <a:pt x="151081" y="1106521"/>
                </a:cubicBezTo>
                <a:cubicBezTo>
                  <a:pt x="140463" y="1093327"/>
                  <a:pt x="129845" y="1080132"/>
                  <a:pt x="120554" y="1065619"/>
                </a:cubicBezTo>
                <a:close/>
                <a:moveTo>
                  <a:pt x="79652" y="997806"/>
                </a:moveTo>
                <a:lnTo>
                  <a:pt x="1277664" y="997806"/>
                </a:lnTo>
                <a:cubicBezTo>
                  <a:pt x="1269704" y="1012236"/>
                  <a:pt x="1261744" y="1026667"/>
                  <a:pt x="1252457" y="1039786"/>
                </a:cubicBezTo>
                <a:cubicBezTo>
                  <a:pt x="1252457" y="1039786"/>
                  <a:pt x="1252457" y="1039786"/>
                  <a:pt x="103532" y="1039786"/>
                </a:cubicBezTo>
                <a:cubicBezTo>
                  <a:pt x="95572" y="1026667"/>
                  <a:pt x="87612" y="1012236"/>
                  <a:pt x="79652" y="997806"/>
                </a:cubicBezTo>
                <a:close/>
                <a:moveTo>
                  <a:pt x="47360" y="931071"/>
                </a:moveTo>
                <a:lnTo>
                  <a:pt x="1307803" y="931071"/>
                </a:lnTo>
                <a:cubicBezTo>
                  <a:pt x="1302496" y="944265"/>
                  <a:pt x="1295862" y="958779"/>
                  <a:pt x="1289228" y="971973"/>
                </a:cubicBezTo>
                <a:cubicBezTo>
                  <a:pt x="1289228" y="971973"/>
                  <a:pt x="1289228" y="971973"/>
                  <a:pt x="65935" y="971973"/>
                </a:cubicBezTo>
                <a:cubicBezTo>
                  <a:pt x="59301" y="958779"/>
                  <a:pt x="53994" y="944265"/>
                  <a:pt x="47360" y="931071"/>
                </a:cubicBezTo>
                <a:close/>
                <a:moveTo>
                  <a:pt x="24756" y="863259"/>
                </a:moveTo>
                <a:lnTo>
                  <a:pt x="1331484" y="863259"/>
                </a:lnTo>
                <a:cubicBezTo>
                  <a:pt x="1327504" y="878059"/>
                  <a:pt x="1322197" y="892859"/>
                  <a:pt x="1316891" y="906314"/>
                </a:cubicBezTo>
                <a:cubicBezTo>
                  <a:pt x="1316891" y="906314"/>
                  <a:pt x="1316891" y="906314"/>
                  <a:pt x="38023" y="906314"/>
                </a:cubicBezTo>
                <a:cubicBezTo>
                  <a:pt x="32716" y="892859"/>
                  <a:pt x="28737" y="878059"/>
                  <a:pt x="24756" y="863259"/>
                </a:cubicBezTo>
                <a:close/>
                <a:moveTo>
                  <a:pt x="8610" y="797599"/>
                </a:moveTo>
                <a:lnTo>
                  <a:pt x="1346553" y="797599"/>
                </a:lnTo>
                <a:cubicBezTo>
                  <a:pt x="1343898" y="810793"/>
                  <a:pt x="1341243" y="825307"/>
                  <a:pt x="1338588" y="838502"/>
                </a:cubicBezTo>
                <a:cubicBezTo>
                  <a:pt x="1338588" y="838502"/>
                  <a:pt x="1338588" y="838502"/>
                  <a:pt x="17901" y="838502"/>
                </a:cubicBezTo>
                <a:cubicBezTo>
                  <a:pt x="15247" y="825307"/>
                  <a:pt x="11265" y="810793"/>
                  <a:pt x="8610" y="797599"/>
                </a:cubicBezTo>
                <a:close/>
                <a:moveTo>
                  <a:pt x="1076" y="729788"/>
                </a:moveTo>
                <a:lnTo>
                  <a:pt x="1356240" y="729788"/>
                </a:lnTo>
                <a:cubicBezTo>
                  <a:pt x="1354913" y="744218"/>
                  <a:pt x="1353586" y="758648"/>
                  <a:pt x="1350931" y="771767"/>
                </a:cubicBezTo>
                <a:cubicBezTo>
                  <a:pt x="1350931" y="771767"/>
                  <a:pt x="1350931" y="771767"/>
                  <a:pt x="6385" y="771767"/>
                </a:cubicBezTo>
                <a:cubicBezTo>
                  <a:pt x="3731" y="758648"/>
                  <a:pt x="2404" y="744218"/>
                  <a:pt x="1076" y="729788"/>
                </a:cubicBezTo>
                <a:close/>
                <a:moveTo>
                  <a:pt x="0" y="663052"/>
                </a:moveTo>
                <a:cubicBezTo>
                  <a:pt x="0" y="663052"/>
                  <a:pt x="0" y="663052"/>
                  <a:pt x="1357317" y="663052"/>
                </a:cubicBezTo>
                <a:cubicBezTo>
                  <a:pt x="1357317" y="668434"/>
                  <a:pt x="1357317" y="672470"/>
                  <a:pt x="1357317" y="677852"/>
                </a:cubicBezTo>
                <a:cubicBezTo>
                  <a:pt x="1357317" y="687271"/>
                  <a:pt x="1357317" y="696689"/>
                  <a:pt x="1357317" y="706107"/>
                </a:cubicBezTo>
                <a:cubicBezTo>
                  <a:pt x="1357317" y="706107"/>
                  <a:pt x="1357317" y="706107"/>
                  <a:pt x="0" y="706107"/>
                </a:cubicBezTo>
                <a:cubicBezTo>
                  <a:pt x="0" y="696689"/>
                  <a:pt x="0" y="687271"/>
                  <a:pt x="0" y="677852"/>
                </a:cubicBezTo>
                <a:cubicBezTo>
                  <a:pt x="0" y="672470"/>
                  <a:pt x="0" y="668434"/>
                  <a:pt x="0" y="663052"/>
                </a:cubicBezTo>
                <a:close/>
                <a:moveTo>
                  <a:pt x="3731" y="595240"/>
                </a:moveTo>
                <a:lnTo>
                  <a:pt x="1352258" y="595240"/>
                </a:lnTo>
                <a:cubicBezTo>
                  <a:pt x="1354913" y="610040"/>
                  <a:pt x="1354913" y="623495"/>
                  <a:pt x="1356240" y="638295"/>
                </a:cubicBezTo>
                <a:cubicBezTo>
                  <a:pt x="1356240" y="638295"/>
                  <a:pt x="1356240" y="638295"/>
                  <a:pt x="1076" y="638295"/>
                </a:cubicBezTo>
                <a:cubicBezTo>
                  <a:pt x="1076" y="623495"/>
                  <a:pt x="2404" y="610040"/>
                  <a:pt x="3731" y="595240"/>
                </a:cubicBezTo>
                <a:close/>
                <a:moveTo>
                  <a:pt x="15494" y="529581"/>
                </a:moveTo>
                <a:lnTo>
                  <a:pt x="1340746" y="529581"/>
                </a:lnTo>
                <a:cubicBezTo>
                  <a:pt x="1343400" y="542699"/>
                  <a:pt x="1346053" y="557129"/>
                  <a:pt x="1348706" y="571560"/>
                </a:cubicBezTo>
                <a:cubicBezTo>
                  <a:pt x="1348706" y="571560"/>
                  <a:pt x="1348706" y="571560"/>
                  <a:pt x="7534" y="571560"/>
                </a:cubicBezTo>
                <a:cubicBezTo>
                  <a:pt x="10187" y="557129"/>
                  <a:pt x="12841" y="542699"/>
                  <a:pt x="15494" y="529581"/>
                </a:cubicBezTo>
                <a:close/>
                <a:moveTo>
                  <a:pt x="34544" y="461768"/>
                </a:moveTo>
                <a:lnTo>
                  <a:pt x="1322772" y="461768"/>
                </a:lnTo>
                <a:cubicBezTo>
                  <a:pt x="1326753" y="476198"/>
                  <a:pt x="1330733" y="489317"/>
                  <a:pt x="1334713" y="503747"/>
                </a:cubicBezTo>
                <a:cubicBezTo>
                  <a:pt x="1334713" y="503747"/>
                  <a:pt x="1334713" y="503747"/>
                  <a:pt x="22604" y="503747"/>
                </a:cubicBezTo>
                <a:cubicBezTo>
                  <a:pt x="25257" y="489317"/>
                  <a:pt x="30564" y="476198"/>
                  <a:pt x="34544" y="461768"/>
                </a:cubicBezTo>
                <a:close/>
                <a:moveTo>
                  <a:pt x="60308" y="395033"/>
                </a:moveTo>
                <a:lnTo>
                  <a:pt x="1294604" y="395033"/>
                </a:lnTo>
                <a:cubicBezTo>
                  <a:pt x="1301240" y="408487"/>
                  <a:pt x="1307876" y="423288"/>
                  <a:pt x="1313185" y="438088"/>
                </a:cubicBezTo>
                <a:cubicBezTo>
                  <a:pt x="1313185" y="438088"/>
                  <a:pt x="1313185" y="438088"/>
                  <a:pt x="43055" y="438088"/>
                </a:cubicBezTo>
                <a:cubicBezTo>
                  <a:pt x="48364" y="423288"/>
                  <a:pt x="53672" y="408487"/>
                  <a:pt x="60308" y="395033"/>
                </a:cubicBezTo>
                <a:close/>
                <a:moveTo>
                  <a:pt x="97072" y="327221"/>
                </a:moveTo>
                <a:lnTo>
                  <a:pt x="1260494" y="327221"/>
                </a:lnTo>
                <a:cubicBezTo>
                  <a:pt x="1268454" y="342021"/>
                  <a:pt x="1276413" y="355476"/>
                  <a:pt x="1283046" y="370276"/>
                </a:cubicBezTo>
                <a:cubicBezTo>
                  <a:pt x="1283046" y="370276"/>
                  <a:pt x="1283046" y="370276"/>
                  <a:pt x="73193" y="370276"/>
                </a:cubicBezTo>
                <a:cubicBezTo>
                  <a:pt x="81153" y="355476"/>
                  <a:pt x="89112" y="342021"/>
                  <a:pt x="97072" y="327221"/>
                </a:cubicBezTo>
                <a:close/>
                <a:moveTo>
                  <a:pt x="143523" y="261561"/>
                </a:moveTo>
                <a:lnTo>
                  <a:pt x="1213793" y="261561"/>
                </a:lnTo>
                <a:cubicBezTo>
                  <a:pt x="1224403" y="274680"/>
                  <a:pt x="1235013" y="289110"/>
                  <a:pt x="1244297" y="303540"/>
                </a:cubicBezTo>
                <a:cubicBezTo>
                  <a:pt x="1244297" y="303540"/>
                  <a:pt x="1244297" y="303540"/>
                  <a:pt x="113020" y="303540"/>
                </a:cubicBezTo>
                <a:cubicBezTo>
                  <a:pt x="122303" y="289110"/>
                  <a:pt x="132913" y="274680"/>
                  <a:pt x="143523" y="261561"/>
                </a:cubicBezTo>
                <a:close/>
                <a:moveTo>
                  <a:pt x="202347" y="194825"/>
                </a:moveTo>
                <a:cubicBezTo>
                  <a:pt x="202347" y="194825"/>
                  <a:pt x="202347" y="194825"/>
                  <a:pt x="1153893" y="194825"/>
                </a:cubicBezTo>
                <a:cubicBezTo>
                  <a:pt x="1167165" y="208019"/>
                  <a:pt x="1180436" y="221214"/>
                  <a:pt x="1193707" y="235728"/>
                </a:cubicBezTo>
                <a:cubicBezTo>
                  <a:pt x="1193707" y="235728"/>
                  <a:pt x="1193707" y="235728"/>
                  <a:pt x="162533" y="235728"/>
                </a:cubicBezTo>
                <a:cubicBezTo>
                  <a:pt x="174478" y="221214"/>
                  <a:pt x="187749" y="208019"/>
                  <a:pt x="202347" y="194825"/>
                </a:cubicBezTo>
                <a:close/>
                <a:moveTo>
                  <a:pt x="281045" y="127014"/>
                </a:moveTo>
                <a:lnTo>
                  <a:pt x="1074944" y="127014"/>
                </a:lnTo>
                <a:cubicBezTo>
                  <a:pt x="1093530" y="140469"/>
                  <a:pt x="1110789" y="155269"/>
                  <a:pt x="1128047" y="170069"/>
                </a:cubicBezTo>
                <a:cubicBezTo>
                  <a:pt x="1128047" y="170069"/>
                  <a:pt x="1128047" y="170069"/>
                  <a:pt x="229269" y="170069"/>
                </a:cubicBezTo>
                <a:cubicBezTo>
                  <a:pt x="245200" y="155269"/>
                  <a:pt x="263786" y="140469"/>
                  <a:pt x="281045" y="127014"/>
                </a:cubicBezTo>
                <a:close/>
                <a:moveTo>
                  <a:pt x="396878" y="61354"/>
                </a:moveTo>
                <a:lnTo>
                  <a:pt x="959362" y="61354"/>
                </a:lnTo>
                <a:cubicBezTo>
                  <a:pt x="987220" y="73229"/>
                  <a:pt x="1012426" y="86423"/>
                  <a:pt x="1037631" y="102257"/>
                </a:cubicBezTo>
                <a:cubicBezTo>
                  <a:pt x="1037631" y="102257"/>
                  <a:pt x="1037631" y="102257"/>
                  <a:pt x="318608" y="102257"/>
                </a:cubicBezTo>
                <a:cubicBezTo>
                  <a:pt x="343814" y="86423"/>
                  <a:pt x="370346" y="73229"/>
                  <a:pt x="396878" y="61354"/>
                </a:cubicBezTo>
                <a:close/>
                <a:moveTo>
                  <a:pt x="677581" y="0"/>
                </a:moveTo>
                <a:cubicBezTo>
                  <a:pt x="754578" y="0"/>
                  <a:pt x="827593" y="11841"/>
                  <a:pt x="896625" y="35521"/>
                </a:cubicBezTo>
                <a:cubicBezTo>
                  <a:pt x="896625" y="35521"/>
                  <a:pt x="896625" y="35521"/>
                  <a:pt x="458538" y="35521"/>
                </a:cubicBezTo>
                <a:cubicBezTo>
                  <a:pt x="527570" y="11841"/>
                  <a:pt x="601912" y="0"/>
                  <a:pt x="67758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34000"/>
                </a:srgbClr>
              </a:gs>
              <a:gs pos="76000">
                <a:srgbClr val="000000">
                  <a:alpha val="3000"/>
                </a:srgbClr>
              </a:gs>
              <a:gs pos="100000">
                <a:srgbClr val="000000">
                  <a:alpha val="3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 rot="1800000">
            <a:off x="367916" y="1062304"/>
            <a:ext cx="1357317" cy="13573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93715" y="0"/>
            <a:ext cx="6598285" cy="6853555"/>
          </a:xfrm>
          <a:custGeom>
            <a:avLst/>
            <a:gdLst/>
            <a:ahLst/>
            <a:cxnLst/>
            <a:rect l="l" t="t" r="r" b="b"/>
            <a:pathLst>
              <a:path w="6598285" h="6853555">
                <a:moveTo>
                  <a:pt x="1058425" y="0"/>
                </a:moveTo>
                <a:lnTo>
                  <a:pt x="6598285" y="0"/>
                </a:lnTo>
                <a:lnTo>
                  <a:pt x="6598285" y="6853555"/>
                </a:lnTo>
                <a:lnTo>
                  <a:pt x="1136835" y="6853555"/>
                </a:lnTo>
                <a:lnTo>
                  <a:pt x="1008283" y="6678901"/>
                </a:lnTo>
                <a:cubicBezTo>
                  <a:pt x="378388" y="5780658"/>
                  <a:pt x="0" y="4629089"/>
                  <a:pt x="0" y="3373514"/>
                </a:cubicBezTo>
                <a:cubicBezTo>
                  <a:pt x="0" y="2117938"/>
                  <a:pt x="378387" y="966368"/>
                  <a:pt x="1008281" y="68125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593715" y="0"/>
            <a:ext cx="6598285" cy="68535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2155" y="1543050"/>
            <a:ext cx="10728325" cy="4410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9D9D9"/>
            </a:solidFill>
            <a:prstDash val="solid"/>
          </a:ln>
          <a:effectLst>
            <a:outerShdw blurRad="266700" dist="76200" dir="2700000" algn="bl" rotWithShape="0">
              <a:srgbClr val="017ED5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2155" y="1543050"/>
            <a:ext cx="10728325" cy="4410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3305" y="4949190"/>
            <a:ext cx="631190" cy="626745"/>
          </a:xfrm>
          <a:prstGeom prst="ellipse">
            <a:avLst/>
          </a:prstGeom>
          <a:solidFill>
            <a:srgbClr val="017ED5">
              <a:alpha val="5098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043305" y="4949190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23897" y="5029214"/>
            <a:ext cx="470007" cy="466697"/>
          </a:xfrm>
          <a:prstGeom prst="ellipse">
            <a:avLst/>
          </a:prstGeom>
          <a:solidFill>
            <a:srgbClr val="000000">
              <a:alpha val="18039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123897" y="5029214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98996" y="5103784"/>
            <a:ext cx="319808" cy="317556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63500" dir="2700000" algn="bl" rotWithShape="0">
              <a:srgbClr val="017ED5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198996" y="5103784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H="1">
            <a:off x="1852930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852930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2050522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050522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H="1">
            <a:off x="2248114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248114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flipH="1">
            <a:off x="2445706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445706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H="1">
            <a:off x="2643298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643298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 flipH="1">
            <a:off x="2840890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840890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 flipH="1">
            <a:off x="3038482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038482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 flipH="1">
            <a:off x="3236071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236071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 flipH="1">
            <a:off x="5085080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085080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 flipH="1">
            <a:off x="5282672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282672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flipH="1">
            <a:off x="5480264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0264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flipH="1">
            <a:off x="5677856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677856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 flipH="1">
            <a:off x="5875448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875448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 flipH="1">
            <a:off x="6073040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073040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 flipH="1">
            <a:off x="6270632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6270632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 flipH="1">
            <a:off x="6468221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6468221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 flipH="1">
            <a:off x="8402320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8402320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 flipH="1">
            <a:off x="8599912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8599912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 flipH="1">
            <a:off x="8797504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8797504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 flipH="1">
            <a:off x="8995096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8995096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 flipH="1">
            <a:off x="9192688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9192688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 flipH="1">
            <a:off x="9390280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9390280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 flipH="1">
            <a:off x="9587872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9587872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 flipH="1">
            <a:off x="9785461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9785461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180840" y="4848225"/>
            <a:ext cx="631190" cy="626745"/>
          </a:xfrm>
          <a:prstGeom prst="ellipse">
            <a:avLst/>
          </a:prstGeom>
          <a:solidFill>
            <a:srgbClr val="017ED5">
              <a:alpha val="5098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180840" y="4848225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261432" y="4928249"/>
            <a:ext cx="470007" cy="466697"/>
          </a:xfrm>
          <a:prstGeom prst="ellipse">
            <a:avLst/>
          </a:prstGeom>
          <a:solidFill>
            <a:srgbClr val="000000">
              <a:alpha val="18039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4261432" y="4928249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336531" y="5002819"/>
            <a:ext cx="319808" cy="317556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63500" dir="2700000" algn="bl" rotWithShape="0">
              <a:srgbClr val="017ED5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4336531" y="5002819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498080" y="4838065"/>
            <a:ext cx="631190" cy="626745"/>
          </a:xfrm>
          <a:prstGeom prst="ellipse">
            <a:avLst/>
          </a:prstGeom>
          <a:solidFill>
            <a:srgbClr val="017ED5">
              <a:alpha val="5098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7498080" y="4838065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578672" y="4918089"/>
            <a:ext cx="470007" cy="466697"/>
          </a:xfrm>
          <a:prstGeom prst="ellipse">
            <a:avLst/>
          </a:prstGeom>
          <a:solidFill>
            <a:srgbClr val="000000">
              <a:alpha val="18039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7578672" y="4918089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653771" y="4992659"/>
            <a:ext cx="319808" cy="317556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63500" dir="2700000" algn="bl" rotWithShape="0">
              <a:srgbClr val="017ED5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7653771" y="4992659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8" name="Image 0" descr="https://kimi-img.moonshot.cn/pub/slides/slides_tmpl/image/25-09-02-14:36:35-d2r90spe3tpg8rchuq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85" y="2070735"/>
            <a:ext cx="18415" cy="2688590"/>
          </a:xfrm>
          <a:prstGeom prst="rect">
            <a:avLst/>
          </a:prstGeom>
        </p:spPr>
      </p:pic>
      <p:pic>
        <p:nvPicPr>
          <p:cNvPr id="79" name="Image 1" descr="https://kimi-img.moonshot.cn/pub/slides/slides_tmpl/image/25-09-02-14:36:35-d2r90spe3tpg8rchuq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355" y="2070735"/>
            <a:ext cx="18415" cy="2688590"/>
          </a:xfrm>
          <a:prstGeom prst="rect">
            <a:avLst/>
          </a:prstGeom>
        </p:spPr>
      </p:pic>
      <p:pic>
        <p:nvPicPr>
          <p:cNvPr id="80" name="Image 2" descr="https://kimi-img.moonshot.cn/pub/slides/slides_tmpl/image/25-09-02-14:36:35-d2r90spe3tpg8rchuq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205" y="2070735"/>
            <a:ext cx="18415" cy="2688590"/>
          </a:xfrm>
          <a:prstGeom prst="rect">
            <a:avLst/>
          </a:prstGeom>
        </p:spPr>
      </p:pic>
      <p:sp>
        <p:nvSpPr>
          <p:cNvPr id="81" name="Shape 76"/>
          <p:cNvSpPr/>
          <p:nvPr/>
        </p:nvSpPr>
        <p:spPr>
          <a:xfrm>
            <a:off x="1196975" y="1911985"/>
            <a:ext cx="227330" cy="215265"/>
          </a:xfrm>
          <a:prstGeom prst="ellipse">
            <a:avLst/>
          </a:prstGeom>
          <a:solidFill>
            <a:srgbClr val="000000"/>
          </a:solidFill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10740000" scaled="1"/>
            </a:gra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Text 77"/>
          <p:cNvSpPr/>
          <p:nvPr/>
        </p:nvSpPr>
        <p:spPr>
          <a:xfrm>
            <a:off x="1196975" y="191198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3" name="Shape 78"/>
          <p:cNvSpPr/>
          <p:nvPr/>
        </p:nvSpPr>
        <p:spPr>
          <a:xfrm>
            <a:off x="4398645" y="1885315"/>
            <a:ext cx="227330" cy="215265"/>
          </a:xfrm>
          <a:prstGeom prst="ellipse">
            <a:avLst/>
          </a:prstGeom>
          <a:solidFill>
            <a:srgbClr val="000000"/>
          </a:solidFill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10740000" scaled="1"/>
            </a:gra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79"/>
          <p:cNvSpPr/>
          <p:nvPr/>
        </p:nvSpPr>
        <p:spPr>
          <a:xfrm>
            <a:off x="4398645" y="188531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5" name="Shape 80"/>
          <p:cNvSpPr/>
          <p:nvPr/>
        </p:nvSpPr>
        <p:spPr>
          <a:xfrm>
            <a:off x="7746365" y="1845945"/>
            <a:ext cx="227330" cy="215265"/>
          </a:xfrm>
          <a:prstGeom prst="ellipse">
            <a:avLst/>
          </a:prstGeom>
          <a:solidFill>
            <a:srgbClr val="000000"/>
          </a:solidFill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10740000" scaled="1"/>
            </a:gra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Text 81"/>
          <p:cNvSpPr/>
          <p:nvPr/>
        </p:nvSpPr>
        <p:spPr>
          <a:xfrm>
            <a:off x="7746365" y="184594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7" name="Shape 8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8" name="Text 8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9" name="Shape 8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0" name="Text 8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1" name="Text 8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Primas salariales por nivel</a:t>
            </a:r>
            <a:endParaRPr lang="en-US" sz="1600" dirty="0"/>
          </a:p>
        </p:txBody>
      </p:sp>
      <p:sp>
        <p:nvSpPr>
          <p:cNvPr id="92" name="Text 87"/>
          <p:cNvSpPr/>
          <p:nvPr/>
        </p:nvSpPr>
        <p:spPr>
          <a:xfrm>
            <a:off x="1512570" y="1941554"/>
            <a:ext cx="3122930" cy="251736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Prima en convenios de empresa</a:t>
            </a:r>
            <a:endParaRPr lang="en-US" sz="1400" dirty="0"/>
          </a:p>
        </p:txBody>
      </p:sp>
      <p:sp>
        <p:nvSpPr>
          <p:cNvPr id="93" name="Text 88"/>
          <p:cNvSpPr/>
          <p:nvPr/>
        </p:nvSpPr>
        <p:spPr>
          <a:xfrm>
            <a:off x="1515110" y="2399665"/>
            <a:ext cx="270827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trabajadores con convenios de empresa disfrutan de una prima salarial del 5-7.5% en comparación con aquellos cubiertos por convenios sectoriales. Esto refleja una mayor capacidad de adaptación y flexibilidad en las condiciones laborales.</a:t>
            </a:r>
            <a:endParaRPr lang="en-US" sz="1600" dirty="0"/>
          </a:p>
        </p:txBody>
      </p:sp>
      <p:sp>
        <p:nvSpPr>
          <p:cNvPr id="94" name="Text 89"/>
          <p:cNvSpPr/>
          <p:nvPr/>
        </p:nvSpPr>
        <p:spPr>
          <a:xfrm>
            <a:off x="4693920" y="1914884"/>
            <a:ext cx="3122930" cy="251736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Distribución desigual</a:t>
            </a:r>
            <a:endParaRPr lang="en-US" sz="1400" dirty="0"/>
          </a:p>
        </p:txBody>
      </p:sp>
      <p:sp>
        <p:nvSpPr>
          <p:cNvPr id="95" name="Text 90"/>
          <p:cNvSpPr/>
          <p:nvPr/>
        </p:nvSpPr>
        <p:spPr>
          <a:xfrm>
            <a:off x="4747260" y="2372995"/>
            <a:ext cx="270827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prima salarial es desigual: en los deciles más bajos, los hombres obtienen un 13.9% más y las mujeres un 19% más, mientras que en los deciles altos puede ser negativa para las mujeres (-9.2%).</a:t>
            </a:r>
            <a:endParaRPr lang="en-US" sz="1600" dirty="0"/>
          </a:p>
        </p:txBody>
      </p:sp>
      <p:sp>
        <p:nvSpPr>
          <p:cNvPr id="96" name="Text 91"/>
          <p:cNvSpPr/>
          <p:nvPr/>
        </p:nvSpPr>
        <p:spPr>
          <a:xfrm>
            <a:off x="8061960" y="1875514"/>
            <a:ext cx="3122930" cy="251736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Variación sectorial</a:t>
            </a:r>
            <a:endParaRPr lang="en-US" sz="1400" dirty="0"/>
          </a:p>
        </p:txBody>
      </p:sp>
      <p:sp>
        <p:nvSpPr>
          <p:cNvPr id="97" name="Text 92"/>
          <p:cNvSpPr/>
          <p:nvPr/>
        </p:nvSpPr>
        <p:spPr>
          <a:xfrm>
            <a:off x="8064500" y="2333625"/>
            <a:ext cx="270827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prima salarial varía significativamente por sector, lo que refleja las diferentes condiciones y tradiciones negociadoras en cada área económica.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36650" y="1626235"/>
            <a:ext cx="3187700" cy="822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36650" y="1626235"/>
            <a:ext cx="3187700" cy="822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7785" y="2499360"/>
            <a:ext cx="3185430" cy="321500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137785" y="2499360"/>
            <a:ext cx="3185430" cy="32150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9650" y="1626235"/>
            <a:ext cx="3187700" cy="822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19650" y="1626235"/>
            <a:ext cx="3187700" cy="822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20785" y="2499360"/>
            <a:ext cx="3185430" cy="321500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20785" y="2499360"/>
            <a:ext cx="3185430" cy="32150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0" descr="https://kimi-img.moonshot.cn/pub/slides/slides_tmpl/image/25-09-02-14:36:35-d2r90spe3tpg8rchuq0g.png"/>
          <p:cNvPicPr>
            <a:picLocks noChangeAspect="1"/>
          </p:cNvPicPr>
          <p:nvPr/>
        </p:nvPicPr>
        <p:blipFill>
          <a:blip r:embed="rId3"/>
          <a:srcRect l="60" r="60"/>
          <a:stretch/>
        </p:blipFill>
        <p:spPr>
          <a:xfrm>
            <a:off x="8471535" y="18415"/>
            <a:ext cx="3720465" cy="682815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Efectos de selección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7232" y="1675765"/>
            <a:ext cx="3029822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Efectos de selección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40486" y="2667000"/>
            <a:ext cx="2980596" cy="2327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 parte de las diferencias salariales se explican por efectos de selección. Las empresas con convenio propio son más grandes, productivas y tienen trabajadores más cualificados.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70232" y="1675765"/>
            <a:ext cx="3029822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prima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923486" y="2667000"/>
            <a:ext cx="2980596" cy="2327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 controlar estas características, la prima salarial se reduce significativamente, aunque mantiene su significación estadística, lo que indica que otros factores también influyen en los salarios.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715" y="5120640"/>
            <a:ext cx="12206605" cy="179832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5715" y="5120640"/>
            <a:ext cx="12206605" cy="17983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95350" y="1499947"/>
            <a:ext cx="3131820" cy="4438056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95350" y="1499947"/>
            <a:ext cx="3131820" cy="44380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9115" y="1149424"/>
            <a:ext cx="3605530" cy="513871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349115" y="1149424"/>
            <a:ext cx="3605530" cy="51387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76590" y="1499947"/>
            <a:ext cx="3131820" cy="4438056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76590" y="1499947"/>
            <a:ext cx="3131820" cy="44380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0" descr="https://kimi-img.moonshot.cn/pub/slides/slides_tmpl/image/25-09-02-14:36:35-d2r90spe3tpg8rchuq5g.png"/>
          <p:cNvPicPr>
            <a:picLocks noChangeAspect="1"/>
          </p:cNvPicPr>
          <p:nvPr/>
        </p:nvPicPr>
        <p:blipFill>
          <a:blip r:embed="rId3"/>
          <a:srcRect l="78" r="78"/>
          <a:stretch/>
        </p:blipFill>
        <p:spPr>
          <a:xfrm>
            <a:off x="4492625" y="1404620"/>
            <a:ext cx="3237865" cy="2131695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09-02-14:36:35-d2r90spe3tpg8rchuq50.png"/>
          <p:cNvPicPr>
            <a:picLocks noChangeAspect="1"/>
          </p:cNvPicPr>
          <p:nvPr/>
        </p:nvPicPr>
        <p:blipFill>
          <a:blip r:embed="rId4"/>
          <a:srcRect t="157" b="157"/>
          <a:stretch/>
        </p:blipFill>
        <p:spPr>
          <a:xfrm>
            <a:off x="1047750" y="1659890"/>
            <a:ext cx="2826385" cy="161671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2-14:36:35-d2r90spe3tpg8rchuq50.png"/>
          <p:cNvPicPr>
            <a:picLocks noChangeAspect="1"/>
          </p:cNvPicPr>
          <p:nvPr/>
        </p:nvPicPr>
        <p:blipFill>
          <a:blip r:embed="rId4"/>
          <a:srcRect t="157" b="157"/>
          <a:stretch/>
        </p:blipFill>
        <p:spPr>
          <a:xfrm>
            <a:off x="8429625" y="1659890"/>
            <a:ext cx="2826385" cy="161671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Crisis 2008 y rigidez salarial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47750" y="3319126"/>
            <a:ext cx="2908935" cy="498467"/>
          </a:xfrm>
          <a:prstGeom prst="rect">
            <a:avLst/>
          </a:prstGeom>
          <a:noFill/>
          <a:ln/>
        </p:spPr>
        <p:txBody>
          <a:bodyPr wrap="square" lIns="0" tIns="0" rIns="0" bIns="35941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Rigidez salarial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047750" y="3827118"/>
            <a:ext cx="2827020" cy="1892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Antes de 2008, los salarios en España mostraban menor sensibilidad a la productividad y mayor rigidez, lo que dificultaba el ajuste en contextos de crisis económica.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490724" y="3568121"/>
            <a:ext cx="3322312" cy="555113"/>
          </a:xfrm>
          <a:prstGeom prst="rect">
            <a:avLst/>
          </a:prstGeom>
          <a:noFill/>
          <a:ln/>
        </p:spPr>
        <p:txBody>
          <a:bodyPr wrap="square" lIns="0" tIns="0" rIns="0" bIns="35941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Cambio estructural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490724" y="4199312"/>
            <a:ext cx="3322312" cy="216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crisis financiera de 2008 y la reforma laboral de 2012 llevaron a un cambio estructural, aumentando la respuesta de los salarios a las condiciones económicas, aunque sigue siendo más débil que en países nórdicos.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28990" y="3319126"/>
            <a:ext cx="2909570" cy="498467"/>
          </a:xfrm>
          <a:prstGeom prst="rect">
            <a:avLst/>
          </a:prstGeom>
          <a:noFill/>
          <a:ln/>
        </p:spPr>
        <p:txBody>
          <a:bodyPr wrap="square" lIns="0" tIns="0" rIns="0" bIns="35941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competitividad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28990" y="3827118"/>
            <a:ext cx="2827020" cy="1892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 rigidez salarial contribuyó a la pérdida de competitividad en sectores donde los salarios crecieron por encima de la productividad antes de la crisis.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0780" y="1504315"/>
            <a:ext cx="3567272" cy="502920"/>
          </a:xfrm>
          <a:prstGeom prst="round1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60780" y="1504315"/>
            <a:ext cx="3567272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65860" y="2012315"/>
            <a:ext cx="6247765" cy="149352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165860" y="2012315"/>
            <a:ext cx="6247765" cy="14935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60780" y="3825875"/>
            <a:ext cx="3567515" cy="502920"/>
          </a:xfrm>
          <a:prstGeom prst="round1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160780" y="3825875"/>
            <a:ext cx="3567515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65860" y="4333875"/>
            <a:ext cx="6247765" cy="149352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165860" y="4333875"/>
            <a:ext cx="6247765" cy="14935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0" descr="https://kimi-img.moonshot.cn/pub/slides/slides_tmpl/image/25-09-02-14:36:35-d2r90spe3tpg8rchupv0.png"/>
          <p:cNvPicPr>
            <a:picLocks noChangeAspect="1"/>
          </p:cNvPicPr>
          <p:nvPr/>
        </p:nvPicPr>
        <p:blipFill>
          <a:blip r:embed="rId3"/>
          <a:srcRect l="18" r="18"/>
          <a:stretch/>
        </p:blipFill>
        <p:spPr>
          <a:xfrm>
            <a:off x="7773670" y="1234440"/>
            <a:ext cx="3558540" cy="4593590"/>
          </a:xfrm>
          <a:prstGeom prst="round2DiagRect">
            <a:avLst>
              <a:gd name="adj1" fmla="val 16667"/>
              <a:gd name="adj2" fmla="val 0"/>
            </a:avLst>
          </a:prstGeom>
        </p:spPr>
      </p:pic>
      <p:sp>
        <p:nvSpPr>
          <p:cNvPr id="15" name="Shape 1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Débil vinculación productividad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17385" y="1574165"/>
            <a:ext cx="559362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Débil correlación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23645" y="2133600"/>
            <a:ext cx="6164580" cy="1209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diferencia de Alemania, donde existe una fuerte correlación entre productividad y salarios a nivel de empresa, en España esta relación es débil y se observa principalmente a nivel sectorial.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17389" y="3895725"/>
            <a:ext cx="570665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competitividad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23645" y="4455160"/>
            <a:ext cx="6164580" cy="1209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 débil vinculación entre productividad y salarios ha contribuido a la pérdida de competitividad en sectores donde los salarios crecieron por encima de la productividad.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A4D4EA83-641C-5E6E-43A1-864BB58DD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35" y="643467"/>
            <a:ext cx="87733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12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5-d2r90spe3tpg8rchuq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" y="1407795"/>
            <a:ext cx="3298190" cy="46088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796030" y="1413510"/>
            <a:ext cx="8031480" cy="46024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3796030" y="1413510"/>
            <a:ext cx="8031480" cy="4602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67175" y="2952115"/>
            <a:ext cx="756031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4067175" y="4481830"/>
            <a:ext cx="756031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Modelos europeos determinación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38600" y="1572895"/>
            <a:ext cx="761746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Norte-Este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038600" y="1941830"/>
            <a:ext cx="7616190" cy="1296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países del norte de Europa presentan un mayor ajuste de salarios a las condiciones macroeconómicas, con un ajuste más rápido en 3-4 trimestres.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38600" y="3102610"/>
            <a:ext cx="761746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Sur-Oeste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038600" y="3471545"/>
            <a:ext cx="7616190" cy="9385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países del sur de Europa, como España, presentan una menor vinculación entre salarios y condiciones económicas, con un ajuste más lento en 6-7 trimestres.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38600" y="4632325"/>
            <a:ext cx="761746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España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38600" y="5001260"/>
            <a:ext cx="761619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España comparte características con el modelo Sur-Oeste, mostrando mayor rigidez salarial y una capacidad de ajuste más limitada ante shocks económicos.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65880" y="1372235"/>
            <a:ext cx="7620000" cy="2454910"/>
          </a:xfrm>
          <a:prstGeom prst="roundRect">
            <a:avLst>
              <a:gd name="adj" fmla="val 3784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65880" y="1372235"/>
            <a:ext cx="7620000" cy="24549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4000" y="1613630"/>
            <a:ext cx="4069080" cy="4388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064000" y="1613630"/>
            <a:ext cx="4069080" cy="43889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5880" y="3961765"/>
            <a:ext cx="7620000" cy="2480945"/>
          </a:xfrm>
          <a:prstGeom prst="roundRect">
            <a:avLst>
              <a:gd name="adj" fmla="val 3784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65880" y="3961765"/>
            <a:ext cx="7620000" cy="24809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64000" y="4205720"/>
            <a:ext cx="4069080" cy="44355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064000" y="4205720"/>
            <a:ext cx="4069080" cy="4435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0" descr="https://kimi-img.moonshot.cn/pub/slides/slides_tmpl/image/25-09-02-14:36:35-d2r90spe3tpg8rchuq2g.png"/>
          <p:cNvPicPr>
            <a:picLocks noChangeAspect="1"/>
          </p:cNvPicPr>
          <p:nvPr/>
        </p:nvPicPr>
        <p:blipFill>
          <a:blip r:embed="rId3"/>
          <a:srcRect t="74" b="74"/>
          <a:stretch/>
        </p:blipFill>
        <p:spPr>
          <a:xfrm>
            <a:off x="1107440" y="1372235"/>
            <a:ext cx="2661920" cy="2453640"/>
          </a:xfrm>
          <a:prstGeom prst="rect">
            <a:avLst/>
          </a:prstGeom>
        </p:spPr>
      </p:pic>
      <p:pic>
        <p:nvPicPr>
          <p:cNvPr id="15" name="Image 1" descr="https://kimi-img.moonshot.cn/pub/slides/slides_tmpl/image/25-09-02-14:36:35-d2r90spe3tpg8rchuq3g.png"/>
          <p:cNvPicPr>
            <a:picLocks noChangeAspect="1"/>
          </p:cNvPicPr>
          <p:nvPr/>
        </p:nvPicPr>
        <p:blipFill>
          <a:blip r:embed="rId4"/>
          <a:srcRect l="59" r="59"/>
          <a:stretch/>
        </p:blipFill>
        <p:spPr>
          <a:xfrm>
            <a:off x="1090930" y="3961765"/>
            <a:ext cx="2679065" cy="248221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Dispersión y compresión salarial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191000" y="1596074"/>
            <a:ext cx="6712585" cy="3986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Compresión salarial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126230" y="2102271"/>
            <a:ext cx="6976110" cy="13708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convenios sectoriales actúan como un mecanismo de compresión salarial, reduciendo las diferencias entre categorías profesionales y empresas del mismo sector.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191000" y="4187978"/>
            <a:ext cx="6417945" cy="3984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dispersión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126230" y="4699543"/>
            <a:ext cx="6976110" cy="13713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Mientras los convenios de empresa presentan un coeficiente Gini de 0.29, en convenios sectoriales este indicador se reduce a 0.11, lo que muestra una menor dispersión salarial.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7235" y="2696210"/>
            <a:ext cx="4088765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835" y="2849245"/>
            <a:ext cx="8738235" cy="768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Empleo y Desempleo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715" y="5120640"/>
            <a:ext cx="12206605" cy="1798320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5715" y="5120640"/>
            <a:ext cx="12206605" cy="17983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95350" y="1499947"/>
            <a:ext cx="3131820" cy="4438056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895350" y="1499947"/>
            <a:ext cx="3131820" cy="44380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9115" y="1149424"/>
            <a:ext cx="3605530" cy="513871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349115" y="1149424"/>
            <a:ext cx="3605530" cy="51387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76590" y="1499947"/>
            <a:ext cx="3131820" cy="4438056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76590" y="1499947"/>
            <a:ext cx="3131820" cy="44380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0" descr="https://kimi-img.moonshot.cn/pub/slides/slides_tmpl/image/25-09-02-14:36:35-d2r90spe3tpg8rchuq5g.png"/>
          <p:cNvPicPr>
            <a:picLocks noChangeAspect="1"/>
          </p:cNvPicPr>
          <p:nvPr/>
        </p:nvPicPr>
        <p:blipFill>
          <a:blip r:embed="rId3"/>
          <a:srcRect l="78" r="78"/>
          <a:stretch/>
        </p:blipFill>
        <p:spPr>
          <a:xfrm>
            <a:off x="4492625" y="1404620"/>
            <a:ext cx="3237865" cy="2131695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09-02-14:36:35-d2r90spe3tpg8rchuq50.png"/>
          <p:cNvPicPr>
            <a:picLocks noChangeAspect="1"/>
          </p:cNvPicPr>
          <p:nvPr/>
        </p:nvPicPr>
        <p:blipFill>
          <a:blip r:embed="rId4"/>
          <a:srcRect t="157" b="157"/>
          <a:stretch/>
        </p:blipFill>
        <p:spPr>
          <a:xfrm>
            <a:off x="1047750" y="1659890"/>
            <a:ext cx="2826385" cy="161671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2-14:36:35-d2r90spe3tpg8rchuq50.png"/>
          <p:cNvPicPr>
            <a:picLocks noChangeAspect="1"/>
          </p:cNvPicPr>
          <p:nvPr/>
        </p:nvPicPr>
        <p:blipFill>
          <a:blip r:embed="rId4"/>
          <a:srcRect t="157" b="157"/>
          <a:stretch/>
        </p:blipFill>
        <p:spPr>
          <a:xfrm>
            <a:off x="8429625" y="1659890"/>
            <a:ext cx="2826385" cy="161671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volatilidad empleo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047750" y="3319126"/>
            <a:ext cx="2908935" cy="498467"/>
          </a:xfrm>
          <a:prstGeom prst="rect">
            <a:avLst/>
          </a:prstGeom>
          <a:noFill/>
          <a:ln/>
        </p:spPr>
        <p:txBody>
          <a:bodyPr wrap="square" lIns="0" tIns="0" rIns="0" bIns="35941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Volatilidad del empleo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047750" y="3827118"/>
            <a:ext cx="2827020" cy="1892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sistema español de negociación colectiva está asociado con mayor volatilidad del empleo a lo largo del ciclo económico. Esto se refleja en fluctuaciones más pronunciadas en las tasas de empleo.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490724" y="3568121"/>
            <a:ext cx="3322312" cy="555113"/>
          </a:xfrm>
          <a:prstGeom prst="rect">
            <a:avLst/>
          </a:prstGeom>
          <a:noFill/>
          <a:ln/>
        </p:spPr>
        <p:txBody>
          <a:bodyPr wrap="square" lIns="0" tIns="0" rIns="0" bIns="35941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Comparativa internacional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490724" y="4199312"/>
            <a:ext cx="3322312" cy="216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Mientras países con sistemas más coordinados como Alemania mantienen tasas de empleo estables alrededor del 73-76%, España experimenta fluctuaciones entre el 56.5% y el 65.6%.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28990" y="3319126"/>
            <a:ext cx="2909570" cy="498467"/>
          </a:xfrm>
          <a:prstGeom prst="rect">
            <a:avLst/>
          </a:prstGeom>
          <a:noFill/>
          <a:ln/>
        </p:spPr>
        <p:txBody>
          <a:bodyPr wrap="square" lIns="0" tIns="0" rIns="0" bIns="35941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estabilidad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28990" y="3827118"/>
            <a:ext cx="2827020" cy="1892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 mayor volatilidad del empleo afecta la estabilidad laboral y puede tener consecuencias negativas en términos de seguridad y bienestar de los trabajadores.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9180" y="3534410"/>
            <a:ext cx="100800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0" descr="https://kimi-img.moonshot.cn/pub/slides/slides_tmpl/image/25-09-02-14:36:35-d2r90spe3tpg8rchuq10.png"/>
          <p:cNvPicPr>
            <a:picLocks noChangeAspect="1"/>
          </p:cNvPicPr>
          <p:nvPr/>
        </p:nvPicPr>
        <p:blipFill>
          <a:blip r:embed="rId3"/>
          <a:srcRect t="93" b="93"/>
          <a:stretch/>
        </p:blipFill>
        <p:spPr>
          <a:xfrm>
            <a:off x="1059180" y="1288415"/>
            <a:ext cx="3415030" cy="2002155"/>
          </a:xfrm>
          <a:prstGeom prst="rect">
            <a:avLst/>
          </a:prstGeom>
        </p:spPr>
      </p:pic>
      <p:pic>
        <p:nvPicPr>
          <p:cNvPr id="8" name="Image 1" descr="https://kimi-img.moonshot.cn/pub/slides/slides_tmpl/image/25-09-02-14:36:35-d2r90spe3tpg8rchuq1g.jpg"/>
          <p:cNvPicPr>
            <a:picLocks noChangeAspect="1"/>
          </p:cNvPicPr>
          <p:nvPr/>
        </p:nvPicPr>
        <p:blipFill>
          <a:blip r:embed="rId4"/>
          <a:srcRect l="27" r="27"/>
          <a:stretch/>
        </p:blipFill>
        <p:spPr>
          <a:xfrm>
            <a:off x="7627620" y="3698240"/>
            <a:ext cx="3484880" cy="22479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8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Ajuste vía cantidades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19955" y="1308100"/>
            <a:ext cx="637349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Ajuste por destrucción de empleo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19955" y="1791335"/>
            <a:ext cx="6382385" cy="13709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menor flexibilidad salarial en España lleva a un ajuste principalmente vía cantidades, lo que significa que las empresas recurren a la destrucción de empleo en contextos de crisis económica.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71245" y="3741420"/>
            <a:ext cx="637349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el desempleo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71245" y="4224655"/>
            <a:ext cx="6382385" cy="13709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Durante la crisis financiera de 2008, el desempleo en España aumentó en más de 15 puntos porcentuales, mientras que en países del norte de Europa el aumento fue significativamente menor.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471545" y="1610995"/>
            <a:ext cx="7499350" cy="4164330"/>
          </a:xfrm>
          <a:prstGeom prst="roundRect">
            <a:avLst>
              <a:gd name="adj" fmla="val 50000"/>
            </a:avLst>
          </a:prstGeom>
          <a:solidFill>
            <a:srgbClr val="000000">
              <a:alpha val="23137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-3471545" y="1610995"/>
            <a:ext cx="7499350" cy="41643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2-14:36:36-d2r90t1e3tpg8rchuq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3540" y="1755140"/>
            <a:ext cx="4224655" cy="37915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-3773170" y="1443355"/>
            <a:ext cx="8102600" cy="449961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000000"/>
                </a:gs>
                <a:gs pos="50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00" scaled="1"/>
            </a:gra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-3773170" y="1443355"/>
            <a:ext cx="8102600" cy="44996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808605" y="1239520"/>
            <a:ext cx="652145" cy="66357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2808605" y="123952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10025" y="3220720"/>
            <a:ext cx="652145" cy="66357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4010025" y="322072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161030" y="5215890"/>
            <a:ext cx="652145" cy="663575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3161030" y="5215890"/>
            <a:ext cx="652145" cy="6635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Colectivos vulnerables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846705" y="1313815"/>
            <a:ext cx="59182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210685" y="1246505"/>
            <a:ext cx="683895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Jóvenes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210685" y="1601470"/>
            <a:ext cx="683895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jóvenes se ven especialmente afectados, con tasas de desempleo que duplican la media general. Los salarios de entrada relativamente altos dificultan su inserción laboral.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027170" y="3285490"/>
            <a:ext cx="64262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59020" y="3302000"/>
            <a:ext cx="683895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Mujeres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59020" y="3656965"/>
            <a:ext cx="683895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mujeres experimentan mayores dificultades de acceso y permanencia en el empleo, con una tasa de desempleo significativamente más alta que en países con sistemas más coordinados.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167380" y="5291455"/>
            <a:ext cx="6673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027170" y="5089525"/>
            <a:ext cx="683895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Trabajadores poco cualificados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027170" y="5445125"/>
            <a:ext cx="6839585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trabajadores poco cualificados enfrentan tasas de desempleo particularmente elevadas, lo que refleja las limitaciones del sistema en términos de integración laboral.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60780" y="1504315"/>
            <a:ext cx="3567272" cy="502920"/>
          </a:xfrm>
          <a:prstGeom prst="round1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60780" y="1504315"/>
            <a:ext cx="3567272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65860" y="2012315"/>
            <a:ext cx="6247765" cy="149352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165860" y="2012315"/>
            <a:ext cx="6247765" cy="14935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60780" y="3825875"/>
            <a:ext cx="3567515" cy="502920"/>
          </a:xfrm>
          <a:prstGeom prst="round1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160780" y="3825875"/>
            <a:ext cx="3567515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65860" y="4333875"/>
            <a:ext cx="6247765" cy="149352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165860" y="4333875"/>
            <a:ext cx="6247765" cy="14935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0" descr="https://kimi-img.moonshot.cn/pub/slides/slides_tmpl/image/25-09-02-14:36:35-d2r90spe3tpg8rchupv0.png"/>
          <p:cNvPicPr>
            <a:picLocks noChangeAspect="1"/>
          </p:cNvPicPr>
          <p:nvPr/>
        </p:nvPicPr>
        <p:blipFill>
          <a:blip r:embed="rId3"/>
          <a:srcRect l="18" r="18"/>
          <a:stretch/>
        </p:blipFill>
        <p:spPr>
          <a:xfrm>
            <a:off x="7773670" y="1234440"/>
            <a:ext cx="3558540" cy="4593590"/>
          </a:xfrm>
          <a:prstGeom prst="round2DiagRect">
            <a:avLst>
              <a:gd name="adj1" fmla="val 16667"/>
              <a:gd name="adj2" fmla="val 0"/>
            </a:avLst>
          </a:prstGeom>
        </p:spPr>
      </p:pic>
      <p:sp>
        <p:nvSpPr>
          <p:cNvPr id="15" name="Shape 1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Temporalidad estructural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17385" y="1574165"/>
            <a:ext cx="559362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Alta temporalidad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23645" y="2133600"/>
            <a:ext cx="6164580" cy="1209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combinación de alta protección del empleo indefinido con convenios sectoriales rígidos ha fomentado el uso de contratos temporales como mecanismo de flexibilidad. Esto ha llevado a una alta tasa de temporalidad en España.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17389" y="3895725"/>
            <a:ext cx="5706651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Comparativa internacional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23645" y="4455160"/>
            <a:ext cx="6164580" cy="1209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Mientras la tasa de temporalidad en países del norte de Europa es del 12.5%, en España alcanza el 24.0%, lo que afecta la estabilidad y calidad del empleo.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6-d2r90t1e3tpg8rchuq8g.png"/>
          <p:cNvPicPr>
            <a:picLocks noChangeAspect="1"/>
          </p:cNvPicPr>
          <p:nvPr/>
        </p:nvPicPr>
        <p:blipFill>
          <a:blip r:embed="rId3"/>
          <a:srcRect l="23" r="23"/>
          <a:stretch/>
        </p:blipFill>
        <p:spPr>
          <a:xfrm>
            <a:off x="0" y="1396365"/>
            <a:ext cx="12192635" cy="19919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9656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36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2196561" y="2473621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388111" y="2665171"/>
            <a:ext cx="1075939" cy="1075939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388111" y="2665171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6648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366481" y="2473621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58031" y="2665171"/>
            <a:ext cx="1075939" cy="1075939"/>
          </a:xfrm>
          <a:prstGeom prst="ellipse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5558031" y="2665171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36401" y="2473621"/>
            <a:ext cx="1459038" cy="14590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36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8536401" y="2473621"/>
            <a:ext cx="1459038" cy="14590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727951" y="2665171"/>
            <a:ext cx="1075939" cy="1075939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727951" y="2665171"/>
            <a:ext cx="1075939" cy="1075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Comparativa internacional empleo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52868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2552868" y="2907327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376045" y="40366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Tasas de empleo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76045" y="43948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países del norte de Europa presentan tasas de empleo más altas y estables, mientras que España muestra tasas más bajas y volátiles.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722788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5722788" y="2907327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708525" y="40366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Duración del desempleo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708525" y="43948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duración media del desempleo es menor en países con sistemas más coordinados, lo que refleja una mejor capacidad de integración laboral.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912650" y="2907327"/>
            <a:ext cx="726482" cy="584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8912650" y="2907327"/>
            <a:ext cx="726482" cy="5847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29600" y="40366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calidad del empleo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229600" y="43948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países con sistemas más coordinados también muestran una menor segmentación del mercado laboral y una mejor integración de colectivos vulnerables.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57120" y="1290955"/>
            <a:ext cx="3550920" cy="46786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357120" y="1290955"/>
            <a:ext cx="3550920" cy="467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94915" y="2877185"/>
            <a:ext cx="3367405" cy="1397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543800" y="1290955"/>
            <a:ext cx="3550920" cy="46786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543800" y="1290955"/>
            <a:ext cx="3550920" cy="467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81595" y="2877185"/>
            <a:ext cx="3367405" cy="1397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0" descr="https://kimi-img.moonshot.cn/pub/slides/slides_tmpl/image/25-09-02-14:36:35-d2r90spe3tpg8rchuq20.png"/>
          <p:cNvPicPr>
            <a:picLocks noChangeAspect="1"/>
          </p:cNvPicPr>
          <p:nvPr/>
        </p:nvPicPr>
        <p:blipFill>
          <a:blip r:embed="rId3"/>
          <a:srcRect l="55" r="55"/>
          <a:stretch/>
        </p:blipFill>
        <p:spPr>
          <a:xfrm>
            <a:off x="1205865" y="1290955"/>
            <a:ext cx="1150620" cy="4678680"/>
          </a:xfrm>
          <a:prstGeom prst="rect">
            <a:avLst/>
          </a:prstGeom>
        </p:spPr>
      </p:pic>
      <p:pic>
        <p:nvPicPr>
          <p:cNvPr id="13" name="Image 1" descr="https://kimi-img.moonshot.cn/pub/slides/slides_tmpl/image/25-09-02-14:36:35-d2r90spe3tpg8rchuq30.png"/>
          <p:cNvPicPr>
            <a:picLocks noChangeAspect="1"/>
          </p:cNvPicPr>
          <p:nvPr/>
        </p:nvPicPr>
        <p:blipFill>
          <a:blip r:embed="rId4"/>
          <a:srcRect l="55" r="55"/>
          <a:stretch/>
        </p:blipFill>
        <p:spPr>
          <a:xfrm>
            <a:off x="6393180" y="1290955"/>
            <a:ext cx="1150620" cy="46786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Productividad y empleo sostenible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494915" y="1424940"/>
            <a:ext cx="325374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494915" y="2098040"/>
            <a:ext cx="325374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Bajo crecimiento productividad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2494915" y="2873375"/>
            <a:ext cx="3258185" cy="2651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modelo español se ha caracterizado por un bajo crecimiento de la productividad, lo que limita el potencial de creación de empleo de calidad.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681595" y="1424940"/>
            <a:ext cx="325374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681595" y="2098040"/>
            <a:ext cx="3253740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la sostenibilidad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7681595" y="2873375"/>
            <a:ext cx="3258185" cy="26511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contraste, los países con sistemas más coordinados han experimentado un mayor crecimiento de la productividad, lo que ha permitido una creación de empleo más sostenible.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18" y="2273300"/>
            <a:ext cx="12191365" cy="2311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7235" y="2696210"/>
            <a:ext cx="4088765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835" y="2849245"/>
            <a:ext cx="8738235" cy="768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Propuestas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71420" y="2734945"/>
            <a:ext cx="75565" cy="1244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471420" y="2734945"/>
            <a:ext cx="75565" cy="12446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99785"/>
            <a:ext cx="12190095" cy="95821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0" y="5899785"/>
            <a:ext cx="12190095" cy="9582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56175" y="2925445"/>
            <a:ext cx="6500495" cy="1539875"/>
          </a:xfrm>
          <a:prstGeom prst="roundRect">
            <a:avLst>
              <a:gd name="adj" fmla="val 11000"/>
            </a:avLst>
          </a:prstGeom>
          <a:solidFill>
            <a:srgbClr val="079F92"/>
          </a:solidFill>
          <a:ln w="19050">
            <a:solidFill>
              <a:srgbClr val="A0D1FA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1E69D5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956175" y="2925445"/>
            <a:ext cx="6500495" cy="15398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56175" y="1461770"/>
            <a:ext cx="6500495" cy="1339215"/>
          </a:xfrm>
          <a:prstGeom prst="roundRect">
            <a:avLst>
              <a:gd name="adj" fmla="val 8155"/>
            </a:avLst>
          </a:prstGeom>
          <a:solidFill>
            <a:srgbClr val="FFFFFF"/>
          </a:solidFill>
          <a:ln w="19050">
            <a:solidFill>
              <a:srgbClr val="A0D1FA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1E69D5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956175" y="1461770"/>
            <a:ext cx="6500495" cy="13392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5965" y="1255395"/>
            <a:ext cx="10720070" cy="1545590"/>
          </a:xfrm>
          <a:prstGeom prst="roundRect">
            <a:avLst>
              <a:gd name="adj" fmla="val 8155"/>
            </a:avLst>
          </a:prstGeom>
          <a:solidFill>
            <a:srgbClr val="FFFFFF"/>
          </a:solidFill>
          <a:ln w="19050">
            <a:solidFill>
              <a:srgbClr val="CCCCCC">
                <a:alpha val="67059"/>
              </a:srgbClr>
            </a:solidFill>
            <a:prstDash val="solid"/>
          </a:ln>
          <a:effectLst>
            <a:outerShdw blurRad="254000" dist="134704" dir="27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5965" y="1255395"/>
            <a:ext cx="10720070" cy="1545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5965" y="2931160"/>
            <a:ext cx="10720705" cy="1545590"/>
          </a:xfrm>
          <a:prstGeom prst="roundRect">
            <a:avLst>
              <a:gd name="adj" fmla="val 11000"/>
            </a:avLst>
          </a:prstGeom>
          <a:solidFill>
            <a:srgbClr val="000000"/>
          </a:solidFill>
          <a:ln w="19050">
            <a:solidFill>
              <a:srgbClr val="CCCCCC">
                <a:alpha val="43137"/>
              </a:srgbClr>
            </a:solidFill>
            <a:prstDash val="solid"/>
          </a:ln>
          <a:effectLst>
            <a:outerShdw blurRad="254000" dist="134704" dir="27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735965" y="2931160"/>
            <a:ext cx="10720705" cy="154559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600" y="4594860"/>
            <a:ext cx="10720070" cy="1590675"/>
          </a:xfrm>
          <a:prstGeom prst="roundRect">
            <a:avLst>
              <a:gd name="adj" fmla="val 10289"/>
            </a:avLst>
          </a:prstGeom>
          <a:solidFill>
            <a:srgbClr val="FFFFFF"/>
          </a:solidFill>
          <a:ln w="19050">
            <a:solidFill>
              <a:srgbClr val="CCCCCC">
                <a:alpha val="67059"/>
              </a:srgbClr>
            </a:solidFill>
            <a:prstDash val="solid"/>
          </a:ln>
          <a:effectLst>
            <a:outerShdw blurRad="254000" dist="134704" dir="27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36600" y="4594860"/>
            <a:ext cx="10720070" cy="15906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Diagnóstico problemas actuales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9005" y="1496695"/>
            <a:ext cx="102492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Prevalencia sectorial-provincial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9005" y="1983740"/>
            <a:ext cx="10249200" cy="65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sistema español presenta una prevalencia de la negociación sectorial-provincial, lo que limita la capacidad de adaptación a nivel de empresa y dificulta el ajuste ante shocks económicos.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9005" y="3118485"/>
            <a:ext cx="102492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Débil vinculación salarios-productividad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005" y="3617595"/>
            <a:ext cx="10249200" cy="65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salarios en España responden menos a las condiciones económicas que en otros países europeos, lo que afecta la competitividad y la creación de empleo.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9005" y="4831080"/>
            <a:ext cx="1024920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Fragmentación provincial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9005" y="5386705"/>
            <a:ext cx="10249200" cy="650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excesiva fragmentación a nivel provincial dificulta la coordinación efectiva y puede generar diferencias injustificadas en las condiciones laborales entre regiones.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65880" y="1372235"/>
            <a:ext cx="7620000" cy="2454910"/>
          </a:xfrm>
          <a:prstGeom prst="roundRect">
            <a:avLst>
              <a:gd name="adj" fmla="val 3784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865880" y="1372235"/>
            <a:ext cx="7620000" cy="24549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4000" y="1613630"/>
            <a:ext cx="4069080" cy="4388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064000" y="1613630"/>
            <a:ext cx="4069080" cy="43889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65880" y="3961765"/>
            <a:ext cx="7620000" cy="2480945"/>
          </a:xfrm>
          <a:prstGeom prst="roundRect">
            <a:avLst>
              <a:gd name="adj" fmla="val 3784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865880" y="3961765"/>
            <a:ext cx="7620000" cy="24809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64000" y="4205720"/>
            <a:ext cx="4069080" cy="44355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064000" y="4205720"/>
            <a:ext cx="4069080" cy="44355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0" descr="https://kimi-img.moonshot.cn/pub/slides/slides_tmpl/image/25-09-02-14:36:35-d2r90spe3tpg8rchuq2g.png"/>
          <p:cNvPicPr>
            <a:picLocks noChangeAspect="1"/>
          </p:cNvPicPr>
          <p:nvPr/>
        </p:nvPicPr>
        <p:blipFill>
          <a:blip r:embed="rId3"/>
          <a:srcRect t="74" b="74"/>
          <a:stretch/>
        </p:blipFill>
        <p:spPr>
          <a:xfrm>
            <a:off x="1107440" y="1372235"/>
            <a:ext cx="2661920" cy="2453640"/>
          </a:xfrm>
          <a:prstGeom prst="rect">
            <a:avLst/>
          </a:prstGeom>
        </p:spPr>
      </p:pic>
      <p:pic>
        <p:nvPicPr>
          <p:cNvPr id="15" name="Image 1" descr="https://kimi-img.moonshot.cn/pub/slides/slides_tmpl/image/25-09-02-14:36:35-d2r90spe3tpg8rchuq3g.png"/>
          <p:cNvPicPr>
            <a:picLocks noChangeAspect="1"/>
          </p:cNvPicPr>
          <p:nvPr/>
        </p:nvPicPr>
        <p:blipFill>
          <a:blip r:embed="rId4"/>
          <a:srcRect l="59" r="59"/>
          <a:stretch/>
        </p:blipFill>
        <p:spPr>
          <a:xfrm>
            <a:off x="1090930" y="3961765"/>
            <a:ext cx="2679065" cy="248221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Modelo descentralización organizada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191000" y="1596074"/>
            <a:ext cx="6712585" cy="3986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Coordinación y adaptación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126230" y="2102271"/>
            <a:ext cx="6976110" cy="137082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modelo de descentralización organizada combina la coordinación a nivel sectorial con una efectiva capacidad de adaptación a nivel de empresa, similar al modelo alemán o nórdico.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191000" y="4187978"/>
            <a:ext cx="6417945" cy="39845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Fortalecimiento de la negociación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126230" y="4699543"/>
            <a:ext cx="6976110" cy="13713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Este modelo requiere mejorar los mecanismos de coordinación entre niveles y fortalecer la negociación a nivel de empresa mediante desarrollo de capacidades y cambios legales.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367916" y="1062304"/>
            <a:ext cx="1357317" cy="1357318"/>
          </a:xfrm>
          <a:custGeom>
            <a:avLst/>
            <a:gdLst/>
            <a:ahLst/>
            <a:cxnLst/>
            <a:rect l="l" t="t" r="r" b="b"/>
            <a:pathLst>
              <a:path w="1357317" h="1357318">
                <a:moveTo>
                  <a:pt x="497288" y="1333638"/>
                </a:moveTo>
                <a:cubicBezTo>
                  <a:pt x="497288" y="1333638"/>
                  <a:pt x="497288" y="1333638"/>
                  <a:pt x="860028" y="1333638"/>
                </a:cubicBezTo>
                <a:cubicBezTo>
                  <a:pt x="802893" y="1349425"/>
                  <a:pt x="741772" y="1357318"/>
                  <a:pt x="677994" y="1357318"/>
                </a:cubicBezTo>
                <a:cubicBezTo>
                  <a:pt x="615544" y="1357318"/>
                  <a:pt x="554422" y="1349425"/>
                  <a:pt x="497288" y="1333638"/>
                </a:cubicBezTo>
                <a:close/>
                <a:moveTo>
                  <a:pt x="337983" y="1265826"/>
                </a:moveTo>
                <a:lnTo>
                  <a:pt x="1018256" y="1265826"/>
                </a:lnTo>
                <a:cubicBezTo>
                  <a:pt x="990409" y="1281569"/>
                  <a:pt x="962561" y="1295998"/>
                  <a:pt x="932062" y="1307805"/>
                </a:cubicBezTo>
                <a:cubicBezTo>
                  <a:pt x="932062" y="1307805"/>
                  <a:pt x="932062" y="1307805"/>
                  <a:pt x="422852" y="1307805"/>
                </a:cubicBezTo>
                <a:cubicBezTo>
                  <a:pt x="393678" y="1295998"/>
                  <a:pt x="364505" y="1281569"/>
                  <a:pt x="337983" y="1265826"/>
                </a:cubicBezTo>
                <a:close/>
                <a:moveTo>
                  <a:pt x="242186" y="1199090"/>
                </a:moveTo>
                <a:lnTo>
                  <a:pt x="1114055" y="1199090"/>
                </a:lnTo>
                <a:cubicBezTo>
                  <a:pt x="1095476" y="1213604"/>
                  <a:pt x="1076898" y="1226799"/>
                  <a:pt x="1058319" y="1239993"/>
                </a:cubicBezTo>
                <a:cubicBezTo>
                  <a:pt x="1058319" y="1239993"/>
                  <a:pt x="1058319" y="1239993"/>
                  <a:pt x="297921" y="1239993"/>
                </a:cubicBezTo>
                <a:cubicBezTo>
                  <a:pt x="278016" y="1226799"/>
                  <a:pt x="259437" y="1213604"/>
                  <a:pt x="242186" y="1199090"/>
                </a:cubicBezTo>
                <a:close/>
                <a:moveTo>
                  <a:pt x="173297" y="1131278"/>
                </a:moveTo>
                <a:lnTo>
                  <a:pt x="1182943" y="1131278"/>
                </a:lnTo>
                <a:cubicBezTo>
                  <a:pt x="1169676" y="1146078"/>
                  <a:pt x="1156408" y="1160878"/>
                  <a:pt x="1141814" y="1174333"/>
                </a:cubicBezTo>
                <a:cubicBezTo>
                  <a:pt x="1141814" y="1174333"/>
                  <a:pt x="1141814" y="1174333"/>
                  <a:pt x="214426" y="1174333"/>
                </a:cubicBezTo>
                <a:cubicBezTo>
                  <a:pt x="199832" y="1160878"/>
                  <a:pt x="185238" y="1146078"/>
                  <a:pt x="173297" y="1131278"/>
                </a:cubicBezTo>
                <a:close/>
                <a:moveTo>
                  <a:pt x="120554" y="1065619"/>
                </a:moveTo>
                <a:lnTo>
                  <a:pt x="1236762" y="1065619"/>
                </a:lnTo>
                <a:cubicBezTo>
                  <a:pt x="1226144" y="1080132"/>
                  <a:pt x="1216853" y="1093327"/>
                  <a:pt x="1204908" y="1106521"/>
                </a:cubicBezTo>
                <a:cubicBezTo>
                  <a:pt x="1204908" y="1106521"/>
                  <a:pt x="1204908" y="1106521"/>
                  <a:pt x="151081" y="1106521"/>
                </a:cubicBezTo>
                <a:cubicBezTo>
                  <a:pt x="140463" y="1093327"/>
                  <a:pt x="129845" y="1080132"/>
                  <a:pt x="120554" y="1065619"/>
                </a:cubicBezTo>
                <a:close/>
                <a:moveTo>
                  <a:pt x="79652" y="997806"/>
                </a:moveTo>
                <a:lnTo>
                  <a:pt x="1277664" y="997806"/>
                </a:lnTo>
                <a:cubicBezTo>
                  <a:pt x="1269704" y="1012236"/>
                  <a:pt x="1261744" y="1026667"/>
                  <a:pt x="1252457" y="1039786"/>
                </a:cubicBezTo>
                <a:cubicBezTo>
                  <a:pt x="1252457" y="1039786"/>
                  <a:pt x="1252457" y="1039786"/>
                  <a:pt x="103532" y="1039786"/>
                </a:cubicBezTo>
                <a:cubicBezTo>
                  <a:pt x="95572" y="1026667"/>
                  <a:pt x="87612" y="1012236"/>
                  <a:pt x="79652" y="997806"/>
                </a:cubicBezTo>
                <a:close/>
                <a:moveTo>
                  <a:pt x="47360" y="931071"/>
                </a:moveTo>
                <a:lnTo>
                  <a:pt x="1307803" y="931071"/>
                </a:lnTo>
                <a:cubicBezTo>
                  <a:pt x="1302496" y="944265"/>
                  <a:pt x="1295862" y="958779"/>
                  <a:pt x="1289228" y="971973"/>
                </a:cubicBezTo>
                <a:cubicBezTo>
                  <a:pt x="1289228" y="971973"/>
                  <a:pt x="1289228" y="971973"/>
                  <a:pt x="65935" y="971973"/>
                </a:cubicBezTo>
                <a:cubicBezTo>
                  <a:pt x="59301" y="958779"/>
                  <a:pt x="53994" y="944265"/>
                  <a:pt x="47360" y="931071"/>
                </a:cubicBezTo>
                <a:close/>
                <a:moveTo>
                  <a:pt x="24756" y="863259"/>
                </a:moveTo>
                <a:lnTo>
                  <a:pt x="1331484" y="863259"/>
                </a:lnTo>
                <a:cubicBezTo>
                  <a:pt x="1327504" y="878059"/>
                  <a:pt x="1322197" y="892859"/>
                  <a:pt x="1316891" y="906314"/>
                </a:cubicBezTo>
                <a:cubicBezTo>
                  <a:pt x="1316891" y="906314"/>
                  <a:pt x="1316891" y="906314"/>
                  <a:pt x="38023" y="906314"/>
                </a:cubicBezTo>
                <a:cubicBezTo>
                  <a:pt x="32716" y="892859"/>
                  <a:pt x="28737" y="878059"/>
                  <a:pt x="24756" y="863259"/>
                </a:cubicBezTo>
                <a:close/>
                <a:moveTo>
                  <a:pt x="8610" y="797599"/>
                </a:moveTo>
                <a:lnTo>
                  <a:pt x="1346553" y="797599"/>
                </a:lnTo>
                <a:cubicBezTo>
                  <a:pt x="1343898" y="810793"/>
                  <a:pt x="1341243" y="825307"/>
                  <a:pt x="1338588" y="838502"/>
                </a:cubicBezTo>
                <a:cubicBezTo>
                  <a:pt x="1338588" y="838502"/>
                  <a:pt x="1338588" y="838502"/>
                  <a:pt x="17901" y="838502"/>
                </a:cubicBezTo>
                <a:cubicBezTo>
                  <a:pt x="15247" y="825307"/>
                  <a:pt x="11265" y="810793"/>
                  <a:pt x="8610" y="797599"/>
                </a:cubicBezTo>
                <a:close/>
                <a:moveTo>
                  <a:pt x="1076" y="729788"/>
                </a:moveTo>
                <a:lnTo>
                  <a:pt x="1356240" y="729788"/>
                </a:lnTo>
                <a:cubicBezTo>
                  <a:pt x="1354913" y="744218"/>
                  <a:pt x="1353586" y="758648"/>
                  <a:pt x="1350931" y="771767"/>
                </a:cubicBezTo>
                <a:cubicBezTo>
                  <a:pt x="1350931" y="771767"/>
                  <a:pt x="1350931" y="771767"/>
                  <a:pt x="6385" y="771767"/>
                </a:cubicBezTo>
                <a:cubicBezTo>
                  <a:pt x="3731" y="758648"/>
                  <a:pt x="2404" y="744218"/>
                  <a:pt x="1076" y="729788"/>
                </a:cubicBezTo>
                <a:close/>
                <a:moveTo>
                  <a:pt x="0" y="663052"/>
                </a:moveTo>
                <a:cubicBezTo>
                  <a:pt x="0" y="663052"/>
                  <a:pt x="0" y="663052"/>
                  <a:pt x="1357317" y="663052"/>
                </a:cubicBezTo>
                <a:cubicBezTo>
                  <a:pt x="1357317" y="668434"/>
                  <a:pt x="1357317" y="672470"/>
                  <a:pt x="1357317" y="677852"/>
                </a:cubicBezTo>
                <a:cubicBezTo>
                  <a:pt x="1357317" y="687271"/>
                  <a:pt x="1357317" y="696689"/>
                  <a:pt x="1357317" y="706107"/>
                </a:cubicBezTo>
                <a:cubicBezTo>
                  <a:pt x="1357317" y="706107"/>
                  <a:pt x="1357317" y="706107"/>
                  <a:pt x="0" y="706107"/>
                </a:cubicBezTo>
                <a:cubicBezTo>
                  <a:pt x="0" y="696689"/>
                  <a:pt x="0" y="687271"/>
                  <a:pt x="0" y="677852"/>
                </a:cubicBezTo>
                <a:cubicBezTo>
                  <a:pt x="0" y="672470"/>
                  <a:pt x="0" y="668434"/>
                  <a:pt x="0" y="663052"/>
                </a:cubicBezTo>
                <a:close/>
                <a:moveTo>
                  <a:pt x="3731" y="595240"/>
                </a:moveTo>
                <a:lnTo>
                  <a:pt x="1352258" y="595240"/>
                </a:lnTo>
                <a:cubicBezTo>
                  <a:pt x="1354913" y="610040"/>
                  <a:pt x="1354913" y="623495"/>
                  <a:pt x="1356240" y="638295"/>
                </a:cubicBezTo>
                <a:cubicBezTo>
                  <a:pt x="1356240" y="638295"/>
                  <a:pt x="1356240" y="638295"/>
                  <a:pt x="1076" y="638295"/>
                </a:cubicBezTo>
                <a:cubicBezTo>
                  <a:pt x="1076" y="623495"/>
                  <a:pt x="2404" y="610040"/>
                  <a:pt x="3731" y="595240"/>
                </a:cubicBezTo>
                <a:close/>
                <a:moveTo>
                  <a:pt x="15494" y="529581"/>
                </a:moveTo>
                <a:lnTo>
                  <a:pt x="1340746" y="529581"/>
                </a:lnTo>
                <a:cubicBezTo>
                  <a:pt x="1343400" y="542699"/>
                  <a:pt x="1346053" y="557129"/>
                  <a:pt x="1348706" y="571560"/>
                </a:cubicBezTo>
                <a:cubicBezTo>
                  <a:pt x="1348706" y="571560"/>
                  <a:pt x="1348706" y="571560"/>
                  <a:pt x="7534" y="571560"/>
                </a:cubicBezTo>
                <a:cubicBezTo>
                  <a:pt x="10187" y="557129"/>
                  <a:pt x="12841" y="542699"/>
                  <a:pt x="15494" y="529581"/>
                </a:cubicBezTo>
                <a:close/>
                <a:moveTo>
                  <a:pt x="34544" y="461768"/>
                </a:moveTo>
                <a:lnTo>
                  <a:pt x="1322772" y="461768"/>
                </a:lnTo>
                <a:cubicBezTo>
                  <a:pt x="1326753" y="476198"/>
                  <a:pt x="1330733" y="489317"/>
                  <a:pt x="1334713" y="503747"/>
                </a:cubicBezTo>
                <a:cubicBezTo>
                  <a:pt x="1334713" y="503747"/>
                  <a:pt x="1334713" y="503747"/>
                  <a:pt x="22604" y="503747"/>
                </a:cubicBezTo>
                <a:cubicBezTo>
                  <a:pt x="25257" y="489317"/>
                  <a:pt x="30564" y="476198"/>
                  <a:pt x="34544" y="461768"/>
                </a:cubicBezTo>
                <a:close/>
                <a:moveTo>
                  <a:pt x="60308" y="395033"/>
                </a:moveTo>
                <a:lnTo>
                  <a:pt x="1294604" y="395033"/>
                </a:lnTo>
                <a:cubicBezTo>
                  <a:pt x="1301240" y="408487"/>
                  <a:pt x="1307876" y="423288"/>
                  <a:pt x="1313185" y="438088"/>
                </a:cubicBezTo>
                <a:cubicBezTo>
                  <a:pt x="1313185" y="438088"/>
                  <a:pt x="1313185" y="438088"/>
                  <a:pt x="43055" y="438088"/>
                </a:cubicBezTo>
                <a:cubicBezTo>
                  <a:pt x="48364" y="423288"/>
                  <a:pt x="53672" y="408487"/>
                  <a:pt x="60308" y="395033"/>
                </a:cubicBezTo>
                <a:close/>
                <a:moveTo>
                  <a:pt x="97072" y="327221"/>
                </a:moveTo>
                <a:lnTo>
                  <a:pt x="1260494" y="327221"/>
                </a:lnTo>
                <a:cubicBezTo>
                  <a:pt x="1268454" y="342021"/>
                  <a:pt x="1276413" y="355476"/>
                  <a:pt x="1283046" y="370276"/>
                </a:cubicBezTo>
                <a:cubicBezTo>
                  <a:pt x="1283046" y="370276"/>
                  <a:pt x="1283046" y="370276"/>
                  <a:pt x="73193" y="370276"/>
                </a:cubicBezTo>
                <a:cubicBezTo>
                  <a:pt x="81153" y="355476"/>
                  <a:pt x="89112" y="342021"/>
                  <a:pt x="97072" y="327221"/>
                </a:cubicBezTo>
                <a:close/>
                <a:moveTo>
                  <a:pt x="143523" y="261561"/>
                </a:moveTo>
                <a:lnTo>
                  <a:pt x="1213793" y="261561"/>
                </a:lnTo>
                <a:cubicBezTo>
                  <a:pt x="1224403" y="274680"/>
                  <a:pt x="1235013" y="289110"/>
                  <a:pt x="1244297" y="303540"/>
                </a:cubicBezTo>
                <a:cubicBezTo>
                  <a:pt x="1244297" y="303540"/>
                  <a:pt x="1244297" y="303540"/>
                  <a:pt x="113020" y="303540"/>
                </a:cubicBezTo>
                <a:cubicBezTo>
                  <a:pt x="122303" y="289110"/>
                  <a:pt x="132913" y="274680"/>
                  <a:pt x="143523" y="261561"/>
                </a:cubicBezTo>
                <a:close/>
                <a:moveTo>
                  <a:pt x="202347" y="194825"/>
                </a:moveTo>
                <a:cubicBezTo>
                  <a:pt x="202347" y="194825"/>
                  <a:pt x="202347" y="194825"/>
                  <a:pt x="1153893" y="194825"/>
                </a:cubicBezTo>
                <a:cubicBezTo>
                  <a:pt x="1167165" y="208019"/>
                  <a:pt x="1180436" y="221214"/>
                  <a:pt x="1193707" y="235728"/>
                </a:cubicBezTo>
                <a:cubicBezTo>
                  <a:pt x="1193707" y="235728"/>
                  <a:pt x="1193707" y="235728"/>
                  <a:pt x="162533" y="235728"/>
                </a:cubicBezTo>
                <a:cubicBezTo>
                  <a:pt x="174478" y="221214"/>
                  <a:pt x="187749" y="208019"/>
                  <a:pt x="202347" y="194825"/>
                </a:cubicBezTo>
                <a:close/>
                <a:moveTo>
                  <a:pt x="281045" y="127014"/>
                </a:moveTo>
                <a:lnTo>
                  <a:pt x="1074944" y="127014"/>
                </a:lnTo>
                <a:cubicBezTo>
                  <a:pt x="1093530" y="140469"/>
                  <a:pt x="1110789" y="155269"/>
                  <a:pt x="1128047" y="170069"/>
                </a:cubicBezTo>
                <a:cubicBezTo>
                  <a:pt x="1128047" y="170069"/>
                  <a:pt x="1128047" y="170069"/>
                  <a:pt x="229269" y="170069"/>
                </a:cubicBezTo>
                <a:cubicBezTo>
                  <a:pt x="245200" y="155269"/>
                  <a:pt x="263786" y="140469"/>
                  <a:pt x="281045" y="127014"/>
                </a:cubicBezTo>
                <a:close/>
                <a:moveTo>
                  <a:pt x="396878" y="61354"/>
                </a:moveTo>
                <a:lnTo>
                  <a:pt x="959362" y="61354"/>
                </a:lnTo>
                <a:cubicBezTo>
                  <a:pt x="987220" y="73229"/>
                  <a:pt x="1012426" y="86423"/>
                  <a:pt x="1037631" y="102257"/>
                </a:cubicBezTo>
                <a:cubicBezTo>
                  <a:pt x="1037631" y="102257"/>
                  <a:pt x="1037631" y="102257"/>
                  <a:pt x="318608" y="102257"/>
                </a:cubicBezTo>
                <a:cubicBezTo>
                  <a:pt x="343814" y="86423"/>
                  <a:pt x="370346" y="73229"/>
                  <a:pt x="396878" y="61354"/>
                </a:cubicBezTo>
                <a:close/>
                <a:moveTo>
                  <a:pt x="677581" y="0"/>
                </a:moveTo>
                <a:cubicBezTo>
                  <a:pt x="754578" y="0"/>
                  <a:pt x="827593" y="11841"/>
                  <a:pt x="896625" y="35521"/>
                </a:cubicBezTo>
                <a:cubicBezTo>
                  <a:pt x="896625" y="35521"/>
                  <a:pt x="896625" y="35521"/>
                  <a:pt x="458538" y="35521"/>
                </a:cubicBezTo>
                <a:cubicBezTo>
                  <a:pt x="527570" y="11841"/>
                  <a:pt x="601912" y="0"/>
                  <a:pt x="677581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34000"/>
                </a:srgbClr>
              </a:gs>
              <a:gs pos="76000">
                <a:srgbClr val="000000">
                  <a:alpha val="3000"/>
                </a:srgbClr>
              </a:gs>
              <a:gs pos="100000">
                <a:srgbClr val="000000">
                  <a:alpha val="3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 rot="1800000">
            <a:off x="367916" y="1062304"/>
            <a:ext cx="1357317" cy="13573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93715" y="0"/>
            <a:ext cx="6598285" cy="6853555"/>
          </a:xfrm>
          <a:custGeom>
            <a:avLst/>
            <a:gdLst/>
            <a:ahLst/>
            <a:cxnLst/>
            <a:rect l="l" t="t" r="r" b="b"/>
            <a:pathLst>
              <a:path w="6598285" h="6853555">
                <a:moveTo>
                  <a:pt x="1058425" y="0"/>
                </a:moveTo>
                <a:lnTo>
                  <a:pt x="6598285" y="0"/>
                </a:lnTo>
                <a:lnTo>
                  <a:pt x="6598285" y="6853555"/>
                </a:lnTo>
                <a:lnTo>
                  <a:pt x="1136835" y="6853555"/>
                </a:lnTo>
                <a:lnTo>
                  <a:pt x="1008283" y="6678901"/>
                </a:lnTo>
                <a:cubicBezTo>
                  <a:pt x="378388" y="5780658"/>
                  <a:pt x="0" y="4629089"/>
                  <a:pt x="0" y="3373514"/>
                </a:cubicBezTo>
                <a:cubicBezTo>
                  <a:pt x="0" y="2117938"/>
                  <a:pt x="378387" y="966368"/>
                  <a:pt x="1008281" y="68125"/>
                </a:cubicBez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593715" y="0"/>
            <a:ext cx="6598285" cy="68535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2155" y="1543050"/>
            <a:ext cx="10728325" cy="44100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D9D9D9"/>
            </a:solidFill>
            <a:prstDash val="solid"/>
          </a:ln>
          <a:effectLst>
            <a:outerShdw blurRad="266700" dist="76200" dir="2700000" algn="bl" rotWithShape="0">
              <a:srgbClr val="017ED5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2155" y="1543050"/>
            <a:ext cx="10728325" cy="4410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43305" y="4949190"/>
            <a:ext cx="631190" cy="626745"/>
          </a:xfrm>
          <a:prstGeom prst="ellipse">
            <a:avLst/>
          </a:prstGeom>
          <a:solidFill>
            <a:srgbClr val="017ED5">
              <a:alpha val="5098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043305" y="4949190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23897" y="5029214"/>
            <a:ext cx="470007" cy="466697"/>
          </a:xfrm>
          <a:prstGeom prst="ellipse">
            <a:avLst/>
          </a:prstGeom>
          <a:solidFill>
            <a:srgbClr val="000000">
              <a:alpha val="18039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123897" y="5029214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98996" y="5103784"/>
            <a:ext cx="319808" cy="317556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63500" dir="2700000" algn="bl" rotWithShape="0">
              <a:srgbClr val="017ED5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198996" y="5103784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 flipH="1">
            <a:off x="1852930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1852930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2050522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050522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H="1">
            <a:off x="2248114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2248114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 flipH="1">
            <a:off x="2445706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445706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H="1">
            <a:off x="2643298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643298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 flipH="1">
            <a:off x="2840890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2840890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 flipH="1">
            <a:off x="3038482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3038482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 flipH="1">
            <a:off x="3236071" y="502920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3236071" y="502920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 flipH="1">
            <a:off x="5085080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085080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 flipH="1">
            <a:off x="5282672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282672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 flipH="1">
            <a:off x="5480264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480264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flipH="1">
            <a:off x="5677856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5677856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 flipH="1">
            <a:off x="5875448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5875448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 flipH="1">
            <a:off x="6073040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6073040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 flipH="1">
            <a:off x="6270632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6270632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 flipH="1">
            <a:off x="6468221" y="500253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6468221" y="500253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 flipH="1">
            <a:off x="8402320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8402320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 flipH="1">
            <a:off x="8599912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8599912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 flipH="1">
            <a:off x="8797504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8797504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 flipH="1">
            <a:off x="8995096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8995096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 flipH="1">
            <a:off x="9192688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9192688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 flipH="1">
            <a:off x="9390280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9390280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 flipH="1">
            <a:off x="9587872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9587872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 flipH="1">
            <a:off x="9785461" y="4963160"/>
            <a:ext cx="185309" cy="280670"/>
          </a:xfrm>
          <a:custGeom>
            <a:avLst/>
            <a:gdLst/>
            <a:ahLst/>
            <a:cxnLst/>
            <a:rect l="l" t="t" r="r" b="b"/>
            <a:pathLst>
              <a:path w="185309" h="280670">
                <a:moveTo>
                  <a:pt x="151177" y="212934"/>
                </a:moveTo>
                <a:cubicBezTo>
                  <a:pt x="170027" y="212934"/>
                  <a:pt x="185309" y="228097"/>
                  <a:pt x="185309" y="246802"/>
                </a:cubicBezTo>
                <a:cubicBezTo>
                  <a:pt x="185309" y="265507"/>
                  <a:pt x="170027" y="280670"/>
                  <a:pt x="151177" y="280670"/>
                </a:cubicBezTo>
                <a:cubicBezTo>
                  <a:pt x="132327" y="280670"/>
                  <a:pt x="117045" y="265507"/>
                  <a:pt x="117045" y="246802"/>
                </a:cubicBezTo>
                <a:cubicBezTo>
                  <a:pt x="117045" y="228097"/>
                  <a:pt x="132327" y="212934"/>
                  <a:pt x="151177" y="212934"/>
                </a:cubicBezTo>
                <a:close/>
                <a:moveTo>
                  <a:pt x="92621" y="159692"/>
                </a:moveTo>
                <a:cubicBezTo>
                  <a:pt x="111481" y="159692"/>
                  <a:pt x="126769" y="174855"/>
                  <a:pt x="126769" y="193560"/>
                </a:cubicBezTo>
                <a:cubicBezTo>
                  <a:pt x="126769" y="212265"/>
                  <a:pt x="111481" y="227428"/>
                  <a:pt x="92621" y="227428"/>
                </a:cubicBezTo>
                <a:cubicBezTo>
                  <a:pt x="73762" y="227428"/>
                  <a:pt x="58473" y="212265"/>
                  <a:pt x="58473" y="193560"/>
                </a:cubicBezTo>
                <a:cubicBezTo>
                  <a:pt x="58473" y="174855"/>
                  <a:pt x="73762" y="159692"/>
                  <a:pt x="92621" y="159692"/>
                </a:cubicBezTo>
                <a:close/>
                <a:moveTo>
                  <a:pt x="34132" y="106451"/>
                </a:moveTo>
                <a:cubicBezTo>
                  <a:pt x="52982" y="106451"/>
                  <a:pt x="68263" y="121614"/>
                  <a:pt x="68263" y="140319"/>
                </a:cubicBezTo>
                <a:cubicBezTo>
                  <a:pt x="68263" y="159023"/>
                  <a:pt x="52982" y="174186"/>
                  <a:pt x="34132" y="174186"/>
                </a:cubicBezTo>
                <a:cubicBezTo>
                  <a:pt x="15281" y="174186"/>
                  <a:pt x="0" y="159023"/>
                  <a:pt x="0" y="140319"/>
                </a:cubicBezTo>
                <a:cubicBezTo>
                  <a:pt x="0" y="121614"/>
                  <a:pt x="15281" y="106451"/>
                  <a:pt x="34132" y="106451"/>
                </a:cubicBezTo>
                <a:close/>
                <a:moveTo>
                  <a:pt x="92621" y="53242"/>
                </a:moveTo>
                <a:cubicBezTo>
                  <a:pt x="111481" y="53242"/>
                  <a:pt x="126769" y="68412"/>
                  <a:pt x="126769" y="87126"/>
                </a:cubicBezTo>
                <a:cubicBezTo>
                  <a:pt x="126769" y="105839"/>
                  <a:pt x="111481" y="121010"/>
                  <a:pt x="92621" y="121010"/>
                </a:cubicBezTo>
                <a:cubicBezTo>
                  <a:pt x="73762" y="121010"/>
                  <a:pt x="58473" y="105839"/>
                  <a:pt x="58473" y="87126"/>
                </a:cubicBezTo>
                <a:cubicBezTo>
                  <a:pt x="58473" y="68412"/>
                  <a:pt x="73762" y="53242"/>
                  <a:pt x="92621" y="53242"/>
                </a:cubicBezTo>
                <a:close/>
                <a:moveTo>
                  <a:pt x="151177" y="0"/>
                </a:moveTo>
                <a:cubicBezTo>
                  <a:pt x="170027" y="0"/>
                  <a:pt x="185309" y="15171"/>
                  <a:pt x="185309" y="33884"/>
                </a:cubicBezTo>
                <a:cubicBezTo>
                  <a:pt x="185309" y="52598"/>
                  <a:pt x="170027" y="67768"/>
                  <a:pt x="151177" y="67768"/>
                </a:cubicBezTo>
                <a:cubicBezTo>
                  <a:pt x="132327" y="67768"/>
                  <a:pt x="117045" y="52598"/>
                  <a:pt x="117045" y="33884"/>
                </a:cubicBezTo>
                <a:cubicBezTo>
                  <a:pt x="117045" y="15171"/>
                  <a:pt x="132327" y="0"/>
                  <a:pt x="1511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100000">
                <a:srgbClr val="000000"/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9785461" y="4963160"/>
            <a:ext cx="185309" cy="280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22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 61"/>
          <p:cNvSpPr/>
          <p:nvPr/>
        </p:nvSpPr>
        <p:spPr>
          <a:xfrm>
            <a:off x="422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49910" y="6374130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549910" y="6374130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180840" y="4848225"/>
            <a:ext cx="631190" cy="626745"/>
          </a:xfrm>
          <a:prstGeom prst="ellipse">
            <a:avLst/>
          </a:prstGeom>
          <a:solidFill>
            <a:srgbClr val="017ED5">
              <a:alpha val="5098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Text 65"/>
          <p:cNvSpPr/>
          <p:nvPr/>
        </p:nvSpPr>
        <p:spPr>
          <a:xfrm>
            <a:off x="4180840" y="4848225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261432" y="4928249"/>
            <a:ext cx="470007" cy="466697"/>
          </a:xfrm>
          <a:prstGeom prst="ellipse">
            <a:avLst/>
          </a:prstGeom>
          <a:solidFill>
            <a:srgbClr val="000000">
              <a:alpha val="18039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Text 67"/>
          <p:cNvSpPr/>
          <p:nvPr/>
        </p:nvSpPr>
        <p:spPr>
          <a:xfrm>
            <a:off x="4261432" y="4928249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336531" y="5002819"/>
            <a:ext cx="319808" cy="317556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63500" dir="2700000" algn="bl" rotWithShape="0">
              <a:srgbClr val="017ED5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4336531" y="5002819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498080" y="4838065"/>
            <a:ext cx="631190" cy="626745"/>
          </a:xfrm>
          <a:prstGeom prst="ellipse">
            <a:avLst/>
          </a:prstGeom>
          <a:solidFill>
            <a:srgbClr val="017ED5">
              <a:alpha val="5098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Text 71"/>
          <p:cNvSpPr/>
          <p:nvPr/>
        </p:nvSpPr>
        <p:spPr>
          <a:xfrm>
            <a:off x="7498080" y="4838065"/>
            <a:ext cx="631190" cy="6267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578672" y="4918089"/>
            <a:ext cx="470007" cy="466697"/>
          </a:xfrm>
          <a:prstGeom prst="ellipse">
            <a:avLst/>
          </a:prstGeom>
          <a:solidFill>
            <a:srgbClr val="000000">
              <a:alpha val="18039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3"/>
          <p:cNvSpPr/>
          <p:nvPr/>
        </p:nvSpPr>
        <p:spPr>
          <a:xfrm>
            <a:off x="7578672" y="4918089"/>
            <a:ext cx="470007" cy="46669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653771" y="4992659"/>
            <a:ext cx="319808" cy="317556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63500" dir="2700000" algn="bl" rotWithShape="0">
              <a:srgbClr val="017ED5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7" name="Text 75"/>
          <p:cNvSpPr/>
          <p:nvPr/>
        </p:nvSpPr>
        <p:spPr>
          <a:xfrm>
            <a:off x="7653771" y="4992659"/>
            <a:ext cx="319808" cy="317556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8" name="Image 0" descr="https://kimi-img.moonshot.cn/pub/slides/slides_tmpl/image/25-09-02-14:36:35-d2r90spe3tpg8rchuq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85" y="2070735"/>
            <a:ext cx="18415" cy="2688590"/>
          </a:xfrm>
          <a:prstGeom prst="rect">
            <a:avLst/>
          </a:prstGeom>
        </p:spPr>
      </p:pic>
      <p:pic>
        <p:nvPicPr>
          <p:cNvPr id="79" name="Image 1" descr="https://kimi-img.moonshot.cn/pub/slides/slides_tmpl/image/25-09-02-14:36:35-d2r90spe3tpg8rchuq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355" y="2070735"/>
            <a:ext cx="18415" cy="2688590"/>
          </a:xfrm>
          <a:prstGeom prst="rect">
            <a:avLst/>
          </a:prstGeom>
        </p:spPr>
      </p:pic>
      <p:pic>
        <p:nvPicPr>
          <p:cNvPr id="80" name="Image 2" descr="https://kimi-img.moonshot.cn/pub/slides/slides_tmpl/image/25-09-02-14:36:35-d2r90spe3tpg8rchuq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205" y="2070735"/>
            <a:ext cx="18415" cy="2688590"/>
          </a:xfrm>
          <a:prstGeom prst="rect">
            <a:avLst/>
          </a:prstGeom>
        </p:spPr>
      </p:pic>
      <p:sp>
        <p:nvSpPr>
          <p:cNvPr id="81" name="Shape 76"/>
          <p:cNvSpPr/>
          <p:nvPr/>
        </p:nvSpPr>
        <p:spPr>
          <a:xfrm>
            <a:off x="1196975" y="1911985"/>
            <a:ext cx="227330" cy="215265"/>
          </a:xfrm>
          <a:prstGeom prst="ellipse">
            <a:avLst/>
          </a:prstGeom>
          <a:solidFill>
            <a:srgbClr val="000000"/>
          </a:solidFill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10740000" scaled="1"/>
            </a:gra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Text 77"/>
          <p:cNvSpPr/>
          <p:nvPr/>
        </p:nvSpPr>
        <p:spPr>
          <a:xfrm>
            <a:off x="1196975" y="191198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3" name="Shape 78"/>
          <p:cNvSpPr/>
          <p:nvPr/>
        </p:nvSpPr>
        <p:spPr>
          <a:xfrm>
            <a:off x="4398645" y="1885315"/>
            <a:ext cx="227330" cy="215265"/>
          </a:xfrm>
          <a:prstGeom prst="ellipse">
            <a:avLst/>
          </a:prstGeom>
          <a:solidFill>
            <a:srgbClr val="000000"/>
          </a:solidFill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10740000" scaled="1"/>
            </a:gra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79"/>
          <p:cNvSpPr/>
          <p:nvPr/>
        </p:nvSpPr>
        <p:spPr>
          <a:xfrm>
            <a:off x="4398645" y="188531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5" name="Shape 80"/>
          <p:cNvSpPr/>
          <p:nvPr/>
        </p:nvSpPr>
        <p:spPr>
          <a:xfrm>
            <a:off x="7746365" y="1845945"/>
            <a:ext cx="227330" cy="215265"/>
          </a:xfrm>
          <a:prstGeom prst="ellipse">
            <a:avLst/>
          </a:prstGeom>
          <a:solidFill>
            <a:srgbClr val="000000"/>
          </a:solidFill>
          <a:ln w="19050">
            <a:gradFill flip="none" rotWithShape="1">
              <a:gsLst>
                <a:gs pos="0">
                  <a:srgbClr val="000000">
                    <a:alpha val="0"/>
                  </a:srgbClr>
                </a:gs>
                <a:gs pos="15000">
                  <a:srgbClr val="000000">
                    <a:alpha val="0"/>
                  </a:srgbClr>
                </a:gs>
                <a:gs pos="100000">
                  <a:srgbClr val="000000"/>
                </a:gs>
              </a:gsLst>
              <a:lin ang="10740000" scaled="1"/>
            </a:gra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Text 81"/>
          <p:cNvSpPr/>
          <p:nvPr/>
        </p:nvSpPr>
        <p:spPr>
          <a:xfrm>
            <a:off x="7746365" y="1845945"/>
            <a:ext cx="227330" cy="21526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7" name="Shape 8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8" name="Text 8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9" name="Shape 8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0" name="Text 8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1" name="Text 8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sin perder protección</a:t>
            </a:r>
            <a:endParaRPr lang="en-US" sz="1600" dirty="0"/>
          </a:p>
        </p:txBody>
      </p:sp>
      <p:sp>
        <p:nvSpPr>
          <p:cNvPr id="92" name="Text 87"/>
          <p:cNvSpPr/>
          <p:nvPr/>
        </p:nvSpPr>
        <p:spPr>
          <a:xfrm>
            <a:off x="1512570" y="1911985"/>
            <a:ext cx="3122930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entre flexibilidad y protección</a:t>
            </a:r>
            <a:endParaRPr lang="en-US" sz="1600" dirty="0"/>
          </a:p>
        </p:txBody>
      </p:sp>
      <p:sp>
        <p:nvSpPr>
          <p:cNvPr id="93" name="Text 88"/>
          <p:cNvSpPr/>
          <p:nvPr/>
        </p:nvSpPr>
        <p:spPr>
          <a:xfrm>
            <a:off x="1515110" y="2399665"/>
            <a:ext cx="270827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experiencia internacional muestra que es posible combinar alta protección de los trabajadores con mecanismos efectivos de flexibilidad interna que permitan ajustes ante shocks económicos.</a:t>
            </a:r>
            <a:endParaRPr lang="en-US" sz="1600" dirty="0"/>
          </a:p>
        </p:txBody>
      </p:sp>
      <p:sp>
        <p:nvSpPr>
          <p:cNvPr id="94" name="Text 89"/>
          <p:cNvSpPr/>
          <p:nvPr/>
        </p:nvSpPr>
        <p:spPr>
          <a:xfrm>
            <a:off x="4693920" y="1885315"/>
            <a:ext cx="3122930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 interna</a:t>
            </a:r>
            <a:endParaRPr lang="en-US" sz="1600" dirty="0"/>
          </a:p>
        </p:txBody>
      </p:sp>
      <p:sp>
        <p:nvSpPr>
          <p:cNvPr id="95" name="Text 90"/>
          <p:cNvSpPr/>
          <p:nvPr/>
        </p:nvSpPr>
        <p:spPr>
          <a:xfrm>
            <a:off x="4747260" y="2372995"/>
            <a:ext cx="270827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Desarrollar mecanismos de flexibilidad interna que permitan ajustes sin recurrir primariamente a la destrucción de empleo es crucial para mejorar el funcionamiento del mercado laboral.</a:t>
            </a:r>
            <a:endParaRPr lang="en-US" sz="1600" dirty="0"/>
          </a:p>
        </p:txBody>
      </p:sp>
      <p:sp>
        <p:nvSpPr>
          <p:cNvPr id="96" name="Text 91"/>
          <p:cNvSpPr/>
          <p:nvPr/>
        </p:nvSpPr>
        <p:spPr>
          <a:xfrm>
            <a:off x="8061960" y="1845945"/>
            <a:ext cx="3122930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Mantener protección</a:t>
            </a:r>
            <a:endParaRPr lang="en-US" sz="1600" dirty="0"/>
          </a:p>
        </p:txBody>
      </p:sp>
      <p:sp>
        <p:nvSpPr>
          <p:cNvPr id="97" name="Text 92"/>
          <p:cNvSpPr/>
          <p:nvPr/>
        </p:nvSpPr>
        <p:spPr>
          <a:xfrm>
            <a:off x="8064500" y="2333625"/>
            <a:ext cx="270827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Mientras se mejora la capacidad de adaptación del sistema, es importante mantener niveles adecuados de protección para los trabajadores.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36650" y="1626235"/>
            <a:ext cx="3187700" cy="822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36650" y="1626235"/>
            <a:ext cx="3187700" cy="822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37785" y="2499360"/>
            <a:ext cx="3185430" cy="321500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137785" y="2499360"/>
            <a:ext cx="3185430" cy="32150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19650" y="1626235"/>
            <a:ext cx="3187700" cy="82296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19650" y="1626235"/>
            <a:ext cx="3187700" cy="822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20785" y="2499360"/>
            <a:ext cx="3185430" cy="321500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20785" y="2499360"/>
            <a:ext cx="3185430" cy="32150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0" descr="https://kimi-img.moonshot.cn/pub/slides/slides_tmpl/image/25-09-02-14:36:35-d2r90spe3tpg8rchuq0g.png"/>
          <p:cNvPicPr>
            <a:picLocks noChangeAspect="1"/>
          </p:cNvPicPr>
          <p:nvPr/>
        </p:nvPicPr>
        <p:blipFill>
          <a:blip r:embed="rId3"/>
          <a:srcRect l="60" r="60"/>
          <a:stretch/>
        </p:blipFill>
        <p:spPr>
          <a:xfrm>
            <a:off x="8471535" y="18415"/>
            <a:ext cx="3720465" cy="682815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Lecciones internacionales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7232" y="1675765"/>
            <a:ext cx="3029822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Coordinación macroeconómica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40486" y="2667000"/>
            <a:ext cx="2980596" cy="2327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países con sistemas resilientes, la negociación salarial considera explícitamente las condiciones macroeconómicas y de competitividad, lo que permite un ajuste más efectivo.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870232" y="1675765"/>
            <a:ext cx="3029822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Articulación entre niveles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923486" y="2667000"/>
            <a:ext cx="2980596" cy="23279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articulación efectiva entre niveles de negociación permite una adaptación significativa a nivel de empresa mientras se mantiene la coordinación sectorial.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6-d2r90t1e3tpg8rchuq7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60" y="1297305"/>
            <a:ext cx="3463925" cy="46018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81450" y="5556885"/>
            <a:ext cx="668020" cy="727075"/>
          </a:xfrm>
          <a:prstGeom prst="roundRect">
            <a:avLst>
              <a:gd name="adj" fmla="val 10513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871720" y="3066415"/>
            <a:ext cx="3194685" cy="29216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4871720" y="3066415"/>
            <a:ext cx="3194685" cy="29216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93100" y="3091815"/>
            <a:ext cx="3157220" cy="29102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8293100" y="3091815"/>
            <a:ext cx="3157220" cy="29102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6200000">
            <a:off x="7311390" y="-730250"/>
            <a:ext cx="199390" cy="516699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66666"/>
              </a:gs>
              <a:gs pos="28000">
                <a:srgbClr val="666666"/>
              </a:gs>
              <a:gs pos="100000">
                <a:srgbClr val="808080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16200000">
            <a:off x="7311390" y="-730250"/>
            <a:ext cx="199390" cy="51669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32000" y="1793240"/>
            <a:ext cx="40640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Reformas legales necesarias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02505" y="1275715"/>
            <a:ext cx="663511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80808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Clarificar articulación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802505" y="1991995"/>
            <a:ext cx="6647815" cy="1209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necesario clarificar la articulación entre niveles de negociación para mejorar la coordinación y eficiencia del sistema.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048250" y="32365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Racionalizar ámbitos territoriales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48250" y="3645535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Racionalizar los ámbitos territoriales de negociación hacia un enfoque más nacional puede ser más eficiente que la actual fragmentación provincial.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337550" y="3236595"/>
            <a:ext cx="3100705" cy="281305"/>
          </a:xfrm>
          <a:prstGeom prst="rect">
            <a:avLst/>
          </a:prstGeom>
          <a:noFill/>
          <a:ln/>
        </p:spPr>
        <p:txBody>
          <a:bodyPr wrap="square" lIns="0" tIns="0" rIns="0" bIns="35941" rtlCol="0" anchor="b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Fortalecer adaptación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418195" y="3771900"/>
            <a:ext cx="2872740" cy="2236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Fortalecer los mecanismos de adaptación a nivel de empresa sin sacrificar la coordinación sectorial es crucial para mejorar la flexibilidad del sistema.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5-d2r90spe3tpg8rchupvg.png"/>
          <p:cNvPicPr>
            <a:picLocks noChangeAspect="1"/>
          </p:cNvPicPr>
          <p:nvPr/>
        </p:nvPicPr>
        <p:blipFill>
          <a:blip r:embed="rId3"/>
          <a:srcRect t="137" b="137"/>
          <a:stretch/>
        </p:blipFill>
        <p:spPr>
          <a:xfrm>
            <a:off x="0" y="4779010"/>
            <a:ext cx="12207875" cy="207899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28395" y="1508760"/>
            <a:ext cx="9935845" cy="4114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128395" y="1508760"/>
            <a:ext cx="9935845" cy="41148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88317" y="3566160"/>
            <a:ext cx="92160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Desarrollo institucional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48435" y="1863725"/>
            <a:ext cx="927227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Fortalecer capacidades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48435" y="2273300"/>
            <a:ext cx="929513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Fortalecer las capacidades de negociación tanto en empresas como en representantes de los trabajadores es esencial para el éxito de cualquier reforma.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48435" y="3773805"/>
            <a:ext cx="927227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coordinación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48435" y="4183380"/>
            <a:ext cx="929513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Desarrollar mecanismos de coordinación más efectivos y mejorar los sistemas de información y seguimiento de la negociación colectiva son pasos cruciales.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5-d2r90spe3tpg8rchuq4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25" y="1407795"/>
            <a:ext cx="3298190" cy="46088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0" y="6325235"/>
            <a:ext cx="12190730" cy="5340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796030" y="1413510"/>
            <a:ext cx="8031480" cy="46024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3796030" y="1413510"/>
            <a:ext cx="8031480" cy="46024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67175" y="2952115"/>
            <a:ext cx="756031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4067175" y="4481830"/>
            <a:ext cx="756031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Implementación gradual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38600" y="1572895"/>
            <a:ext cx="761746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Corto plazo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038600" y="1941830"/>
            <a:ext cx="7616190" cy="12966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el corto plazo, es necesario mejorar la transparencia y las capacidades técnicas de los negociadores para sentar las bases de un sistema más eficiente.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038600" y="3102610"/>
            <a:ext cx="761746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Medio plazo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038600" y="3471545"/>
            <a:ext cx="7616190" cy="9385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el medio plazo, reformar el marco legal para clarificar la articulación entre niveles y desarrollar mecanismos de coordinación más efectivos es crucial.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038600" y="4632325"/>
            <a:ext cx="761746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Largo plazo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38600" y="5001260"/>
            <a:ext cx="7616190" cy="929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2B2F3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 el largo plazo, consolidar un modelo de descentralización organizada y desarrollar plenamente las capacidades institucionales necesarias son objetivos fundamentales.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0" y="4201795"/>
            <a:ext cx="12207240" cy="2011045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2540" y="4201795"/>
            <a:ext cx="12207240" cy="2011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1336675"/>
            <a:ext cx="4510405" cy="2757805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1336675"/>
            <a:ext cx="4510405" cy="27578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0" descr="https://kimi-img.moonshot.cn/pub/slides/slides_tmpl/image/25-09-02-14:36:34-d2r90she3tpg8rchupu0.png"/>
          <p:cNvPicPr>
            <a:picLocks noChangeAspect="1"/>
          </p:cNvPicPr>
          <p:nvPr/>
        </p:nvPicPr>
        <p:blipFill>
          <a:blip r:embed="rId3"/>
          <a:srcRect t="57" b="57"/>
          <a:stretch/>
        </p:blipFill>
        <p:spPr>
          <a:xfrm>
            <a:off x="5470525" y="1336675"/>
            <a:ext cx="5805805" cy="276415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 rot="5400000">
            <a:off x="467360" y="562610"/>
            <a:ext cx="330200" cy="330200"/>
          </a:xfrm>
          <a:prstGeom prst="triangle">
            <a:avLst/>
          </a:prstGeom>
          <a:solidFill>
            <a:srgbClr val="BFBFB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 rot="5400000">
            <a:off x="467360" y="562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5400000">
            <a:off x="594360" y="689610"/>
            <a:ext cx="330200" cy="330200"/>
          </a:xfrm>
          <a:prstGeom prst="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 rot="5400000">
            <a:off x="594360" y="689610"/>
            <a:ext cx="330200" cy="3302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24560" y="497840"/>
            <a:ext cx="107829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Conclusión: nuevo modelo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1188" y="1680845"/>
            <a:ext cx="41832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Transformación del sistema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47445" y="2179320"/>
            <a:ext cx="4184015" cy="14890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transformación hacia un sistema más dinámico y resiliente requiere cambios legales, desarrollo de capacidades institucionales y evolución de la cultura negociadora.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95045" y="4332605"/>
            <a:ext cx="1054925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Equilibrio entre protección y flexibilidad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95045" y="4815840"/>
            <a:ext cx="10386060" cy="11703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objetivo final debe ser combinar alta cobertura y protección de los trabajadores con flexibilidad y capacidad de adaptación que mejore el funcionamiento del mercado laboral.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gradFill flip="none" rotWithShape="0">
          <a:gsLst>
            <a:gs pos="0">
              <a:srgbClr val="CCCCCC">
                <a:alpha val="83000"/>
              </a:srgbClr>
            </a:gs>
            <a:gs pos="100000">
              <a:srgbClr val="99999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2-14:36:34-d2r90she3tpg8rchup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"/>
            <a:ext cx="12186920" cy="6855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8745" y="2014220"/>
            <a:ext cx="8026400" cy="1414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GRACIAS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00000"/>
      </a:accent1>
      <a:accent2>
        <a:srgbClr val="FFFFFF"/>
      </a:accent2>
      <a:accent3>
        <a:srgbClr val="000000"/>
      </a:accent3>
      <a:accent4>
        <a:srgbClr val="7D7F87"/>
      </a:accent4>
      <a:accent5>
        <a:srgbClr val="FFFFFF"/>
      </a:accent5>
      <a:accent6>
        <a:srgbClr val="DCDCD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2686</Words>
  <Application>Microsoft Office PowerPoint</Application>
  <PresentationFormat>Panorámica</PresentationFormat>
  <Paragraphs>269</Paragraphs>
  <Slides>40</Slides>
  <Notes>38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3" baseType="lpstr">
      <vt:lpstr>MiSans</vt:lpstr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Negociación Colectiva en España</dc:title>
  <dc:subject>Negociación Colectiva en España</dc:subject>
  <dc:creator>Kimi</dc:creator>
  <cp:lastModifiedBy>Manuel Alejandro Hidalgo Perez</cp:lastModifiedBy>
  <cp:revision>3</cp:revision>
  <dcterms:created xsi:type="dcterms:W3CDTF">2025-11-16T07:58:31Z</dcterms:created>
  <dcterms:modified xsi:type="dcterms:W3CDTF">2025-11-16T08:34:57Z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{"Label":"Negociación Colectiva en España","ContentProducer":"001191110108MACG2KBH8F10000","ProduceID":"d4co50jmtof3c0u5bs80","ReservedCode1":"","ContentPropagator":"001191110108MACG2KBH8F20000","PropagateID":"d4co50jmtof3c0u5bs80","ReservedCode2":""}</vt:lpwstr>
  </property>
</Properties>
</file>