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6" r:id="rId17"/>
    <p:sldId id="361" r:id="rId18"/>
    <p:sldId id="362" r:id="rId19"/>
    <p:sldId id="364" r:id="rId20"/>
    <p:sldId id="278" r:id="rId21"/>
    <p:sldId id="279" r:id="rId22"/>
    <p:sldId id="280" r:id="rId23"/>
    <p:sldId id="281" r:id="rId24"/>
    <p:sldId id="282" r:id="rId25"/>
    <p:sldId id="285" r:id="rId26"/>
    <p:sldId id="286" r:id="rId27"/>
    <p:sldId id="366" r:id="rId28"/>
    <p:sldId id="367" r:id="rId29"/>
    <p:sldId id="289" r:id="rId30"/>
    <p:sldId id="290" r:id="rId31"/>
    <p:sldId id="291" r:id="rId32"/>
    <p:sldId id="368" r:id="rId33"/>
    <p:sldId id="294" r:id="rId34"/>
    <p:sldId id="295" r:id="rId35"/>
    <p:sldId id="296" r:id="rId36"/>
    <p:sldId id="297" r:id="rId37"/>
    <p:sldId id="300" r:id="rId38"/>
    <p:sldId id="301" r:id="rId39"/>
    <p:sldId id="302" r:id="rId40"/>
    <p:sldId id="369" r:id="rId41"/>
    <p:sldId id="371" r:id="rId42"/>
    <p:sldId id="305" r:id="rId43"/>
  </p:sldIdLst>
  <p:sldSz cx="10693400" cy="7562850"/>
  <p:notesSz cx="10693400" cy="756285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160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225306" cy="3138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9444619" y="0"/>
            <a:ext cx="7225306" cy="3138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  <a:t>10/09/2024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460359" y="781888"/>
            <a:ext cx="3753064" cy="211109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667378" y="3010270"/>
            <a:ext cx="13339026" cy="246294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5941266"/>
            <a:ext cx="7225306" cy="3138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9444619" y="5941266"/>
            <a:ext cx="7225306" cy="3138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Marcador de posición de texto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s-E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26599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C0000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26599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C0000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26599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4839" y="349007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8991587" y="0"/>
                </a:lnTo>
                <a:lnTo>
                  <a:pt x="8991587" y="2514600"/>
                </a:lnTo>
                <a:lnTo>
                  <a:pt x="8991587" y="6705600"/>
                </a:lnTo>
                <a:lnTo>
                  <a:pt x="152400" y="6705600"/>
                </a:lnTo>
                <a:lnTo>
                  <a:pt x="152400" y="2514600"/>
                </a:lnTo>
                <a:lnTo>
                  <a:pt x="8991587" y="2514600"/>
                </a:lnTo>
                <a:lnTo>
                  <a:pt x="8991587" y="0"/>
                </a:lnTo>
                <a:lnTo>
                  <a:pt x="152400" y="0"/>
                </a:lnTo>
                <a:lnTo>
                  <a:pt x="0" y="0"/>
                </a:lnTo>
                <a:lnTo>
                  <a:pt x="0" y="2514600"/>
                </a:lnTo>
                <a:lnTo>
                  <a:pt x="0" y="6705600"/>
                </a:lnTo>
                <a:lnTo>
                  <a:pt x="0" y="6858000"/>
                </a:lnTo>
                <a:lnTo>
                  <a:pt x="152400" y="6858000"/>
                </a:lnTo>
                <a:lnTo>
                  <a:pt x="8991587" y="6858000"/>
                </a:lnTo>
                <a:lnTo>
                  <a:pt x="9143987" y="6858000"/>
                </a:lnTo>
                <a:lnTo>
                  <a:pt x="9144000" y="6705600"/>
                </a:lnTo>
                <a:lnTo>
                  <a:pt x="9143987" y="2514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C0000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26599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26599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76579" y="797063"/>
            <a:ext cx="8535035" cy="57150"/>
          </a:xfrm>
          <a:custGeom>
            <a:avLst/>
            <a:gdLst/>
            <a:ahLst/>
            <a:cxnLst/>
            <a:rect l="l" t="t" r="r" b="b"/>
            <a:pathLst>
              <a:path w="8535035" h="57150">
                <a:moveTo>
                  <a:pt x="8534413" y="45720"/>
                </a:moveTo>
                <a:lnTo>
                  <a:pt x="12" y="45720"/>
                </a:lnTo>
                <a:lnTo>
                  <a:pt x="0" y="57150"/>
                </a:lnTo>
                <a:lnTo>
                  <a:pt x="8534413" y="57150"/>
                </a:lnTo>
                <a:lnTo>
                  <a:pt x="8534413" y="45720"/>
                </a:lnTo>
                <a:close/>
              </a:path>
              <a:path w="8535035" h="57150">
                <a:moveTo>
                  <a:pt x="8534413" y="0"/>
                </a:moveTo>
                <a:lnTo>
                  <a:pt x="12" y="0"/>
                </a:lnTo>
                <a:lnTo>
                  <a:pt x="0" y="34290"/>
                </a:lnTo>
                <a:lnTo>
                  <a:pt x="8534413" y="34290"/>
                </a:lnTo>
                <a:lnTo>
                  <a:pt x="8534413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97485" y="453643"/>
            <a:ext cx="429260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C0000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5420" y="2172665"/>
            <a:ext cx="8076565" cy="4185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40297" y="6910800"/>
            <a:ext cx="245745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26599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lconfidencialdigital.com/articulo/dinero/trabajado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2787395"/>
            <a:ext cx="8833485" cy="0"/>
          </a:xfrm>
          <a:custGeom>
            <a:avLst/>
            <a:gdLst/>
            <a:ahLst/>
            <a:cxnLst/>
            <a:rect l="l" t="t" r="r" b="b"/>
            <a:pathLst>
              <a:path w="8833485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11430">
            <a:solidFill>
              <a:srgbClr val="154B6B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76861" y="3115310"/>
            <a:ext cx="521462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tabLst>
                <a:tab pos="1214120" algn="l"/>
                <a:tab pos="1698625" algn="l"/>
                <a:tab pos="2011045" algn="l"/>
                <a:tab pos="2639695" algn="l"/>
                <a:tab pos="4452620" algn="l"/>
                <a:tab pos="4490085" algn="l"/>
              </a:tabLst>
            </a:pPr>
            <a:r>
              <a:rPr sz="2800" b="1" spc="18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TEMA	</a:t>
            </a:r>
            <a:r>
              <a:rPr sz="28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2:	</a:t>
            </a:r>
            <a:r>
              <a:rPr sz="2800" b="1" spc="2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INDICADORES	</a:t>
            </a:r>
            <a:r>
              <a:rPr sz="2800" b="1" spc="16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2800" b="1" spc="-60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	</a:t>
            </a:r>
            <a:r>
              <a:rPr sz="28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	</a:t>
            </a:r>
            <a:r>
              <a:rPr sz="2800" b="1" spc="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		</a:t>
            </a:r>
            <a:r>
              <a:rPr sz="2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112395" marR="104775" algn="ctr">
              <a:lnSpc>
                <a:spcPct val="100000"/>
              </a:lnSpc>
              <a:tabLst>
                <a:tab pos="2110740" algn="l"/>
                <a:tab pos="2739390" algn="l"/>
                <a:tab pos="4589780" algn="l"/>
              </a:tabLst>
            </a:pPr>
            <a:r>
              <a:rPr sz="2800" b="1" spc="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	</a:t>
            </a:r>
            <a:r>
              <a:rPr sz="28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	</a:t>
            </a:r>
            <a:r>
              <a:rPr sz="2800" b="1" spc="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	</a:t>
            </a:r>
            <a:r>
              <a:rPr sz="28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2800" b="1" spc="-60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2800" b="1" spc="-37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</a:t>
            </a:r>
            <a:r>
              <a:rPr sz="2800" b="1" spc="-37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ÑA</a:t>
            </a:r>
            <a:endParaRPr sz="28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1049" y="492251"/>
            <a:ext cx="8832850" cy="2139950"/>
          </a:xfrm>
          <a:prstGeom prst="rect">
            <a:avLst/>
          </a:prstGeom>
          <a:solidFill>
            <a:srgbClr val="BF000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528570" marR="1212215" indent="-1237615">
              <a:lnSpc>
                <a:spcPct val="100000"/>
              </a:lnSpc>
            </a:pPr>
            <a:r>
              <a:rPr sz="2800" b="0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Bloque I: </a:t>
            </a:r>
            <a:r>
              <a:rPr sz="2800" b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2800" b="0" spc="-3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políticas</a:t>
            </a:r>
            <a:r>
              <a:rPr sz="2800" b="0" spc="-2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0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sociolaborales</a:t>
            </a:r>
            <a:r>
              <a:rPr sz="2800" b="0" spc="-4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2800" b="0" spc="-1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2800" b="0" spc="-60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0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CONTEXTO</a:t>
            </a:r>
            <a:r>
              <a:rPr sz="2800" b="0" spc="-4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ECONOMICO:</a:t>
            </a:r>
            <a:endParaRPr sz="2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725" y="5939028"/>
            <a:ext cx="7920990" cy="668020"/>
          </a:xfrm>
          <a:prstGeom prst="rect">
            <a:avLst/>
          </a:prstGeom>
          <a:ln w="1143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90170" marR="2099310">
              <a:lnSpc>
                <a:spcPct val="120000"/>
              </a:lnSpc>
              <a:spcBef>
                <a:spcPts val="35"/>
              </a:spcBef>
            </a:pPr>
            <a:r>
              <a:rPr sz="1200" b="1" spc="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GRADO</a:t>
            </a:r>
            <a:r>
              <a:rPr sz="1200" b="1" spc="204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200" b="1" spc="1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18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 </a:t>
            </a:r>
            <a:r>
              <a:rPr sz="1200" b="1" spc="204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CIONES </a:t>
            </a:r>
            <a:r>
              <a:rPr sz="1200" b="1" spc="2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LABORALES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2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 </a:t>
            </a:r>
            <a:r>
              <a:rPr sz="1200" b="1" spc="16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CUR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 </a:t>
            </a:r>
            <a:r>
              <a:rPr sz="12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OS</a:t>
            </a:r>
            <a:r>
              <a:rPr sz="1200" b="1" spc="1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2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HUMANOS </a:t>
            </a:r>
            <a:r>
              <a:rPr sz="1200" b="1" spc="-25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16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CUR</a:t>
            </a:r>
            <a:r>
              <a:rPr sz="1200" b="1" spc="-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</a:t>
            </a:r>
            <a:r>
              <a:rPr sz="12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1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O:</a:t>
            </a:r>
            <a:r>
              <a:rPr sz="1200" b="1" spc="5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1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3º</a:t>
            </a:r>
            <a:r>
              <a:rPr sz="12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endParaRPr sz="1200" dirty="0">
              <a:latin typeface="Cambria" panose="02040503050406030204"/>
              <a:cs typeface="Cambria" panose="02040503050406030204"/>
            </a:endParaRPr>
          </a:p>
          <a:p>
            <a:pPr marL="90170">
              <a:lnSpc>
                <a:spcPct val="100000"/>
              </a:lnSpc>
              <a:spcBef>
                <a:spcPts val="285"/>
              </a:spcBef>
            </a:pPr>
            <a:r>
              <a:rPr sz="1200" b="1" spc="16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</a:t>
            </a:r>
            <a:r>
              <a:rPr sz="1200" b="1" spc="484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1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</a:t>
            </a:r>
            <a:r>
              <a:rPr sz="12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2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</a:t>
            </a:r>
            <a:r>
              <a:rPr sz="12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É</a:t>
            </a:r>
            <a:r>
              <a:rPr sz="12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</a:t>
            </a:r>
            <a:r>
              <a:rPr sz="12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12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200" b="1" spc="-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2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1200" b="1" spc="2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202</a:t>
            </a:r>
            <a:r>
              <a:rPr lang="es-ES" sz="1200" b="1" spc="2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3</a:t>
            </a:r>
            <a:r>
              <a:rPr sz="1200" b="1" spc="2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/202</a:t>
            </a:r>
            <a:r>
              <a:rPr lang="es-ES" sz="1200" b="1" spc="2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4</a:t>
            </a:r>
            <a:r>
              <a:rPr sz="12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endParaRPr sz="12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5697" y="6902450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26599"/>
                </a:solidFill>
                <a:latin typeface="Cambria" panose="02040503050406030204"/>
                <a:cs typeface="Cambria" panose="02040503050406030204"/>
              </a:rPr>
              <a:t>2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5326" y="436118"/>
            <a:ext cx="5592445" cy="262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654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Breve</a:t>
            </a:r>
            <a:r>
              <a:rPr sz="18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esquema</a:t>
            </a:r>
            <a:r>
              <a:rPr sz="18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8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4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Tema</a:t>
            </a:r>
            <a:r>
              <a:rPr sz="18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 dirty="0">
              <a:latin typeface="Cambria" panose="02040503050406030204"/>
              <a:cs typeface="Cambria" panose="02040503050406030204"/>
            </a:endParaRPr>
          </a:p>
          <a:p>
            <a:pPr marL="417830" indent="-405765">
              <a:lnSpc>
                <a:spcPct val="100000"/>
              </a:lnSpc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417830" algn="l"/>
                <a:tab pos="418465" algn="l"/>
              </a:tabLst>
            </a:pP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Introducción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Definición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417830" indent="-405765">
              <a:lnSpc>
                <a:spcPct val="100000"/>
              </a:lnSpc>
              <a:spcBef>
                <a:spcPts val="12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417830" algn="l"/>
                <a:tab pos="418465" algn="l"/>
              </a:tabLst>
            </a:pP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Principales</a:t>
            </a:r>
            <a:r>
              <a:rPr sz="18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Indicadores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905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trabajo: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Actividad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3.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Tasas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4.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5.</a:t>
            </a:r>
            <a:r>
              <a:rPr sz="1600" spc="-5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endParaRPr sz="16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5697" y="6903210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26599"/>
                </a:solidFill>
                <a:latin typeface="Cambria" panose="02040503050406030204"/>
                <a:cs typeface="Cambria" panose="02040503050406030204"/>
              </a:rPr>
              <a:t>3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2641" y="436880"/>
            <a:ext cx="408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0" dirty="0"/>
              <a:t> Introducción: </a:t>
            </a:r>
            <a:r>
              <a:rPr spc="-5" dirty="0"/>
              <a:t>El Mercado</a:t>
            </a:r>
            <a:r>
              <a:rPr spc="-10" dirty="0"/>
              <a:t> </a:t>
            </a:r>
            <a:r>
              <a:rPr spc="-5" dirty="0"/>
              <a:t>de</a:t>
            </a:r>
            <a:r>
              <a:rPr dirty="0"/>
              <a:t> </a:t>
            </a:r>
            <a:r>
              <a:rPr spc="-15" dirty="0"/>
              <a:t>Trabajo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326" y="1014476"/>
            <a:ext cx="8283575" cy="198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395" marR="69850" indent="-354330">
              <a:lnSpc>
                <a:spcPct val="100000"/>
              </a:lnSpc>
              <a:spcBef>
                <a:spcPts val="1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Definición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Mercado de 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Trabajo: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lugar</a:t>
            </a:r>
            <a:r>
              <a:rPr sz="18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donde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encuentran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quienes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ofrecen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fuerza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(los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trabajadores)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quienes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demandan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trabajo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(La 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demanda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conjunto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puestos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existentes</a:t>
            </a:r>
            <a:r>
              <a:rPr sz="18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realizada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</a:t>
            </a:r>
            <a:r>
              <a:rPr sz="1800" spc="-38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empresas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y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organizaciones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públicas</a:t>
            </a:r>
            <a:r>
              <a:rPr sz="18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privadas).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trabajo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un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gran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importancia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bastante peculiar: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marR="5080" lvl="2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Importancia: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relación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participación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ingreso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hogares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(70%).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8923" y="3980179"/>
            <a:ext cx="9518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Peculiar</a:t>
            </a:r>
            <a:r>
              <a:rPr sz="1400" i="1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4005" y="4269739"/>
            <a:ext cx="7438390" cy="273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97155" indent="-229235" algn="just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24130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mercado de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un mercado complejo, y su estudio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requiere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tomar en consideración,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además de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variables puramente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económicas, la actitud y las características de los individuos y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elementos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institucionales 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inciden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él.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241300" marR="363855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241300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Cuando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hablamos del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estamos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tratando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ámbitos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importantes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económica,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 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economías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domésticas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obtienen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recursos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poder satisfacer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necesidades.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241300" marR="5080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24130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importante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vida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cotidiana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personas,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igual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evolución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precios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nuestra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compra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diaria,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embargo,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laboral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miembros 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familia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impacto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todavía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directo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sobre ellas,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incide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cuestiones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(¿cuál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nuestro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presupuesto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mensual?)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también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personales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como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tarea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ocupa 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día,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fuente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autorrealización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frustración,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lugar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relacionarse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 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demás,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etcétera).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3425" y="3158245"/>
            <a:ext cx="5017333" cy="8986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7821" y="3777996"/>
            <a:ext cx="0" cy="2981960"/>
          </a:xfrm>
          <a:custGeom>
            <a:avLst/>
            <a:gdLst/>
            <a:ahLst/>
            <a:cxnLst/>
            <a:rect l="l" t="t" r="r" b="b"/>
            <a:pathLst>
              <a:path h="2981959">
                <a:moveTo>
                  <a:pt x="0" y="0"/>
                </a:moveTo>
                <a:lnTo>
                  <a:pt x="0" y="298170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55326" y="436118"/>
            <a:ext cx="8320405" cy="382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244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1.</a:t>
            </a:r>
            <a:r>
              <a:rPr sz="18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8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Trabajo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 dirty="0">
              <a:latin typeface="Cambria" panose="02040503050406030204"/>
              <a:cs typeface="Cambria" panose="02040503050406030204"/>
            </a:endParaRPr>
          </a:p>
          <a:p>
            <a:pPr marL="367030" marR="241935" indent="-354965">
              <a:lnSpc>
                <a:spcPct val="100000"/>
              </a:lnSpc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Cantidad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ofrecida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trabajo: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horas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8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desean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número </a:t>
            </a:r>
            <a:r>
              <a:rPr sz="1800" spc="-38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personas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desean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366395" marR="5080" indent="-354330">
              <a:lnSpc>
                <a:spcPct val="100000"/>
              </a:lnSpc>
              <a:spcBef>
                <a:spcPts val="12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Fundamentos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microeconómicos</a:t>
            </a:r>
            <a:r>
              <a:rPr sz="18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trabajo: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aplicación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teoría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elección del consumidor: modelo de elección ocio/consumo maximización de la </a:t>
            </a:r>
            <a:r>
              <a:rPr sz="1800" spc="-38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utilidad</a:t>
            </a:r>
            <a:r>
              <a:rPr sz="18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(preferencias)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sometida a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restricción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presupuestaria</a:t>
            </a:r>
            <a:r>
              <a:rPr sz="18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(precios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bienes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consumo,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salario,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renta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no salarial)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367030" marR="352425" indent="-354965">
              <a:lnSpc>
                <a:spcPct val="100000"/>
              </a:lnSpc>
              <a:spcBef>
                <a:spcPts val="12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417830" algn="l"/>
                <a:tab pos="418465" algn="l"/>
              </a:tabLst>
            </a:pPr>
            <a:r>
              <a:rPr dirty="0"/>
              <a:t>	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Curva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trabajo: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gráfico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muestra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relación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entre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salario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800" spc="-38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cantidad 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ofrecida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 dirty="0">
              <a:latin typeface="Cambria" panose="02040503050406030204"/>
              <a:cs typeface="Cambria" panose="02040503050406030204"/>
            </a:endParaRPr>
          </a:p>
          <a:p>
            <a:pPr marL="826135" marR="6282690">
              <a:lnSpc>
                <a:spcPct val="100000"/>
              </a:lnSpc>
            </a:pPr>
            <a:r>
              <a:rPr sz="14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Salario</a:t>
            </a:r>
            <a:r>
              <a:rPr sz="14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(por</a:t>
            </a:r>
            <a:r>
              <a:rPr sz="1400" spc="-3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hora </a:t>
            </a:r>
            <a:r>
              <a:rPr sz="1400" spc="-33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trabajada)</a:t>
            </a:r>
            <a:endParaRPr sz="1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2825" y="6545071"/>
            <a:ext cx="54254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8735" algn="l"/>
              </a:tabLst>
            </a:pPr>
            <a:r>
              <a:rPr sz="1400" u="heavy" spc="-5" dirty="0">
                <a:solidFill>
                  <a:srgbClr val="326599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	L=cantid</a:t>
            </a:r>
            <a:r>
              <a:rPr sz="14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ad de trabajo</a:t>
            </a:r>
            <a:endParaRPr sz="1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843CD9B8-0D73-3C9F-5FBF-1F97A366A7AC}"/>
              </a:ext>
            </a:extLst>
          </p:cNvPr>
          <p:cNvSpPr/>
          <p:nvPr/>
        </p:nvSpPr>
        <p:spPr>
          <a:xfrm>
            <a:off x="3851238" y="3636085"/>
            <a:ext cx="3581207" cy="2571077"/>
          </a:xfrm>
          <a:custGeom>
            <a:avLst/>
            <a:gdLst>
              <a:gd name="connsiteX0" fmla="*/ 0 w 3581207"/>
              <a:gd name="connsiteY0" fmla="*/ 2571077 h 2571077"/>
              <a:gd name="connsiteX1" fmla="*/ 2355924 w 3581207"/>
              <a:gd name="connsiteY1" fmla="*/ 1914861 h 2571077"/>
              <a:gd name="connsiteX2" fmla="*/ 3496235 w 3581207"/>
              <a:gd name="connsiteY2" fmla="*/ 892884 h 2571077"/>
              <a:gd name="connsiteX3" fmla="*/ 3410174 w 3581207"/>
              <a:gd name="connsiteY3" fmla="*/ 0 h 2571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207" h="2571077">
                <a:moveTo>
                  <a:pt x="0" y="2571077"/>
                </a:moveTo>
                <a:cubicBezTo>
                  <a:pt x="886609" y="2382818"/>
                  <a:pt x="1773218" y="2194560"/>
                  <a:pt x="2355924" y="1914861"/>
                </a:cubicBezTo>
                <a:cubicBezTo>
                  <a:pt x="2938630" y="1635162"/>
                  <a:pt x="3320527" y="1212027"/>
                  <a:pt x="3496235" y="892884"/>
                </a:cubicBezTo>
                <a:cubicBezTo>
                  <a:pt x="3671943" y="573741"/>
                  <a:pt x="3541058" y="286870"/>
                  <a:pt x="3410174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641" y="454406"/>
            <a:ext cx="408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1.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Introducción: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 Mercado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Trabajo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6365" y="1558289"/>
            <a:ext cx="5545835" cy="42649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1669" y="453643"/>
            <a:ext cx="7444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Principales</a:t>
            </a:r>
            <a:r>
              <a:rPr spc="-25" dirty="0"/>
              <a:t> </a:t>
            </a:r>
            <a:r>
              <a:rPr spc="-5" dirty="0"/>
              <a:t>Indicadores</a:t>
            </a:r>
            <a:r>
              <a:rPr spc="-20" dirty="0"/>
              <a:t> </a:t>
            </a:r>
            <a:r>
              <a:rPr spc="-5" dirty="0"/>
              <a:t>del</a:t>
            </a:r>
            <a:r>
              <a:rPr spc="-10" dirty="0"/>
              <a:t> </a:t>
            </a:r>
            <a:r>
              <a:rPr spc="-5" dirty="0"/>
              <a:t>Mercado de</a:t>
            </a:r>
            <a:r>
              <a:rPr spc="-10" dirty="0"/>
              <a:t> </a:t>
            </a:r>
            <a:r>
              <a:rPr spc="-15" dirty="0"/>
              <a:t>Trabajo</a:t>
            </a:r>
            <a:r>
              <a:rPr spc="-5" dirty="0"/>
              <a:t> por el</a:t>
            </a:r>
            <a:r>
              <a:rPr spc="-10" dirty="0"/>
              <a:t> </a:t>
            </a:r>
            <a:r>
              <a:rPr spc="-5" dirty="0"/>
              <a:t>lado</a:t>
            </a:r>
            <a:r>
              <a:rPr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5" dirty="0"/>
              <a:t>la</a:t>
            </a:r>
            <a:r>
              <a:rPr dirty="0"/>
              <a:t> </a:t>
            </a:r>
            <a:r>
              <a:rPr spc="-5" dirty="0"/>
              <a:t>oferta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55326" y="868523"/>
            <a:ext cx="8336915" cy="60515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Caracterización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lado de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Clasificación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relación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factor productivo.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marR="134620" lvl="2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b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(generalmente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mayores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16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años)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=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total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legalmente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está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poder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Dentro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grupo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encontramos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con: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lvl="3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1.a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b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Activa: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(=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desea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trabajar):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3665" marR="489585" lvl="4" indent="-229235">
              <a:lnSpc>
                <a:spcPct val="100000"/>
              </a:lnSpc>
              <a:spcBef>
                <a:spcPts val="6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300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¿Cómo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medimos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desea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trabajar?: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práctica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suma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empleada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desempleada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(personas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aunque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buscan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activamente).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marR="50165" lvl="4" indent="-228600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1.a.1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Empleada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desarrollan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cuenta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propia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cuenta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ajena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(asalariados)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retribución.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demanda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conjunto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puestos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existentes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suele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equiparar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ocupada,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todo exacto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por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razones.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658620" marR="5080" lvl="5" indent="-183515">
              <a:lnSpc>
                <a:spcPct val="100000"/>
              </a:lnSpc>
              <a:buClr>
                <a:srgbClr val="C19858"/>
              </a:buClr>
              <a:buSzPct val="79000"/>
              <a:buFont typeface="Segoe UI Symbol" panose="020B0502040204020203"/>
              <a:buChar char="⚫"/>
              <a:tabLst>
                <a:tab pos="165862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primer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lugar,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considerar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vacantes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decir,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demanda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podido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cubierta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empleadores.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658620" marR="110490" lvl="5" indent="-183515">
              <a:lnSpc>
                <a:spcPct val="100000"/>
              </a:lnSpc>
              <a:buClr>
                <a:srgbClr val="C19858"/>
              </a:buClr>
              <a:buSzPct val="79000"/>
              <a:buFont typeface="Segoe UI Symbol" panose="020B0502040204020203"/>
              <a:buChar char="⚫"/>
              <a:tabLst>
                <a:tab pos="165862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segundo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lugar,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debe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tenerse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cuenta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pluriempleados,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ocupadas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puesto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trabajo.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Pese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hechos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anteriores,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 habitual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identificar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demanda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 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ocupada.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marR="77470" lvl="4" indent="-228600">
              <a:lnSpc>
                <a:spcPct val="100000"/>
              </a:lnSpc>
              <a:spcBef>
                <a:spcPts val="340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1.a.2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desempleada: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están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ocupadas.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considerado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EPA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cumplir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requisitos: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–no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haber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hora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semana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anterior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realización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entrevista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–;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haber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tomado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medidas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concretas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encontrar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puesto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disponible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plazo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 semana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58420" lvl="3" indent="-229235" algn="just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1.b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Inactiva: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engloba un grupo heterogéneo de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incluido en el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aparado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anterior como estudiantes, personas que se dedican a las tareas del </a:t>
            </a:r>
            <a:r>
              <a:rPr sz="14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hogar,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jubilados,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gente que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no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tampoco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busca,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etcétera.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9469" y="423164"/>
            <a:ext cx="4549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0" dirty="0"/>
              <a:t> </a:t>
            </a:r>
            <a:r>
              <a:rPr spc="-5" dirty="0"/>
              <a:t>La oferta</a:t>
            </a:r>
            <a:r>
              <a:rPr spc="-10" dirty="0"/>
              <a:t> </a:t>
            </a:r>
            <a:r>
              <a:rPr spc="-5" dirty="0"/>
              <a:t>de </a:t>
            </a:r>
            <a:r>
              <a:rPr spc="-15" dirty="0"/>
              <a:t>Trabajo:</a:t>
            </a:r>
            <a:r>
              <a:rPr spc="-5" dirty="0"/>
              <a:t> La</a:t>
            </a:r>
            <a:r>
              <a:rPr spc="-10" dirty="0"/>
              <a:t> </a:t>
            </a:r>
            <a:r>
              <a:rPr dirty="0"/>
              <a:t>tasa </a:t>
            </a:r>
            <a:r>
              <a:rPr spc="-5" dirty="0"/>
              <a:t>de </a:t>
            </a:r>
            <a:r>
              <a:rPr spc="-10" dirty="0"/>
              <a:t>actividad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033" y="939526"/>
            <a:ext cx="8243570" cy="21012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775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Midiendo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Fuerza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Laboral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(Indicadores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Trabajo):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marR="183515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¿Cómo medimos/definimos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en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trabajar?:</a:t>
            </a:r>
            <a:r>
              <a:rPr sz="16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práctica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toma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entre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legal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6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jubilación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3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¿Cómo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medimos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desea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trabajar?: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lvl="2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Numero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Individuos?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Numero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Individuos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mayores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18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Numero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Individuos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desean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(trabajan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buscan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trabajo)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7695" y="4908803"/>
            <a:ext cx="1200150" cy="2774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Población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7019" y="3953255"/>
            <a:ext cx="1833880" cy="2774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Pob.</a:t>
            </a:r>
            <a:r>
              <a:rPr sz="12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200" spc="-1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edad</a:t>
            </a:r>
            <a:r>
              <a:rPr sz="1200" spc="-1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200" spc="-1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trabajar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4575" y="5932932"/>
            <a:ext cx="822325" cy="2768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Resto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63375" y="3475482"/>
            <a:ext cx="2150745" cy="462280"/>
          </a:xfrm>
          <a:custGeom>
            <a:avLst/>
            <a:gdLst/>
            <a:ahLst/>
            <a:cxnLst/>
            <a:rect l="l" t="t" r="r" b="b"/>
            <a:pathLst>
              <a:path w="2150745" h="462279">
                <a:moveTo>
                  <a:pt x="0" y="461772"/>
                </a:moveTo>
                <a:lnTo>
                  <a:pt x="0" y="0"/>
                </a:lnTo>
                <a:lnTo>
                  <a:pt x="2150364" y="0"/>
                </a:lnTo>
                <a:lnTo>
                  <a:pt x="2150364" y="461772"/>
                </a:lnTo>
                <a:lnTo>
                  <a:pt x="0" y="46177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27453" y="3502405"/>
            <a:ext cx="182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6755" marR="5080" indent="-69469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Fuerza</a:t>
            </a:r>
            <a:r>
              <a:rPr sz="1200" spc="-2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200" spc="-4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Trabajo: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Población </a:t>
            </a:r>
            <a:r>
              <a:rPr sz="1200" spc="-28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Activa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16359" y="5181600"/>
            <a:ext cx="1391920" cy="2774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315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Población</a:t>
            </a:r>
            <a:r>
              <a:rPr sz="1200" spc="-4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Inactiva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5948" y="3201923"/>
            <a:ext cx="1390015" cy="2774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89255">
              <a:lnSpc>
                <a:spcPct val="100000"/>
              </a:lnSpc>
              <a:spcBef>
                <a:spcPts val="315"/>
              </a:spcBef>
            </a:pPr>
            <a:r>
              <a:rPr sz="12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Ocupados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5948" y="3884676"/>
            <a:ext cx="1644650" cy="4629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584835" marR="227965" indent="-349885">
              <a:lnSpc>
                <a:spcPct val="100000"/>
              </a:lnSpc>
              <a:spcBef>
                <a:spcPts val="315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Desocupados (pero  buscan)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19463" y="4431042"/>
            <a:ext cx="457200" cy="1638300"/>
          </a:xfrm>
          <a:custGeom>
            <a:avLst/>
            <a:gdLst/>
            <a:ahLst/>
            <a:cxnLst/>
            <a:rect l="l" t="t" r="r" b="b"/>
            <a:pathLst>
              <a:path w="457200" h="1638300">
                <a:moveTo>
                  <a:pt x="457200" y="1552956"/>
                </a:moveTo>
                <a:lnTo>
                  <a:pt x="426237" y="1566405"/>
                </a:lnTo>
                <a:lnTo>
                  <a:pt x="13716" y="612648"/>
                </a:lnTo>
                <a:lnTo>
                  <a:pt x="9486" y="614578"/>
                </a:lnTo>
                <a:lnTo>
                  <a:pt x="175996" y="74142"/>
                </a:lnTo>
                <a:lnTo>
                  <a:pt x="179832" y="75298"/>
                </a:lnTo>
                <a:lnTo>
                  <a:pt x="208026" y="83820"/>
                </a:lnTo>
                <a:lnTo>
                  <a:pt x="194310" y="0"/>
                </a:lnTo>
                <a:lnTo>
                  <a:pt x="134874" y="61722"/>
                </a:lnTo>
                <a:lnTo>
                  <a:pt x="166979" y="71412"/>
                </a:lnTo>
                <a:lnTo>
                  <a:pt x="0" y="612648"/>
                </a:lnTo>
                <a:lnTo>
                  <a:pt x="7912" y="615289"/>
                </a:lnTo>
                <a:lnTo>
                  <a:pt x="5334" y="616458"/>
                </a:lnTo>
                <a:lnTo>
                  <a:pt x="417791" y="1570088"/>
                </a:lnTo>
                <a:lnTo>
                  <a:pt x="387096" y="1583436"/>
                </a:lnTo>
                <a:lnTo>
                  <a:pt x="431292" y="1620862"/>
                </a:lnTo>
                <a:lnTo>
                  <a:pt x="451866" y="1638300"/>
                </a:lnTo>
                <a:lnTo>
                  <a:pt x="457200" y="1552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05819" y="3339096"/>
            <a:ext cx="2660650" cy="2798445"/>
          </a:xfrm>
          <a:custGeom>
            <a:avLst/>
            <a:gdLst/>
            <a:ahLst/>
            <a:cxnLst/>
            <a:rect l="l" t="t" r="r" b="b"/>
            <a:pathLst>
              <a:path w="2660650" h="2798445">
                <a:moveTo>
                  <a:pt x="451866" y="1894332"/>
                </a:moveTo>
                <a:lnTo>
                  <a:pt x="421703" y="1907108"/>
                </a:lnTo>
                <a:lnTo>
                  <a:pt x="9944" y="955128"/>
                </a:lnTo>
                <a:lnTo>
                  <a:pt x="232930" y="413258"/>
                </a:lnTo>
                <a:lnTo>
                  <a:pt x="237744" y="415251"/>
                </a:lnTo>
                <a:lnTo>
                  <a:pt x="263652" y="425958"/>
                </a:lnTo>
                <a:lnTo>
                  <a:pt x="257556" y="341376"/>
                </a:lnTo>
                <a:lnTo>
                  <a:pt x="193548" y="397002"/>
                </a:lnTo>
                <a:lnTo>
                  <a:pt x="224409" y="409740"/>
                </a:lnTo>
                <a:lnTo>
                  <a:pt x="0" y="953262"/>
                </a:lnTo>
                <a:lnTo>
                  <a:pt x="4572" y="955167"/>
                </a:lnTo>
                <a:lnTo>
                  <a:pt x="0" y="957072"/>
                </a:lnTo>
                <a:lnTo>
                  <a:pt x="412572" y="1910981"/>
                </a:lnTo>
                <a:lnTo>
                  <a:pt x="381762" y="1924050"/>
                </a:lnTo>
                <a:lnTo>
                  <a:pt x="426720" y="1961680"/>
                </a:lnTo>
                <a:lnTo>
                  <a:pt x="447294" y="1978914"/>
                </a:lnTo>
                <a:lnTo>
                  <a:pt x="451866" y="1894332"/>
                </a:lnTo>
                <a:close/>
              </a:path>
              <a:path w="2660650" h="2798445">
                <a:moveTo>
                  <a:pt x="2596896" y="1637538"/>
                </a:moveTo>
                <a:lnTo>
                  <a:pt x="2512314" y="1643634"/>
                </a:lnTo>
                <a:lnTo>
                  <a:pt x="2529128" y="1671980"/>
                </a:lnTo>
                <a:lnTo>
                  <a:pt x="1898904" y="2043684"/>
                </a:lnTo>
                <a:lnTo>
                  <a:pt x="1901571" y="2047494"/>
                </a:lnTo>
                <a:lnTo>
                  <a:pt x="1898142" y="2050542"/>
                </a:lnTo>
                <a:lnTo>
                  <a:pt x="2542044" y="2745600"/>
                </a:lnTo>
                <a:lnTo>
                  <a:pt x="2517648" y="2768346"/>
                </a:lnTo>
                <a:lnTo>
                  <a:pt x="2557272" y="2783205"/>
                </a:lnTo>
                <a:lnTo>
                  <a:pt x="2596896" y="2798064"/>
                </a:lnTo>
                <a:lnTo>
                  <a:pt x="2573274" y="2716530"/>
                </a:lnTo>
                <a:lnTo>
                  <a:pt x="2548763" y="2739352"/>
                </a:lnTo>
                <a:lnTo>
                  <a:pt x="1908835" y="2048598"/>
                </a:lnTo>
                <a:lnTo>
                  <a:pt x="2534183" y="1680514"/>
                </a:lnTo>
                <a:lnTo>
                  <a:pt x="2545080" y="1698879"/>
                </a:lnTo>
                <a:lnTo>
                  <a:pt x="2551176" y="1709166"/>
                </a:lnTo>
                <a:lnTo>
                  <a:pt x="2596896" y="1637538"/>
                </a:lnTo>
                <a:close/>
              </a:path>
              <a:path w="2660650" h="2798445">
                <a:moveTo>
                  <a:pt x="2660142" y="750570"/>
                </a:moveTo>
                <a:lnTo>
                  <a:pt x="2642616" y="667512"/>
                </a:lnTo>
                <a:lnTo>
                  <a:pt x="2617025" y="687844"/>
                </a:lnTo>
                <a:lnTo>
                  <a:pt x="2287701" y="273812"/>
                </a:lnTo>
                <a:lnTo>
                  <a:pt x="2542463" y="53149"/>
                </a:lnTo>
                <a:lnTo>
                  <a:pt x="2551938" y="64223"/>
                </a:lnTo>
                <a:lnTo>
                  <a:pt x="2564130" y="78486"/>
                </a:lnTo>
                <a:lnTo>
                  <a:pt x="2596896" y="0"/>
                </a:lnTo>
                <a:lnTo>
                  <a:pt x="2514600" y="20574"/>
                </a:lnTo>
                <a:lnTo>
                  <a:pt x="2536113" y="45732"/>
                </a:lnTo>
                <a:lnTo>
                  <a:pt x="2277618" y="268986"/>
                </a:lnTo>
                <a:lnTo>
                  <a:pt x="2281047" y="272796"/>
                </a:lnTo>
                <a:lnTo>
                  <a:pt x="2277618" y="275844"/>
                </a:lnTo>
                <a:lnTo>
                  <a:pt x="2609392" y="693915"/>
                </a:lnTo>
                <a:lnTo>
                  <a:pt x="2583180" y="714756"/>
                </a:lnTo>
                <a:lnTo>
                  <a:pt x="2625090" y="734250"/>
                </a:lnTo>
                <a:lnTo>
                  <a:pt x="2660142" y="750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65948" y="4636008"/>
            <a:ext cx="2065020" cy="5543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Con</a:t>
            </a:r>
            <a:r>
              <a:rPr sz="12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deseos</a:t>
            </a:r>
            <a:r>
              <a:rPr sz="12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200" spc="-2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trabajar?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22885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200" spc="-1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buscan:</a:t>
            </a:r>
            <a:r>
              <a:rPr sz="1200" spc="-1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Desanimados?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7476629" y="6089141"/>
            <a:ext cx="822325" cy="2774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Resto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6591" y="842772"/>
            <a:ext cx="8534400" cy="11430"/>
          </a:xfrm>
          <a:custGeom>
            <a:avLst/>
            <a:gdLst/>
            <a:ahLst/>
            <a:cxnLst/>
            <a:rect l="l" t="t" r="r" b="b"/>
            <a:pathLst>
              <a:path w="8534400" h="11430">
                <a:moveTo>
                  <a:pt x="8534400" y="11429"/>
                </a:moveTo>
                <a:lnTo>
                  <a:pt x="8534400" y="0"/>
                </a:lnTo>
                <a:lnTo>
                  <a:pt x="0" y="0"/>
                </a:lnTo>
                <a:lnTo>
                  <a:pt x="0" y="11429"/>
                </a:lnTo>
                <a:lnTo>
                  <a:pt x="8534400" y="1142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3891" y="525271"/>
            <a:ext cx="8559800" cy="915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8030" algn="l"/>
                <a:tab pos="8546465" algn="l"/>
              </a:tabLst>
            </a:pPr>
            <a:r>
              <a:rPr sz="1800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1800" b="1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1.</a:t>
            </a:r>
            <a:r>
              <a:rPr sz="1800" b="1" u="heavy" spc="-10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800" b="1" u="heavy" spc="-5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La oferta de</a:t>
            </a:r>
            <a:r>
              <a:rPr sz="1800" b="1" u="heavy" spc="-10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800" b="1" u="heavy" spc="-15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Trabajo:</a:t>
            </a:r>
            <a:r>
              <a:rPr sz="1800" b="1" u="heavy" spc="-5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 La </a:t>
            </a:r>
            <a:r>
              <a:rPr sz="1800" b="1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u="heavy" spc="-5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 de </a:t>
            </a:r>
            <a:r>
              <a:rPr sz="1800" b="1" u="heavy" spc="-10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actividad	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Cambria" panose="02040503050406030204"/>
              <a:cs typeface="Cambria" panose="02040503050406030204"/>
            </a:endParaRPr>
          </a:p>
          <a:p>
            <a:pPr marL="458470" indent="-354965">
              <a:lnSpc>
                <a:spcPct val="100000"/>
              </a:lnSpc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457200" algn="l"/>
                <a:tab pos="458470" algn="l"/>
              </a:tabLst>
            </a:pP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fuentes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Información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básicas: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Encuesta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2677" y="3060954"/>
            <a:ext cx="2398395" cy="5867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775"/>
              </a:lnSpc>
            </a:pP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Población</a:t>
            </a:r>
            <a:r>
              <a:rPr sz="1800" b="1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800" b="1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edad</a:t>
            </a:r>
            <a:r>
              <a:rPr sz="1800" b="1" spc="-3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66370">
              <a:lnSpc>
                <a:spcPct val="100000"/>
              </a:lnSpc>
              <a:spcBef>
                <a:spcPts val="215"/>
              </a:spcBef>
            </a:pP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trabajar</a:t>
            </a:r>
            <a:r>
              <a:rPr sz="1800" b="1" spc="-5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(16</a:t>
            </a:r>
            <a:r>
              <a:rPr sz="1800" b="1" spc="-2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b="1" spc="-2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b="1" spc="-1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años)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5809" y="1931169"/>
            <a:ext cx="102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OIT</a:t>
            </a:r>
            <a:r>
              <a:rPr sz="1800" spc="-11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3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(EPA)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5235" y="2768600"/>
            <a:ext cx="1052195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0"/>
              </a:spcBef>
            </a:pPr>
            <a:r>
              <a:rPr sz="1800" spc="-1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¿Trabajó</a:t>
            </a:r>
            <a:r>
              <a:rPr sz="1800" spc="-7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al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3655">
              <a:lnSpc>
                <a:spcPts val="1510"/>
              </a:lnSpc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menos</a:t>
            </a:r>
            <a:r>
              <a:rPr sz="1800" spc="-1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una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74930">
              <a:lnSpc>
                <a:spcPts val="1510"/>
              </a:lnSpc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hora</a:t>
            </a:r>
            <a:r>
              <a:rPr sz="1800" spc="-5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800" spc="-5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8415" marR="10795" indent="27940">
              <a:lnSpc>
                <a:spcPct val="70000"/>
              </a:lnSpc>
              <a:spcBef>
                <a:spcPts val="320"/>
              </a:spcBef>
            </a:pP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semana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800" spc="-434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referencia?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00691" y="2287523"/>
            <a:ext cx="2982595" cy="1783714"/>
            <a:chOff x="3400691" y="2287523"/>
            <a:chExt cx="2982595" cy="1783714"/>
          </a:xfrm>
        </p:grpSpPr>
        <p:sp>
          <p:nvSpPr>
            <p:cNvPr id="8" name="object 8"/>
            <p:cNvSpPr/>
            <p:nvPr/>
          </p:nvSpPr>
          <p:spPr>
            <a:xfrm>
              <a:off x="3400691" y="3307841"/>
              <a:ext cx="450850" cy="76200"/>
            </a:xfrm>
            <a:custGeom>
              <a:avLst/>
              <a:gdLst/>
              <a:ahLst/>
              <a:cxnLst/>
              <a:rect l="l" t="t" r="r" b="b"/>
              <a:pathLst>
                <a:path w="450850" h="76200">
                  <a:moveTo>
                    <a:pt x="387096" y="43434"/>
                  </a:moveTo>
                  <a:lnTo>
                    <a:pt x="387096" y="33528"/>
                  </a:lnTo>
                  <a:lnTo>
                    <a:pt x="0" y="33528"/>
                  </a:lnTo>
                  <a:lnTo>
                    <a:pt x="0" y="43434"/>
                  </a:lnTo>
                  <a:lnTo>
                    <a:pt x="387096" y="43434"/>
                  </a:lnTo>
                  <a:close/>
                </a:path>
                <a:path w="450850" h="76200">
                  <a:moveTo>
                    <a:pt x="450341" y="38100"/>
                  </a:moveTo>
                  <a:lnTo>
                    <a:pt x="374141" y="0"/>
                  </a:lnTo>
                  <a:lnTo>
                    <a:pt x="374141" y="33528"/>
                  </a:lnTo>
                  <a:lnTo>
                    <a:pt x="387096" y="33528"/>
                  </a:lnTo>
                  <a:lnTo>
                    <a:pt x="387096" y="69722"/>
                  </a:lnTo>
                  <a:lnTo>
                    <a:pt x="450341" y="38100"/>
                  </a:lnTo>
                  <a:close/>
                </a:path>
                <a:path w="450850" h="76200">
                  <a:moveTo>
                    <a:pt x="387096" y="69722"/>
                  </a:moveTo>
                  <a:lnTo>
                    <a:pt x="387096" y="43434"/>
                  </a:lnTo>
                  <a:lnTo>
                    <a:pt x="374141" y="43434"/>
                  </a:lnTo>
                  <a:lnTo>
                    <a:pt x="374141" y="76200"/>
                  </a:lnTo>
                  <a:lnTo>
                    <a:pt x="387096" y="697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7599" y="2503931"/>
              <a:ext cx="1889760" cy="1562100"/>
            </a:xfrm>
            <a:custGeom>
              <a:avLst/>
              <a:gdLst/>
              <a:ahLst/>
              <a:cxnLst/>
              <a:rect l="l" t="t" r="r" b="b"/>
              <a:pathLst>
                <a:path w="1889760" h="1562100">
                  <a:moveTo>
                    <a:pt x="0" y="781050"/>
                  </a:moveTo>
                  <a:lnTo>
                    <a:pt x="1397" y="738202"/>
                  </a:lnTo>
                  <a:lnTo>
                    <a:pt x="5542" y="695958"/>
                  </a:lnTo>
                  <a:lnTo>
                    <a:pt x="12363" y="654376"/>
                  </a:lnTo>
                  <a:lnTo>
                    <a:pt x="21787" y="613517"/>
                  </a:lnTo>
                  <a:lnTo>
                    <a:pt x="33743" y="573440"/>
                  </a:lnTo>
                  <a:lnTo>
                    <a:pt x="48158" y="534204"/>
                  </a:lnTo>
                  <a:lnTo>
                    <a:pt x="64961" y="495870"/>
                  </a:lnTo>
                  <a:lnTo>
                    <a:pt x="84079" y="458496"/>
                  </a:lnTo>
                  <a:lnTo>
                    <a:pt x="105441" y="422143"/>
                  </a:lnTo>
                  <a:lnTo>
                    <a:pt x="128975" y="386870"/>
                  </a:lnTo>
                  <a:lnTo>
                    <a:pt x="154609" y="352736"/>
                  </a:lnTo>
                  <a:lnTo>
                    <a:pt x="182270" y="319802"/>
                  </a:lnTo>
                  <a:lnTo>
                    <a:pt x="211887" y="288126"/>
                  </a:lnTo>
                  <a:lnTo>
                    <a:pt x="243388" y="257769"/>
                  </a:lnTo>
                  <a:lnTo>
                    <a:pt x="276701" y="228790"/>
                  </a:lnTo>
                  <a:lnTo>
                    <a:pt x="311753" y="201249"/>
                  </a:lnTo>
                  <a:lnTo>
                    <a:pt x="348474" y="175204"/>
                  </a:lnTo>
                  <a:lnTo>
                    <a:pt x="386791" y="150717"/>
                  </a:lnTo>
                  <a:lnTo>
                    <a:pt x="426631" y="127846"/>
                  </a:lnTo>
                  <a:lnTo>
                    <a:pt x="467924" y="106651"/>
                  </a:lnTo>
                  <a:lnTo>
                    <a:pt x="510597" y="87192"/>
                  </a:lnTo>
                  <a:lnTo>
                    <a:pt x="554577" y="69528"/>
                  </a:lnTo>
                  <a:lnTo>
                    <a:pt x="599794" y="53719"/>
                  </a:lnTo>
                  <a:lnTo>
                    <a:pt x="646176" y="39825"/>
                  </a:lnTo>
                  <a:lnTo>
                    <a:pt x="693649" y="27904"/>
                  </a:lnTo>
                  <a:lnTo>
                    <a:pt x="742142" y="18017"/>
                  </a:lnTo>
                  <a:lnTo>
                    <a:pt x="791584" y="10224"/>
                  </a:lnTo>
                  <a:lnTo>
                    <a:pt x="841902" y="4583"/>
                  </a:lnTo>
                  <a:lnTo>
                    <a:pt x="893025" y="1155"/>
                  </a:lnTo>
                  <a:lnTo>
                    <a:pt x="944880" y="0"/>
                  </a:lnTo>
                  <a:lnTo>
                    <a:pt x="996734" y="1155"/>
                  </a:lnTo>
                  <a:lnTo>
                    <a:pt x="1047857" y="4583"/>
                  </a:lnTo>
                  <a:lnTo>
                    <a:pt x="1098175" y="10224"/>
                  </a:lnTo>
                  <a:lnTo>
                    <a:pt x="1147617" y="18017"/>
                  </a:lnTo>
                  <a:lnTo>
                    <a:pt x="1196110" y="27904"/>
                  </a:lnTo>
                  <a:lnTo>
                    <a:pt x="1243584" y="39825"/>
                  </a:lnTo>
                  <a:lnTo>
                    <a:pt x="1289965" y="53719"/>
                  </a:lnTo>
                  <a:lnTo>
                    <a:pt x="1335182" y="69528"/>
                  </a:lnTo>
                  <a:lnTo>
                    <a:pt x="1379162" y="87192"/>
                  </a:lnTo>
                  <a:lnTo>
                    <a:pt x="1421835" y="106651"/>
                  </a:lnTo>
                  <a:lnTo>
                    <a:pt x="1463128" y="127846"/>
                  </a:lnTo>
                  <a:lnTo>
                    <a:pt x="1502968" y="150717"/>
                  </a:lnTo>
                  <a:lnTo>
                    <a:pt x="1541285" y="175204"/>
                  </a:lnTo>
                  <a:lnTo>
                    <a:pt x="1578006" y="201249"/>
                  </a:lnTo>
                  <a:lnTo>
                    <a:pt x="1613058" y="228790"/>
                  </a:lnTo>
                  <a:lnTo>
                    <a:pt x="1646371" y="257769"/>
                  </a:lnTo>
                  <a:lnTo>
                    <a:pt x="1677872" y="288126"/>
                  </a:lnTo>
                  <a:lnTo>
                    <a:pt x="1707489" y="319802"/>
                  </a:lnTo>
                  <a:lnTo>
                    <a:pt x="1735150" y="352736"/>
                  </a:lnTo>
                  <a:lnTo>
                    <a:pt x="1760784" y="386870"/>
                  </a:lnTo>
                  <a:lnTo>
                    <a:pt x="1784318" y="422143"/>
                  </a:lnTo>
                  <a:lnTo>
                    <a:pt x="1805680" y="458496"/>
                  </a:lnTo>
                  <a:lnTo>
                    <a:pt x="1824798" y="495870"/>
                  </a:lnTo>
                  <a:lnTo>
                    <a:pt x="1841601" y="534204"/>
                  </a:lnTo>
                  <a:lnTo>
                    <a:pt x="1856016" y="573440"/>
                  </a:lnTo>
                  <a:lnTo>
                    <a:pt x="1867972" y="613517"/>
                  </a:lnTo>
                  <a:lnTo>
                    <a:pt x="1877396" y="654376"/>
                  </a:lnTo>
                  <a:lnTo>
                    <a:pt x="1884217" y="695958"/>
                  </a:lnTo>
                  <a:lnTo>
                    <a:pt x="1888362" y="738202"/>
                  </a:lnTo>
                  <a:lnTo>
                    <a:pt x="1889760" y="781049"/>
                  </a:lnTo>
                  <a:lnTo>
                    <a:pt x="1888362" y="823897"/>
                  </a:lnTo>
                  <a:lnTo>
                    <a:pt x="1884217" y="866141"/>
                  </a:lnTo>
                  <a:lnTo>
                    <a:pt x="1877396" y="907723"/>
                  </a:lnTo>
                  <a:lnTo>
                    <a:pt x="1867972" y="948582"/>
                  </a:lnTo>
                  <a:lnTo>
                    <a:pt x="1856016" y="988659"/>
                  </a:lnTo>
                  <a:lnTo>
                    <a:pt x="1841601" y="1027895"/>
                  </a:lnTo>
                  <a:lnTo>
                    <a:pt x="1824798" y="1066229"/>
                  </a:lnTo>
                  <a:lnTo>
                    <a:pt x="1805680" y="1103603"/>
                  </a:lnTo>
                  <a:lnTo>
                    <a:pt x="1784318" y="1139956"/>
                  </a:lnTo>
                  <a:lnTo>
                    <a:pt x="1760784" y="1175229"/>
                  </a:lnTo>
                  <a:lnTo>
                    <a:pt x="1735150" y="1209363"/>
                  </a:lnTo>
                  <a:lnTo>
                    <a:pt x="1707489" y="1242297"/>
                  </a:lnTo>
                  <a:lnTo>
                    <a:pt x="1677872" y="1273973"/>
                  </a:lnTo>
                  <a:lnTo>
                    <a:pt x="1646371" y="1304330"/>
                  </a:lnTo>
                  <a:lnTo>
                    <a:pt x="1613058" y="1333309"/>
                  </a:lnTo>
                  <a:lnTo>
                    <a:pt x="1578006" y="1360850"/>
                  </a:lnTo>
                  <a:lnTo>
                    <a:pt x="1541285" y="1386895"/>
                  </a:lnTo>
                  <a:lnTo>
                    <a:pt x="1502968" y="1411382"/>
                  </a:lnTo>
                  <a:lnTo>
                    <a:pt x="1463128" y="1434253"/>
                  </a:lnTo>
                  <a:lnTo>
                    <a:pt x="1421835" y="1455448"/>
                  </a:lnTo>
                  <a:lnTo>
                    <a:pt x="1379162" y="1474907"/>
                  </a:lnTo>
                  <a:lnTo>
                    <a:pt x="1335182" y="1492571"/>
                  </a:lnTo>
                  <a:lnTo>
                    <a:pt x="1289965" y="1508380"/>
                  </a:lnTo>
                  <a:lnTo>
                    <a:pt x="1243584" y="1522274"/>
                  </a:lnTo>
                  <a:lnTo>
                    <a:pt x="1196110" y="1534195"/>
                  </a:lnTo>
                  <a:lnTo>
                    <a:pt x="1147617" y="1544082"/>
                  </a:lnTo>
                  <a:lnTo>
                    <a:pt x="1098175" y="1551875"/>
                  </a:lnTo>
                  <a:lnTo>
                    <a:pt x="1047857" y="1557516"/>
                  </a:lnTo>
                  <a:lnTo>
                    <a:pt x="996734" y="1560944"/>
                  </a:lnTo>
                  <a:lnTo>
                    <a:pt x="944880" y="1562100"/>
                  </a:lnTo>
                  <a:lnTo>
                    <a:pt x="893025" y="1560944"/>
                  </a:lnTo>
                  <a:lnTo>
                    <a:pt x="841902" y="1557516"/>
                  </a:lnTo>
                  <a:lnTo>
                    <a:pt x="791584" y="1551875"/>
                  </a:lnTo>
                  <a:lnTo>
                    <a:pt x="742142" y="1544082"/>
                  </a:lnTo>
                  <a:lnTo>
                    <a:pt x="693649" y="1534195"/>
                  </a:lnTo>
                  <a:lnTo>
                    <a:pt x="646176" y="1522274"/>
                  </a:lnTo>
                  <a:lnTo>
                    <a:pt x="599794" y="1508380"/>
                  </a:lnTo>
                  <a:lnTo>
                    <a:pt x="554577" y="1492571"/>
                  </a:lnTo>
                  <a:lnTo>
                    <a:pt x="510597" y="1474907"/>
                  </a:lnTo>
                  <a:lnTo>
                    <a:pt x="467924" y="1455448"/>
                  </a:lnTo>
                  <a:lnTo>
                    <a:pt x="426631" y="1434253"/>
                  </a:lnTo>
                  <a:lnTo>
                    <a:pt x="386791" y="1411382"/>
                  </a:lnTo>
                  <a:lnTo>
                    <a:pt x="348474" y="1386895"/>
                  </a:lnTo>
                  <a:lnTo>
                    <a:pt x="311753" y="1360850"/>
                  </a:lnTo>
                  <a:lnTo>
                    <a:pt x="276701" y="1333309"/>
                  </a:lnTo>
                  <a:lnTo>
                    <a:pt x="243388" y="1304330"/>
                  </a:lnTo>
                  <a:lnTo>
                    <a:pt x="211887" y="1273973"/>
                  </a:lnTo>
                  <a:lnTo>
                    <a:pt x="182270" y="1242297"/>
                  </a:lnTo>
                  <a:lnTo>
                    <a:pt x="154609" y="1209363"/>
                  </a:lnTo>
                  <a:lnTo>
                    <a:pt x="128975" y="1175229"/>
                  </a:lnTo>
                  <a:lnTo>
                    <a:pt x="105441" y="1139956"/>
                  </a:lnTo>
                  <a:lnTo>
                    <a:pt x="84079" y="1103603"/>
                  </a:lnTo>
                  <a:lnTo>
                    <a:pt x="64961" y="1066229"/>
                  </a:lnTo>
                  <a:lnTo>
                    <a:pt x="48158" y="1027895"/>
                  </a:lnTo>
                  <a:lnTo>
                    <a:pt x="33743" y="988659"/>
                  </a:lnTo>
                  <a:lnTo>
                    <a:pt x="21787" y="948582"/>
                  </a:lnTo>
                  <a:lnTo>
                    <a:pt x="12363" y="907723"/>
                  </a:lnTo>
                  <a:lnTo>
                    <a:pt x="5542" y="866141"/>
                  </a:lnTo>
                  <a:lnTo>
                    <a:pt x="1397" y="823897"/>
                  </a:lnTo>
                  <a:lnTo>
                    <a:pt x="0" y="7810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9551" y="2287523"/>
              <a:ext cx="673735" cy="601345"/>
            </a:xfrm>
            <a:custGeom>
              <a:avLst/>
              <a:gdLst/>
              <a:ahLst/>
              <a:cxnLst/>
              <a:rect l="l" t="t" r="r" b="b"/>
              <a:pathLst>
                <a:path w="673735" h="601344">
                  <a:moveTo>
                    <a:pt x="619927" y="54182"/>
                  </a:moveTo>
                  <a:lnTo>
                    <a:pt x="613110" y="46538"/>
                  </a:lnTo>
                  <a:lnTo>
                    <a:pt x="0" y="594359"/>
                  </a:lnTo>
                  <a:lnTo>
                    <a:pt x="6858" y="601217"/>
                  </a:lnTo>
                  <a:lnTo>
                    <a:pt x="619927" y="54182"/>
                  </a:lnTo>
                  <a:close/>
                </a:path>
                <a:path w="673735" h="601344">
                  <a:moveTo>
                    <a:pt x="673608" y="0"/>
                  </a:moveTo>
                  <a:lnTo>
                    <a:pt x="591312" y="22097"/>
                  </a:lnTo>
                  <a:lnTo>
                    <a:pt x="613110" y="46538"/>
                  </a:lnTo>
                  <a:lnTo>
                    <a:pt x="622554" y="38099"/>
                  </a:lnTo>
                  <a:lnTo>
                    <a:pt x="629412" y="45719"/>
                  </a:lnTo>
                  <a:lnTo>
                    <a:pt x="629412" y="64816"/>
                  </a:lnTo>
                  <a:lnTo>
                    <a:pt x="641604" y="78485"/>
                  </a:lnTo>
                  <a:lnTo>
                    <a:pt x="673608" y="0"/>
                  </a:lnTo>
                  <a:close/>
                </a:path>
                <a:path w="673735" h="601344">
                  <a:moveTo>
                    <a:pt x="629412" y="45719"/>
                  </a:moveTo>
                  <a:lnTo>
                    <a:pt x="622554" y="38099"/>
                  </a:lnTo>
                  <a:lnTo>
                    <a:pt x="613110" y="46538"/>
                  </a:lnTo>
                  <a:lnTo>
                    <a:pt x="619927" y="54182"/>
                  </a:lnTo>
                  <a:lnTo>
                    <a:pt x="629412" y="45719"/>
                  </a:lnTo>
                  <a:close/>
                </a:path>
                <a:path w="673735" h="601344">
                  <a:moveTo>
                    <a:pt x="629412" y="64816"/>
                  </a:moveTo>
                  <a:lnTo>
                    <a:pt x="629412" y="45719"/>
                  </a:lnTo>
                  <a:lnTo>
                    <a:pt x="619927" y="54182"/>
                  </a:lnTo>
                  <a:lnTo>
                    <a:pt x="629412" y="64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66771" y="2159761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si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95657" y="3467100"/>
            <a:ext cx="588010" cy="76200"/>
          </a:xfrm>
          <a:custGeom>
            <a:avLst/>
            <a:gdLst/>
            <a:ahLst/>
            <a:cxnLst/>
            <a:rect l="l" t="t" r="r" b="b"/>
            <a:pathLst>
              <a:path w="588010" h="76200">
                <a:moveTo>
                  <a:pt x="511398" y="33281"/>
                </a:moveTo>
                <a:lnTo>
                  <a:pt x="0" y="22860"/>
                </a:lnTo>
                <a:lnTo>
                  <a:pt x="0" y="32004"/>
                </a:lnTo>
                <a:lnTo>
                  <a:pt x="511215" y="42421"/>
                </a:lnTo>
                <a:lnTo>
                  <a:pt x="511398" y="33281"/>
                </a:lnTo>
                <a:close/>
              </a:path>
              <a:path w="588010" h="76200">
                <a:moveTo>
                  <a:pt x="523494" y="70043"/>
                </a:moveTo>
                <a:lnTo>
                  <a:pt x="523494" y="42672"/>
                </a:lnTo>
                <a:lnTo>
                  <a:pt x="511215" y="42421"/>
                </a:lnTo>
                <a:lnTo>
                  <a:pt x="510540" y="76200"/>
                </a:lnTo>
                <a:lnTo>
                  <a:pt x="523494" y="70043"/>
                </a:lnTo>
                <a:close/>
              </a:path>
              <a:path w="588010" h="76200">
                <a:moveTo>
                  <a:pt x="523494" y="42672"/>
                </a:moveTo>
                <a:lnTo>
                  <a:pt x="523494" y="33528"/>
                </a:lnTo>
                <a:lnTo>
                  <a:pt x="511398" y="33281"/>
                </a:lnTo>
                <a:lnTo>
                  <a:pt x="511215" y="42421"/>
                </a:lnTo>
                <a:lnTo>
                  <a:pt x="523494" y="42672"/>
                </a:lnTo>
                <a:close/>
              </a:path>
              <a:path w="588010" h="76200">
                <a:moveTo>
                  <a:pt x="587502" y="39624"/>
                </a:moveTo>
                <a:lnTo>
                  <a:pt x="512064" y="0"/>
                </a:lnTo>
                <a:lnTo>
                  <a:pt x="511398" y="33281"/>
                </a:lnTo>
                <a:lnTo>
                  <a:pt x="523494" y="33528"/>
                </a:lnTo>
                <a:lnTo>
                  <a:pt x="523494" y="70043"/>
                </a:lnTo>
                <a:lnTo>
                  <a:pt x="587502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34945" y="370205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no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59525" y="1833372"/>
            <a:ext cx="148463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52730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Ocupados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7267" y="2942335"/>
            <a:ext cx="210375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29210" indent="-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¿Ha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buscado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empleo </a:t>
            </a:r>
            <a:r>
              <a:rPr sz="1800" spc="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activamente</a:t>
            </a:r>
            <a:r>
              <a:rPr sz="1800" spc="-2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800" spc="-3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el</a:t>
            </a:r>
            <a:r>
              <a:rPr sz="18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mes </a:t>
            </a:r>
            <a:r>
              <a:rPr sz="1800" spc="-434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precedente?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5080" indent="-635" algn="ctr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¿Está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disponible para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comenzar</a:t>
            </a:r>
            <a:r>
              <a:rPr sz="18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-3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trabajar</a:t>
            </a:r>
            <a:r>
              <a:rPr sz="1800" spc="-2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800" spc="-44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un plazo de dos </a:t>
            </a:r>
            <a:r>
              <a:rPr sz="1800" spc="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semanas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39344" y="2345245"/>
            <a:ext cx="3017520" cy="3815715"/>
            <a:chOff x="6439344" y="2345245"/>
            <a:chExt cx="3017520" cy="3815715"/>
          </a:xfrm>
        </p:grpSpPr>
        <p:sp>
          <p:nvSpPr>
            <p:cNvPr id="17" name="object 17"/>
            <p:cNvSpPr/>
            <p:nvPr/>
          </p:nvSpPr>
          <p:spPr>
            <a:xfrm>
              <a:off x="6444107" y="2350007"/>
              <a:ext cx="3007995" cy="3129915"/>
            </a:xfrm>
            <a:custGeom>
              <a:avLst/>
              <a:gdLst/>
              <a:ahLst/>
              <a:cxnLst/>
              <a:rect l="l" t="t" r="r" b="b"/>
              <a:pathLst>
                <a:path w="3007995" h="3129915">
                  <a:moveTo>
                    <a:pt x="0" y="1564386"/>
                  </a:moveTo>
                  <a:lnTo>
                    <a:pt x="742" y="1514761"/>
                  </a:lnTo>
                  <a:lnTo>
                    <a:pt x="2956" y="1465520"/>
                  </a:lnTo>
                  <a:lnTo>
                    <a:pt x="6619" y="1416684"/>
                  </a:lnTo>
                  <a:lnTo>
                    <a:pt x="11709" y="1368278"/>
                  </a:lnTo>
                  <a:lnTo>
                    <a:pt x="18204" y="1320324"/>
                  </a:lnTo>
                  <a:lnTo>
                    <a:pt x="26082" y="1272845"/>
                  </a:lnTo>
                  <a:lnTo>
                    <a:pt x="35321" y="1225864"/>
                  </a:lnTo>
                  <a:lnTo>
                    <a:pt x="45900" y="1179405"/>
                  </a:lnTo>
                  <a:lnTo>
                    <a:pt x="57795" y="1133489"/>
                  </a:lnTo>
                  <a:lnTo>
                    <a:pt x="70986" y="1088140"/>
                  </a:lnTo>
                  <a:lnTo>
                    <a:pt x="85450" y="1043381"/>
                  </a:lnTo>
                  <a:lnTo>
                    <a:pt x="101165" y="999236"/>
                  </a:lnTo>
                  <a:lnTo>
                    <a:pt x="118109" y="955726"/>
                  </a:lnTo>
                  <a:lnTo>
                    <a:pt x="136261" y="912875"/>
                  </a:lnTo>
                  <a:lnTo>
                    <a:pt x="155598" y="870707"/>
                  </a:lnTo>
                  <a:lnTo>
                    <a:pt x="176098" y="829243"/>
                  </a:lnTo>
                  <a:lnTo>
                    <a:pt x="197740" y="788507"/>
                  </a:lnTo>
                  <a:lnTo>
                    <a:pt x="220500" y="748523"/>
                  </a:lnTo>
                  <a:lnTo>
                    <a:pt x="244359" y="709312"/>
                  </a:lnTo>
                  <a:lnTo>
                    <a:pt x="269292" y="670898"/>
                  </a:lnTo>
                  <a:lnTo>
                    <a:pt x="295279" y="633304"/>
                  </a:lnTo>
                  <a:lnTo>
                    <a:pt x="322297" y="596553"/>
                  </a:lnTo>
                  <a:lnTo>
                    <a:pt x="350325" y="560668"/>
                  </a:lnTo>
                  <a:lnTo>
                    <a:pt x="379340" y="525672"/>
                  </a:lnTo>
                  <a:lnTo>
                    <a:pt x="409321" y="491587"/>
                  </a:lnTo>
                  <a:lnTo>
                    <a:pt x="440245" y="458438"/>
                  </a:lnTo>
                  <a:lnTo>
                    <a:pt x="472091" y="426246"/>
                  </a:lnTo>
                  <a:lnTo>
                    <a:pt x="504836" y="395035"/>
                  </a:lnTo>
                  <a:lnTo>
                    <a:pt x="538458" y="364828"/>
                  </a:lnTo>
                  <a:lnTo>
                    <a:pt x="572937" y="335648"/>
                  </a:lnTo>
                  <a:lnTo>
                    <a:pt x="608249" y="307518"/>
                  </a:lnTo>
                  <a:lnTo>
                    <a:pt x="644372" y="280460"/>
                  </a:lnTo>
                  <a:lnTo>
                    <a:pt x="681285" y="254498"/>
                  </a:lnTo>
                  <a:lnTo>
                    <a:pt x="718966" y="229655"/>
                  </a:lnTo>
                  <a:lnTo>
                    <a:pt x="757392" y="205954"/>
                  </a:lnTo>
                  <a:lnTo>
                    <a:pt x="796542" y="183418"/>
                  </a:lnTo>
                  <a:lnTo>
                    <a:pt x="836394" y="162069"/>
                  </a:lnTo>
                  <a:lnTo>
                    <a:pt x="876925" y="141931"/>
                  </a:lnTo>
                  <a:lnTo>
                    <a:pt x="918114" y="123027"/>
                  </a:lnTo>
                  <a:lnTo>
                    <a:pt x="959939" y="105379"/>
                  </a:lnTo>
                  <a:lnTo>
                    <a:pt x="1002378" y="89011"/>
                  </a:lnTo>
                  <a:lnTo>
                    <a:pt x="1045408" y="73946"/>
                  </a:lnTo>
                  <a:lnTo>
                    <a:pt x="1089009" y="60207"/>
                  </a:lnTo>
                  <a:lnTo>
                    <a:pt x="1133157" y="47816"/>
                  </a:lnTo>
                  <a:lnTo>
                    <a:pt x="1177831" y="36797"/>
                  </a:lnTo>
                  <a:lnTo>
                    <a:pt x="1223008" y="27172"/>
                  </a:lnTo>
                  <a:lnTo>
                    <a:pt x="1268668" y="18965"/>
                  </a:lnTo>
                  <a:lnTo>
                    <a:pt x="1314788" y="12199"/>
                  </a:lnTo>
                  <a:lnTo>
                    <a:pt x="1361345" y="6896"/>
                  </a:lnTo>
                  <a:lnTo>
                    <a:pt x="1408319" y="3080"/>
                  </a:lnTo>
                  <a:lnTo>
                    <a:pt x="1455686" y="773"/>
                  </a:lnTo>
                  <a:lnTo>
                    <a:pt x="1503425" y="0"/>
                  </a:lnTo>
                  <a:lnTo>
                    <a:pt x="1551166" y="773"/>
                  </a:lnTo>
                  <a:lnTo>
                    <a:pt x="1598536" y="3080"/>
                  </a:lnTo>
                  <a:lnTo>
                    <a:pt x="1645513" y="6896"/>
                  </a:lnTo>
                  <a:lnTo>
                    <a:pt x="1692076" y="12199"/>
                  </a:lnTo>
                  <a:lnTo>
                    <a:pt x="1738203" y="18965"/>
                  </a:lnTo>
                  <a:lnTo>
                    <a:pt x="1783871" y="27172"/>
                  </a:lnTo>
                  <a:lnTo>
                    <a:pt x="1829058" y="36797"/>
                  </a:lnTo>
                  <a:lnTo>
                    <a:pt x="1873743" y="47816"/>
                  </a:lnTo>
                  <a:lnTo>
                    <a:pt x="1917903" y="60207"/>
                  </a:lnTo>
                  <a:lnTo>
                    <a:pt x="1961516" y="73946"/>
                  </a:lnTo>
                  <a:lnTo>
                    <a:pt x="2004561" y="89011"/>
                  </a:lnTo>
                  <a:lnTo>
                    <a:pt x="2047015" y="105379"/>
                  </a:lnTo>
                  <a:lnTo>
                    <a:pt x="2088856" y="123027"/>
                  </a:lnTo>
                  <a:lnTo>
                    <a:pt x="2130062" y="141931"/>
                  </a:lnTo>
                  <a:lnTo>
                    <a:pt x="2170611" y="162069"/>
                  </a:lnTo>
                  <a:lnTo>
                    <a:pt x="2210481" y="183418"/>
                  </a:lnTo>
                  <a:lnTo>
                    <a:pt x="2249650" y="205954"/>
                  </a:lnTo>
                  <a:lnTo>
                    <a:pt x="2288096" y="229655"/>
                  </a:lnTo>
                  <a:lnTo>
                    <a:pt x="2325797" y="254498"/>
                  </a:lnTo>
                  <a:lnTo>
                    <a:pt x="2362731" y="280460"/>
                  </a:lnTo>
                  <a:lnTo>
                    <a:pt x="2398875" y="307518"/>
                  </a:lnTo>
                  <a:lnTo>
                    <a:pt x="2434208" y="335648"/>
                  </a:lnTo>
                  <a:lnTo>
                    <a:pt x="2468708" y="364828"/>
                  </a:lnTo>
                  <a:lnTo>
                    <a:pt x="2502352" y="395035"/>
                  </a:lnTo>
                  <a:lnTo>
                    <a:pt x="2535119" y="426246"/>
                  </a:lnTo>
                  <a:lnTo>
                    <a:pt x="2566987" y="458438"/>
                  </a:lnTo>
                  <a:lnTo>
                    <a:pt x="2597933" y="491587"/>
                  </a:lnTo>
                  <a:lnTo>
                    <a:pt x="2627936" y="525672"/>
                  </a:lnTo>
                  <a:lnTo>
                    <a:pt x="2656973" y="560668"/>
                  </a:lnTo>
                  <a:lnTo>
                    <a:pt x="2685022" y="596553"/>
                  </a:lnTo>
                  <a:lnTo>
                    <a:pt x="2712062" y="633304"/>
                  </a:lnTo>
                  <a:lnTo>
                    <a:pt x="2738069" y="670898"/>
                  </a:lnTo>
                  <a:lnTo>
                    <a:pt x="2763024" y="709312"/>
                  </a:lnTo>
                  <a:lnTo>
                    <a:pt x="2786902" y="748523"/>
                  </a:lnTo>
                  <a:lnTo>
                    <a:pt x="2809682" y="788507"/>
                  </a:lnTo>
                  <a:lnTo>
                    <a:pt x="2831343" y="829243"/>
                  </a:lnTo>
                  <a:lnTo>
                    <a:pt x="2851861" y="870707"/>
                  </a:lnTo>
                  <a:lnTo>
                    <a:pt x="2871216" y="912875"/>
                  </a:lnTo>
                  <a:lnTo>
                    <a:pt x="2889384" y="955726"/>
                  </a:lnTo>
                  <a:lnTo>
                    <a:pt x="2906345" y="999236"/>
                  </a:lnTo>
                  <a:lnTo>
                    <a:pt x="2922075" y="1043381"/>
                  </a:lnTo>
                  <a:lnTo>
                    <a:pt x="2936553" y="1088140"/>
                  </a:lnTo>
                  <a:lnTo>
                    <a:pt x="2949757" y="1133489"/>
                  </a:lnTo>
                  <a:lnTo>
                    <a:pt x="2961665" y="1179405"/>
                  </a:lnTo>
                  <a:lnTo>
                    <a:pt x="2972254" y="1225864"/>
                  </a:lnTo>
                  <a:lnTo>
                    <a:pt x="2981503" y="1272845"/>
                  </a:lnTo>
                  <a:lnTo>
                    <a:pt x="2989389" y="1320324"/>
                  </a:lnTo>
                  <a:lnTo>
                    <a:pt x="2995891" y="1368278"/>
                  </a:lnTo>
                  <a:lnTo>
                    <a:pt x="3000987" y="1416684"/>
                  </a:lnTo>
                  <a:lnTo>
                    <a:pt x="3004654" y="1465520"/>
                  </a:lnTo>
                  <a:lnTo>
                    <a:pt x="3006870" y="1514761"/>
                  </a:lnTo>
                  <a:lnTo>
                    <a:pt x="3007614" y="1564386"/>
                  </a:lnTo>
                  <a:lnTo>
                    <a:pt x="3006870" y="1614053"/>
                  </a:lnTo>
                  <a:lnTo>
                    <a:pt x="3004654" y="1663336"/>
                  </a:lnTo>
                  <a:lnTo>
                    <a:pt x="3000987" y="1712211"/>
                  </a:lnTo>
                  <a:lnTo>
                    <a:pt x="2995891" y="1760655"/>
                  </a:lnTo>
                  <a:lnTo>
                    <a:pt x="2989389" y="1808646"/>
                  </a:lnTo>
                  <a:lnTo>
                    <a:pt x="2981503" y="1856160"/>
                  </a:lnTo>
                  <a:lnTo>
                    <a:pt x="2972254" y="1903175"/>
                  </a:lnTo>
                  <a:lnTo>
                    <a:pt x="2961665" y="1949667"/>
                  </a:lnTo>
                  <a:lnTo>
                    <a:pt x="2949757" y="1995613"/>
                  </a:lnTo>
                  <a:lnTo>
                    <a:pt x="2936553" y="2040991"/>
                  </a:lnTo>
                  <a:lnTo>
                    <a:pt x="2922075" y="2085778"/>
                  </a:lnTo>
                  <a:lnTo>
                    <a:pt x="2906345" y="2129950"/>
                  </a:lnTo>
                  <a:lnTo>
                    <a:pt x="2889384" y="2173485"/>
                  </a:lnTo>
                  <a:lnTo>
                    <a:pt x="2871216" y="2216360"/>
                  </a:lnTo>
                  <a:lnTo>
                    <a:pt x="2851861" y="2258552"/>
                  </a:lnTo>
                  <a:lnTo>
                    <a:pt x="2831343" y="2300037"/>
                  </a:lnTo>
                  <a:lnTo>
                    <a:pt x="2809682" y="2340793"/>
                  </a:lnTo>
                  <a:lnTo>
                    <a:pt x="2786902" y="2380797"/>
                  </a:lnTo>
                  <a:lnTo>
                    <a:pt x="2763024" y="2420026"/>
                  </a:lnTo>
                  <a:lnTo>
                    <a:pt x="2738069" y="2458457"/>
                  </a:lnTo>
                  <a:lnTo>
                    <a:pt x="2712062" y="2496067"/>
                  </a:lnTo>
                  <a:lnTo>
                    <a:pt x="2685022" y="2532834"/>
                  </a:lnTo>
                  <a:lnTo>
                    <a:pt x="2656973" y="2568733"/>
                  </a:lnTo>
                  <a:lnTo>
                    <a:pt x="2627936" y="2603742"/>
                  </a:lnTo>
                  <a:lnTo>
                    <a:pt x="2597933" y="2637839"/>
                  </a:lnTo>
                  <a:lnTo>
                    <a:pt x="2566987" y="2671000"/>
                  </a:lnTo>
                  <a:lnTo>
                    <a:pt x="2535119" y="2703202"/>
                  </a:lnTo>
                  <a:lnTo>
                    <a:pt x="2502352" y="2734423"/>
                  </a:lnTo>
                  <a:lnTo>
                    <a:pt x="2468708" y="2764639"/>
                  </a:lnTo>
                  <a:lnTo>
                    <a:pt x="2434208" y="2793827"/>
                  </a:lnTo>
                  <a:lnTo>
                    <a:pt x="2398875" y="2821965"/>
                  </a:lnTo>
                  <a:lnTo>
                    <a:pt x="2362731" y="2849029"/>
                  </a:lnTo>
                  <a:lnTo>
                    <a:pt x="2325797" y="2874997"/>
                  </a:lnTo>
                  <a:lnTo>
                    <a:pt x="2288096" y="2899846"/>
                  </a:lnTo>
                  <a:lnTo>
                    <a:pt x="2249650" y="2923552"/>
                  </a:lnTo>
                  <a:lnTo>
                    <a:pt x="2210481" y="2946093"/>
                  </a:lnTo>
                  <a:lnTo>
                    <a:pt x="2170611" y="2967446"/>
                  </a:lnTo>
                  <a:lnTo>
                    <a:pt x="2130062" y="2987587"/>
                  </a:lnTo>
                  <a:lnTo>
                    <a:pt x="2088856" y="3006494"/>
                  </a:lnTo>
                  <a:lnTo>
                    <a:pt x="2047015" y="3024144"/>
                  </a:lnTo>
                  <a:lnTo>
                    <a:pt x="2004561" y="3040514"/>
                  </a:lnTo>
                  <a:lnTo>
                    <a:pt x="1961516" y="3055581"/>
                  </a:lnTo>
                  <a:lnTo>
                    <a:pt x="1917903" y="3069322"/>
                  </a:lnTo>
                  <a:lnTo>
                    <a:pt x="1873743" y="3081714"/>
                  </a:lnTo>
                  <a:lnTo>
                    <a:pt x="1829058" y="3092735"/>
                  </a:lnTo>
                  <a:lnTo>
                    <a:pt x="1783871" y="3102360"/>
                  </a:lnTo>
                  <a:lnTo>
                    <a:pt x="1738203" y="3110567"/>
                  </a:lnTo>
                  <a:lnTo>
                    <a:pt x="1692076" y="3117334"/>
                  </a:lnTo>
                  <a:lnTo>
                    <a:pt x="1645513" y="3122637"/>
                  </a:lnTo>
                  <a:lnTo>
                    <a:pt x="1598536" y="3126453"/>
                  </a:lnTo>
                  <a:lnTo>
                    <a:pt x="1551166" y="3128760"/>
                  </a:lnTo>
                  <a:lnTo>
                    <a:pt x="1503426" y="3129534"/>
                  </a:lnTo>
                  <a:lnTo>
                    <a:pt x="1455686" y="3128760"/>
                  </a:lnTo>
                  <a:lnTo>
                    <a:pt x="1408319" y="3126453"/>
                  </a:lnTo>
                  <a:lnTo>
                    <a:pt x="1361345" y="3122637"/>
                  </a:lnTo>
                  <a:lnTo>
                    <a:pt x="1314788" y="3117334"/>
                  </a:lnTo>
                  <a:lnTo>
                    <a:pt x="1268668" y="3110567"/>
                  </a:lnTo>
                  <a:lnTo>
                    <a:pt x="1223008" y="3102360"/>
                  </a:lnTo>
                  <a:lnTo>
                    <a:pt x="1177831" y="3092735"/>
                  </a:lnTo>
                  <a:lnTo>
                    <a:pt x="1133157" y="3081714"/>
                  </a:lnTo>
                  <a:lnTo>
                    <a:pt x="1089009" y="3069322"/>
                  </a:lnTo>
                  <a:lnTo>
                    <a:pt x="1045408" y="3055581"/>
                  </a:lnTo>
                  <a:lnTo>
                    <a:pt x="1002378" y="3040514"/>
                  </a:lnTo>
                  <a:lnTo>
                    <a:pt x="959939" y="3024144"/>
                  </a:lnTo>
                  <a:lnTo>
                    <a:pt x="918114" y="3006494"/>
                  </a:lnTo>
                  <a:lnTo>
                    <a:pt x="876925" y="2987587"/>
                  </a:lnTo>
                  <a:lnTo>
                    <a:pt x="836394" y="2967446"/>
                  </a:lnTo>
                  <a:lnTo>
                    <a:pt x="796542" y="2946093"/>
                  </a:lnTo>
                  <a:lnTo>
                    <a:pt x="757392" y="2923552"/>
                  </a:lnTo>
                  <a:lnTo>
                    <a:pt x="718966" y="2899846"/>
                  </a:lnTo>
                  <a:lnTo>
                    <a:pt x="681285" y="2874997"/>
                  </a:lnTo>
                  <a:lnTo>
                    <a:pt x="644372" y="2849029"/>
                  </a:lnTo>
                  <a:lnTo>
                    <a:pt x="608249" y="2821965"/>
                  </a:lnTo>
                  <a:lnTo>
                    <a:pt x="572937" y="2793827"/>
                  </a:lnTo>
                  <a:lnTo>
                    <a:pt x="538458" y="2764639"/>
                  </a:lnTo>
                  <a:lnTo>
                    <a:pt x="504836" y="2734423"/>
                  </a:lnTo>
                  <a:lnTo>
                    <a:pt x="472091" y="2703202"/>
                  </a:lnTo>
                  <a:lnTo>
                    <a:pt x="440245" y="2671000"/>
                  </a:lnTo>
                  <a:lnTo>
                    <a:pt x="409321" y="2637839"/>
                  </a:lnTo>
                  <a:lnTo>
                    <a:pt x="379340" y="2603742"/>
                  </a:lnTo>
                  <a:lnTo>
                    <a:pt x="350325" y="2568733"/>
                  </a:lnTo>
                  <a:lnTo>
                    <a:pt x="322297" y="2532834"/>
                  </a:lnTo>
                  <a:lnTo>
                    <a:pt x="295279" y="2496067"/>
                  </a:lnTo>
                  <a:lnTo>
                    <a:pt x="269292" y="2458457"/>
                  </a:lnTo>
                  <a:lnTo>
                    <a:pt x="244359" y="2420026"/>
                  </a:lnTo>
                  <a:lnTo>
                    <a:pt x="220500" y="2380797"/>
                  </a:lnTo>
                  <a:lnTo>
                    <a:pt x="197740" y="2340793"/>
                  </a:lnTo>
                  <a:lnTo>
                    <a:pt x="176098" y="2300037"/>
                  </a:lnTo>
                  <a:lnTo>
                    <a:pt x="155598" y="2258552"/>
                  </a:lnTo>
                  <a:lnTo>
                    <a:pt x="136261" y="2216360"/>
                  </a:lnTo>
                  <a:lnTo>
                    <a:pt x="118110" y="2173485"/>
                  </a:lnTo>
                  <a:lnTo>
                    <a:pt x="101165" y="2129950"/>
                  </a:lnTo>
                  <a:lnTo>
                    <a:pt x="85450" y="2085778"/>
                  </a:lnTo>
                  <a:lnTo>
                    <a:pt x="70986" y="2040991"/>
                  </a:lnTo>
                  <a:lnTo>
                    <a:pt x="57795" y="1995613"/>
                  </a:lnTo>
                  <a:lnTo>
                    <a:pt x="45900" y="1949667"/>
                  </a:lnTo>
                  <a:lnTo>
                    <a:pt x="35321" y="1903175"/>
                  </a:lnTo>
                  <a:lnTo>
                    <a:pt x="26082" y="1856160"/>
                  </a:lnTo>
                  <a:lnTo>
                    <a:pt x="18204" y="1808646"/>
                  </a:lnTo>
                  <a:lnTo>
                    <a:pt x="11709" y="1760655"/>
                  </a:lnTo>
                  <a:lnTo>
                    <a:pt x="6619" y="1712211"/>
                  </a:lnTo>
                  <a:lnTo>
                    <a:pt x="2956" y="1663336"/>
                  </a:lnTo>
                  <a:lnTo>
                    <a:pt x="742" y="1614053"/>
                  </a:lnTo>
                  <a:lnTo>
                    <a:pt x="0" y="156438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57501" y="5347715"/>
              <a:ext cx="393700" cy="813435"/>
            </a:xfrm>
            <a:custGeom>
              <a:avLst/>
              <a:gdLst/>
              <a:ahLst/>
              <a:cxnLst/>
              <a:rect l="l" t="t" r="r" b="b"/>
              <a:pathLst>
                <a:path w="393700" h="813435">
                  <a:moveTo>
                    <a:pt x="363257" y="742012"/>
                  </a:moveTo>
                  <a:lnTo>
                    <a:pt x="8381" y="0"/>
                  </a:lnTo>
                  <a:lnTo>
                    <a:pt x="0" y="3810"/>
                  </a:lnTo>
                  <a:lnTo>
                    <a:pt x="354659" y="746120"/>
                  </a:lnTo>
                  <a:lnTo>
                    <a:pt x="363257" y="742012"/>
                  </a:lnTo>
                  <a:close/>
                </a:path>
                <a:path w="393700" h="813435">
                  <a:moveTo>
                    <a:pt x="368807" y="795129"/>
                  </a:moveTo>
                  <a:lnTo>
                    <a:pt x="368807" y="753618"/>
                  </a:lnTo>
                  <a:lnTo>
                    <a:pt x="360425" y="758190"/>
                  </a:lnTo>
                  <a:lnTo>
                    <a:pt x="354659" y="746120"/>
                  </a:lnTo>
                  <a:lnTo>
                    <a:pt x="324611" y="760476"/>
                  </a:lnTo>
                  <a:lnTo>
                    <a:pt x="368807" y="795129"/>
                  </a:lnTo>
                  <a:close/>
                </a:path>
                <a:path w="393700" h="813435">
                  <a:moveTo>
                    <a:pt x="368807" y="753618"/>
                  </a:moveTo>
                  <a:lnTo>
                    <a:pt x="363257" y="742012"/>
                  </a:lnTo>
                  <a:lnTo>
                    <a:pt x="354659" y="746120"/>
                  </a:lnTo>
                  <a:lnTo>
                    <a:pt x="360425" y="758190"/>
                  </a:lnTo>
                  <a:lnTo>
                    <a:pt x="368807" y="753618"/>
                  </a:lnTo>
                  <a:close/>
                </a:path>
                <a:path w="393700" h="813435">
                  <a:moveTo>
                    <a:pt x="393191" y="727710"/>
                  </a:moveTo>
                  <a:lnTo>
                    <a:pt x="363257" y="742012"/>
                  </a:lnTo>
                  <a:lnTo>
                    <a:pt x="368807" y="753618"/>
                  </a:lnTo>
                  <a:lnTo>
                    <a:pt x="368807" y="795129"/>
                  </a:lnTo>
                  <a:lnTo>
                    <a:pt x="391667" y="813054"/>
                  </a:lnTo>
                  <a:lnTo>
                    <a:pt x="393191" y="7277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12927" y="5366765"/>
              <a:ext cx="330835" cy="738505"/>
            </a:xfrm>
            <a:custGeom>
              <a:avLst/>
              <a:gdLst/>
              <a:ahLst/>
              <a:cxnLst/>
              <a:rect l="l" t="t" r="r" b="b"/>
              <a:pathLst>
                <a:path w="330834" h="738504">
                  <a:moveTo>
                    <a:pt x="30312" y="666358"/>
                  </a:moveTo>
                  <a:lnTo>
                    <a:pt x="0" y="653034"/>
                  </a:lnTo>
                  <a:lnTo>
                    <a:pt x="3810" y="738378"/>
                  </a:lnTo>
                  <a:lnTo>
                    <a:pt x="25146" y="720515"/>
                  </a:lnTo>
                  <a:lnTo>
                    <a:pt x="25146" y="678180"/>
                  </a:lnTo>
                  <a:lnTo>
                    <a:pt x="30312" y="666358"/>
                  </a:lnTo>
                  <a:close/>
                </a:path>
                <a:path w="330834" h="738504">
                  <a:moveTo>
                    <a:pt x="38752" y="670067"/>
                  </a:moveTo>
                  <a:lnTo>
                    <a:pt x="30312" y="666358"/>
                  </a:lnTo>
                  <a:lnTo>
                    <a:pt x="25146" y="678180"/>
                  </a:lnTo>
                  <a:lnTo>
                    <a:pt x="33528" y="681990"/>
                  </a:lnTo>
                  <a:lnTo>
                    <a:pt x="38752" y="670067"/>
                  </a:lnTo>
                  <a:close/>
                </a:path>
                <a:path w="330834" h="738504">
                  <a:moveTo>
                    <a:pt x="69342" y="683514"/>
                  </a:moveTo>
                  <a:lnTo>
                    <a:pt x="38752" y="670067"/>
                  </a:lnTo>
                  <a:lnTo>
                    <a:pt x="33528" y="681990"/>
                  </a:lnTo>
                  <a:lnTo>
                    <a:pt x="25146" y="678180"/>
                  </a:lnTo>
                  <a:lnTo>
                    <a:pt x="25146" y="720515"/>
                  </a:lnTo>
                  <a:lnTo>
                    <a:pt x="69342" y="683514"/>
                  </a:lnTo>
                  <a:close/>
                </a:path>
                <a:path w="330834" h="738504">
                  <a:moveTo>
                    <a:pt x="330708" y="3809"/>
                  </a:moveTo>
                  <a:lnTo>
                    <a:pt x="321564" y="0"/>
                  </a:lnTo>
                  <a:lnTo>
                    <a:pt x="30312" y="666358"/>
                  </a:lnTo>
                  <a:lnTo>
                    <a:pt x="38752" y="670067"/>
                  </a:lnTo>
                  <a:lnTo>
                    <a:pt x="330708" y="3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84870" y="6193535"/>
            <a:ext cx="1336675" cy="3759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290"/>
              </a:spcBef>
            </a:pPr>
            <a:r>
              <a:rPr sz="1800" b="1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Inactivos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6082931" y="6195059"/>
            <a:ext cx="1481455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00B04F"/>
                </a:solidFill>
                <a:latin typeface="Times New Roman" panose="02020603050405020304"/>
                <a:cs typeface="Times New Roman" panose="02020603050405020304"/>
              </a:rPr>
              <a:t>Parados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84470" y="545693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no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90080" y="5447792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si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9469" y="436118"/>
            <a:ext cx="4549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0" dirty="0"/>
              <a:t> </a:t>
            </a:r>
            <a:r>
              <a:rPr spc="-5" dirty="0"/>
              <a:t>La oferta</a:t>
            </a:r>
            <a:r>
              <a:rPr spc="-10" dirty="0"/>
              <a:t> </a:t>
            </a:r>
            <a:r>
              <a:rPr spc="-5" dirty="0"/>
              <a:t>de </a:t>
            </a:r>
            <a:r>
              <a:rPr spc="-15" dirty="0"/>
              <a:t>Trabajo:</a:t>
            </a:r>
            <a:r>
              <a:rPr spc="-5" dirty="0"/>
              <a:t> La</a:t>
            </a:r>
            <a:r>
              <a:rPr spc="-10" dirty="0"/>
              <a:t> </a:t>
            </a:r>
            <a:r>
              <a:rPr dirty="0"/>
              <a:t>tasa </a:t>
            </a:r>
            <a:r>
              <a:rPr spc="-5" dirty="0"/>
              <a:t>de </a:t>
            </a:r>
            <a:r>
              <a:rPr spc="-10" dirty="0"/>
              <a:t>actividad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5326" y="858266"/>
            <a:ext cx="4852670" cy="88519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32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Indicadores: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Fuentes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Información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1442085">
              <a:lnSpc>
                <a:spcPct val="100000"/>
              </a:lnSpc>
              <a:spcBef>
                <a:spcPts val="1225"/>
              </a:spcBef>
            </a:pP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Servicios</a:t>
            </a:r>
            <a:r>
              <a:rPr sz="18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públicos</a:t>
            </a:r>
            <a:r>
              <a:rPr sz="18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800" spc="-2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empleo/INEM: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5479" y="3128772"/>
            <a:ext cx="1609725" cy="5861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75"/>
              </a:lnSpc>
            </a:pPr>
            <a:r>
              <a:rPr sz="1800" b="1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Demandas</a:t>
            </a:r>
            <a:r>
              <a:rPr sz="1800" b="1" spc="-5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800" b="1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empleo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57307" y="3592067"/>
            <a:ext cx="557530" cy="76200"/>
          </a:xfrm>
          <a:custGeom>
            <a:avLst/>
            <a:gdLst/>
            <a:ahLst/>
            <a:cxnLst/>
            <a:rect l="l" t="t" r="r" b="b"/>
            <a:pathLst>
              <a:path w="557529" h="76200">
                <a:moveTo>
                  <a:pt x="493013" y="43434"/>
                </a:moveTo>
                <a:lnTo>
                  <a:pt x="493013" y="33528"/>
                </a:lnTo>
                <a:lnTo>
                  <a:pt x="0" y="33528"/>
                </a:lnTo>
                <a:lnTo>
                  <a:pt x="0" y="43434"/>
                </a:lnTo>
                <a:lnTo>
                  <a:pt x="493013" y="43434"/>
                </a:lnTo>
                <a:close/>
              </a:path>
              <a:path w="557529" h="76200">
                <a:moveTo>
                  <a:pt x="557022" y="38100"/>
                </a:moveTo>
                <a:lnTo>
                  <a:pt x="480822" y="0"/>
                </a:lnTo>
                <a:lnTo>
                  <a:pt x="480822" y="33528"/>
                </a:lnTo>
                <a:lnTo>
                  <a:pt x="493013" y="33528"/>
                </a:lnTo>
                <a:lnTo>
                  <a:pt x="493013" y="70104"/>
                </a:lnTo>
                <a:lnTo>
                  <a:pt x="557022" y="38100"/>
                </a:lnTo>
                <a:close/>
              </a:path>
              <a:path w="557529" h="76200">
                <a:moveTo>
                  <a:pt x="493013" y="70104"/>
                </a:moveTo>
                <a:lnTo>
                  <a:pt x="493013" y="43434"/>
                </a:lnTo>
                <a:lnTo>
                  <a:pt x="480822" y="43434"/>
                </a:lnTo>
                <a:lnTo>
                  <a:pt x="480822" y="76200"/>
                </a:lnTo>
                <a:lnTo>
                  <a:pt x="493013" y="70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81761" y="481914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no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1879" y="5212841"/>
            <a:ext cx="557530" cy="76200"/>
          </a:xfrm>
          <a:custGeom>
            <a:avLst/>
            <a:gdLst/>
            <a:ahLst/>
            <a:cxnLst/>
            <a:rect l="l" t="t" r="r" b="b"/>
            <a:pathLst>
              <a:path w="557529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3528"/>
                </a:lnTo>
                <a:lnTo>
                  <a:pt x="76200" y="33528"/>
                </a:lnTo>
                <a:close/>
              </a:path>
              <a:path w="557529" h="76200">
                <a:moveTo>
                  <a:pt x="557022" y="43434"/>
                </a:moveTo>
                <a:lnTo>
                  <a:pt x="557022" y="33528"/>
                </a:lnTo>
                <a:lnTo>
                  <a:pt x="63246" y="33528"/>
                </a:lnTo>
                <a:lnTo>
                  <a:pt x="63246" y="43434"/>
                </a:lnTo>
                <a:lnTo>
                  <a:pt x="557022" y="43434"/>
                </a:lnTo>
                <a:close/>
              </a:path>
              <a:path w="557529" h="76200">
                <a:moveTo>
                  <a:pt x="76200" y="76200"/>
                </a:moveTo>
                <a:lnTo>
                  <a:pt x="76200" y="43434"/>
                </a:lnTo>
                <a:lnTo>
                  <a:pt x="63246" y="43434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85479" y="4901946"/>
            <a:ext cx="1609725" cy="4622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04165" marR="297815" indent="266700">
              <a:lnSpc>
                <a:spcPct val="65000"/>
              </a:lnSpc>
              <a:spcBef>
                <a:spcPts val="370"/>
              </a:spcBef>
            </a:pPr>
            <a:r>
              <a:rPr sz="1800" b="1" spc="-1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Paro </a:t>
            </a:r>
            <a:r>
              <a:rPr sz="1800" b="1" spc="-10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3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b="1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800" b="1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st</a:t>
            </a:r>
            <a:r>
              <a:rPr sz="1800" b="1" spc="-5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b="1" dirty="0">
                <a:solidFill>
                  <a:srgbClr val="326599"/>
                </a:solidFill>
                <a:latin typeface="Times New Roman" panose="02020603050405020304"/>
                <a:cs typeface="Times New Roman" panose="02020603050405020304"/>
              </a:rPr>
              <a:t>ado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4597031" y="1911095"/>
            <a:ext cx="5013960" cy="40138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1660"/>
              </a:lnSpc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•Pluriempleados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•Ocupados</a:t>
            </a:r>
            <a:r>
              <a:rPr sz="1400" spc="-2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que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desean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mejorar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empleo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•Participantes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en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trabajos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de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Colaboración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Social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•Pensionistas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de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jubilación o</a:t>
            </a:r>
            <a:r>
              <a:rPr sz="1400" spc="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por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invalidez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grande o</a:t>
            </a:r>
            <a:r>
              <a:rPr sz="1400" spc="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absoluta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•Solicitud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de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empleo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coyuntural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(inferior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a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3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meses)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•Solicitud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de</a:t>
            </a:r>
            <a:r>
              <a:rPr sz="1400" spc="38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jornada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&lt; 20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horas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•Estudiantes</a:t>
            </a:r>
            <a:r>
              <a:rPr sz="1400" spc="-2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de enseñanza reglada menores de 25 años</a:t>
            </a:r>
            <a:endParaRPr sz="1400" dirty="0">
              <a:latin typeface="Arial MT"/>
              <a:cs typeface="Arial MT"/>
            </a:endParaRPr>
          </a:p>
          <a:p>
            <a:pPr marL="90805" marR="203835">
              <a:lnSpc>
                <a:spcPct val="80000"/>
              </a:lnSpc>
              <a:spcBef>
                <a:spcPts val="765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•Estudiantes de enseñanza reglada 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demandantes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de 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primer </a:t>
            </a:r>
            <a:r>
              <a:rPr sz="1400" spc="-37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empleo</a:t>
            </a:r>
            <a:endParaRPr sz="1400" dirty="0">
              <a:latin typeface="Arial MT"/>
              <a:cs typeface="Arial MT"/>
            </a:endParaRPr>
          </a:p>
          <a:p>
            <a:pPr marL="90805" marR="209550">
              <a:lnSpc>
                <a:spcPct val="80000"/>
              </a:lnSpc>
              <a:spcBef>
                <a:spcPts val="77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•Asistentes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a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cursos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Formación Profesional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Ocupacional de </a:t>
            </a:r>
            <a:r>
              <a:rPr sz="1400" spc="-37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más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de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20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horas</a:t>
            </a:r>
            <a:endParaRPr sz="1400" dirty="0">
              <a:latin typeface="Arial MT"/>
              <a:cs typeface="Arial MT"/>
            </a:endParaRPr>
          </a:p>
          <a:p>
            <a:pPr marL="90805" marR="607695">
              <a:lnSpc>
                <a:spcPct val="80000"/>
              </a:lnSpc>
              <a:spcBef>
                <a:spcPts val="77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•Beneficiarios de prestaciones por desempleo con 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compatibilidad</a:t>
            </a:r>
            <a:r>
              <a:rPr sz="1400" spc="-1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para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realizar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un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trabajo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a</a:t>
            </a:r>
            <a:r>
              <a:rPr sz="1400" spc="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tiempo</a:t>
            </a:r>
            <a:r>
              <a:rPr sz="1400" spc="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parcial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•Trabajadores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 Eventuales</a:t>
            </a:r>
            <a:r>
              <a:rPr sz="1400" spc="-8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Agrícolas</a:t>
            </a:r>
            <a:r>
              <a:rPr sz="140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Subsidiados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•Demandantes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que rechacen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acciones de inserción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laboral</a:t>
            </a:r>
            <a:endParaRPr sz="1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•Demandantes sin disponibilidad 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inmediata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para</a:t>
            </a:r>
            <a:r>
              <a:rPr sz="1400" spc="-10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el</a:t>
            </a:r>
            <a:r>
              <a:rPr sz="1400" spc="5" dirty="0">
                <a:solidFill>
                  <a:srgbClr val="32659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Arial MT"/>
                <a:cs typeface="Arial MT"/>
              </a:rPr>
              <a:t>trabajo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6591" y="842772"/>
            <a:ext cx="8534400" cy="11430"/>
          </a:xfrm>
          <a:custGeom>
            <a:avLst/>
            <a:gdLst/>
            <a:ahLst/>
            <a:cxnLst/>
            <a:rect l="l" t="t" r="r" b="b"/>
            <a:pathLst>
              <a:path w="8534400" h="11430">
                <a:moveTo>
                  <a:pt x="8534400" y="11429"/>
                </a:moveTo>
                <a:lnTo>
                  <a:pt x="8534400" y="0"/>
                </a:lnTo>
                <a:lnTo>
                  <a:pt x="0" y="0"/>
                </a:lnTo>
                <a:lnTo>
                  <a:pt x="0" y="11429"/>
                </a:lnTo>
                <a:lnTo>
                  <a:pt x="8534400" y="1142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3891" y="525271"/>
            <a:ext cx="855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8030" algn="l"/>
                <a:tab pos="8546465" algn="l"/>
              </a:tabLst>
            </a:pPr>
            <a:r>
              <a:rPr b="0" u="heavy" dirty="0">
                <a:uFill>
                  <a:solidFill>
                    <a:srgbClr val="BF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u="heavy" dirty="0">
                <a:uFill>
                  <a:solidFill>
                    <a:srgbClr val="BF0000"/>
                  </a:solidFill>
                </a:uFill>
              </a:rPr>
              <a:t>1.</a:t>
            </a:r>
            <a:r>
              <a:rPr u="heavy" spc="-10" dirty="0">
                <a:uFill>
                  <a:solidFill>
                    <a:srgbClr val="BF0000"/>
                  </a:solidFill>
                </a:uFill>
              </a:rPr>
              <a:t> </a:t>
            </a:r>
            <a:r>
              <a:rPr u="heavy" spc="-5" dirty="0">
                <a:uFill>
                  <a:solidFill>
                    <a:srgbClr val="BF0000"/>
                  </a:solidFill>
                </a:uFill>
              </a:rPr>
              <a:t>La oferta de</a:t>
            </a:r>
            <a:r>
              <a:rPr u="heavy" spc="-10" dirty="0">
                <a:uFill>
                  <a:solidFill>
                    <a:srgbClr val="BF0000"/>
                  </a:solidFill>
                </a:uFill>
              </a:rPr>
              <a:t> </a:t>
            </a:r>
            <a:r>
              <a:rPr u="heavy" spc="-15" dirty="0">
                <a:uFill>
                  <a:solidFill>
                    <a:srgbClr val="BF0000"/>
                  </a:solidFill>
                </a:uFill>
              </a:rPr>
              <a:t>Trabajo:</a:t>
            </a:r>
            <a:r>
              <a:rPr u="heavy" spc="-5" dirty="0">
                <a:uFill>
                  <a:solidFill>
                    <a:srgbClr val="BF0000"/>
                  </a:solidFill>
                </a:uFill>
              </a:rPr>
              <a:t> La </a:t>
            </a:r>
            <a:r>
              <a:rPr u="heavy" dirty="0">
                <a:uFill>
                  <a:solidFill>
                    <a:srgbClr val="BF0000"/>
                  </a:solidFill>
                </a:uFill>
              </a:rPr>
              <a:t>tasa</a:t>
            </a:r>
            <a:r>
              <a:rPr u="heavy" spc="-5" dirty="0">
                <a:uFill>
                  <a:solidFill>
                    <a:srgbClr val="BF0000"/>
                  </a:solidFill>
                </a:uFill>
              </a:rPr>
              <a:t> de </a:t>
            </a:r>
            <a:r>
              <a:rPr u="heavy" spc="-10" dirty="0">
                <a:uFill>
                  <a:solidFill>
                    <a:srgbClr val="BF0000"/>
                  </a:solidFill>
                </a:uFill>
              </a:rPr>
              <a:t>actividad	</a:t>
            </a:r>
          </a:p>
        </p:txBody>
      </p:sp>
      <p:sp>
        <p:nvSpPr>
          <p:cNvPr id="4" name="object 4"/>
          <p:cNvSpPr/>
          <p:nvPr/>
        </p:nvSpPr>
        <p:spPr>
          <a:xfrm>
            <a:off x="4554359" y="2103120"/>
            <a:ext cx="2239645" cy="0"/>
          </a:xfrm>
          <a:custGeom>
            <a:avLst/>
            <a:gdLst/>
            <a:ahLst/>
            <a:cxnLst/>
            <a:rect l="l" t="t" r="r" b="b"/>
            <a:pathLst>
              <a:path w="2239645">
                <a:moveTo>
                  <a:pt x="0" y="0"/>
                </a:moveTo>
                <a:lnTo>
                  <a:pt x="2239518" y="0"/>
                </a:lnTo>
              </a:path>
            </a:pathLst>
          </a:custGeom>
          <a:ln w="64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03270" y="1973785"/>
            <a:ext cx="335280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5" dirty="0">
                <a:latin typeface="Times New Roman" panose="02020603050405020304"/>
                <a:cs typeface="Times New Roman" panose="02020603050405020304"/>
              </a:rPr>
              <a:t>*100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423920">
              <a:lnSpc>
                <a:spcPct val="100000"/>
              </a:lnSpc>
              <a:spcBef>
                <a:spcPts val="115"/>
              </a:spcBef>
              <a:tabLst>
                <a:tab pos="4857750" algn="l"/>
              </a:tabLst>
            </a:pPr>
            <a:r>
              <a:rPr spc="5" dirty="0"/>
              <a:t>Población   en </a:t>
            </a:r>
            <a:r>
              <a:rPr spc="270" dirty="0"/>
              <a:t> </a:t>
            </a:r>
            <a:r>
              <a:rPr spc="5" dirty="0"/>
              <a:t>edad	de</a:t>
            </a:r>
            <a:r>
              <a:rPr spc="190" dirty="0"/>
              <a:t> </a:t>
            </a:r>
            <a:r>
              <a:rPr spc="5" dirty="0"/>
              <a:t>trabajar</a:t>
            </a:r>
          </a:p>
          <a:p>
            <a:pPr>
              <a:lnSpc>
                <a:spcPct val="100000"/>
              </a:lnSpc>
            </a:pPr>
            <a:endParaRPr sz="1900" dirty="0"/>
          </a:p>
          <a:p>
            <a:pPr marL="560070" marR="5080" indent="-273050">
              <a:lnSpc>
                <a:spcPct val="100000"/>
              </a:lnSpc>
              <a:spcBef>
                <a:spcPts val="5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i="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i="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i="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actividad</a:t>
            </a:r>
            <a:r>
              <a:rPr sz="1600" i="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 el</a:t>
            </a:r>
            <a:r>
              <a:rPr sz="1600" i="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indicador</a:t>
            </a:r>
            <a:r>
              <a:rPr sz="1600" i="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estadístico</a:t>
            </a:r>
            <a:r>
              <a:rPr sz="1600" i="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600" i="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600" i="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usa</a:t>
            </a:r>
            <a:r>
              <a:rPr sz="1600" i="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600" i="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i="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aproximar </a:t>
            </a:r>
            <a:r>
              <a:rPr sz="1600" b="1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b="1" i="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oferta</a:t>
            </a:r>
            <a:r>
              <a:rPr sz="1600" b="1" i="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b="1" i="0" spc="-3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600" b="1" i="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i="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600" i="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economía </a:t>
            </a:r>
            <a:r>
              <a:rPr sz="16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</a:t>
            </a:r>
            <a:r>
              <a:rPr sz="1600" i="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Activity</a:t>
            </a:r>
            <a:r>
              <a:rPr sz="1600" i="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Rate</a:t>
            </a:r>
            <a:r>
              <a:rPr sz="16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)</a:t>
            </a:r>
            <a:r>
              <a:rPr sz="16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en</a:t>
            </a:r>
            <a:r>
              <a:rPr sz="1600" i="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relación </a:t>
            </a:r>
            <a:r>
              <a:rPr sz="1600" i="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i="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i="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6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total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marR="40640" lvl="1" indent="-229235">
              <a:lnSpc>
                <a:spcPct val="100000"/>
              </a:lnSpc>
              <a:spcBef>
                <a:spcPts val="305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existe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(población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desea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trabajar)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total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16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 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idea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potencialmente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podría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>
              <a:latin typeface="Cambria" panose="02040503050406030204"/>
              <a:cs typeface="Cambria" panose="02040503050406030204"/>
            </a:endParaRPr>
          </a:p>
          <a:p>
            <a:pPr marL="367030" indent="-354330">
              <a:lnSpc>
                <a:spcPct val="100000"/>
              </a:lnSpc>
              <a:spcBef>
                <a:spcPts val="5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Razonemos</a:t>
            </a:r>
            <a:r>
              <a:rPr sz="1800" i="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 </a:t>
            </a:r>
            <a:r>
              <a:rPr sz="18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poco</a:t>
            </a:r>
            <a:r>
              <a:rPr sz="18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sobre</a:t>
            </a:r>
            <a:r>
              <a:rPr sz="18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el</a:t>
            </a:r>
            <a:r>
              <a:rPr sz="1800" i="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rango</a:t>
            </a:r>
            <a:r>
              <a:rPr sz="18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 </a:t>
            </a:r>
            <a:r>
              <a:rPr sz="18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variación</a:t>
            </a:r>
            <a:r>
              <a:rPr sz="1800" i="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i="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i="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i="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negativa?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razonable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cero?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razonable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que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20%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lvl="1">
              <a:lnSpc>
                <a:spcPct val="100000"/>
              </a:lnSpc>
              <a:buClr>
                <a:srgbClr val="9F2835"/>
              </a:buClr>
              <a:buFont typeface="Wingdings" panose="05000000000000000000"/>
              <a:buChar char=""/>
            </a:pPr>
            <a:endParaRPr sz="1900" dirty="0">
              <a:latin typeface="Cambria" panose="02040503050406030204"/>
              <a:cs typeface="Cambria" panose="02040503050406030204"/>
            </a:endParaRPr>
          </a:p>
          <a:p>
            <a:pPr marL="834390" marR="56515" lvl="2" indent="-229235">
              <a:lnSpc>
                <a:spcPct val="100000"/>
              </a:lnSpc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indicadores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también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calcular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actividad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económica;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educativo;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región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geográfica;género;etc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marR="36195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algunos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casos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será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conveniente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desagregarlos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algunas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variables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aunque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este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tema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centraremos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indicadores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agregados.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420" y="996950"/>
            <a:ext cx="8100059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Indicador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Estadístico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Básico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Trabajo: </a:t>
            </a:r>
            <a:r>
              <a:rPr sz="1800" b="1" spc="-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Actividad=L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800" spc="-38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8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como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porcentaje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3491865">
              <a:lnSpc>
                <a:spcPct val="100000"/>
              </a:lnSpc>
              <a:spcBef>
                <a:spcPts val="1775"/>
              </a:spcBef>
            </a:pP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Población </a:t>
            </a:r>
            <a:r>
              <a:rPr sz="1200" i="1" spc="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200" i="1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desea </a:t>
            </a:r>
            <a:r>
              <a:rPr sz="1200" i="1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trabajar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5832" y="1924224"/>
            <a:ext cx="1642110" cy="271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i="1" dirty="0">
                <a:latin typeface="Times New Roman" panose="02020603050405020304"/>
                <a:cs typeface="Times New Roman" panose="02020603050405020304"/>
              </a:rPr>
              <a:t>Tas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i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actividad</a:t>
            </a:r>
            <a:r>
              <a:rPr sz="1200" i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70" dirty="0">
                <a:latin typeface="Symbol" panose="05050102010706020507"/>
                <a:cs typeface="Symbol" panose="05050102010706020507"/>
              </a:rPr>
              <a:t></a:t>
            </a:r>
            <a:r>
              <a:rPr sz="1200" spc="7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600" spc="-130" dirty="0">
                <a:latin typeface="Symbol" panose="05050102010706020507"/>
                <a:cs typeface="Symbol" panose="05050102010706020507"/>
              </a:rPr>
              <a:t></a:t>
            </a:r>
            <a:r>
              <a:rPr sz="1600" spc="-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10" dirty="0">
                <a:latin typeface="Symbol" panose="05050102010706020507"/>
                <a:cs typeface="Symbol" panose="05050102010706020507"/>
              </a:rPr>
              <a:t></a:t>
            </a:r>
            <a:endParaRPr sz="1200">
              <a:latin typeface="Symbol" panose="05050102010706020507"/>
              <a:cs typeface="Symbol" panose="0505010201070602050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5033" y="299720"/>
            <a:ext cx="7747000" cy="241554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2105025">
              <a:lnSpc>
                <a:spcPct val="100000"/>
              </a:lnSpc>
              <a:spcBef>
                <a:spcPts val="1195"/>
              </a:spcBef>
            </a:pP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1.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trabajo: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Actividad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367030" indent="-354330">
              <a:lnSpc>
                <a:spcPct val="100000"/>
              </a:lnSpc>
              <a:spcBef>
                <a:spcPts val="11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actividad.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marR="5080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términos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generales,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evolución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 la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oferta</a:t>
            </a:r>
            <a:r>
              <a:rPr sz="16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trabajo</a:t>
            </a:r>
            <a:r>
              <a:rPr sz="16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(tasa</a:t>
            </a:r>
            <a:r>
              <a:rPr sz="16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actividad) </a:t>
            </a:r>
            <a:r>
              <a:rPr sz="1600" b="1" spc="-3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depende</a:t>
            </a:r>
            <a:r>
              <a:rPr sz="1600" b="1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de: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1.Dinámica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demográfica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2.Factores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sociales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culturales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3.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del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mercado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endParaRPr sz="16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5" dirty="0"/>
              <a:t> </a:t>
            </a:r>
            <a:r>
              <a:rPr spc="-5" dirty="0"/>
              <a:t>La</a:t>
            </a:r>
            <a:r>
              <a:rPr spc="-10" dirty="0"/>
              <a:t> </a:t>
            </a:r>
            <a:r>
              <a:rPr dirty="0"/>
              <a:t>Oferta</a:t>
            </a:r>
            <a:r>
              <a:rPr spc="-10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5" dirty="0"/>
              <a:t>trabajo:</a:t>
            </a:r>
            <a:r>
              <a:rPr spc="-10" dirty="0"/>
              <a:t> </a:t>
            </a:r>
            <a:r>
              <a:rPr spc="-35" dirty="0"/>
              <a:t>Tasa</a:t>
            </a:r>
            <a:r>
              <a:rPr spc="-15" dirty="0"/>
              <a:t> </a:t>
            </a:r>
            <a:r>
              <a:rPr spc="-5" dirty="0"/>
              <a:t>de </a:t>
            </a:r>
            <a:r>
              <a:rPr spc="-15" dirty="0"/>
              <a:t>Actividad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1898" y="3505363"/>
            <a:ext cx="3942141" cy="33660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05033" y="724505"/>
            <a:ext cx="8515350" cy="474154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términos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generales,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evolución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 de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depende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de: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marR="138430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1.Dinámica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demográfica: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dinámica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demográfica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cambia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numero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individuos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sociedad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su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composición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afectando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la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 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trabajar.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decir,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depende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</a:t>
            </a:r>
            <a:r>
              <a:rPr sz="16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vegetativo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(diferencia</a:t>
            </a:r>
            <a:r>
              <a:rPr sz="16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entre</a:t>
            </a:r>
            <a:r>
              <a:rPr sz="16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nacimientos</a:t>
            </a:r>
            <a:r>
              <a:rPr sz="1600" b="1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defunciones)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+Movimientos</a:t>
            </a:r>
            <a:r>
              <a:rPr sz="1600" b="1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migratorios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marR="187325" lvl="2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dinámica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demográfica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suele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afectar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 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largo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plazo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.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No </a:t>
            </a:r>
            <a:r>
              <a:rPr sz="1400" spc="-29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suele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variar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ciclo</a:t>
            </a:r>
            <a:r>
              <a:rPr sz="1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económico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aunque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recientemente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movimientos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migratorios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han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sido importantes.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¿Cómo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está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afectando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forma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pirámide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poblacional?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16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6495415" marR="508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Lo más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destacable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para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el </a:t>
            </a:r>
            <a:r>
              <a:rPr sz="1400" spc="-32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caso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Español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es la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fuerte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entrada</a:t>
            </a:r>
            <a:r>
              <a:rPr sz="1400" spc="-1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de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inmigrantes</a:t>
            </a:r>
            <a:r>
              <a:rPr sz="140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a </a:t>
            </a:r>
            <a:r>
              <a:rPr sz="140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comienzos del siglo subió </a:t>
            </a:r>
            <a:r>
              <a:rPr sz="1400" spc="-32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significativamente</a:t>
            </a:r>
            <a:r>
              <a:rPr sz="1400" spc="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la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población en edad de </a:t>
            </a:r>
            <a:r>
              <a:rPr sz="140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trabajar</a:t>
            </a:r>
            <a:r>
              <a:rPr sz="1400" spc="1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y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tanto,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la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tasa</a:t>
            </a:r>
            <a:r>
              <a:rPr sz="1400" spc="-1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de</a:t>
            </a:r>
            <a:r>
              <a:rPr sz="1400" spc="-15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Georgia" panose="02040502050405020303"/>
                <a:cs typeface="Georgia" panose="02040502050405020303"/>
              </a:rPr>
              <a:t>actividad</a:t>
            </a:r>
            <a:endParaRPr sz="140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5697" y="6902450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26599"/>
                </a:solidFill>
                <a:latin typeface="Cambria" panose="02040503050406030204"/>
                <a:cs typeface="Cambria" panose="02040503050406030204"/>
              </a:rPr>
              <a:t>13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5" dirty="0"/>
              <a:t> </a:t>
            </a:r>
            <a:r>
              <a:rPr spc="-5" dirty="0"/>
              <a:t>La</a:t>
            </a:r>
            <a:r>
              <a:rPr spc="-10" dirty="0"/>
              <a:t> </a:t>
            </a:r>
            <a:r>
              <a:rPr dirty="0"/>
              <a:t>Oferta</a:t>
            </a:r>
            <a:r>
              <a:rPr spc="-10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5" dirty="0"/>
              <a:t>trabajo:</a:t>
            </a:r>
            <a:r>
              <a:rPr spc="-10" dirty="0"/>
              <a:t> </a:t>
            </a:r>
            <a:r>
              <a:rPr spc="-35" dirty="0"/>
              <a:t>Tasa</a:t>
            </a:r>
            <a:r>
              <a:rPr spc="-15" dirty="0"/>
              <a:t> </a:t>
            </a:r>
            <a:r>
              <a:rPr spc="-5" dirty="0"/>
              <a:t>de </a:t>
            </a:r>
            <a:r>
              <a:rPr spc="-15" dirty="0"/>
              <a:t>Actividad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5033" y="724505"/>
            <a:ext cx="8545830" cy="625348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actividad.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marR="184785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2.Factores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sociales y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culturales: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costumbres,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sexo,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edad,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estudios …: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Estos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factores </a:t>
            </a:r>
            <a:r>
              <a:rPr sz="1600" spc="-3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tampoco suelen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variar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ciclo económico,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son 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factores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tendenciales,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6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decir,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marcan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el</a:t>
            </a:r>
            <a:r>
              <a:rPr sz="16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comportamiento de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largo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plazo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tasa</a:t>
            </a:r>
            <a:r>
              <a:rPr sz="16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6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 una economía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marR="33655" lvl="2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ejemplo,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solo 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mayoría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desarrollados,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cambios</a:t>
            </a:r>
            <a:r>
              <a:rPr sz="14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culturales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sociales</a:t>
            </a:r>
            <a:r>
              <a:rPr sz="14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han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motivado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mujeres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crezca</a:t>
            </a:r>
            <a:r>
              <a:rPr sz="1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haciendo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actividad </a:t>
            </a:r>
            <a:r>
              <a:rPr sz="1400" spc="-29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total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suba</a:t>
            </a:r>
            <a:r>
              <a:rPr sz="1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marR="76835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)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genero: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ámbito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todas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políticas 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especialmente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dirigidas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conciliación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vida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laboral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y familiar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favorecido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tendencia.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ii)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edad: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5080" lvl="3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la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entrada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cambian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economía.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está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relacionado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legal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también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políticas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educativas.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ejemplo,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retrasarse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entrada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joven,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algunos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caer.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133985" lvl="3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salida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cambian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economía: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jubilación.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Políticas como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jubilación,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mínima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legal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trabajar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(años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estudios obligatorios)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afectan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tipo 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factores.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¿Cuál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tendencia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reciente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relación 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jubilación?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marR="100965" lvl="4" indent="-229235">
              <a:lnSpc>
                <a:spcPct val="100000"/>
              </a:lnSpc>
              <a:spcBef>
                <a:spcPts val="6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relevantes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refieren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 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condiciones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acceso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edad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jubilación: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Ley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27/2011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modifica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paulatinamente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condiciones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acceso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jubilación.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658620" marR="90805" lvl="5" indent="-182880">
              <a:lnSpc>
                <a:spcPct val="100000"/>
              </a:lnSpc>
              <a:spcBef>
                <a:spcPts val="285"/>
              </a:spcBef>
              <a:buClr>
                <a:srgbClr val="C19858"/>
              </a:buClr>
              <a:buSzPct val="79000"/>
              <a:buFont typeface="Segoe UI Symbol" panose="020B0502040204020203"/>
              <a:buChar char="⚫"/>
              <a:tabLst>
                <a:tab pos="1658620" algn="l"/>
              </a:tabLst>
            </a:pP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2019</a:t>
            </a:r>
            <a:r>
              <a:rPr sz="1400" i="1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jubilarán</a:t>
            </a:r>
            <a:r>
              <a:rPr sz="1400" i="1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una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edad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ordinaria</a:t>
            </a:r>
            <a:r>
              <a:rPr sz="1400" i="1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65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años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aquellos</a:t>
            </a:r>
            <a:r>
              <a:rPr sz="1400" i="1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que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hayan</a:t>
            </a:r>
            <a:r>
              <a:rPr sz="1400" i="1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cotizado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por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lo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menos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36</a:t>
            </a:r>
            <a:r>
              <a:rPr sz="1400" i="1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años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9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meses.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i="1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quienes</a:t>
            </a:r>
            <a:r>
              <a:rPr sz="1400" i="1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acrediten</a:t>
            </a:r>
            <a:r>
              <a:rPr sz="1400" i="1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una</a:t>
            </a:r>
            <a:r>
              <a:rPr sz="1400" i="1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carrera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cotización</a:t>
            </a:r>
            <a:r>
              <a:rPr sz="1400" i="1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inferior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les</a:t>
            </a:r>
            <a:r>
              <a:rPr sz="1400" i="1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aplicará </a:t>
            </a:r>
            <a:r>
              <a:rPr sz="1400" i="1" spc="-30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una</a:t>
            </a:r>
            <a:r>
              <a:rPr sz="1400" i="1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edad</a:t>
            </a:r>
            <a:r>
              <a:rPr sz="1400" i="1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ordinaria</a:t>
            </a:r>
            <a:r>
              <a:rPr sz="1400" i="1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jubilación</a:t>
            </a:r>
            <a:r>
              <a:rPr sz="1400" i="1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65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años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y 8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meses.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Recordemos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que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400" i="1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edad</a:t>
            </a:r>
            <a:r>
              <a:rPr sz="1400" i="1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 jubilación 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encuentra</a:t>
            </a:r>
            <a:r>
              <a:rPr sz="1400" i="1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fase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incremento</a:t>
            </a:r>
            <a:r>
              <a:rPr sz="1400" i="1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gradual</a:t>
            </a:r>
            <a:r>
              <a:rPr sz="1400" i="1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desde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los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65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hasta</a:t>
            </a:r>
            <a:r>
              <a:rPr sz="1400" i="1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los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67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años,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donde quedará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1027" y="6952736"/>
            <a:ext cx="64693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fijada</a:t>
            </a:r>
            <a:r>
              <a:rPr sz="1400" i="1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1400" i="1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2027.</a:t>
            </a:r>
            <a:r>
              <a:rPr sz="1400" i="1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Ese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año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adelante,</a:t>
            </a:r>
            <a:r>
              <a:rPr sz="1400" i="1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podrán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jubilarse</a:t>
            </a:r>
            <a:r>
              <a:rPr sz="1400" i="1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con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65</a:t>
            </a:r>
            <a:r>
              <a:rPr sz="1400" i="1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años</a:t>
            </a:r>
            <a:r>
              <a:rPr sz="1400" i="1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quienes</a:t>
            </a:r>
            <a:r>
              <a:rPr sz="1400" i="1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coticen</a:t>
            </a:r>
            <a:r>
              <a:rPr sz="1400" i="1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por</a:t>
            </a:r>
            <a:r>
              <a:rPr sz="1400" i="1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lo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5" dirty="0"/>
              <a:t> </a:t>
            </a:r>
            <a:r>
              <a:rPr spc="-5" dirty="0"/>
              <a:t>La</a:t>
            </a:r>
            <a:r>
              <a:rPr spc="-10" dirty="0"/>
              <a:t> </a:t>
            </a:r>
            <a:r>
              <a:rPr dirty="0"/>
              <a:t>Oferta</a:t>
            </a:r>
            <a:r>
              <a:rPr spc="-10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5" dirty="0"/>
              <a:t>trabajo:</a:t>
            </a:r>
            <a:r>
              <a:rPr spc="-10" dirty="0"/>
              <a:t> </a:t>
            </a:r>
            <a:r>
              <a:rPr spc="-35" dirty="0"/>
              <a:t>Tasa</a:t>
            </a:r>
            <a:r>
              <a:rPr spc="-15" dirty="0"/>
              <a:t> </a:t>
            </a:r>
            <a:r>
              <a:rPr spc="-5" dirty="0"/>
              <a:t>de </a:t>
            </a:r>
            <a:r>
              <a:rPr spc="-15" dirty="0"/>
              <a:t>Actividad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033" y="724505"/>
            <a:ext cx="8555355" cy="638683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cíclico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tasa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marR="34925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3.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¿Cómo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esperaríamos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se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comportase </a:t>
            </a:r>
            <a:r>
              <a:rPr sz="1600" b="1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actividad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 largo del ciclo económico?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 económica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tener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efectos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permanentes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transitorios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1109980" lvl="2" indent="-228600">
              <a:lnSpc>
                <a:spcPct val="100000"/>
              </a:lnSpc>
              <a:spcBef>
                <a:spcPts val="61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períodos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recesivos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motivos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opuestos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marR="88900" lvl="3" indent="-229235">
              <a:lnSpc>
                <a:spcPct val="100000"/>
              </a:lnSpc>
              <a:spcBef>
                <a:spcPts val="575"/>
              </a:spcBef>
              <a:buFont typeface="Courier New" panose="02070309020205020404"/>
              <a:buChar char="o"/>
              <a:tabLst>
                <a:tab pos="1384300" algn="l"/>
              </a:tabLst>
            </a:pPr>
            <a:r>
              <a:rPr sz="140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Efecto </a:t>
            </a:r>
            <a:r>
              <a:rPr sz="14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del trabajador</a:t>
            </a:r>
            <a:r>
              <a:rPr sz="14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desanimado</a:t>
            </a:r>
            <a:r>
              <a:rPr sz="1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(inactivo</a:t>
            </a:r>
            <a:r>
              <a:rPr sz="1400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desanimado):</a:t>
            </a:r>
            <a:r>
              <a:rPr sz="1400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ocurre</a:t>
            </a:r>
            <a:r>
              <a:rPr sz="140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cuando</a:t>
            </a:r>
            <a:r>
              <a:rPr sz="1400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una</a:t>
            </a:r>
            <a:r>
              <a:rPr sz="1400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persona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(desempleada)</a:t>
            </a:r>
            <a:r>
              <a:rPr sz="1400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deja</a:t>
            </a:r>
            <a:r>
              <a:rPr sz="1400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400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buscar</a:t>
            </a:r>
            <a:r>
              <a:rPr sz="1400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trabajo</a:t>
            </a:r>
            <a:r>
              <a:rPr sz="1400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activamente</a:t>
            </a:r>
            <a:r>
              <a:rPr sz="1400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porque</a:t>
            </a:r>
            <a:r>
              <a:rPr sz="1400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400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vuelve</a:t>
            </a:r>
            <a:r>
              <a:rPr sz="1400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muy</a:t>
            </a:r>
            <a:r>
              <a:rPr sz="1400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pesimista</a:t>
            </a:r>
            <a:r>
              <a:rPr sz="1400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respecto</a:t>
            </a:r>
            <a:r>
              <a:rPr sz="1400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la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posibilidad</a:t>
            </a:r>
            <a:r>
              <a:rPr sz="1400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400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encontrar</a:t>
            </a:r>
            <a:r>
              <a:rPr sz="1400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trabajo,</a:t>
            </a:r>
            <a:r>
              <a:rPr sz="1400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durante</a:t>
            </a:r>
            <a:r>
              <a:rPr sz="1400" spc="2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las</a:t>
            </a:r>
            <a:r>
              <a:rPr sz="1400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recesiones,</a:t>
            </a:r>
            <a:r>
              <a:rPr sz="1400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40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por</a:t>
            </a:r>
            <a:r>
              <a:rPr sz="1400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tanto</a:t>
            </a:r>
            <a:r>
              <a:rPr sz="1400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400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convierten</a:t>
            </a:r>
            <a:r>
              <a:rPr sz="1400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temporalmente </a:t>
            </a:r>
            <a:r>
              <a:rPr sz="1400" spc="-30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140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inactivos.</a:t>
            </a:r>
            <a:r>
              <a:rPr sz="1400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Los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inactivos</a:t>
            </a:r>
            <a:r>
              <a:rPr sz="1400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desanimados</a:t>
            </a:r>
            <a:r>
              <a:rPr sz="1400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están</a:t>
            </a:r>
            <a:r>
              <a:rPr sz="1400" spc="2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muy</a:t>
            </a:r>
            <a:r>
              <a:rPr sz="140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relacionados</a:t>
            </a:r>
            <a:r>
              <a:rPr sz="1400" spc="3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con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400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duración</a:t>
            </a:r>
            <a:r>
              <a:rPr sz="1400" spc="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del</a:t>
            </a:r>
            <a:r>
              <a:rPr sz="1400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paro</a:t>
            </a:r>
            <a:r>
              <a:rPr sz="1400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(lo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veremos</a:t>
            </a:r>
            <a:r>
              <a:rPr sz="1400" spc="1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1400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1400" spc="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siguiente</a:t>
            </a:r>
            <a:r>
              <a:rPr sz="1400" spc="3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tema).</a:t>
            </a:r>
            <a:r>
              <a:rPr sz="1400" spc="195" dirty="0">
                <a:solidFill>
                  <a:srgbClr val="3265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inactivos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desanimados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hacer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ciclo en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permanente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conseguimos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vuelva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marR="12065" lvl="3" indent="-228600">
              <a:lnSpc>
                <a:spcPct val="100000"/>
              </a:lnSpc>
              <a:spcBef>
                <a:spcPts val="335"/>
              </a:spcBef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añadido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(definición)</a:t>
            </a:r>
            <a:r>
              <a:rPr sz="1400" b="1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ocurre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principal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sostén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familia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pierde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empleo, 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otros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miembros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entran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temporalmente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esperanza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encontrar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fin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contrarrestar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disminución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renta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familiar.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marR="24765" lvl="3" indent="-228600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Cuando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b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desanimado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domina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añadido,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b="1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b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disminuye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las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recesiones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viceversa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lvl="2" indent="-22860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Períodos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expansivos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tiende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crecer: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produce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inverso.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lvl="3" indent="-229235">
              <a:lnSpc>
                <a:spcPct val="100000"/>
              </a:lnSpc>
              <a:spcBef>
                <a:spcPts val="6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desanimado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tiende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alcanzar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valores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mínimos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lvl="3" indent="-229235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añadido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tiende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desaparecer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384300" marR="240665" lvl="3" indent="-228600">
              <a:lnSpc>
                <a:spcPct val="100000"/>
              </a:lnSpc>
              <a:spcBef>
                <a:spcPts val="340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“efecto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llamada”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sentido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fase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expansiva,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traduce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 altos, puede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individuos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decidan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incorporarse al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 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29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¿Qué suele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suceder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España?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¿Qué ha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sucedido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España?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R="5080" algn="r">
              <a:lnSpc>
                <a:spcPct val="100000"/>
              </a:lnSpc>
              <a:spcBef>
                <a:spcPts val="1155"/>
              </a:spcBef>
            </a:pPr>
            <a:r>
              <a:rPr sz="1200" dirty="0">
                <a:solidFill>
                  <a:srgbClr val="326599"/>
                </a:solidFill>
                <a:latin typeface="Cambria" panose="02040503050406030204"/>
                <a:cs typeface="Cambria" panose="02040503050406030204"/>
              </a:rPr>
              <a:t>14</a:t>
            </a:r>
            <a:endParaRPr sz="12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7485" y="436118"/>
            <a:ext cx="429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5" dirty="0"/>
              <a:t> </a:t>
            </a:r>
            <a:r>
              <a:rPr spc="-5" dirty="0"/>
              <a:t>La</a:t>
            </a:r>
            <a:r>
              <a:rPr spc="-10" dirty="0"/>
              <a:t> </a:t>
            </a:r>
            <a:r>
              <a:rPr dirty="0"/>
              <a:t>Oferta</a:t>
            </a:r>
            <a:r>
              <a:rPr spc="-10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5" dirty="0"/>
              <a:t>trabajo:</a:t>
            </a:r>
            <a:r>
              <a:rPr spc="-10" dirty="0"/>
              <a:t> </a:t>
            </a:r>
            <a:r>
              <a:rPr spc="-35" dirty="0"/>
              <a:t>Tasa</a:t>
            </a:r>
            <a:r>
              <a:rPr spc="-15" dirty="0"/>
              <a:t> </a:t>
            </a:r>
            <a:r>
              <a:rPr spc="-5" dirty="0"/>
              <a:t>de </a:t>
            </a:r>
            <a:r>
              <a:rPr spc="-15" dirty="0"/>
              <a:t>Actividad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55326" y="940151"/>
            <a:ext cx="8364220" cy="520763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43205" indent="-23114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243840" algn="l"/>
              </a:tabLst>
            </a:pP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Algunas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reflexiones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sobre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388620" marR="5080" lvl="1" indent="-18034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89255" algn="l"/>
              </a:tabLst>
            </a:pP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 de la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actividad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el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ciclo económico: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Uno de los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hechos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relevantes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trabajo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la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última</a:t>
            </a:r>
            <a:r>
              <a:rPr sz="16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recesión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débil </a:t>
            </a:r>
            <a:r>
              <a:rPr sz="1600" spc="-3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respuesta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participación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ante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deterioro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económica.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664210" marR="55245" lvl="2" indent="-180340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421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parece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sido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mas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fuerte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añadido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frente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desanimado: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Pese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repunte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desempleo,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anteriores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etapas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recesivas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últimos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30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años,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dejado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crecer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contrasta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ocurrido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economía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española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pasado,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así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evidencia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empírica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disponible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otros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933450" marR="86995" lvl="3" indent="-18034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934085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  <a:hlinkClick r:id="rId2"/>
              </a:rPr>
              <a:t>https://ww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w.e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  <a:hlinkClick r:id="rId2"/>
              </a:rPr>
              <a:t>lconfidencialdigital.com/articulo/diner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o/tra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  <a:hlinkClick r:id="rId2"/>
              </a:rPr>
              <a:t>bajador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‐mayores‐convierten‐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buscadores‐activos/20090226000000054284.html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“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crisis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desata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‘efecto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trabajador 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añadido’: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mujeres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marido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mayores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45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años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se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convierten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nuevos </a:t>
            </a:r>
            <a:r>
              <a:rPr sz="1400" b="1" spc="-2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buscadores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activos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empleo”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2009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664210" marR="19050" lvl="2" indent="-180340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4210" algn="l"/>
              </a:tabLst>
            </a:pPr>
            <a:r>
              <a:rPr sz="14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¿También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podemos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hablar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añadido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mas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cercana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edad </a:t>
            </a:r>
            <a:r>
              <a:rPr sz="1400" b="1" spc="-2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jubilación?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realmente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parecen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cambios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regulación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(políticas)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026160" marR="156845" lvl="3" indent="-18034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026160" algn="l"/>
              </a:tabLst>
            </a:pP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</a:t>
            </a:r>
            <a:r>
              <a:rPr sz="1400" b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Pensiones. La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reforma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pensiones. Esta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resistencia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cíclica</a:t>
            </a:r>
            <a:r>
              <a:rPr sz="1400" b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fuerza 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laboral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–salvo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jóvenes‐,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relevante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medida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dicha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resistencia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afecte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participación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ocupados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edad,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será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elemento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positivo para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sostenibilidad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sistema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pensiones,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mitigar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jubilación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anticipada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grupo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poblacional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(Política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Pensiones).</a:t>
            </a:r>
            <a:r>
              <a:rPr sz="1400" spc="6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También,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dinamismo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laboral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fuerza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tiende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favorecer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capacidad 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ajuste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frente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crisis.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5" dirty="0"/>
              <a:t> </a:t>
            </a:r>
            <a:r>
              <a:rPr spc="-5" dirty="0"/>
              <a:t>La</a:t>
            </a:r>
            <a:r>
              <a:rPr spc="-10" dirty="0"/>
              <a:t> </a:t>
            </a:r>
            <a:r>
              <a:rPr dirty="0"/>
              <a:t>Oferta</a:t>
            </a:r>
            <a:r>
              <a:rPr spc="-10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5" dirty="0"/>
              <a:t>trabajo:</a:t>
            </a:r>
            <a:r>
              <a:rPr spc="-10" dirty="0"/>
              <a:t> </a:t>
            </a:r>
            <a:r>
              <a:rPr spc="-35" dirty="0"/>
              <a:t>Tasa</a:t>
            </a:r>
            <a:r>
              <a:rPr spc="-15" dirty="0"/>
              <a:t> </a:t>
            </a:r>
            <a:r>
              <a:rPr spc="-5" dirty="0"/>
              <a:t>de </a:t>
            </a:r>
            <a:r>
              <a:rPr spc="-15" dirty="0"/>
              <a:t>Actividad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405" y="724505"/>
            <a:ext cx="8483600" cy="508508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Algunas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reflexiones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sobre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384175" marR="144780" lvl="1" indent="-17907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84810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evolución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futura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evolución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vendría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determinada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tanto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envejecimiento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 población nacional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como por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menores entradas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netas de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inmigrantes,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pasarían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542.000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anuales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período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2002‐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2009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69.000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2010‐2019.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384175" marR="66675" lvl="1" indent="-17907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84810" algn="l"/>
              </a:tabLst>
            </a:pP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actividad</a:t>
            </a:r>
            <a:r>
              <a:rPr sz="16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los </a:t>
            </a:r>
            <a:r>
              <a:rPr sz="16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jóvenes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nuestro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país,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actividad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jóvenes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sido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muy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similar</a:t>
            </a:r>
            <a:r>
              <a:rPr sz="16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europea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últimos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años,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situándose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ligeramente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por 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encima del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40%.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cifra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que, aunque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años de bonanza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aumentó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gradualmente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hasta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acercarse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al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50%,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después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descendió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rápidamente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hasta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situarse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nuevo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el entorno del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40%,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 que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aleja de países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como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Alemania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Reino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Unido, donde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elevado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porcentaje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jóvenes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forma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658495" marR="5080" lvl="2" indent="-179070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59130" algn="l"/>
              </a:tabLst>
            </a:pPr>
            <a:r>
              <a:rPr sz="1400" u="sng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Consecuencia</a:t>
            </a:r>
            <a:r>
              <a:rPr sz="1400" u="sng" spc="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1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negativa</a:t>
            </a:r>
            <a:r>
              <a:rPr sz="1400" u="sng" spc="30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de</a:t>
            </a:r>
            <a:r>
              <a:rPr sz="1400" u="sng" spc="20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la</a:t>
            </a:r>
            <a:r>
              <a:rPr sz="1400" u="sng" spc="1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crisis: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6A9F2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5" dirty="0">
                <a:solidFill>
                  <a:srgbClr val="6A9F24"/>
                </a:solidFill>
                <a:uFill>
                  <a:solidFill>
                    <a:srgbClr val="6A9E24"/>
                  </a:solidFill>
                </a:uFill>
                <a:latin typeface="Cambria" panose="02040503050406030204"/>
                <a:cs typeface="Cambria" panose="02040503050406030204"/>
              </a:rPr>
              <a:t>países</a:t>
            </a:r>
            <a:r>
              <a:rPr sz="1400" u="sng" spc="10" dirty="0">
                <a:solidFill>
                  <a:srgbClr val="6A9F24"/>
                </a:solidFill>
                <a:uFill>
                  <a:solidFill>
                    <a:srgbClr val="6A9E24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5" dirty="0">
                <a:solidFill>
                  <a:srgbClr val="6A9F24"/>
                </a:solidFill>
                <a:uFill>
                  <a:solidFill>
                    <a:srgbClr val="6A9E24"/>
                  </a:solidFill>
                </a:uFill>
                <a:latin typeface="Cambria" panose="02040503050406030204"/>
                <a:cs typeface="Cambria" panose="02040503050406030204"/>
              </a:rPr>
              <a:t>de</a:t>
            </a:r>
            <a:r>
              <a:rPr sz="1400" u="sng" spc="20" dirty="0">
                <a:solidFill>
                  <a:srgbClr val="6A9F24"/>
                </a:solidFill>
                <a:uFill>
                  <a:solidFill>
                    <a:srgbClr val="6A9E24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5" dirty="0">
                <a:solidFill>
                  <a:srgbClr val="6A9F24"/>
                </a:solidFill>
                <a:uFill>
                  <a:solidFill>
                    <a:srgbClr val="6A9E24"/>
                  </a:solidFill>
                </a:uFill>
                <a:latin typeface="Cambria" panose="02040503050406030204"/>
                <a:cs typeface="Cambria" panose="02040503050406030204"/>
              </a:rPr>
              <a:t>la</a:t>
            </a:r>
            <a:r>
              <a:rPr sz="1400" u="sng" spc="10" dirty="0">
                <a:solidFill>
                  <a:srgbClr val="6A9F24"/>
                </a:solidFill>
                <a:uFill>
                  <a:solidFill>
                    <a:srgbClr val="6A9E24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u="sng" spc="-5" dirty="0">
                <a:solidFill>
                  <a:srgbClr val="6A9F24"/>
                </a:solidFill>
                <a:uFill>
                  <a:solidFill>
                    <a:srgbClr val="6A9E24"/>
                  </a:solidFill>
                </a:uFill>
                <a:latin typeface="Cambria" panose="02040503050406030204"/>
                <a:cs typeface="Cambria" panose="02040503050406030204"/>
              </a:rPr>
              <a:t>OCDE</a:t>
            </a:r>
            <a:r>
              <a:rPr sz="1400" spc="15" dirty="0">
                <a:solidFill>
                  <a:srgbClr val="6A9F2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jóvenes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estudiar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trabajar.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22,7%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quienes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tienen</a:t>
            </a:r>
            <a:r>
              <a:rPr sz="1400" spc="5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entre</a:t>
            </a:r>
            <a:r>
              <a:rPr sz="1400" spc="4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15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29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son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ninis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Este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porcentaje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supera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4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casi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ocho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puntos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club 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industrializados,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según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estudio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misma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organización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calcula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total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40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millones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jóvenes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situación.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Solo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todos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ribera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mediterránea,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porcentaje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superior: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Turquía,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donde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 afecta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29,8%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colectivo,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Grecia (26,9%)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Italia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(24,7%).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16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endParaRPr sz="1500" dirty="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9565" y="5291327"/>
            <a:ext cx="2532126" cy="16748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197485" y="453643"/>
            <a:ext cx="4292600" cy="276860"/>
          </a:xfrm>
        </p:spPr>
        <p:txBody>
          <a:bodyPr/>
          <a:lstStyle/>
          <a:p>
            <a:r>
              <a:rPr lang="es-ES" altLang="en-US">
                <a:highlight>
                  <a:srgbClr val="FFFF00"/>
                </a:highlight>
              </a:rPr>
              <a:t>EVOLUCION TASA DE ACTIVIDAD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  <a:p>
            <a:endParaRPr lang="es-ES" altLang="en-US"/>
          </a:p>
        </p:txBody>
      </p:sp>
      <p:pic>
        <p:nvPicPr>
          <p:cNvPr id="4" name="Marcador de posición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4670" y="923925"/>
            <a:ext cx="8917940" cy="63436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136900" y="453390"/>
            <a:ext cx="5831840" cy="276860"/>
          </a:xfrm>
        </p:spPr>
        <p:txBody>
          <a:bodyPr wrap="square"/>
          <a:lstStyle/>
          <a:p>
            <a:r>
              <a:rPr lang="es-ES" altLang="en-US"/>
              <a:t>EVOLUCION TASA DE ACTIVIDAD POR GENERO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4" name="Marcador de posición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4670" y="864870"/>
            <a:ext cx="9904730" cy="68116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308100" y="504825"/>
            <a:ext cx="8780780" cy="276860"/>
          </a:xfrm>
        </p:spPr>
        <p:txBody>
          <a:bodyPr wrap="square"/>
          <a:lstStyle/>
          <a:p>
            <a:r>
              <a:rPr lang="es-ES" altLang="en-US">
                <a:highlight>
                  <a:srgbClr val="FFFF00"/>
                </a:highlight>
              </a:rPr>
              <a:t>EVOLUCION TASA DE ACTIVIDAD POR TRAMO DE EDAD EN ESPAÑA</a:t>
            </a:r>
          </a:p>
        </p:txBody>
      </p:sp>
      <p:pic>
        <p:nvPicPr>
          <p:cNvPr id="4" name="Marcador de posición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4670" y="841375"/>
            <a:ext cx="9269730" cy="70516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6031" y="1582165"/>
            <a:ext cx="3181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La</a:t>
            </a:r>
            <a:r>
              <a:rPr sz="3600" spc="-30" dirty="0"/>
              <a:t> </a:t>
            </a:r>
            <a:r>
              <a:rPr sz="3600" spc="-5" dirty="0"/>
              <a:t>tasa</a:t>
            </a:r>
            <a:r>
              <a:rPr sz="3600" spc="-30" dirty="0"/>
              <a:t> </a:t>
            </a:r>
            <a:r>
              <a:rPr sz="3600" spc="-5" dirty="0"/>
              <a:t>de</a:t>
            </a:r>
            <a:r>
              <a:rPr sz="3600" spc="-30" dirty="0"/>
              <a:t> </a:t>
            </a:r>
            <a:r>
              <a:rPr sz="3600" spc="-40" dirty="0"/>
              <a:t>Paro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159" y="417830"/>
            <a:ext cx="1888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25" dirty="0"/>
              <a:t> </a:t>
            </a:r>
            <a:r>
              <a:rPr spc="-5" dirty="0"/>
              <a:t>La</a:t>
            </a:r>
            <a:r>
              <a:rPr spc="-25" dirty="0"/>
              <a:t> </a:t>
            </a:r>
            <a:r>
              <a:rPr spc="-35" dirty="0"/>
              <a:t>Tasa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20" dirty="0"/>
              <a:t> Paro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55326" y="996950"/>
            <a:ext cx="8314055" cy="539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395" marR="186690" indent="-354330">
              <a:lnSpc>
                <a:spcPct val="100000"/>
              </a:lnSpc>
              <a:spcBef>
                <a:spcPts val="1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 desempleo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 uno</a:t>
            </a:r>
            <a:r>
              <a:rPr sz="18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problemas económicos</a:t>
            </a:r>
            <a:r>
              <a:rPr sz="18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graves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las </a:t>
            </a:r>
            <a:r>
              <a:rPr sz="18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sociedades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desarrolladas</a:t>
            </a:r>
            <a:r>
              <a:rPr sz="18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8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reducirlo</a:t>
            </a:r>
            <a:r>
              <a:rPr sz="18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constituye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un</a:t>
            </a:r>
            <a:r>
              <a:rPr sz="18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objetivo</a:t>
            </a:r>
            <a:r>
              <a:rPr sz="18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prioritario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spc="-38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cualquier</a:t>
            </a:r>
            <a:r>
              <a:rPr sz="18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gobierno tanto</a:t>
            </a:r>
            <a:r>
              <a:rPr sz="18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8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través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sus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políticas 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macro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políticas 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micro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(políticas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sociolaborales)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marR="233680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Altos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niveles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desempleo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tienen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graves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consecuencias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general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6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y,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supuesto, </a:t>
            </a:r>
            <a:r>
              <a:rPr sz="1600" spc="-3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personal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familias</a:t>
            </a:r>
            <a:r>
              <a:rPr sz="16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padecen: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marR="57785" lvl="2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Motivos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eficiencia: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recursos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productivos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usados.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general: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supone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mantener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desocupada,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lo 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consigue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aprovechar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todo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potencial del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marR="508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Motivos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equidad: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uno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principales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determinantes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desigualdad.</a:t>
            </a:r>
            <a:r>
              <a:rPr sz="1400" b="1" spc="5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personal: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graves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consecuencias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renta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familias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ellas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dependen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dinero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obtienen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trabajo),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también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impacto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desempleo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día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día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(periodos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prolongados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minar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autoestima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dañar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relaciones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familiares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personales).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367030" indent="-354330">
              <a:lnSpc>
                <a:spcPct val="100000"/>
              </a:lnSpc>
              <a:spcBef>
                <a:spcPts val="89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Definición: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Parado: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desea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trabajar</a:t>
            </a:r>
            <a:r>
              <a:rPr sz="1600" b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encuentran</a:t>
            </a:r>
            <a:r>
              <a:rPr sz="1600" b="1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560070" marR="32258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paro: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porcentaje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 que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desean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trabajar</a:t>
            </a:r>
            <a:r>
              <a:rPr sz="16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no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encuentran </a:t>
            </a:r>
            <a:r>
              <a:rPr sz="1600" b="1" spc="-3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6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respecto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total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desean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trabajar.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marR="781050" lvl="2" indent="-229235">
              <a:lnSpc>
                <a:spcPct val="100000"/>
              </a:lnSpc>
              <a:spcBef>
                <a:spcPts val="610"/>
              </a:spcBef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Significado</a:t>
            </a:r>
            <a:r>
              <a:rPr sz="1400" b="1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económico</a:t>
            </a:r>
            <a:r>
              <a:rPr sz="1400" b="1" spc="4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b="1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paro:</a:t>
            </a:r>
            <a:r>
              <a:rPr sz="1400" b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b="1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indicador</a:t>
            </a:r>
            <a:r>
              <a:rPr sz="1400" b="1" spc="4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b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fácil</a:t>
            </a:r>
            <a:r>
              <a:rPr sz="1400" b="1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b="1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difícil</a:t>
            </a:r>
            <a:r>
              <a:rPr sz="1400" b="1" spc="3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400" b="1" spc="-29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encontrar</a:t>
            </a:r>
            <a:r>
              <a:rPr sz="1400" b="1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b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b="1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así </a:t>
            </a:r>
            <a:r>
              <a:rPr sz="14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como</a:t>
            </a:r>
            <a:r>
              <a:rPr sz="1400" b="1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b="1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fácil</a:t>
            </a:r>
            <a:r>
              <a:rPr sz="1400" b="1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b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difícil</a:t>
            </a:r>
            <a:r>
              <a:rPr sz="1400" b="1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 perderlo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6591" y="842772"/>
            <a:ext cx="8534400" cy="11430"/>
          </a:xfrm>
          <a:custGeom>
            <a:avLst/>
            <a:gdLst/>
            <a:ahLst/>
            <a:cxnLst/>
            <a:rect l="l" t="t" r="r" b="b"/>
            <a:pathLst>
              <a:path w="8534400" h="11430">
                <a:moveTo>
                  <a:pt x="8534400" y="11429"/>
                </a:moveTo>
                <a:lnTo>
                  <a:pt x="8534400" y="0"/>
                </a:lnTo>
                <a:lnTo>
                  <a:pt x="0" y="0"/>
                </a:lnTo>
                <a:lnTo>
                  <a:pt x="0" y="11429"/>
                </a:lnTo>
                <a:lnTo>
                  <a:pt x="8534400" y="1142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3891" y="511556"/>
            <a:ext cx="855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96945" algn="l"/>
                <a:tab pos="8546465" algn="l"/>
              </a:tabLst>
            </a:pPr>
            <a:r>
              <a:rPr b="0" u="heavy" dirty="0">
                <a:uFill>
                  <a:solidFill>
                    <a:srgbClr val="BF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u="heavy" dirty="0">
                <a:uFill>
                  <a:solidFill>
                    <a:srgbClr val="BF0000"/>
                  </a:solidFill>
                </a:uFill>
              </a:rPr>
              <a:t>2.</a:t>
            </a:r>
            <a:r>
              <a:rPr u="heavy" spc="-25" dirty="0">
                <a:uFill>
                  <a:solidFill>
                    <a:srgbClr val="BF0000"/>
                  </a:solidFill>
                </a:uFill>
              </a:rPr>
              <a:t> </a:t>
            </a:r>
            <a:r>
              <a:rPr u="heavy" spc="-35" dirty="0">
                <a:uFill>
                  <a:solidFill>
                    <a:srgbClr val="BF0000"/>
                  </a:solidFill>
                </a:uFill>
              </a:rPr>
              <a:t>Tasa</a:t>
            </a:r>
            <a:r>
              <a:rPr u="heavy" spc="-30" dirty="0">
                <a:uFill>
                  <a:solidFill>
                    <a:srgbClr val="BF0000"/>
                  </a:solidFill>
                </a:uFill>
              </a:rPr>
              <a:t> </a:t>
            </a:r>
            <a:r>
              <a:rPr u="heavy" spc="-5" dirty="0">
                <a:uFill>
                  <a:solidFill>
                    <a:srgbClr val="BF0000"/>
                  </a:solidFill>
                </a:uFill>
              </a:rPr>
              <a:t>de</a:t>
            </a:r>
            <a:r>
              <a:rPr u="heavy" spc="-25" dirty="0">
                <a:uFill>
                  <a:solidFill>
                    <a:srgbClr val="BF0000"/>
                  </a:solidFill>
                </a:uFill>
              </a:rPr>
              <a:t> </a:t>
            </a:r>
            <a:r>
              <a:rPr u="heavy" spc="-20" dirty="0">
                <a:uFill>
                  <a:solidFill>
                    <a:srgbClr val="BF0000"/>
                  </a:solidFill>
                </a:uFill>
              </a:rPr>
              <a:t>Paro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55326" y="868523"/>
            <a:ext cx="8409940" cy="589343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43205" indent="-23114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243840" algn="l"/>
              </a:tabLst>
            </a:pP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Definición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–estadística‐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(consenso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internacional,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OIT,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Eurostat…)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385445" marR="167005" lvl="1" indent="-18034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86080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consideran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parados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todas las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16 o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más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reúnan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u="sng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simultáneamente </a:t>
            </a:r>
            <a:r>
              <a:rPr sz="1600" spc="-3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siguientes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condiciones: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660400" marR="50165" lvl="2" indent="-180340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040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decir,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hayan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tenido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cuenta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ajena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cuenta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propia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semana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referencia.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660400" marR="370205" lvl="2" indent="-180340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040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busca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decir,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hayan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tomado medidas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concretas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buscar un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cuenta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ajena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hayan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hecho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gestiones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establecerse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su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cuenta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precedente.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660400" marR="421005" lvl="2" indent="-180340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0400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Disponibles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condiciones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comenzar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hacerlo en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plazo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semanas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partir del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domingo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semana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referencia.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660400" marR="727075" lvl="2" indent="-180340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040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16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semana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referencia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trabajo,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disponibles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para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buscan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ya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han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encontrado</a:t>
            </a:r>
            <a:r>
              <a:rPr sz="1400" b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uno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 </a:t>
            </a:r>
            <a:r>
              <a:rPr sz="1400" b="1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incorporarán</a:t>
            </a:r>
            <a:r>
              <a:rPr sz="1400" b="1" spc="4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dentro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meses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posteriores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semana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referencia.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386080" marR="304165" lvl="1" indent="-180340">
              <a:lnSpc>
                <a:spcPct val="100000"/>
              </a:lnSpc>
              <a:spcBef>
                <a:spcPts val="59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86080" algn="l"/>
              </a:tabLst>
            </a:pP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Todos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los paises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usan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mismo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criterio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medir el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desempleo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partir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encuestas </a:t>
            </a:r>
            <a:r>
              <a:rPr sz="1600" spc="-3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nacionales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empleo.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660400" marR="5080" lvl="2" indent="-180340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040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debe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procede 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Encuestas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Poblacion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Activa: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EPA‐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caso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España.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posible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algunos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casos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ejecución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encuesta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introduzca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pequeñas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diferencias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países.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embargo,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diferencias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suelen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pequeñas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basadas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Encuesta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</a:t>
            </a:r>
            <a:r>
              <a:rPr sz="14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Current</a:t>
            </a:r>
            <a:r>
              <a:rPr sz="1400" b="1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Population</a:t>
            </a:r>
            <a:r>
              <a:rPr sz="1400" b="1" spc="4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Surveys</a:t>
            </a:r>
            <a:r>
              <a:rPr sz="14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o Labor</a:t>
            </a:r>
            <a:r>
              <a:rPr sz="1400" b="1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Force</a:t>
            </a:r>
            <a:r>
              <a:rPr sz="1400" b="1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Survey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)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son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comparables</a:t>
            </a:r>
            <a:r>
              <a:rPr sz="14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paises.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660400" marR="19050" lvl="2" indent="-180340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040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importante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tener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presente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diferir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datos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procedentes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oficinas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registrado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SEPE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).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comparaciones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internacionales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usar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encuestas</a:t>
            </a:r>
            <a:r>
              <a:rPr sz="1400" spc="5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activa.</a:t>
            </a:r>
            <a:r>
              <a:rPr sz="1400" spc="35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registrado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depender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normativas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nacionales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homogéneas.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partir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datos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registrado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computar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159" y="436118"/>
            <a:ext cx="1888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25" dirty="0"/>
              <a:t> </a:t>
            </a:r>
            <a:r>
              <a:rPr spc="-5" dirty="0"/>
              <a:t>La</a:t>
            </a:r>
            <a:r>
              <a:rPr spc="-25" dirty="0"/>
              <a:t> </a:t>
            </a:r>
            <a:r>
              <a:rPr spc="-35" dirty="0"/>
              <a:t>Tasa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20" dirty="0"/>
              <a:t> Paro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55326" y="903223"/>
            <a:ext cx="8313420" cy="54219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395" marR="189865" indent="-354330">
              <a:lnSpc>
                <a:spcPct val="100000"/>
              </a:lnSpc>
              <a:spcBef>
                <a:spcPts val="1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mide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porcentaje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busca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 </a:t>
            </a:r>
            <a:r>
              <a:rPr sz="1800" spc="-38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 encuentra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560070" marR="81915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604520" algn="l"/>
                <a:tab pos="605155" algn="l"/>
              </a:tabLst>
            </a:pPr>
            <a:r>
              <a:rPr dirty="0"/>
              <a:t>	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Significado económico de la 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tasa 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paro: 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un indicador de lo fácil 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o 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difícil que 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600" b="1" spc="-34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encontrar 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600" b="1" spc="-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600" b="1" spc="-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así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como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600" b="1" spc="-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fácil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o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difícil</a:t>
            </a:r>
            <a:r>
              <a:rPr sz="1600" b="1" spc="-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600" b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600" b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perderlo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834390" marR="5080" lvl="2" indent="-229235">
              <a:lnSpc>
                <a:spcPct val="100000"/>
              </a:lnSpc>
              <a:spcBef>
                <a:spcPts val="3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elevada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implica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difícil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encontrar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(también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probable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perderlo)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marR="182245" lvl="2" indent="-229235">
              <a:lnSpc>
                <a:spcPct val="100000"/>
              </a:lnSpc>
              <a:spcBef>
                <a:spcPts val="3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baja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implica 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fácil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encontrar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 (también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probable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perderlo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422275" lvl="3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Entener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motivos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subidas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central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diseño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políticas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laborales,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atentiendo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tanto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demanda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como al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lado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lvl="3" indent="-229235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¿Puede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fiscal 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estimulo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demanda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agregada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reducir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247015" lvl="3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¿Pueden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políticas 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contribuir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forma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sustancial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económico garantizando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fomentando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largo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plazo?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490855" lvl="3" indent="-229235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¿Pueden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reformas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reducir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?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Reforma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negociación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colectiva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despidos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Febrero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2012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Refroma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prestaciones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Julio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2012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Reforma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Sistema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pensiones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(2011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2013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….)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lvl="3" indent="-229235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salarios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mínimos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(varias…,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actualidad)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37465" lvl="3" indent="-229235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Pueden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diseño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politicas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reducir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paro?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quien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mas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importantes: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parados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corto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largo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plazo?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endParaRPr sz="1500" dirty="0">
              <a:latin typeface="Wingdings" panose="05000000000000000000"/>
              <a:cs typeface="Wingdings" panose="050000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6591" y="842772"/>
            <a:ext cx="8534400" cy="11430"/>
          </a:xfrm>
          <a:custGeom>
            <a:avLst/>
            <a:gdLst/>
            <a:ahLst/>
            <a:cxnLst/>
            <a:rect l="l" t="t" r="r" b="b"/>
            <a:pathLst>
              <a:path w="8534400" h="11430">
                <a:moveTo>
                  <a:pt x="8534400" y="11429"/>
                </a:moveTo>
                <a:lnTo>
                  <a:pt x="8534400" y="0"/>
                </a:lnTo>
                <a:lnTo>
                  <a:pt x="0" y="0"/>
                </a:lnTo>
                <a:lnTo>
                  <a:pt x="0" y="11429"/>
                </a:lnTo>
                <a:lnTo>
                  <a:pt x="8534400" y="1142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3891" y="525271"/>
            <a:ext cx="8559800" cy="19996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96945" algn="l"/>
                <a:tab pos="8546465" algn="l"/>
              </a:tabLst>
            </a:pPr>
            <a:r>
              <a:rPr sz="1800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1800" b="1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2.</a:t>
            </a:r>
            <a:r>
              <a:rPr sz="1800" b="1" u="heavy" spc="-25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800" b="1" u="heavy" spc="-35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u="heavy" spc="-30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800" b="1" u="heavy" spc="-5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u="heavy" spc="-25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800" b="1" u="heavy" spc="-20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Cambria" panose="02040503050406030204"/>
                <a:cs typeface="Cambria" panose="02040503050406030204"/>
              </a:rPr>
              <a:t>Paro	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283845" indent="-180975">
              <a:lnSpc>
                <a:spcPct val="100000"/>
              </a:lnSpc>
              <a:spcBef>
                <a:spcPts val="1555"/>
              </a:spcBef>
              <a:buClr>
                <a:srgbClr val="00B04F"/>
              </a:buClr>
              <a:buSzPct val="78000"/>
              <a:buFont typeface="Wingdings" panose="05000000000000000000"/>
              <a:buChar char=""/>
              <a:tabLst>
                <a:tab pos="284480" algn="l"/>
              </a:tabLst>
            </a:pP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Indicador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–estadístico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endParaRPr sz="1800" dirty="0">
              <a:latin typeface="Cambria" panose="02040503050406030204"/>
              <a:cs typeface="Cambria" panose="02040503050406030204"/>
            </a:endParaRPr>
          </a:p>
          <a:p>
            <a:pPr marL="477520" lvl="1" indent="-18034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477520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Razonemos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poco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sobre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rango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variación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endParaRPr sz="1600" dirty="0">
              <a:latin typeface="Cambria" panose="02040503050406030204"/>
              <a:cs typeface="Cambria" panose="02040503050406030204"/>
            </a:endParaRPr>
          </a:p>
          <a:p>
            <a:pPr marL="925830" lvl="2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92646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negativa?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92583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92646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razonable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cero?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deseable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cero?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92583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92646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razonable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120%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8696" y="3876548"/>
            <a:ext cx="7492365" cy="154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Unemployment</a:t>
            </a:r>
            <a:r>
              <a:rPr sz="1600" b="1" spc="-5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600" b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Rate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</a:pPr>
            <a:endParaRPr sz="1800" dirty="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 dirty="0">
              <a:latin typeface="Georgia" panose="02040502050405020303"/>
              <a:cs typeface="Georgia" panose="02040502050405020303"/>
            </a:endParaRPr>
          </a:p>
          <a:p>
            <a:pPr marL="541020" indent="-229235">
              <a:lnSpc>
                <a:spcPct val="100000"/>
              </a:lnSpc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54165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problema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cómo medir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activa: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16610" lvl="1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81661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Usamos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EPA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16610" lvl="1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81661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Según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EPA: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suma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ocupada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parada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0057" y="3227070"/>
            <a:ext cx="353695" cy="212090"/>
          </a:xfrm>
          <a:custGeom>
            <a:avLst/>
            <a:gdLst/>
            <a:ahLst/>
            <a:cxnLst/>
            <a:rect l="l" t="t" r="r" b="b"/>
            <a:pathLst>
              <a:path w="353695" h="212089">
                <a:moveTo>
                  <a:pt x="353568" y="105918"/>
                </a:moveTo>
                <a:lnTo>
                  <a:pt x="343602" y="52339"/>
                </a:lnTo>
                <a:lnTo>
                  <a:pt x="314896" y="13811"/>
                </a:lnTo>
                <a:lnTo>
                  <a:pt x="285750" y="0"/>
                </a:lnTo>
                <a:lnTo>
                  <a:pt x="282702" y="9144"/>
                </a:lnTo>
                <a:lnTo>
                  <a:pt x="294989" y="14275"/>
                </a:lnTo>
                <a:lnTo>
                  <a:pt x="305562" y="21621"/>
                </a:lnTo>
                <a:lnTo>
                  <a:pt x="327005" y="55649"/>
                </a:lnTo>
                <a:lnTo>
                  <a:pt x="333756" y="105155"/>
                </a:lnTo>
                <a:lnTo>
                  <a:pt x="333756" y="178288"/>
                </a:lnTo>
                <a:lnTo>
                  <a:pt x="336042" y="175260"/>
                </a:lnTo>
                <a:lnTo>
                  <a:pt x="343602" y="160246"/>
                </a:lnTo>
                <a:lnTo>
                  <a:pt x="349091" y="143732"/>
                </a:lnTo>
                <a:lnTo>
                  <a:pt x="352436" y="125646"/>
                </a:lnTo>
                <a:lnTo>
                  <a:pt x="353568" y="105918"/>
                </a:lnTo>
                <a:close/>
              </a:path>
              <a:path w="353695" h="212089">
                <a:moveTo>
                  <a:pt x="333756" y="178288"/>
                </a:moveTo>
                <a:lnTo>
                  <a:pt x="333756" y="105155"/>
                </a:lnTo>
                <a:lnTo>
                  <a:pt x="333029" y="123729"/>
                </a:lnTo>
                <a:lnTo>
                  <a:pt x="330803" y="140588"/>
                </a:lnTo>
                <a:lnTo>
                  <a:pt x="314420" y="181071"/>
                </a:lnTo>
                <a:lnTo>
                  <a:pt x="283464" y="203454"/>
                </a:lnTo>
                <a:lnTo>
                  <a:pt x="285750" y="211836"/>
                </a:lnTo>
                <a:lnTo>
                  <a:pt x="301323" y="206442"/>
                </a:lnTo>
                <a:lnTo>
                  <a:pt x="314896" y="198405"/>
                </a:lnTo>
                <a:lnTo>
                  <a:pt x="326469" y="187940"/>
                </a:lnTo>
                <a:lnTo>
                  <a:pt x="333756" y="178288"/>
                </a:lnTo>
                <a:close/>
              </a:path>
              <a:path w="353695" h="212089">
                <a:moveTo>
                  <a:pt x="70865" y="9144"/>
                </a:moveTo>
                <a:lnTo>
                  <a:pt x="67818" y="0"/>
                </a:lnTo>
                <a:lnTo>
                  <a:pt x="52244" y="5726"/>
                </a:lnTo>
                <a:lnTo>
                  <a:pt x="38671" y="13811"/>
                </a:lnTo>
                <a:lnTo>
                  <a:pt x="9965" y="52339"/>
                </a:lnTo>
                <a:lnTo>
                  <a:pt x="0" y="105918"/>
                </a:lnTo>
                <a:lnTo>
                  <a:pt x="1131" y="125646"/>
                </a:lnTo>
                <a:lnTo>
                  <a:pt x="4476" y="143732"/>
                </a:lnTo>
                <a:lnTo>
                  <a:pt x="9965" y="160246"/>
                </a:lnTo>
                <a:lnTo>
                  <a:pt x="17525" y="175260"/>
                </a:lnTo>
                <a:lnTo>
                  <a:pt x="19050" y="177278"/>
                </a:lnTo>
                <a:lnTo>
                  <a:pt x="19050" y="105156"/>
                </a:lnTo>
                <a:lnTo>
                  <a:pt x="19895" y="87034"/>
                </a:lnTo>
                <a:lnTo>
                  <a:pt x="32003" y="42672"/>
                </a:lnTo>
                <a:lnTo>
                  <a:pt x="58578" y="14275"/>
                </a:lnTo>
                <a:lnTo>
                  <a:pt x="70865" y="9144"/>
                </a:lnTo>
                <a:close/>
              </a:path>
              <a:path w="353695" h="212089">
                <a:moveTo>
                  <a:pt x="70104" y="203454"/>
                </a:moveTo>
                <a:lnTo>
                  <a:pt x="39135" y="181058"/>
                </a:lnTo>
                <a:lnTo>
                  <a:pt x="22383" y="140589"/>
                </a:lnTo>
                <a:lnTo>
                  <a:pt x="19050" y="105156"/>
                </a:lnTo>
                <a:lnTo>
                  <a:pt x="19050" y="177278"/>
                </a:lnTo>
                <a:lnTo>
                  <a:pt x="27098" y="187940"/>
                </a:lnTo>
                <a:lnTo>
                  <a:pt x="38671" y="198405"/>
                </a:lnTo>
                <a:lnTo>
                  <a:pt x="52244" y="206442"/>
                </a:lnTo>
                <a:lnTo>
                  <a:pt x="67818" y="211836"/>
                </a:lnTo>
                <a:lnTo>
                  <a:pt x="70104" y="203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24134" y="3157220"/>
            <a:ext cx="166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latin typeface="Cambria" panose="02040503050406030204"/>
                <a:cs typeface="Cambria" panose="02040503050406030204"/>
              </a:rPr>
              <a:t>Tasa</a:t>
            </a:r>
            <a:r>
              <a:rPr sz="18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1800" spc="25" dirty="0">
                <a:latin typeface="Cambria" panose="02040503050406030204"/>
                <a:cs typeface="Cambria" panose="02040503050406030204"/>
              </a:rPr>
              <a:t>de</a:t>
            </a:r>
            <a:r>
              <a:rPr sz="18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1800" spc="60" dirty="0">
                <a:latin typeface="Cambria" panose="02040503050406030204"/>
                <a:cs typeface="Cambria" panose="02040503050406030204"/>
              </a:rPr>
              <a:t>paro</a:t>
            </a:r>
            <a:r>
              <a:rPr sz="1800" spc="360" dirty="0"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latin typeface="Cambria" panose="02040503050406030204"/>
                <a:cs typeface="Cambria" panose="02040503050406030204"/>
              </a:rPr>
              <a:t>%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7815" y="2984238"/>
            <a:ext cx="3579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517" baseline="-42000" dirty="0">
                <a:latin typeface="Cambria" panose="02040503050406030204"/>
                <a:cs typeface="Cambria" panose="02040503050406030204"/>
              </a:rPr>
              <a:t>=</a:t>
            </a:r>
            <a:r>
              <a:rPr sz="2700" spc="135" baseline="-42000" dirty="0">
                <a:latin typeface="Cambria" panose="02040503050406030204"/>
                <a:cs typeface="Cambria" panose="02040503050406030204"/>
              </a:rPr>
              <a:t> </a:t>
            </a:r>
            <a:r>
              <a:rPr sz="1800" spc="40" dirty="0">
                <a:latin typeface="Cambria" panose="02040503050406030204"/>
                <a:cs typeface="Cambria" panose="02040503050406030204"/>
              </a:rPr>
              <a:t>Numero</a:t>
            </a:r>
            <a:r>
              <a:rPr sz="1800" spc="25" dirty="0">
                <a:latin typeface="Cambria" panose="02040503050406030204"/>
                <a:cs typeface="Cambria" panose="02040503050406030204"/>
              </a:rPr>
              <a:t> de</a:t>
            </a:r>
            <a:r>
              <a:rPr sz="18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1800" spc="35" dirty="0">
                <a:latin typeface="Cambria" panose="02040503050406030204"/>
                <a:cs typeface="Cambria" panose="02040503050406030204"/>
              </a:rPr>
              <a:t>Desempleados</a:t>
            </a:r>
            <a:r>
              <a:rPr sz="18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700" baseline="-42000" dirty="0">
                <a:latin typeface="Cambria" panose="02040503050406030204"/>
                <a:cs typeface="Cambria" panose="02040503050406030204"/>
              </a:rPr>
              <a:t>∗ </a:t>
            </a:r>
            <a:r>
              <a:rPr sz="2700" spc="-7" baseline="-42000" dirty="0">
                <a:latin typeface="Cambria" panose="02040503050406030204"/>
                <a:cs typeface="Cambria" panose="02040503050406030204"/>
              </a:rPr>
              <a:t>100</a:t>
            </a:r>
            <a:endParaRPr sz="2700" baseline="-420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4915" y="3310382"/>
            <a:ext cx="1743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Cambria" panose="02040503050406030204"/>
                <a:cs typeface="Cambria" panose="02040503050406030204"/>
              </a:rPr>
              <a:t>Población</a:t>
            </a:r>
            <a:r>
              <a:rPr sz="18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1800" spc="80" dirty="0">
                <a:latin typeface="Cambria" panose="02040503050406030204"/>
                <a:cs typeface="Cambria" panose="02040503050406030204"/>
              </a:rPr>
              <a:t>activa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72141" y="3326129"/>
            <a:ext cx="2675890" cy="14604"/>
          </a:xfrm>
          <a:custGeom>
            <a:avLst/>
            <a:gdLst/>
            <a:ahLst/>
            <a:cxnLst/>
            <a:rect l="l" t="t" r="r" b="b"/>
            <a:pathLst>
              <a:path w="2675890" h="14604">
                <a:moveTo>
                  <a:pt x="0" y="14478"/>
                </a:moveTo>
                <a:lnTo>
                  <a:pt x="0" y="0"/>
                </a:lnTo>
                <a:lnTo>
                  <a:pt x="2675382" y="0"/>
                </a:lnTo>
                <a:lnTo>
                  <a:pt x="2675382" y="14477"/>
                </a:lnTo>
                <a:lnTo>
                  <a:pt x="0" y="14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8331" y="1258061"/>
            <a:ext cx="2278379" cy="28575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5697" y="6902450"/>
            <a:ext cx="19494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>
                <a:latin typeface="Cambria" panose="02040503050406030204"/>
                <a:cs typeface="Cambria" panose="02040503050406030204"/>
              </a:rPr>
              <a:t>25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48511" y="453643"/>
            <a:ext cx="159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5" dirty="0"/>
              <a:t> Tasa </a:t>
            </a:r>
            <a:r>
              <a:rPr spc="-5" dirty="0"/>
              <a:t>de</a:t>
            </a:r>
            <a:r>
              <a:rPr spc="-35" dirty="0"/>
              <a:t> </a:t>
            </a:r>
            <a:r>
              <a:rPr spc="-20" dirty="0"/>
              <a:t>Paro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326" y="854456"/>
            <a:ext cx="8329930" cy="6229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95"/>
              </a:spcBef>
              <a:buClr>
                <a:srgbClr val="00B04F"/>
              </a:buClr>
              <a:buSzPct val="82000"/>
              <a:buFont typeface="Wingdings" panose="05000000000000000000"/>
              <a:buChar char=""/>
              <a:tabLst>
                <a:tab pos="193040" algn="l"/>
              </a:tabLst>
            </a:pP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funcionamiento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sido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auténtica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anomalía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entre las 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economías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avanzadas.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desempleo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como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termómetro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refleja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limitaciones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sistema </a:t>
            </a:r>
            <a:r>
              <a:rPr sz="1400" b="1" spc="-2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productivo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educativo,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 el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deficiente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funcionamiento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instituciones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económicas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92405" marR="66040" indent="-180340">
              <a:lnSpc>
                <a:spcPct val="100000"/>
              </a:lnSpc>
              <a:spcBef>
                <a:spcPts val="1200"/>
              </a:spcBef>
              <a:buClr>
                <a:srgbClr val="00B04F"/>
              </a:buClr>
              <a:buSzPct val="82000"/>
              <a:buFont typeface="Wingdings" panose="05000000000000000000"/>
              <a:buChar char=""/>
              <a:tabLst>
                <a:tab pos="193040" algn="l"/>
              </a:tabLst>
            </a:pP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significativamente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sufre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variabilidad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ciclo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económico,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mientras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resto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mucho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estable.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400" spc="6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‐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2007‐2013‐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crisis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 internacional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Europeos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experimentado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fuerte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aumento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excepciones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como Alemania).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sido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mucho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peor.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935355" marR="16510" lvl="1" indent="-180340">
              <a:lnSpc>
                <a:spcPct val="100000"/>
              </a:lnSpc>
              <a:spcBef>
                <a:spcPts val="9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93599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periodo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crecimiento ‐2006‐2007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logró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reducir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hasta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cerca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8%‐9%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Aunque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sabemos,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tipo 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 económico que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motivó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caída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no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suponía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 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PIB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potencial….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hecho,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rápido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retorno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niveles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altísimos 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paro,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confirma 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fragilidad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senda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vivida.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inicio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crisis económica,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multiplicó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2,5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sólo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4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años,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hasta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alcanzar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2012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valor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25%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ambos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sexos.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¿La</a:t>
            </a:r>
            <a:r>
              <a:rPr sz="1400" b="1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fuerte</a:t>
            </a:r>
            <a:r>
              <a:rPr sz="1400" b="1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subida</a:t>
            </a:r>
            <a:r>
              <a:rPr sz="1400" b="1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b="1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b="1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 </a:t>
            </a:r>
            <a:r>
              <a:rPr sz="1400" b="1" i="1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b="1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debe</a:t>
            </a:r>
            <a:r>
              <a:rPr sz="1400" b="1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b="1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la</a:t>
            </a:r>
            <a:r>
              <a:rPr sz="1400" b="1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crisis</a:t>
            </a:r>
            <a:r>
              <a:rPr sz="1400" b="1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b="1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sido</a:t>
            </a:r>
            <a:r>
              <a:rPr sz="1400" b="1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b="1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intensa?:</a:t>
            </a:r>
            <a:r>
              <a:rPr sz="1400" b="1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Solo</a:t>
            </a:r>
            <a:r>
              <a:rPr sz="1400" b="1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parte….Lo</a:t>
            </a:r>
            <a:r>
              <a:rPr sz="1400" b="1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veremos</a:t>
            </a:r>
            <a:r>
              <a:rPr sz="1400" b="1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mas</a:t>
            </a:r>
            <a:r>
              <a:rPr sz="1400" b="1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adelante.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384175" marR="118110" indent="-179705" algn="just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8000"/>
              <a:buFont typeface="Wingdings" panose="05000000000000000000"/>
              <a:buChar char=""/>
              <a:tabLst>
                <a:tab pos="384810" algn="l"/>
              </a:tabLst>
            </a:pP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mayor tasa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 paro de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economía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española no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 exclusiva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 la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reciente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gran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depresión, es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algo </a:t>
            </a:r>
            <a:r>
              <a:rPr sz="1400" b="1" i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“crónico” “estructural”: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España ha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tenido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tasas de paro “permanentemente”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superiores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a la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media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400" b="1" i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i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UE</a:t>
            </a:r>
            <a:r>
              <a:rPr sz="1400" b="1" i="1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desde</a:t>
            </a:r>
            <a:r>
              <a:rPr sz="1400" b="1" i="1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b="1" i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años</a:t>
            </a:r>
            <a:r>
              <a:rPr sz="1400" b="1" i="1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80</a:t>
            </a:r>
            <a:r>
              <a:rPr sz="1400" b="1" i="1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(desde</a:t>
            </a:r>
            <a:r>
              <a:rPr sz="1400" b="1" i="1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i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tenemos</a:t>
            </a:r>
            <a:r>
              <a:rPr sz="1400" b="1" i="1" spc="3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registros</a:t>
            </a:r>
            <a:r>
              <a:rPr sz="1400" b="1" i="1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fiables</a:t>
            </a:r>
            <a:r>
              <a:rPr sz="1400" b="1" i="1" spc="3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i="1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i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b="1" i="1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i="1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paro…).</a:t>
            </a:r>
            <a:r>
              <a:rPr sz="1400" b="1" i="1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¿Por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qué?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933450" lvl="1" indent="-180340" algn="just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93408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¿Los indicadores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Macroeconómicos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ayuda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contestar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cuestión?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207770" marR="118110" lvl="2" indent="-18034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208405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¿Estructura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Productiva?: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Estamos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especializados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sectores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económicos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bajo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VAB,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repercute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salarios,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porqué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repercutir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 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empleo…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siempre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gente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“acepte”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bajos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207770" marR="94615" lvl="2" indent="-180340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209040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¿Balanza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Cuenta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Corriente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Deficitaria?: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potencial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será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menor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otras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economías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balanza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cuenta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corriente 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superávit.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indent="-229235">
              <a:lnSpc>
                <a:spcPct val="100000"/>
              </a:lnSpc>
              <a:spcBef>
                <a:spcPts val="3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instituciones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importan?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Si,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suben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salarios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reserva…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345" marR="375920" lvl="1" indent="-2286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Pasivas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Empleo, Políticas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Empleo, Políticas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Protección al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Empleo,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Estructura 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Contratos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48511" y="436118"/>
            <a:ext cx="159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5" dirty="0"/>
              <a:t> Tasa </a:t>
            </a:r>
            <a:r>
              <a:rPr spc="-5" dirty="0"/>
              <a:t>de</a:t>
            </a:r>
            <a:r>
              <a:rPr spc="-35" dirty="0"/>
              <a:t> </a:t>
            </a:r>
            <a:r>
              <a:rPr spc="-20" dirty="0"/>
              <a:t>Paro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326" y="1015238"/>
            <a:ext cx="8329930" cy="4879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95"/>
              </a:spcBef>
              <a:buClr>
                <a:srgbClr val="00B04F"/>
              </a:buClr>
              <a:buSzPct val="82000"/>
              <a:buFont typeface="Wingdings" panose="05000000000000000000"/>
              <a:buChar char=""/>
              <a:tabLst>
                <a:tab pos="193040" algn="l"/>
              </a:tabLst>
            </a:pP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funcionamiento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sido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auténtica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anomalía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entre las 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economías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avanzadas.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desempleo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como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termómetro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refleja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limitaciones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sistema </a:t>
            </a:r>
            <a:r>
              <a:rPr sz="1400" b="1" spc="-2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productivo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educativo,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 el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deficiente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funcionamiento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instituciones</a:t>
            </a:r>
            <a:r>
              <a:rPr sz="1400" b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económicas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marR="650240" lvl="1" indent="-229235">
              <a:lnSpc>
                <a:spcPct val="100000"/>
              </a:lnSpc>
              <a:spcBef>
                <a:spcPts val="9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urgente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economía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española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reducir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–estructural‐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su </a:t>
            </a:r>
            <a:r>
              <a:rPr sz="1400" spc="-2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volatilidad,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creando</a:t>
            </a:r>
            <a:r>
              <a:rPr sz="1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empleo de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calidad,</a:t>
            </a:r>
            <a:r>
              <a:rPr sz="14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estable</a:t>
            </a:r>
            <a:r>
              <a:rPr sz="14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4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productivo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marR="292735" lvl="1" indent="-229235">
              <a:lnSpc>
                <a:spcPct val="100000"/>
              </a:lnSpc>
              <a:spcBef>
                <a:spcPts val="600"/>
              </a:spcBef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Funcionamiento</a:t>
            </a:r>
            <a:r>
              <a:rPr sz="1400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deficiente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trabajo,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sistema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productivo,</a:t>
            </a:r>
            <a:r>
              <a:rPr sz="1400" spc="-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educativo,</a:t>
            </a:r>
            <a:r>
              <a:rPr sz="14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instituciones </a:t>
            </a:r>
            <a:r>
              <a:rPr sz="1400" spc="-29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económicas</a:t>
            </a:r>
            <a:r>
              <a:rPr sz="1400" spc="-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nuestros</a:t>
            </a:r>
            <a:r>
              <a:rPr sz="14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mercados de</a:t>
            </a:r>
            <a:r>
              <a:rPr sz="14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bienes</a:t>
            </a:r>
            <a:r>
              <a:rPr sz="1400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y servicios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834390" marR="24130" lvl="1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regulación</a:t>
            </a:r>
            <a:r>
              <a:rPr sz="1400" b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laboral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un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factor</a:t>
            </a:r>
            <a:r>
              <a:rPr sz="1400" b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fundamental</a:t>
            </a:r>
            <a:r>
              <a:rPr sz="1400" b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sus efectos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directos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sobre el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400" b="1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indirectos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la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asignación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sectorial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recursos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productivos.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regulación 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laboral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favorable,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flexible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crucial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para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crear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aumentar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endeudamiento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externo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negociación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colectiva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ineficiente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(desconexión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salarios/productividad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empresa)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Rigidez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indexación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inflación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152400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3.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Extraordinaria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dualidad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indemnizaciones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indefinidos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temporales,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percepción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incertidumbre judicial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4.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fiscalidad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desfavorable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5.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Desajuste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capital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humano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insuficientes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y/o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ineficientes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1109980" marR="83185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6.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pasivas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generosas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términos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PIB)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poco eficientes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poco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integradas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políticas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activas</a:t>
            </a:r>
            <a:endParaRPr sz="1400" dirty="0">
              <a:latin typeface="Cambria" panose="02040503050406030204"/>
              <a:cs typeface="Cambria" panose="02040503050406030204"/>
            </a:endParaRPr>
          </a:p>
          <a:p>
            <a:pPr marL="560070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8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próximos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temas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trataremos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algunas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cuestiones.</a:t>
            </a:r>
            <a:endParaRPr sz="14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197485" y="453643"/>
            <a:ext cx="4292600" cy="276860"/>
          </a:xfrm>
        </p:spPr>
        <p:txBody>
          <a:bodyPr/>
          <a:lstStyle/>
          <a:p>
            <a:r>
              <a:rPr lang="es-ES" altLang="en-US">
                <a:highlight>
                  <a:srgbClr val="FFFF00"/>
                </a:highlight>
              </a:rPr>
              <a:t>EVOLUCION TASA DE PARO</a:t>
            </a:r>
          </a:p>
        </p:txBody>
      </p:sp>
      <p:pic>
        <p:nvPicPr>
          <p:cNvPr id="4" name="Marcador de posición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4670" y="826770"/>
            <a:ext cx="9357995" cy="61645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197225" y="453390"/>
            <a:ext cx="5951855" cy="276860"/>
          </a:xfrm>
        </p:spPr>
        <p:txBody>
          <a:bodyPr wrap="square"/>
          <a:lstStyle/>
          <a:p>
            <a:r>
              <a:rPr lang="es-ES" altLang="en-US"/>
              <a:t>EVOLUCION TASA DE PARO POR GENERO EN ESPAÑA</a:t>
            </a:r>
          </a:p>
        </p:txBody>
      </p:sp>
      <p:pic>
        <p:nvPicPr>
          <p:cNvPr id="4" name="Marcador de posición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4670" y="850900"/>
            <a:ext cx="9357995" cy="64325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1899" y="1582165"/>
            <a:ext cx="3769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La</a:t>
            </a:r>
            <a:r>
              <a:rPr sz="3600" spc="-35" dirty="0"/>
              <a:t> </a:t>
            </a:r>
            <a:r>
              <a:rPr sz="3600" spc="-5" dirty="0"/>
              <a:t>tasa</a:t>
            </a:r>
            <a:r>
              <a:rPr sz="3600" spc="-30" dirty="0"/>
              <a:t> </a:t>
            </a:r>
            <a:r>
              <a:rPr sz="3600" spc="-5" dirty="0"/>
              <a:t>de</a:t>
            </a:r>
            <a:r>
              <a:rPr sz="3600" spc="-30" dirty="0"/>
              <a:t> </a:t>
            </a:r>
            <a:r>
              <a:rPr sz="3600" spc="-5" dirty="0"/>
              <a:t>empleo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9440297" y="6910800"/>
            <a:ext cx="245745" cy="18986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lang="es-ES" dirty="0"/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0683" y="453643"/>
            <a:ext cx="189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35" dirty="0"/>
              <a:t> Tasa</a:t>
            </a:r>
            <a:r>
              <a:rPr spc="-40" dirty="0"/>
              <a:t> </a:t>
            </a:r>
            <a:r>
              <a:rPr spc="-5" dirty="0"/>
              <a:t>de</a:t>
            </a:r>
            <a:r>
              <a:rPr spc="-30" dirty="0"/>
              <a:t> </a:t>
            </a:r>
            <a:r>
              <a:rPr spc="-5" dirty="0"/>
              <a:t>Empleo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7423" y="796132"/>
            <a:ext cx="8395970" cy="606171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81305" indent="-269240">
              <a:lnSpc>
                <a:spcPct val="100000"/>
              </a:lnSpc>
              <a:spcBef>
                <a:spcPts val="1110"/>
              </a:spcBef>
              <a:buSzPct val="83000"/>
              <a:buFont typeface="Wingdings" panose="05000000000000000000"/>
              <a:buChar char=""/>
              <a:tabLst>
                <a:tab pos="281940" algn="l"/>
              </a:tabLst>
            </a:pP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¿Qué nos</a:t>
            </a:r>
            <a:r>
              <a:rPr sz="180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ofrece la</a:t>
            </a:r>
            <a:r>
              <a:rPr sz="180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8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8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no </a:t>
            </a:r>
            <a:r>
              <a:rPr sz="18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ofrezca</a:t>
            </a:r>
            <a:r>
              <a:rPr sz="1800" spc="-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la tasa</a:t>
            </a:r>
            <a:r>
              <a:rPr sz="180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paro?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369570" marR="404495" lvl="1" indent="-17780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70205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Limitaciones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paro: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indicador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imperfecto para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capturar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otras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posibles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situaciones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“infrautilizacion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recursos” (=ineficiencia) en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trabajo.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369570" marR="537210" lvl="1" indent="-17780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702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hecho de que una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participe en la producción puede deberse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dos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causas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distintas.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548640" marR="153035" lvl="2" indent="-180340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54927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participe en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decir,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activamente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distintas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causas: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está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estudiando,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cuidando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familia,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simplemente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encuentra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“desanimado”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falta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expectativas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encontrar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906145" marR="154940" lvl="3" indent="-177800">
              <a:lnSpc>
                <a:spcPct val="100000"/>
              </a:lnSpc>
              <a:spcBef>
                <a:spcPts val="610"/>
              </a:spcBef>
              <a:buClr>
                <a:srgbClr val="C00000"/>
              </a:buClr>
              <a:buSzPct val="67000"/>
              <a:buFont typeface="Wingdings" panose="05000000000000000000"/>
              <a:buChar char=""/>
              <a:tabLst>
                <a:tab pos="906780" algn="l"/>
              </a:tabLst>
            </a:pP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inactivos </a:t>
            </a:r>
            <a:r>
              <a:rPr sz="1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desanimados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se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evalúan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 la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 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 pero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 se pueden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tener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cuenta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evaluando la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 </a:t>
            </a:r>
            <a:r>
              <a:rPr sz="1200" spc="-25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empleo. Puede 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ocurrir,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la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 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esté variando, pero que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caiga la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 de empleo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porque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personas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pierden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 empleo se desaniman y dejan 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buscar otro.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 podría ser incluso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la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 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 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redujese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porque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aumentase el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empleo, sino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porque</a:t>
            </a:r>
            <a:r>
              <a:rPr sz="12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disminuyese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participación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el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mercado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trabajo.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Estos</a:t>
            </a:r>
            <a:r>
              <a:rPr sz="12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problemas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sí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serían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percibidos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en cambio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tasa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empleo,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estaría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reduciendo</a:t>
            </a:r>
            <a:endParaRPr sz="1200">
              <a:latin typeface="Cambria" panose="02040503050406030204"/>
              <a:cs typeface="Cambria" panose="02040503050406030204"/>
            </a:endParaRPr>
          </a:p>
          <a:p>
            <a:pPr marL="638175" marR="5080" indent="-177800">
              <a:lnSpc>
                <a:spcPct val="100000"/>
              </a:lnSpc>
              <a:spcBef>
                <a:spcPts val="59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78180" algn="l"/>
              </a:tabLst>
            </a:pPr>
            <a:r>
              <a:rPr dirty="0"/>
              <a:t>	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pesar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formar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activa,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encuentre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empleo: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está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parado.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sólo mide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segunda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causa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(qué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porcentaje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quieren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hacerlo)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primera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(no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cuenta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variaciones 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actividad).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buChar char=""/>
            </a:pPr>
            <a:endParaRPr sz="1600">
              <a:latin typeface="Cambria" panose="02040503050406030204"/>
              <a:cs typeface="Cambria" panose="02040503050406030204"/>
            </a:endParaRPr>
          </a:p>
          <a:p>
            <a:pPr marL="631825" marR="115570" indent="-178435">
              <a:lnSpc>
                <a:spcPct val="100000"/>
              </a:lnSpc>
              <a:spcBef>
                <a:spcPts val="125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32460" algn="l"/>
              </a:tabLst>
            </a:pP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políticas dirigidas al pleno empleo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tradicionalmente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 han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centrado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reducir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desempleo. Sin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embargo, hace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tiempo que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 reconocido que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basta con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medir el desempleo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 entender las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deficiencias del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trabajo.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posible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cifras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desempleo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sean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bajas.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quiere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decir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embargo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mercado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 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muy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eficaz. A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veces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detecta falta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oportunidades de empleo «adecuadas», dándose el caso de 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personas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empleo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ven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 menudo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obligadas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 utilizar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sus competencias</a:t>
            </a:r>
            <a:r>
              <a:rPr sz="12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manera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tan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sólo parcial,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ganar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salarios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horarios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bajos</a:t>
            </a:r>
            <a:r>
              <a:rPr sz="12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trabajar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menos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horas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que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están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dispuestas</a:t>
            </a:r>
            <a:r>
              <a:rPr sz="12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son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capaces</a:t>
            </a:r>
            <a:r>
              <a:rPr sz="12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2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trabajar.</a:t>
            </a:r>
            <a:r>
              <a:rPr sz="12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cifras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del desempleo, definidas y calculadas 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manera 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muy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rigurosa,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toman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consideración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estos trabajadores, aun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cuando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 de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mismos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 </a:t>
            </a:r>
            <a:r>
              <a:rPr sz="12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vea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afectada por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causas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similares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 que afectan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desempleados, y se </a:t>
            </a:r>
            <a:r>
              <a:rPr sz="12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comporten </a:t>
            </a:r>
            <a:r>
              <a:rPr sz="12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muchos aspectos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como estos</a:t>
            </a:r>
            <a:r>
              <a:rPr sz="12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últimos.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2505" y="417830"/>
            <a:ext cx="7600315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037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3.</a:t>
            </a:r>
            <a:r>
              <a:rPr sz="18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8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Empleo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Cambria" panose="02040503050406030204"/>
              <a:cs typeface="Cambria" panose="02040503050406030204"/>
            </a:endParaRPr>
          </a:p>
          <a:p>
            <a:pPr marL="285115" marR="5080" indent="-273050">
              <a:lnSpc>
                <a:spcPct val="100000"/>
              </a:lnSpc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285115" algn="l"/>
                <a:tab pos="285750" algn="l"/>
              </a:tabLst>
            </a:pP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6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6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(employment</a:t>
            </a:r>
            <a:r>
              <a:rPr sz="16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rate)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una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medida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grado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fuerza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economía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participa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producción:.</a:t>
            </a:r>
            <a:endParaRPr sz="16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71021" y="2837637"/>
            <a:ext cx="7884159" cy="23266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16255" indent="-229235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516890" algn="l"/>
              </a:tabLst>
            </a:pP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Positiva,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Negativa,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Rango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valores razonable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516255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51689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 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economía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82%,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qué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significa?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1600">
              <a:latin typeface="Cambria" panose="02040503050406030204"/>
              <a:cs typeface="Cambria" panose="02040503050406030204"/>
            </a:endParaRPr>
          </a:p>
          <a:p>
            <a:pPr marL="241300" marR="366395" indent="-229235">
              <a:lnSpc>
                <a:spcPct val="100000"/>
              </a:lnSpc>
              <a:spcBef>
                <a:spcPts val="1005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Maximizar</a:t>
            </a:r>
            <a:r>
              <a:rPr sz="1400" b="1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objetivo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principal</a:t>
            </a:r>
            <a:r>
              <a:rPr sz="1400" b="1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políticas</a:t>
            </a:r>
            <a:r>
              <a:rPr sz="1400" b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(por ejemplo,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Estrategia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Lisboa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acordó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objetivo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70%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conjunto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población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 europeos).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516255" marR="5080" lvl="1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51689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Maximizar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largo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plazo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implica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favorecer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PIB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potencial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economía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positivas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consecuencias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términos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riqueza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bienestar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(No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solo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PIB,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también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PIB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capita)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1021" y="5794502"/>
            <a:ext cx="7348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SzPct val="75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Limitación de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empleo:</a:t>
            </a:r>
            <a:r>
              <a:rPr sz="140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subempleo</a:t>
            </a:r>
            <a:r>
              <a:rPr sz="140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tiene</a:t>
            </a:r>
            <a:r>
              <a:rPr sz="1400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cuenta</a:t>
            </a:r>
            <a:r>
              <a:rPr sz="1400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2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paro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aunque </a:t>
            </a:r>
            <a:r>
              <a:rPr sz="1400" spc="-29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tampoco</a:t>
            </a:r>
            <a:r>
              <a:rPr sz="14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tasa</a:t>
            </a:r>
            <a:r>
              <a:rPr sz="1400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empleo, </a:t>
            </a:r>
            <a:r>
              <a:rPr sz="14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habrá</a:t>
            </a:r>
            <a:r>
              <a:rPr sz="140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buscar indicadores </a:t>
            </a:r>
            <a:r>
              <a:rPr sz="1400" spc="-10" dirty="0">
                <a:solidFill>
                  <a:srgbClr val="00B04F"/>
                </a:solidFill>
                <a:latin typeface="Cambria" panose="02040503050406030204"/>
                <a:cs typeface="Cambria" panose="02040503050406030204"/>
              </a:rPr>
              <a:t>alternativos.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79433" y="2106929"/>
            <a:ext cx="3448050" cy="0"/>
          </a:xfrm>
          <a:custGeom>
            <a:avLst/>
            <a:gdLst/>
            <a:ahLst/>
            <a:cxnLst/>
            <a:rect l="l" t="t" r="r" b="b"/>
            <a:pathLst>
              <a:path w="3448050">
                <a:moveTo>
                  <a:pt x="0" y="0"/>
                </a:moveTo>
                <a:lnTo>
                  <a:pt x="3448050" y="0"/>
                </a:lnTo>
              </a:path>
            </a:pathLst>
          </a:custGeom>
          <a:ln w="85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27737" y="1874559"/>
            <a:ext cx="23069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61085" algn="l"/>
                <a:tab pos="1394460" algn="l"/>
              </a:tabLst>
            </a:pPr>
            <a:r>
              <a:rPr sz="1600" spc="5" dirty="0">
                <a:latin typeface="Times New Roman" panose="02020603050405020304"/>
                <a:cs typeface="Times New Roman" panose="02020603050405020304"/>
              </a:rPr>
              <a:t>100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5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i="1" dirty="0">
                <a:latin typeface="Times New Roman" panose="02020603050405020304"/>
                <a:cs typeface="Times New Roman" panose="02020603050405020304"/>
              </a:rPr>
              <a:t>Tasa	</a:t>
            </a: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de	</a:t>
            </a:r>
            <a:r>
              <a:rPr sz="1600" i="1" spc="-35" dirty="0">
                <a:latin typeface="Times New Roman" panose="02020603050405020304"/>
                <a:cs typeface="Times New Roman" panose="02020603050405020304"/>
              </a:rPr>
              <a:t>empleo</a:t>
            </a:r>
            <a:r>
              <a:rPr sz="2100" spc="-35" dirty="0">
                <a:latin typeface="Symbol" panose="05050102010706020507"/>
                <a:cs typeface="Symbol" panose="05050102010706020507"/>
              </a:rPr>
              <a:t>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2100" spc="-35" dirty="0">
                <a:latin typeface="Symbol" panose="05050102010706020507"/>
                <a:cs typeface="Symbol" panose="05050102010706020507"/>
              </a:rPr>
              <a:t></a:t>
            </a:r>
            <a:endParaRPr sz="21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490398" y="2100235"/>
            <a:ext cx="3429000" cy="2717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00" i="1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75" dirty="0">
                <a:latin typeface="Times New Roman" panose="02020603050405020304"/>
                <a:cs typeface="Times New Roman" panose="02020603050405020304"/>
              </a:rPr>
              <a:t>º</a:t>
            </a:r>
            <a:r>
              <a:rPr sz="1600" spc="100" dirty="0">
                <a:latin typeface="Symbol" panose="05050102010706020507"/>
                <a:cs typeface="Symbol" panose="05050102010706020507"/>
              </a:rPr>
              <a:t></a:t>
            </a: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Poblacion</a:t>
            </a:r>
            <a:r>
              <a:rPr sz="1600" i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5" dirty="0">
                <a:latin typeface="Symbol" panose="05050102010706020507"/>
                <a:cs typeface="Symbol" panose="05050102010706020507"/>
              </a:rPr>
              <a:t></a:t>
            </a:r>
            <a:r>
              <a:rPr sz="16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i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5" dirty="0">
                <a:latin typeface="Symbol" panose="05050102010706020507"/>
                <a:cs typeface="Symbol" panose="05050102010706020507"/>
              </a:rPr>
              <a:t></a:t>
            </a:r>
            <a:r>
              <a:rPr sz="16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edad</a:t>
            </a:r>
            <a:r>
              <a:rPr sz="1600" i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5" dirty="0">
                <a:latin typeface="Symbol" panose="05050102010706020507"/>
                <a:cs typeface="Symbol" panose="05050102010706020507"/>
              </a:rPr>
              <a:t></a:t>
            </a:r>
            <a:r>
              <a:rPr sz="16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i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5" dirty="0">
                <a:latin typeface="Symbol" panose="05050102010706020507"/>
                <a:cs typeface="Symbol" panose="05050102010706020507"/>
              </a:rPr>
              <a:t></a:t>
            </a:r>
            <a:r>
              <a:rPr sz="16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trabajar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3111" y="1811427"/>
            <a:ext cx="1254760" cy="2717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00" i="1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75" dirty="0">
                <a:latin typeface="Times New Roman" panose="02020603050405020304"/>
                <a:cs typeface="Times New Roman" panose="02020603050405020304"/>
              </a:rPr>
              <a:t>º</a:t>
            </a:r>
            <a:r>
              <a:rPr sz="1600" spc="30" dirty="0">
                <a:latin typeface="Symbol" panose="05050102010706020507"/>
                <a:cs typeface="Symbol" panose="05050102010706020507"/>
              </a:rPr>
              <a:t></a:t>
            </a:r>
            <a:r>
              <a:rPr sz="1600" i="1" spc="5" dirty="0">
                <a:latin typeface="Times New Roman" panose="02020603050405020304"/>
                <a:cs typeface="Times New Roman" panose="02020603050405020304"/>
              </a:rPr>
              <a:t>empleados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197485" y="453643"/>
            <a:ext cx="4292600" cy="276860"/>
          </a:xfrm>
        </p:spPr>
        <p:txBody>
          <a:bodyPr/>
          <a:lstStyle/>
          <a:p>
            <a:r>
              <a:rPr lang="es-ES" altLang="en-US">
                <a:highlight>
                  <a:srgbClr val="FFFF00"/>
                </a:highlight>
              </a:rPr>
              <a:t>EVOLUCION TASA DE EMPLEO</a:t>
            </a:r>
          </a:p>
        </p:txBody>
      </p:sp>
      <p:pic>
        <p:nvPicPr>
          <p:cNvPr id="4" name="Marcador de posición de contenido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4670" y="640080"/>
            <a:ext cx="10015220" cy="76968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9829" y="1307846"/>
            <a:ext cx="64135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6950" marR="5080" indent="-225488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Los</a:t>
            </a:r>
            <a:r>
              <a:rPr sz="3600" spc="-20" dirty="0"/>
              <a:t> </a:t>
            </a:r>
            <a:r>
              <a:rPr sz="3600" dirty="0"/>
              <a:t>salarios</a:t>
            </a:r>
            <a:r>
              <a:rPr sz="3600" spc="-20" dirty="0"/>
              <a:t> </a:t>
            </a:r>
            <a:r>
              <a:rPr sz="3600" dirty="0"/>
              <a:t>y</a:t>
            </a:r>
            <a:r>
              <a:rPr sz="3600" spc="-20" dirty="0"/>
              <a:t> </a:t>
            </a:r>
            <a:r>
              <a:rPr sz="3600" dirty="0"/>
              <a:t>la</a:t>
            </a:r>
            <a:r>
              <a:rPr sz="3600" spc="-20" dirty="0"/>
              <a:t> productividad </a:t>
            </a:r>
            <a:r>
              <a:rPr sz="3600" spc="-780" dirty="0"/>
              <a:t> </a:t>
            </a:r>
            <a:r>
              <a:rPr sz="3600" spc="-10" dirty="0"/>
              <a:t>(laboral)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9659" y="454406"/>
            <a:ext cx="1508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50" dirty="0"/>
              <a:t> </a:t>
            </a:r>
            <a:r>
              <a:rPr dirty="0"/>
              <a:t>Los</a:t>
            </a:r>
            <a:r>
              <a:rPr spc="-55" dirty="0"/>
              <a:t> </a:t>
            </a:r>
            <a:r>
              <a:rPr dirty="0"/>
              <a:t>salarios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9511" y="796894"/>
            <a:ext cx="8134350" cy="298386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43205" indent="-23114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243840" algn="l"/>
              </a:tabLst>
            </a:pP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Enfoque 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Económico:</a:t>
            </a:r>
            <a:r>
              <a:rPr sz="1800" i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qué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dependen</a:t>
            </a:r>
            <a:r>
              <a:rPr sz="18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salarios 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individuos?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386080" lvl="1" indent="-18034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86080" algn="l"/>
              </a:tabLst>
            </a:pP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(Individuos</a:t>
            </a:r>
            <a:r>
              <a:rPr sz="16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deciden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cuanto</a:t>
            </a:r>
            <a:r>
              <a:rPr sz="16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 ofertar):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660400" lvl="2" indent="-180340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0400" algn="l"/>
              </a:tabLst>
            </a:pP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Cuanto</a:t>
            </a:r>
            <a:r>
              <a:rPr sz="14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4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gente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querer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trabajar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660400" lvl="2" indent="-180340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660400" algn="l"/>
              </a:tabLst>
            </a:pP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Cuánto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escasez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haya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oferta</a:t>
            </a:r>
            <a:r>
              <a:rPr sz="1400" i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mayores</a:t>
            </a:r>
            <a:r>
              <a:rPr sz="1400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400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pagaran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385445" marR="5080" lvl="1" indent="-180340">
              <a:lnSpc>
                <a:spcPct val="100000"/>
              </a:lnSpc>
              <a:spcBef>
                <a:spcPts val="59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86080" algn="l"/>
              </a:tabLst>
            </a:pP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demanda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(Empresas que</a:t>
            </a:r>
            <a:r>
              <a:rPr sz="16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deciden</a:t>
            </a:r>
            <a:r>
              <a:rPr sz="16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cuánto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demandar):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cuanto mayor </a:t>
            </a:r>
            <a:r>
              <a:rPr sz="1600" i="1" spc="-3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6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 en</a:t>
            </a:r>
            <a:r>
              <a:rPr sz="16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menos</a:t>
            </a:r>
            <a:r>
              <a:rPr sz="16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van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querer</a:t>
            </a:r>
            <a:r>
              <a:rPr sz="16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contratar</a:t>
            </a:r>
            <a:r>
              <a:rPr sz="1600" i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empresas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1109980" marR="514985" indent="-229235">
              <a:lnSpc>
                <a:spcPct val="100000"/>
              </a:lnSpc>
              <a:spcBef>
                <a:spcPts val="61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i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Pero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empresas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están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dispuestos</a:t>
            </a:r>
            <a:r>
              <a:rPr sz="1400" i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pagar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muy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relacionado</a:t>
            </a:r>
            <a:r>
              <a:rPr sz="1400" i="1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400" i="1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1384300" lvl="1" indent="-229235">
              <a:lnSpc>
                <a:spcPct val="100000"/>
              </a:lnSpc>
              <a:spcBef>
                <a:spcPts val="6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r>
              <a:rPr sz="1400" i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sube,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estarán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dispuestas</a:t>
            </a:r>
            <a:r>
              <a:rPr sz="1400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pagar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mayores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1384300" lvl="1" indent="-229235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Font typeface="Courier New" panose="02070309020205020404"/>
              <a:buChar char="o"/>
              <a:tabLst>
                <a:tab pos="1384935" algn="l"/>
              </a:tabLst>
            </a:pP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r>
              <a:rPr sz="1400" i="1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cae,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buscarán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recortes</a:t>
            </a:r>
            <a:r>
              <a:rPr sz="1400" i="1" spc="4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salariales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8281" y="3960876"/>
            <a:ext cx="3908297" cy="3005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14907" y="4714494"/>
            <a:ext cx="2108454" cy="1239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8833" y="4357370"/>
            <a:ext cx="1881505" cy="1457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Salario=Precio</a:t>
            </a:r>
            <a:r>
              <a:rPr sz="1400" b="1" i="1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del </a:t>
            </a:r>
            <a:r>
              <a:rPr sz="1400" b="1" i="1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factor</a:t>
            </a:r>
            <a:r>
              <a:rPr sz="1400" b="1" i="1" spc="34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trabajo </a:t>
            </a: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(para</a:t>
            </a:r>
            <a:r>
              <a:rPr sz="1400" b="1" i="1" spc="-2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las</a:t>
            </a:r>
            <a:r>
              <a:rPr sz="1400" b="1" i="1" spc="-2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empresas)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marL="12700" marR="150495">
              <a:lnSpc>
                <a:spcPct val="100000"/>
              </a:lnSpc>
              <a:spcBef>
                <a:spcPts val="1200"/>
              </a:spcBef>
            </a:pP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Salario=Fuente</a:t>
            </a:r>
            <a:r>
              <a:rPr sz="1400" b="1" i="1" spc="-3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de </a:t>
            </a:r>
            <a:r>
              <a:rPr sz="1400" b="1" i="1" spc="-34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renta para </a:t>
            </a:r>
            <a:r>
              <a:rPr sz="1400" b="1" i="1" spc="-1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los </a:t>
            </a:r>
            <a:r>
              <a:rPr sz="1400" b="1" i="1" spc="-5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i="1" spc="-10" dirty="0">
                <a:solidFill>
                  <a:srgbClr val="00B04F"/>
                </a:solidFill>
                <a:latin typeface="Georgia" panose="02040502050405020303"/>
                <a:cs typeface="Georgia" panose="02040502050405020303"/>
              </a:rPr>
              <a:t>trabajadores</a:t>
            </a:r>
            <a:endParaRPr sz="14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5326" y="453643"/>
            <a:ext cx="8101330" cy="371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67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4.</a:t>
            </a:r>
            <a:r>
              <a:rPr sz="1800" b="1" spc="-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800" b="1" spc="-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salarios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Cambria" panose="02040503050406030204"/>
              <a:cs typeface="Cambria" panose="02040503050406030204"/>
            </a:endParaRPr>
          </a:p>
          <a:p>
            <a:pPr marL="367030" indent="-354330">
              <a:lnSpc>
                <a:spcPct val="100000"/>
              </a:lnSpc>
              <a:buClr>
                <a:srgbClr val="00B04F"/>
              </a:buClr>
              <a:buSzPct val="85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20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Salario=Precio</a:t>
            </a:r>
            <a:r>
              <a:rPr sz="20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20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factor trabajo: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367030" indent="-354330">
              <a:lnSpc>
                <a:spcPct val="100000"/>
              </a:lnSpc>
              <a:spcBef>
                <a:spcPts val="12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Enfoque 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Económico:</a:t>
            </a:r>
            <a:r>
              <a:rPr sz="1800" i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qué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dependen 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 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8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individuos?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834390" marR="5080" lvl="1" indent="-229235">
              <a:lnSpc>
                <a:spcPct val="100000"/>
              </a:lnSpc>
              <a:spcBef>
                <a:spcPts val="9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¿Por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qué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mismo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todo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mundo?: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todos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individuos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tienen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misma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1109980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según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características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individuo: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educativo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1109980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según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tipo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trabajo: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sector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económico,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834390" lvl="1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¿Qué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factores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explican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 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largo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tiempo?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1109980" marR="340995" lvl="2" indent="-229235">
              <a:lnSpc>
                <a:spcPct val="100000"/>
              </a:lnSpc>
              <a:spcBef>
                <a:spcPts val="600"/>
              </a:spcBef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400" b="1" spc="4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Tendencial:</a:t>
            </a:r>
            <a:r>
              <a:rPr sz="14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Productividad:</a:t>
            </a:r>
            <a:r>
              <a:rPr sz="1400" b="1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están </a:t>
            </a:r>
            <a:r>
              <a:rPr sz="1400" b="1" spc="-2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correlacionados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positivamente.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1109980" marR="29845" lvl="2" indent="-22923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000"/>
              <a:buFont typeface="Wingdings" panose="05000000000000000000"/>
              <a:buChar char=""/>
              <a:tabLst>
                <a:tab pos="110998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Cíclico: 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fases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expansivas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ciclo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suelen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subir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porque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sube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demanda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trabajo.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89659" y="453643"/>
            <a:ext cx="1508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50" dirty="0"/>
              <a:t> </a:t>
            </a:r>
            <a:r>
              <a:rPr dirty="0"/>
              <a:t>Los</a:t>
            </a:r>
            <a:r>
              <a:rPr spc="-55" dirty="0"/>
              <a:t> </a:t>
            </a:r>
            <a:r>
              <a:rPr dirty="0"/>
              <a:t>salarios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9511" y="796132"/>
            <a:ext cx="8282940" cy="64115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43205" indent="-231140" algn="just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243840" algn="l"/>
              </a:tabLst>
            </a:pPr>
            <a:r>
              <a:rPr sz="18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Salario=Precio</a:t>
            </a:r>
            <a:r>
              <a:rPr sz="1800" b="1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800" b="1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factor</a:t>
            </a:r>
            <a:r>
              <a:rPr sz="1800" b="1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trabajo: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385445" marR="375285" lvl="1" indent="-180340" algn="just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386080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precio del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 (el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salario)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determina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través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negociación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entre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agentes </a:t>
            </a:r>
            <a:r>
              <a:rPr sz="1600" i="1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sociales en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marco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un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complejo entramado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regulaciones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intervenciones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públicas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tendentes</a:t>
            </a:r>
            <a:r>
              <a:rPr sz="16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garantizar</a:t>
            </a:r>
            <a:r>
              <a:rPr sz="16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6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sólida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protección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social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jurídica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6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trabajadores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280035" indent="-180340" algn="just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280670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Nominal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frente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Real: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549910" marR="5080" lvl="1" indent="-180340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549910" algn="l"/>
              </a:tabLst>
            </a:pPr>
            <a:r>
              <a:rPr sz="1400" b="1" u="heavy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Salario</a:t>
            </a:r>
            <a:r>
              <a:rPr sz="1400" b="1" u="heavy" spc="10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b="1" u="heavy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Nominal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1400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Cuando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persona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percibe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remuneración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1.200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euros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brutos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mensuales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entramos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considerar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capacidad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adquisitiva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cantidad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supone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hablamos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cuantía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expresada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términos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nominales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549910" marR="65405" lvl="1" indent="-180340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549910" algn="l"/>
              </a:tabLst>
            </a:pPr>
            <a:r>
              <a:rPr sz="1400" b="1" u="heavy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Salario</a:t>
            </a:r>
            <a:r>
              <a:rPr sz="1400" b="1" u="heavy" spc="10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b="1" u="heavy" spc="-10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Real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pretendemos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cuantificar</a:t>
            </a:r>
            <a:r>
              <a:rPr sz="1400" b="1" spc="4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poder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adquisitivo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determinada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percepción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salarial,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debemos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conocer,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también,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situación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concreta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precios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existente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sociedad, </a:t>
            </a:r>
            <a:r>
              <a:rPr sz="1400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solamente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así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seremos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capaces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establecer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poder</a:t>
            </a:r>
            <a:r>
              <a:rPr sz="1400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compra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dicha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nómina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permite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afrontar.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Estaremos hablando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tanto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variable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expresada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términos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reales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835025" marR="16129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decir,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prometen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subida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próximo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año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3%,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suceder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realidad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hayan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prometido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haya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sido un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descenso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2%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(previendo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incremento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general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precios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5%)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834390" lvl="2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b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Real=Salario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Nominal/IPC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1400" b="1" spc="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Cuantos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bienes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servicios puedo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comprar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con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salario?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367030" indent="-354330">
              <a:lnSpc>
                <a:spcPct val="100000"/>
              </a:lnSpc>
              <a:spcBef>
                <a:spcPts val="89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Ojo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cuando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presentan</a:t>
            </a:r>
            <a:r>
              <a:rPr sz="1800" b="1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información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sobre</a:t>
            </a:r>
            <a:r>
              <a:rPr sz="1800" b="1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salarios: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560070" marR="168910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 efecto composición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 </a:t>
            </a:r>
            <a:r>
              <a:rPr sz="16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hora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estudiar el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comportamiento de los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salarios a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 </a:t>
            </a:r>
            <a:r>
              <a:rPr sz="1600" b="1" spc="-3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largo del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tiempo: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cambia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 composición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media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16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trabajador,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estas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medidas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cambiaran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sin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realmente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haya</a:t>
            </a:r>
            <a:r>
              <a:rPr sz="16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cambiado el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salario medio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 los</a:t>
            </a:r>
            <a:r>
              <a:rPr sz="16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individuos.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834390" marR="123190" lvl="2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Ej:</a:t>
            </a:r>
            <a:r>
              <a:rPr sz="1400" spc="4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2013: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trabajadores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(W=500),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(W=1000)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(W=1500).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1000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euros. Año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2014: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despide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ganan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mismo).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ahora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1250.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sale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subida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nos</a:t>
            </a:r>
            <a:r>
              <a:rPr sz="1400" i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comparar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medio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i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mercado</a:t>
            </a:r>
            <a:r>
              <a:rPr sz="1400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años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diferentes</a:t>
            </a:r>
            <a:r>
              <a:rPr sz="1400" i="1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porque</a:t>
            </a:r>
            <a:r>
              <a:rPr sz="1400" i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composición</a:t>
            </a:r>
            <a:r>
              <a:rPr sz="1400" i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i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i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i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misma.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9659" y="436118"/>
            <a:ext cx="1508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50" dirty="0"/>
              <a:t> </a:t>
            </a:r>
            <a:r>
              <a:rPr dirty="0"/>
              <a:t>Los</a:t>
            </a:r>
            <a:r>
              <a:rPr spc="-55" dirty="0"/>
              <a:t> </a:t>
            </a:r>
            <a:r>
              <a:rPr dirty="0"/>
              <a:t>salarios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271" y="796894"/>
            <a:ext cx="7617459" cy="78676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1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Otra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forma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evaluar</a:t>
            </a:r>
            <a:r>
              <a:rPr sz="18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comportamiento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8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(segundo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gráfico)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9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Podemos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comparar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entre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dos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economías:</a:t>
            </a:r>
            <a:endParaRPr sz="16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9353" y="3234181"/>
            <a:ext cx="8221980" cy="1443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291465" indent="-273050">
              <a:lnSpc>
                <a:spcPct val="100000"/>
              </a:lnSpc>
              <a:spcBef>
                <a:spcPts val="1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285115" algn="l"/>
                <a:tab pos="285750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próxima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transparencia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presentamos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ratio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comparando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alemanes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españoles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 periodo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crisis: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559435" marR="5080" lvl="1" indent="-229235">
              <a:lnSpc>
                <a:spcPct val="100000"/>
              </a:lnSpc>
              <a:spcBef>
                <a:spcPts val="6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560070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están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debajo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alemanes.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lógico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diferencias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niveles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vida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ambos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países.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interesante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ver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medio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español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relación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alemán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cambiando: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ojo 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nuevo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aquí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tenemos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problemas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tema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 composición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7579" y="2372105"/>
            <a:ext cx="1492885" cy="0"/>
          </a:xfrm>
          <a:custGeom>
            <a:avLst/>
            <a:gdLst/>
            <a:ahLst/>
            <a:cxnLst/>
            <a:rect l="l" t="t" r="r" b="b"/>
            <a:pathLst>
              <a:path w="1492885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69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91105" y="2531948"/>
            <a:ext cx="10922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latin typeface="Symbol" panose="05050102010706020507"/>
                <a:cs typeface="Symbol" panose="05050102010706020507"/>
              </a:rPr>
              <a:t></a:t>
            </a:r>
            <a:endParaRPr sz="13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491105" y="2262198"/>
            <a:ext cx="10922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latin typeface="Symbol" panose="05050102010706020507"/>
                <a:cs typeface="Symbol" panose="05050102010706020507"/>
              </a:rPr>
              <a:t></a:t>
            </a:r>
            <a:endParaRPr sz="13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5705" y="2486227"/>
            <a:ext cx="52514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50" spc="-7" baseline="21000" dirty="0">
                <a:latin typeface="Symbol" panose="05050102010706020507"/>
                <a:cs typeface="Symbol" panose="05050102010706020507"/>
              </a:rPr>
              <a:t></a:t>
            </a:r>
            <a:r>
              <a:rPr sz="1300" spc="15" dirty="0">
                <a:latin typeface="Symbol" panose="05050102010706020507"/>
                <a:cs typeface="Symbol" panose="05050102010706020507"/>
              </a:rPr>
              <a:t></a:t>
            </a:r>
            <a:r>
              <a:rPr sz="13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10" dirty="0">
                <a:latin typeface="Times New Roman" panose="02020603050405020304"/>
                <a:cs typeface="Times New Roman" panose="02020603050405020304"/>
              </a:rPr>
              <a:t>100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5854" y="2232483"/>
            <a:ext cx="86804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latin typeface="Times New Roman" panose="02020603050405020304"/>
                <a:cs typeface="Times New Roman" panose="02020603050405020304"/>
              </a:rPr>
              <a:t>*10</a:t>
            </a:r>
            <a:r>
              <a:rPr sz="1300" spc="25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1950" spc="22" baseline="32000" dirty="0">
                <a:latin typeface="Symbol" panose="05050102010706020507"/>
                <a:cs typeface="Symbol" panose="05050102010706020507"/>
              </a:rPr>
              <a:t></a:t>
            </a:r>
            <a:r>
              <a:rPr sz="1300" spc="15" dirty="0">
                <a:latin typeface="Symbol" panose="05050102010706020507"/>
                <a:cs typeface="Symbol" panose="05050102010706020507"/>
              </a:rPr>
              <a:t></a:t>
            </a:r>
            <a:r>
              <a:rPr sz="13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10" dirty="0">
                <a:latin typeface="Times New Roman" panose="02020603050405020304"/>
                <a:cs typeface="Times New Roman" panose="02020603050405020304"/>
              </a:rPr>
              <a:t>100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91105" y="1991689"/>
            <a:ext cx="47688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latin typeface="Symbol" panose="05050102010706020507"/>
                <a:cs typeface="Symbol" panose="05050102010706020507"/>
              </a:rPr>
              <a:t></a:t>
            </a:r>
            <a:r>
              <a:rPr sz="1950" spc="22" baseline="4000" dirty="0">
                <a:latin typeface="Symbol" panose="05050102010706020507"/>
                <a:cs typeface="Symbol" panose="05050102010706020507"/>
              </a:rPr>
              <a:t></a:t>
            </a:r>
            <a:r>
              <a:rPr sz="1950" spc="-247" baseline="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15" baseline="4000" dirty="0">
                <a:latin typeface="Times New Roman" panose="02020603050405020304"/>
                <a:cs typeface="Times New Roman" panose="02020603050405020304"/>
              </a:rPr>
              <a:t>100</a:t>
            </a:r>
            <a:endParaRPr sz="1950" baseline="4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8577" y="2365070"/>
            <a:ext cx="150812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Salario</a:t>
            </a:r>
            <a:r>
              <a:rPr sz="1300" i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15" dirty="0">
                <a:latin typeface="Times New Roman" panose="02020603050405020304"/>
                <a:cs typeface="Times New Roman" panose="02020603050405020304"/>
              </a:rPr>
              <a:t>Re</a:t>
            </a:r>
            <a:r>
              <a:rPr sz="13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10" dirty="0">
                <a:latin typeface="Times New Roman" panose="02020603050405020304"/>
                <a:cs typeface="Times New Roman" panose="02020603050405020304"/>
              </a:rPr>
              <a:t>{</a:t>
            </a: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Pais</a:t>
            </a:r>
            <a:r>
              <a:rPr sz="1300" i="1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3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300" spc="10" dirty="0">
                <a:latin typeface="Times New Roman" panose="02020603050405020304"/>
                <a:cs typeface="Times New Roman" panose="02020603050405020304"/>
              </a:rPr>
              <a:t>}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8577" y="2104472"/>
            <a:ext cx="150812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Salario</a:t>
            </a:r>
            <a:r>
              <a:rPr sz="1300" i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15" dirty="0">
                <a:latin typeface="Times New Roman" panose="02020603050405020304"/>
                <a:cs typeface="Times New Roman" panose="02020603050405020304"/>
              </a:rPr>
              <a:t>Re</a:t>
            </a:r>
            <a:r>
              <a:rPr sz="13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10" dirty="0">
                <a:latin typeface="Times New Roman" panose="02020603050405020304"/>
                <a:cs typeface="Times New Roman" panose="02020603050405020304"/>
              </a:rPr>
              <a:t>{</a:t>
            </a: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Pais</a:t>
            </a:r>
            <a:r>
              <a:rPr sz="130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9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10" dirty="0">
                <a:latin typeface="Times New Roman" panose="02020603050405020304"/>
                <a:cs typeface="Times New Roman" panose="02020603050405020304"/>
              </a:rPr>
              <a:t>}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9659" y="436118"/>
            <a:ext cx="1508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50" dirty="0"/>
              <a:t> </a:t>
            </a:r>
            <a:r>
              <a:rPr dirty="0"/>
              <a:t>Los</a:t>
            </a:r>
            <a:r>
              <a:rPr spc="-55" dirty="0"/>
              <a:t> </a:t>
            </a:r>
            <a:r>
              <a:rPr dirty="0"/>
              <a:t>salarios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4271" y="925321"/>
            <a:ext cx="8363584" cy="3691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30" marR="640080" indent="-354330">
              <a:lnSpc>
                <a:spcPct val="100000"/>
              </a:lnSpc>
              <a:spcBef>
                <a:spcPts val="100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general,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han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acumulado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varios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años de descenso </a:t>
            </a:r>
            <a:r>
              <a:rPr sz="1800" spc="-38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crisis: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834390" marR="182880" lvl="1" indent="-228600">
              <a:lnSpc>
                <a:spcPct val="100000"/>
              </a:lnSpc>
              <a:spcBef>
                <a:spcPts val="91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escenario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baja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inflación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ajustes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tendrían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limitado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sobre el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 y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cualquier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nuevo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descenso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provocaría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un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u="heavy" spc="-10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círculo</a:t>
            </a:r>
            <a:r>
              <a:rPr sz="1400" b="1" u="heavy" spc="4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1400" b="1" u="heavy" spc="-5" dirty="0">
                <a:solidFill>
                  <a:srgbClr val="006FC0"/>
                </a:solidFill>
                <a:uFill>
                  <a:solidFill>
                    <a:srgbClr val="006FBF"/>
                  </a:solidFill>
                </a:uFill>
                <a:latin typeface="Cambria" panose="02040503050406030204"/>
                <a:cs typeface="Cambria" panose="02040503050406030204"/>
              </a:rPr>
              <a:t>vicioso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deflación,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descenso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consumo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inversión.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834390" marR="5080" lvl="1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razón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afirmar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salario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medio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trabajadores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ha </a:t>
            </a:r>
            <a:r>
              <a:rPr sz="14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descendido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ininterrumpidamente</a:t>
            </a:r>
            <a:r>
              <a:rPr sz="14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durante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b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años</a:t>
            </a:r>
            <a:r>
              <a:rPr sz="14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2010‐2014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pesar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se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puede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observar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segundo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gráficos,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remuneraciones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salariales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aumentaron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términos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nominales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distintos momentos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periodos 2003‐2009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2010‐2014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(en</a:t>
            </a:r>
            <a:r>
              <a:rPr sz="1400" spc="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color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rojo)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embargo ello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supuso un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incremento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efectivo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en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términos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reales.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834390" marR="332740" lvl="1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Según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OCDE,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España</a:t>
            </a:r>
            <a:r>
              <a:rPr sz="1400" b="1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llegó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2013/2014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al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límite</a:t>
            </a:r>
            <a:r>
              <a:rPr sz="1400" b="1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ajuste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</a:t>
            </a:r>
            <a:r>
              <a:rPr sz="1400" b="1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nuevos</a:t>
            </a:r>
            <a:r>
              <a:rPr sz="1400" b="1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ajustes </a:t>
            </a:r>
            <a:r>
              <a:rPr sz="1400" b="1" spc="-29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salariales</a:t>
            </a:r>
            <a:r>
              <a:rPr sz="14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serían </a:t>
            </a:r>
            <a:r>
              <a:rPr sz="14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contra‐producentes.</a:t>
            </a:r>
            <a:endParaRPr sz="1400">
              <a:latin typeface="Cambria" panose="02040503050406030204"/>
              <a:cs typeface="Cambria" panose="02040503050406030204"/>
            </a:endParaRPr>
          </a:p>
          <a:p>
            <a:pPr marL="834390" marR="58420" lvl="1" indent="-229235">
              <a:lnSpc>
                <a:spcPct val="100000"/>
              </a:lnSpc>
              <a:spcBef>
                <a:spcPts val="600"/>
              </a:spcBef>
              <a:buClr>
                <a:srgbClr val="00B04F"/>
              </a:buClr>
              <a:buSzPct val="75000"/>
              <a:buFont typeface="Wingdings" panose="05000000000000000000"/>
              <a:buChar char=""/>
              <a:tabLst>
                <a:tab pos="835025" algn="l"/>
              </a:tabLst>
            </a:pP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estas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afirmaciones,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OCDE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parece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alinearse</a:t>
            </a:r>
            <a:r>
              <a:rPr sz="1400" spc="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posiciones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del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FMI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Banco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Central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Europeo,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 menos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presidente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Mario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Draghi.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fondo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cuestión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4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miedo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400" spc="-29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largo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período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estancamiento</a:t>
            </a:r>
            <a:r>
              <a:rPr sz="14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combinado con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tasas</a:t>
            </a:r>
            <a:r>
              <a:rPr sz="14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inflación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cerca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14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</a:t>
            </a:r>
            <a:r>
              <a:rPr sz="14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debajo</a:t>
            </a:r>
            <a:r>
              <a:rPr sz="14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4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cero.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5326" y="436118"/>
            <a:ext cx="8328659" cy="521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15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4.</a:t>
            </a:r>
            <a:r>
              <a:rPr sz="18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8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8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8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Productividad</a:t>
            </a:r>
            <a:r>
              <a:rPr sz="18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Laboral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Cambria" panose="02040503050406030204"/>
              <a:cs typeface="Cambria" panose="02040503050406030204"/>
            </a:endParaRPr>
          </a:p>
          <a:p>
            <a:pPr marL="367030" indent="-354330">
              <a:lnSpc>
                <a:spcPct val="100000"/>
              </a:lnSpc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Productividad: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factores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influyen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en la</a:t>
            </a:r>
            <a:r>
              <a:rPr sz="18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905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A)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Cambios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Tecnológicos: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permiten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producir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con</a:t>
            </a:r>
            <a:r>
              <a:rPr sz="1600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menos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recursos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560070" marR="508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B) Capital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Humano: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Formación,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experiencia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 habilidades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trabajadores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permita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realizar</a:t>
            </a:r>
            <a:r>
              <a:rPr sz="1600" spc="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trabajo</a:t>
            </a:r>
            <a:r>
              <a:rPr sz="16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forma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eficiente</a:t>
            </a:r>
            <a:r>
              <a:rPr sz="1600" spc="-3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rápida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367030" indent="-354330">
              <a:lnSpc>
                <a:spcPct val="100000"/>
              </a:lnSpc>
              <a:spcBef>
                <a:spcPts val="895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Cómo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</a:t>
            </a:r>
            <a:r>
              <a:rPr sz="1800" b="1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relacionan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8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empleo?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905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c/p:</a:t>
            </a:r>
            <a:r>
              <a:rPr sz="16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posible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su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relación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sea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negativa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560070" marR="207010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l/p: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ser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positiva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porque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aumentos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la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genera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nuevas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actividades </a:t>
            </a:r>
            <a:r>
              <a:rPr sz="1600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económicas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al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liberar</a:t>
            </a:r>
            <a:r>
              <a:rPr sz="1600" spc="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recursos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unas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actividades</a:t>
            </a:r>
            <a:r>
              <a:rPr sz="16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otras.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367030" marR="73025" indent="-354965">
              <a:lnSpc>
                <a:spcPct val="100000"/>
              </a:lnSpc>
              <a:spcBef>
                <a:spcPts val="895"/>
              </a:spcBef>
              <a:buClr>
                <a:srgbClr val="00B04F"/>
              </a:buClr>
              <a:buSzPct val="83000"/>
              <a:buFont typeface="Wingdings" panose="05000000000000000000"/>
              <a:buChar char=""/>
              <a:tabLst>
                <a:tab pos="366395" algn="l"/>
                <a:tab pos="367030" algn="l"/>
              </a:tabLst>
            </a:pP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Cómo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se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relacionan la </a:t>
            </a:r>
            <a:r>
              <a:rPr sz="18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 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y</a:t>
            </a:r>
            <a:r>
              <a:rPr sz="18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los</a:t>
            </a:r>
            <a:r>
              <a:rPr sz="18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salarios?</a:t>
            </a:r>
            <a:r>
              <a:rPr sz="1800" b="1" spc="37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8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1800" spc="-38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permitiría</a:t>
            </a:r>
            <a:r>
              <a:rPr sz="1800" spc="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un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mayor</a:t>
            </a:r>
            <a:r>
              <a:rPr sz="1800" spc="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crecimiento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</a:t>
            </a:r>
            <a:r>
              <a:rPr sz="1800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sin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generar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presiones </a:t>
            </a:r>
            <a:r>
              <a:rPr sz="1800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inflacionistas: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560070" lvl="1" indent="-273050">
              <a:lnSpc>
                <a:spcPct val="100000"/>
              </a:lnSpc>
              <a:spcBef>
                <a:spcPts val="905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6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largo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plazo,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los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salarios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reales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no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pueden</a:t>
            </a:r>
            <a:r>
              <a:rPr sz="1600" b="1" spc="-2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crecer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más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rápido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que la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productividad</a:t>
            </a:r>
            <a:endParaRPr sz="1600">
              <a:latin typeface="Cambria" panose="02040503050406030204"/>
              <a:cs typeface="Cambria" panose="02040503050406030204"/>
            </a:endParaRPr>
          </a:p>
          <a:p>
            <a:pPr marL="560070" marR="686435" lvl="1" indent="-273050">
              <a:lnSpc>
                <a:spcPct val="100000"/>
              </a:lnSpc>
              <a:spcBef>
                <a:spcPts val="600"/>
              </a:spcBef>
              <a:buClr>
                <a:srgbClr val="9F2835"/>
              </a:buClr>
              <a:buSzPct val="69000"/>
              <a:buFont typeface="Wingdings" panose="05000000000000000000"/>
              <a:buChar char=""/>
              <a:tabLst>
                <a:tab pos="560070" algn="l"/>
                <a:tab pos="560705" algn="l"/>
              </a:tabLst>
            </a:pP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La mejor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forma de garantizar crecimientos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salariales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reales sostenibles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–sin </a:t>
            </a:r>
            <a:r>
              <a:rPr sz="1600" b="1" spc="-34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perjudicar la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senda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 crecimiento económico‐,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que dichos crecimientos 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salariales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estén</a:t>
            </a:r>
            <a:r>
              <a:rPr sz="1600" b="1" spc="-1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acompañados</a:t>
            </a:r>
            <a:r>
              <a:rPr sz="1600" b="1" spc="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ganancias</a:t>
            </a:r>
            <a:r>
              <a:rPr sz="1600" b="1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de</a:t>
            </a:r>
            <a:r>
              <a:rPr sz="1600" b="1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 productividad.</a:t>
            </a:r>
            <a:endParaRPr sz="16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197485" y="453643"/>
            <a:ext cx="4292600" cy="276860"/>
          </a:xfrm>
        </p:spPr>
        <p:txBody>
          <a:bodyPr/>
          <a:lstStyle/>
          <a:p>
            <a:r>
              <a:rPr lang="es-ES" altLang="en-US">
                <a:highlight>
                  <a:srgbClr val="FFFF00"/>
                </a:highlight>
              </a:rPr>
              <a:t>EVOLUCION SALARIO REAL ANUAL</a:t>
            </a:r>
          </a:p>
        </p:txBody>
      </p:sp>
      <p:pic>
        <p:nvPicPr>
          <p:cNvPr id="4" name="Marcador de posición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4670" y="1113790"/>
            <a:ext cx="9093835" cy="686371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197225" y="453390"/>
            <a:ext cx="6116955" cy="276860"/>
          </a:xfrm>
        </p:spPr>
        <p:txBody>
          <a:bodyPr wrap="square"/>
          <a:lstStyle/>
          <a:p>
            <a:r>
              <a:rPr lang="es-ES" altLang="en-US"/>
              <a:t>EVOLUCION SALARIO REAL Y PRODUCTIVIDAD</a:t>
            </a:r>
          </a:p>
        </p:txBody>
      </p:sp>
      <p:pic>
        <p:nvPicPr>
          <p:cNvPr id="4" name="Marcador de posición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0870" y="1073150"/>
            <a:ext cx="11454765" cy="688403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093" y="3228086"/>
            <a:ext cx="7791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13415C"/>
                </a:solidFill>
                <a:latin typeface="Georgia" panose="02040502050405020303"/>
                <a:cs typeface="Georgia" panose="02040502050405020303"/>
              </a:rPr>
              <a:t>Fin</a:t>
            </a:r>
            <a:endParaRPr sz="400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</TotalTime>
  <Words>6427</Words>
  <Application>Microsoft Office PowerPoint</Application>
  <PresentationFormat>Personalizado</PresentationFormat>
  <Paragraphs>381</Paragraphs>
  <Slides>42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52" baseType="lpstr">
      <vt:lpstr>Arial MT</vt:lpstr>
      <vt:lpstr>Calibri</vt:lpstr>
      <vt:lpstr>Cambria</vt:lpstr>
      <vt:lpstr>Courier New</vt:lpstr>
      <vt:lpstr>Georgia</vt:lpstr>
      <vt:lpstr>Segoe UI Symbol</vt:lpstr>
      <vt:lpstr>Symbol</vt:lpstr>
      <vt:lpstr>Times New Roman</vt:lpstr>
      <vt:lpstr>Wingdings</vt:lpstr>
      <vt:lpstr>Office Theme</vt:lpstr>
      <vt:lpstr> Bloque I: Las políticas sociolaborales Y EL  CONTEXTO ECONOMICO:</vt:lpstr>
      <vt:lpstr>Presentación de PowerPoint</vt:lpstr>
      <vt:lpstr>1. Introducción: El Mercado de Trabajo</vt:lpstr>
      <vt:lpstr>Presentación de PowerPoint</vt:lpstr>
      <vt:lpstr>Presentación de PowerPoint</vt:lpstr>
      <vt:lpstr>Principales Indicadores del Mercado de Trabajo por el lado de la oferta</vt:lpstr>
      <vt:lpstr>1. La oferta de Trabajo: La tasa de actividad</vt:lpstr>
      <vt:lpstr>Presentación de PowerPoint</vt:lpstr>
      <vt:lpstr>1. La oferta de Trabajo: La tasa de actividad</vt:lpstr>
      <vt:lpstr>  1. La oferta de Trabajo: La tasa de actividad </vt:lpstr>
      <vt:lpstr>Presentación de PowerPoint</vt:lpstr>
      <vt:lpstr>1. La Oferta de trabajo: Tasa de Actividad</vt:lpstr>
      <vt:lpstr>1. La Oferta de trabajo: Tasa de Actividad</vt:lpstr>
      <vt:lpstr>1. La Oferta de trabajo: Tasa de Actividad</vt:lpstr>
      <vt:lpstr>1. La Oferta de trabajo: Tasa de Actividad</vt:lpstr>
      <vt:lpstr>1. La Oferta de trabajo: Tasa de Actividad</vt:lpstr>
      <vt:lpstr>EVOLUCION TASA DE ACTIVIDAD</vt:lpstr>
      <vt:lpstr>EVOLUCION TASA DE ACTIVIDAD POR GENERO</vt:lpstr>
      <vt:lpstr>EVOLUCION TASA DE ACTIVIDAD POR TRAMO DE EDAD EN ESPAÑA</vt:lpstr>
      <vt:lpstr>La tasa de Paro</vt:lpstr>
      <vt:lpstr>2. La Tasa de Paro</vt:lpstr>
      <vt:lpstr>  2. Tasa de Paro </vt:lpstr>
      <vt:lpstr>2. La Tasa de Paro</vt:lpstr>
      <vt:lpstr>Presentación de PowerPoint</vt:lpstr>
      <vt:lpstr>2. Tasa de Paro</vt:lpstr>
      <vt:lpstr>2. Tasa de Paro</vt:lpstr>
      <vt:lpstr>EVOLUCION TASA DE PARO</vt:lpstr>
      <vt:lpstr>EVOLUCION TASA DE PARO POR GENERO EN ESPAÑA</vt:lpstr>
      <vt:lpstr>La tasa de empleo</vt:lpstr>
      <vt:lpstr>3. Tasa de Empleo</vt:lpstr>
      <vt:lpstr>Presentación de PowerPoint</vt:lpstr>
      <vt:lpstr>EVOLUCION TASA DE EMPLEO</vt:lpstr>
      <vt:lpstr>Los salarios y la productividad  (laboral)</vt:lpstr>
      <vt:lpstr>4. Los salarios</vt:lpstr>
      <vt:lpstr>Presentación de PowerPoint</vt:lpstr>
      <vt:lpstr>4. Los salarios</vt:lpstr>
      <vt:lpstr>4. Los salarios</vt:lpstr>
      <vt:lpstr>4. Los salarios</vt:lpstr>
      <vt:lpstr>Presentación de PowerPoint</vt:lpstr>
      <vt:lpstr>EVOLUCION SALARIO REAL ANUAL</vt:lpstr>
      <vt:lpstr>EVOLUCION SALARIO REAL Y PRODUCTIVIDAD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Tema2_indicadores-mercado-de-trabajo-2020-sinaudio</dc:title>
  <dc:creator>Yola</dc:creator>
  <cp:lastModifiedBy>Manuel Alejandro Hidalgo Perez</cp:lastModifiedBy>
  <cp:revision>15</cp:revision>
  <dcterms:created xsi:type="dcterms:W3CDTF">2021-09-21T07:59:00Z</dcterms:created>
  <dcterms:modified xsi:type="dcterms:W3CDTF">2024-09-12T11:03:28Z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2020-10-20T04:00:00Z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2021-09-21T04:00:00Z</vt:filetime>
  </property>
  <property fmtid="{D5CDD505-2E9C-101B-9397-08002B2CF9AE}" pid="5" name="ICV">
    <vt:lpwstr>CA3295BB9D1047F094E59CA2C1C858CA_12</vt:lpwstr>
  </property>
  <property fmtid="{D5CDD505-2E9C-101B-9397-08002B2CF9AE}" pid="6" name="KSOProductBuildVer">
    <vt:lpwstr>3082-12.2.0.13215</vt:lpwstr>
  </property>
</Properties>
</file>