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embeddedFontLst>
    <p:embeddedFont>
      <p:font typeface="MiSans" panose="020B0604020202020204" charset="-122"/>
      <p:regular r:id="rId4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03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93250" y="6143625"/>
            <a:ext cx="2541905" cy="5111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493250" y="5563870"/>
            <a:ext cx="2541905" cy="51117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493250" y="5563870"/>
            <a:ext cx="2541905" cy="5111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0710" y="1315085"/>
            <a:ext cx="8588375" cy="17710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Tema 2.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</a:t>
            </a:r>
            <a:r>
              <a:rPr lang="en-US" sz="44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</a:t>
            </a: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Activas de Empleo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75255" y="1055370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675255" y="1055370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35375" y="1055370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35375" y="1055370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55315" y="1055370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155315" y="1055370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5435" y="1055370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115435" y="1055370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1465" y="607504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91465" y="630872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91465" y="654240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888230" y="1223645"/>
            <a:ext cx="5448300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1588770" y="2950845"/>
            <a:ext cx="8747760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10342245" y="1207135"/>
            <a:ext cx="0" cy="175895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583055" y="1223645"/>
            <a:ext cx="0" cy="175895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1557020" y="1210945"/>
            <a:ext cx="742315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0" descr="https://kimi-img.moonshot.cn/pub/slides/slides_tmpl/image/25-08-27-19:57:41-d2nf5d98bjvh7rlivslg.png"/>
          <p:cNvPicPr>
            <a:picLocks noChangeAspect="1"/>
          </p:cNvPicPr>
          <p:nvPr/>
        </p:nvPicPr>
        <p:blipFill>
          <a:blip r:embed="rId3"/>
          <a:srcRect b="42278"/>
          <a:stretch/>
        </p:blipFill>
        <p:spPr>
          <a:xfrm>
            <a:off x="2835237" y="3280238"/>
            <a:ext cx="6078142" cy="35658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9190" y="727075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79190" y="727075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1860" y="835025"/>
            <a:ext cx="0" cy="30353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79190" y="1821180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79190" y="1821180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21860" y="1929130"/>
            <a:ext cx="0" cy="303530"/>
          </a:xfrm>
          <a:prstGeom prst="line">
            <a:avLst/>
          </a:prstGeom>
          <a:noFill/>
          <a:ln w="762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79190" y="4039235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79190" y="4039235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21860" y="4147185"/>
            <a:ext cx="0" cy="303530"/>
          </a:xfrm>
          <a:prstGeom prst="line">
            <a:avLst/>
          </a:prstGeom>
          <a:noFill/>
          <a:ln w="762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-24130" y="6262370"/>
            <a:ext cx="12216130" cy="46863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-24130" y="6262370"/>
            <a:ext cx="12216130" cy="4686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79190" y="2970530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679190" y="2970530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21860" y="3078480"/>
            <a:ext cx="0" cy="30353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679190" y="5092700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679190" y="5092700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21860" y="5200650"/>
            <a:ext cx="0" cy="30353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0" descr="https://kimi-img.moonshot.cn/pub/slides/slides_tmpl/image/25-08-27-19:57:41-d2nf5d98bjvh7rlivs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740" y="2921810"/>
            <a:ext cx="2205964" cy="2817320"/>
          </a:xfrm>
          <a:prstGeom prst="rect">
            <a:avLst/>
          </a:prstGeom>
        </p:spPr>
      </p:pic>
      <p:pic>
        <p:nvPicPr>
          <p:cNvPr id="20" name="Image 1" descr="https://kimi-img.moonshot.cn/pub/slides/slides_tmpl/image/25-08-27-19:57:41-d2nf5d98bjvh7rlivs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54" y="1165860"/>
            <a:ext cx="2034775" cy="2595541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9146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25158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0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7152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173164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4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-24130" y="6479540"/>
            <a:ext cx="12216130" cy="3778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6"/>
          <p:cNvSpPr/>
          <p:nvPr/>
        </p:nvSpPr>
        <p:spPr>
          <a:xfrm>
            <a:off x="-24130" y="6479540"/>
            <a:ext cx="12216130" cy="3778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3806825" y="686435"/>
            <a:ext cx="847090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4885055" y="777875"/>
            <a:ext cx="37846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Introducción y conceptos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3806825" y="1780540"/>
            <a:ext cx="847090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4885055" y="1871980"/>
            <a:ext cx="37846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normativo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3806825" y="2929890"/>
            <a:ext cx="847090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4885055" y="3021330"/>
            <a:ext cx="37846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Tipologías de PAE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3806825" y="3998595"/>
            <a:ext cx="847090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4885055" y="4090035"/>
            <a:ext cx="37846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Programas destacados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3806825" y="5052060"/>
            <a:ext cx="847090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4885055" y="5143500"/>
            <a:ext cx="37846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y retos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80385" y="1165860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080385" y="1165860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23055" y="1273810"/>
            <a:ext cx="0" cy="30353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080385" y="2952750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080385" y="2952750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23055" y="3060700"/>
            <a:ext cx="0" cy="303530"/>
          </a:xfrm>
          <a:prstGeom prst="line">
            <a:avLst/>
          </a:prstGeom>
          <a:noFill/>
          <a:ln w="762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-24130" y="6262370"/>
            <a:ext cx="12216130" cy="46863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-24130" y="6262370"/>
            <a:ext cx="12216130" cy="4686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0" descr="https://kimi-img.moonshot.cn/pub/slides/slides_tmpl/image/25-08-27-19:57:41-d2nf5d98bjvh7rlivs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740" y="2921810"/>
            <a:ext cx="2205964" cy="2817320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08-27-19:57:41-d2nf5d98bjvh7rlivs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54" y="1165860"/>
            <a:ext cx="2034775" cy="259554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146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125158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7152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73164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-24130" y="6479540"/>
            <a:ext cx="12216130" cy="3778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-24130" y="6479540"/>
            <a:ext cx="12216130" cy="3778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3208020" y="1125220"/>
            <a:ext cx="847090" cy="562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286250" y="1216660"/>
            <a:ext cx="378460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Estrategia 2025-2028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3208020" y="2912110"/>
            <a:ext cx="847090" cy="562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286250" y="3003550"/>
            <a:ext cx="378460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828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Introducción y conceptos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256898"/>
            <a:ext cx="5640070" cy="11079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PARTE  01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1465" y="607504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91465" y="630872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91465" y="654240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29146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158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152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73164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76400"/>
            <a:ext cx="1198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48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Activas de Empleo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98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Instrumento Clave para el Empleo Digno y de Calidad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505200"/>
            <a:ext cx="71755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Las PAE son un conjunto de servicios y programas de orientación, formación e intermediación diseñados para mejorar la </a:t>
            </a:r>
            <a:r>
              <a:rPr lang="en-US" sz="16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empleabilidad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las personas desempleadas y adaptar la oferta laboral a las necesidades empresariales, promoviendo el acceso a un </a:t>
            </a:r>
            <a:r>
              <a:rPr lang="en-US" sz="16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empleo digno y estable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</a:t>
            </a:r>
            <a:endParaRPr lang="en-US" sz="1600" dirty="0"/>
          </a:p>
        </p:txBody>
      </p:sp>
      <p:pic>
        <p:nvPicPr>
          <p:cNvPr id="5" name="Image 0" descr="https://kimi-web-img.moonshot.cn/img/c8.alamy.com/a72c510adaf8ca5bd4912a18777384937730e0b3.jpg"/>
          <p:cNvPicPr>
            <a:picLocks noChangeAspect="1"/>
          </p:cNvPicPr>
          <p:nvPr/>
        </p:nvPicPr>
        <p:blipFill>
          <a:blip r:embed="rId3"/>
          <a:srcRect t="18191" b="18191"/>
          <a:stretch/>
        </p:blipFill>
        <p:spPr>
          <a:xfrm>
            <a:off x="8043228" y="3149600"/>
            <a:ext cx="3898900" cy="2032000"/>
          </a:xfrm>
          <a:prstGeom prst="roundRect">
            <a:avLst>
              <a:gd name="adj" fmla="val 5000"/>
            </a:avLst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6675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Objetivos Estratégicos de las PAE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1428750"/>
            <a:ext cx="3695700" cy="2286000"/>
          </a:xfrm>
          <a:custGeom>
            <a:avLst/>
            <a:gdLst/>
            <a:ahLst/>
            <a:cxnLst/>
            <a:rect l="l" t="t" r="r" b="b"/>
            <a:pathLst>
              <a:path w="3695700" h="2286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184410"/>
                </a:lnTo>
                <a:cubicBezTo>
                  <a:pt x="3695700" y="2240517"/>
                  <a:pt x="3650217" y="2286000"/>
                  <a:pt x="35941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81012" y="2378075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79561" y="-9674"/>
                </a:moveTo>
                <a:cubicBezTo>
                  <a:pt x="171078" y="-11385"/>
                  <a:pt x="162371" y="-11385"/>
                  <a:pt x="153888" y="-9674"/>
                </a:cubicBezTo>
                <a:lnTo>
                  <a:pt x="14362" y="18231"/>
                </a:lnTo>
                <a:cubicBezTo>
                  <a:pt x="6028" y="19869"/>
                  <a:pt x="0" y="27236"/>
                  <a:pt x="0" y="35719"/>
                </a:cubicBezTo>
                <a:cubicBezTo>
                  <a:pt x="0" y="43383"/>
                  <a:pt x="4837" y="50081"/>
                  <a:pt x="11906" y="52536"/>
                </a:cubicBezTo>
                <a:lnTo>
                  <a:pt x="11906" y="107156"/>
                </a:lnTo>
                <a:lnTo>
                  <a:pt x="223" y="165646"/>
                </a:lnTo>
                <a:cubicBezTo>
                  <a:pt x="74" y="166315"/>
                  <a:pt x="0" y="167060"/>
                  <a:pt x="0" y="167804"/>
                </a:cubicBezTo>
                <a:cubicBezTo>
                  <a:pt x="0" y="173757"/>
                  <a:pt x="4837" y="178668"/>
                  <a:pt x="10864" y="178668"/>
                </a:cubicBezTo>
                <a:lnTo>
                  <a:pt x="36835" y="178668"/>
                </a:lnTo>
                <a:cubicBezTo>
                  <a:pt x="42788" y="178668"/>
                  <a:pt x="47699" y="173831"/>
                  <a:pt x="47699" y="167804"/>
                </a:cubicBezTo>
                <a:cubicBezTo>
                  <a:pt x="47699" y="167060"/>
                  <a:pt x="47625" y="166390"/>
                  <a:pt x="47476" y="165646"/>
                </a:cubicBezTo>
                <a:lnTo>
                  <a:pt x="35719" y="107156"/>
                </a:lnTo>
                <a:lnTo>
                  <a:pt x="35719" y="57522"/>
                </a:lnTo>
                <a:lnTo>
                  <a:pt x="71438" y="64666"/>
                </a:lnTo>
                <a:lnTo>
                  <a:pt x="71438" y="107156"/>
                </a:lnTo>
                <a:cubicBezTo>
                  <a:pt x="71438" y="159767"/>
                  <a:pt x="114077" y="202406"/>
                  <a:pt x="166688" y="202406"/>
                </a:cubicBezTo>
                <a:cubicBezTo>
                  <a:pt x="219298" y="202406"/>
                  <a:pt x="261938" y="159767"/>
                  <a:pt x="261938" y="107156"/>
                </a:cubicBezTo>
                <a:lnTo>
                  <a:pt x="261938" y="64666"/>
                </a:lnTo>
                <a:lnTo>
                  <a:pt x="319013" y="53280"/>
                </a:lnTo>
                <a:cubicBezTo>
                  <a:pt x="327347" y="51569"/>
                  <a:pt x="333375" y="44202"/>
                  <a:pt x="333375" y="35719"/>
                </a:cubicBezTo>
                <a:cubicBezTo>
                  <a:pt x="333375" y="27236"/>
                  <a:pt x="327347" y="19869"/>
                  <a:pt x="319013" y="18231"/>
                </a:cubicBezTo>
                <a:lnTo>
                  <a:pt x="179561" y="-9674"/>
                </a:lnTo>
                <a:close/>
                <a:moveTo>
                  <a:pt x="166688" y="166688"/>
                </a:moveTo>
                <a:cubicBezTo>
                  <a:pt x="133796" y="166688"/>
                  <a:pt x="107156" y="140047"/>
                  <a:pt x="107156" y="107156"/>
                </a:cubicBezTo>
                <a:lnTo>
                  <a:pt x="226219" y="107156"/>
                </a:lnTo>
                <a:cubicBezTo>
                  <a:pt x="226219" y="140047"/>
                  <a:pt x="199579" y="166688"/>
                  <a:pt x="166688" y="166688"/>
                </a:cubicBezTo>
                <a:close/>
                <a:moveTo>
                  <a:pt x="89371" y="238199"/>
                </a:moveTo>
                <a:cubicBezTo>
                  <a:pt x="43681" y="259184"/>
                  <a:pt x="11906" y="305321"/>
                  <a:pt x="11906" y="358899"/>
                </a:cubicBezTo>
                <a:cubicBezTo>
                  <a:pt x="11906" y="371103"/>
                  <a:pt x="21803" y="381000"/>
                  <a:pt x="34007" y="381000"/>
                </a:cubicBezTo>
                <a:lnTo>
                  <a:pt x="148828" y="381000"/>
                </a:lnTo>
                <a:lnTo>
                  <a:pt x="148828" y="272355"/>
                </a:lnTo>
                <a:lnTo>
                  <a:pt x="106114" y="240357"/>
                </a:lnTo>
                <a:cubicBezTo>
                  <a:pt x="101278" y="236711"/>
                  <a:pt x="94804" y="235744"/>
                  <a:pt x="89297" y="238274"/>
                </a:cubicBezTo>
                <a:close/>
                <a:moveTo>
                  <a:pt x="184547" y="381000"/>
                </a:moveTo>
                <a:lnTo>
                  <a:pt x="299368" y="381000"/>
                </a:lnTo>
                <a:cubicBezTo>
                  <a:pt x="311572" y="381000"/>
                  <a:pt x="321469" y="371103"/>
                  <a:pt x="321469" y="358899"/>
                </a:cubicBezTo>
                <a:cubicBezTo>
                  <a:pt x="321469" y="305321"/>
                  <a:pt x="289694" y="259184"/>
                  <a:pt x="244004" y="238274"/>
                </a:cubicBezTo>
                <a:cubicBezTo>
                  <a:pt x="238497" y="235744"/>
                  <a:pt x="232023" y="236711"/>
                  <a:pt x="227186" y="240357"/>
                </a:cubicBezTo>
                <a:lnTo>
                  <a:pt x="184472" y="272355"/>
                </a:lnTo>
                <a:lnTo>
                  <a:pt x="184472" y="381000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35050" y="2314575"/>
            <a:ext cx="2755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la empleabilidad de los trabajadores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50214" y="1428750"/>
            <a:ext cx="3695700" cy="2286000"/>
          </a:xfrm>
          <a:custGeom>
            <a:avLst/>
            <a:gdLst/>
            <a:ahLst/>
            <a:cxnLst/>
            <a:rect l="l" t="t" r="r" b="b"/>
            <a:pathLst>
              <a:path w="3695700" h="2286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184410"/>
                </a:lnTo>
                <a:cubicBezTo>
                  <a:pt x="3695700" y="2240517"/>
                  <a:pt x="3650217" y="2286000"/>
                  <a:pt x="35941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520089" y="2378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8828" y="35719"/>
                </a:moveTo>
                <a:lnTo>
                  <a:pt x="232172" y="35719"/>
                </a:lnTo>
                <a:cubicBezTo>
                  <a:pt x="235446" y="35719"/>
                  <a:pt x="238125" y="38398"/>
                  <a:pt x="238125" y="41672"/>
                </a:cubicBezTo>
                <a:lnTo>
                  <a:pt x="238125" y="71438"/>
                </a:lnTo>
                <a:lnTo>
                  <a:pt x="142875" y="71438"/>
                </a:lnTo>
                <a:lnTo>
                  <a:pt x="142875" y="41672"/>
                </a:lnTo>
                <a:cubicBezTo>
                  <a:pt x="142875" y="38398"/>
                  <a:pt x="145554" y="35719"/>
                  <a:pt x="148828" y="35719"/>
                </a:cubicBezTo>
                <a:close/>
                <a:moveTo>
                  <a:pt x="107156" y="41672"/>
                </a:moveTo>
                <a:lnTo>
                  <a:pt x="107156" y="71438"/>
                </a:lnTo>
                <a:lnTo>
                  <a:pt x="47625" y="71438"/>
                </a:lnTo>
                <a:cubicBezTo>
                  <a:pt x="21357" y="71438"/>
                  <a:pt x="0" y="92794"/>
                  <a:pt x="0" y="119063"/>
                </a:cubicBezTo>
                <a:lnTo>
                  <a:pt x="0" y="190500"/>
                </a:lnTo>
                <a:lnTo>
                  <a:pt x="381000" y="190500"/>
                </a:lnTo>
                <a:lnTo>
                  <a:pt x="381000" y="119063"/>
                </a:lnTo>
                <a:cubicBezTo>
                  <a:pt x="381000" y="92794"/>
                  <a:pt x="359643" y="71438"/>
                  <a:pt x="333375" y="71438"/>
                </a:cubicBezTo>
                <a:lnTo>
                  <a:pt x="273844" y="71438"/>
                </a:lnTo>
                <a:lnTo>
                  <a:pt x="273844" y="41672"/>
                </a:lnTo>
                <a:cubicBezTo>
                  <a:pt x="273844" y="18678"/>
                  <a:pt x="255166" y="0"/>
                  <a:pt x="232172" y="0"/>
                </a:cubicBezTo>
                <a:lnTo>
                  <a:pt x="148828" y="0"/>
                </a:lnTo>
                <a:cubicBezTo>
                  <a:pt x="125834" y="0"/>
                  <a:pt x="107156" y="18678"/>
                  <a:pt x="107156" y="41672"/>
                </a:cubicBezTo>
                <a:close/>
                <a:moveTo>
                  <a:pt x="381000" y="226219"/>
                </a:moveTo>
                <a:lnTo>
                  <a:pt x="238125" y="226219"/>
                </a:lnTo>
                <a:lnTo>
                  <a:pt x="238125" y="238125"/>
                </a:lnTo>
                <a:cubicBezTo>
                  <a:pt x="238125" y="251296"/>
                  <a:pt x="227484" y="261938"/>
                  <a:pt x="214313" y="261938"/>
                </a:cubicBezTo>
                <a:lnTo>
                  <a:pt x="166688" y="261938"/>
                </a:lnTo>
                <a:cubicBezTo>
                  <a:pt x="153516" y="261938"/>
                  <a:pt x="142875" y="251296"/>
                  <a:pt x="142875" y="238125"/>
                </a:cubicBezTo>
                <a:lnTo>
                  <a:pt x="142875" y="226219"/>
                </a:lnTo>
                <a:lnTo>
                  <a:pt x="0" y="226219"/>
                </a:ln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333375" y="357188"/>
                </a:lnTo>
                <a:cubicBezTo>
                  <a:pt x="359643" y="357188"/>
                  <a:pt x="381000" y="335831"/>
                  <a:pt x="381000" y="309563"/>
                </a:cubicBezTo>
                <a:lnTo>
                  <a:pt x="381000" y="226219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164614" y="2441575"/>
            <a:ext cx="295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Facilitar la inserción laboral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46428" y="1428750"/>
            <a:ext cx="3695700" cy="2286000"/>
          </a:xfrm>
          <a:custGeom>
            <a:avLst/>
            <a:gdLst/>
            <a:ahLst/>
            <a:cxnLst/>
            <a:rect l="l" t="t" r="r" b="b"/>
            <a:pathLst>
              <a:path w="3695700" h="2286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184410"/>
                </a:lnTo>
                <a:cubicBezTo>
                  <a:pt x="3695700" y="2240517"/>
                  <a:pt x="3650217" y="2286000"/>
                  <a:pt x="35941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FFC200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494871" y="2378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117965" y="2314575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Fomentar la creación de empleo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" y="3911600"/>
            <a:ext cx="3695700" cy="2286000"/>
          </a:xfrm>
          <a:custGeom>
            <a:avLst/>
            <a:gdLst/>
            <a:ahLst/>
            <a:cxnLst/>
            <a:rect l="l" t="t" r="r" b="b"/>
            <a:pathLst>
              <a:path w="3695700" h="2286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184410"/>
                </a:lnTo>
                <a:cubicBezTo>
                  <a:pt x="3695700" y="2240517"/>
                  <a:pt x="3650217" y="2286000"/>
                  <a:pt x="35941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09575" y="4860925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85750" y="23812"/>
                </a:moveTo>
                <a:lnTo>
                  <a:pt x="381000" y="23812"/>
                </a:lnTo>
                <a:cubicBezTo>
                  <a:pt x="394171" y="23812"/>
                  <a:pt x="404813" y="34454"/>
                  <a:pt x="404813" y="47625"/>
                </a:cubicBezTo>
                <a:cubicBezTo>
                  <a:pt x="404813" y="60796"/>
                  <a:pt x="394171" y="71438"/>
                  <a:pt x="381000" y="71438"/>
                </a:cubicBezTo>
                <a:lnTo>
                  <a:pt x="296466" y="71438"/>
                </a:lnTo>
                <a:cubicBezTo>
                  <a:pt x="292596" y="90636"/>
                  <a:pt x="279425" y="106487"/>
                  <a:pt x="261938" y="114077"/>
                </a:cubicBezTo>
                <a:lnTo>
                  <a:pt x="261938" y="333375"/>
                </a:lnTo>
                <a:lnTo>
                  <a:pt x="381000" y="333375"/>
                </a:lnTo>
                <a:cubicBezTo>
                  <a:pt x="394171" y="333375"/>
                  <a:pt x="404813" y="344016"/>
                  <a:pt x="404813" y="357188"/>
                </a:cubicBezTo>
                <a:cubicBezTo>
                  <a:pt x="404813" y="370359"/>
                  <a:pt x="394171" y="381000"/>
                  <a:pt x="381000" y="381000"/>
                </a:cubicBezTo>
                <a:lnTo>
                  <a:pt x="95250" y="381000"/>
                </a:lnTo>
                <a:cubicBezTo>
                  <a:pt x="82079" y="381000"/>
                  <a:pt x="71438" y="370359"/>
                  <a:pt x="71438" y="357188"/>
                </a:cubicBezTo>
                <a:cubicBezTo>
                  <a:pt x="71438" y="344016"/>
                  <a:pt x="82079" y="333375"/>
                  <a:pt x="95250" y="333375"/>
                </a:cubicBezTo>
                <a:lnTo>
                  <a:pt x="214313" y="333375"/>
                </a:lnTo>
                <a:lnTo>
                  <a:pt x="214313" y="114077"/>
                </a:lnTo>
                <a:cubicBezTo>
                  <a:pt x="196825" y="106412"/>
                  <a:pt x="183654" y="90562"/>
                  <a:pt x="179784" y="71438"/>
                </a:cubicBezTo>
                <a:lnTo>
                  <a:pt x="95250" y="71438"/>
                </a:lnTo>
                <a:cubicBezTo>
                  <a:pt x="82079" y="71438"/>
                  <a:pt x="71438" y="60796"/>
                  <a:pt x="71438" y="47625"/>
                </a:cubicBezTo>
                <a:cubicBezTo>
                  <a:pt x="71438" y="34454"/>
                  <a:pt x="82079" y="23812"/>
                  <a:pt x="95250" y="23812"/>
                </a:cubicBezTo>
                <a:lnTo>
                  <a:pt x="190500" y="23812"/>
                </a:lnTo>
                <a:cubicBezTo>
                  <a:pt x="201364" y="9376"/>
                  <a:pt x="218629" y="0"/>
                  <a:pt x="238125" y="0"/>
                </a:cubicBezTo>
                <a:cubicBezTo>
                  <a:pt x="257621" y="0"/>
                  <a:pt x="274886" y="9376"/>
                  <a:pt x="285750" y="23812"/>
                </a:cubicBezTo>
                <a:close/>
                <a:moveTo>
                  <a:pt x="327124" y="238125"/>
                </a:moveTo>
                <a:lnTo>
                  <a:pt x="434876" y="238125"/>
                </a:lnTo>
                <a:lnTo>
                  <a:pt x="381000" y="145703"/>
                </a:lnTo>
                <a:lnTo>
                  <a:pt x="327124" y="238125"/>
                </a:lnTo>
                <a:close/>
                <a:moveTo>
                  <a:pt x="381000" y="309563"/>
                </a:moveTo>
                <a:cubicBezTo>
                  <a:pt x="334194" y="309563"/>
                  <a:pt x="295275" y="284262"/>
                  <a:pt x="287238" y="250850"/>
                </a:cubicBezTo>
                <a:cubicBezTo>
                  <a:pt x="285304" y="242664"/>
                  <a:pt x="287982" y="234255"/>
                  <a:pt x="292224" y="226963"/>
                </a:cubicBezTo>
                <a:lnTo>
                  <a:pt x="363066" y="105519"/>
                </a:lnTo>
                <a:cubicBezTo>
                  <a:pt x="366787" y="99120"/>
                  <a:pt x="373633" y="95250"/>
                  <a:pt x="381000" y="95250"/>
                </a:cubicBezTo>
                <a:cubicBezTo>
                  <a:pt x="388367" y="95250"/>
                  <a:pt x="395213" y="99194"/>
                  <a:pt x="398934" y="105519"/>
                </a:cubicBezTo>
                <a:lnTo>
                  <a:pt x="469776" y="226963"/>
                </a:lnTo>
                <a:cubicBezTo>
                  <a:pt x="474018" y="234255"/>
                  <a:pt x="476696" y="242664"/>
                  <a:pt x="474762" y="250850"/>
                </a:cubicBezTo>
                <a:cubicBezTo>
                  <a:pt x="466725" y="284187"/>
                  <a:pt x="427806" y="309563"/>
                  <a:pt x="381000" y="309563"/>
                </a:cubicBezTo>
                <a:close/>
                <a:moveTo>
                  <a:pt x="94357" y="145703"/>
                </a:moveTo>
                <a:lnTo>
                  <a:pt x="40481" y="238125"/>
                </a:lnTo>
                <a:lnTo>
                  <a:pt x="148307" y="238125"/>
                </a:lnTo>
                <a:lnTo>
                  <a:pt x="94357" y="145703"/>
                </a:lnTo>
                <a:close/>
                <a:moveTo>
                  <a:pt x="670" y="250850"/>
                </a:moveTo>
                <a:cubicBezTo>
                  <a:pt x="-1265" y="242664"/>
                  <a:pt x="1414" y="234255"/>
                  <a:pt x="5655" y="226963"/>
                </a:cubicBezTo>
                <a:lnTo>
                  <a:pt x="76498" y="105519"/>
                </a:lnTo>
                <a:cubicBezTo>
                  <a:pt x="80218" y="99120"/>
                  <a:pt x="87064" y="95250"/>
                  <a:pt x="94431" y="95250"/>
                </a:cubicBezTo>
                <a:cubicBezTo>
                  <a:pt x="101798" y="95250"/>
                  <a:pt x="108645" y="99194"/>
                  <a:pt x="112365" y="105519"/>
                </a:cubicBezTo>
                <a:lnTo>
                  <a:pt x="183207" y="226963"/>
                </a:lnTo>
                <a:cubicBezTo>
                  <a:pt x="187449" y="234255"/>
                  <a:pt x="190128" y="242664"/>
                  <a:pt x="188193" y="250850"/>
                </a:cubicBezTo>
                <a:cubicBezTo>
                  <a:pt x="180156" y="284187"/>
                  <a:pt x="141238" y="309563"/>
                  <a:pt x="94431" y="309563"/>
                </a:cubicBezTo>
                <a:cubicBezTo>
                  <a:pt x="47625" y="309563"/>
                  <a:pt x="8706" y="284262"/>
                  <a:pt x="670" y="25085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035050" y="4797425"/>
            <a:ext cx="2755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Promover la igualdad de oportunidades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0214" y="3911600"/>
            <a:ext cx="3695700" cy="2286000"/>
          </a:xfrm>
          <a:custGeom>
            <a:avLst/>
            <a:gdLst/>
            <a:ahLst/>
            <a:cxnLst/>
            <a:rect l="l" t="t" r="r" b="b"/>
            <a:pathLst>
              <a:path w="3695700" h="2286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184410"/>
                </a:lnTo>
                <a:cubicBezTo>
                  <a:pt x="3695700" y="2240517"/>
                  <a:pt x="3650217" y="2286000"/>
                  <a:pt x="35941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FFC200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465161" y="4860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54759" y="4797425"/>
            <a:ext cx="273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Adaptar oferta y demanda de trabajo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46428" y="3911600"/>
            <a:ext cx="3695700" cy="2286000"/>
          </a:xfrm>
          <a:custGeom>
            <a:avLst/>
            <a:gdLst/>
            <a:ahLst/>
            <a:cxnLst/>
            <a:rect l="l" t="t" r="r" b="b"/>
            <a:pathLst>
              <a:path w="3695700" h="2286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184410"/>
                </a:lnTo>
                <a:cubicBezTo>
                  <a:pt x="3695700" y="2240517"/>
                  <a:pt x="3650217" y="2286000"/>
                  <a:pt x="35941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8402003" y="4860925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027478" y="4797425"/>
            <a:ext cx="2755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el funcionamiento del mercado laboral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3815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PAE vs. Políticas Pasivas: Enfoques Complementarios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11651" y="1200150"/>
            <a:ext cx="4864100" cy="4762500"/>
          </a:xfrm>
          <a:custGeom>
            <a:avLst/>
            <a:gdLst/>
            <a:ahLst/>
            <a:cxnLst/>
            <a:rect l="l" t="t" r="r" b="b"/>
            <a:pathLst>
              <a:path w="4864100" h="4762500">
                <a:moveTo>
                  <a:pt x="152400" y="0"/>
                </a:moveTo>
                <a:lnTo>
                  <a:pt x="4711700" y="0"/>
                </a:lnTo>
                <a:cubicBezTo>
                  <a:pt x="4795812" y="0"/>
                  <a:pt x="4864100" y="68288"/>
                  <a:pt x="4864100" y="152400"/>
                </a:cubicBezTo>
                <a:lnTo>
                  <a:pt x="4864100" y="4610100"/>
                </a:lnTo>
                <a:cubicBezTo>
                  <a:pt x="4864100" y="4694212"/>
                  <a:pt x="4795812" y="4762500"/>
                  <a:pt x="4711700" y="4762500"/>
                </a:cubicBezTo>
                <a:lnTo>
                  <a:pt x="152400" y="4762500"/>
                </a:lnTo>
                <a:cubicBezTo>
                  <a:pt x="68288" y="4762500"/>
                  <a:pt x="0" y="4694212"/>
                  <a:pt x="0" y="461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60851" y="1403350"/>
            <a:ext cx="4965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Activas (PAE)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3751" y="2002631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74523" y="6042"/>
                </a:moveTo>
                <a:cubicBezTo>
                  <a:pt x="70182" y="1702"/>
                  <a:pt x="63133" y="1702"/>
                  <a:pt x="58792" y="6042"/>
                </a:cubicBezTo>
                <a:lnTo>
                  <a:pt x="3230" y="61605"/>
                </a:lnTo>
                <a:cubicBezTo>
                  <a:pt x="-1111" y="65946"/>
                  <a:pt x="-1111" y="72995"/>
                  <a:pt x="3230" y="77336"/>
                </a:cubicBezTo>
                <a:cubicBezTo>
                  <a:pt x="7570" y="81677"/>
                  <a:pt x="14620" y="81677"/>
                  <a:pt x="18961" y="77336"/>
                </a:cubicBezTo>
                <a:lnTo>
                  <a:pt x="55563" y="40734"/>
                </a:lnTo>
                <a:lnTo>
                  <a:pt x="55563" y="169466"/>
                </a:lnTo>
                <a:cubicBezTo>
                  <a:pt x="55563" y="175612"/>
                  <a:pt x="60528" y="180578"/>
                  <a:pt x="66675" y="180578"/>
                </a:cubicBezTo>
                <a:cubicBezTo>
                  <a:pt x="72822" y="180578"/>
                  <a:pt x="77788" y="175612"/>
                  <a:pt x="77788" y="169466"/>
                </a:cubicBezTo>
                <a:lnTo>
                  <a:pt x="77788" y="40734"/>
                </a:lnTo>
                <a:lnTo>
                  <a:pt x="114389" y="77336"/>
                </a:lnTo>
                <a:cubicBezTo>
                  <a:pt x="118730" y="81677"/>
                  <a:pt x="125780" y="81677"/>
                  <a:pt x="130120" y="77336"/>
                </a:cubicBezTo>
                <a:cubicBezTo>
                  <a:pt x="134461" y="72995"/>
                  <a:pt x="134461" y="65946"/>
                  <a:pt x="130120" y="61605"/>
                </a:cubicBezTo>
                <a:lnTo>
                  <a:pt x="74558" y="6042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19651" y="1961992"/>
            <a:ext cx="316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Objetivo: Activación y empleabilidad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526" y="235823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019651" y="2317592"/>
            <a:ext cx="306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Enfoque: Preventivo y de activación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509" y="271383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77822" y="33719"/>
                </a:moveTo>
                <a:lnTo>
                  <a:pt x="77822" y="50944"/>
                </a:lnTo>
                <a:lnTo>
                  <a:pt x="77996" y="51117"/>
                </a:lnTo>
                <a:cubicBezTo>
                  <a:pt x="80253" y="22503"/>
                  <a:pt x="104180" y="0"/>
                  <a:pt x="133385" y="0"/>
                </a:cubicBezTo>
                <a:cubicBezTo>
                  <a:pt x="140365" y="0"/>
                  <a:pt x="147067" y="1285"/>
                  <a:pt x="153214" y="3646"/>
                </a:cubicBezTo>
                <a:cubicBezTo>
                  <a:pt x="156686" y="4966"/>
                  <a:pt x="157311" y="9376"/>
                  <a:pt x="154707" y="12015"/>
                </a:cubicBezTo>
                <a:lnTo>
                  <a:pt x="123904" y="42818"/>
                </a:lnTo>
                <a:cubicBezTo>
                  <a:pt x="122863" y="43860"/>
                  <a:pt x="122272" y="45283"/>
                  <a:pt x="122272" y="46742"/>
                </a:cubicBezTo>
                <a:lnTo>
                  <a:pt x="122272" y="61119"/>
                </a:lnTo>
                <a:cubicBezTo>
                  <a:pt x="122272" y="64175"/>
                  <a:pt x="124773" y="66675"/>
                  <a:pt x="127828" y="66675"/>
                </a:cubicBezTo>
                <a:lnTo>
                  <a:pt x="142205" y="66675"/>
                </a:lnTo>
                <a:cubicBezTo>
                  <a:pt x="143664" y="66675"/>
                  <a:pt x="145088" y="66085"/>
                  <a:pt x="146129" y="65043"/>
                </a:cubicBezTo>
                <a:lnTo>
                  <a:pt x="176932" y="34240"/>
                </a:lnTo>
                <a:cubicBezTo>
                  <a:pt x="179571" y="31601"/>
                  <a:pt x="183981" y="32261"/>
                  <a:pt x="185301" y="35734"/>
                </a:cubicBezTo>
                <a:cubicBezTo>
                  <a:pt x="187662" y="41880"/>
                  <a:pt x="188947" y="48582"/>
                  <a:pt x="188947" y="55563"/>
                </a:cubicBezTo>
                <a:cubicBezTo>
                  <a:pt x="188947" y="76607"/>
                  <a:pt x="177244" y="94942"/>
                  <a:pt x="159951" y="104353"/>
                </a:cubicBezTo>
                <a:lnTo>
                  <a:pt x="188253" y="132655"/>
                </a:lnTo>
                <a:cubicBezTo>
                  <a:pt x="194747" y="139149"/>
                  <a:pt x="194747" y="149706"/>
                  <a:pt x="188253" y="156235"/>
                </a:cubicBezTo>
                <a:lnTo>
                  <a:pt x="167382" y="177105"/>
                </a:lnTo>
                <a:cubicBezTo>
                  <a:pt x="160888" y="183599"/>
                  <a:pt x="150331" y="183599"/>
                  <a:pt x="143803" y="177105"/>
                </a:cubicBezTo>
                <a:lnTo>
                  <a:pt x="100047" y="133350"/>
                </a:lnTo>
                <a:cubicBezTo>
                  <a:pt x="90532" y="123835"/>
                  <a:pt x="88379" y="109771"/>
                  <a:pt x="93623" y="98172"/>
                </a:cubicBezTo>
                <a:lnTo>
                  <a:pt x="62126" y="66675"/>
                </a:lnTo>
                <a:lnTo>
                  <a:pt x="44901" y="66675"/>
                </a:lnTo>
                <a:cubicBezTo>
                  <a:pt x="41186" y="66675"/>
                  <a:pt x="37713" y="64834"/>
                  <a:pt x="35664" y="61744"/>
                </a:cubicBezTo>
                <a:lnTo>
                  <a:pt x="8126" y="20454"/>
                </a:lnTo>
                <a:cubicBezTo>
                  <a:pt x="6668" y="18266"/>
                  <a:pt x="6945" y="15314"/>
                  <a:pt x="8821" y="13439"/>
                </a:cubicBezTo>
                <a:lnTo>
                  <a:pt x="24586" y="-2327"/>
                </a:lnTo>
                <a:cubicBezTo>
                  <a:pt x="26462" y="-4202"/>
                  <a:pt x="29379" y="-4480"/>
                  <a:pt x="31601" y="-3021"/>
                </a:cubicBezTo>
                <a:lnTo>
                  <a:pt x="72891" y="24482"/>
                </a:lnTo>
                <a:cubicBezTo>
                  <a:pt x="75982" y="26531"/>
                  <a:pt x="77822" y="30004"/>
                  <a:pt x="77822" y="33719"/>
                </a:cubicBezTo>
                <a:close/>
                <a:moveTo>
                  <a:pt x="74870" y="102999"/>
                </a:moveTo>
                <a:cubicBezTo>
                  <a:pt x="72683" y="115848"/>
                  <a:pt x="75704" y="129426"/>
                  <a:pt x="84038" y="140295"/>
                </a:cubicBezTo>
                <a:lnTo>
                  <a:pt x="51048" y="173251"/>
                </a:lnTo>
                <a:cubicBezTo>
                  <a:pt x="41290" y="183009"/>
                  <a:pt x="25455" y="183009"/>
                  <a:pt x="15696" y="173251"/>
                </a:cubicBezTo>
                <a:cubicBezTo>
                  <a:pt x="5938" y="163493"/>
                  <a:pt x="5938" y="147657"/>
                  <a:pt x="15696" y="137899"/>
                </a:cubicBezTo>
                <a:lnTo>
                  <a:pt x="62716" y="90879"/>
                </a:lnTo>
                <a:lnTo>
                  <a:pt x="74870" y="103034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15841" y="2673192"/>
            <a:ext cx="416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Instrumentos: Formación, orientación, incentivos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9301" y="3323431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47228" y="44450"/>
                </a:moveTo>
                <a:cubicBezTo>
                  <a:pt x="47228" y="21451"/>
                  <a:pt x="65901" y="2778"/>
                  <a:pt x="88900" y="2778"/>
                </a:cubicBezTo>
                <a:cubicBezTo>
                  <a:pt x="111899" y="2778"/>
                  <a:pt x="130572" y="21451"/>
                  <a:pt x="130572" y="44450"/>
                </a:cubicBezTo>
                <a:cubicBezTo>
                  <a:pt x="130572" y="67449"/>
                  <a:pt x="111899" y="86122"/>
                  <a:pt x="88900" y="86122"/>
                </a:cubicBezTo>
                <a:cubicBezTo>
                  <a:pt x="65901" y="86122"/>
                  <a:pt x="47228" y="67449"/>
                  <a:pt x="47228" y="44450"/>
                </a:cubicBezTo>
                <a:close/>
                <a:moveTo>
                  <a:pt x="16669" y="167486"/>
                </a:moveTo>
                <a:cubicBezTo>
                  <a:pt x="16669" y="133281"/>
                  <a:pt x="44381" y="105569"/>
                  <a:pt x="78586" y="105569"/>
                </a:cubicBezTo>
                <a:lnTo>
                  <a:pt x="99214" y="105569"/>
                </a:lnTo>
                <a:cubicBezTo>
                  <a:pt x="133419" y="105569"/>
                  <a:pt x="161131" y="133281"/>
                  <a:pt x="161131" y="167486"/>
                </a:cubicBezTo>
                <a:cubicBezTo>
                  <a:pt x="161131" y="173181"/>
                  <a:pt x="156513" y="177800"/>
                  <a:pt x="150817" y="177800"/>
                </a:cubicBezTo>
                <a:lnTo>
                  <a:pt x="26983" y="177800"/>
                </a:lnTo>
                <a:cubicBezTo>
                  <a:pt x="21287" y="177800"/>
                  <a:pt x="16669" y="173181"/>
                  <a:pt x="16669" y="167486"/>
                </a:cubicBezTo>
                <a:close/>
                <a:moveTo>
                  <a:pt x="212665" y="46082"/>
                </a:moveTo>
                <a:lnTo>
                  <a:pt x="184884" y="90532"/>
                </a:lnTo>
                <a:cubicBezTo>
                  <a:pt x="183426" y="92859"/>
                  <a:pt x="180925" y="94317"/>
                  <a:pt x="178182" y="94456"/>
                </a:cubicBezTo>
                <a:cubicBezTo>
                  <a:pt x="175439" y="94595"/>
                  <a:pt x="172799" y="93345"/>
                  <a:pt x="171167" y="91122"/>
                </a:cubicBezTo>
                <a:lnTo>
                  <a:pt x="154498" y="68897"/>
                </a:lnTo>
                <a:cubicBezTo>
                  <a:pt x="151720" y="65216"/>
                  <a:pt x="152484" y="60008"/>
                  <a:pt x="156165" y="57229"/>
                </a:cubicBezTo>
                <a:cubicBezTo>
                  <a:pt x="159846" y="54451"/>
                  <a:pt x="165055" y="55215"/>
                  <a:pt x="167833" y="58896"/>
                </a:cubicBezTo>
                <a:lnTo>
                  <a:pt x="177210" y="71398"/>
                </a:lnTo>
                <a:lnTo>
                  <a:pt x="198532" y="37262"/>
                </a:lnTo>
                <a:cubicBezTo>
                  <a:pt x="200963" y="33372"/>
                  <a:pt x="206102" y="32157"/>
                  <a:pt x="210026" y="34622"/>
                </a:cubicBezTo>
                <a:cubicBezTo>
                  <a:pt x="213950" y="37088"/>
                  <a:pt x="215131" y="42193"/>
                  <a:pt x="212665" y="46117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019651" y="3282792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Participación: Activa del desempleado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95181" y="1200150"/>
            <a:ext cx="9144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11804" y="1200150"/>
            <a:ext cx="4864100" cy="4762500"/>
          </a:xfrm>
          <a:custGeom>
            <a:avLst/>
            <a:gdLst/>
            <a:ahLst/>
            <a:cxnLst/>
            <a:rect l="l" t="t" r="r" b="b"/>
            <a:pathLst>
              <a:path w="4864100" h="4762500">
                <a:moveTo>
                  <a:pt x="152400" y="0"/>
                </a:moveTo>
                <a:lnTo>
                  <a:pt x="4711700" y="0"/>
                </a:lnTo>
                <a:cubicBezTo>
                  <a:pt x="4795812" y="0"/>
                  <a:pt x="4864100" y="68288"/>
                  <a:pt x="4864100" y="152400"/>
                </a:cubicBezTo>
                <a:lnTo>
                  <a:pt x="4864100" y="4610100"/>
                </a:lnTo>
                <a:cubicBezTo>
                  <a:pt x="4864100" y="4694212"/>
                  <a:pt x="4795812" y="4762500"/>
                  <a:pt x="4711700" y="4762500"/>
                </a:cubicBezTo>
                <a:lnTo>
                  <a:pt x="152400" y="4762500"/>
                </a:lnTo>
                <a:cubicBezTo>
                  <a:pt x="68288" y="4762500"/>
                  <a:pt x="0" y="4694212"/>
                  <a:pt x="0" y="461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761004" y="1403350"/>
            <a:ext cx="4965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Pasivas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70566" y="200263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0013" y="-5556"/>
                </a:moveTo>
                <a:cubicBezTo>
                  <a:pt x="95394" y="-5556"/>
                  <a:pt x="91678" y="-1841"/>
                  <a:pt x="91678" y="2778"/>
                </a:cubicBezTo>
                <a:lnTo>
                  <a:pt x="91678" y="6945"/>
                </a:lnTo>
                <a:lnTo>
                  <a:pt x="91053" y="6945"/>
                </a:lnTo>
                <a:cubicBezTo>
                  <a:pt x="78343" y="6945"/>
                  <a:pt x="68064" y="17259"/>
                  <a:pt x="68064" y="29934"/>
                </a:cubicBezTo>
                <a:cubicBezTo>
                  <a:pt x="68064" y="41533"/>
                  <a:pt x="76711" y="51326"/>
                  <a:pt x="88205" y="52750"/>
                </a:cubicBezTo>
                <a:lnTo>
                  <a:pt x="109389" y="55389"/>
                </a:lnTo>
                <a:cubicBezTo>
                  <a:pt x="111160" y="55597"/>
                  <a:pt x="112514" y="57125"/>
                  <a:pt x="112514" y="58931"/>
                </a:cubicBezTo>
                <a:cubicBezTo>
                  <a:pt x="112514" y="60910"/>
                  <a:pt x="110917" y="62473"/>
                  <a:pt x="108972" y="62473"/>
                </a:cubicBezTo>
                <a:lnTo>
                  <a:pt x="83344" y="62508"/>
                </a:lnTo>
                <a:cubicBezTo>
                  <a:pt x="77961" y="62508"/>
                  <a:pt x="73620" y="66849"/>
                  <a:pt x="73620" y="72231"/>
                </a:cubicBezTo>
                <a:cubicBezTo>
                  <a:pt x="73620" y="77614"/>
                  <a:pt x="77961" y="81955"/>
                  <a:pt x="83344" y="81955"/>
                </a:cubicBezTo>
                <a:lnTo>
                  <a:pt x="91678" y="81955"/>
                </a:lnTo>
                <a:lnTo>
                  <a:pt x="91678" y="86122"/>
                </a:lnTo>
                <a:cubicBezTo>
                  <a:pt x="91678" y="90741"/>
                  <a:pt x="95394" y="94456"/>
                  <a:pt x="100013" y="94456"/>
                </a:cubicBezTo>
                <a:cubicBezTo>
                  <a:pt x="104631" y="94456"/>
                  <a:pt x="108347" y="90741"/>
                  <a:pt x="108347" y="86122"/>
                </a:cubicBezTo>
                <a:lnTo>
                  <a:pt x="108347" y="81955"/>
                </a:lnTo>
                <a:lnTo>
                  <a:pt x="108972" y="81955"/>
                </a:lnTo>
                <a:cubicBezTo>
                  <a:pt x="121682" y="81955"/>
                  <a:pt x="131961" y="71641"/>
                  <a:pt x="131961" y="58966"/>
                </a:cubicBezTo>
                <a:cubicBezTo>
                  <a:pt x="131961" y="47367"/>
                  <a:pt x="123314" y="37574"/>
                  <a:pt x="111820" y="36150"/>
                </a:cubicBezTo>
                <a:lnTo>
                  <a:pt x="90636" y="33511"/>
                </a:lnTo>
                <a:cubicBezTo>
                  <a:pt x="88865" y="33303"/>
                  <a:pt x="87511" y="31775"/>
                  <a:pt x="87511" y="29969"/>
                </a:cubicBezTo>
                <a:cubicBezTo>
                  <a:pt x="87511" y="27990"/>
                  <a:pt x="89108" y="26427"/>
                  <a:pt x="91053" y="26427"/>
                </a:cubicBezTo>
                <a:lnTo>
                  <a:pt x="113903" y="26392"/>
                </a:lnTo>
                <a:cubicBezTo>
                  <a:pt x="119286" y="26392"/>
                  <a:pt x="123627" y="22051"/>
                  <a:pt x="123627" y="16669"/>
                </a:cubicBezTo>
                <a:cubicBezTo>
                  <a:pt x="123627" y="11286"/>
                  <a:pt x="119286" y="6945"/>
                  <a:pt x="113903" y="6945"/>
                </a:cubicBezTo>
                <a:lnTo>
                  <a:pt x="108347" y="6945"/>
                </a:lnTo>
                <a:lnTo>
                  <a:pt x="108347" y="2778"/>
                </a:lnTo>
                <a:cubicBezTo>
                  <a:pt x="108347" y="-1841"/>
                  <a:pt x="104631" y="-5556"/>
                  <a:pt x="100013" y="-5556"/>
                </a:cubicBezTo>
                <a:close/>
                <a:moveTo>
                  <a:pt x="37956" y="118591"/>
                </a:moveTo>
                <a:lnTo>
                  <a:pt x="23163" y="133350"/>
                </a:lnTo>
                <a:lnTo>
                  <a:pt x="11112" y="133350"/>
                </a:lnTo>
                <a:cubicBezTo>
                  <a:pt x="4966" y="133350"/>
                  <a:pt x="0" y="138316"/>
                  <a:pt x="0" y="144463"/>
                </a:cubicBezTo>
                <a:lnTo>
                  <a:pt x="0" y="166688"/>
                </a:lnTo>
                <a:cubicBezTo>
                  <a:pt x="0" y="172834"/>
                  <a:pt x="4966" y="177800"/>
                  <a:pt x="11112" y="177800"/>
                </a:cubicBezTo>
                <a:lnTo>
                  <a:pt x="122411" y="177800"/>
                </a:lnTo>
                <a:cubicBezTo>
                  <a:pt x="132482" y="177800"/>
                  <a:pt x="142309" y="174570"/>
                  <a:pt x="150435" y="168597"/>
                </a:cubicBezTo>
                <a:lnTo>
                  <a:pt x="194399" y="136198"/>
                </a:lnTo>
                <a:cubicBezTo>
                  <a:pt x="200581" y="131648"/>
                  <a:pt x="201900" y="122967"/>
                  <a:pt x="197351" y="116785"/>
                </a:cubicBezTo>
                <a:cubicBezTo>
                  <a:pt x="192802" y="110604"/>
                  <a:pt x="184120" y="109284"/>
                  <a:pt x="177939" y="113834"/>
                </a:cubicBezTo>
                <a:lnTo>
                  <a:pt x="136336" y="144463"/>
                </a:lnTo>
                <a:lnTo>
                  <a:pt x="97234" y="144463"/>
                </a:lnTo>
                <a:cubicBezTo>
                  <a:pt x="92616" y="144463"/>
                  <a:pt x="88900" y="140747"/>
                  <a:pt x="88900" y="136128"/>
                </a:cubicBezTo>
                <a:cubicBezTo>
                  <a:pt x="88900" y="131509"/>
                  <a:pt x="92616" y="127794"/>
                  <a:pt x="97234" y="127794"/>
                </a:cubicBezTo>
                <a:lnTo>
                  <a:pt x="122238" y="127794"/>
                </a:lnTo>
                <a:cubicBezTo>
                  <a:pt x="128384" y="127794"/>
                  <a:pt x="133350" y="122828"/>
                  <a:pt x="133350" y="116681"/>
                </a:cubicBezTo>
                <a:cubicBezTo>
                  <a:pt x="133350" y="110535"/>
                  <a:pt x="128384" y="105569"/>
                  <a:pt x="122238" y="105569"/>
                </a:cubicBezTo>
                <a:lnTo>
                  <a:pt x="69384" y="105569"/>
                </a:lnTo>
                <a:cubicBezTo>
                  <a:pt x="57611" y="105569"/>
                  <a:pt x="46291" y="110257"/>
                  <a:pt x="37956" y="118591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319804" y="1961992"/>
            <a:ext cx="358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Objetivo: Protección económica temporal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70566" y="235823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61131" y="144463"/>
                </a:moveTo>
                <a:lnTo>
                  <a:pt x="177800" y="144463"/>
                </a:lnTo>
                <a:cubicBezTo>
                  <a:pt x="190058" y="144463"/>
                  <a:pt x="200025" y="134496"/>
                  <a:pt x="200025" y="122238"/>
                </a:cubicBezTo>
                <a:lnTo>
                  <a:pt x="200025" y="55563"/>
                </a:lnTo>
                <a:cubicBezTo>
                  <a:pt x="200025" y="43304"/>
                  <a:pt x="190058" y="33337"/>
                  <a:pt x="177800" y="33337"/>
                </a:cubicBezTo>
                <a:lnTo>
                  <a:pt x="161131" y="33337"/>
                </a:lnTo>
                <a:lnTo>
                  <a:pt x="161131" y="144463"/>
                </a:lnTo>
                <a:close/>
                <a:moveTo>
                  <a:pt x="144463" y="33337"/>
                </a:moveTo>
                <a:lnTo>
                  <a:pt x="55563" y="33337"/>
                </a:lnTo>
                <a:lnTo>
                  <a:pt x="55563" y="144463"/>
                </a:lnTo>
                <a:lnTo>
                  <a:pt x="144463" y="144463"/>
                </a:lnTo>
                <a:lnTo>
                  <a:pt x="144463" y="33337"/>
                </a:lnTo>
                <a:close/>
                <a:moveTo>
                  <a:pt x="22225" y="33337"/>
                </a:moveTo>
                <a:cubicBezTo>
                  <a:pt x="9967" y="33337"/>
                  <a:pt x="0" y="43304"/>
                  <a:pt x="0" y="55563"/>
                </a:cubicBezTo>
                <a:lnTo>
                  <a:pt x="0" y="122238"/>
                </a:lnTo>
                <a:cubicBezTo>
                  <a:pt x="0" y="134496"/>
                  <a:pt x="9967" y="144463"/>
                  <a:pt x="22225" y="144463"/>
                </a:cubicBezTo>
                <a:lnTo>
                  <a:pt x="38894" y="144463"/>
                </a:lnTo>
                <a:lnTo>
                  <a:pt x="38894" y="33337"/>
                </a:lnTo>
                <a:lnTo>
                  <a:pt x="22225" y="33337"/>
                </a:lnTo>
                <a:close/>
                <a:moveTo>
                  <a:pt x="75009" y="72231"/>
                </a:moveTo>
                <a:cubicBezTo>
                  <a:pt x="75009" y="67631"/>
                  <a:pt x="78744" y="63897"/>
                  <a:pt x="83344" y="63897"/>
                </a:cubicBezTo>
                <a:cubicBezTo>
                  <a:pt x="87944" y="63897"/>
                  <a:pt x="91678" y="67631"/>
                  <a:pt x="91678" y="72231"/>
                </a:cubicBezTo>
                <a:cubicBezTo>
                  <a:pt x="91678" y="76831"/>
                  <a:pt x="87944" y="80566"/>
                  <a:pt x="83344" y="80566"/>
                </a:cubicBezTo>
                <a:cubicBezTo>
                  <a:pt x="78744" y="80566"/>
                  <a:pt x="75009" y="76831"/>
                  <a:pt x="75009" y="72231"/>
                </a:cubicBezTo>
                <a:close/>
                <a:moveTo>
                  <a:pt x="116681" y="63897"/>
                </a:moveTo>
                <a:cubicBezTo>
                  <a:pt x="121281" y="63897"/>
                  <a:pt x="125016" y="67631"/>
                  <a:pt x="125016" y="72231"/>
                </a:cubicBezTo>
                <a:cubicBezTo>
                  <a:pt x="125016" y="76831"/>
                  <a:pt x="121281" y="80566"/>
                  <a:pt x="116681" y="80566"/>
                </a:cubicBezTo>
                <a:cubicBezTo>
                  <a:pt x="112081" y="80566"/>
                  <a:pt x="108347" y="76831"/>
                  <a:pt x="108347" y="72231"/>
                </a:cubicBezTo>
                <a:cubicBezTo>
                  <a:pt x="108347" y="67631"/>
                  <a:pt x="112081" y="63897"/>
                  <a:pt x="116681" y="63897"/>
                </a:cubicBezTo>
                <a:close/>
                <a:moveTo>
                  <a:pt x="75009" y="105569"/>
                </a:moveTo>
                <a:cubicBezTo>
                  <a:pt x="75009" y="100969"/>
                  <a:pt x="78744" y="97234"/>
                  <a:pt x="83344" y="97234"/>
                </a:cubicBezTo>
                <a:cubicBezTo>
                  <a:pt x="87944" y="97234"/>
                  <a:pt x="91678" y="100969"/>
                  <a:pt x="91678" y="105569"/>
                </a:cubicBezTo>
                <a:cubicBezTo>
                  <a:pt x="91678" y="110169"/>
                  <a:pt x="87944" y="113903"/>
                  <a:pt x="83344" y="113903"/>
                </a:cubicBezTo>
                <a:cubicBezTo>
                  <a:pt x="78744" y="113903"/>
                  <a:pt x="75009" y="110169"/>
                  <a:pt x="75009" y="105569"/>
                </a:cubicBezTo>
                <a:close/>
                <a:moveTo>
                  <a:pt x="116681" y="97234"/>
                </a:moveTo>
                <a:cubicBezTo>
                  <a:pt x="121281" y="97234"/>
                  <a:pt x="125016" y="100969"/>
                  <a:pt x="125016" y="105569"/>
                </a:cubicBezTo>
                <a:cubicBezTo>
                  <a:pt x="125016" y="110169"/>
                  <a:pt x="121281" y="113903"/>
                  <a:pt x="116681" y="113903"/>
                </a:cubicBezTo>
                <a:cubicBezTo>
                  <a:pt x="112081" y="113903"/>
                  <a:pt x="108347" y="110169"/>
                  <a:pt x="108347" y="105569"/>
                </a:cubicBezTo>
                <a:cubicBezTo>
                  <a:pt x="108347" y="100969"/>
                  <a:pt x="112081" y="97234"/>
                  <a:pt x="116681" y="97234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319804" y="2317592"/>
            <a:ext cx="288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Enfoque: Paliativo y de seguridad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81679" y="271383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145713"/>
                </a:moveTo>
                <a:lnTo>
                  <a:pt x="0" y="38026"/>
                </a:lnTo>
                <a:cubicBezTo>
                  <a:pt x="0" y="29969"/>
                  <a:pt x="8369" y="24621"/>
                  <a:pt x="16078" y="26913"/>
                </a:cubicBezTo>
                <a:cubicBezTo>
                  <a:pt x="46534" y="36011"/>
                  <a:pt x="68064" y="28823"/>
                  <a:pt x="89733" y="21600"/>
                </a:cubicBezTo>
                <a:cubicBezTo>
                  <a:pt x="112132" y="14134"/>
                  <a:pt x="134670" y="6633"/>
                  <a:pt x="167278" y="17051"/>
                </a:cubicBezTo>
                <a:cubicBezTo>
                  <a:pt x="173702" y="19100"/>
                  <a:pt x="177800" y="25316"/>
                  <a:pt x="177800" y="32087"/>
                </a:cubicBezTo>
                <a:lnTo>
                  <a:pt x="177800" y="139774"/>
                </a:lnTo>
                <a:cubicBezTo>
                  <a:pt x="177800" y="147831"/>
                  <a:pt x="169431" y="153179"/>
                  <a:pt x="161756" y="150887"/>
                </a:cubicBezTo>
                <a:cubicBezTo>
                  <a:pt x="131301" y="141789"/>
                  <a:pt x="109736" y="148977"/>
                  <a:pt x="88101" y="156200"/>
                </a:cubicBezTo>
                <a:cubicBezTo>
                  <a:pt x="65703" y="163666"/>
                  <a:pt x="43165" y="171167"/>
                  <a:pt x="10557" y="160749"/>
                </a:cubicBezTo>
                <a:cubicBezTo>
                  <a:pt x="4132" y="158700"/>
                  <a:pt x="35" y="152484"/>
                  <a:pt x="35" y="145713"/>
                </a:cubicBezTo>
                <a:close/>
                <a:moveTo>
                  <a:pt x="116681" y="88900"/>
                </a:moveTo>
                <a:cubicBezTo>
                  <a:pt x="116681" y="70495"/>
                  <a:pt x="104249" y="55563"/>
                  <a:pt x="88900" y="55563"/>
                </a:cubicBezTo>
                <a:cubicBezTo>
                  <a:pt x="73551" y="55563"/>
                  <a:pt x="61119" y="70495"/>
                  <a:pt x="61119" y="88900"/>
                </a:cubicBezTo>
                <a:cubicBezTo>
                  <a:pt x="61119" y="107305"/>
                  <a:pt x="73551" y="122238"/>
                  <a:pt x="88900" y="122238"/>
                </a:cubicBezTo>
                <a:cubicBezTo>
                  <a:pt x="104249" y="122238"/>
                  <a:pt x="116681" y="107305"/>
                  <a:pt x="116681" y="88900"/>
                </a:cubicBezTo>
                <a:close/>
                <a:moveTo>
                  <a:pt x="41672" y="143629"/>
                </a:moveTo>
                <a:cubicBezTo>
                  <a:pt x="43200" y="143629"/>
                  <a:pt x="44415" y="142309"/>
                  <a:pt x="44172" y="140816"/>
                </a:cubicBezTo>
                <a:cubicBezTo>
                  <a:pt x="42575" y="131162"/>
                  <a:pt x="34796" y="123627"/>
                  <a:pt x="25003" y="122411"/>
                </a:cubicBezTo>
                <a:cubicBezTo>
                  <a:pt x="23475" y="122238"/>
                  <a:pt x="22225" y="123488"/>
                  <a:pt x="22225" y="125016"/>
                </a:cubicBezTo>
                <a:lnTo>
                  <a:pt x="22225" y="138872"/>
                </a:lnTo>
                <a:cubicBezTo>
                  <a:pt x="22225" y="140122"/>
                  <a:pt x="23058" y="141233"/>
                  <a:pt x="24309" y="141545"/>
                </a:cubicBezTo>
                <a:cubicBezTo>
                  <a:pt x="30525" y="143004"/>
                  <a:pt x="36220" y="143664"/>
                  <a:pt x="41672" y="143664"/>
                </a:cubicBezTo>
                <a:close/>
                <a:moveTo>
                  <a:pt x="152276" y="125884"/>
                </a:moveTo>
                <a:cubicBezTo>
                  <a:pt x="154012" y="126162"/>
                  <a:pt x="155575" y="124842"/>
                  <a:pt x="155575" y="123106"/>
                </a:cubicBezTo>
                <a:lnTo>
                  <a:pt x="155575" y="108312"/>
                </a:lnTo>
                <a:cubicBezTo>
                  <a:pt x="155575" y="106784"/>
                  <a:pt x="154325" y="105499"/>
                  <a:pt x="152797" y="105708"/>
                </a:cubicBezTo>
                <a:cubicBezTo>
                  <a:pt x="144046" y="106784"/>
                  <a:pt x="136857" y="112966"/>
                  <a:pt x="134322" y="121196"/>
                </a:cubicBezTo>
                <a:cubicBezTo>
                  <a:pt x="133836" y="122828"/>
                  <a:pt x="135121" y="124356"/>
                  <a:pt x="136823" y="124391"/>
                </a:cubicBezTo>
                <a:cubicBezTo>
                  <a:pt x="141754" y="124529"/>
                  <a:pt x="146893" y="124981"/>
                  <a:pt x="152241" y="125884"/>
                </a:cubicBezTo>
                <a:close/>
                <a:moveTo>
                  <a:pt x="155575" y="52784"/>
                </a:moveTo>
                <a:lnTo>
                  <a:pt x="155575" y="38928"/>
                </a:lnTo>
                <a:cubicBezTo>
                  <a:pt x="155575" y="37678"/>
                  <a:pt x="154707" y="36567"/>
                  <a:pt x="153491" y="36255"/>
                </a:cubicBezTo>
                <a:cubicBezTo>
                  <a:pt x="147275" y="34796"/>
                  <a:pt x="141580" y="34136"/>
                  <a:pt x="136128" y="34136"/>
                </a:cubicBezTo>
                <a:cubicBezTo>
                  <a:pt x="134600" y="34136"/>
                  <a:pt x="133385" y="35456"/>
                  <a:pt x="133628" y="36949"/>
                </a:cubicBezTo>
                <a:cubicBezTo>
                  <a:pt x="135225" y="46603"/>
                  <a:pt x="143004" y="54139"/>
                  <a:pt x="152797" y="55354"/>
                </a:cubicBezTo>
                <a:cubicBezTo>
                  <a:pt x="154325" y="55528"/>
                  <a:pt x="155575" y="54278"/>
                  <a:pt x="155575" y="52750"/>
                </a:cubicBezTo>
                <a:close/>
                <a:moveTo>
                  <a:pt x="43478" y="56570"/>
                </a:moveTo>
                <a:cubicBezTo>
                  <a:pt x="43964" y="54937"/>
                  <a:pt x="42679" y="53409"/>
                  <a:pt x="40977" y="53375"/>
                </a:cubicBezTo>
                <a:cubicBezTo>
                  <a:pt x="36046" y="53236"/>
                  <a:pt x="30907" y="52784"/>
                  <a:pt x="25559" y="51881"/>
                </a:cubicBezTo>
                <a:cubicBezTo>
                  <a:pt x="23822" y="51604"/>
                  <a:pt x="22260" y="52923"/>
                  <a:pt x="22260" y="54660"/>
                </a:cubicBezTo>
                <a:lnTo>
                  <a:pt x="22225" y="69453"/>
                </a:lnTo>
                <a:cubicBezTo>
                  <a:pt x="22225" y="70981"/>
                  <a:pt x="23475" y="72266"/>
                  <a:pt x="25003" y="72058"/>
                </a:cubicBezTo>
                <a:cubicBezTo>
                  <a:pt x="33754" y="70981"/>
                  <a:pt x="40943" y="64800"/>
                  <a:pt x="43478" y="5657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319804" y="2673192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Instrumentos: Prestaciones, subsidios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70566" y="306943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77788" y="2778"/>
                </a:moveTo>
                <a:cubicBezTo>
                  <a:pt x="100787" y="2778"/>
                  <a:pt x="119459" y="21451"/>
                  <a:pt x="119459" y="44450"/>
                </a:cubicBezTo>
                <a:cubicBezTo>
                  <a:pt x="119459" y="67449"/>
                  <a:pt x="100787" y="86122"/>
                  <a:pt x="77788" y="86122"/>
                </a:cubicBezTo>
                <a:cubicBezTo>
                  <a:pt x="54788" y="86122"/>
                  <a:pt x="36116" y="67449"/>
                  <a:pt x="36116" y="44450"/>
                </a:cubicBezTo>
                <a:cubicBezTo>
                  <a:pt x="36116" y="21451"/>
                  <a:pt x="54788" y="2778"/>
                  <a:pt x="77787" y="2778"/>
                </a:cubicBezTo>
                <a:close/>
                <a:moveTo>
                  <a:pt x="67474" y="105569"/>
                </a:moveTo>
                <a:lnTo>
                  <a:pt x="88101" y="105569"/>
                </a:lnTo>
                <a:cubicBezTo>
                  <a:pt x="89456" y="105569"/>
                  <a:pt x="90845" y="105603"/>
                  <a:pt x="92199" y="105708"/>
                </a:cubicBezTo>
                <a:cubicBezTo>
                  <a:pt x="86573" y="115501"/>
                  <a:pt x="83344" y="126821"/>
                  <a:pt x="83344" y="138906"/>
                </a:cubicBezTo>
                <a:cubicBezTo>
                  <a:pt x="83344" y="153422"/>
                  <a:pt x="87997" y="166861"/>
                  <a:pt x="95845" y="177800"/>
                </a:cubicBezTo>
                <a:lnTo>
                  <a:pt x="15870" y="177800"/>
                </a:lnTo>
                <a:cubicBezTo>
                  <a:pt x="10175" y="177800"/>
                  <a:pt x="5556" y="173181"/>
                  <a:pt x="5556" y="167486"/>
                </a:cubicBezTo>
                <a:cubicBezTo>
                  <a:pt x="5556" y="133281"/>
                  <a:pt x="33268" y="105569"/>
                  <a:pt x="67474" y="105569"/>
                </a:cubicBezTo>
                <a:close/>
                <a:moveTo>
                  <a:pt x="100013" y="138906"/>
                </a:moveTo>
                <a:cubicBezTo>
                  <a:pt x="100013" y="111307"/>
                  <a:pt x="122420" y="88900"/>
                  <a:pt x="150019" y="88900"/>
                </a:cubicBezTo>
                <a:cubicBezTo>
                  <a:pt x="177618" y="88900"/>
                  <a:pt x="200025" y="111307"/>
                  <a:pt x="200025" y="138906"/>
                </a:cubicBezTo>
                <a:cubicBezTo>
                  <a:pt x="200025" y="166505"/>
                  <a:pt x="177618" y="188913"/>
                  <a:pt x="150019" y="188913"/>
                </a:cubicBezTo>
                <a:cubicBezTo>
                  <a:pt x="122420" y="188913"/>
                  <a:pt x="100013" y="166505"/>
                  <a:pt x="100013" y="138906"/>
                </a:cubicBezTo>
                <a:close/>
                <a:moveTo>
                  <a:pt x="150019" y="111125"/>
                </a:moveTo>
                <a:cubicBezTo>
                  <a:pt x="146963" y="111125"/>
                  <a:pt x="144463" y="113625"/>
                  <a:pt x="144463" y="116681"/>
                </a:cubicBezTo>
                <a:lnTo>
                  <a:pt x="144463" y="138906"/>
                </a:lnTo>
                <a:cubicBezTo>
                  <a:pt x="144463" y="141962"/>
                  <a:pt x="146963" y="144463"/>
                  <a:pt x="150019" y="144463"/>
                </a:cubicBezTo>
                <a:lnTo>
                  <a:pt x="166688" y="144463"/>
                </a:lnTo>
                <a:cubicBezTo>
                  <a:pt x="169743" y="144463"/>
                  <a:pt x="172244" y="141962"/>
                  <a:pt x="172244" y="138906"/>
                </a:cubicBezTo>
                <a:cubicBezTo>
                  <a:pt x="172244" y="135850"/>
                  <a:pt x="169743" y="133350"/>
                  <a:pt x="166688" y="133350"/>
                </a:cubicBezTo>
                <a:lnTo>
                  <a:pt x="155575" y="133350"/>
                </a:lnTo>
                <a:lnTo>
                  <a:pt x="155575" y="116681"/>
                </a:lnTo>
                <a:cubicBezTo>
                  <a:pt x="155575" y="113625"/>
                  <a:pt x="153075" y="111125"/>
                  <a:pt x="150019" y="111125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9804" y="3028792"/>
            <a:ext cx="26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Participación: Menos exigente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4000" y="6165850"/>
            <a:ext cx="1168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Ambas se complementan: la percepción de prestaciones puede condicionarse a la participación en </a:t>
            </a:r>
            <a:r>
              <a:rPr lang="en-US" sz="14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acciones activas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Horizontes Temporales de Actuación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070600" y="1117600"/>
            <a:ext cx="0" cy="1981200"/>
          </a:xfrm>
          <a:prstGeom prst="line">
            <a:avLst/>
          </a:prstGeom>
          <a:noFill/>
          <a:ln w="20320">
            <a:solidFill>
              <a:srgbClr val="00AEEF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1117600"/>
            <a:ext cx="612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Corto Plazo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5600" y="182864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65100" y="82550"/>
                </a:moveTo>
                <a:cubicBezTo>
                  <a:pt x="165100" y="100767"/>
                  <a:pt x="159187" y="117594"/>
                  <a:pt x="149225" y="131247"/>
                </a:cubicBezTo>
                <a:lnTo>
                  <a:pt x="199469" y="181531"/>
                </a:lnTo>
                <a:cubicBezTo>
                  <a:pt x="204430" y="186492"/>
                  <a:pt x="204430" y="194548"/>
                  <a:pt x="199469" y="199509"/>
                </a:cubicBezTo>
                <a:cubicBezTo>
                  <a:pt x="194508" y="204470"/>
                  <a:pt x="186452" y="204470"/>
                  <a:pt x="181491" y="199509"/>
                </a:cubicBezTo>
                <a:lnTo>
                  <a:pt x="131247" y="149225"/>
                </a:lnTo>
                <a:cubicBezTo>
                  <a:pt x="117594" y="159187"/>
                  <a:pt x="100767" y="165100"/>
                  <a:pt x="82550" y="165100"/>
                </a:cubicBezTo>
                <a:cubicBezTo>
                  <a:pt x="36949" y="165100"/>
                  <a:pt x="0" y="128151"/>
                  <a:pt x="0" y="82550"/>
                </a:cubicBezTo>
                <a:cubicBezTo>
                  <a:pt x="0" y="36949"/>
                  <a:pt x="36949" y="0"/>
                  <a:pt x="82550" y="0"/>
                </a:cubicBezTo>
                <a:cubicBezTo>
                  <a:pt x="128151" y="0"/>
                  <a:pt x="165100" y="36949"/>
                  <a:pt x="165100" y="82550"/>
                </a:cubicBezTo>
                <a:close/>
                <a:moveTo>
                  <a:pt x="82550" y="139700"/>
                </a:moveTo>
                <a:cubicBezTo>
                  <a:pt x="114092" y="139700"/>
                  <a:pt x="139700" y="114092"/>
                  <a:pt x="139700" y="82550"/>
                </a:cubicBezTo>
                <a:cubicBezTo>
                  <a:pt x="139700" y="51008"/>
                  <a:pt x="114092" y="25400"/>
                  <a:pt x="82550" y="25400"/>
                </a:cubicBezTo>
                <a:cubicBezTo>
                  <a:pt x="51008" y="25400"/>
                  <a:pt x="25400" y="51008"/>
                  <a:pt x="25400" y="82550"/>
                </a:cubicBezTo>
                <a:cubicBezTo>
                  <a:pt x="25400" y="114092"/>
                  <a:pt x="51008" y="139700"/>
                  <a:pt x="82550" y="139700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60400" y="1727042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Intermediación laboral eficiente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5600" y="233664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21722" y="129024"/>
                </a:moveTo>
                <a:lnTo>
                  <a:pt x="64453" y="151051"/>
                </a:lnTo>
                <a:cubicBezTo>
                  <a:pt x="56753" y="154027"/>
                  <a:pt x="49173" y="146447"/>
                  <a:pt x="52149" y="138748"/>
                </a:cubicBezTo>
                <a:lnTo>
                  <a:pt x="74176" y="81478"/>
                </a:lnTo>
                <a:cubicBezTo>
                  <a:pt x="75486" y="78105"/>
                  <a:pt x="78105" y="75486"/>
                  <a:pt x="81478" y="74176"/>
                </a:cubicBezTo>
                <a:lnTo>
                  <a:pt x="138748" y="52149"/>
                </a:lnTo>
                <a:cubicBezTo>
                  <a:pt x="146447" y="49173"/>
                  <a:pt x="154027" y="56753"/>
                  <a:pt x="151051" y="64453"/>
                </a:cubicBezTo>
                <a:lnTo>
                  <a:pt x="129024" y="121722"/>
                </a:lnTo>
                <a:cubicBezTo>
                  <a:pt x="127754" y="125095"/>
                  <a:pt x="125095" y="127714"/>
                  <a:pt x="121722" y="129024"/>
                </a:cubicBezTo>
                <a:close/>
                <a:moveTo>
                  <a:pt x="114300" y="101600"/>
                </a:moveTo>
                <a:cubicBezTo>
                  <a:pt x="114300" y="94591"/>
                  <a:pt x="108609" y="88900"/>
                  <a:pt x="101600" y="88900"/>
                </a:cubicBezTo>
                <a:cubicBezTo>
                  <a:pt x="94591" y="88900"/>
                  <a:pt x="88900" y="94591"/>
                  <a:pt x="88900" y="101600"/>
                </a:cubicBezTo>
                <a:cubicBezTo>
                  <a:pt x="88900" y="108609"/>
                  <a:pt x="94591" y="114300"/>
                  <a:pt x="101600" y="114300"/>
                </a:cubicBezTo>
                <a:cubicBezTo>
                  <a:pt x="108609" y="114300"/>
                  <a:pt x="114300" y="108609"/>
                  <a:pt x="114300" y="101600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60400" y="2235042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Orientación profesional inmediata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0200" y="2844642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25440" y="25400"/>
                </a:moveTo>
                <a:cubicBezTo>
                  <a:pt x="25440" y="11390"/>
                  <a:pt x="36830" y="0"/>
                  <a:pt x="50840" y="0"/>
                </a:cubicBezTo>
                <a:lnTo>
                  <a:pt x="110173" y="0"/>
                </a:lnTo>
                <a:cubicBezTo>
                  <a:pt x="116919" y="0"/>
                  <a:pt x="123388" y="2659"/>
                  <a:pt x="128151" y="7422"/>
                </a:cubicBezTo>
                <a:lnTo>
                  <a:pt x="170378" y="49728"/>
                </a:lnTo>
                <a:cubicBezTo>
                  <a:pt x="175141" y="54491"/>
                  <a:pt x="177800" y="60960"/>
                  <a:pt x="177800" y="67707"/>
                </a:cubicBezTo>
                <a:lnTo>
                  <a:pt x="177800" y="106402"/>
                </a:lnTo>
                <a:lnTo>
                  <a:pt x="125413" y="158790"/>
                </a:lnTo>
                <a:lnTo>
                  <a:pt x="108704" y="158790"/>
                </a:lnTo>
                <a:lnTo>
                  <a:pt x="102314" y="137517"/>
                </a:lnTo>
                <a:cubicBezTo>
                  <a:pt x="100449" y="131286"/>
                  <a:pt x="94734" y="127040"/>
                  <a:pt x="88225" y="127040"/>
                </a:cubicBezTo>
                <a:cubicBezTo>
                  <a:pt x="83741" y="127040"/>
                  <a:pt x="79534" y="129064"/>
                  <a:pt x="76756" y="132556"/>
                </a:cubicBezTo>
                <a:lnTo>
                  <a:pt x="52903" y="162322"/>
                </a:lnTo>
                <a:cubicBezTo>
                  <a:pt x="49609" y="166410"/>
                  <a:pt x="50284" y="172442"/>
                  <a:pt x="54372" y="175697"/>
                </a:cubicBezTo>
                <a:cubicBezTo>
                  <a:pt x="58460" y="178951"/>
                  <a:pt x="64492" y="178316"/>
                  <a:pt x="67747" y="174188"/>
                </a:cubicBezTo>
                <a:lnTo>
                  <a:pt x="86439" y="150852"/>
                </a:lnTo>
                <a:lnTo>
                  <a:pt x="92472" y="170974"/>
                </a:lnTo>
                <a:cubicBezTo>
                  <a:pt x="93662" y="175022"/>
                  <a:pt x="97393" y="177760"/>
                  <a:pt x="101600" y="177760"/>
                </a:cubicBezTo>
                <a:lnTo>
                  <a:pt x="114102" y="177760"/>
                </a:lnTo>
                <a:cubicBezTo>
                  <a:pt x="113744" y="178991"/>
                  <a:pt x="113427" y="180261"/>
                  <a:pt x="113189" y="181531"/>
                </a:cubicBezTo>
                <a:lnTo>
                  <a:pt x="108863" y="203160"/>
                </a:lnTo>
                <a:lnTo>
                  <a:pt x="50840" y="203160"/>
                </a:lnTo>
                <a:cubicBezTo>
                  <a:pt x="36830" y="203160"/>
                  <a:pt x="25440" y="191770"/>
                  <a:pt x="25440" y="177760"/>
                </a:cubicBezTo>
                <a:lnTo>
                  <a:pt x="25440" y="25360"/>
                </a:lnTo>
                <a:close/>
                <a:moveTo>
                  <a:pt x="107990" y="23217"/>
                </a:moveTo>
                <a:lnTo>
                  <a:pt x="107990" y="60325"/>
                </a:lnTo>
                <a:cubicBezTo>
                  <a:pt x="107990" y="65603"/>
                  <a:pt x="112236" y="69850"/>
                  <a:pt x="117515" y="69850"/>
                </a:cubicBezTo>
                <a:lnTo>
                  <a:pt x="154623" y="69850"/>
                </a:lnTo>
                <a:lnTo>
                  <a:pt x="107990" y="23217"/>
                </a:lnTo>
                <a:close/>
                <a:moveTo>
                  <a:pt x="131882" y="185301"/>
                </a:moveTo>
                <a:cubicBezTo>
                  <a:pt x="132874" y="180380"/>
                  <a:pt x="135295" y="175855"/>
                  <a:pt x="138827" y="172323"/>
                </a:cubicBezTo>
                <a:lnTo>
                  <a:pt x="186015" y="125135"/>
                </a:lnTo>
                <a:lnTo>
                  <a:pt x="217765" y="156885"/>
                </a:lnTo>
                <a:lnTo>
                  <a:pt x="170577" y="204073"/>
                </a:lnTo>
                <a:cubicBezTo>
                  <a:pt x="167045" y="207605"/>
                  <a:pt x="162520" y="210026"/>
                  <a:pt x="157599" y="211018"/>
                </a:cubicBezTo>
                <a:lnTo>
                  <a:pt x="133945" y="215741"/>
                </a:lnTo>
                <a:cubicBezTo>
                  <a:pt x="133588" y="215821"/>
                  <a:pt x="133191" y="215860"/>
                  <a:pt x="132794" y="215860"/>
                </a:cubicBezTo>
                <a:cubicBezTo>
                  <a:pt x="129619" y="215860"/>
                  <a:pt x="127000" y="213281"/>
                  <a:pt x="127000" y="210066"/>
                </a:cubicBezTo>
                <a:cubicBezTo>
                  <a:pt x="127000" y="209669"/>
                  <a:pt x="127040" y="209312"/>
                  <a:pt x="127119" y="208915"/>
                </a:cubicBezTo>
                <a:lnTo>
                  <a:pt x="131842" y="185261"/>
                </a:lnTo>
                <a:close/>
                <a:moveTo>
                  <a:pt x="238165" y="136485"/>
                </a:moveTo>
                <a:lnTo>
                  <a:pt x="226735" y="147915"/>
                </a:lnTo>
                <a:lnTo>
                  <a:pt x="194985" y="116165"/>
                </a:lnTo>
                <a:lnTo>
                  <a:pt x="206415" y="104735"/>
                </a:lnTo>
                <a:cubicBezTo>
                  <a:pt x="215186" y="95964"/>
                  <a:pt x="229394" y="95964"/>
                  <a:pt x="238165" y="104735"/>
                </a:cubicBezTo>
                <a:cubicBezTo>
                  <a:pt x="246936" y="113506"/>
                  <a:pt x="246936" y="127714"/>
                  <a:pt x="238165" y="136485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0400" y="2743042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Incentivos a la contratación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45200" y="1117600"/>
            <a:ext cx="614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Medio Plazo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75400" y="1828642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50800" y="38100"/>
                </a:moveTo>
                <a:cubicBezTo>
                  <a:pt x="50800" y="24090"/>
                  <a:pt x="62190" y="12700"/>
                  <a:pt x="76200" y="12700"/>
                </a:cubicBezTo>
                <a:lnTo>
                  <a:pt x="215900" y="12700"/>
                </a:lnTo>
                <a:cubicBezTo>
                  <a:pt x="229910" y="12700"/>
                  <a:pt x="241300" y="24090"/>
                  <a:pt x="241300" y="38100"/>
                </a:cubicBezTo>
                <a:lnTo>
                  <a:pt x="241300" y="133350"/>
                </a:lnTo>
                <a:lnTo>
                  <a:pt x="203200" y="133350"/>
                </a:lnTo>
                <a:lnTo>
                  <a:pt x="203200" y="127000"/>
                </a:lnTo>
                <a:cubicBezTo>
                  <a:pt x="203200" y="119975"/>
                  <a:pt x="197525" y="114300"/>
                  <a:pt x="190500" y="114300"/>
                </a:cubicBezTo>
                <a:lnTo>
                  <a:pt x="165100" y="114300"/>
                </a:lnTo>
                <a:cubicBezTo>
                  <a:pt x="158075" y="114300"/>
                  <a:pt x="152400" y="119975"/>
                  <a:pt x="152400" y="127000"/>
                </a:cubicBezTo>
                <a:lnTo>
                  <a:pt x="152400" y="133350"/>
                </a:lnTo>
                <a:lnTo>
                  <a:pt x="101163" y="133350"/>
                </a:lnTo>
                <a:cubicBezTo>
                  <a:pt x="105489" y="125889"/>
                  <a:pt x="107950" y="117197"/>
                  <a:pt x="107950" y="107950"/>
                </a:cubicBezTo>
                <a:cubicBezTo>
                  <a:pt x="107950" y="79891"/>
                  <a:pt x="85209" y="57150"/>
                  <a:pt x="57150" y="57150"/>
                </a:cubicBezTo>
                <a:cubicBezTo>
                  <a:pt x="55007" y="57150"/>
                  <a:pt x="52864" y="57269"/>
                  <a:pt x="50800" y="57547"/>
                </a:cubicBezTo>
                <a:lnTo>
                  <a:pt x="50800" y="38100"/>
                </a:lnTo>
                <a:close/>
                <a:moveTo>
                  <a:pt x="132159" y="177800"/>
                </a:moveTo>
                <a:cubicBezTo>
                  <a:pt x="130135" y="168196"/>
                  <a:pt x="125690" y="159504"/>
                  <a:pt x="119420" y="152400"/>
                </a:cubicBezTo>
                <a:lnTo>
                  <a:pt x="241300" y="152400"/>
                </a:lnTo>
                <a:cubicBezTo>
                  <a:pt x="241300" y="166410"/>
                  <a:pt x="229910" y="177800"/>
                  <a:pt x="215900" y="177800"/>
                </a:cubicBezTo>
                <a:lnTo>
                  <a:pt x="132159" y="177800"/>
                </a:lnTo>
                <a:close/>
                <a:moveTo>
                  <a:pt x="25400" y="107950"/>
                </a:moveTo>
                <a:cubicBezTo>
                  <a:pt x="25400" y="90427"/>
                  <a:pt x="39627" y="76200"/>
                  <a:pt x="57150" y="76200"/>
                </a:cubicBezTo>
                <a:cubicBezTo>
                  <a:pt x="74673" y="76200"/>
                  <a:pt x="88900" y="90427"/>
                  <a:pt x="88900" y="107950"/>
                </a:cubicBezTo>
                <a:cubicBezTo>
                  <a:pt x="88900" y="125473"/>
                  <a:pt x="74673" y="139700"/>
                  <a:pt x="57150" y="139700"/>
                </a:cubicBezTo>
                <a:cubicBezTo>
                  <a:pt x="39627" y="139700"/>
                  <a:pt x="25400" y="125473"/>
                  <a:pt x="25400" y="107950"/>
                </a:cubicBezTo>
                <a:close/>
                <a:moveTo>
                  <a:pt x="0" y="190500"/>
                </a:moveTo>
                <a:cubicBezTo>
                  <a:pt x="0" y="169466"/>
                  <a:pt x="17066" y="152400"/>
                  <a:pt x="38100" y="152400"/>
                </a:cubicBezTo>
                <a:lnTo>
                  <a:pt x="76200" y="152400"/>
                </a:lnTo>
                <a:cubicBezTo>
                  <a:pt x="97234" y="152400"/>
                  <a:pt x="114300" y="169466"/>
                  <a:pt x="114300" y="190500"/>
                </a:cubicBezTo>
                <a:cubicBezTo>
                  <a:pt x="114300" y="197525"/>
                  <a:pt x="108625" y="203200"/>
                  <a:pt x="101600" y="203200"/>
                </a:cubicBezTo>
                <a:lnTo>
                  <a:pt x="12700" y="203200"/>
                </a:lnTo>
                <a:cubicBezTo>
                  <a:pt x="5675" y="203200"/>
                  <a:pt x="0" y="197525"/>
                  <a:pt x="0" y="19050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705600" y="1727042"/>
            <a:ext cx="574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y recualificación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26200" y="2336642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705600" y="2235042"/>
            <a:ext cx="574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Fomento del emprendimiento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284464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47625" y="22225"/>
                </a:moveTo>
                <a:cubicBezTo>
                  <a:pt x="47625" y="9962"/>
                  <a:pt x="57587" y="0"/>
                  <a:pt x="69850" y="0"/>
                </a:cubicBezTo>
                <a:lnTo>
                  <a:pt x="79375" y="0"/>
                </a:lnTo>
                <a:cubicBezTo>
                  <a:pt x="86400" y="0"/>
                  <a:pt x="92075" y="5675"/>
                  <a:pt x="92075" y="12700"/>
                </a:cubicBezTo>
                <a:lnTo>
                  <a:pt x="92075" y="190500"/>
                </a:lnTo>
                <a:cubicBezTo>
                  <a:pt x="92075" y="197525"/>
                  <a:pt x="86400" y="203200"/>
                  <a:pt x="79375" y="203200"/>
                </a:cubicBezTo>
                <a:lnTo>
                  <a:pt x="66675" y="203200"/>
                </a:lnTo>
                <a:cubicBezTo>
                  <a:pt x="54848" y="203200"/>
                  <a:pt x="44887" y="195104"/>
                  <a:pt x="42069" y="184150"/>
                </a:cubicBezTo>
                <a:cubicBezTo>
                  <a:pt x="41791" y="184150"/>
                  <a:pt x="41553" y="184150"/>
                  <a:pt x="41275" y="184150"/>
                </a:cubicBezTo>
                <a:cubicBezTo>
                  <a:pt x="23733" y="184150"/>
                  <a:pt x="9525" y="169942"/>
                  <a:pt x="9525" y="152400"/>
                </a:cubicBezTo>
                <a:cubicBezTo>
                  <a:pt x="9525" y="145256"/>
                  <a:pt x="11906" y="138668"/>
                  <a:pt x="15875" y="133350"/>
                </a:cubicBezTo>
                <a:cubicBezTo>
                  <a:pt x="8176" y="127556"/>
                  <a:pt x="3175" y="118348"/>
                  <a:pt x="3175" y="107950"/>
                </a:cubicBezTo>
                <a:cubicBezTo>
                  <a:pt x="3175" y="95687"/>
                  <a:pt x="10160" y="85011"/>
                  <a:pt x="20320" y="79732"/>
                </a:cubicBezTo>
                <a:cubicBezTo>
                  <a:pt x="17502" y="74970"/>
                  <a:pt x="15875" y="69413"/>
                  <a:pt x="15875" y="63500"/>
                </a:cubicBezTo>
                <a:cubicBezTo>
                  <a:pt x="15875" y="45958"/>
                  <a:pt x="30083" y="31750"/>
                  <a:pt x="47625" y="31750"/>
                </a:cubicBezTo>
                <a:lnTo>
                  <a:pt x="47625" y="22225"/>
                </a:lnTo>
                <a:close/>
                <a:moveTo>
                  <a:pt x="155575" y="22225"/>
                </a:moveTo>
                <a:lnTo>
                  <a:pt x="155575" y="31750"/>
                </a:lnTo>
                <a:cubicBezTo>
                  <a:pt x="173117" y="31750"/>
                  <a:pt x="187325" y="45958"/>
                  <a:pt x="187325" y="63500"/>
                </a:cubicBezTo>
                <a:cubicBezTo>
                  <a:pt x="187325" y="69453"/>
                  <a:pt x="185698" y="75009"/>
                  <a:pt x="182880" y="79732"/>
                </a:cubicBezTo>
                <a:cubicBezTo>
                  <a:pt x="193080" y="85011"/>
                  <a:pt x="200025" y="95647"/>
                  <a:pt x="200025" y="107950"/>
                </a:cubicBezTo>
                <a:cubicBezTo>
                  <a:pt x="200025" y="118348"/>
                  <a:pt x="195024" y="127556"/>
                  <a:pt x="187325" y="133350"/>
                </a:cubicBezTo>
                <a:cubicBezTo>
                  <a:pt x="191294" y="138668"/>
                  <a:pt x="193675" y="145256"/>
                  <a:pt x="193675" y="152400"/>
                </a:cubicBezTo>
                <a:cubicBezTo>
                  <a:pt x="193675" y="169942"/>
                  <a:pt x="179467" y="184150"/>
                  <a:pt x="161925" y="184150"/>
                </a:cubicBezTo>
                <a:cubicBezTo>
                  <a:pt x="161647" y="184150"/>
                  <a:pt x="161409" y="184150"/>
                  <a:pt x="161131" y="184150"/>
                </a:cubicBezTo>
                <a:cubicBezTo>
                  <a:pt x="158313" y="195104"/>
                  <a:pt x="148352" y="203200"/>
                  <a:pt x="136525" y="203200"/>
                </a:cubicBezTo>
                <a:lnTo>
                  <a:pt x="123825" y="203200"/>
                </a:lnTo>
                <a:cubicBezTo>
                  <a:pt x="116800" y="203200"/>
                  <a:pt x="111125" y="197525"/>
                  <a:pt x="111125" y="190500"/>
                </a:cubicBezTo>
                <a:lnTo>
                  <a:pt x="111125" y="12700"/>
                </a:lnTo>
                <a:cubicBezTo>
                  <a:pt x="111125" y="5675"/>
                  <a:pt x="116800" y="0"/>
                  <a:pt x="123825" y="0"/>
                </a:cubicBezTo>
                <a:lnTo>
                  <a:pt x="133350" y="0"/>
                </a:lnTo>
                <a:cubicBezTo>
                  <a:pt x="145613" y="0"/>
                  <a:pt x="155575" y="9962"/>
                  <a:pt x="155575" y="22225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705600" y="2743042"/>
            <a:ext cx="574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Adaptación a la economía del conocimiento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4000" y="6146800"/>
            <a:ext cx="11684000" cy="457200"/>
          </a:xfrm>
          <a:custGeom>
            <a:avLst/>
            <a:gdLst/>
            <a:ahLst/>
            <a:cxnLst/>
            <a:rect l="l" t="t" r="r" b="b"/>
            <a:pathLst>
              <a:path w="11684000" h="4572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355601"/>
                </a:lnTo>
                <a:cubicBezTo>
                  <a:pt x="11684000" y="411713"/>
                  <a:pt x="11638513" y="457200"/>
                  <a:pt x="115824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C200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55600" y="6248400"/>
            <a:ext cx="1148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Colectivos prioritarios: </a:t>
            </a:r>
            <a:r>
              <a:rPr lang="en-US" sz="14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jóvenes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4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mayores de 45 años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4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desempleados de larga duración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</a:t>
            </a:r>
            <a:r>
              <a:rPr lang="en-US" sz="14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mujeres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828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normativo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256898"/>
            <a:ext cx="5640070" cy="11079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PARTE  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1465" y="607504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91465" y="630872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91465" y="654240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29146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158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152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73164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526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Normativo: De la Constitución a la Ley 3/2023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70200"/>
            <a:ext cx="553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</a:t>
            </a:r>
            <a:r>
              <a:rPr lang="en-US" sz="14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artículo 40 de la Constitución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impulsa el pleno empleo. La </a:t>
            </a:r>
            <a:r>
              <a:rPr lang="en-US" sz="14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Ley 3/2023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supone un cambio de paradigma, estableciendo: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09563" y="3672839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58896" y="53271"/>
                </a:moveTo>
                <a:lnTo>
                  <a:pt x="52402" y="46777"/>
                </a:lnTo>
                <a:cubicBezTo>
                  <a:pt x="48062" y="42436"/>
                  <a:pt x="48062" y="35386"/>
                  <a:pt x="52402" y="31046"/>
                </a:cubicBezTo>
                <a:lnTo>
                  <a:pt x="92234" y="-8821"/>
                </a:lnTo>
                <a:cubicBezTo>
                  <a:pt x="96575" y="-13161"/>
                  <a:pt x="103624" y="-13161"/>
                  <a:pt x="107965" y="-8821"/>
                </a:cubicBezTo>
                <a:lnTo>
                  <a:pt x="114459" y="-2292"/>
                </a:lnTo>
                <a:cubicBezTo>
                  <a:pt x="118800" y="2049"/>
                  <a:pt x="118800" y="9098"/>
                  <a:pt x="114459" y="13439"/>
                </a:cubicBezTo>
                <a:lnTo>
                  <a:pt x="74627" y="53271"/>
                </a:lnTo>
                <a:cubicBezTo>
                  <a:pt x="70287" y="57611"/>
                  <a:pt x="63237" y="57611"/>
                  <a:pt x="58896" y="53271"/>
                </a:cubicBezTo>
                <a:close/>
                <a:moveTo>
                  <a:pt x="95845" y="73516"/>
                </a:moveTo>
                <a:lnTo>
                  <a:pt x="84941" y="62612"/>
                </a:lnTo>
                <a:lnTo>
                  <a:pt x="123835" y="23718"/>
                </a:lnTo>
                <a:lnTo>
                  <a:pt x="165298" y="65182"/>
                </a:lnTo>
                <a:lnTo>
                  <a:pt x="126405" y="104076"/>
                </a:lnTo>
                <a:lnTo>
                  <a:pt x="115501" y="93171"/>
                </a:lnTo>
                <a:lnTo>
                  <a:pt x="34935" y="173737"/>
                </a:lnTo>
                <a:cubicBezTo>
                  <a:pt x="29518" y="179154"/>
                  <a:pt x="20732" y="179154"/>
                  <a:pt x="15280" y="173737"/>
                </a:cubicBezTo>
                <a:cubicBezTo>
                  <a:pt x="9828" y="168320"/>
                  <a:pt x="9862" y="159534"/>
                  <a:pt x="15280" y="154082"/>
                </a:cubicBezTo>
                <a:lnTo>
                  <a:pt x="95845" y="73516"/>
                </a:lnTo>
                <a:close/>
                <a:moveTo>
                  <a:pt x="135746" y="130086"/>
                </a:moveTo>
                <a:cubicBezTo>
                  <a:pt x="131405" y="125745"/>
                  <a:pt x="131405" y="118695"/>
                  <a:pt x="135746" y="114355"/>
                </a:cubicBezTo>
                <a:lnTo>
                  <a:pt x="175577" y="74523"/>
                </a:lnTo>
                <a:cubicBezTo>
                  <a:pt x="179918" y="70182"/>
                  <a:pt x="186968" y="70182"/>
                  <a:pt x="191309" y="74523"/>
                </a:cubicBezTo>
                <a:lnTo>
                  <a:pt x="197803" y="81017"/>
                </a:lnTo>
                <a:cubicBezTo>
                  <a:pt x="202143" y="85358"/>
                  <a:pt x="202143" y="92407"/>
                  <a:pt x="197803" y="96748"/>
                </a:cubicBezTo>
                <a:lnTo>
                  <a:pt x="157971" y="136614"/>
                </a:lnTo>
                <a:cubicBezTo>
                  <a:pt x="153630" y="140955"/>
                  <a:pt x="146581" y="140955"/>
                  <a:pt x="142240" y="136614"/>
                </a:cubicBezTo>
                <a:lnTo>
                  <a:pt x="135746" y="130120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58800" y="3581400"/>
            <a:ext cx="391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PAE como derechos subjetivos exigibles.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5590" y="4079239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44428" y="73099"/>
                </a:moveTo>
                <a:cubicBezTo>
                  <a:pt x="148664" y="71953"/>
                  <a:pt x="153109" y="73968"/>
                  <a:pt x="155019" y="77892"/>
                </a:cubicBezTo>
                <a:lnTo>
                  <a:pt x="161479" y="90949"/>
                </a:lnTo>
                <a:cubicBezTo>
                  <a:pt x="165055" y="91435"/>
                  <a:pt x="168563" y="92407"/>
                  <a:pt x="171862" y="93762"/>
                </a:cubicBezTo>
                <a:lnTo>
                  <a:pt x="184016" y="85670"/>
                </a:lnTo>
                <a:cubicBezTo>
                  <a:pt x="187662" y="83240"/>
                  <a:pt x="192489" y="83726"/>
                  <a:pt x="195580" y="86816"/>
                </a:cubicBezTo>
                <a:lnTo>
                  <a:pt x="202248" y="93484"/>
                </a:lnTo>
                <a:cubicBezTo>
                  <a:pt x="205338" y="96575"/>
                  <a:pt x="205824" y="101436"/>
                  <a:pt x="203393" y="105048"/>
                </a:cubicBezTo>
                <a:lnTo>
                  <a:pt x="195302" y="117167"/>
                </a:lnTo>
                <a:cubicBezTo>
                  <a:pt x="195962" y="118800"/>
                  <a:pt x="196552" y="120501"/>
                  <a:pt x="197039" y="122272"/>
                </a:cubicBezTo>
                <a:cubicBezTo>
                  <a:pt x="197525" y="124043"/>
                  <a:pt x="197837" y="125780"/>
                  <a:pt x="198080" y="127551"/>
                </a:cubicBezTo>
                <a:lnTo>
                  <a:pt x="211172" y="134010"/>
                </a:lnTo>
                <a:cubicBezTo>
                  <a:pt x="215096" y="135954"/>
                  <a:pt x="217110" y="140399"/>
                  <a:pt x="215964" y="144601"/>
                </a:cubicBezTo>
                <a:lnTo>
                  <a:pt x="213534" y="153700"/>
                </a:lnTo>
                <a:cubicBezTo>
                  <a:pt x="212388" y="157902"/>
                  <a:pt x="208464" y="160749"/>
                  <a:pt x="204088" y="160471"/>
                </a:cubicBezTo>
                <a:lnTo>
                  <a:pt x="189503" y="159534"/>
                </a:lnTo>
                <a:cubicBezTo>
                  <a:pt x="187315" y="162347"/>
                  <a:pt x="184780" y="164951"/>
                  <a:pt x="181898" y="167174"/>
                </a:cubicBezTo>
                <a:lnTo>
                  <a:pt x="182835" y="181724"/>
                </a:lnTo>
                <a:cubicBezTo>
                  <a:pt x="183113" y="186100"/>
                  <a:pt x="180266" y="190058"/>
                  <a:pt x="176064" y="191170"/>
                </a:cubicBezTo>
                <a:lnTo>
                  <a:pt x="166965" y="193601"/>
                </a:lnTo>
                <a:cubicBezTo>
                  <a:pt x="162729" y="194747"/>
                  <a:pt x="158318" y="192732"/>
                  <a:pt x="156374" y="188808"/>
                </a:cubicBezTo>
                <a:lnTo>
                  <a:pt x="149915" y="175751"/>
                </a:lnTo>
                <a:cubicBezTo>
                  <a:pt x="146338" y="175265"/>
                  <a:pt x="142830" y="174293"/>
                  <a:pt x="139531" y="172938"/>
                </a:cubicBezTo>
                <a:lnTo>
                  <a:pt x="127377" y="181030"/>
                </a:lnTo>
                <a:cubicBezTo>
                  <a:pt x="123731" y="183460"/>
                  <a:pt x="118904" y="182974"/>
                  <a:pt x="115813" y="179884"/>
                </a:cubicBezTo>
                <a:lnTo>
                  <a:pt x="109146" y="173216"/>
                </a:lnTo>
                <a:cubicBezTo>
                  <a:pt x="106055" y="170125"/>
                  <a:pt x="105569" y="165298"/>
                  <a:pt x="108000" y="161652"/>
                </a:cubicBezTo>
                <a:lnTo>
                  <a:pt x="116091" y="149498"/>
                </a:lnTo>
                <a:cubicBezTo>
                  <a:pt x="115431" y="147866"/>
                  <a:pt x="114841" y="146164"/>
                  <a:pt x="114355" y="144393"/>
                </a:cubicBezTo>
                <a:cubicBezTo>
                  <a:pt x="113868" y="142622"/>
                  <a:pt x="113556" y="140851"/>
                  <a:pt x="113313" y="139115"/>
                </a:cubicBezTo>
                <a:lnTo>
                  <a:pt x="100221" y="132655"/>
                </a:lnTo>
                <a:cubicBezTo>
                  <a:pt x="96297" y="130711"/>
                  <a:pt x="94317" y="126266"/>
                  <a:pt x="95429" y="122064"/>
                </a:cubicBezTo>
                <a:lnTo>
                  <a:pt x="97859" y="112966"/>
                </a:lnTo>
                <a:cubicBezTo>
                  <a:pt x="99005" y="108764"/>
                  <a:pt x="102930" y="105916"/>
                  <a:pt x="107305" y="106194"/>
                </a:cubicBezTo>
                <a:lnTo>
                  <a:pt x="121856" y="107131"/>
                </a:lnTo>
                <a:cubicBezTo>
                  <a:pt x="124043" y="104319"/>
                  <a:pt x="126578" y="101714"/>
                  <a:pt x="129461" y="99492"/>
                </a:cubicBezTo>
                <a:lnTo>
                  <a:pt x="128523" y="84976"/>
                </a:lnTo>
                <a:cubicBezTo>
                  <a:pt x="128245" y="80600"/>
                  <a:pt x="131093" y="76642"/>
                  <a:pt x="135295" y="75530"/>
                </a:cubicBezTo>
                <a:lnTo>
                  <a:pt x="144393" y="73099"/>
                </a:lnTo>
                <a:close/>
                <a:moveTo>
                  <a:pt x="155714" y="118070"/>
                </a:moveTo>
                <a:cubicBezTo>
                  <a:pt x="147281" y="118080"/>
                  <a:pt x="140442" y="124934"/>
                  <a:pt x="140452" y="133367"/>
                </a:cubicBezTo>
                <a:cubicBezTo>
                  <a:pt x="140461" y="141800"/>
                  <a:pt x="147316" y="148639"/>
                  <a:pt x="155749" y="148630"/>
                </a:cubicBezTo>
                <a:cubicBezTo>
                  <a:pt x="164182" y="148620"/>
                  <a:pt x="171021" y="141766"/>
                  <a:pt x="171011" y="133333"/>
                </a:cubicBezTo>
                <a:cubicBezTo>
                  <a:pt x="171001" y="124900"/>
                  <a:pt x="164147" y="118061"/>
                  <a:pt x="155714" y="118070"/>
                </a:cubicBezTo>
                <a:close/>
                <a:moveTo>
                  <a:pt x="78100" y="-15801"/>
                </a:moveTo>
                <a:lnTo>
                  <a:pt x="87198" y="-13370"/>
                </a:lnTo>
                <a:cubicBezTo>
                  <a:pt x="91400" y="-12224"/>
                  <a:pt x="94248" y="-8265"/>
                  <a:pt x="93970" y="-3924"/>
                </a:cubicBezTo>
                <a:lnTo>
                  <a:pt x="93032" y="10592"/>
                </a:lnTo>
                <a:cubicBezTo>
                  <a:pt x="95915" y="12814"/>
                  <a:pt x="98450" y="15384"/>
                  <a:pt x="100638" y="18231"/>
                </a:cubicBezTo>
                <a:lnTo>
                  <a:pt x="115223" y="17294"/>
                </a:lnTo>
                <a:cubicBezTo>
                  <a:pt x="119564" y="17016"/>
                  <a:pt x="123522" y="19864"/>
                  <a:pt x="124668" y="24066"/>
                </a:cubicBezTo>
                <a:lnTo>
                  <a:pt x="127099" y="33164"/>
                </a:lnTo>
                <a:cubicBezTo>
                  <a:pt x="128210" y="37366"/>
                  <a:pt x="126231" y="41811"/>
                  <a:pt x="122307" y="43755"/>
                </a:cubicBezTo>
                <a:lnTo>
                  <a:pt x="109215" y="50215"/>
                </a:lnTo>
                <a:cubicBezTo>
                  <a:pt x="108972" y="51986"/>
                  <a:pt x="108625" y="53757"/>
                  <a:pt x="108173" y="55493"/>
                </a:cubicBezTo>
                <a:cubicBezTo>
                  <a:pt x="107722" y="57229"/>
                  <a:pt x="107097" y="58966"/>
                  <a:pt x="106437" y="60598"/>
                </a:cubicBezTo>
                <a:lnTo>
                  <a:pt x="114528" y="72752"/>
                </a:lnTo>
                <a:cubicBezTo>
                  <a:pt x="116959" y="76398"/>
                  <a:pt x="116473" y="81225"/>
                  <a:pt x="113382" y="84316"/>
                </a:cubicBezTo>
                <a:lnTo>
                  <a:pt x="106715" y="90984"/>
                </a:lnTo>
                <a:cubicBezTo>
                  <a:pt x="103624" y="94074"/>
                  <a:pt x="98797" y="94560"/>
                  <a:pt x="95151" y="92130"/>
                </a:cubicBezTo>
                <a:lnTo>
                  <a:pt x="82996" y="84038"/>
                </a:lnTo>
                <a:cubicBezTo>
                  <a:pt x="79697" y="85393"/>
                  <a:pt x="76190" y="86365"/>
                  <a:pt x="72613" y="86851"/>
                </a:cubicBezTo>
                <a:lnTo>
                  <a:pt x="66154" y="99908"/>
                </a:lnTo>
                <a:cubicBezTo>
                  <a:pt x="64209" y="103832"/>
                  <a:pt x="59764" y="105812"/>
                  <a:pt x="55563" y="104701"/>
                </a:cubicBezTo>
                <a:lnTo>
                  <a:pt x="46464" y="102270"/>
                </a:lnTo>
                <a:cubicBezTo>
                  <a:pt x="42228" y="101124"/>
                  <a:pt x="39415" y="97165"/>
                  <a:pt x="39692" y="92824"/>
                </a:cubicBezTo>
                <a:lnTo>
                  <a:pt x="40630" y="78274"/>
                </a:lnTo>
                <a:cubicBezTo>
                  <a:pt x="37748" y="76051"/>
                  <a:pt x="35213" y="73481"/>
                  <a:pt x="33025" y="70634"/>
                </a:cubicBezTo>
                <a:lnTo>
                  <a:pt x="18440" y="71571"/>
                </a:lnTo>
                <a:cubicBezTo>
                  <a:pt x="14099" y="71849"/>
                  <a:pt x="10140" y="69002"/>
                  <a:pt x="8994" y="64800"/>
                </a:cubicBezTo>
                <a:lnTo>
                  <a:pt x="6563" y="55701"/>
                </a:lnTo>
                <a:cubicBezTo>
                  <a:pt x="5452" y="51499"/>
                  <a:pt x="7431" y="47054"/>
                  <a:pt x="11356" y="45110"/>
                </a:cubicBezTo>
                <a:lnTo>
                  <a:pt x="24448" y="38651"/>
                </a:lnTo>
                <a:cubicBezTo>
                  <a:pt x="24691" y="36880"/>
                  <a:pt x="25038" y="35143"/>
                  <a:pt x="25489" y="33372"/>
                </a:cubicBezTo>
                <a:cubicBezTo>
                  <a:pt x="25975" y="31601"/>
                  <a:pt x="26531" y="29900"/>
                  <a:pt x="27226" y="28267"/>
                </a:cubicBezTo>
                <a:lnTo>
                  <a:pt x="19134" y="16148"/>
                </a:lnTo>
                <a:cubicBezTo>
                  <a:pt x="16703" y="12502"/>
                  <a:pt x="17190" y="7675"/>
                  <a:pt x="20280" y="4584"/>
                </a:cubicBezTo>
                <a:lnTo>
                  <a:pt x="26948" y="-2084"/>
                </a:lnTo>
                <a:cubicBezTo>
                  <a:pt x="30038" y="-5174"/>
                  <a:pt x="34865" y="-5660"/>
                  <a:pt x="38512" y="-3230"/>
                </a:cubicBezTo>
                <a:lnTo>
                  <a:pt x="50666" y="4862"/>
                </a:lnTo>
                <a:cubicBezTo>
                  <a:pt x="53965" y="3507"/>
                  <a:pt x="57472" y="2535"/>
                  <a:pt x="61049" y="2049"/>
                </a:cubicBezTo>
                <a:lnTo>
                  <a:pt x="67508" y="-11008"/>
                </a:lnTo>
                <a:cubicBezTo>
                  <a:pt x="69453" y="-14932"/>
                  <a:pt x="73863" y="-16912"/>
                  <a:pt x="78100" y="-15801"/>
                </a:cubicBezTo>
                <a:close/>
                <a:moveTo>
                  <a:pt x="66814" y="29170"/>
                </a:moveTo>
                <a:cubicBezTo>
                  <a:pt x="58381" y="29170"/>
                  <a:pt x="51534" y="36017"/>
                  <a:pt x="51534" y="44450"/>
                </a:cubicBezTo>
                <a:cubicBezTo>
                  <a:pt x="51534" y="52883"/>
                  <a:pt x="58381" y="59730"/>
                  <a:pt x="66814" y="59730"/>
                </a:cubicBezTo>
                <a:cubicBezTo>
                  <a:pt x="75247" y="59730"/>
                  <a:pt x="82094" y="52883"/>
                  <a:pt x="82094" y="44450"/>
                </a:cubicBezTo>
                <a:cubicBezTo>
                  <a:pt x="82094" y="36017"/>
                  <a:pt x="75247" y="29170"/>
                  <a:pt x="66814" y="2917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13080" y="39878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Creación de la Agencia Española de Empleo para modernizar la gestión.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4008" y="468883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6675" y="22225"/>
                </a:moveTo>
                <a:cubicBezTo>
                  <a:pt x="66675" y="16078"/>
                  <a:pt x="71641" y="11112"/>
                  <a:pt x="77788" y="11112"/>
                </a:cubicBezTo>
                <a:lnTo>
                  <a:pt x="100013" y="11112"/>
                </a:lnTo>
                <a:cubicBezTo>
                  <a:pt x="106159" y="11112"/>
                  <a:pt x="111125" y="16078"/>
                  <a:pt x="111125" y="22225"/>
                </a:cubicBezTo>
                <a:lnTo>
                  <a:pt x="111125" y="44450"/>
                </a:lnTo>
                <a:cubicBezTo>
                  <a:pt x="111125" y="50597"/>
                  <a:pt x="106159" y="55563"/>
                  <a:pt x="100013" y="55563"/>
                </a:cubicBezTo>
                <a:lnTo>
                  <a:pt x="97234" y="55563"/>
                </a:lnTo>
                <a:lnTo>
                  <a:pt x="97234" y="77788"/>
                </a:lnTo>
                <a:lnTo>
                  <a:pt x="138906" y="77788"/>
                </a:lnTo>
                <a:cubicBezTo>
                  <a:pt x="152727" y="77788"/>
                  <a:pt x="163909" y="88969"/>
                  <a:pt x="163909" y="102791"/>
                </a:cubicBezTo>
                <a:lnTo>
                  <a:pt x="163909" y="122238"/>
                </a:lnTo>
                <a:lnTo>
                  <a:pt x="166688" y="122238"/>
                </a:lnTo>
                <a:cubicBezTo>
                  <a:pt x="172834" y="122238"/>
                  <a:pt x="177800" y="127203"/>
                  <a:pt x="177800" y="133350"/>
                </a:cubicBezTo>
                <a:lnTo>
                  <a:pt x="177800" y="155575"/>
                </a:lnTo>
                <a:cubicBezTo>
                  <a:pt x="177800" y="161722"/>
                  <a:pt x="172834" y="166688"/>
                  <a:pt x="166688" y="166688"/>
                </a:cubicBezTo>
                <a:lnTo>
                  <a:pt x="144463" y="166688"/>
                </a:lnTo>
                <a:cubicBezTo>
                  <a:pt x="138316" y="166688"/>
                  <a:pt x="133350" y="161722"/>
                  <a:pt x="133350" y="155575"/>
                </a:cubicBezTo>
                <a:lnTo>
                  <a:pt x="133350" y="133350"/>
                </a:lnTo>
                <a:cubicBezTo>
                  <a:pt x="133350" y="127203"/>
                  <a:pt x="138316" y="122238"/>
                  <a:pt x="144463" y="122238"/>
                </a:cubicBezTo>
                <a:lnTo>
                  <a:pt x="147241" y="122238"/>
                </a:lnTo>
                <a:lnTo>
                  <a:pt x="147241" y="102791"/>
                </a:lnTo>
                <a:cubicBezTo>
                  <a:pt x="147241" y="98172"/>
                  <a:pt x="143525" y="94456"/>
                  <a:pt x="138906" y="94456"/>
                </a:cubicBezTo>
                <a:lnTo>
                  <a:pt x="97234" y="94456"/>
                </a:lnTo>
                <a:lnTo>
                  <a:pt x="97234" y="122238"/>
                </a:lnTo>
                <a:lnTo>
                  <a:pt x="100013" y="122238"/>
                </a:lnTo>
                <a:cubicBezTo>
                  <a:pt x="106159" y="122238"/>
                  <a:pt x="111125" y="127203"/>
                  <a:pt x="111125" y="133350"/>
                </a:cubicBezTo>
                <a:lnTo>
                  <a:pt x="111125" y="155575"/>
                </a:lnTo>
                <a:cubicBezTo>
                  <a:pt x="111125" y="161722"/>
                  <a:pt x="106159" y="166688"/>
                  <a:pt x="100013" y="166688"/>
                </a:cubicBezTo>
                <a:lnTo>
                  <a:pt x="77788" y="166688"/>
                </a:lnTo>
                <a:cubicBezTo>
                  <a:pt x="71641" y="166688"/>
                  <a:pt x="66675" y="161722"/>
                  <a:pt x="66675" y="155575"/>
                </a:cubicBezTo>
                <a:lnTo>
                  <a:pt x="66675" y="133350"/>
                </a:lnTo>
                <a:cubicBezTo>
                  <a:pt x="66675" y="127203"/>
                  <a:pt x="71641" y="122238"/>
                  <a:pt x="77788" y="122238"/>
                </a:cubicBezTo>
                <a:lnTo>
                  <a:pt x="80566" y="122238"/>
                </a:lnTo>
                <a:lnTo>
                  <a:pt x="80566" y="94456"/>
                </a:lnTo>
                <a:lnTo>
                  <a:pt x="38894" y="94456"/>
                </a:lnTo>
                <a:cubicBezTo>
                  <a:pt x="34275" y="94456"/>
                  <a:pt x="30559" y="98172"/>
                  <a:pt x="30559" y="102791"/>
                </a:cubicBezTo>
                <a:lnTo>
                  <a:pt x="30559" y="122238"/>
                </a:lnTo>
                <a:lnTo>
                  <a:pt x="33337" y="122238"/>
                </a:lnTo>
                <a:cubicBezTo>
                  <a:pt x="39484" y="122238"/>
                  <a:pt x="44450" y="127203"/>
                  <a:pt x="44450" y="133350"/>
                </a:cubicBezTo>
                <a:lnTo>
                  <a:pt x="44450" y="155575"/>
                </a:lnTo>
                <a:cubicBezTo>
                  <a:pt x="44450" y="161722"/>
                  <a:pt x="39484" y="166688"/>
                  <a:pt x="33337" y="166688"/>
                </a:cubicBezTo>
                <a:lnTo>
                  <a:pt x="11112" y="166688"/>
                </a:lnTo>
                <a:cubicBezTo>
                  <a:pt x="4966" y="166688"/>
                  <a:pt x="0" y="161722"/>
                  <a:pt x="0" y="155575"/>
                </a:cubicBezTo>
                <a:lnTo>
                  <a:pt x="0" y="133350"/>
                </a:lnTo>
                <a:cubicBezTo>
                  <a:pt x="0" y="127203"/>
                  <a:pt x="4966" y="122238"/>
                  <a:pt x="11112" y="122238"/>
                </a:cubicBezTo>
                <a:lnTo>
                  <a:pt x="13891" y="122238"/>
                </a:lnTo>
                <a:lnTo>
                  <a:pt x="13891" y="102791"/>
                </a:lnTo>
                <a:cubicBezTo>
                  <a:pt x="13891" y="88969"/>
                  <a:pt x="25073" y="77788"/>
                  <a:pt x="38894" y="77788"/>
                </a:cubicBezTo>
                <a:lnTo>
                  <a:pt x="80566" y="77788"/>
                </a:lnTo>
                <a:lnTo>
                  <a:pt x="80566" y="55563"/>
                </a:lnTo>
                <a:lnTo>
                  <a:pt x="77788" y="55563"/>
                </a:lnTo>
                <a:cubicBezTo>
                  <a:pt x="71641" y="55563"/>
                  <a:pt x="66675" y="50597"/>
                  <a:pt x="66675" y="44450"/>
                </a:cubicBezTo>
                <a:lnTo>
                  <a:pt x="66675" y="22225"/>
                </a:ln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45465" y="4597400"/>
            <a:ext cx="5245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Tres instrumentos: Estrategia 2025-2028, PAFED anuales y SISPE.</a:t>
            </a:r>
            <a:endParaRPr lang="en-US" sz="1600" dirty="0"/>
          </a:p>
        </p:txBody>
      </p:sp>
      <p:pic>
        <p:nvPicPr>
          <p:cNvPr id="10" name="Image 0" descr="https://kimi-web-img.moonshot.cn/img/thumbs.dreamstime.com/03ecb6fc5dd79e507deff752de8b8d38b9df2a26.jpg"/>
          <p:cNvPicPr>
            <a:picLocks noChangeAspect="1"/>
          </p:cNvPicPr>
          <p:nvPr/>
        </p:nvPicPr>
        <p:blipFill>
          <a:blip r:embed="rId3"/>
          <a:srcRect l="16535" r="16535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11430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0" y="166688"/>
                </a:moveTo>
                <a:cubicBezTo>
                  <a:pt x="0" y="104924"/>
                  <a:pt x="47030" y="54173"/>
                  <a:pt x="107156" y="48220"/>
                </a:cubicBezTo>
                <a:lnTo>
                  <a:pt x="107156" y="47625"/>
                </a:lnTo>
                <a:lnTo>
                  <a:pt x="523875" y="47625"/>
                </a:lnTo>
                <a:cubicBezTo>
                  <a:pt x="602754" y="47625"/>
                  <a:pt x="666750" y="111621"/>
                  <a:pt x="666750" y="190500"/>
                </a:cubicBezTo>
                <a:lnTo>
                  <a:pt x="666750" y="452438"/>
                </a:lnTo>
                <a:lnTo>
                  <a:pt x="404813" y="452438"/>
                </a:lnTo>
                <a:cubicBezTo>
                  <a:pt x="345579" y="452438"/>
                  <a:pt x="297656" y="500360"/>
                  <a:pt x="297656" y="559594"/>
                </a:cubicBezTo>
                <a:lnTo>
                  <a:pt x="297656" y="648891"/>
                </a:lnTo>
                <a:cubicBezTo>
                  <a:pt x="297656" y="685056"/>
                  <a:pt x="268337" y="714375"/>
                  <a:pt x="232172" y="714375"/>
                </a:cubicBezTo>
                <a:cubicBezTo>
                  <a:pt x="196007" y="714375"/>
                  <a:pt x="166688" y="685056"/>
                  <a:pt x="166688" y="648891"/>
                </a:cubicBezTo>
                <a:lnTo>
                  <a:pt x="166688" y="309563"/>
                </a:lnTo>
                <a:lnTo>
                  <a:pt x="71438" y="309563"/>
                </a:lnTo>
                <a:cubicBezTo>
                  <a:pt x="31998" y="309563"/>
                  <a:pt x="0" y="277564"/>
                  <a:pt x="0" y="238125"/>
                </a:cubicBezTo>
                <a:lnTo>
                  <a:pt x="0" y="166688"/>
                </a:lnTo>
                <a:close/>
                <a:moveTo>
                  <a:pt x="352425" y="714375"/>
                </a:moveTo>
                <a:cubicBezTo>
                  <a:pt x="362992" y="694879"/>
                  <a:pt x="369094" y="672554"/>
                  <a:pt x="369094" y="648891"/>
                </a:cubicBezTo>
                <a:lnTo>
                  <a:pt x="369094" y="559594"/>
                </a:lnTo>
                <a:cubicBezTo>
                  <a:pt x="369094" y="539800"/>
                  <a:pt x="385018" y="523875"/>
                  <a:pt x="404813" y="523875"/>
                </a:cubicBezTo>
                <a:lnTo>
                  <a:pt x="773906" y="523875"/>
                </a:lnTo>
                <a:cubicBezTo>
                  <a:pt x="793700" y="523875"/>
                  <a:pt x="809625" y="539800"/>
                  <a:pt x="809625" y="559594"/>
                </a:cubicBezTo>
                <a:lnTo>
                  <a:pt x="809625" y="595313"/>
                </a:lnTo>
                <a:cubicBezTo>
                  <a:pt x="809625" y="661095"/>
                  <a:pt x="756345" y="714375"/>
                  <a:pt x="690563" y="714375"/>
                </a:cubicBezTo>
                <a:lnTo>
                  <a:pt x="352425" y="714375"/>
                </a:lnTo>
                <a:close/>
                <a:moveTo>
                  <a:pt x="119063" y="119063"/>
                </a:moveTo>
                <a:cubicBezTo>
                  <a:pt x="92720" y="119063"/>
                  <a:pt x="71438" y="140345"/>
                  <a:pt x="71438" y="166688"/>
                </a:cubicBezTo>
                <a:lnTo>
                  <a:pt x="71438" y="238125"/>
                </a:lnTo>
                <a:lnTo>
                  <a:pt x="166688" y="238125"/>
                </a:lnTo>
                <a:lnTo>
                  <a:pt x="166688" y="166688"/>
                </a:lnTo>
                <a:cubicBezTo>
                  <a:pt x="166688" y="140345"/>
                  <a:pt x="145405" y="119063"/>
                  <a:pt x="119063" y="119063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2235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Decreto 438/2024: La Cartera Común de Servicios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8956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Este decreto desarrolla la Cartera Común de Servicios del Sistema Nacional de Empleo, un paso fundamental para materializar los derechos establecidos en la Ley de Empleo.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810000"/>
            <a:ext cx="9753600" cy="2032000"/>
          </a:xfrm>
          <a:custGeom>
            <a:avLst/>
            <a:gdLst/>
            <a:ahLst/>
            <a:cxnLst/>
            <a:rect l="l" t="t" r="r" b="b"/>
            <a:pathLst>
              <a:path w="9753600" h="2032000">
                <a:moveTo>
                  <a:pt x="152400" y="0"/>
                </a:moveTo>
                <a:lnTo>
                  <a:pt x="9601200" y="0"/>
                </a:lnTo>
                <a:cubicBezTo>
                  <a:pt x="9685312" y="0"/>
                  <a:pt x="9753600" y="68288"/>
                  <a:pt x="9753600" y="152400"/>
                </a:cubicBezTo>
                <a:lnTo>
                  <a:pt x="9753600" y="1879600"/>
                </a:lnTo>
                <a:cubicBezTo>
                  <a:pt x="9753600" y="1963712"/>
                  <a:pt x="9685312" y="2032000"/>
                  <a:pt x="9601200" y="2032000"/>
                </a:cubicBezTo>
                <a:lnTo>
                  <a:pt x="152400" y="2032000"/>
                </a:lnTo>
                <a:cubicBezTo>
                  <a:pt x="68288" y="2032000"/>
                  <a:pt x="0" y="1963712"/>
                  <a:pt x="0" y="187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04800" y="4114800"/>
            <a:ext cx="965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Enfoque Centrado en el Acompañamiento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800" y="4622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Cartera Común transforma las PAE en </a:t>
            </a:r>
            <a:r>
              <a:rPr lang="en-US" sz="16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derechos subjetivos exigibles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garantizando a las personas demandantes y a las empresas un acompañamiento profesional a lo largo de toda la vida laboral, superando la concepción de mera prestación.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79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Alineación con las Directrices Europeas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5400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PAE españolas se alinean con el </a:t>
            </a:r>
            <a:r>
              <a:rPr lang="en-US" sz="16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Pilar Europeo de Derechos Sociales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sus ambiciosos objetivos para 2030: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3149600"/>
            <a:ext cx="4406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78%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38608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Empleo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1656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(Población 20-64 años)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96714" y="3149600"/>
            <a:ext cx="0" cy="1270000"/>
          </a:xfrm>
          <a:prstGeom prst="line">
            <a:avLst/>
          </a:prstGeom>
          <a:noFill/>
          <a:ln w="20320">
            <a:solidFill>
              <a:srgbClr val="FFC200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148614" y="3149600"/>
            <a:ext cx="0" cy="1270000"/>
          </a:xfrm>
          <a:prstGeom prst="line">
            <a:avLst/>
          </a:prstGeom>
          <a:noFill/>
          <a:ln w="20320">
            <a:solidFill>
              <a:srgbClr val="FFC200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914934" y="3149600"/>
            <a:ext cx="4356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14934" y="3860800"/>
            <a:ext cx="435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Anual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14934" y="4165600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(Participación adultos)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89228" y="3149600"/>
            <a:ext cx="4406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-15M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89228" y="38608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Reducción Pobreza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89228" y="41656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(Personas en riesgo)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000" y="4724400"/>
            <a:ext cx="1168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Estrategia 2025-2028 también se alinea con la </a:t>
            </a:r>
            <a:r>
              <a:rPr lang="en-US" sz="14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Carta Global de Derechos Laborales 2024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68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Gobernanza Multinivel del Sistema Nacional de Empleo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257300" y="2336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00AEE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638300" y="271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3152" y="4554"/>
                </a:moveTo>
                <a:cubicBezTo>
                  <a:pt x="222528" y="-1518"/>
                  <a:pt x="234672" y="-1518"/>
                  <a:pt x="244048" y="4554"/>
                </a:cubicBezTo>
                <a:lnTo>
                  <a:pt x="444073" y="133142"/>
                </a:lnTo>
                <a:cubicBezTo>
                  <a:pt x="454700" y="140017"/>
                  <a:pt x="459611" y="153055"/>
                  <a:pt x="456039" y="165199"/>
                </a:cubicBezTo>
                <a:cubicBezTo>
                  <a:pt x="452467" y="177344"/>
                  <a:pt x="441305" y="185738"/>
                  <a:pt x="428625" y="185738"/>
                </a:cubicBezTo>
                <a:lnTo>
                  <a:pt x="400050" y="185738"/>
                </a:lnTo>
                <a:lnTo>
                  <a:pt x="400050" y="371475"/>
                </a:lnTo>
                <a:lnTo>
                  <a:pt x="445770" y="405765"/>
                </a:lnTo>
                <a:cubicBezTo>
                  <a:pt x="453003" y="411123"/>
                  <a:pt x="457200" y="419606"/>
                  <a:pt x="457200" y="428625"/>
                </a:cubicBezTo>
                <a:cubicBezTo>
                  <a:pt x="457200" y="444431"/>
                  <a:pt x="444431" y="457200"/>
                  <a:pt x="428625" y="457200"/>
                </a:cubicBezTo>
                <a:lnTo>
                  <a:pt x="28575" y="457200"/>
                </a:lnTo>
                <a:cubicBezTo>
                  <a:pt x="12769" y="457200"/>
                  <a:pt x="0" y="444431"/>
                  <a:pt x="0" y="428625"/>
                </a:cubicBezTo>
                <a:cubicBezTo>
                  <a:pt x="0" y="419606"/>
                  <a:pt x="4197" y="411123"/>
                  <a:pt x="11430" y="405765"/>
                </a:cubicBezTo>
                <a:lnTo>
                  <a:pt x="57150" y="371475"/>
                </a:lnTo>
                <a:lnTo>
                  <a:pt x="57150" y="371475"/>
                </a:lnTo>
                <a:lnTo>
                  <a:pt x="57150" y="185738"/>
                </a:lnTo>
                <a:lnTo>
                  <a:pt x="28575" y="185738"/>
                </a:lnTo>
                <a:cubicBezTo>
                  <a:pt x="15895" y="185738"/>
                  <a:pt x="4733" y="177344"/>
                  <a:pt x="1161" y="165199"/>
                </a:cubicBezTo>
                <a:cubicBezTo>
                  <a:pt x="-2411" y="153055"/>
                  <a:pt x="2500" y="139928"/>
                  <a:pt x="13127" y="133142"/>
                </a:cubicBezTo>
                <a:lnTo>
                  <a:pt x="213152" y="4554"/>
                </a:lnTo>
                <a:close/>
                <a:moveTo>
                  <a:pt x="300038" y="185738"/>
                </a:moveTo>
                <a:lnTo>
                  <a:pt x="300038" y="371475"/>
                </a:lnTo>
                <a:lnTo>
                  <a:pt x="357188" y="371475"/>
                </a:lnTo>
                <a:lnTo>
                  <a:pt x="357188" y="185738"/>
                </a:lnTo>
                <a:lnTo>
                  <a:pt x="300038" y="185738"/>
                </a:lnTo>
                <a:close/>
                <a:moveTo>
                  <a:pt x="200025" y="371475"/>
                </a:moveTo>
                <a:lnTo>
                  <a:pt x="257175" y="371475"/>
                </a:lnTo>
                <a:lnTo>
                  <a:pt x="257175" y="185738"/>
                </a:lnTo>
                <a:lnTo>
                  <a:pt x="200025" y="185738"/>
                </a:lnTo>
                <a:lnTo>
                  <a:pt x="200025" y="371475"/>
                </a:lnTo>
                <a:close/>
                <a:moveTo>
                  <a:pt x="100013" y="185738"/>
                </a:moveTo>
                <a:lnTo>
                  <a:pt x="100013" y="371475"/>
                </a:lnTo>
                <a:lnTo>
                  <a:pt x="157163" y="371475"/>
                </a:lnTo>
                <a:lnTo>
                  <a:pt x="157163" y="185738"/>
                </a:lnTo>
                <a:lnTo>
                  <a:pt x="100013" y="185738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269524" y="3657600"/>
            <a:ext cx="119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0388" y="3962400"/>
            <a:ext cx="261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Agencia Española de Empleo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76600" y="2936242"/>
            <a:ext cx="1409700" cy="0"/>
          </a:xfrm>
          <a:prstGeom prst="line">
            <a:avLst/>
          </a:prstGeom>
          <a:noFill/>
          <a:ln w="20320">
            <a:solidFill>
              <a:srgbClr val="4080FF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0" y="2336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4080F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810250" y="2717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14350" y="42863"/>
                </a:moveTo>
                <a:cubicBezTo>
                  <a:pt x="514350" y="32951"/>
                  <a:pt x="509260" y="23753"/>
                  <a:pt x="500777" y="18574"/>
                </a:cubicBezTo>
                <a:cubicBezTo>
                  <a:pt x="492294" y="13395"/>
                  <a:pt x="481846" y="12859"/>
                  <a:pt x="473006" y="17324"/>
                </a:cubicBezTo>
                <a:lnTo>
                  <a:pt x="369243" y="69205"/>
                </a:lnTo>
                <a:lnTo>
                  <a:pt x="209044" y="15716"/>
                </a:lnTo>
                <a:cubicBezTo>
                  <a:pt x="201811" y="13305"/>
                  <a:pt x="194042" y="13841"/>
                  <a:pt x="187256" y="17234"/>
                </a:cubicBezTo>
                <a:lnTo>
                  <a:pt x="72956" y="74384"/>
                </a:lnTo>
                <a:cubicBezTo>
                  <a:pt x="63222" y="79296"/>
                  <a:pt x="57150" y="89208"/>
                  <a:pt x="57150" y="100013"/>
                </a:cubicBezTo>
                <a:lnTo>
                  <a:pt x="57150" y="414338"/>
                </a:lnTo>
                <a:cubicBezTo>
                  <a:pt x="57150" y="424249"/>
                  <a:pt x="62240" y="433447"/>
                  <a:pt x="70723" y="438626"/>
                </a:cubicBezTo>
                <a:cubicBezTo>
                  <a:pt x="79206" y="443805"/>
                  <a:pt x="89654" y="444341"/>
                  <a:pt x="98494" y="439876"/>
                </a:cubicBezTo>
                <a:lnTo>
                  <a:pt x="202168" y="387995"/>
                </a:lnTo>
                <a:lnTo>
                  <a:pt x="356920" y="439609"/>
                </a:lnTo>
                <a:cubicBezTo>
                  <a:pt x="353080" y="433894"/>
                  <a:pt x="349329" y="427911"/>
                  <a:pt x="345668" y="421838"/>
                </a:cubicBezTo>
                <a:cubicBezTo>
                  <a:pt x="335846" y="405497"/>
                  <a:pt x="326112" y="386745"/>
                  <a:pt x="318879" y="366653"/>
                </a:cubicBezTo>
                <a:lnTo>
                  <a:pt x="228511" y="336560"/>
                </a:lnTo>
                <a:lnTo>
                  <a:pt x="228511" y="82510"/>
                </a:lnTo>
                <a:lnTo>
                  <a:pt x="342811" y="120640"/>
                </a:lnTo>
                <a:lnTo>
                  <a:pt x="342811" y="209312"/>
                </a:lnTo>
                <a:cubicBezTo>
                  <a:pt x="370493" y="177344"/>
                  <a:pt x="411569" y="157162"/>
                  <a:pt x="457111" y="157162"/>
                </a:cubicBezTo>
                <a:cubicBezTo>
                  <a:pt x="477292" y="157162"/>
                  <a:pt x="496580" y="161092"/>
                  <a:pt x="514261" y="168325"/>
                </a:cubicBezTo>
                <a:lnTo>
                  <a:pt x="514350" y="42863"/>
                </a:lnTo>
                <a:close/>
                <a:moveTo>
                  <a:pt x="457200" y="200025"/>
                </a:moveTo>
                <a:cubicBezTo>
                  <a:pt x="397996" y="200025"/>
                  <a:pt x="350044" y="247174"/>
                  <a:pt x="350044" y="305306"/>
                </a:cubicBezTo>
                <a:cubicBezTo>
                  <a:pt x="350044" y="366832"/>
                  <a:pt x="407283" y="439609"/>
                  <a:pt x="438090" y="474345"/>
                </a:cubicBezTo>
                <a:cubicBezTo>
                  <a:pt x="448449" y="485954"/>
                  <a:pt x="466040" y="485954"/>
                  <a:pt x="476399" y="474345"/>
                </a:cubicBezTo>
                <a:cubicBezTo>
                  <a:pt x="507206" y="439609"/>
                  <a:pt x="564446" y="366832"/>
                  <a:pt x="564446" y="305306"/>
                </a:cubicBezTo>
                <a:cubicBezTo>
                  <a:pt x="564446" y="247174"/>
                  <a:pt x="516493" y="200025"/>
                  <a:pt x="457289" y="200025"/>
                </a:cubicBezTo>
                <a:close/>
                <a:moveTo>
                  <a:pt x="421481" y="307181"/>
                </a:moveTo>
                <a:cubicBezTo>
                  <a:pt x="421481" y="287468"/>
                  <a:pt x="437486" y="271463"/>
                  <a:pt x="457200" y="271463"/>
                </a:cubicBezTo>
                <a:cubicBezTo>
                  <a:pt x="476914" y="271463"/>
                  <a:pt x="492919" y="287468"/>
                  <a:pt x="492919" y="307181"/>
                </a:cubicBezTo>
                <a:cubicBezTo>
                  <a:pt x="492919" y="326895"/>
                  <a:pt x="476914" y="342900"/>
                  <a:pt x="457200" y="342900"/>
                </a:cubicBezTo>
                <a:cubicBezTo>
                  <a:pt x="437486" y="342900"/>
                  <a:pt x="421481" y="326895"/>
                  <a:pt x="421481" y="307181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94338" y="3657600"/>
            <a:ext cx="120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CC.AA.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72965" y="3962400"/>
            <a:ext cx="284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 Servicios Públicos de Empleo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05700" y="2936242"/>
            <a:ext cx="1409700" cy="0"/>
          </a:xfrm>
          <a:prstGeom prst="line">
            <a:avLst/>
          </a:prstGeom>
          <a:noFill/>
          <a:ln w="20320">
            <a:solidFill>
              <a:srgbClr val="FFC200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9715500" y="2336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C200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0067925" y="27178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85750" y="0"/>
                </a:moveTo>
                <a:cubicBezTo>
                  <a:pt x="254228" y="0"/>
                  <a:pt x="228600" y="25628"/>
                  <a:pt x="228600" y="57150"/>
                </a:cubicBezTo>
                <a:lnTo>
                  <a:pt x="228600" y="85725"/>
                </a:lnTo>
                <a:lnTo>
                  <a:pt x="185738" y="85725"/>
                </a:lnTo>
                <a:lnTo>
                  <a:pt x="185738" y="21431"/>
                </a:lnTo>
                <a:cubicBezTo>
                  <a:pt x="185738" y="9555"/>
                  <a:pt x="176183" y="0"/>
                  <a:pt x="164306" y="0"/>
                </a:cubicBezTo>
                <a:cubicBezTo>
                  <a:pt x="152430" y="0"/>
                  <a:pt x="142875" y="9555"/>
                  <a:pt x="142875" y="21431"/>
                </a:cubicBezTo>
                <a:lnTo>
                  <a:pt x="142875" y="85725"/>
                </a:lnTo>
                <a:lnTo>
                  <a:pt x="85725" y="85725"/>
                </a:lnTo>
                <a:lnTo>
                  <a:pt x="85725" y="21431"/>
                </a:lnTo>
                <a:cubicBezTo>
                  <a:pt x="85725" y="9555"/>
                  <a:pt x="76170" y="0"/>
                  <a:pt x="64294" y="0"/>
                </a:cubicBezTo>
                <a:cubicBezTo>
                  <a:pt x="52417" y="0"/>
                  <a:pt x="42863" y="9555"/>
                  <a:pt x="42863" y="21431"/>
                </a:cubicBezTo>
                <a:lnTo>
                  <a:pt x="42863" y="87511"/>
                </a:lnTo>
                <a:cubicBezTo>
                  <a:pt x="18217" y="93851"/>
                  <a:pt x="0" y="116265"/>
                  <a:pt x="0" y="142875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457200" y="457200"/>
                </a:lnTo>
                <a:cubicBezTo>
                  <a:pt x="488722" y="457200"/>
                  <a:pt x="514350" y="431572"/>
                  <a:pt x="514350" y="400050"/>
                </a:cubicBezTo>
                <a:lnTo>
                  <a:pt x="514350" y="228600"/>
                </a:lnTo>
                <a:cubicBezTo>
                  <a:pt x="514350" y="197078"/>
                  <a:pt x="488722" y="171450"/>
                  <a:pt x="457200" y="171450"/>
                </a:cubicBezTo>
                <a:lnTo>
                  <a:pt x="400050" y="171450"/>
                </a:lnTo>
                <a:lnTo>
                  <a:pt x="400050" y="57150"/>
                </a:lnTo>
                <a:cubicBezTo>
                  <a:pt x="400050" y="25628"/>
                  <a:pt x="374422" y="0"/>
                  <a:pt x="342900" y="0"/>
                </a:cubicBezTo>
                <a:lnTo>
                  <a:pt x="285750" y="0"/>
                </a:lnTo>
                <a:close/>
                <a:moveTo>
                  <a:pt x="342900" y="100013"/>
                </a:moveTo>
                <a:lnTo>
                  <a:pt x="342900" y="128588"/>
                </a:lnTo>
                <a:cubicBezTo>
                  <a:pt x="342900" y="136446"/>
                  <a:pt x="336471" y="142875"/>
                  <a:pt x="328613" y="142875"/>
                </a:cubicBezTo>
                <a:lnTo>
                  <a:pt x="300038" y="142875"/>
                </a:lnTo>
                <a:cubicBezTo>
                  <a:pt x="292179" y="142875"/>
                  <a:pt x="285750" y="136446"/>
                  <a:pt x="285750" y="128588"/>
                </a:cubicBezTo>
                <a:lnTo>
                  <a:pt x="285750" y="100013"/>
                </a:lnTo>
                <a:cubicBezTo>
                  <a:pt x="285750" y="92154"/>
                  <a:pt x="292179" y="85725"/>
                  <a:pt x="300038" y="85725"/>
                </a:cubicBezTo>
                <a:lnTo>
                  <a:pt x="328613" y="85725"/>
                </a:lnTo>
                <a:cubicBezTo>
                  <a:pt x="336471" y="85725"/>
                  <a:pt x="342900" y="92154"/>
                  <a:pt x="342900" y="100013"/>
                </a:cubicBezTo>
                <a:close/>
                <a:moveTo>
                  <a:pt x="328613" y="171450"/>
                </a:moveTo>
                <a:cubicBezTo>
                  <a:pt x="336471" y="171450"/>
                  <a:pt x="342900" y="177879"/>
                  <a:pt x="342900" y="185738"/>
                </a:cubicBezTo>
                <a:lnTo>
                  <a:pt x="342900" y="214313"/>
                </a:lnTo>
                <a:cubicBezTo>
                  <a:pt x="342900" y="222171"/>
                  <a:pt x="336471" y="228600"/>
                  <a:pt x="328613" y="228600"/>
                </a:cubicBezTo>
                <a:lnTo>
                  <a:pt x="300038" y="228600"/>
                </a:lnTo>
                <a:cubicBezTo>
                  <a:pt x="292179" y="228600"/>
                  <a:pt x="285750" y="222171"/>
                  <a:pt x="285750" y="214313"/>
                </a:cubicBezTo>
                <a:lnTo>
                  <a:pt x="285750" y="185738"/>
                </a:lnTo>
                <a:cubicBezTo>
                  <a:pt x="285750" y="177879"/>
                  <a:pt x="292179" y="171450"/>
                  <a:pt x="300038" y="171450"/>
                </a:cubicBezTo>
                <a:lnTo>
                  <a:pt x="328613" y="171450"/>
                </a:lnTo>
                <a:close/>
                <a:moveTo>
                  <a:pt x="342900" y="271463"/>
                </a:moveTo>
                <a:lnTo>
                  <a:pt x="342900" y="300038"/>
                </a:lnTo>
                <a:cubicBezTo>
                  <a:pt x="342900" y="307896"/>
                  <a:pt x="336471" y="314325"/>
                  <a:pt x="328613" y="314325"/>
                </a:cubicBezTo>
                <a:lnTo>
                  <a:pt x="300038" y="314325"/>
                </a:lnTo>
                <a:cubicBezTo>
                  <a:pt x="292179" y="314325"/>
                  <a:pt x="285750" y="307896"/>
                  <a:pt x="285750" y="300038"/>
                </a:cubicBezTo>
                <a:lnTo>
                  <a:pt x="285750" y="271463"/>
                </a:lnTo>
                <a:cubicBezTo>
                  <a:pt x="285750" y="263604"/>
                  <a:pt x="292179" y="257175"/>
                  <a:pt x="300038" y="257175"/>
                </a:cubicBezTo>
                <a:lnTo>
                  <a:pt x="328613" y="257175"/>
                </a:lnTo>
                <a:cubicBezTo>
                  <a:pt x="336471" y="257175"/>
                  <a:pt x="342900" y="263604"/>
                  <a:pt x="342900" y="271463"/>
                </a:cubicBezTo>
                <a:close/>
                <a:moveTo>
                  <a:pt x="442913" y="257175"/>
                </a:moveTo>
                <a:cubicBezTo>
                  <a:pt x="450771" y="257175"/>
                  <a:pt x="457200" y="263604"/>
                  <a:pt x="457200" y="271463"/>
                </a:cubicBezTo>
                <a:lnTo>
                  <a:pt x="457200" y="300038"/>
                </a:lnTo>
                <a:cubicBezTo>
                  <a:pt x="457200" y="307896"/>
                  <a:pt x="450771" y="314325"/>
                  <a:pt x="442913" y="314325"/>
                </a:cubicBezTo>
                <a:lnTo>
                  <a:pt x="414338" y="314325"/>
                </a:lnTo>
                <a:cubicBezTo>
                  <a:pt x="406479" y="314325"/>
                  <a:pt x="400050" y="307896"/>
                  <a:pt x="400050" y="300038"/>
                </a:cubicBezTo>
                <a:lnTo>
                  <a:pt x="400050" y="271463"/>
                </a:lnTo>
                <a:cubicBezTo>
                  <a:pt x="400050" y="263604"/>
                  <a:pt x="406479" y="257175"/>
                  <a:pt x="414338" y="257175"/>
                </a:cubicBezTo>
                <a:lnTo>
                  <a:pt x="442913" y="257175"/>
                </a:lnTo>
                <a:close/>
                <a:moveTo>
                  <a:pt x="228600" y="271463"/>
                </a:moveTo>
                <a:lnTo>
                  <a:pt x="228600" y="300038"/>
                </a:lnTo>
                <a:cubicBezTo>
                  <a:pt x="228600" y="307896"/>
                  <a:pt x="222171" y="314325"/>
                  <a:pt x="214313" y="314325"/>
                </a:cubicBezTo>
                <a:lnTo>
                  <a:pt x="185738" y="314325"/>
                </a:lnTo>
                <a:cubicBezTo>
                  <a:pt x="177879" y="314325"/>
                  <a:pt x="171450" y="307896"/>
                  <a:pt x="171450" y="300038"/>
                </a:cubicBezTo>
                <a:lnTo>
                  <a:pt x="171450" y="271463"/>
                </a:lnTo>
                <a:cubicBezTo>
                  <a:pt x="171450" y="263604"/>
                  <a:pt x="177879" y="257175"/>
                  <a:pt x="185738" y="257175"/>
                </a:cubicBezTo>
                <a:lnTo>
                  <a:pt x="214313" y="257175"/>
                </a:lnTo>
                <a:cubicBezTo>
                  <a:pt x="222171" y="257175"/>
                  <a:pt x="228600" y="263604"/>
                  <a:pt x="228600" y="271463"/>
                </a:cubicBezTo>
                <a:close/>
                <a:moveTo>
                  <a:pt x="214313" y="171450"/>
                </a:moveTo>
                <a:cubicBezTo>
                  <a:pt x="222171" y="171450"/>
                  <a:pt x="228600" y="177879"/>
                  <a:pt x="228600" y="185738"/>
                </a:cubicBezTo>
                <a:lnTo>
                  <a:pt x="228600" y="214313"/>
                </a:lnTo>
                <a:cubicBezTo>
                  <a:pt x="228600" y="222171"/>
                  <a:pt x="222171" y="228600"/>
                  <a:pt x="214313" y="228600"/>
                </a:cubicBezTo>
                <a:lnTo>
                  <a:pt x="185738" y="228600"/>
                </a:lnTo>
                <a:cubicBezTo>
                  <a:pt x="177879" y="228600"/>
                  <a:pt x="171450" y="222171"/>
                  <a:pt x="171450" y="214313"/>
                </a:cubicBezTo>
                <a:lnTo>
                  <a:pt x="171450" y="185738"/>
                </a:lnTo>
                <a:cubicBezTo>
                  <a:pt x="171450" y="177879"/>
                  <a:pt x="177879" y="171450"/>
                  <a:pt x="185738" y="171450"/>
                </a:cubicBezTo>
                <a:lnTo>
                  <a:pt x="214313" y="171450"/>
                </a:lnTo>
                <a:close/>
                <a:moveTo>
                  <a:pt x="114300" y="271463"/>
                </a:moveTo>
                <a:lnTo>
                  <a:pt x="114300" y="300038"/>
                </a:lnTo>
                <a:cubicBezTo>
                  <a:pt x="114300" y="307896"/>
                  <a:pt x="107871" y="314325"/>
                  <a:pt x="100013" y="314325"/>
                </a:cubicBezTo>
                <a:lnTo>
                  <a:pt x="71438" y="314325"/>
                </a:lnTo>
                <a:cubicBezTo>
                  <a:pt x="63579" y="314325"/>
                  <a:pt x="57150" y="307896"/>
                  <a:pt x="57150" y="300038"/>
                </a:cubicBezTo>
                <a:lnTo>
                  <a:pt x="57150" y="271463"/>
                </a:lnTo>
                <a:cubicBezTo>
                  <a:pt x="57150" y="263604"/>
                  <a:pt x="63579" y="257175"/>
                  <a:pt x="71438" y="257175"/>
                </a:cubicBezTo>
                <a:lnTo>
                  <a:pt x="100013" y="257175"/>
                </a:lnTo>
                <a:cubicBezTo>
                  <a:pt x="107871" y="257175"/>
                  <a:pt x="114300" y="263604"/>
                  <a:pt x="114300" y="271463"/>
                </a:cubicBezTo>
                <a:close/>
                <a:moveTo>
                  <a:pt x="100013" y="171450"/>
                </a:moveTo>
                <a:cubicBezTo>
                  <a:pt x="107871" y="171450"/>
                  <a:pt x="114300" y="177879"/>
                  <a:pt x="114300" y="185738"/>
                </a:cubicBezTo>
                <a:lnTo>
                  <a:pt x="114300" y="214313"/>
                </a:lnTo>
                <a:cubicBezTo>
                  <a:pt x="114300" y="222171"/>
                  <a:pt x="107871" y="228600"/>
                  <a:pt x="100013" y="228600"/>
                </a:cubicBezTo>
                <a:lnTo>
                  <a:pt x="71438" y="228600"/>
                </a:lnTo>
                <a:cubicBezTo>
                  <a:pt x="63579" y="228600"/>
                  <a:pt x="57150" y="222171"/>
                  <a:pt x="57150" y="214313"/>
                </a:cubicBezTo>
                <a:lnTo>
                  <a:pt x="57150" y="185738"/>
                </a:lnTo>
                <a:cubicBezTo>
                  <a:pt x="57150" y="177879"/>
                  <a:pt x="63579" y="171450"/>
                  <a:pt x="71438" y="171450"/>
                </a:cubicBezTo>
                <a:lnTo>
                  <a:pt x="100013" y="171450"/>
                </a:ln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698196" y="36576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53208" y="3962400"/>
            <a:ext cx="234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Administraciones Locales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33696" y="4876800"/>
            <a:ext cx="2476500" cy="812800"/>
          </a:xfrm>
          <a:custGeom>
            <a:avLst/>
            <a:gdLst/>
            <a:ahLst/>
            <a:cxnLst/>
            <a:rect l="l" t="t" r="r" b="b"/>
            <a:pathLst>
              <a:path w="2476500" h="812800">
                <a:moveTo>
                  <a:pt x="101600" y="0"/>
                </a:moveTo>
                <a:lnTo>
                  <a:pt x="2374900" y="0"/>
                </a:lnTo>
                <a:cubicBezTo>
                  <a:pt x="2430975" y="0"/>
                  <a:pt x="2476500" y="45525"/>
                  <a:pt x="2476500" y="101600"/>
                </a:cubicBezTo>
                <a:lnTo>
                  <a:pt x="2476500" y="711200"/>
                </a:lnTo>
                <a:cubicBezTo>
                  <a:pt x="2476500" y="767275"/>
                  <a:pt x="2430975" y="812800"/>
                  <a:pt x="23749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3F4F6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532096" y="5029200"/>
            <a:ext cx="267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Conferencia Sectorial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32096" y="5334000"/>
            <a:ext cx="2679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Cooperación Estado-CC.AA.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66731" y="4876800"/>
            <a:ext cx="3695700" cy="812800"/>
          </a:xfrm>
          <a:custGeom>
            <a:avLst/>
            <a:gdLst/>
            <a:ahLst/>
            <a:cxnLst/>
            <a:rect l="l" t="t" r="r" b="b"/>
            <a:pathLst>
              <a:path w="3695700" h="812800">
                <a:moveTo>
                  <a:pt x="101600" y="0"/>
                </a:moveTo>
                <a:lnTo>
                  <a:pt x="3594100" y="0"/>
                </a:lnTo>
                <a:cubicBezTo>
                  <a:pt x="3650175" y="0"/>
                  <a:pt x="3695700" y="45525"/>
                  <a:pt x="3695700" y="101600"/>
                </a:cubicBezTo>
                <a:lnTo>
                  <a:pt x="3695700" y="711200"/>
                </a:lnTo>
                <a:cubicBezTo>
                  <a:pt x="3695700" y="767275"/>
                  <a:pt x="3650175" y="812800"/>
                  <a:pt x="35941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3F4F6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765131" y="5029200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Consejo General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5131" y="5334000"/>
            <a:ext cx="3898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Órgano tripartito (Estado, sindicatos, patronal)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828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Tipologías de PAE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256898"/>
            <a:ext cx="5640070" cy="11079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PARTE  03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1465" y="607504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91465" y="630872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91465" y="654240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29146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158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152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73164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uop.scene7.com/050ddaa453091c665bbf117027059840b4373d76.webp"/>
          <p:cNvPicPr>
            <a:picLocks noChangeAspect="1"/>
          </p:cNvPicPr>
          <p:nvPr/>
        </p:nvPicPr>
        <p:blipFill>
          <a:blip r:embed="rId3"/>
          <a:srcRect l="32188" r="32188"/>
          <a:stretch/>
        </p:blipFill>
        <p:spPr>
          <a:xfrm>
            <a:off x="1371600" y="2209800"/>
            <a:ext cx="2438400" cy="2438400"/>
          </a:xfrm>
          <a:prstGeom prst="roundRect">
            <a:avLst>
              <a:gd name="adj" fmla="val 50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5334000" y="2540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Tipología 1: Orientación Laboral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334000" y="9144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</a:t>
            </a:r>
            <a:r>
              <a:rPr lang="en-US" sz="14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puerta de entrada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 sistema, proporcionando asesoramiento personalizado para mejorar la empleabilidad.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00675" y="16662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638800" y="16256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 individualizado de perfil profesional.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00675" y="20218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638800" y="1981200"/>
            <a:ext cx="472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Diseño de itinerarios personalizados de inserción.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00675" y="23774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638800" y="2336800"/>
            <a:ext cx="434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Información actualizada del mercado laboral.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00675" y="27330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638800" y="2692400"/>
            <a:ext cx="481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Técnicas de búsqueda de empleo (CV, entrevistas).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34000" y="3149600"/>
            <a:ext cx="6604000" cy="406400"/>
          </a:xfrm>
          <a:custGeom>
            <a:avLst/>
            <a:gdLst/>
            <a:ahLst/>
            <a:cxnLst/>
            <a:rect l="l" t="t" r="r" b="b"/>
            <a:pathLst>
              <a:path w="6604000" h="406400">
                <a:moveTo>
                  <a:pt x="76200" y="0"/>
                </a:moveTo>
                <a:lnTo>
                  <a:pt x="6527800" y="0"/>
                </a:lnTo>
                <a:cubicBezTo>
                  <a:pt x="6569856" y="0"/>
                  <a:pt x="6604000" y="34144"/>
                  <a:pt x="6604000" y="76200"/>
                </a:cubicBezTo>
                <a:lnTo>
                  <a:pt x="6604000" y="330200"/>
                </a:lnTo>
                <a:cubicBezTo>
                  <a:pt x="6604000" y="372256"/>
                  <a:pt x="6569856" y="406400"/>
                  <a:pt x="6527800" y="406400"/>
                </a:cubicBezTo>
                <a:lnTo>
                  <a:pt x="76200" y="406400"/>
                </a:lnTo>
                <a:cubicBezTo>
                  <a:pt x="34144" y="406400"/>
                  <a:pt x="0" y="372256"/>
                  <a:pt x="0" y="330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5E5E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5334000" y="3149600"/>
            <a:ext cx="71120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Crucial para colectivos con mayores dificultades de inserción.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889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Tipología 2: Formación Profesional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5494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Elemento central para aumentar la empleabilidad, adaptando las competencias a las demandas del mercado.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159000"/>
            <a:ext cx="5740400" cy="1803400"/>
          </a:xfrm>
          <a:custGeom>
            <a:avLst/>
            <a:gdLst/>
            <a:ahLst/>
            <a:cxnLst/>
            <a:rect l="l" t="t" r="r" b="b"/>
            <a:pathLst>
              <a:path w="5740400" h="1803400">
                <a:moveTo>
                  <a:pt x="101604" y="0"/>
                </a:moveTo>
                <a:lnTo>
                  <a:pt x="5638796" y="0"/>
                </a:lnTo>
                <a:cubicBezTo>
                  <a:pt x="5694911" y="0"/>
                  <a:pt x="5740400" y="45489"/>
                  <a:pt x="5740400" y="101604"/>
                </a:cubicBezTo>
                <a:lnTo>
                  <a:pt x="5740400" y="1701796"/>
                </a:lnTo>
                <a:cubicBezTo>
                  <a:pt x="5740400" y="1757911"/>
                  <a:pt x="5694911" y="1803400"/>
                  <a:pt x="56387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2603500"/>
            <a:ext cx="584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Dual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0099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Combina enseñanza teórica y práctica en empresas, facilitando la inserción laboral.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2159000"/>
            <a:ext cx="5740400" cy="1803400"/>
          </a:xfrm>
          <a:custGeom>
            <a:avLst/>
            <a:gdLst/>
            <a:ahLst/>
            <a:cxnLst/>
            <a:rect l="l" t="t" r="r" b="b"/>
            <a:pathLst>
              <a:path w="5740400" h="1803400">
                <a:moveTo>
                  <a:pt x="101604" y="0"/>
                </a:moveTo>
                <a:lnTo>
                  <a:pt x="5638796" y="0"/>
                </a:lnTo>
                <a:cubicBezTo>
                  <a:pt x="5694911" y="0"/>
                  <a:pt x="5740400" y="45489"/>
                  <a:pt x="5740400" y="101604"/>
                </a:cubicBezTo>
                <a:lnTo>
                  <a:pt x="5740400" y="1701796"/>
                </a:lnTo>
                <a:cubicBezTo>
                  <a:pt x="5740400" y="1757911"/>
                  <a:pt x="5694911" y="1803400"/>
                  <a:pt x="56387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0" y="2603500"/>
            <a:ext cx="584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Recualificación Profesional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30099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Facilita la transición de trabajadores de sectores en declive a nuevas ocupaciones.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4165600"/>
            <a:ext cx="5740400" cy="1803400"/>
          </a:xfrm>
          <a:custGeom>
            <a:avLst/>
            <a:gdLst/>
            <a:ahLst/>
            <a:cxnLst/>
            <a:rect l="l" t="t" r="r" b="b"/>
            <a:pathLst>
              <a:path w="5740400" h="1803400">
                <a:moveTo>
                  <a:pt x="101604" y="0"/>
                </a:moveTo>
                <a:lnTo>
                  <a:pt x="5638796" y="0"/>
                </a:lnTo>
                <a:cubicBezTo>
                  <a:pt x="5694911" y="0"/>
                  <a:pt x="5740400" y="45489"/>
                  <a:pt x="5740400" y="101604"/>
                </a:cubicBezTo>
                <a:lnTo>
                  <a:pt x="5740400" y="1701796"/>
                </a:lnTo>
                <a:cubicBezTo>
                  <a:pt x="5740400" y="1757911"/>
                  <a:pt x="5694911" y="1803400"/>
                  <a:pt x="56387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4610100"/>
            <a:ext cx="584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Certificados de Profesionalidad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0165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Acreditan oficialmente las competencias adquiridas, facilitando su reconocimiento.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7600" y="4165600"/>
            <a:ext cx="5740400" cy="1803400"/>
          </a:xfrm>
          <a:custGeom>
            <a:avLst/>
            <a:gdLst/>
            <a:ahLst/>
            <a:cxnLst/>
            <a:rect l="l" t="t" r="r" b="b"/>
            <a:pathLst>
              <a:path w="5740400" h="1803400">
                <a:moveTo>
                  <a:pt x="101604" y="0"/>
                </a:moveTo>
                <a:lnTo>
                  <a:pt x="5638796" y="0"/>
                </a:lnTo>
                <a:cubicBezTo>
                  <a:pt x="5694911" y="0"/>
                  <a:pt x="5740400" y="45489"/>
                  <a:pt x="5740400" y="101604"/>
                </a:cubicBezTo>
                <a:lnTo>
                  <a:pt x="5740400" y="1701796"/>
                </a:lnTo>
                <a:cubicBezTo>
                  <a:pt x="5740400" y="1757911"/>
                  <a:pt x="5694911" y="1803400"/>
                  <a:pt x="56387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00800" y="4610100"/>
            <a:ext cx="584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Habilidades Clave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50165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Foco en competencias digitales, idiomas y habilidades blandas (comunicación, etc.).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12242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Tipología 3: Incentivos a la Contratación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529842"/>
            <a:ext cx="553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Medidas para estimular la creación de empleo, especialmente para colectivos prioritarios, reduciendo los costes laborales para el empleador.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495042"/>
            <a:ext cx="5537200" cy="546100"/>
          </a:xfrm>
          <a:custGeom>
            <a:avLst/>
            <a:gdLst/>
            <a:ahLst/>
            <a:cxnLst/>
            <a:rect l="l" t="t" r="r" b="b"/>
            <a:pathLst>
              <a:path w="5537200" h="546100">
                <a:moveTo>
                  <a:pt x="101602" y="0"/>
                </a:moveTo>
                <a:lnTo>
                  <a:pt x="5435598" y="0"/>
                </a:lnTo>
                <a:cubicBezTo>
                  <a:pt x="5491711" y="0"/>
                  <a:pt x="5537200" y="45489"/>
                  <a:pt x="5537200" y="101602"/>
                </a:cubicBezTo>
                <a:lnTo>
                  <a:pt x="5537200" y="444498"/>
                </a:lnTo>
                <a:cubicBezTo>
                  <a:pt x="5537200" y="500611"/>
                  <a:pt x="5491711" y="546100"/>
                  <a:pt x="54355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C200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76250" y="3596642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14300" y="76200"/>
                </a:moveTo>
                <a:cubicBezTo>
                  <a:pt x="114300" y="44658"/>
                  <a:pt x="88692" y="19050"/>
                  <a:pt x="57150" y="19050"/>
                </a:cubicBezTo>
                <a:cubicBezTo>
                  <a:pt x="25608" y="19050"/>
                  <a:pt x="0" y="44658"/>
                  <a:pt x="0" y="76200"/>
                </a:cubicBezTo>
                <a:cubicBezTo>
                  <a:pt x="0" y="107742"/>
                  <a:pt x="25608" y="133350"/>
                  <a:pt x="57150" y="133350"/>
                </a:cubicBezTo>
                <a:cubicBezTo>
                  <a:pt x="88692" y="133350"/>
                  <a:pt x="114300" y="107742"/>
                  <a:pt x="114300" y="76200"/>
                </a:cubicBezTo>
                <a:close/>
                <a:moveTo>
                  <a:pt x="266700" y="228600"/>
                </a:moveTo>
                <a:cubicBezTo>
                  <a:pt x="266700" y="197058"/>
                  <a:pt x="241092" y="171450"/>
                  <a:pt x="209550" y="171450"/>
                </a:cubicBezTo>
                <a:cubicBezTo>
                  <a:pt x="178008" y="171450"/>
                  <a:pt x="152400" y="197058"/>
                  <a:pt x="152400" y="228600"/>
                </a:cubicBezTo>
                <a:cubicBezTo>
                  <a:pt x="152400" y="260142"/>
                  <a:pt x="178008" y="285750"/>
                  <a:pt x="209550" y="285750"/>
                </a:cubicBezTo>
                <a:cubicBezTo>
                  <a:pt x="241092" y="285750"/>
                  <a:pt x="266700" y="260142"/>
                  <a:pt x="266700" y="228600"/>
                </a:cubicBezTo>
                <a:close/>
                <a:moveTo>
                  <a:pt x="261104" y="51554"/>
                </a:moveTo>
                <a:cubicBezTo>
                  <a:pt x="268545" y="44113"/>
                  <a:pt x="268545" y="32028"/>
                  <a:pt x="261104" y="24586"/>
                </a:cubicBezTo>
                <a:cubicBezTo>
                  <a:pt x="253663" y="17145"/>
                  <a:pt x="241578" y="17145"/>
                  <a:pt x="234136" y="24586"/>
                </a:cubicBezTo>
                <a:lnTo>
                  <a:pt x="5536" y="253186"/>
                </a:lnTo>
                <a:cubicBezTo>
                  <a:pt x="-1905" y="260628"/>
                  <a:pt x="-1905" y="272713"/>
                  <a:pt x="5536" y="280154"/>
                </a:cubicBezTo>
                <a:cubicBezTo>
                  <a:pt x="12978" y="287595"/>
                  <a:pt x="25063" y="287595"/>
                  <a:pt x="32504" y="280154"/>
                </a:cubicBezTo>
                <a:lnTo>
                  <a:pt x="261104" y="51554"/>
                </a:ln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63600" y="3616964"/>
            <a:ext cx="520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Bonificaciones en cuotas a la Seguridad Social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4196079"/>
            <a:ext cx="5537200" cy="546100"/>
          </a:xfrm>
          <a:custGeom>
            <a:avLst/>
            <a:gdLst/>
            <a:ahLst/>
            <a:cxnLst/>
            <a:rect l="l" t="t" r="r" b="b"/>
            <a:pathLst>
              <a:path w="5537200" h="546100">
                <a:moveTo>
                  <a:pt x="101602" y="0"/>
                </a:moveTo>
                <a:lnTo>
                  <a:pt x="5435598" y="0"/>
                </a:lnTo>
                <a:cubicBezTo>
                  <a:pt x="5491711" y="0"/>
                  <a:pt x="5537200" y="45489"/>
                  <a:pt x="5537200" y="101602"/>
                </a:cubicBezTo>
                <a:lnTo>
                  <a:pt x="5537200" y="444498"/>
                </a:lnTo>
                <a:cubicBezTo>
                  <a:pt x="5537200" y="500611"/>
                  <a:pt x="5491711" y="546100"/>
                  <a:pt x="54355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C200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38150" y="4297679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-9525"/>
                </a:moveTo>
                <a:cubicBezTo>
                  <a:pt x="163532" y="-9525"/>
                  <a:pt x="157163" y="-3155"/>
                  <a:pt x="157163" y="4763"/>
                </a:cubicBezTo>
                <a:lnTo>
                  <a:pt x="157163" y="11906"/>
                </a:lnTo>
                <a:lnTo>
                  <a:pt x="156091" y="11906"/>
                </a:lnTo>
                <a:cubicBezTo>
                  <a:pt x="134303" y="11906"/>
                  <a:pt x="116681" y="29587"/>
                  <a:pt x="116681" y="51316"/>
                </a:cubicBezTo>
                <a:cubicBezTo>
                  <a:pt x="116681" y="71199"/>
                  <a:pt x="131505" y="87987"/>
                  <a:pt x="151209" y="90428"/>
                </a:cubicBezTo>
                <a:lnTo>
                  <a:pt x="187523" y="94952"/>
                </a:lnTo>
                <a:cubicBezTo>
                  <a:pt x="190560" y="95310"/>
                  <a:pt x="192881" y="97929"/>
                  <a:pt x="192881" y="101025"/>
                </a:cubicBezTo>
                <a:cubicBezTo>
                  <a:pt x="192881" y="104418"/>
                  <a:pt x="190143" y="107097"/>
                  <a:pt x="186809" y="107097"/>
                </a:cubicBezTo>
                <a:lnTo>
                  <a:pt x="142875" y="107156"/>
                </a:lnTo>
                <a:cubicBezTo>
                  <a:pt x="133648" y="107156"/>
                  <a:pt x="126206" y="114598"/>
                  <a:pt x="126206" y="123825"/>
                </a:cubicBezTo>
                <a:cubicBezTo>
                  <a:pt x="126206" y="133052"/>
                  <a:pt x="133648" y="140494"/>
                  <a:pt x="142875" y="140494"/>
                </a:cubicBezTo>
                <a:lnTo>
                  <a:pt x="157163" y="140494"/>
                </a:lnTo>
                <a:lnTo>
                  <a:pt x="157163" y="147638"/>
                </a:lnTo>
                <a:cubicBezTo>
                  <a:pt x="157163" y="155555"/>
                  <a:pt x="163532" y="161925"/>
                  <a:pt x="171450" y="161925"/>
                </a:cubicBezTo>
                <a:cubicBezTo>
                  <a:pt x="179368" y="161925"/>
                  <a:pt x="185738" y="155555"/>
                  <a:pt x="185738" y="147638"/>
                </a:cubicBezTo>
                <a:lnTo>
                  <a:pt x="185738" y="140494"/>
                </a:lnTo>
                <a:lnTo>
                  <a:pt x="186809" y="140494"/>
                </a:lnTo>
                <a:cubicBezTo>
                  <a:pt x="208598" y="140494"/>
                  <a:pt x="226219" y="122813"/>
                  <a:pt x="226219" y="101084"/>
                </a:cubicBezTo>
                <a:cubicBezTo>
                  <a:pt x="226219" y="81201"/>
                  <a:pt x="211395" y="64413"/>
                  <a:pt x="191691" y="61972"/>
                </a:cubicBezTo>
                <a:lnTo>
                  <a:pt x="155377" y="57448"/>
                </a:lnTo>
                <a:cubicBezTo>
                  <a:pt x="152340" y="57090"/>
                  <a:pt x="150019" y="54471"/>
                  <a:pt x="150019" y="51375"/>
                </a:cubicBezTo>
                <a:cubicBezTo>
                  <a:pt x="150019" y="47982"/>
                  <a:pt x="152757" y="45303"/>
                  <a:pt x="156091" y="45303"/>
                </a:cubicBezTo>
                <a:lnTo>
                  <a:pt x="195263" y="45244"/>
                </a:lnTo>
                <a:cubicBezTo>
                  <a:pt x="204490" y="45244"/>
                  <a:pt x="211931" y="37802"/>
                  <a:pt x="211931" y="28575"/>
                </a:cubicBezTo>
                <a:cubicBezTo>
                  <a:pt x="211931" y="19348"/>
                  <a:pt x="204490" y="11906"/>
                  <a:pt x="195263" y="11906"/>
                </a:cubicBezTo>
                <a:lnTo>
                  <a:pt x="185738" y="11906"/>
                </a:lnTo>
                <a:lnTo>
                  <a:pt x="185738" y="4763"/>
                </a:lnTo>
                <a:cubicBezTo>
                  <a:pt x="185738" y="-3155"/>
                  <a:pt x="179368" y="-9525"/>
                  <a:pt x="171450" y="-9525"/>
                </a:cubicBezTo>
                <a:close/>
                <a:moveTo>
                  <a:pt x="65068" y="203299"/>
                </a:moveTo>
                <a:lnTo>
                  <a:pt x="39707" y="228600"/>
                </a:lnTo>
                <a:lnTo>
                  <a:pt x="19050" y="228600"/>
                </a:lnTo>
                <a:cubicBezTo>
                  <a:pt x="8513" y="228600"/>
                  <a:pt x="0" y="237113"/>
                  <a:pt x="0" y="247650"/>
                </a:cubicBezTo>
                <a:lnTo>
                  <a:pt x="0" y="285750"/>
                </a:lnTo>
                <a:cubicBezTo>
                  <a:pt x="0" y="296287"/>
                  <a:pt x="8513" y="304800"/>
                  <a:pt x="19050" y="304800"/>
                </a:cubicBezTo>
                <a:lnTo>
                  <a:pt x="209848" y="304800"/>
                </a:lnTo>
                <a:cubicBezTo>
                  <a:pt x="227112" y="304800"/>
                  <a:pt x="243959" y="299264"/>
                  <a:pt x="257889" y="289024"/>
                </a:cubicBezTo>
                <a:lnTo>
                  <a:pt x="333256" y="233482"/>
                </a:lnTo>
                <a:cubicBezTo>
                  <a:pt x="343852" y="225683"/>
                  <a:pt x="346115" y="210800"/>
                  <a:pt x="338316" y="200204"/>
                </a:cubicBezTo>
                <a:cubicBezTo>
                  <a:pt x="330518" y="189607"/>
                  <a:pt x="315635" y="187345"/>
                  <a:pt x="305038" y="195143"/>
                </a:cubicBezTo>
                <a:lnTo>
                  <a:pt x="233720" y="247650"/>
                </a:lnTo>
                <a:lnTo>
                  <a:pt x="166688" y="247650"/>
                </a:lnTo>
                <a:cubicBezTo>
                  <a:pt x="158770" y="247650"/>
                  <a:pt x="152400" y="241280"/>
                  <a:pt x="152400" y="233363"/>
                </a:cubicBezTo>
                <a:cubicBezTo>
                  <a:pt x="152400" y="225445"/>
                  <a:pt x="158770" y="219075"/>
                  <a:pt x="166688" y="219075"/>
                </a:cubicBezTo>
                <a:lnTo>
                  <a:pt x="209550" y="219075"/>
                </a:lnTo>
                <a:cubicBezTo>
                  <a:pt x="220087" y="219075"/>
                  <a:pt x="228600" y="210562"/>
                  <a:pt x="228600" y="200025"/>
                </a:cubicBezTo>
                <a:cubicBezTo>
                  <a:pt x="228600" y="189488"/>
                  <a:pt x="220087" y="180975"/>
                  <a:pt x="209550" y="180975"/>
                </a:cubicBezTo>
                <a:lnTo>
                  <a:pt x="118943" y="180975"/>
                </a:lnTo>
                <a:cubicBezTo>
                  <a:pt x="98762" y="180975"/>
                  <a:pt x="79355" y="189012"/>
                  <a:pt x="65068" y="203299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63600" y="4318000"/>
            <a:ext cx="454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Subvenciones directas por contratación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4897121"/>
            <a:ext cx="5537200" cy="546100"/>
          </a:xfrm>
          <a:custGeom>
            <a:avLst/>
            <a:gdLst/>
            <a:ahLst/>
            <a:cxnLst/>
            <a:rect l="l" t="t" r="r" b="b"/>
            <a:pathLst>
              <a:path w="5537200" h="546100">
                <a:moveTo>
                  <a:pt x="101602" y="0"/>
                </a:moveTo>
                <a:lnTo>
                  <a:pt x="5435598" y="0"/>
                </a:lnTo>
                <a:cubicBezTo>
                  <a:pt x="5491711" y="0"/>
                  <a:pt x="5537200" y="45489"/>
                  <a:pt x="5537200" y="101602"/>
                </a:cubicBezTo>
                <a:lnTo>
                  <a:pt x="5537200" y="444498"/>
                </a:lnTo>
                <a:cubicBezTo>
                  <a:pt x="5537200" y="500611"/>
                  <a:pt x="5491711" y="546100"/>
                  <a:pt x="54355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C200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95300" y="4998721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38100" y="52388"/>
                </a:moveTo>
                <a:cubicBezTo>
                  <a:pt x="38100" y="60305"/>
                  <a:pt x="44470" y="66675"/>
                  <a:pt x="52388" y="66675"/>
                </a:cubicBezTo>
                <a:lnTo>
                  <a:pt x="80962" y="66675"/>
                </a:lnTo>
                <a:cubicBezTo>
                  <a:pt x="88880" y="66675"/>
                  <a:pt x="95250" y="60305"/>
                  <a:pt x="95250" y="52388"/>
                </a:cubicBezTo>
                <a:cubicBezTo>
                  <a:pt x="95250" y="44470"/>
                  <a:pt x="88880" y="38100"/>
                  <a:pt x="80962" y="38100"/>
                </a:cubicBezTo>
                <a:lnTo>
                  <a:pt x="52388" y="38100"/>
                </a:lnTo>
                <a:cubicBezTo>
                  <a:pt x="44470" y="38100"/>
                  <a:pt x="38100" y="44470"/>
                  <a:pt x="38100" y="52388"/>
                </a:cubicBezTo>
                <a:close/>
                <a:moveTo>
                  <a:pt x="38100" y="109537"/>
                </a:moveTo>
                <a:cubicBezTo>
                  <a:pt x="38100" y="117455"/>
                  <a:pt x="44470" y="123825"/>
                  <a:pt x="52388" y="123825"/>
                </a:cubicBezTo>
                <a:lnTo>
                  <a:pt x="80962" y="123825"/>
                </a:lnTo>
                <a:cubicBezTo>
                  <a:pt x="88880" y="123825"/>
                  <a:pt x="95250" y="117455"/>
                  <a:pt x="95250" y="109537"/>
                </a:cubicBezTo>
                <a:cubicBezTo>
                  <a:pt x="95250" y="101620"/>
                  <a:pt x="88880" y="95250"/>
                  <a:pt x="80962" y="95250"/>
                </a:cubicBezTo>
                <a:lnTo>
                  <a:pt x="52388" y="95250"/>
                </a:lnTo>
                <a:cubicBezTo>
                  <a:pt x="44470" y="95250"/>
                  <a:pt x="38100" y="101620"/>
                  <a:pt x="38100" y="109537"/>
                </a:cubicBezTo>
                <a:close/>
                <a:moveTo>
                  <a:pt x="104775" y="154781"/>
                </a:moveTo>
                <a:lnTo>
                  <a:pt x="104775" y="157163"/>
                </a:lnTo>
                <a:cubicBezTo>
                  <a:pt x="87630" y="157341"/>
                  <a:pt x="73819" y="171271"/>
                  <a:pt x="73819" y="188416"/>
                </a:cubicBezTo>
                <a:cubicBezTo>
                  <a:pt x="73819" y="203716"/>
                  <a:pt x="84832" y="216753"/>
                  <a:pt x="99953" y="219254"/>
                </a:cubicBezTo>
                <a:lnTo>
                  <a:pt x="124778" y="223421"/>
                </a:lnTo>
                <a:cubicBezTo>
                  <a:pt x="128349" y="224016"/>
                  <a:pt x="130969" y="227112"/>
                  <a:pt x="130969" y="230743"/>
                </a:cubicBezTo>
                <a:cubicBezTo>
                  <a:pt x="130969" y="234851"/>
                  <a:pt x="127635" y="238185"/>
                  <a:pt x="123527" y="238185"/>
                </a:cubicBezTo>
                <a:lnTo>
                  <a:pt x="90488" y="238125"/>
                </a:lnTo>
                <a:cubicBezTo>
                  <a:pt x="83939" y="238125"/>
                  <a:pt x="78581" y="243483"/>
                  <a:pt x="78581" y="250031"/>
                </a:cubicBezTo>
                <a:cubicBezTo>
                  <a:pt x="78581" y="256580"/>
                  <a:pt x="83939" y="261937"/>
                  <a:pt x="90488" y="261937"/>
                </a:cubicBezTo>
                <a:lnTo>
                  <a:pt x="104775" y="261937"/>
                </a:lnTo>
                <a:lnTo>
                  <a:pt x="104775" y="264319"/>
                </a:lnTo>
                <a:cubicBezTo>
                  <a:pt x="104775" y="270867"/>
                  <a:pt x="110133" y="276225"/>
                  <a:pt x="116681" y="276225"/>
                </a:cubicBezTo>
                <a:cubicBezTo>
                  <a:pt x="123230" y="276225"/>
                  <a:pt x="128588" y="270867"/>
                  <a:pt x="128588" y="264319"/>
                </a:cubicBezTo>
                <a:lnTo>
                  <a:pt x="128588" y="261521"/>
                </a:lnTo>
                <a:cubicBezTo>
                  <a:pt x="143470" y="259080"/>
                  <a:pt x="154781" y="246221"/>
                  <a:pt x="154781" y="230684"/>
                </a:cubicBezTo>
                <a:cubicBezTo>
                  <a:pt x="154781" y="215384"/>
                  <a:pt x="143768" y="202347"/>
                  <a:pt x="128647" y="199846"/>
                </a:cubicBezTo>
                <a:lnTo>
                  <a:pt x="103822" y="195679"/>
                </a:lnTo>
                <a:cubicBezTo>
                  <a:pt x="100251" y="195084"/>
                  <a:pt x="97631" y="191988"/>
                  <a:pt x="97631" y="188357"/>
                </a:cubicBezTo>
                <a:cubicBezTo>
                  <a:pt x="97631" y="184249"/>
                  <a:pt x="100965" y="180915"/>
                  <a:pt x="105073" y="180915"/>
                </a:cubicBezTo>
                <a:lnTo>
                  <a:pt x="133350" y="180915"/>
                </a:lnTo>
                <a:cubicBezTo>
                  <a:pt x="139898" y="180915"/>
                  <a:pt x="145256" y="175558"/>
                  <a:pt x="145256" y="169009"/>
                </a:cubicBezTo>
                <a:cubicBezTo>
                  <a:pt x="145256" y="162461"/>
                  <a:pt x="139898" y="157103"/>
                  <a:pt x="133350" y="157103"/>
                </a:cubicBezTo>
                <a:lnTo>
                  <a:pt x="128587" y="157103"/>
                </a:lnTo>
                <a:lnTo>
                  <a:pt x="128587" y="154722"/>
                </a:lnTo>
                <a:cubicBezTo>
                  <a:pt x="128587" y="148173"/>
                  <a:pt x="123230" y="142815"/>
                  <a:pt x="116681" y="142815"/>
                </a:cubicBezTo>
                <a:cubicBezTo>
                  <a:pt x="110133" y="142815"/>
                  <a:pt x="104775" y="148173"/>
                  <a:pt x="104775" y="154722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63600" y="5019042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Deducciones fiscales por contratos estables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0" y="254000"/>
            <a:ext cx="0" cy="6350000"/>
          </a:xfrm>
          <a:prstGeom prst="line">
            <a:avLst/>
          </a:prstGeom>
          <a:noFill/>
          <a:ln w="50800">
            <a:solidFill>
              <a:srgbClr val="FFC200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51600" y="2108361"/>
            <a:ext cx="599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de Diseño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1600" y="2616361"/>
            <a:ext cx="599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crucial su diseño para evitar efectos no deseados: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1600" y="3022761"/>
            <a:ext cx="548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Deadweight: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Subvencionar contratos que se habrían realizado igual.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1600" y="3632361"/>
            <a:ext cx="548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Sustitución: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Favorecer un colectivo en detrimento de otro.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1600" y="4343561"/>
            <a:ext cx="548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Deben combinarse con formación y orientación para maximizar su impacto.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20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Tipología 4: Fomento del Emprendimiento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082800"/>
            <a:ext cx="1168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Promover el autoempleo y la creación de nuevas empresas como vía alternativa para la generación de empleo y el desarrollo económico.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098800"/>
            <a:ext cx="3759200" cy="1117600"/>
          </a:xfrm>
          <a:custGeom>
            <a:avLst/>
            <a:gdLst/>
            <a:ahLst/>
            <a:cxnLst/>
            <a:rect l="l" t="t" r="r" b="b"/>
            <a:pathLst>
              <a:path w="3759200" h="1117600">
                <a:moveTo>
                  <a:pt x="101601" y="0"/>
                </a:moveTo>
                <a:lnTo>
                  <a:pt x="3657599" y="0"/>
                </a:lnTo>
                <a:cubicBezTo>
                  <a:pt x="3713712" y="0"/>
                  <a:pt x="3759200" y="45488"/>
                  <a:pt x="3759200" y="101601"/>
                </a:cubicBezTo>
                <a:lnTo>
                  <a:pt x="3759200" y="1015999"/>
                </a:lnTo>
                <a:cubicBezTo>
                  <a:pt x="3759200" y="1072112"/>
                  <a:pt x="3713712" y="1117600"/>
                  <a:pt x="3657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019300" y="3378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09307" y="3835400"/>
            <a:ext cx="2654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Asesoramiento y Formación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16400" y="3098800"/>
            <a:ext cx="3759200" cy="1117600"/>
          </a:xfrm>
          <a:custGeom>
            <a:avLst/>
            <a:gdLst/>
            <a:ahLst/>
            <a:cxnLst/>
            <a:rect l="l" t="t" r="r" b="b"/>
            <a:pathLst>
              <a:path w="3759200" h="1117600">
                <a:moveTo>
                  <a:pt x="101601" y="0"/>
                </a:moveTo>
                <a:lnTo>
                  <a:pt x="3657599" y="0"/>
                </a:lnTo>
                <a:cubicBezTo>
                  <a:pt x="3713712" y="0"/>
                  <a:pt x="3759200" y="45488"/>
                  <a:pt x="3759200" y="101601"/>
                </a:cubicBezTo>
                <a:lnTo>
                  <a:pt x="3759200" y="1015999"/>
                </a:lnTo>
                <a:cubicBezTo>
                  <a:pt x="3759200" y="1072112"/>
                  <a:pt x="3713712" y="1117600"/>
                  <a:pt x="3657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943600" y="337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57150"/>
                </a:moveTo>
                <a:lnTo>
                  <a:pt x="76200" y="47625"/>
                </a:lnTo>
                <a:cubicBezTo>
                  <a:pt x="76200" y="21312"/>
                  <a:pt x="127397" y="0"/>
                  <a:pt x="190500" y="0"/>
                </a:cubicBezTo>
                <a:cubicBezTo>
                  <a:pt x="253603" y="0"/>
                  <a:pt x="304800" y="21312"/>
                  <a:pt x="304800" y="47625"/>
                </a:cubicBezTo>
                <a:lnTo>
                  <a:pt x="304800" y="57150"/>
                </a:lnTo>
                <a:cubicBezTo>
                  <a:pt x="304800" y="75367"/>
                  <a:pt x="280214" y="91202"/>
                  <a:pt x="244078" y="99239"/>
                </a:cubicBezTo>
                <a:cubicBezTo>
                  <a:pt x="242649" y="97572"/>
                  <a:pt x="241161" y="95964"/>
                  <a:pt x="239673" y="94476"/>
                </a:cubicBezTo>
                <a:cubicBezTo>
                  <a:pt x="230445" y="85368"/>
                  <a:pt x="218539" y="78462"/>
                  <a:pt x="206097" y="73343"/>
                </a:cubicBezTo>
                <a:cubicBezTo>
                  <a:pt x="181154" y="62925"/>
                  <a:pt x="148650" y="57210"/>
                  <a:pt x="114300" y="57210"/>
                </a:cubicBezTo>
                <a:cubicBezTo>
                  <a:pt x="101263" y="57210"/>
                  <a:pt x="88523" y="58043"/>
                  <a:pt x="76319" y="59650"/>
                </a:cubicBezTo>
                <a:cubicBezTo>
                  <a:pt x="76200" y="58876"/>
                  <a:pt x="76200" y="58043"/>
                  <a:pt x="76200" y="57210"/>
                </a:cubicBezTo>
                <a:close/>
                <a:moveTo>
                  <a:pt x="257175" y="210145"/>
                </a:moveTo>
                <a:lnTo>
                  <a:pt x="257175" y="182642"/>
                </a:lnTo>
                <a:cubicBezTo>
                  <a:pt x="266164" y="180320"/>
                  <a:pt x="274618" y="177582"/>
                  <a:pt x="282297" y="174367"/>
                </a:cubicBezTo>
                <a:cubicBezTo>
                  <a:pt x="290155" y="171093"/>
                  <a:pt x="297835" y="167104"/>
                  <a:pt x="304800" y="162282"/>
                </a:cubicBezTo>
                <a:lnTo>
                  <a:pt x="304800" y="171450"/>
                </a:lnTo>
                <a:cubicBezTo>
                  <a:pt x="304800" y="187404"/>
                  <a:pt x="286048" y="201513"/>
                  <a:pt x="257175" y="210145"/>
                </a:cubicBezTo>
                <a:close/>
                <a:moveTo>
                  <a:pt x="257175" y="152995"/>
                </a:moveTo>
                <a:lnTo>
                  <a:pt x="257175" y="133350"/>
                </a:lnTo>
                <a:cubicBezTo>
                  <a:pt x="257175" y="130671"/>
                  <a:pt x="256937" y="128111"/>
                  <a:pt x="256580" y="125611"/>
                </a:cubicBezTo>
                <a:cubicBezTo>
                  <a:pt x="265807" y="123289"/>
                  <a:pt x="274439" y="120491"/>
                  <a:pt x="282297" y="117157"/>
                </a:cubicBezTo>
                <a:cubicBezTo>
                  <a:pt x="290155" y="113824"/>
                  <a:pt x="297835" y="109895"/>
                  <a:pt x="304800" y="105073"/>
                </a:cubicBezTo>
                <a:lnTo>
                  <a:pt x="304800" y="114240"/>
                </a:lnTo>
                <a:cubicBezTo>
                  <a:pt x="304800" y="130195"/>
                  <a:pt x="286048" y="144304"/>
                  <a:pt x="257175" y="152936"/>
                </a:cubicBezTo>
                <a:close/>
                <a:moveTo>
                  <a:pt x="0" y="142875"/>
                </a:moveTo>
                <a:lnTo>
                  <a:pt x="0" y="133350"/>
                </a:lnTo>
                <a:cubicBezTo>
                  <a:pt x="0" y="107037"/>
                  <a:pt x="51197" y="85725"/>
                  <a:pt x="114300" y="85725"/>
                </a:cubicBezTo>
                <a:cubicBezTo>
                  <a:pt x="177403" y="85725"/>
                  <a:pt x="228600" y="107037"/>
                  <a:pt x="228600" y="133350"/>
                </a:cubicBezTo>
                <a:lnTo>
                  <a:pt x="228600" y="142875"/>
                </a:lnTo>
                <a:cubicBezTo>
                  <a:pt x="228600" y="169188"/>
                  <a:pt x="177403" y="190500"/>
                  <a:pt x="114300" y="190500"/>
                </a:cubicBezTo>
                <a:cubicBezTo>
                  <a:pt x="51197" y="190500"/>
                  <a:pt x="0" y="169188"/>
                  <a:pt x="0" y="142875"/>
                </a:cubicBezTo>
                <a:close/>
                <a:moveTo>
                  <a:pt x="228600" y="200025"/>
                </a:moveTo>
                <a:cubicBezTo>
                  <a:pt x="228600" y="226338"/>
                  <a:pt x="177403" y="247650"/>
                  <a:pt x="114300" y="247650"/>
                </a:cubicBezTo>
                <a:cubicBezTo>
                  <a:pt x="51197" y="247650"/>
                  <a:pt x="0" y="226338"/>
                  <a:pt x="0" y="200025"/>
                </a:cubicBezTo>
                <a:lnTo>
                  <a:pt x="0" y="190857"/>
                </a:lnTo>
                <a:cubicBezTo>
                  <a:pt x="6906" y="195679"/>
                  <a:pt x="14585" y="199608"/>
                  <a:pt x="22503" y="202942"/>
                </a:cubicBezTo>
                <a:cubicBezTo>
                  <a:pt x="47446" y="213360"/>
                  <a:pt x="79950" y="219075"/>
                  <a:pt x="114300" y="219075"/>
                </a:cubicBezTo>
                <a:cubicBezTo>
                  <a:pt x="148650" y="219075"/>
                  <a:pt x="181154" y="213300"/>
                  <a:pt x="206097" y="202942"/>
                </a:cubicBezTo>
                <a:cubicBezTo>
                  <a:pt x="213955" y="199668"/>
                  <a:pt x="221635" y="195679"/>
                  <a:pt x="228600" y="190857"/>
                </a:cubicBezTo>
                <a:lnTo>
                  <a:pt x="228600" y="200025"/>
                </a:lnTo>
                <a:close/>
                <a:moveTo>
                  <a:pt x="228600" y="248007"/>
                </a:moveTo>
                <a:lnTo>
                  <a:pt x="228600" y="257175"/>
                </a:lnTo>
                <a:cubicBezTo>
                  <a:pt x="228600" y="283488"/>
                  <a:pt x="177403" y="304800"/>
                  <a:pt x="114300" y="304800"/>
                </a:cubicBezTo>
                <a:cubicBezTo>
                  <a:pt x="51197" y="304800"/>
                  <a:pt x="0" y="283488"/>
                  <a:pt x="0" y="257175"/>
                </a:cubicBezTo>
                <a:lnTo>
                  <a:pt x="0" y="248007"/>
                </a:lnTo>
                <a:cubicBezTo>
                  <a:pt x="6906" y="252829"/>
                  <a:pt x="14585" y="256758"/>
                  <a:pt x="22503" y="260092"/>
                </a:cubicBezTo>
                <a:cubicBezTo>
                  <a:pt x="47446" y="270510"/>
                  <a:pt x="79950" y="276225"/>
                  <a:pt x="114300" y="276225"/>
                </a:cubicBezTo>
                <a:cubicBezTo>
                  <a:pt x="148650" y="276225"/>
                  <a:pt x="181154" y="270450"/>
                  <a:pt x="206097" y="260092"/>
                </a:cubicBezTo>
                <a:cubicBezTo>
                  <a:pt x="213955" y="256818"/>
                  <a:pt x="221635" y="252829"/>
                  <a:pt x="228600" y="248007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170805" y="3835400"/>
            <a:ext cx="185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Apoyo Financiero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78800" y="3098800"/>
            <a:ext cx="3759200" cy="1117600"/>
          </a:xfrm>
          <a:custGeom>
            <a:avLst/>
            <a:gdLst/>
            <a:ahLst/>
            <a:cxnLst/>
            <a:rect l="l" t="t" r="r" b="b"/>
            <a:pathLst>
              <a:path w="3759200" h="1117600">
                <a:moveTo>
                  <a:pt x="101601" y="0"/>
                </a:moveTo>
                <a:lnTo>
                  <a:pt x="3657599" y="0"/>
                </a:lnTo>
                <a:cubicBezTo>
                  <a:pt x="3713712" y="0"/>
                  <a:pt x="3759200" y="45488"/>
                  <a:pt x="3759200" y="101601"/>
                </a:cubicBezTo>
                <a:lnTo>
                  <a:pt x="3759200" y="1015999"/>
                </a:lnTo>
                <a:cubicBezTo>
                  <a:pt x="3759200" y="1072112"/>
                  <a:pt x="3713712" y="1117600"/>
                  <a:pt x="3657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9906000" y="337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8276" y="43041"/>
                </a:moveTo>
                <a:cubicBezTo>
                  <a:pt x="22384" y="28813"/>
                  <a:pt x="35421" y="19050"/>
                  <a:pt x="50244" y="19050"/>
                </a:cubicBezTo>
                <a:lnTo>
                  <a:pt x="255032" y="19050"/>
                </a:lnTo>
                <a:cubicBezTo>
                  <a:pt x="269855" y="19050"/>
                  <a:pt x="282892" y="28813"/>
                  <a:pt x="287060" y="43041"/>
                </a:cubicBezTo>
                <a:lnTo>
                  <a:pt x="300990" y="90785"/>
                </a:lnTo>
                <a:cubicBezTo>
                  <a:pt x="308610" y="116800"/>
                  <a:pt x="289024" y="142875"/>
                  <a:pt x="261937" y="142875"/>
                </a:cubicBezTo>
                <a:cubicBezTo>
                  <a:pt x="246281" y="142875"/>
                  <a:pt x="232529" y="134005"/>
                  <a:pt x="225743" y="120789"/>
                </a:cubicBezTo>
                <a:cubicBezTo>
                  <a:pt x="218837" y="133826"/>
                  <a:pt x="205145" y="142875"/>
                  <a:pt x="189190" y="142875"/>
                </a:cubicBezTo>
                <a:cubicBezTo>
                  <a:pt x="173355" y="142875"/>
                  <a:pt x="159603" y="133945"/>
                  <a:pt x="152698" y="120848"/>
                </a:cubicBezTo>
                <a:cubicBezTo>
                  <a:pt x="145792" y="133945"/>
                  <a:pt x="132040" y="142875"/>
                  <a:pt x="116205" y="142875"/>
                </a:cubicBezTo>
                <a:cubicBezTo>
                  <a:pt x="100251" y="142875"/>
                  <a:pt x="86558" y="133886"/>
                  <a:pt x="79653" y="120789"/>
                </a:cubicBezTo>
                <a:cubicBezTo>
                  <a:pt x="72866" y="133945"/>
                  <a:pt x="59115" y="142875"/>
                  <a:pt x="43458" y="142875"/>
                </a:cubicBezTo>
                <a:cubicBezTo>
                  <a:pt x="16312" y="142875"/>
                  <a:pt x="-3215" y="116860"/>
                  <a:pt x="4405" y="90785"/>
                </a:cubicBezTo>
                <a:lnTo>
                  <a:pt x="18276" y="43041"/>
                </a:lnTo>
                <a:close/>
                <a:moveTo>
                  <a:pt x="57388" y="209550"/>
                </a:moveTo>
                <a:lnTo>
                  <a:pt x="247888" y="209550"/>
                </a:lnTo>
                <a:lnTo>
                  <a:pt x="247888" y="170021"/>
                </a:lnTo>
                <a:cubicBezTo>
                  <a:pt x="252413" y="170974"/>
                  <a:pt x="257115" y="171450"/>
                  <a:pt x="261878" y="171450"/>
                </a:cubicBezTo>
                <a:cubicBezTo>
                  <a:pt x="270391" y="171450"/>
                  <a:pt x="278547" y="169902"/>
                  <a:pt x="285988" y="167164"/>
                </a:cubicBezTo>
                <a:lnTo>
                  <a:pt x="285988" y="257175"/>
                </a:lnTo>
                <a:cubicBezTo>
                  <a:pt x="285988" y="272951"/>
                  <a:pt x="273189" y="285750"/>
                  <a:pt x="257413" y="285750"/>
                </a:cubicBezTo>
                <a:lnTo>
                  <a:pt x="47863" y="285750"/>
                </a:lnTo>
                <a:cubicBezTo>
                  <a:pt x="32087" y="285750"/>
                  <a:pt x="19288" y="272951"/>
                  <a:pt x="19288" y="257175"/>
                </a:cubicBezTo>
                <a:lnTo>
                  <a:pt x="19288" y="167164"/>
                </a:lnTo>
                <a:cubicBezTo>
                  <a:pt x="26730" y="169902"/>
                  <a:pt x="34826" y="171450"/>
                  <a:pt x="43398" y="171450"/>
                </a:cubicBezTo>
                <a:cubicBezTo>
                  <a:pt x="48220" y="171450"/>
                  <a:pt x="52864" y="170974"/>
                  <a:pt x="57388" y="170021"/>
                </a:cubicBezTo>
                <a:lnTo>
                  <a:pt x="57388" y="209550"/>
                </a:ln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331166" y="3835400"/>
            <a:ext cx="146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Incubadoras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4000" y="4419600"/>
            <a:ext cx="3759200" cy="1117600"/>
          </a:xfrm>
          <a:custGeom>
            <a:avLst/>
            <a:gdLst/>
            <a:ahLst/>
            <a:cxnLst/>
            <a:rect l="l" t="t" r="r" b="b"/>
            <a:pathLst>
              <a:path w="3759200" h="1117600">
                <a:moveTo>
                  <a:pt x="101601" y="0"/>
                </a:moveTo>
                <a:lnTo>
                  <a:pt x="3657599" y="0"/>
                </a:lnTo>
                <a:cubicBezTo>
                  <a:pt x="3713712" y="0"/>
                  <a:pt x="3759200" y="45488"/>
                  <a:pt x="3759200" y="101601"/>
                </a:cubicBezTo>
                <a:lnTo>
                  <a:pt x="3759200" y="1015999"/>
                </a:lnTo>
                <a:cubicBezTo>
                  <a:pt x="3759200" y="1072112"/>
                  <a:pt x="3713712" y="1117600"/>
                  <a:pt x="3657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019300" y="4699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043146" y="5156200"/>
            <a:ext cx="2184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Simplificación Admin.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16400" y="4419600"/>
            <a:ext cx="3759200" cy="1117600"/>
          </a:xfrm>
          <a:custGeom>
            <a:avLst/>
            <a:gdLst/>
            <a:ahLst/>
            <a:cxnLst/>
            <a:rect l="l" t="t" r="r" b="b"/>
            <a:pathLst>
              <a:path w="3759200" h="1117600">
                <a:moveTo>
                  <a:pt x="101601" y="0"/>
                </a:moveTo>
                <a:lnTo>
                  <a:pt x="3657599" y="0"/>
                </a:lnTo>
                <a:cubicBezTo>
                  <a:pt x="3713712" y="0"/>
                  <a:pt x="3759200" y="45488"/>
                  <a:pt x="3759200" y="101601"/>
                </a:cubicBezTo>
                <a:lnTo>
                  <a:pt x="3759200" y="1015999"/>
                </a:lnTo>
                <a:cubicBezTo>
                  <a:pt x="3759200" y="1072112"/>
                  <a:pt x="3713712" y="1117600"/>
                  <a:pt x="3657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962650" y="469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14300" y="76200"/>
                </a:moveTo>
                <a:cubicBezTo>
                  <a:pt x="114300" y="44658"/>
                  <a:pt x="88692" y="19050"/>
                  <a:pt x="57150" y="19050"/>
                </a:cubicBezTo>
                <a:cubicBezTo>
                  <a:pt x="25608" y="19050"/>
                  <a:pt x="0" y="44658"/>
                  <a:pt x="0" y="76200"/>
                </a:cubicBezTo>
                <a:cubicBezTo>
                  <a:pt x="0" y="107742"/>
                  <a:pt x="25608" y="133350"/>
                  <a:pt x="57150" y="133350"/>
                </a:cubicBezTo>
                <a:cubicBezTo>
                  <a:pt x="88692" y="133350"/>
                  <a:pt x="114300" y="107742"/>
                  <a:pt x="114300" y="76200"/>
                </a:cubicBezTo>
                <a:close/>
                <a:moveTo>
                  <a:pt x="266700" y="228600"/>
                </a:moveTo>
                <a:cubicBezTo>
                  <a:pt x="266700" y="197058"/>
                  <a:pt x="241092" y="171450"/>
                  <a:pt x="209550" y="171450"/>
                </a:cubicBezTo>
                <a:cubicBezTo>
                  <a:pt x="178008" y="171450"/>
                  <a:pt x="152400" y="197058"/>
                  <a:pt x="152400" y="228600"/>
                </a:cubicBezTo>
                <a:cubicBezTo>
                  <a:pt x="152400" y="260142"/>
                  <a:pt x="178008" y="285750"/>
                  <a:pt x="209550" y="285750"/>
                </a:cubicBezTo>
                <a:cubicBezTo>
                  <a:pt x="241092" y="285750"/>
                  <a:pt x="266700" y="260142"/>
                  <a:pt x="266700" y="228600"/>
                </a:cubicBezTo>
                <a:close/>
                <a:moveTo>
                  <a:pt x="261104" y="51554"/>
                </a:moveTo>
                <a:cubicBezTo>
                  <a:pt x="268545" y="44113"/>
                  <a:pt x="268545" y="32028"/>
                  <a:pt x="261104" y="24586"/>
                </a:cubicBezTo>
                <a:cubicBezTo>
                  <a:pt x="253663" y="17145"/>
                  <a:pt x="241578" y="17145"/>
                  <a:pt x="234136" y="24586"/>
                </a:cubicBezTo>
                <a:lnTo>
                  <a:pt x="5536" y="253186"/>
                </a:lnTo>
                <a:cubicBezTo>
                  <a:pt x="-1905" y="260628"/>
                  <a:pt x="-1905" y="272713"/>
                  <a:pt x="5536" y="280154"/>
                </a:cubicBezTo>
                <a:cubicBezTo>
                  <a:pt x="12978" y="287595"/>
                  <a:pt x="25063" y="287595"/>
                  <a:pt x="32504" y="280154"/>
                </a:cubicBezTo>
                <a:lnTo>
                  <a:pt x="261104" y="51554"/>
                </a:ln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134769" y="5156200"/>
            <a:ext cx="191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Incentivos Fiscales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78800" y="4419600"/>
            <a:ext cx="3759200" cy="1117600"/>
          </a:xfrm>
          <a:custGeom>
            <a:avLst/>
            <a:gdLst/>
            <a:ahLst/>
            <a:cxnLst/>
            <a:rect l="l" t="t" r="r" b="b"/>
            <a:pathLst>
              <a:path w="3759200" h="1117600">
                <a:moveTo>
                  <a:pt x="101601" y="0"/>
                </a:moveTo>
                <a:lnTo>
                  <a:pt x="3657599" y="0"/>
                </a:lnTo>
                <a:cubicBezTo>
                  <a:pt x="3713712" y="0"/>
                  <a:pt x="3759200" y="45488"/>
                  <a:pt x="3759200" y="101601"/>
                </a:cubicBezTo>
                <a:lnTo>
                  <a:pt x="3759200" y="1015999"/>
                </a:lnTo>
                <a:cubicBezTo>
                  <a:pt x="3759200" y="1072112"/>
                  <a:pt x="3713712" y="1117600"/>
                  <a:pt x="3657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9886950" y="4699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76200"/>
                </a:moveTo>
                <a:cubicBezTo>
                  <a:pt x="38100" y="39401"/>
                  <a:pt x="67976" y="9525"/>
                  <a:pt x="104775" y="9525"/>
                </a:cubicBezTo>
                <a:cubicBezTo>
                  <a:pt x="141574" y="9525"/>
                  <a:pt x="171450" y="39401"/>
                  <a:pt x="171450" y="76200"/>
                </a:cubicBezTo>
                <a:cubicBezTo>
                  <a:pt x="171450" y="112999"/>
                  <a:pt x="141574" y="142875"/>
                  <a:pt x="104775" y="142875"/>
                </a:cubicBezTo>
                <a:cubicBezTo>
                  <a:pt x="67976" y="142875"/>
                  <a:pt x="38100" y="112999"/>
                  <a:pt x="38100" y="76200"/>
                </a:cubicBezTo>
                <a:close/>
                <a:moveTo>
                  <a:pt x="0" y="276225"/>
                </a:moveTo>
                <a:cubicBezTo>
                  <a:pt x="0" y="218361"/>
                  <a:pt x="46911" y="171450"/>
                  <a:pt x="104775" y="171450"/>
                </a:cubicBezTo>
                <a:cubicBezTo>
                  <a:pt x="162639" y="171450"/>
                  <a:pt x="209550" y="218361"/>
                  <a:pt x="209550" y="276225"/>
                </a:cubicBezTo>
                <a:lnTo>
                  <a:pt x="209550" y="279797"/>
                </a:lnTo>
                <a:cubicBezTo>
                  <a:pt x="209550" y="293608"/>
                  <a:pt x="198358" y="304800"/>
                  <a:pt x="184547" y="304800"/>
                </a:cubicBezTo>
                <a:lnTo>
                  <a:pt x="25003" y="304800"/>
                </a:lnTo>
                <a:cubicBezTo>
                  <a:pt x="11192" y="304800"/>
                  <a:pt x="0" y="293608"/>
                  <a:pt x="0" y="279797"/>
                </a:cubicBezTo>
                <a:lnTo>
                  <a:pt x="0" y="276225"/>
                </a:lnTo>
                <a:close/>
                <a:moveTo>
                  <a:pt x="257175" y="38100"/>
                </a:moveTo>
                <a:cubicBezTo>
                  <a:pt x="288717" y="38100"/>
                  <a:pt x="314325" y="63708"/>
                  <a:pt x="314325" y="95250"/>
                </a:cubicBezTo>
                <a:cubicBezTo>
                  <a:pt x="314325" y="126792"/>
                  <a:pt x="288717" y="152400"/>
                  <a:pt x="257175" y="152400"/>
                </a:cubicBezTo>
                <a:cubicBezTo>
                  <a:pt x="225633" y="152400"/>
                  <a:pt x="200025" y="126792"/>
                  <a:pt x="200025" y="95250"/>
                </a:cubicBezTo>
                <a:cubicBezTo>
                  <a:pt x="200025" y="63708"/>
                  <a:pt x="225633" y="38100"/>
                  <a:pt x="257175" y="38100"/>
                </a:cubicBezTo>
                <a:close/>
                <a:moveTo>
                  <a:pt x="257175" y="180975"/>
                </a:moveTo>
                <a:cubicBezTo>
                  <a:pt x="304502" y="180975"/>
                  <a:pt x="342900" y="219373"/>
                  <a:pt x="342900" y="266700"/>
                </a:cubicBezTo>
                <a:lnTo>
                  <a:pt x="342900" y="280035"/>
                </a:lnTo>
                <a:cubicBezTo>
                  <a:pt x="342900" y="293727"/>
                  <a:pt x="331827" y="304800"/>
                  <a:pt x="318135" y="304800"/>
                </a:cubicBezTo>
                <a:lnTo>
                  <a:pt x="231934" y="304800"/>
                </a:lnTo>
                <a:cubicBezTo>
                  <a:pt x="235863" y="297359"/>
                  <a:pt x="238125" y="288846"/>
                  <a:pt x="238125" y="279797"/>
                </a:cubicBezTo>
                <a:lnTo>
                  <a:pt x="238125" y="276225"/>
                </a:lnTo>
                <a:cubicBezTo>
                  <a:pt x="238125" y="245566"/>
                  <a:pt x="227767" y="217349"/>
                  <a:pt x="210443" y="194846"/>
                </a:cubicBezTo>
                <a:cubicBezTo>
                  <a:pt x="223897" y="186095"/>
                  <a:pt x="239970" y="180975"/>
                  <a:pt x="257175" y="180975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395778" y="5156200"/>
            <a:ext cx="1320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Mentoring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280164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Tipología 5: Empleo Público Directo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397764"/>
            <a:ext cx="553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Iniciativas donde el sector público genera puestos de trabajo, especialmente en periodos de alta desempleo o para colectivos vulnerables.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362964"/>
            <a:ext cx="5537200" cy="546100"/>
          </a:xfrm>
          <a:custGeom>
            <a:avLst/>
            <a:gdLst/>
            <a:ahLst/>
            <a:cxnLst/>
            <a:rect l="l" t="t" r="r" b="b"/>
            <a:pathLst>
              <a:path w="5537200" h="546100">
                <a:moveTo>
                  <a:pt x="101602" y="0"/>
                </a:moveTo>
                <a:lnTo>
                  <a:pt x="5435598" y="0"/>
                </a:lnTo>
                <a:cubicBezTo>
                  <a:pt x="5491711" y="0"/>
                  <a:pt x="5537200" y="45489"/>
                  <a:pt x="5537200" y="101602"/>
                </a:cubicBezTo>
                <a:lnTo>
                  <a:pt x="5537200" y="444498"/>
                </a:lnTo>
                <a:cubicBezTo>
                  <a:pt x="5537200" y="500611"/>
                  <a:pt x="5491711" y="546100"/>
                  <a:pt x="54355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3F4F6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346456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290" y="19050"/>
                </a:moveTo>
                <a:lnTo>
                  <a:pt x="87928" y="19050"/>
                </a:lnTo>
                <a:cubicBezTo>
                  <a:pt x="70425" y="19050"/>
                  <a:pt x="55126" y="31016"/>
                  <a:pt x="50959" y="47982"/>
                </a:cubicBezTo>
                <a:lnTo>
                  <a:pt x="833" y="250329"/>
                </a:lnTo>
                <a:cubicBezTo>
                  <a:pt x="-3631" y="268307"/>
                  <a:pt x="10001" y="285750"/>
                  <a:pt x="28575" y="285750"/>
                </a:cubicBezTo>
                <a:lnTo>
                  <a:pt x="133290" y="285750"/>
                </a:lnTo>
                <a:lnTo>
                  <a:pt x="133290" y="247650"/>
                </a:lnTo>
                <a:cubicBezTo>
                  <a:pt x="133290" y="237113"/>
                  <a:pt x="141803" y="228600"/>
                  <a:pt x="152340" y="228600"/>
                </a:cubicBezTo>
                <a:cubicBezTo>
                  <a:pt x="162878" y="228600"/>
                  <a:pt x="171390" y="237113"/>
                  <a:pt x="171390" y="247650"/>
                </a:cubicBezTo>
                <a:lnTo>
                  <a:pt x="171390" y="285750"/>
                </a:lnTo>
                <a:lnTo>
                  <a:pt x="276225" y="285750"/>
                </a:lnTo>
                <a:cubicBezTo>
                  <a:pt x="294799" y="285750"/>
                  <a:pt x="308431" y="268307"/>
                  <a:pt x="303967" y="250329"/>
                </a:cubicBezTo>
                <a:lnTo>
                  <a:pt x="253901" y="47982"/>
                </a:lnTo>
                <a:cubicBezTo>
                  <a:pt x="249674" y="31016"/>
                  <a:pt x="234434" y="19050"/>
                  <a:pt x="216872" y="19050"/>
                </a:cubicBezTo>
                <a:lnTo>
                  <a:pt x="171390" y="19050"/>
                </a:lnTo>
                <a:lnTo>
                  <a:pt x="171390" y="57150"/>
                </a:lnTo>
                <a:cubicBezTo>
                  <a:pt x="171390" y="67687"/>
                  <a:pt x="162877" y="76200"/>
                  <a:pt x="152340" y="76200"/>
                </a:cubicBezTo>
                <a:cubicBezTo>
                  <a:pt x="141803" y="76200"/>
                  <a:pt x="133290" y="67687"/>
                  <a:pt x="133290" y="57150"/>
                </a:cubicBezTo>
                <a:lnTo>
                  <a:pt x="133290" y="19050"/>
                </a:lnTo>
                <a:close/>
                <a:moveTo>
                  <a:pt x="171390" y="133350"/>
                </a:moveTo>
                <a:lnTo>
                  <a:pt x="171390" y="171450"/>
                </a:lnTo>
                <a:cubicBezTo>
                  <a:pt x="171390" y="181987"/>
                  <a:pt x="162877" y="190500"/>
                  <a:pt x="152340" y="190500"/>
                </a:cubicBezTo>
                <a:cubicBezTo>
                  <a:pt x="141803" y="190500"/>
                  <a:pt x="133290" y="181987"/>
                  <a:pt x="133290" y="171450"/>
                </a:cubicBezTo>
                <a:lnTo>
                  <a:pt x="133290" y="133350"/>
                </a:lnTo>
                <a:cubicBezTo>
                  <a:pt x="133290" y="122813"/>
                  <a:pt x="141803" y="114300"/>
                  <a:pt x="152340" y="114300"/>
                </a:cubicBezTo>
                <a:cubicBezTo>
                  <a:pt x="162877" y="114300"/>
                  <a:pt x="171390" y="122813"/>
                  <a:pt x="171390" y="133350"/>
                </a:cubicBezTo>
                <a:close/>
              </a:path>
            </a:pathLst>
          </a:custGeom>
          <a:solidFill>
            <a:srgbClr val="3333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63600" y="3484879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Obras y servicios de interés general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4064000"/>
            <a:ext cx="5537200" cy="546100"/>
          </a:xfrm>
          <a:custGeom>
            <a:avLst/>
            <a:gdLst/>
            <a:ahLst/>
            <a:cxnLst/>
            <a:rect l="l" t="t" r="r" b="b"/>
            <a:pathLst>
              <a:path w="5537200" h="546100">
                <a:moveTo>
                  <a:pt x="101602" y="0"/>
                </a:moveTo>
                <a:lnTo>
                  <a:pt x="5435598" y="0"/>
                </a:lnTo>
                <a:cubicBezTo>
                  <a:pt x="5491711" y="0"/>
                  <a:pt x="5537200" y="45489"/>
                  <a:pt x="5537200" y="101602"/>
                </a:cubicBezTo>
                <a:lnTo>
                  <a:pt x="5537200" y="444498"/>
                </a:lnTo>
                <a:cubicBezTo>
                  <a:pt x="5537200" y="500611"/>
                  <a:pt x="5491711" y="546100"/>
                  <a:pt x="54355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3F4F6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38150" y="4165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90500" y="0"/>
                </a:moveTo>
                <a:cubicBezTo>
                  <a:pt x="169485" y="0"/>
                  <a:pt x="152400" y="17085"/>
                  <a:pt x="152400" y="38100"/>
                </a:cubicBezTo>
                <a:lnTo>
                  <a:pt x="152400" y="57150"/>
                </a:lnTo>
                <a:lnTo>
                  <a:pt x="123825" y="57150"/>
                </a:lnTo>
                <a:lnTo>
                  <a:pt x="123825" y="14288"/>
                </a:lnTo>
                <a:cubicBezTo>
                  <a:pt x="123825" y="6370"/>
                  <a:pt x="117455" y="0"/>
                  <a:pt x="109537" y="0"/>
                </a:cubicBezTo>
                <a:cubicBezTo>
                  <a:pt x="101620" y="0"/>
                  <a:pt x="95250" y="6370"/>
                  <a:pt x="95250" y="14288"/>
                </a:cubicBezTo>
                <a:lnTo>
                  <a:pt x="95250" y="57150"/>
                </a:lnTo>
                <a:lnTo>
                  <a:pt x="57150" y="57150"/>
                </a:lnTo>
                <a:lnTo>
                  <a:pt x="57150" y="14288"/>
                </a:lnTo>
                <a:cubicBezTo>
                  <a:pt x="57150" y="6370"/>
                  <a:pt x="50780" y="0"/>
                  <a:pt x="42863" y="0"/>
                </a:cubicBezTo>
                <a:cubicBezTo>
                  <a:pt x="34945" y="0"/>
                  <a:pt x="28575" y="6370"/>
                  <a:pt x="28575" y="14288"/>
                </a:cubicBezTo>
                <a:lnTo>
                  <a:pt x="28575" y="58341"/>
                </a:lnTo>
                <a:cubicBezTo>
                  <a:pt x="12144" y="62567"/>
                  <a:pt x="0" y="77510"/>
                  <a:pt x="0" y="95250"/>
                </a:cubicBezTo>
                <a:lnTo>
                  <a:pt x="0" y="266700"/>
                </a:lnTo>
                <a:cubicBezTo>
                  <a:pt x="0" y="287715"/>
                  <a:pt x="17085" y="304800"/>
                  <a:pt x="38100" y="304800"/>
                </a:cubicBezTo>
                <a:lnTo>
                  <a:pt x="304800" y="304800"/>
                </a:lnTo>
                <a:cubicBezTo>
                  <a:pt x="325815" y="304800"/>
                  <a:pt x="342900" y="287715"/>
                  <a:pt x="342900" y="266700"/>
                </a:cubicBezTo>
                <a:lnTo>
                  <a:pt x="342900" y="152400"/>
                </a:lnTo>
                <a:cubicBezTo>
                  <a:pt x="342900" y="131385"/>
                  <a:pt x="325815" y="114300"/>
                  <a:pt x="304800" y="114300"/>
                </a:cubicBezTo>
                <a:lnTo>
                  <a:pt x="266700" y="114300"/>
                </a:lnTo>
                <a:lnTo>
                  <a:pt x="266700" y="38100"/>
                </a:lnTo>
                <a:cubicBezTo>
                  <a:pt x="266700" y="17085"/>
                  <a:pt x="249615" y="0"/>
                  <a:pt x="228600" y="0"/>
                </a:cubicBezTo>
                <a:lnTo>
                  <a:pt x="190500" y="0"/>
                </a:lnTo>
                <a:close/>
                <a:moveTo>
                  <a:pt x="228600" y="66675"/>
                </a:moveTo>
                <a:lnTo>
                  <a:pt x="228600" y="85725"/>
                </a:lnTo>
                <a:cubicBezTo>
                  <a:pt x="228600" y="90964"/>
                  <a:pt x="224314" y="95250"/>
                  <a:pt x="219075" y="95250"/>
                </a:cubicBezTo>
                <a:lnTo>
                  <a:pt x="200025" y="95250"/>
                </a:lnTo>
                <a:cubicBezTo>
                  <a:pt x="194786" y="95250"/>
                  <a:pt x="190500" y="90964"/>
                  <a:pt x="190500" y="85725"/>
                </a:cubicBezTo>
                <a:lnTo>
                  <a:pt x="190500" y="66675"/>
                </a:lnTo>
                <a:cubicBezTo>
                  <a:pt x="190500" y="61436"/>
                  <a:pt x="194786" y="57150"/>
                  <a:pt x="200025" y="57150"/>
                </a:cubicBezTo>
                <a:lnTo>
                  <a:pt x="219075" y="57150"/>
                </a:lnTo>
                <a:cubicBezTo>
                  <a:pt x="224314" y="57150"/>
                  <a:pt x="228600" y="61436"/>
                  <a:pt x="228600" y="66675"/>
                </a:cubicBezTo>
                <a:close/>
                <a:moveTo>
                  <a:pt x="219075" y="114300"/>
                </a:moveTo>
                <a:cubicBezTo>
                  <a:pt x="224314" y="114300"/>
                  <a:pt x="228600" y="118586"/>
                  <a:pt x="228600" y="123825"/>
                </a:cubicBezTo>
                <a:lnTo>
                  <a:pt x="228600" y="142875"/>
                </a:lnTo>
                <a:cubicBezTo>
                  <a:pt x="228600" y="148114"/>
                  <a:pt x="224314" y="152400"/>
                  <a:pt x="219075" y="152400"/>
                </a:cubicBezTo>
                <a:lnTo>
                  <a:pt x="200025" y="152400"/>
                </a:lnTo>
                <a:cubicBezTo>
                  <a:pt x="194786" y="152400"/>
                  <a:pt x="190500" y="148114"/>
                  <a:pt x="190500" y="142875"/>
                </a:cubicBezTo>
                <a:lnTo>
                  <a:pt x="190500" y="123825"/>
                </a:lnTo>
                <a:cubicBezTo>
                  <a:pt x="190500" y="118586"/>
                  <a:pt x="194786" y="114300"/>
                  <a:pt x="200025" y="114300"/>
                </a:cubicBezTo>
                <a:lnTo>
                  <a:pt x="219075" y="114300"/>
                </a:lnTo>
                <a:close/>
                <a:moveTo>
                  <a:pt x="228600" y="180975"/>
                </a:moveTo>
                <a:lnTo>
                  <a:pt x="228600" y="200025"/>
                </a:lnTo>
                <a:cubicBezTo>
                  <a:pt x="228600" y="205264"/>
                  <a:pt x="224314" y="209550"/>
                  <a:pt x="219075" y="209550"/>
                </a:cubicBezTo>
                <a:lnTo>
                  <a:pt x="200025" y="209550"/>
                </a:lnTo>
                <a:cubicBezTo>
                  <a:pt x="194786" y="209550"/>
                  <a:pt x="190500" y="205264"/>
                  <a:pt x="190500" y="200025"/>
                </a:cubicBezTo>
                <a:lnTo>
                  <a:pt x="190500" y="180975"/>
                </a:lnTo>
                <a:cubicBezTo>
                  <a:pt x="190500" y="175736"/>
                  <a:pt x="194786" y="171450"/>
                  <a:pt x="200025" y="171450"/>
                </a:cubicBezTo>
                <a:lnTo>
                  <a:pt x="219075" y="171450"/>
                </a:lnTo>
                <a:cubicBezTo>
                  <a:pt x="224314" y="171450"/>
                  <a:pt x="228600" y="175736"/>
                  <a:pt x="228600" y="180975"/>
                </a:cubicBezTo>
                <a:close/>
                <a:moveTo>
                  <a:pt x="295275" y="171450"/>
                </a:moveTo>
                <a:cubicBezTo>
                  <a:pt x="300514" y="171450"/>
                  <a:pt x="304800" y="175736"/>
                  <a:pt x="304800" y="180975"/>
                </a:cubicBezTo>
                <a:lnTo>
                  <a:pt x="304800" y="200025"/>
                </a:lnTo>
                <a:cubicBezTo>
                  <a:pt x="304800" y="205264"/>
                  <a:pt x="300514" y="209550"/>
                  <a:pt x="295275" y="209550"/>
                </a:cubicBezTo>
                <a:lnTo>
                  <a:pt x="276225" y="209550"/>
                </a:lnTo>
                <a:cubicBezTo>
                  <a:pt x="270986" y="209550"/>
                  <a:pt x="266700" y="205264"/>
                  <a:pt x="266700" y="200025"/>
                </a:cubicBezTo>
                <a:lnTo>
                  <a:pt x="266700" y="180975"/>
                </a:lnTo>
                <a:cubicBezTo>
                  <a:pt x="266700" y="175736"/>
                  <a:pt x="270986" y="171450"/>
                  <a:pt x="276225" y="171450"/>
                </a:cubicBezTo>
                <a:lnTo>
                  <a:pt x="295275" y="171450"/>
                </a:lnTo>
                <a:close/>
                <a:moveTo>
                  <a:pt x="152400" y="180975"/>
                </a:moveTo>
                <a:lnTo>
                  <a:pt x="152400" y="200025"/>
                </a:lnTo>
                <a:cubicBezTo>
                  <a:pt x="152400" y="205264"/>
                  <a:pt x="148114" y="209550"/>
                  <a:pt x="142875" y="209550"/>
                </a:cubicBezTo>
                <a:lnTo>
                  <a:pt x="123825" y="209550"/>
                </a:lnTo>
                <a:cubicBezTo>
                  <a:pt x="118586" y="209550"/>
                  <a:pt x="114300" y="205264"/>
                  <a:pt x="114300" y="200025"/>
                </a:cubicBezTo>
                <a:lnTo>
                  <a:pt x="114300" y="180975"/>
                </a:lnTo>
                <a:cubicBezTo>
                  <a:pt x="114300" y="175736"/>
                  <a:pt x="118586" y="171450"/>
                  <a:pt x="123825" y="171450"/>
                </a:cubicBezTo>
                <a:lnTo>
                  <a:pt x="142875" y="171450"/>
                </a:lnTo>
                <a:cubicBezTo>
                  <a:pt x="148114" y="171450"/>
                  <a:pt x="152400" y="175736"/>
                  <a:pt x="152400" y="180975"/>
                </a:cubicBezTo>
                <a:close/>
                <a:moveTo>
                  <a:pt x="142875" y="114300"/>
                </a:moveTo>
                <a:cubicBezTo>
                  <a:pt x="148114" y="114300"/>
                  <a:pt x="152400" y="118586"/>
                  <a:pt x="152400" y="123825"/>
                </a:cubicBezTo>
                <a:lnTo>
                  <a:pt x="152400" y="142875"/>
                </a:lnTo>
                <a:cubicBezTo>
                  <a:pt x="152400" y="148114"/>
                  <a:pt x="148114" y="152400"/>
                  <a:pt x="142875" y="152400"/>
                </a:cubicBezTo>
                <a:lnTo>
                  <a:pt x="123825" y="152400"/>
                </a:lnTo>
                <a:cubicBezTo>
                  <a:pt x="118586" y="152400"/>
                  <a:pt x="114300" y="148114"/>
                  <a:pt x="114300" y="142875"/>
                </a:cubicBezTo>
                <a:lnTo>
                  <a:pt x="114300" y="123825"/>
                </a:lnTo>
                <a:cubicBezTo>
                  <a:pt x="114300" y="118586"/>
                  <a:pt x="118586" y="114300"/>
                  <a:pt x="123825" y="114300"/>
                </a:cubicBezTo>
                <a:lnTo>
                  <a:pt x="142875" y="114300"/>
                </a:lnTo>
                <a:close/>
                <a:moveTo>
                  <a:pt x="76200" y="180975"/>
                </a:moveTo>
                <a:lnTo>
                  <a:pt x="76200" y="200025"/>
                </a:lnTo>
                <a:cubicBezTo>
                  <a:pt x="76200" y="205264"/>
                  <a:pt x="71914" y="209550"/>
                  <a:pt x="66675" y="209550"/>
                </a:cubicBezTo>
                <a:lnTo>
                  <a:pt x="47625" y="209550"/>
                </a:lnTo>
                <a:cubicBezTo>
                  <a:pt x="42386" y="209550"/>
                  <a:pt x="38100" y="205264"/>
                  <a:pt x="38100" y="200025"/>
                </a:cubicBezTo>
                <a:lnTo>
                  <a:pt x="38100" y="180975"/>
                </a:lnTo>
                <a:cubicBezTo>
                  <a:pt x="38100" y="175736"/>
                  <a:pt x="42386" y="171450"/>
                  <a:pt x="47625" y="171450"/>
                </a:cubicBezTo>
                <a:lnTo>
                  <a:pt x="66675" y="171450"/>
                </a:lnTo>
                <a:cubicBezTo>
                  <a:pt x="71914" y="171450"/>
                  <a:pt x="76200" y="175736"/>
                  <a:pt x="76200" y="180975"/>
                </a:cubicBezTo>
                <a:close/>
                <a:moveTo>
                  <a:pt x="66675" y="114300"/>
                </a:moveTo>
                <a:cubicBezTo>
                  <a:pt x="71914" y="114300"/>
                  <a:pt x="76200" y="118586"/>
                  <a:pt x="76200" y="123825"/>
                </a:cubicBezTo>
                <a:lnTo>
                  <a:pt x="76200" y="142875"/>
                </a:lnTo>
                <a:cubicBezTo>
                  <a:pt x="76200" y="148114"/>
                  <a:pt x="71914" y="152400"/>
                  <a:pt x="66675" y="152400"/>
                </a:cubicBezTo>
                <a:lnTo>
                  <a:pt x="47625" y="152400"/>
                </a:lnTo>
                <a:cubicBezTo>
                  <a:pt x="42386" y="152400"/>
                  <a:pt x="38100" y="148114"/>
                  <a:pt x="38100" y="142875"/>
                </a:cubicBezTo>
                <a:lnTo>
                  <a:pt x="38100" y="123825"/>
                </a:lnTo>
                <a:cubicBezTo>
                  <a:pt x="38100" y="118586"/>
                  <a:pt x="42386" y="114300"/>
                  <a:pt x="47625" y="114300"/>
                </a:cubicBezTo>
                <a:lnTo>
                  <a:pt x="66675" y="114300"/>
                </a:lnTo>
                <a:close/>
              </a:path>
            </a:pathLst>
          </a:custGeom>
          <a:solidFill>
            <a:srgbClr val="3333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63600" y="4185921"/>
            <a:ext cx="284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Planes de empleo local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4765042"/>
            <a:ext cx="5537200" cy="812800"/>
          </a:xfrm>
          <a:custGeom>
            <a:avLst/>
            <a:gdLst/>
            <a:ahLst/>
            <a:cxnLst/>
            <a:rect l="l" t="t" r="r" b="b"/>
            <a:pathLst>
              <a:path w="5537200" h="8128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711200"/>
                </a:lnTo>
                <a:cubicBezTo>
                  <a:pt x="5537200" y="767275"/>
                  <a:pt x="5491675" y="812800"/>
                  <a:pt x="543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3F4F6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08623" y="4998721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116562"/>
                </a:moveTo>
                <a:lnTo>
                  <a:pt x="153114" y="167819"/>
                </a:lnTo>
                <a:cubicBezTo>
                  <a:pt x="158948" y="170200"/>
                  <a:pt x="165140" y="171450"/>
                  <a:pt x="171450" y="171450"/>
                </a:cubicBezTo>
                <a:cubicBezTo>
                  <a:pt x="177760" y="171450"/>
                  <a:pt x="183952" y="170200"/>
                  <a:pt x="189786" y="167819"/>
                </a:cubicBezTo>
                <a:lnTo>
                  <a:pt x="334089" y="108406"/>
                </a:lnTo>
                <a:cubicBezTo>
                  <a:pt x="339447" y="106204"/>
                  <a:pt x="342900" y="101025"/>
                  <a:pt x="342900" y="95250"/>
                </a:cubicBezTo>
                <a:cubicBezTo>
                  <a:pt x="342900" y="89475"/>
                  <a:pt x="339447" y="84296"/>
                  <a:pt x="334089" y="82094"/>
                </a:cubicBezTo>
                <a:lnTo>
                  <a:pt x="189786" y="22681"/>
                </a:lnTo>
                <a:cubicBezTo>
                  <a:pt x="183952" y="20300"/>
                  <a:pt x="177760" y="19050"/>
                  <a:pt x="171450" y="19050"/>
                </a:cubicBezTo>
                <a:cubicBezTo>
                  <a:pt x="165140" y="19050"/>
                  <a:pt x="158948" y="20300"/>
                  <a:pt x="153114" y="22681"/>
                </a:cubicBezTo>
                <a:lnTo>
                  <a:pt x="8811" y="82094"/>
                </a:lnTo>
                <a:cubicBezTo>
                  <a:pt x="3453" y="84296"/>
                  <a:pt x="0" y="89475"/>
                  <a:pt x="0" y="95250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cubicBezTo>
                  <a:pt x="22205" y="285750"/>
                  <a:pt x="28575" y="279380"/>
                  <a:pt x="28575" y="271463"/>
                </a:cubicBezTo>
                <a:lnTo>
                  <a:pt x="28575" y="116562"/>
                </a:lnTo>
                <a:close/>
                <a:moveTo>
                  <a:pt x="57150" y="159246"/>
                </a:moveTo>
                <a:lnTo>
                  <a:pt x="57150" y="228600"/>
                </a:lnTo>
                <a:cubicBezTo>
                  <a:pt x="57150" y="260152"/>
                  <a:pt x="108347" y="285750"/>
                  <a:pt x="171450" y="285750"/>
                </a:cubicBezTo>
                <a:cubicBezTo>
                  <a:pt x="234553" y="285750"/>
                  <a:pt x="285750" y="260152"/>
                  <a:pt x="285750" y="228600"/>
                </a:cubicBezTo>
                <a:lnTo>
                  <a:pt x="285750" y="159187"/>
                </a:lnTo>
                <a:lnTo>
                  <a:pt x="200680" y="194250"/>
                </a:lnTo>
                <a:cubicBezTo>
                  <a:pt x="191393" y="198060"/>
                  <a:pt x="181511" y="200025"/>
                  <a:pt x="171450" y="200025"/>
                </a:cubicBezTo>
                <a:cubicBezTo>
                  <a:pt x="161389" y="200025"/>
                  <a:pt x="151507" y="198060"/>
                  <a:pt x="142220" y="194250"/>
                </a:cubicBezTo>
                <a:lnTo>
                  <a:pt x="57150" y="159187"/>
                </a:lnTo>
                <a:close/>
              </a:path>
            </a:pathLst>
          </a:custGeom>
          <a:solidFill>
            <a:srgbClr val="3333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04545" y="4866642"/>
            <a:ext cx="488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Programas mixtos empleo-formación (Escuelas Taller)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2616200"/>
            <a:ext cx="5537200" cy="1625600"/>
          </a:xfrm>
          <a:custGeom>
            <a:avLst/>
            <a:gdLst/>
            <a:ahLst/>
            <a:cxnLst/>
            <a:rect l="l" t="t" r="r" b="b"/>
            <a:pathLst>
              <a:path w="5537200" h="16256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1524000"/>
                </a:lnTo>
                <a:cubicBezTo>
                  <a:pt x="5537200" y="1580075"/>
                  <a:pt x="5491675" y="1625600"/>
                  <a:pt x="5435600" y="1625600"/>
                </a:cubicBezTo>
                <a:lnTo>
                  <a:pt x="101600" y="1625600"/>
                </a:lnTo>
                <a:cubicBezTo>
                  <a:pt x="45525" y="1625600"/>
                  <a:pt x="0" y="1580075"/>
                  <a:pt x="0" y="15240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5E5E">
              <a:alpha val="20000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604000" y="2819400"/>
            <a:ext cx="563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Consideraciones Clave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04000" y="3276600"/>
            <a:ext cx="5130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Proporcionan empleo a corto plazo, pero su eficacia a largo plazo es cuestionable. Es crucial que la experiencia sea relevante y transferible al mercado laboral regular.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Programas destacados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304483"/>
            <a:ext cx="5640070" cy="11068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PARTE  04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1465" y="607504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91465" y="630872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91465" y="654240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29146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158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152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73164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ic.vjshi.com/03fca6a581c6531becd39e58bc2c8e20d7f4daf7.jp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1168400" y="2006600"/>
            <a:ext cx="2844800" cy="2844800"/>
          </a:xfrm>
          <a:prstGeom prst="roundRect">
            <a:avLst>
              <a:gd name="adj" fmla="val 50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5334000" y="254000"/>
            <a:ext cx="660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Programa Destacado: Garantía Juvenil Plus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334000" y="1270000"/>
            <a:ext cx="711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2021-2027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34000" y="18288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Garantiza a jóvenes </a:t>
            </a:r>
            <a:r>
              <a:rPr lang="en-US" sz="14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16-29 años NINI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una oferta de empleo, educación o formación en </a:t>
            </a:r>
            <a:r>
              <a:rPr lang="en-US" sz="14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meses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00675" y="25806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638800" y="2540000"/>
            <a:ext cx="294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Plan con 69 medidas innovadoras.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00675" y="29362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638800" y="289560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Cuadros de mando para monitorización.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00675" y="32918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638800" y="3251200"/>
            <a:ext cx="302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intermedia por la OCDE.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41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Impulso sin Precedentes: Next Generation EU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701800"/>
            <a:ext cx="1168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fondos europeos permiten no solo incrementar la intensidad de las políticas, sino también desarrollar nuevas iniciativas alineadas con las prioridades de la UE.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0227" y="3352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0" y="47625"/>
                </a:moveTo>
                <a:cubicBezTo>
                  <a:pt x="762000" y="208508"/>
                  <a:pt x="647998" y="342751"/>
                  <a:pt x="496491" y="374154"/>
                </a:cubicBezTo>
                <a:cubicBezTo>
                  <a:pt x="484733" y="287685"/>
                  <a:pt x="445889" y="209848"/>
                  <a:pt x="388590" y="149572"/>
                </a:cubicBezTo>
                <a:cubicBezTo>
                  <a:pt x="448270" y="59531"/>
                  <a:pt x="550515" y="0"/>
                  <a:pt x="666750" y="0"/>
                </a:cubicBezTo>
                <a:lnTo>
                  <a:pt x="714375" y="0"/>
                </a:lnTo>
                <a:cubicBezTo>
                  <a:pt x="740718" y="0"/>
                  <a:pt x="762000" y="21282"/>
                  <a:pt x="762000" y="47625"/>
                </a:cubicBezTo>
                <a:close/>
                <a:moveTo>
                  <a:pt x="0" y="142875"/>
                </a:moveTo>
                <a:cubicBezTo>
                  <a:pt x="0" y="116532"/>
                  <a:pt x="21282" y="95250"/>
                  <a:pt x="47625" y="95250"/>
                </a:cubicBezTo>
                <a:lnTo>
                  <a:pt x="95250" y="95250"/>
                </a:lnTo>
                <a:cubicBezTo>
                  <a:pt x="279350" y="95250"/>
                  <a:pt x="428625" y="244525"/>
                  <a:pt x="428625" y="428625"/>
                </a:cubicBezTo>
                <a:lnTo>
                  <a:pt x="428625" y="714375"/>
                </a:lnTo>
                <a:cubicBezTo>
                  <a:pt x="428625" y="740718"/>
                  <a:pt x="407343" y="762000"/>
                  <a:pt x="381000" y="762000"/>
                </a:cubicBezTo>
                <a:cubicBezTo>
                  <a:pt x="354657" y="762000"/>
                  <a:pt x="333375" y="740718"/>
                  <a:pt x="333375" y="714375"/>
                </a:cubicBezTo>
                <a:lnTo>
                  <a:pt x="333375" y="476250"/>
                </a:lnTo>
                <a:cubicBezTo>
                  <a:pt x="149275" y="476250"/>
                  <a:pt x="0" y="326975"/>
                  <a:pt x="0" y="142875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03200" y="4445000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Transición Ecológica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" y="4749800"/>
            <a:ext cx="400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Empleo verde y formación especializada.</a:t>
            </a:r>
            <a:endParaRPr lang="en-US" sz="1600" dirty="0"/>
          </a:p>
        </p:txBody>
      </p:sp>
      <p:pic>
        <p:nvPicPr>
          <p:cNvPr id="7" name="Image 0" descr="https://kimi-web-img.moonshot.cn/img/www.flagdetective.com/66297923d3a7fabe0486f292f2201fa6abea6d70.jpg"/>
          <p:cNvPicPr>
            <a:picLocks noChangeAspect="1"/>
          </p:cNvPicPr>
          <p:nvPr/>
        </p:nvPicPr>
        <p:blipFill>
          <a:blip r:embed="rId3"/>
          <a:srcRect l="16650" r="16650"/>
          <a:stretch/>
        </p:blipFill>
        <p:spPr>
          <a:xfrm>
            <a:off x="5079841" y="3022600"/>
            <a:ext cx="2032000" cy="2032000"/>
          </a:xfrm>
          <a:prstGeom prst="roundRect">
            <a:avLst>
              <a:gd name="adj" fmla="val 500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9514205" y="3251361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95250" y="142875"/>
                </a:moveTo>
                <a:cubicBezTo>
                  <a:pt x="95250" y="90339"/>
                  <a:pt x="137964" y="47625"/>
                  <a:pt x="190500" y="47625"/>
                </a:cubicBezTo>
                <a:lnTo>
                  <a:pt x="762000" y="47625"/>
                </a:lnTo>
                <a:cubicBezTo>
                  <a:pt x="814536" y="47625"/>
                  <a:pt x="857250" y="90339"/>
                  <a:pt x="857250" y="142875"/>
                </a:cubicBezTo>
                <a:lnTo>
                  <a:pt x="857250" y="500063"/>
                </a:lnTo>
                <a:lnTo>
                  <a:pt x="762000" y="500063"/>
                </a:lnTo>
                <a:lnTo>
                  <a:pt x="762000" y="142875"/>
                </a:lnTo>
                <a:lnTo>
                  <a:pt x="190500" y="142875"/>
                </a:lnTo>
                <a:lnTo>
                  <a:pt x="190500" y="500063"/>
                </a:lnTo>
                <a:lnTo>
                  <a:pt x="95250" y="500063"/>
                </a:lnTo>
                <a:lnTo>
                  <a:pt x="95250" y="142875"/>
                </a:lnTo>
                <a:close/>
                <a:moveTo>
                  <a:pt x="0" y="600075"/>
                </a:moveTo>
                <a:cubicBezTo>
                  <a:pt x="0" y="584299"/>
                  <a:pt x="12799" y="571500"/>
                  <a:pt x="28575" y="571500"/>
                </a:cubicBezTo>
                <a:lnTo>
                  <a:pt x="923925" y="571500"/>
                </a:lnTo>
                <a:cubicBezTo>
                  <a:pt x="939701" y="571500"/>
                  <a:pt x="952500" y="584299"/>
                  <a:pt x="952500" y="600075"/>
                </a:cubicBezTo>
                <a:cubicBezTo>
                  <a:pt x="952500" y="663178"/>
                  <a:pt x="901303" y="714375"/>
                  <a:pt x="838200" y="714375"/>
                </a:cubicBezTo>
                <a:lnTo>
                  <a:pt x="114300" y="714375"/>
                </a:lnTo>
                <a:cubicBezTo>
                  <a:pt x="51197" y="714375"/>
                  <a:pt x="0" y="663178"/>
                  <a:pt x="0" y="600075"/>
                </a:cubicBezTo>
                <a:close/>
                <a:moveTo>
                  <a:pt x="418207" y="311051"/>
                </a:moveTo>
                <a:lnTo>
                  <a:pt x="372070" y="357188"/>
                </a:lnTo>
                <a:lnTo>
                  <a:pt x="418207" y="403324"/>
                </a:lnTo>
                <a:cubicBezTo>
                  <a:pt x="432197" y="417314"/>
                  <a:pt x="432197" y="439936"/>
                  <a:pt x="418207" y="453777"/>
                </a:cubicBezTo>
                <a:cubicBezTo>
                  <a:pt x="404217" y="467618"/>
                  <a:pt x="381595" y="467767"/>
                  <a:pt x="367754" y="453777"/>
                </a:cubicBezTo>
                <a:lnTo>
                  <a:pt x="296317" y="382339"/>
                </a:lnTo>
                <a:cubicBezTo>
                  <a:pt x="282327" y="368350"/>
                  <a:pt x="282327" y="345728"/>
                  <a:pt x="296317" y="331887"/>
                </a:cubicBezTo>
                <a:lnTo>
                  <a:pt x="367754" y="260449"/>
                </a:lnTo>
                <a:cubicBezTo>
                  <a:pt x="381744" y="246459"/>
                  <a:pt x="404366" y="246459"/>
                  <a:pt x="418207" y="260449"/>
                </a:cubicBezTo>
                <a:cubicBezTo>
                  <a:pt x="432048" y="274439"/>
                  <a:pt x="432197" y="297061"/>
                  <a:pt x="418207" y="310902"/>
                </a:cubicBezTo>
                <a:close/>
                <a:moveTo>
                  <a:pt x="584895" y="260449"/>
                </a:moveTo>
                <a:lnTo>
                  <a:pt x="656332" y="331887"/>
                </a:lnTo>
                <a:cubicBezTo>
                  <a:pt x="670322" y="345877"/>
                  <a:pt x="670322" y="368498"/>
                  <a:pt x="656332" y="382339"/>
                </a:cubicBezTo>
                <a:lnTo>
                  <a:pt x="584895" y="453777"/>
                </a:lnTo>
                <a:cubicBezTo>
                  <a:pt x="570905" y="467767"/>
                  <a:pt x="548283" y="467767"/>
                  <a:pt x="534442" y="453777"/>
                </a:cubicBezTo>
                <a:cubicBezTo>
                  <a:pt x="520601" y="439787"/>
                  <a:pt x="520452" y="417165"/>
                  <a:pt x="534442" y="403324"/>
                </a:cubicBezTo>
                <a:lnTo>
                  <a:pt x="580579" y="357188"/>
                </a:lnTo>
                <a:lnTo>
                  <a:pt x="534442" y="311051"/>
                </a:lnTo>
                <a:cubicBezTo>
                  <a:pt x="520452" y="297061"/>
                  <a:pt x="520452" y="274439"/>
                  <a:pt x="534442" y="260598"/>
                </a:cubicBezTo>
                <a:cubicBezTo>
                  <a:pt x="548432" y="246757"/>
                  <a:pt x="571054" y="246608"/>
                  <a:pt x="584895" y="260598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992428" y="4343561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Digitalización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46428" y="4648361"/>
            <a:ext cx="3492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Modernización productiva y competencias digitales.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54000" y="5562600"/>
            <a:ext cx="1168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Gestión sujeta a </a:t>
            </a:r>
            <a:r>
              <a:rPr lang="en-US" sz="14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exigentes requisitos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justificación y seguimiento.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3716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Programa Destacado: Digitalización de los SPE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489200"/>
            <a:ext cx="553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Transformación digital para mejorar la calidad, accesibilidad y eficiencia de los servicios.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3700" y="3454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62000" y="3403600"/>
            <a:ext cx="439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Expediente Laboral Personalizado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708400"/>
            <a:ext cx="439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Seguimiento integral de la trayectoria laboral.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6550" y="4216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62000" y="4165600"/>
            <a:ext cx="473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Intermediación por Competencias (ESCO)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4704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Matching eficiente con IA supervisada.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7500" y="4978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62000" y="4927600"/>
            <a:ext cx="464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 COE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232400"/>
            <a:ext cx="464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 de Centros como laboratorio de innovación.</a:t>
            </a:r>
            <a:endParaRPr lang="en-US" sz="1600" dirty="0"/>
          </a:p>
        </p:txBody>
      </p:sp>
      <p:pic>
        <p:nvPicPr>
          <p:cNvPr id="13" name="Image 0" descr="https://kimi-web-img.moonshot.cn/img/thumbs.dreamstime.com/9445ee8b902f4cd6581f3ec2f09689e4ba401ab6.jpg"/>
          <p:cNvPicPr>
            <a:picLocks noChangeAspect="1"/>
          </p:cNvPicPr>
          <p:nvPr/>
        </p:nvPicPr>
        <p:blipFill>
          <a:blip r:embed="rId3"/>
          <a:srcRect l="21875" r="21875"/>
          <a:stretch/>
        </p:blipFill>
        <p:spPr>
          <a:xfrm>
            <a:off x="7391400" y="1803400"/>
            <a:ext cx="3251200" cy="3251200"/>
          </a:xfrm>
          <a:prstGeom prst="roundRect">
            <a:avLst>
              <a:gd name="adj" fmla="val 3125"/>
            </a:avLst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y retos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304483"/>
            <a:ext cx="5640070" cy="11068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PARTE  05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1465" y="607504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91465" y="630872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91465" y="654240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29146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158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152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73164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03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de Efectividad: ¿Qué dice la evidencia?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4638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Meta-análisis internacionales (Card, Kluve, Weber) proporcionan conclusiones clave sobre qué funciona.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0227" y="34798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152400" y="114300"/>
                </a:moveTo>
                <a:cubicBezTo>
                  <a:pt x="152400" y="72271"/>
                  <a:pt x="186571" y="38100"/>
                  <a:pt x="228600" y="38100"/>
                </a:cubicBezTo>
                <a:lnTo>
                  <a:pt x="647700" y="38100"/>
                </a:lnTo>
                <a:cubicBezTo>
                  <a:pt x="689729" y="38100"/>
                  <a:pt x="723900" y="72271"/>
                  <a:pt x="723900" y="114300"/>
                </a:cubicBezTo>
                <a:lnTo>
                  <a:pt x="723900" y="400050"/>
                </a:lnTo>
                <a:lnTo>
                  <a:pt x="609600" y="400050"/>
                </a:lnTo>
                <a:lnTo>
                  <a:pt x="609600" y="381000"/>
                </a:lnTo>
                <a:cubicBezTo>
                  <a:pt x="609600" y="359926"/>
                  <a:pt x="592574" y="342900"/>
                  <a:pt x="571500" y="342900"/>
                </a:cubicBezTo>
                <a:lnTo>
                  <a:pt x="495300" y="342900"/>
                </a:lnTo>
                <a:cubicBezTo>
                  <a:pt x="474226" y="342900"/>
                  <a:pt x="457200" y="359926"/>
                  <a:pt x="457200" y="381000"/>
                </a:cubicBezTo>
                <a:lnTo>
                  <a:pt x="457200" y="400050"/>
                </a:lnTo>
                <a:lnTo>
                  <a:pt x="303490" y="400050"/>
                </a:lnTo>
                <a:cubicBezTo>
                  <a:pt x="316468" y="377666"/>
                  <a:pt x="323850" y="351592"/>
                  <a:pt x="323850" y="323850"/>
                </a:cubicBezTo>
                <a:cubicBezTo>
                  <a:pt x="323850" y="239673"/>
                  <a:pt x="255627" y="171450"/>
                  <a:pt x="171450" y="171450"/>
                </a:cubicBezTo>
                <a:cubicBezTo>
                  <a:pt x="165021" y="171450"/>
                  <a:pt x="158591" y="171807"/>
                  <a:pt x="152400" y="172641"/>
                </a:cubicBezTo>
                <a:lnTo>
                  <a:pt x="152400" y="114300"/>
                </a:lnTo>
                <a:close/>
                <a:moveTo>
                  <a:pt x="396478" y="533400"/>
                </a:moveTo>
                <a:cubicBezTo>
                  <a:pt x="390406" y="504587"/>
                  <a:pt x="377071" y="478512"/>
                  <a:pt x="358259" y="457200"/>
                </a:cubicBezTo>
                <a:lnTo>
                  <a:pt x="723900" y="457200"/>
                </a:lnTo>
                <a:cubicBezTo>
                  <a:pt x="723900" y="499229"/>
                  <a:pt x="689729" y="533400"/>
                  <a:pt x="647700" y="533400"/>
                </a:cubicBezTo>
                <a:lnTo>
                  <a:pt x="396478" y="533400"/>
                </a:lnTo>
                <a:close/>
                <a:moveTo>
                  <a:pt x="76200" y="323850"/>
                </a:moveTo>
                <a:cubicBezTo>
                  <a:pt x="76200" y="271280"/>
                  <a:pt x="118880" y="228600"/>
                  <a:pt x="171450" y="228600"/>
                </a:cubicBezTo>
                <a:cubicBezTo>
                  <a:pt x="224020" y="228600"/>
                  <a:pt x="266700" y="271280"/>
                  <a:pt x="266700" y="323850"/>
                </a:cubicBezTo>
                <a:cubicBezTo>
                  <a:pt x="266700" y="376420"/>
                  <a:pt x="224020" y="419100"/>
                  <a:pt x="171450" y="419100"/>
                </a:cubicBezTo>
                <a:cubicBezTo>
                  <a:pt x="118880" y="419100"/>
                  <a:pt x="76200" y="376420"/>
                  <a:pt x="76200" y="323850"/>
                </a:cubicBezTo>
                <a:close/>
                <a:moveTo>
                  <a:pt x="0" y="571500"/>
                </a:moveTo>
                <a:cubicBezTo>
                  <a:pt x="0" y="508397"/>
                  <a:pt x="51197" y="457200"/>
                  <a:pt x="114300" y="457200"/>
                </a:cubicBezTo>
                <a:lnTo>
                  <a:pt x="228600" y="457200"/>
                </a:lnTo>
                <a:cubicBezTo>
                  <a:pt x="291703" y="457200"/>
                  <a:pt x="342900" y="508397"/>
                  <a:pt x="342900" y="571500"/>
                </a:cubicBezTo>
                <a:cubicBezTo>
                  <a:pt x="342900" y="592574"/>
                  <a:pt x="325874" y="609600"/>
                  <a:pt x="304800" y="609600"/>
                </a:cubicBezTo>
                <a:lnTo>
                  <a:pt x="38100" y="609600"/>
                </a:lnTo>
                <a:cubicBezTo>
                  <a:pt x="17026" y="609600"/>
                  <a:pt x="0" y="592574"/>
                  <a:pt x="0" y="571500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0" y="44958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y Asistencia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Más efectivas a largo plazo.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91041" y="3479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38125" y="57150"/>
                </a:moveTo>
                <a:lnTo>
                  <a:pt x="371475" y="57150"/>
                </a:lnTo>
                <a:cubicBezTo>
                  <a:pt x="376714" y="57150"/>
                  <a:pt x="381000" y="61436"/>
                  <a:pt x="381000" y="66675"/>
                </a:cubicBezTo>
                <a:lnTo>
                  <a:pt x="381000" y="114300"/>
                </a:lnTo>
                <a:lnTo>
                  <a:pt x="228600" y="114300"/>
                </a:lnTo>
                <a:lnTo>
                  <a:pt x="228600" y="66675"/>
                </a:lnTo>
                <a:cubicBezTo>
                  <a:pt x="228600" y="61436"/>
                  <a:pt x="232886" y="57150"/>
                  <a:pt x="238125" y="57150"/>
                </a:cubicBezTo>
                <a:close/>
                <a:moveTo>
                  <a:pt x="171450" y="66675"/>
                </a:moveTo>
                <a:lnTo>
                  <a:pt x="171450" y="114300"/>
                </a:lnTo>
                <a:lnTo>
                  <a:pt x="76200" y="114300"/>
                </a:lnTo>
                <a:cubicBezTo>
                  <a:pt x="34171" y="114300"/>
                  <a:pt x="0" y="148471"/>
                  <a:pt x="0" y="190500"/>
                </a:cubicBezTo>
                <a:lnTo>
                  <a:pt x="0" y="304800"/>
                </a:lnTo>
                <a:lnTo>
                  <a:pt x="609600" y="304800"/>
                </a:lnTo>
                <a:lnTo>
                  <a:pt x="609600" y="190500"/>
                </a:lnTo>
                <a:cubicBezTo>
                  <a:pt x="609600" y="148471"/>
                  <a:pt x="575429" y="114300"/>
                  <a:pt x="533400" y="114300"/>
                </a:cubicBezTo>
                <a:lnTo>
                  <a:pt x="438150" y="114300"/>
                </a:lnTo>
                <a:lnTo>
                  <a:pt x="438150" y="66675"/>
                </a:lnTo>
                <a:cubicBezTo>
                  <a:pt x="438150" y="29885"/>
                  <a:pt x="408265" y="0"/>
                  <a:pt x="371475" y="0"/>
                </a:cubicBezTo>
                <a:lnTo>
                  <a:pt x="238125" y="0"/>
                </a:lnTo>
                <a:cubicBezTo>
                  <a:pt x="201335" y="0"/>
                  <a:pt x="171450" y="29885"/>
                  <a:pt x="171450" y="66675"/>
                </a:cubicBezTo>
                <a:close/>
                <a:moveTo>
                  <a:pt x="609600" y="361950"/>
                </a:moveTo>
                <a:lnTo>
                  <a:pt x="381000" y="361950"/>
                </a:lnTo>
                <a:lnTo>
                  <a:pt x="381000" y="381000"/>
                </a:lnTo>
                <a:cubicBezTo>
                  <a:pt x="381000" y="402074"/>
                  <a:pt x="363974" y="419100"/>
                  <a:pt x="342900" y="419100"/>
                </a:cubicBezTo>
                <a:lnTo>
                  <a:pt x="266700" y="419100"/>
                </a:lnTo>
                <a:cubicBezTo>
                  <a:pt x="245626" y="419100"/>
                  <a:pt x="228600" y="402074"/>
                  <a:pt x="228600" y="381000"/>
                </a:cubicBezTo>
                <a:lnTo>
                  <a:pt x="228600" y="361950"/>
                </a:lnTo>
                <a:lnTo>
                  <a:pt x="0" y="361950"/>
                </a:ln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533400" y="571500"/>
                </a:lnTo>
                <a:cubicBezTo>
                  <a:pt x="575429" y="571500"/>
                  <a:pt x="609600" y="537329"/>
                  <a:pt x="609600" y="495300"/>
                </a:cubicBezTo>
                <a:lnTo>
                  <a:pt x="609600" y="361950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894614" y="44958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Empleo Público Directo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94614" y="48006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Menos efectivo para empleabilidad.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85655" y="3479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ubicBezTo>
                  <a:pt x="0" y="136576"/>
                  <a:pt x="136576" y="0"/>
                  <a:pt x="304800" y="0"/>
                </a:cubicBezTo>
                <a:close/>
                <a:moveTo>
                  <a:pt x="276225" y="142875"/>
                </a:moveTo>
                <a:lnTo>
                  <a:pt x="276225" y="304800"/>
                </a:lnTo>
                <a:cubicBezTo>
                  <a:pt x="276225" y="314325"/>
                  <a:pt x="280987" y="323255"/>
                  <a:pt x="288965" y="328613"/>
                </a:cubicBezTo>
                <a:lnTo>
                  <a:pt x="403265" y="404813"/>
                </a:lnTo>
                <a:cubicBezTo>
                  <a:pt x="416362" y="413623"/>
                  <a:pt x="434102" y="410051"/>
                  <a:pt x="442913" y="396835"/>
                </a:cubicBezTo>
                <a:cubicBezTo>
                  <a:pt x="451723" y="383619"/>
                  <a:pt x="448151" y="365998"/>
                  <a:pt x="434935" y="357188"/>
                </a:cubicBezTo>
                <a:lnTo>
                  <a:pt x="333375" y="289560"/>
                </a:lnTo>
                <a:lnTo>
                  <a:pt x="333375" y="142875"/>
                </a:lnTo>
                <a:cubicBezTo>
                  <a:pt x="333375" y="127040"/>
                  <a:pt x="320635" y="114300"/>
                  <a:pt x="304800" y="114300"/>
                </a:cubicBezTo>
                <a:cubicBezTo>
                  <a:pt x="288965" y="114300"/>
                  <a:pt x="276225" y="127040"/>
                  <a:pt x="276225" y="142875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789228" y="44958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Horizonte Temporal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89228" y="48006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Efectos más positivos a medio plazo.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5334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 de Efectividad en España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651000"/>
            <a:ext cx="553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evaluación intermedia de la Estrategia 2021-2024 confirma hallazgos clave: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565400"/>
            <a:ext cx="5537200" cy="1117600"/>
          </a:xfrm>
          <a:custGeom>
            <a:avLst/>
            <a:gdLst/>
            <a:ahLst/>
            <a:cxnLst/>
            <a:rect l="l" t="t" r="r" b="b"/>
            <a:pathLst>
              <a:path w="5537200" h="1117600">
                <a:moveTo>
                  <a:pt x="101601" y="0"/>
                </a:moveTo>
                <a:lnTo>
                  <a:pt x="5435599" y="0"/>
                </a:lnTo>
                <a:cubicBezTo>
                  <a:pt x="5491712" y="0"/>
                  <a:pt x="5537200" y="45488"/>
                  <a:pt x="5537200" y="101601"/>
                </a:cubicBezTo>
                <a:lnTo>
                  <a:pt x="5537200" y="1015999"/>
                </a:lnTo>
                <a:cubicBezTo>
                  <a:pt x="5537200" y="1072112"/>
                  <a:pt x="5491712" y="1117600"/>
                  <a:pt x="5435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5E5E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06400" y="2717800"/>
            <a:ext cx="574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Incentivos a la Contratación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6400" y="3022600"/>
            <a:ext cx="523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Efectos limitados y riesgos de efecto deadweight y sustitución.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3886200"/>
            <a:ext cx="5537200" cy="1117600"/>
          </a:xfrm>
          <a:custGeom>
            <a:avLst/>
            <a:gdLst/>
            <a:ahLst/>
            <a:cxnLst/>
            <a:rect l="l" t="t" r="r" b="b"/>
            <a:pathLst>
              <a:path w="5537200" h="1117600">
                <a:moveTo>
                  <a:pt x="101601" y="0"/>
                </a:moveTo>
                <a:lnTo>
                  <a:pt x="5435599" y="0"/>
                </a:lnTo>
                <a:cubicBezTo>
                  <a:pt x="5491712" y="0"/>
                  <a:pt x="5537200" y="45488"/>
                  <a:pt x="5537200" y="101601"/>
                </a:cubicBezTo>
                <a:lnTo>
                  <a:pt x="5537200" y="1015999"/>
                </a:lnTo>
                <a:cubicBezTo>
                  <a:pt x="5537200" y="1072112"/>
                  <a:pt x="5491712" y="1117600"/>
                  <a:pt x="5435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C200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06400" y="4038600"/>
            <a:ext cx="574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Profesional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6400" y="4343400"/>
            <a:ext cx="523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moderado, mayor para mujeres y trabajadores de mediana edad.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5207000"/>
            <a:ext cx="5537200" cy="1117600"/>
          </a:xfrm>
          <a:custGeom>
            <a:avLst/>
            <a:gdLst/>
            <a:ahLst/>
            <a:cxnLst/>
            <a:rect l="l" t="t" r="r" b="b"/>
            <a:pathLst>
              <a:path w="5537200" h="1117600">
                <a:moveTo>
                  <a:pt x="101601" y="0"/>
                </a:moveTo>
                <a:lnTo>
                  <a:pt x="5435599" y="0"/>
                </a:lnTo>
                <a:cubicBezTo>
                  <a:pt x="5491712" y="0"/>
                  <a:pt x="5537200" y="45488"/>
                  <a:pt x="5537200" y="101601"/>
                </a:cubicBezTo>
                <a:lnTo>
                  <a:pt x="5537200" y="1015999"/>
                </a:lnTo>
                <a:cubicBezTo>
                  <a:pt x="5537200" y="1072112"/>
                  <a:pt x="5491712" y="1117600"/>
                  <a:pt x="5435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AEE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06400" y="5359400"/>
            <a:ext cx="574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Itinerarios Combinados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6400" y="5664200"/>
            <a:ext cx="523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combinación de servicios (tutorización, formación) produce los mayores impactos.</a:t>
            </a:r>
            <a:endParaRPr lang="en-US" sz="1600" dirty="0"/>
          </a:p>
        </p:txBody>
      </p:sp>
      <p:pic>
        <p:nvPicPr>
          <p:cNvPr id="13" name="Image 0" descr="https://kimi-web-img.moonshot.cn/img/thecorner.eu/600b8c276145e08e107fcb71594d007ccd6d0b00.jpg"/>
          <p:cNvPicPr>
            <a:picLocks noChangeAspect="1"/>
          </p:cNvPicPr>
          <p:nvPr/>
        </p:nvPicPr>
        <p:blipFill>
          <a:blip r:embed="rId3"/>
          <a:srcRect l="6641" r="6641"/>
          <a:stretch/>
        </p:blipFill>
        <p:spPr>
          <a:xfrm>
            <a:off x="7391400" y="1803400"/>
            <a:ext cx="3251200" cy="3251200"/>
          </a:xfrm>
          <a:prstGeom prst="roundRect">
            <a:avLst>
              <a:gd name="adj" fmla="val 3125"/>
            </a:avLst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3815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Comparativa Internacional de Modelos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40886" y="1200150"/>
            <a:ext cx="4864100" cy="4762500"/>
          </a:xfrm>
          <a:custGeom>
            <a:avLst/>
            <a:gdLst/>
            <a:ahLst/>
            <a:cxnLst/>
            <a:rect l="l" t="t" r="r" b="b"/>
            <a:pathLst>
              <a:path w="4864100" h="4762500">
                <a:moveTo>
                  <a:pt x="152400" y="0"/>
                </a:moveTo>
                <a:lnTo>
                  <a:pt x="4711700" y="0"/>
                </a:lnTo>
                <a:cubicBezTo>
                  <a:pt x="4795812" y="0"/>
                  <a:pt x="4864100" y="68288"/>
                  <a:pt x="4864100" y="152400"/>
                </a:cubicBezTo>
                <a:lnTo>
                  <a:pt x="4864100" y="4610100"/>
                </a:lnTo>
                <a:cubicBezTo>
                  <a:pt x="4864100" y="4694212"/>
                  <a:pt x="4795812" y="4762500"/>
                  <a:pt x="4711700" y="4762500"/>
                </a:cubicBezTo>
                <a:lnTo>
                  <a:pt x="152400" y="4762500"/>
                </a:lnTo>
                <a:cubicBezTo>
                  <a:pt x="68288" y="4762500"/>
                  <a:pt x="0" y="4694212"/>
                  <a:pt x="0" y="461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944086" y="1403350"/>
            <a:ext cx="44577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Nórdico (Dinamarca)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0086" y="2368240"/>
            <a:ext cx="4965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"Flexiseguridad"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21874" y="286607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25455" y="66675"/>
                </a:moveTo>
                <a:cubicBezTo>
                  <a:pt x="35004" y="34553"/>
                  <a:pt x="64765" y="11112"/>
                  <a:pt x="100013" y="11112"/>
                </a:cubicBezTo>
                <a:lnTo>
                  <a:pt x="122238" y="11112"/>
                </a:lnTo>
                <a:cubicBezTo>
                  <a:pt x="128384" y="11112"/>
                  <a:pt x="133350" y="16078"/>
                  <a:pt x="133350" y="22225"/>
                </a:cubicBezTo>
                <a:cubicBezTo>
                  <a:pt x="133350" y="28372"/>
                  <a:pt x="128384" y="33337"/>
                  <a:pt x="122238" y="33337"/>
                </a:cubicBezTo>
                <a:lnTo>
                  <a:pt x="100013" y="33337"/>
                </a:lnTo>
                <a:cubicBezTo>
                  <a:pt x="77232" y="33337"/>
                  <a:pt x="57646" y="47054"/>
                  <a:pt x="49069" y="66675"/>
                </a:cubicBezTo>
                <a:lnTo>
                  <a:pt x="94456" y="66675"/>
                </a:lnTo>
                <a:cubicBezTo>
                  <a:pt x="99075" y="66675"/>
                  <a:pt x="102791" y="70391"/>
                  <a:pt x="102791" y="75009"/>
                </a:cubicBezTo>
                <a:cubicBezTo>
                  <a:pt x="102791" y="79628"/>
                  <a:pt x="99075" y="83344"/>
                  <a:pt x="94456" y="83344"/>
                </a:cubicBezTo>
                <a:lnTo>
                  <a:pt x="44728" y="83344"/>
                </a:lnTo>
                <a:cubicBezTo>
                  <a:pt x="44554" y="85184"/>
                  <a:pt x="44450" y="87025"/>
                  <a:pt x="44450" y="88900"/>
                </a:cubicBezTo>
                <a:cubicBezTo>
                  <a:pt x="44450" y="90775"/>
                  <a:pt x="44554" y="92616"/>
                  <a:pt x="44728" y="94456"/>
                </a:cubicBezTo>
                <a:lnTo>
                  <a:pt x="94456" y="94456"/>
                </a:lnTo>
                <a:cubicBezTo>
                  <a:pt x="99075" y="94456"/>
                  <a:pt x="102791" y="98172"/>
                  <a:pt x="102791" y="102791"/>
                </a:cubicBezTo>
                <a:cubicBezTo>
                  <a:pt x="102791" y="107409"/>
                  <a:pt x="99075" y="111125"/>
                  <a:pt x="94456" y="111125"/>
                </a:cubicBezTo>
                <a:lnTo>
                  <a:pt x="49069" y="111125"/>
                </a:lnTo>
                <a:cubicBezTo>
                  <a:pt x="57646" y="130746"/>
                  <a:pt x="77232" y="144463"/>
                  <a:pt x="100013" y="144463"/>
                </a:cubicBezTo>
                <a:lnTo>
                  <a:pt x="122238" y="144463"/>
                </a:lnTo>
                <a:cubicBezTo>
                  <a:pt x="128384" y="144463"/>
                  <a:pt x="133350" y="149428"/>
                  <a:pt x="133350" y="155575"/>
                </a:cubicBezTo>
                <a:cubicBezTo>
                  <a:pt x="133350" y="161722"/>
                  <a:pt x="128384" y="166688"/>
                  <a:pt x="122238" y="166688"/>
                </a:cubicBezTo>
                <a:lnTo>
                  <a:pt x="100013" y="166688"/>
                </a:lnTo>
                <a:cubicBezTo>
                  <a:pt x="64765" y="166688"/>
                  <a:pt x="35004" y="143247"/>
                  <a:pt x="25455" y="111125"/>
                </a:cubicBezTo>
                <a:lnTo>
                  <a:pt x="13891" y="111125"/>
                </a:lnTo>
                <a:cubicBezTo>
                  <a:pt x="9272" y="111125"/>
                  <a:pt x="5556" y="107409"/>
                  <a:pt x="5556" y="102791"/>
                </a:cubicBezTo>
                <a:cubicBezTo>
                  <a:pt x="5556" y="98172"/>
                  <a:pt x="9272" y="94456"/>
                  <a:pt x="13891" y="94456"/>
                </a:cubicBezTo>
                <a:lnTo>
                  <a:pt x="22433" y="94456"/>
                </a:lnTo>
                <a:cubicBezTo>
                  <a:pt x="22190" y="90810"/>
                  <a:pt x="22190" y="86990"/>
                  <a:pt x="22433" y="83344"/>
                </a:cubicBezTo>
                <a:lnTo>
                  <a:pt x="13891" y="83344"/>
                </a:lnTo>
                <a:cubicBezTo>
                  <a:pt x="9272" y="83344"/>
                  <a:pt x="5556" y="79628"/>
                  <a:pt x="5556" y="75009"/>
                </a:cubicBezTo>
                <a:cubicBezTo>
                  <a:pt x="5556" y="70391"/>
                  <a:pt x="9272" y="66675"/>
                  <a:pt x="13891" y="66675"/>
                </a:cubicBezTo>
                <a:lnTo>
                  <a:pt x="25455" y="66675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248886" y="277464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~2% del PIB en PAE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88536" y="327247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11125" y="77788"/>
                </a:moveTo>
                <a:cubicBezTo>
                  <a:pt x="131058" y="77788"/>
                  <a:pt x="147241" y="61605"/>
                  <a:pt x="147241" y="41672"/>
                </a:cubicBezTo>
                <a:cubicBezTo>
                  <a:pt x="147241" y="21739"/>
                  <a:pt x="131058" y="5556"/>
                  <a:pt x="111125" y="5556"/>
                </a:cubicBezTo>
                <a:cubicBezTo>
                  <a:pt x="91192" y="5556"/>
                  <a:pt x="75009" y="21739"/>
                  <a:pt x="75009" y="41672"/>
                </a:cubicBezTo>
                <a:cubicBezTo>
                  <a:pt x="75009" y="61605"/>
                  <a:pt x="91192" y="77788"/>
                  <a:pt x="111125" y="77788"/>
                </a:cubicBezTo>
                <a:close/>
                <a:moveTo>
                  <a:pt x="33337" y="80566"/>
                </a:moveTo>
                <a:cubicBezTo>
                  <a:pt x="47137" y="80566"/>
                  <a:pt x="58341" y="69362"/>
                  <a:pt x="58341" y="55563"/>
                </a:cubicBezTo>
                <a:cubicBezTo>
                  <a:pt x="58341" y="41763"/>
                  <a:pt x="47137" y="30559"/>
                  <a:pt x="33337" y="30559"/>
                </a:cubicBezTo>
                <a:cubicBezTo>
                  <a:pt x="19538" y="30559"/>
                  <a:pt x="8334" y="41763"/>
                  <a:pt x="8334" y="55563"/>
                </a:cubicBezTo>
                <a:cubicBezTo>
                  <a:pt x="8334" y="69362"/>
                  <a:pt x="19538" y="80566"/>
                  <a:pt x="33337" y="80566"/>
                </a:cubicBezTo>
                <a:close/>
                <a:moveTo>
                  <a:pt x="0" y="144463"/>
                </a:moveTo>
                <a:lnTo>
                  <a:pt x="0" y="155575"/>
                </a:lnTo>
                <a:cubicBezTo>
                  <a:pt x="0" y="161722"/>
                  <a:pt x="4966" y="166688"/>
                  <a:pt x="11112" y="166688"/>
                </a:cubicBezTo>
                <a:lnTo>
                  <a:pt x="41220" y="166688"/>
                </a:lnTo>
                <a:cubicBezTo>
                  <a:pt x="39727" y="163284"/>
                  <a:pt x="38894" y="159534"/>
                  <a:pt x="38894" y="155575"/>
                </a:cubicBezTo>
                <a:lnTo>
                  <a:pt x="38894" y="150019"/>
                </a:lnTo>
                <a:cubicBezTo>
                  <a:pt x="38894" y="131544"/>
                  <a:pt x="45839" y="114667"/>
                  <a:pt x="57264" y="101888"/>
                </a:cubicBezTo>
                <a:cubicBezTo>
                  <a:pt x="53201" y="100672"/>
                  <a:pt x="48895" y="100013"/>
                  <a:pt x="44450" y="100013"/>
                </a:cubicBezTo>
                <a:cubicBezTo>
                  <a:pt x="19898" y="100013"/>
                  <a:pt x="0" y="119911"/>
                  <a:pt x="0" y="144463"/>
                </a:cubicBezTo>
                <a:close/>
                <a:moveTo>
                  <a:pt x="213916" y="55563"/>
                </a:moveTo>
                <a:cubicBezTo>
                  <a:pt x="213916" y="41763"/>
                  <a:pt x="202712" y="30559"/>
                  <a:pt x="188913" y="30559"/>
                </a:cubicBezTo>
                <a:cubicBezTo>
                  <a:pt x="175113" y="30559"/>
                  <a:pt x="163909" y="41763"/>
                  <a:pt x="163909" y="55563"/>
                </a:cubicBezTo>
                <a:cubicBezTo>
                  <a:pt x="163909" y="69362"/>
                  <a:pt x="175113" y="80566"/>
                  <a:pt x="188913" y="80566"/>
                </a:cubicBezTo>
                <a:cubicBezTo>
                  <a:pt x="202712" y="80566"/>
                  <a:pt x="213916" y="69362"/>
                  <a:pt x="213916" y="55563"/>
                </a:cubicBezTo>
                <a:close/>
                <a:moveTo>
                  <a:pt x="55563" y="150019"/>
                </a:moveTo>
                <a:lnTo>
                  <a:pt x="55563" y="155575"/>
                </a:lnTo>
                <a:cubicBezTo>
                  <a:pt x="55563" y="161722"/>
                  <a:pt x="60528" y="166688"/>
                  <a:pt x="66675" y="166688"/>
                </a:cubicBezTo>
                <a:lnTo>
                  <a:pt x="121126" y="166688"/>
                </a:lnTo>
                <a:cubicBezTo>
                  <a:pt x="118661" y="159187"/>
                  <a:pt x="118938" y="151269"/>
                  <a:pt x="124842" y="144463"/>
                </a:cubicBezTo>
                <a:cubicBezTo>
                  <a:pt x="119980" y="138837"/>
                  <a:pt x="117723" y="130676"/>
                  <a:pt x="120883" y="122481"/>
                </a:cubicBezTo>
                <a:cubicBezTo>
                  <a:pt x="123175" y="116542"/>
                  <a:pt x="126405" y="110986"/>
                  <a:pt x="130398" y="106055"/>
                </a:cubicBezTo>
                <a:cubicBezTo>
                  <a:pt x="132273" y="103763"/>
                  <a:pt x="134427" y="101992"/>
                  <a:pt x="136753" y="100707"/>
                </a:cubicBezTo>
                <a:cubicBezTo>
                  <a:pt x="129079" y="96713"/>
                  <a:pt x="120362" y="94456"/>
                  <a:pt x="111125" y="94456"/>
                </a:cubicBezTo>
                <a:cubicBezTo>
                  <a:pt x="80427" y="94456"/>
                  <a:pt x="55563" y="119320"/>
                  <a:pt x="55563" y="150019"/>
                </a:cubicBezTo>
                <a:close/>
                <a:moveTo>
                  <a:pt x="216902" y="134704"/>
                </a:moveTo>
                <a:cubicBezTo>
                  <a:pt x="219090" y="133454"/>
                  <a:pt x="220201" y="130850"/>
                  <a:pt x="219264" y="128454"/>
                </a:cubicBezTo>
                <a:cubicBezTo>
                  <a:pt x="217597" y="124147"/>
                  <a:pt x="215270" y="120084"/>
                  <a:pt x="212353" y="116508"/>
                </a:cubicBezTo>
                <a:cubicBezTo>
                  <a:pt x="210756" y="114528"/>
                  <a:pt x="207943" y="114181"/>
                  <a:pt x="205755" y="115466"/>
                </a:cubicBezTo>
                <a:cubicBezTo>
                  <a:pt x="198184" y="119841"/>
                  <a:pt x="188878" y="114493"/>
                  <a:pt x="188878" y="105708"/>
                </a:cubicBezTo>
                <a:cubicBezTo>
                  <a:pt x="188878" y="103173"/>
                  <a:pt x="187176" y="100915"/>
                  <a:pt x="184676" y="100533"/>
                </a:cubicBezTo>
                <a:cubicBezTo>
                  <a:pt x="180196" y="99839"/>
                  <a:pt x="175369" y="99839"/>
                  <a:pt x="170889" y="100533"/>
                </a:cubicBezTo>
                <a:cubicBezTo>
                  <a:pt x="168389" y="100915"/>
                  <a:pt x="166688" y="103173"/>
                  <a:pt x="166688" y="105708"/>
                </a:cubicBezTo>
                <a:cubicBezTo>
                  <a:pt x="166688" y="114459"/>
                  <a:pt x="157381" y="119841"/>
                  <a:pt x="149810" y="115466"/>
                </a:cubicBezTo>
                <a:cubicBezTo>
                  <a:pt x="147623" y="114216"/>
                  <a:pt x="144810" y="114563"/>
                  <a:pt x="143212" y="116508"/>
                </a:cubicBezTo>
                <a:cubicBezTo>
                  <a:pt x="140295" y="120084"/>
                  <a:pt x="137969" y="124147"/>
                  <a:pt x="136302" y="128454"/>
                </a:cubicBezTo>
                <a:cubicBezTo>
                  <a:pt x="135399" y="130815"/>
                  <a:pt x="136475" y="133419"/>
                  <a:pt x="138663" y="134670"/>
                </a:cubicBezTo>
                <a:cubicBezTo>
                  <a:pt x="146268" y="139045"/>
                  <a:pt x="146268" y="149776"/>
                  <a:pt x="138663" y="154186"/>
                </a:cubicBezTo>
                <a:cubicBezTo>
                  <a:pt x="136475" y="155436"/>
                  <a:pt x="135364" y="158041"/>
                  <a:pt x="136302" y="160402"/>
                </a:cubicBezTo>
                <a:cubicBezTo>
                  <a:pt x="137969" y="164708"/>
                  <a:pt x="140295" y="168771"/>
                  <a:pt x="143212" y="172348"/>
                </a:cubicBezTo>
                <a:cubicBezTo>
                  <a:pt x="144810" y="174327"/>
                  <a:pt x="147623" y="174675"/>
                  <a:pt x="149810" y="173390"/>
                </a:cubicBezTo>
                <a:cubicBezTo>
                  <a:pt x="157381" y="169014"/>
                  <a:pt x="166688" y="174397"/>
                  <a:pt x="166688" y="183148"/>
                </a:cubicBezTo>
                <a:cubicBezTo>
                  <a:pt x="166688" y="185683"/>
                  <a:pt x="168389" y="187940"/>
                  <a:pt x="170889" y="188322"/>
                </a:cubicBezTo>
                <a:cubicBezTo>
                  <a:pt x="175369" y="189017"/>
                  <a:pt x="180196" y="189017"/>
                  <a:pt x="184676" y="188322"/>
                </a:cubicBezTo>
                <a:cubicBezTo>
                  <a:pt x="187176" y="187940"/>
                  <a:pt x="188878" y="185683"/>
                  <a:pt x="188878" y="183148"/>
                </a:cubicBezTo>
                <a:cubicBezTo>
                  <a:pt x="188878" y="174397"/>
                  <a:pt x="198184" y="169014"/>
                  <a:pt x="205755" y="173390"/>
                </a:cubicBezTo>
                <a:cubicBezTo>
                  <a:pt x="207943" y="174640"/>
                  <a:pt x="210756" y="174293"/>
                  <a:pt x="212353" y="172348"/>
                </a:cubicBezTo>
                <a:cubicBezTo>
                  <a:pt x="215270" y="168771"/>
                  <a:pt x="217597" y="164708"/>
                  <a:pt x="219264" y="160402"/>
                </a:cubicBezTo>
                <a:cubicBezTo>
                  <a:pt x="220166" y="158041"/>
                  <a:pt x="219090" y="155436"/>
                  <a:pt x="216902" y="154186"/>
                </a:cubicBezTo>
                <a:cubicBezTo>
                  <a:pt x="209297" y="149810"/>
                  <a:pt x="209297" y="139080"/>
                  <a:pt x="216902" y="134670"/>
                </a:cubicBezTo>
                <a:close/>
                <a:moveTo>
                  <a:pt x="163909" y="144463"/>
                </a:moveTo>
                <a:cubicBezTo>
                  <a:pt x="163909" y="136796"/>
                  <a:pt x="170134" y="130572"/>
                  <a:pt x="177800" y="130572"/>
                </a:cubicBezTo>
                <a:cubicBezTo>
                  <a:pt x="185466" y="130572"/>
                  <a:pt x="191691" y="136796"/>
                  <a:pt x="191691" y="144463"/>
                </a:cubicBezTo>
                <a:cubicBezTo>
                  <a:pt x="191691" y="152129"/>
                  <a:pt x="185466" y="158353"/>
                  <a:pt x="177800" y="158353"/>
                </a:cubicBezTo>
                <a:cubicBezTo>
                  <a:pt x="170134" y="158353"/>
                  <a:pt x="163909" y="152129"/>
                  <a:pt x="163909" y="144463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248886" y="3181040"/>
            <a:ext cx="370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Servicios altamente profesionalizados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99649" y="367887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45678" y="33337"/>
                </a:moveTo>
                <a:cubicBezTo>
                  <a:pt x="139913" y="33337"/>
                  <a:pt x="134322" y="34900"/>
                  <a:pt x="129426" y="37748"/>
                </a:cubicBezTo>
                <a:cubicBezTo>
                  <a:pt x="123939" y="32192"/>
                  <a:pt x="117549" y="27538"/>
                  <a:pt x="110500" y="24031"/>
                </a:cubicBezTo>
                <a:cubicBezTo>
                  <a:pt x="120293" y="15696"/>
                  <a:pt x="132760" y="11112"/>
                  <a:pt x="145678" y="11112"/>
                </a:cubicBezTo>
                <a:cubicBezTo>
                  <a:pt x="175682" y="11112"/>
                  <a:pt x="200025" y="35421"/>
                  <a:pt x="200025" y="65460"/>
                </a:cubicBezTo>
                <a:cubicBezTo>
                  <a:pt x="200025" y="79871"/>
                  <a:pt x="194295" y="93692"/>
                  <a:pt x="184120" y="103867"/>
                </a:cubicBezTo>
                <a:lnTo>
                  <a:pt x="159430" y="128558"/>
                </a:lnTo>
                <a:cubicBezTo>
                  <a:pt x="149255" y="138733"/>
                  <a:pt x="135434" y="144463"/>
                  <a:pt x="121022" y="144463"/>
                </a:cubicBezTo>
                <a:cubicBezTo>
                  <a:pt x="91018" y="144463"/>
                  <a:pt x="66675" y="120154"/>
                  <a:pt x="66675" y="90115"/>
                </a:cubicBezTo>
                <a:cubicBezTo>
                  <a:pt x="66675" y="89595"/>
                  <a:pt x="66675" y="89074"/>
                  <a:pt x="66710" y="88553"/>
                </a:cubicBezTo>
                <a:cubicBezTo>
                  <a:pt x="66883" y="82406"/>
                  <a:pt x="71988" y="77579"/>
                  <a:pt x="78135" y="77753"/>
                </a:cubicBezTo>
                <a:cubicBezTo>
                  <a:pt x="84281" y="77926"/>
                  <a:pt x="89108" y="83031"/>
                  <a:pt x="88935" y="89178"/>
                </a:cubicBezTo>
                <a:cubicBezTo>
                  <a:pt x="88935" y="89490"/>
                  <a:pt x="88935" y="89803"/>
                  <a:pt x="88935" y="90081"/>
                </a:cubicBezTo>
                <a:cubicBezTo>
                  <a:pt x="88935" y="107826"/>
                  <a:pt x="103312" y="122203"/>
                  <a:pt x="121057" y="122203"/>
                </a:cubicBezTo>
                <a:cubicBezTo>
                  <a:pt x="129565" y="122203"/>
                  <a:pt x="137726" y="118834"/>
                  <a:pt x="143768" y="112792"/>
                </a:cubicBezTo>
                <a:lnTo>
                  <a:pt x="168459" y="88101"/>
                </a:lnTo>
                <a:cubicBezTo>
                  <a:pt x="174466" y="82094"/>
                  <a:pt x="177869" y="73898"/>
                  <a:pt x="177869" y="65390"/>
                </a:cubicBezTo>
                <a:cubicBezTo>
                  <a:pt x="177869" y="47645"/>
                  <a:pt x="163493" y="33268"/>
                  <a:pt x="145747" y="33268"/>
                </a:cubicBezTo>
                <a:close/>
                <a:moveTo>
                  <a:pt x="95567" y="60181"/>
                </a:moveTo>
                <a:cubicBezTo>
                  <a:pt x="94908" y="59903"/>
                  <a:pt x="94248" y="59521"/>
                  <a:pt x="93658" y="59105"/>
                </a:cubicBezTo>
                <a:cubicBezTo>
                  <a:pt x="89282" y="56847"/>
                  <a:pt x="84281" y="55563"/>
                  <a:pt x="79038" y="55563"/>
                </a:cubicBezTo>
                <a:cubicBezTo>
                  <a:pt x="70530" y="55563"/>
                  <a:pt x="62369" y="58931"/>
                  <a:pt x="56326" y="64973"/>
                </a:cubicBezTo>
                <a:lnTo>
                  <a:pt x="31636" y="89664"/>
                </a:lnTo>
                <a:cubicBezTo>
                  <a:pt x="25628" y="95672"/>
                  <a:pt x="22225" y="103867"/>
                  <a:pt x="22225" y="112375"/>
                </a:cubicBezTo>
                <a:cubicBezTo>
                  <a:pt x="22225" y="130120"/>
                  <a:pt x="36602" y="144497"/>
                  <a:pt x="54347" y="144497"/>
                </a:cubicBezTo>
                <a:cubicBezTo>
                  <a:pt x="60077" y="144497"/>
                  <a:pt x="65668" y="142969"/>
                  <a:pt x="70564" y="140122"/>
                </a:cubicBezTo>
                <a:cubicBezTo>
                  <a:pt x="76051" y="145678"/>
                  <a:pt x="82441" y="150331"/>
                  <a:pt x="89525" y="153839"/>
                </a:cubicBezTo>
                <a:cubicBezTo>
                  <a:pt x="79732" y="162138"/>
                  <a:pt x="67300" y="166757"/>
                  <a:pt x="54347" y="166757"/>
                </a:cubicBezTo>
                <a:cubicBezTo>
                  <a:pt x="24343" y="166757"/>
                  <a:pt x="0" y="142448"/>
                  <a:pt x="0" y="112410"/>
                </a:cubicBezTo>
                <a:cubicBezTo>
                  <a:pt x="0" y="97998"/>
                  <a:pt x="5730" y="84177"/>
                  <a:pt x="15905" y="74002"/>
                </a:cubicBezTo>
                <a:lnTo>
                  <a:pt x="40595" y="49312"/>
                </a:lnTo>
                <a:cubicBezTo>
                  <a:pt x="50770" y="39137"/>
                  <a:pt x="64591" y="33407"/>
                  <a:pt x="79003" y="33407"/>
                </a:cubicBezTo>
                <a:cubicBezTo>
                  <a:pt x="109076" y="33407"/>
                  <a:pt x="133350" y="57924"/>
                  <a:pt x="133350" y="87893"/>
                </a:cubicBezTo>
                <a:cubicBezTo>
                  <a:pt x="133350" y="88344"/>
                  <a:pt x="133350" y="88796"/>
                  <a:pt x="133350" y="89247"/>
                </a:cubicBezTo>
                <a:cubicBezTo>
                  <a:pt x="133211" y="95394"/>
                  <a:pt x="128106" y="100221"/>
                  <a:pt x="121960" y="100082"/>
                </a:cubicBezTo>
                <a:cubicBezTo>
                  <a:pt x="115813" y="99943"/>
                  <a:pt x="110986" y="94838"/>
                  <a:pt x="111125" y="88692"/>
                </a:cubicBezTo>
                <a:cubicBezTo>
                  <a:pt x="111125" y="88414"/>
                  <a:pt x="111125" y="88171"/>
                  <a:pt x="111125" y="87893"/>
                </a:cubicBezTo>
                <a:cubicBezTo>
                  <a:pt x="111125" y="76190"/>
                  <a:pt x="104874" y="65911"/>
                  <a:pt x="95567" y="60251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248886" y="358744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activa-pasiva fuerte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2887" y="1200150"/>
            <a:ext cx="4864100" cy="4762500"/>
          </a:xfrm>
          <a:custGeom>
            <a:avLst/>
            <a:gdLst/>
            <a:ahLst/>
            <a:cxnLst/>
            <a:rect l="l" t="t" r="r" b="b"/>
            <a:pathLst>
              <a:path w="4864100" h="4762500">
                <a:moveTo>
                  <a:pt x="152400" y="0"/>
                </a:moveTo>
                <a:lnTo>
                  <a:pt x="4711700" y="0"/>
                </a:lnTo>
                <a:cubicBezTo>
                  <a:pt x="4795812" y="0"/>
                  <a:pt x="4864100" y="68288"/>
                  <a:pt x="4864100" y="152400"/>
                </a:cubicBezTo>
                <a:lnTo>
                  <a:pt x="4864100" y="4610100"/>
                </a:lnTo>
                <a:cubicBezTo>
                  <a:pt x="4864100" y="4694212"/>
                  <a:pt x="4795812" y="4762500"/>
                  <a:pt x="4711700" y="4762500"/>
                </a:cubicBezTo>
                <a:lnTo>
                  <a:pt x="152400" y="4762500"/>
                </a:lnTo>
                <a:cubicBezTo>
                  <a:pt x="68288" y="4762500"/>
                  <a:pt x="0" y="4694212"/>
                  <a:pt x="0" y="461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532087" y="1403350"/>
            <a:ext cx="4965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Alemán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2087" y="1961989"/>
            <a:ext cx="4965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Dual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63874" y="2459831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25455" y="66675"/>
                </a:moveTo>
                <a:cubicBezTo>
                  <a:pt x="35004" y="34553"/>
                  <a:pt x="64765" y="11112"/>
                  <a:pt x="100013" y="11112"/>
                </a:cubicBezTo>
                <a:lnTo>
                  <a:pt x="122238" y="11112"/>
                </a:lnTo>
                <a:cubicBezTo>
                  <a:pt x="128384" y="11112"/>
                  <a:pt x="133350" y="16078"/>
                  <a:pt x="133350" y="22225"/>
                </a:cubicBezTo>
                <a:cubicBezTo>
                  <a:pt x="133350" y="28372"/>
                  <a:pt x="128384" y="33337"/>
                  <a:pt x="122238" y="33337"/>
                </a:cubicBezTo>
                <a:lnTo>
                  <a:pt x="100013" y="33337"/>
                </a:lnTo>
                <a:cubicBezTo>
                  <a:pt x="77232" y="33337"/>
                  <a:pt x="57646" y="47054"/>
                  <a:pt x="49069" y="66675"/>
                </a:cubicBezTo>
                <a:lnTo>
                  <a:pt x="94456" y="66675"/>
                </a:lnTo>
                <a:cubicBezTo>
                  <a:pt x="99075" y="66675"/>
                  <a:pt x="102791" y="70391"/>
                  <a:pt x="102791" y="75009"/>
                </a:cubicBezTo>
                <a:cubicBezTo>
                  <a:pt x="102791" y="79628"/>
                  <a:pt x="99075" y="83344"/>
                  <a:pt x="94456" y="83344"/>
                </a:cubicBezTo>
                <a:lnTo>
                  <a:pt x="44728" y="83344"/>
                </a:lnTo>
                <a:cubicBezTo>
                  <a:pt x="44554" y="85184"/>
                  <a:pt x="44450" y="87025"/>
                  <a:pt x="44450" y="88900"/>
                </a:cubicBezTo>
                <a:cubicBezTo>
                  <a:pt x="44450" y="90775"/>
                  <a:pt x="44554" y="92616"/>
                  <a:pt x="44728" y="94456"/>
                </a:cubicBezTo>
                <a:lnTo>
                  <a:pt x="94456" y="94456"/>
                </a:lnTo>
                <a:cubicBezTo>
                  <a:pt x="99075" y="94456"/>
                  <a:pt x="102791" y="98172"/>
                  <a:pt x="102791" y="102791"/>
                </a:cubicBezTo>
                <a:cubicBezTo>
                  <a:pt x="102791" y="107409"/>
                  <a:pt x="99075" y="111125"/>
                  <a:pt x="94456" y="111125"/>
                </a:cubicBezTo>
                <a:lnTo>
                  <a:pt x="49069" y="111125"/>
                </a:lnTo>
                <a:cubicBezTo>
                  <a:pt x="57646" y="130746"/>
                  <a:pt x="77232" y="144463"/>
                  <a:pt x="100013" y="144463"/>
                </a:cubicBezTo>
                <a:lnTo>
                  <a:pt x="122238" y="144463"/>
                </a:lnTo>
                <a:cubicBezTo>
                  <a:pt x="128384" y="144463"/>
                  <a:pt x="133350" y="149428"/>
                  <a:pt x="133350" y="155575"/>
                </a:cubicBezTo>
                <a:cubicBezTo>
                  <a:pt x="133350" y="161722"/>
                  <a:pt x="128384" y="166688"/>
                  <a:pt x="122238" y="166688"/>
                </a:cubicBezTo>
                <a:lnTo>
                  <a:pt x="100013" y="166688"/>
                </a:lnTo>
                <a:cubicBezTo>
                  <a:pt x="64765" y="166688"/>
                  <a:pt x="35004" y="143247"/>
                  <a:pt x="25455" y="111125"/>
                </a:cubicBezTo>
                <a:lnTo>
                  <a:pt x="13891" y="111125"/>
                </a:lnTo>
                <a:cubicBezTo>
                  <a:pt x="9272" y="111125"/>
                  <a:pt x="5556" y="107409"/>
                  <a:pt x="5556" y="102791"/>
                </a:cubicBezTo>
                <a:cubicBezTo>
                  <a:pt x="5556" y="98172"/>
                  <a:pt x="9272" y="94456"/>
                  <a:pt x="13891" y="94456"/>
                </a:cubicBezTo>
                <a:lnTo>
                  <a:pt x="22433" y="94456"/>
                </a:lnTo>
                <a:cubicBezTo>
                  <a:pt x="22190" y="90810"/>
                  <a:pt x="22190" y="86990"/>
                  <a:pt x="22433" y="83344"/>
                </a:cubicBezTo>
                <a:lnTo>
                  <a:pt x="13891" y="83344"/>
                </a:lnTo>
                <a:cubicBezTo>
                  <a:pt x="9272" y="83344"/>
                  <a:pt x="5556" y="79628"/>
                  <a:pt x="5556" y="75009"/>
                </a:cubicBezTo>
                <a:cubicBezTo>
                  <a:pt x="5556" y="70391"/>
                  <a:pt x="9272" y="66675"/>
                  <a:pt x="13891" y="66675"/>
                </a:cubicBezTo>
                <a:lnTo>
                  <a:pt x="25455" y="66675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090887" y="2368389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~1.5% del PIB en PAE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41649" y="286623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6669" y="67995"/>
                </a:moveTo>
                <a:lnTo>
                  <a:pt x="89317" y="97894"/>
                </a:lnTo>
                <a:cubicBezTo>
                  <a:pt x="92720" y="99283"/>
                  <a:pt x="96331" y="100013"/>
                  <a:pt x="100013" y="100013"/>
                </a:cubicBezTo>
                <a:cubicBezTo>
                  <a:pt x="103694" y="100013"/>
                  <a:pt x="107305" y="99283"/>
                  <a:pt x="110708" y="97894"/>
                </a:cubicBezTo>
                <a:lnTo>
                  <a:pt x="194885" y="63237"/>
                </a:lnTo>
                <a:cubicBezTo>
                  <a:pt x="198011" y="61952"/>
                  <a:pt x="200025" y="58931"/>
                  <a:pt x="200025" y="55562"/>
                </a:cubicBezTo>
                <a:cubicBezTo>
                  <a:pt x="200025" y="52194"/>
                  <a:pt x="198011" y="49173"/>
                  <a:pt x="194885" y="47888"/>
                </a:cubicBezTo>
                <a:lnTo>
                  <a:pt x="110708" y="13231"/>
                </a:lnTo>
                <a:cubicBezTo>
                  <a:pt x="107305" y="11842"/>
                  <a:pt x="103694" y="11112"/>
                  <a:pt x="100013" y="11112"/>
                </a:cubicBezTo>
                <a:cubicBezTo>
                  <a:pt x="96331" y="11112"/>
                  <a:pt x="92720" y="11842"/>
                  <a:pt x="89317" y="13231"/>
                </a:cubicBezTo>
                <a:lnTo>
                  <a:pt x="5140" y="47888"/>
                </a:lnTo>
                <a:cubicBezTo>
                  <a:pt x="2014" y="49173"/>
                  <a:pt x="0" y="52194"/>
                  <a:pt x="0" y="55563"/>
                </a:cubicBezTo>
                <a:lnTo>
                  <a:pt x="0" y="158353"/>
                </a:lnTo>
                <a:cubicBezTo>
                  <a:pt x="0" y="162972"/>
                  <a:pt x="3716" y="166688"/>
                  <a:pt x="8334" y="166688"/>
                </a:cubicBezTo>
                <a:cubicBezTo>
                  <a:pt x="12953" y="166688"/>
                  <a:pt x="16669" y="162972"/>
                  <a:pt x="16669" y="158353"/>
                </a:cubicBezTo>
                <a:lnTo>
                  <a:pt x="16669" y="67995"/>
                </a:lnTo>
                <a:close/>
                <a:moveTo>
                  <a:pt x="33337" y="92894"/>
                </a:moveTo>
                <a:lnTo>
                  <a:pt x="33337" y="133350"/>
                </a:lnTo>
                <a:cubicBezTo>
                  <a:pt x="33337" y="151755"/>
                  <a:pt x="63202" y="166688"/>
                  <a:pt x="100013" y="166688"/>
                </a:cubicBezTo>
                <a:cubicBezTo>
                  <a:pt x="136823" y="166688"/>
                  <a:pt x="166688" y="151755"/>
                  <a:pt x="166688" y="133350"/>
                </a:cubicBezTo>
                <a:lnTo>
                  <a:pt x="166688" y="92859"/>
                </a:lnTo>
                <a:lnTo>
                  <a:pt x="117063" y="113313"/>
                </a:lnTo>
                <a:cubicBezTo>
                  <a:pt x="111646" y="115535"/>
                  <a:pt x="105881" y="116681"/>
                  <a:pt x="100013" y="116681"/>
                </a:cubicBezTo>
                <a:cubicBezTo>
                  <a:pt x="94144" y="116681"/>
                  <a:pt x="88379" y="115535"/>
                  <a:pt x="82962" y="113313"/>
                </a:cubicBezTo>
                <a:lnTo>
                  <a:pt x="33337" y="92859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090887" y="2774789"/>
            <a:ext cx="358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dual vinculada al empleo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30537" y="3272631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44428" y="73099"/>
                </a:moveTo>
                <a:cubicBezTo>
                  <a:pt x="148664" y="71953"/>
                  <a:pt x="153109" y="73968"/>
                  <a:pt x="155019" y="77892"/>
                </a:cubicBezTo>
                <a:lnTo>
                  <a:pt x="161479" y="90949"/>
                </a:lnTo>
                <a:cubicBezTo>
                  <a:pt x="165055" y="91435"/>
                  <a:pt x="168563" y="92407"/>
                  <a:pt x="171862" y="93762"/>
                </a:cubicBezTo>
                <a:lnTo>
                  <a:pt x="184016" y="85670"/>
                </a:lnTo>
                <a:cubicBezTo>
                  <a:pt x="187662" y="83240"/>
                  <a:pt x="192489" y="83726"/>
                  <a:pt x="195580" y="86816"/>
                </a:cubicBezTo>
                <a:lnTo>
                  <a:pt x="202248" y="93484"/>
                </a:lnTo>
                <a:cubicBezTo>
                  <a:pt x="205338" y="96575"/>
                  <a:pt x="205824" y="101436"/>
                  <a:pt x="203393" y="105048"/>
                </a:cubicBezTo>
                <a:lnTo>
                  <a:pt x="195302" y="117167"/>
                </a:lnTo>
                <a:cubicBezTo>
                  <a:pt x="195962" y="118800"/>
                  <a:pt x="196552" y="120501"/>
                  <a:pt x="197039" y="122272"/>
                </a:cubicBezTo>
                <a:cubicBezTo>
                  <a:pt x="197525" y="124043"/>
                  <a:pt x="197837" y="125780"/>
                  <a:pt x="198080" y="127551"/>
                </a:cubicBezTo>
                <a:lnTo>
                  <a:pt x="211172" y="134010"/>
                </a:lnTo>
                <a:cubicBezTo>
                  <a:pt x="215096" y="135954"/>
                  <a:pt x="217110" y="140399"/>
                  <a:pt x="215964" y="144601"/>
                </a:cubicBezTo>
                <a:lnTo>
                  <a:pt x="213534" y="153700"/>
                </a:lnTo>
                <a:cubicBezTo>
                  <a:pt x="212388" y="157902"/>
                  <a:pt x="208464" y="160749"/>
                  <a:pt x="204088" y="160471"/>
                </a:cubicBezTo>
                <a:lnTo>
                  <a:pt x="189503" y="159534"/>
                </a:lnTo>
                <a:cubicBezTo>
                  <a:pt x="187315" y="162347"/>
                  <a:pt x="184780" y="164951"/>
                  <a:pt x="181898" y="167174"/>
                </a:cubicBezTo>
                <a:lnTo>
                  <a:pt x="182835" y="181724"/>
                </a:lnTo>
                <a:cubicBezTo>
                  <a:pt x="183113" y="186100"/>
                  <a:pt x="180266" y="190058"/>
                  <a:pt x="176064" y="191170"/>
                </a:cubicBezTo>
                <a:lnTo>
                  <a:pt x="166965" y="193601"/>
                </a:lnTo>
                <a:cubicBezTo>
                  <a:pt x="162729" y="194747"/>
                  <a:pt x="158318" y="192732"/>
                  <a:pt x="156374" y="188808"/>
                </a:cubicBezTo>
                <a:lnTo>
                  <a:pt x="149915" y="175751"/>
                </a:lnTo>
                <a:cubicBezTo>
                  <a:pt x="146338" y="175265"/>
                  <a:pt x="142830" y="174293"/>
                  <a:pt x="139531" y="172938"/>
                </a:cubicBezTo>
                <a:lnTo>
                  <a:pt x="127377" y="181030"/>
                </a:lnTo>
                <a:cubicBezTo>
                  <a:pt x="123731" y="183460"/>
                  <a:pt x="118904" y="182974"/>
                  <a:pt x="115813" y="179884"/>
                </a:cubicBezTo>
                <a:lnTo>
                  <a:pt x="109146" y="173216"/>
                </a:lnTo>
                <a:cubicBezTo>
                  <a:pt x="106055" y="170125"/>
                  <a:pt x="105569" y="165298"/>
                  <a:pt x="108000" y="161652"/>
                </a:cubicBezTo>
                <a:lnTo>
                  <a:pt x="116091" y="149498"/>
                </a:lnTo>
                <a:cubicBezTo>
                  <a:pt x="115431" y="147866"/>
                  <a:pt x="114841" y="146164"/>
                  <a:pt x="114355" y="144393"/>
                </a:cubicBezTo>
                <a:cubicBezTo>
                  <a:pt x="113868" y="142622"/>
                  <a:pt x="113556" y="140851"/>
                  <a:pt x="113313" y="139115"/>
                </a:cubicBezTo>
                <a:lnTo>
                  <a:pt x="100221" y="132655"/>
                </a:lnTo>
                <a:cubicBezTo>
                  <a:pt x="96297" y="130711"/>
                  <a:pt x="94317" y="126266"/>
                  <a:pt x="95429" y="122064"/>
                </a:cubicBezTo>
                <a:lnTo>
                  <a:pt x="97859" y="112966"/>
                </a:lnTo>
                <a:cubicBezTo>
                  <a:pt x="99005" y="108764"/>
                  <a:pt x="102930" y="105916"/>
                  <a:pt x="107305" y="106194"/>
                </a:cubicBezTo>
                <a:lnTo>
                  <a:pt x="121856" y="107131"/>
                </a:lnTo>
                <a:cubicBezTo>
                  <a:pt x="124043" y="104319"/>
                  <a:pt x="126578" y="101714"/>
                  <a:pt x="129461" y="99492"/>
                </a:cubicBezTo>
                <a:lnTo>
                  <a:pt x="128523" y="84976"/>
                </a:lnTo>
                <a:cubicBezTo>
                  <a:pt x="128245" y="80600"/>
                  <a:pt x="131093" y="76642"/>
                  <a:pt x="135295" y="75530"/>
                </a:cubicBezTo>
                <a:lnTo>
                  <a:pt x="144393" y="73099"/>
                </a:lnTo>
                <a:close/>
                <a:moveTo>
                  <a:pt x="155714" y="118070"/>
                </a:moveTo>
                <a:cubicBezTo>
                  <a:pt x="147281" y="118080"/>
                  <a:pt x="140442" y="124934"/>
                  <a:pt x="140452" y="133367"/>
                </a:cubicBezTo>
                <a:cubicBezTo>
                  <a:pt x="140461" y="141800"/>
                  <a:pt x="147316" y="148639"/>
                  <a:pt x="155749" y="148630"/>
                </a:cubicBezTo>
                <a:cubicBezTo>
                  <a:pt x="164182" y="148620"/>
                  <a:pt x="171021" y="141766"/>
                  <a:pt x="171011" y="133333"/>
                </a:cubicBezTo>
                <a:cubicBezTo>
                  <a:pt x="171001" y="124900"/>
                  <a:pt x="164147" y="118061"/>
                  <a:pt x="155714" y="118070"/>
                </a:cubicBezTo>
                <a:close/>
                <a:moveTo>
                  <a:pt x="78100" y="-15801"/>
                </a:moveTo>
                <a:lnTo>
                  <a:pt x="87198" y="-13370"/>
                </a:lnTo>
                <a:cubicBezTo>
                  <a:pt x="91400" y="-12224"/>
                  <a:pt x="94248" y="-8265"/>
                  <a:pt x="93970" y="-3924"/>
                </a:cubicBezTo>
                <a:lnTo>
                  <a:pt x="93032" y="10592"/>
                </a:lnTo>
                <a:cubicBezTo>
                  <a:pt x="95915" y="12814"/>
                  <a:pt x="98450" y="15384"/>
                  <a:pt x="100638" y="18231"/>
                </a:cubicBezTo>
                <a:lnTo>
                  <a:pt x="115223" y="17294"/>
                </a:lnTo>
                <a:cubicBezTo>
                  <a:pt x="119564" y="17016"/>
                  <a:pt x="123522" y="19864"/>
                  <a:pt x="124668" y="24066"/>
                </a:cubicBezTo>
                <a:lnTo>
                  <a:pt x="127099" y="33164"/>
                </a:lnTo>
                <a:cubicBezTo>
                  <a:pt x="128210" y="37366"/>
                  <a:pt x="126231" y="41811"/>
                  <a:pt x="122307" y="43755"/>
                </a:cubicBezTo>
                <a:lnTo>
                  <a:pt x="109215" y="50215"/>
                </a:lnTo>
                <a:cubicBezTo>
                  <a:pt x="108972" y="51986"/>
                  <a:pt x="108625" y="53757"/>
                  <a:pt x="108173" y="55493"/>
                </a:cubicBezTo>
                <a:cubicBezTo>
                  <a:pt x="107722" y="57229"/>
                  <a:pt x="107097" y="58966"/>
                  <a:pt x="106437" y="60598"/>
                </a:cubicBezTo>
                <a:lnTo>
                  <a:pt x="114528" y="72752"/>
                </a:lnTo>
                <a:cubicBezTo>
                  <a:pt x="116959" y="76398"/>
                  <a:pt x="116473" y="81225"/>
                  <a:pt x="113382" y="84316"/>
                </a:cubicBezTo>
                <a:lnTo>
                  <a:pt x="106715" y="90984"/>
                </a:lnTo>
                <a:cubicBezTo>
                  <a:pt x="103624" y="94074"/>
                  <a:pt x="98797" y="94560"/>
                  <a:pt x="95151" y="92130"/>
                </a:cubicBezTo>
                <a:lnTo>
                  <a:pt x="82996" y="84038"/>
                </a:lnTo>
                <a:cubicBezTo>
                  <a:pt x="79697" y="85393"/>
                  <a:pt x="76190" y="86365"/>
                  <a:pt x="72613" y="86851"/>
                </a:cubicBezTo>
                <a:lnTo>
                  <a:pt x="66154" y="99908"/>
                </a:lnTo>
                <a:cubicBezTo>
                  <a:pt x="64209" y="103832"/>
                  <a:pt x="59764" y="105812"/>
                  <a:pt x="55563" y="104701"/>
                </a:cubicBezTo>
                <a:lnTo>
                  <a:pt x="46464" y="102270"/>
                </a:lnTo>
                <a:cubicBezTo>
                  <a:pt x="42228" y="101124"/>
                  <a:pt x="39415" y="97165"/>
                  <a:pt x="39692" y="92824"/>
                </a:cubicBezTo>
                <a:lnTo>
                  <a:pt x="40630" y="78274"/>
                </a:lnTo>
                <a:cubicBezTo>
                  <a:pt x="37748" y="76051"/>
                  <a:pt x="35213" y="73481"/>
                  <a:pt x="33025" y="70634"/>
                </a:cubicBezTo>
                <a:lnTo>
                  <a:pt x="18440" y="71571"/>
                </a:lnTo>
                <a:cubicBezTo>
                  <a:pt x="14099" y="71849"/>
                  <a:pt x="10140" y="69002"/>
                  <a:pt x="8994" y="64800"/>
                </a:cubicBezTo>
                <a:lnTo>
                  <a:pt x="6563" y="55701"/>
                </a:lnTo>
                <a:cubicBezTo>
                  <a:pt x="5452" y="51499"/>
                  <a:pt x="7431" y="47054"/>
                  <a:pt x="11356" y="45110"/>
                </a:cubicBezTo>
                <a:lnTo>
                  <a:pt x="24448" y="38651"/>
                </a:lnTo>
                <a:cubicBezTo>
                  <a:pt x="24691" y="36880"/>
                  <a:pt x="25038" y="35143"/>
                  <a:pt x="25489" y="33372"/>
                </a:cubicBezTo>
                <a:cubicBezTo>
                  <a:pt x="25975" y="31601"/>
                  <a:pt x="26531" y="29900"/>
                  <a:pt x="27226" y="28267"/>
                </a:cubicBezTo>
                <a:lnTo>
                  <a:pt x="19134" y="16148"/>
                </a:lnTo>
                <a:cubicBezTo>
                  <a:pt x="16703" y="12502"/>
                  <a:pt x="17190" y="7675"/>
                  <a:pt x="20280" y="4584"/>
                </a:cubicBezTo>
                <a:lnTo>
                  <a:pt x="26948" y="-2084"/>
                </a:lnTo>
                <a:cubicBezTo>
                  <a:pt x="30038" y="-5174"/>
                  <a:pt x="34865" y="-5660"/>
                  <a:pt x="38512" y="-3230"/>
                </a:cubicBezTo>
                <a:lnTo>
                  <a:pt x="50666" y="4862"/>
                </a:lnTo>
                <a:cubicBezTo>
                  <a:pt x="53965" y="3507"/>
                  <a:pt x="57472" y="2535"/>
                  <a:pt x="61049" y="2049"/>
                </a:cubicBezTo>
                <a:lnTo>
                  <a:pt x="67508" y="-11008"/>
                </a:lnTo>
                <a:cubicBezTo>
                  <a:pt x="69453" y="-14932"/>
                  <a:pt x="73863" y="-16912"/>
                  <a:pt x="78100" y="-15801"/>
                </a:cubicBezTo>
                <a:close/>
                <a:moveTo>
                  <a:pt x="66814" y="29170"/>
                </a:moveTo>
                <a:cubicBezTo>
                  <a:pt x="58381" y="29170"/>
                  <a:pt x="51534" y="36017"/>
                  <a:pt x="51534" y="44450"/>
                </a:cubicBezTo>
                <a:cubicBezTo>
                  <a:pt x="51534" y="52883"/>
                  <a:pt x="58381" y="59730"/>
                  <a:pt x="66814" y="59730"/>
                </a:cubicBezTo>
                <a:cubicBezTo>
                  <a:pt x="75247" y="59730"/>
                  <a:pt x="82094" y="52883"/>
                  <a:pt x="82094" y="44450"/>
                </a:cubicBezTo>
                <a:cubicBezTo>
                  <a:pt x="82094" y="36017"/>
                  <a:pt x="75247" y="29170"/>
                  <a:pt x="66814" y="2917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090887" y="3181189"/>
            <a:ext cx="396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Servicios modernizados (reformas Hartz)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4000" y="6165850"/>
            <a:ext cx="1168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España invierte </a:t>
            </a:r>
            <a:r>
              <a:rPr lang="en-US" sz="14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0.5-0.7%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del PIB y debe avanzar en profesionalización y evalación.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3462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 1: La Brecha de Inversión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4638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acercarse a los estándares europeos y garantizar servicios de calidad, España debe incrementar su inversión en PAE.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683000"/>
            <a:ext cx="2438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0.5-0.7%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4902200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Inversión actual en España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38876" y="3784600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96076" y="3683000"/>
            <a:ext cx="314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~1.5-2%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50076" y="4292600"/>
            <a:ext cx="264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Inversión en modelos líderes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692400"/>
            <a:ext cx="604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¿Dónde se necesita el incremento?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78588" y="3241042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77788" y="86122"/>
                </a:moveTo>
                <a:cubicBezTo>
                  <a:pt x="54788" y="86122"/>
                  <a:pt x="36116" y="67449"/>
                  <a:pt x="36116" y="44450"/>
                </a:cubicBezTo>
                <a:cubicBezTo>
                  <a:pt x="36116" y="21451"/>
                  <a:pt x="54788" y="2778"/>
                  <a:pt x="77787" y="2778"/>
                </a:cubicBezTo>
                <a:cubicBezTo>
                  <a:pt x="100787" y="2778"/>
                  <a:pt x="119459" y="21451"/>
                  <a:pt x="119459" y="44450"/>
                </a:cubicBezTo>
                <a:cubicBezTo>
                  <a:pt x="119459" y="67449"/>
                  <a:pt x="100787" y="86122"/>
                  <a:pt x="77788" y="86122"/>
                </a:cubicBezTo>
                <a:close/>
                <a:moveTo>
                  <a:pt x="67196" y="105569"/>
                </a:moveTo>
                <a:lnTo>
                  <a:pt x="88379" y="105569"/>
                </a:lnTo>
                <a:cubicBezTo>
                  <a:pt x="91748" y="105569"/>
                  <a:pt x="94456" y="108277"/>
                  <a:pt x="94456" y="111646"/>
                </a:cubicBezTo>
                <a:cubicBezTo>
                  <a:pt x="94456" y="113104"/>
                  <a:pt x="93935" y="114493"/>
                  <a:pt x="92998" y="115605"/>
                </a:cubicBezTo>
                <a:lnTo>
                  <a:pt x="83483" y="126717"/>
                </a:lnTo>
                <a:lnTo>
                  <a:pt x="94248" y="166688"/>
                </a:lnTo>
                <a:lnTo>
                  <a:pt x="94456" y="166688"/>
                </a:lnTo>
                <a:lnTo>
                  <a:pt x="106472" y="118591"/>
                </a:lnTo>
                <a:cubicBezTo>
                  <a:pt x="107236" y="115570"/>
                  <a:pt x="110326" y="113729"/>
                  <a:pt x="113243" y="114841"/>
                </a:cubicBezTo>
                <a:cubicBezTo>
                  <a:pt x="134739" y="123036"/>
                  <a:pt x="150019" y="143872"/>
                  <a:pt x="150019" y="168250"/>
                </a:cubicBezTo>
                <a:cubicBezTo>
                  <a:pt x="150019" y="173494"/>
                  <a:pt x="145747" y="177765"/>
                  <a:pt x="140504" y="177765"/>
                </a:cubicBezTo>
                <a:lnTo>
                  <a:pt x="15071" y="177800"/>
                </a:lnTo>
                <a:cubicBezTo>
                  <a:pt x="9828" y="177800"/>
                  <a:pt x="5556" y="173529"/>
                  <a:pt x="5556" y="168285"/>
                </a:cubicBezTo>
                <a:cubicBezTo>
                  <a:pt x="5556" y="143907"/>
                  <a:pt x="20836" y="123071"/>
                  <a:pt x="42332" y="114875"/>
                </a:cubicBezTo>
                <a:cubicBezTo>
                  <a:pt x="45249" y="113764"/>
                  <a:pt x="48339" y="115605"/>
                  <a:pt x="49103" y="118626"/>
                </a:cubicBezTo>
                <a:lnTo>
                  <a:pt x="61119" y="166722"/>
                </a:lnTo>
                <a:lnTo>
                  <a:pt x="61327" y="166722"/>
                </a:lnTo>
                <a:lnTo>
                  <a:pt x="72092" y="126752"/>
                </a:lnTo>
                <a:lnTo>
                  <a:pt x="62577" y="115639"/>
                </a:lnTo>
                <a:cubicBezTo>
                  <a:pt x="61640" y="114528"/>
                  <a:pt x="61119" y="113139"/>
                  <a:pt x="61119" y="111681"/>
                </a:cubicBezTo>
                <a:cubicBezTo>
                  <a:pt x="61119" y="108312"/>
                  <a:pt x="63827" y="105603"/>
                  <a:pt x="67196" y="105603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705600" y="3200400"/>
            <a:ext cx="309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Personal técnico especializado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56363" y="3596642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77939" y="83344"/>
                </a:moveTo>
                <a:lnTo>
                  <a:pt x="116820" y="83344"/>
                </a:lnTo>
                <a:cubicBezTo>
                  <a:pt x="110674" y="83344"/>
                  <a:pt x="105708" y="78378"/>
                  <a:pt x="105708" y="72231"/>
                </a:cubicBezTo>
                <a:lnTo>
                  <a:pt x="105708" y="11112"/>
                </a:lnTo>
                <a:cubicBezTo>
                  <a:pt x="105708" y="4966"/>
                  <a:pt x="110708" y="-69"/>
                  <a:pt x="116785" y="729"/>
                </a:cubicBezTo>
                <a:cubicBezTo>
                  <a:pt x="153943" y="5660"/>
                  <a:pt x="183391" y="35109"/>
                  <a:pt x="188322" y="72266"/>
                </a:cubicBezTo>
                <a:cubicBezTo>
                  <a:pt x="189121" y="78343"/>
                  <a:pt x="184086" y="83344"/>
                  <a:pt x="177939" y="83344"/>
                </a:cubicBezTo>
                <a:close/>
                <a:moveTo>
                  <a:pt x="77301" y="12918"/>
                </a:moveTo>
                <a:cubicBezTo>
                  <a:pt x="83587" y="11599"/>
                  <a:pt x="89039" y="16738"/>
                  <a:pt x="89039" y="23163"/>
                </a:cubicBezTo>
                <a:lnTo>
                  <a:pt x="89039" y="91678"/>
                </a:lnTo>
                <a:cubicBezTo>
                  <a:pt x="89039" y="93623"/>
                  <a:pt x="89733" y="95498"/>
                  <a:pt x="90949" y="96991"/>
                </a:cubicBezTo>
                <a:lnTo>
                  <a:pt x="136823" y="152345"/>
                </a:lnTo>
                <a:cubicBezTo>
                  <a:pt x="140886" y="157242"/>
                  <a:pt x="140017" y="164639"/>
                  <a:pt x="134427" y="167660"/>
                </a:cubicBezTo>
                <a:cubicBezTo>
                  <a:pt x="122585" y="174119"/>
                  <a:pt x="109007" y="177800"/>
                  <a:pt x="94595" y="177800"/>
                </a:cubicBezTo>
                <a:cubicBezTo>
                  <a:pt x="48582" y="177800"/>
                  <a:pt x="11251" y="140469"/>
                  <a:pt x="11251" y="94456"/>
                </a:cubicBezTo>
                <a:cubicBezTo>
                  <a:pt x="11251" y="54347"/>
                  <a:pt x="39554" y="20871"/>
                  <a:pt x="77301" y="12918"/>
                </a:cubicBezTo>
                <a:close/>
                <a:moveTo>
                  <a:pt x="165924" y="100013"/>
                </a:moveTo>
                <a:lnTo>
                  <a:pt x="188149" y="100013"/>
                </a:lnTo>
                <a:cubicBezTo>
                  <a:pt x="194573" y="100013"/>
                  <a:pt x="199712" y="105465"/>
                  <a:pt x="198393" y="111750"/>
                </a:cubicBezTo>
                <a:cubicBezTo>
                  <a:pt x="194851" y="128558"/>
                  <a:pt x="186239" y="143490"/>
                  <a:pt x="174223" y="154880"/>
                </a:cubicBezTo>
                <a:cubicBezTo>
                  <a:pt x="169952" y="158943"/>
                  <a:pt x="163250" y="158075"/>
                  <a:pt x="159499" y="153526"/>
                </a:cubicBezTo>
                <a:lnTo>
                  <a:pt x="130190" y="118209"/>
                </a:lnTo>
                <a:cubicBezTo>
                  <a:pt x="124182" y="110951"/>
                  <a:pt x="129356" y="100013"/>
                  <a:pt x="138733" y="100013"/>
                </a:cubicBezTo>
                <a:lnTo>
                  <a:pt x="165889" y="100013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705600" y="3556000"/>
            <a:ext cx="369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Herramientas de perfilado estadístico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67475" y="39522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22225"/>
                </a:moveTo>
                <a:cubicBezTo>
                  <a:pt x="22225" y="16078"/>
                  <a:pt x="17259" y="11112"/>
                  <a:pt x="11112" y="11112"/>
                </a:cubicBezTo>
                <a:cubicBezTo>
                  <a:pt x="4966" y="11112"/>
                  <a:pt x="0" y="16078"/>
                  <a:pt x="0" y="22225"/>
                </a:cubicBezTo>
                <a:lnTo>
                  <a:pt x="0" y="138906"/>
                </a:lnTo>
                <a:cubicBezTo>
                  <a:pt x="0" y="154255"/>
                  <a:pt x="12432" y="166688"/>
                  <a:pt x="27781" y="166688"/>
                </a:cubicBezTo>
                <a:lnTo>
                  <a:pt x="166688" y="166688"/>
                </a:lnTo>
                <a:cubicBezTo>
                  <a:pt x="172834" y="166688"/>
                  <a:pt x="177800" y="161722"/>
                  <a:pt x="177800" y="155575"/>
                </a:cubicBezTo>
                <a:cubicBezTo>
                  <a:pt x="177800" y="149428"/>
                  <a:pt x="172834" y="144463"/>
                  <a:pt x="166688" y="144463"/>
                </a:cubicBezTo>
                <a:lnTo>
                  <a:pt x="27781" y="144463"/>
                </a:lnTo>
                <a:cubicBezTo>
                  <a:pt x="24725" y="144463"/>
                  <a:pt x="22225" y="141962"/>
                  <a:pt x="22225" y="138906"/>
                </a:cubicBezTo>
                <a:lnTo>
                  <a:pt x="22225" y="22225"/>
                </a:lnTo>
                <a:close/>
                <a:moveTo>
                  <a:pt x="163423" y="52298"/>
                </a:moveTo>
                <a:cubicBezTo>
                  <a:pt x="167764" y="47957"/>
                  <a:pt x="167764" y="40908"/>
                  <a:pt x="163423" y="36567"/>
                </a:cubicBezTo>
                <a:cubicBezTo>
                  <a:pt x="159082" y="32226"/>
                  <a:pt x="152033" y="32226"/>
                  <a:pt x="147692" y="36567"/>
                </a:cubicBezTo>
                <a:lnTo>
                  <a:pt x="111125" y="73169"/>
                </a:lnTo>
                <a:lnTo>
                  <a:pt x="91192" y="53271"/>
                </a:lnTo>
                <a:cubicBezTo>
                  <a:pt x="86851" y="48930"/>
                  <a:pt x="79802" y="48930"/>
                  <a:pt x="75461" y="53271"/>
                </a:cubicBezTo>
                <a:lnTo>
                  <a:pt x="42123" y="86608"/>
                </a:lnTo>
                <a:cubicBezTo>
                  <a:pt x="37783" y="90949"/>
                  <a:pt x="37783" y="97998"/>
                  <a:pt x="42123" y="102339"/>
                </a:cubicBezTo>
                <a:cubicBezTo>
                  <a:pt x="46464" y="106680"/>
                  <a:pt x="53514" y="106680"/>
                  <a:pt x="57854" y="102339"/>
                </a:cubicBezTo>
                <a:lnTo>
                  <a:pt x="83344" y="76850"/>
                </a:lnTo>
                <a:lnTo>
                  <a:pt x="103277" y="96783"/>
                </a:lnTo>
                <a:cubicBezTo>
                  <a:pt x="107618" y="101124"/>
                  <a:pt x="114667" y="101124"/>
                  <a:pt x="119008" y="96783"/>
                </a:cubicBezTo>
                <a:lnTo>
                  <a:pt x="163458" y="52333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705600" y="3911600"/>
            <a:ext cx="327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evaluación continua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59842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 2: La Personalización Pendiente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920242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Lograr itinerarios de inserción verdaderamente adaptados a cada persona es un desafío operativo y de recursos.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14500" y="2631442"/>
            <a:ext cx="8763000" cy="647700"/>
          </a:xfrm>
          <a:custGeom>
            <a:avLst/>
            <a:gdLst/>
            <a:ahLst/>
            <a:cxnLst/>
            <a:rect l="l" t="t" r="r" b="b"/>
            <a:pathLst>
              <a:path w="8763000" h="647700">
                <a:moveTo>
                  <a:pt x="101598" y="0"/>
                </a:moveTo>
                <a:lnTo>
                  <a:pt x="8661402" y="0"/>
                </a:lnTo>
                <a:cubicBezTo>
                  <a:pt x="8717513" y="0"/>
                  <a:pt x="8763000" y="45487"/>
                  <a:pt x="8763000" y="101598"/>
                </a:cubicBezTo>
                <a:lnTo>
                  <a:pt x="8763000" y="546102"/>
                </a:lnTo>
                <a:cubicBezTo>
                  <a:pt x="8763000" y="602213"/>
                  <a:pt x="8717513" y="647700"/>
                  <a:pt x="8661402" y="647700"/>
                </a:cubicBezTo>
                <a:lnTo>
                  <a:pt x="101598" y="647700"/>
                </a:lnTo>
                <a:cubicBezTo>
                  <a:pt x="45487" y="647700"/>
                  <a:pt x="0" y="602213"/>
                  <a:pt x="0" y="5461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930400" y="2783842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374900" y="2804158"/>
            <a:ext cx="454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Reducir ratios desempleado/orientador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1700" y="3383285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201386" y="3789685"/>
            <a:ext cx="7785100" cy="647700"/>
          </a:xfrm>
          <a:custGeom>
            <a:avLst/>
            <a:gdLst/>
            <a:ahLst/>
            <a:cxnLst/>
            <a:rect l="l" t="t" r="r" b="b"/>
            <a:pathLst>
              <a:path w="7785100" h="647700">
                <a:moveTo>
                  <a:pt x="101598" y="0"/>
                </a:moveTo>
                <a:lnTo>
                  <a:pt x="7683502" y="0"/>
                </a:lnTo>
                <a:cubicBezTo>
                  <a:pt x="7739613" y="0"/>
                  <a:pt x="7785100" y="45487"/>
                  <a:pt x="7785100" y="101598"/>
                </a:cubicBezTo>
                <a:lnTo>
                  <a:pt x="7785100" y="546102"/>
                </a:lnTo>
                <a:cubicBezTo>
                  <a:pt x="7785100" y="602213"/>
                  <a:pt x="7739613" y="647700"/>
                  <a:pt x="7683502" y="647700"/>
                </a:cubicBezTo>
                <a:lnTo>
                  <a:pt x="101598" y="647700"/>
                </a:lnTo>
                <a:cubicBezTo>
                  <a:pt x="45487" y="647700"/>
                  <a:pt x="0" y="602213"/>
                  <a:pt x="0" y="5461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474436" y="394208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861786" y="3962400"/>
            <a:ext cx="572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Integrar bases de datos para seguimiento continuo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81700" y="4541527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175000" y="4947927"/>
            <a:ext cx="5842000" cy="647700"/>
          </a:xfrm>
          <a:custGeom>
            <a:avLst/>
            <a:gdLst/>
            <a:ahLst/>
            <a:cxnLst/>
            <a:rect l="l" t="t" r="r" b="b"/>
            <a:pathLst>
              <a:path w="5842000" h="647700">
                <a:moveTo>
                  <a:pt x="101598" y="0"/>
                </a:moveTo>
                <a:lnTo>
                  <a:pt x="5740402" y="0"/>
                </a:lnTo>
                <a:cubicBezTo>
                  <a:pt x="5796513" y="0"/>
                  <a:pt x="5842000" y="45487"/>
                  <a:pt x="5842000" y="101598"/>
                </a:cubicBezTo>
                <a:lnTo>
                  <a:pt x="5842000" y="546102"/>
                </a:lnTo>
                <a:cubicBezTo>
                  <a:pt x="5842000" y="602213"/>
                  <a:pt x="5796513" y="647700"/>
                  <a:pt x="5740402" y="647700"/>
                </a:cubicBezTo>
                <a:lnTo>
                  <a:pt x="101598" y="647700"/>
                </a:lnTo>
                <a:cubicBezTo>
                  <a:pt x="45487" y="647700"/>
                  <a:pt x="0" y="602213"/>
                  <a:pt x="0" y="5461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429000" y="51003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35400" y="5120642"/>
            <a:ext cx="481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Desarrollar perfilado estadístico avanzado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7623c29ec412df90deb15aed51a9bc2b4ac2599a.jpg"/>
          <p:cNvPicPr>
            <a:picLocks noChangeAspect="1"/>
          </p:cNvPicPr>
          <p:nvPr/>
        </p:nvPicPr>
        <p:blipFill>
          <a:blip r:embed="rId3"/>
          <a:srcRect l="12500" r="12500"/>
          <a:stretch/>
        </p:blipFill>
        <p:spPr>
          <a:xfrm>
            <a:off x="1549400" y="1803400"/>
            <a:ext cx="3251200" cy="3251200"/>
          </a:xfrm>
          <a:prstGeom prst="roundRect">
            <a:avLst>
              <a:gd name="adj" fmla="val 3125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54000"/>
            <a:ext cx="543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 3: Adaptación a Transformaciones del Mercado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1828800"/>
            <a:ext cx="543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rápidos cambios tecnológicos y ecológicos exigen una respuesta proactiva y adaptativa del sistema de PAE.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32404" y="2707642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22225" y="33337"/>
                </a:moveTo>
                <a:cubicBezTo>
                  <a:pt x="22225" y="21079"/>
                  <a:pt x="32192" y="11112"/>
                  <a:pt x="44450" y="11112"/>
                </a:cubicBezTo>
                <a:lnTo>
                  <a:pt x="177800" y="11112"/>
                </a:lnTo>
                <a:cubicBezTo>
                  <a:pt x="190058" y="11112"/>
                  <a:pt x="200025" y="21079"/>
                  <a:pt x="200025" y="33337"/>
                </a:cubicBezTo>
                <a:lnTo>
                  <a:pt x="200025" y="116681"/>
                </a:lnTo>
                <a:lnTo>
                  <a:pt x="177800" y="116681"/>
                </a:lnTo>
                <a:lnTo>
                  <a:pt x="177800" y="33337"/>
                </a:lnTo>
                <a:lnTo>
                  <a:pt x="44450" y="33337"/>
                </a:lnTo>
                <a:lnTo>
                  <a:pt x="44450" y="116681"/>
                </a:lnTo>
                <a:lnTo>
                  <a:pt x="22225" y="116681"/>
                </a:lnTo>
                <a:lnTo>
                  <a:pt x="22225" y="33337"/>
                </a:lnTo>
                <a:close/>
                <a:moveTo>
                  <a:pt x="0" y="140017"/>
                </a:moveTo>
                <a:cubicBezTo>
                  <a:pt x="0" y="136336"/>
                  <a:pt x="2986" y="133350"/>
                  <a:pt x="6668" y="133350"/>
                </a:cubicBezTo>
                <a:lnTo>
                  <a:pt x="215583" y="133350"/>
                </a:lnTo>
                <a:cubicBezTo>
                  <a:pt x="219264" y="133350"/>
                  <a:pt x="222250" y="136336"/>
                  <a:pt x="222250" y="140017"/>
                </a:cubicBezTo>
                <a:cubicBezTo>
                  <a:pt x="222250" y="154742"/>
                  <a:pt x="210304" y="166688"/>
                  <a:pt x="195580" y="166688"/>
                </a:cubicBezTo>
                <a:lnTo>
                  <a:pt x="26670" y="166688"/>
                </a:lnTo>
                <a:cubicBezTo>
                  <a:pt x="11946" y="166688"/>
                  <a:pt x="0" y="154742"/>
                  <a:pt x="0" y="140017"/>
                </a:cubicBezTo>
                <a:close/>
                <a:moveTo>
                  <a:pt x="97582" y="72579"/>
                </a:moveTo>
                <a:lnTo>
                  <a:pt x="86816" y="83344"/>
                </a:lnTo>
                <a:lnTo>
                  <a:pt x="97582" y="94109"/>
                </a:lnTo>
                <a:cubicBezTo>
                  <a:pt x="100846" y="97373"/>
                  <a:pt x="100846" y="102652"/>
                  <a:pt x="97582" y="105881"/>
                </a:cubicBezTo>
                <a:cubicBezTo>
                  <a:pt x="94317" y="109111"/>
                  <a:pt x="89039" y="109146"/>
                  <a:pt x="85809" y="105881"/>
                </a:cubicBezTo>
                <a:lnTo>
                  <a:pt x="69141" y="89213"/>
                </a:lnTo>
                <a:cubicBezTo>
                  <a:pt x="65876" y="85948"/>
                  <a:pt x="65876" y="80670"/>
                  <a:pt x="69141" y="77440"/>
                </a:cubicBezTo>
                <a:lnTo>
                  <a:pt x="85809" y="60771"/>
                </a:lnTo>
                <a:cubicBezTo>
                  <a:pt x="89074" y="57507"/>
                  <a:pt x="94352" y="57507"/>
                  <a:pt x="97582" y="60771"/>
                </a:cubicBezTo>
                <a:cubicBezTo>
                  <a:pt x="100811" y="64036"/>
                  <a:pt x="100846" y="69314"/>
                  <a:pt x="97582" y="72544"/>
                </a:cubicBezTo>
                <a:close/>
                <a:moveTo>
                  <a:pt x="136475" y="60771"/>
                </a:moveTo>
                <a:lnTo>
                  <a:pt x="153144" y="77440"/>
                </a:lnTo>
                <a:cubicBezTo>
                  <a:pt x="156408" y="80705"/>
                  <a:pt x="156408" y="85983"/>
                  <a:pt x="153144" y="89213"/>
                </a:cubicBezTo>
                <a:lnTo>
                  <a:pt x="136475" y="105881"/>
                </a:lnTo>
                <a:cubicBezTo>
                  <a:pt x="133211" y="109146"/>
                  <a:pt x="127933" y="109146"/>
                  <a:pt x="124703" y="105881"/>
                </a:cubicBezTo>
                <a:cubicBezTo>
                  <a:pt x="121474" y="102617"/>
                  <a:pt x="121439" y="97339"/>
                  <a:pt x="124703" y="94109"/>
                </a:cubicBezTo>
                <a:lnTo>
                  <a:pt x="135468" y="83344"/>
                </a:lnTo>
                <a:lnTo>
                  <a:pt x="124703" y="72579"/>
                </a:lnTo>
                <a:cubicBezTo>
                  <a:pt x="121439" y="69314"/>
                  <a:pt x="121439" y="64036"/>
                  <a:pt x="124703" y="60806"/>
                </a:cubicBezTo>
                <a:cubicBezTo>
                  <a:pt x="127967" y="57577"/>
                  <a:pt x="133246" y="57542"/>
                  <a:pt x="136475" y="60806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778466" y="2540000"/>
            <a:ext cx="515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Digitalización: Competencias digitales para todas las ocupaciones.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54946" y="33172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63666" y="2327"/>
                </a:moveTo>
                <a:cubicBezTo>
                  <a:pt x="165889" y="208"/>
                  <a:pt x="169118" y="-556"/>
                  <a:pt x="172105" y="417"/>
                </a:cubicBezTo>
                <a:cubicBezTo>
                  <a:pt x="175508" y="1563"/>
                  <a:pt x="177800" y="4758"/>
                  <a:pt x="177800" y="8334"/>
                </a:cubicBezTo>
                <a:lnTo>
                  <a:pt x="177800" y="73238"/>
                </a:lnTo>
                <a:cubicBezTo>
                  <a:pt x="177800" y="118800"/>
                  <a:pt x="140261" y="155575"/>
                  <a:pt x="94873" y="155575"/>
                </a:cubicBezTo>
                <a:cubicBezTo>
                  <a:pt x="68134" y="155575"/>
                  <a:pt x="45075" y="138385"/>
                  <a:pt x="36706" y="114355"/>
                </a:cubicBezTo>
                <a:cubicBezTo>
                  <a:pt x="24413" y="125050"/>
                  <a:pt x="16669" y="140781"/>
                  <a:pt x="16669" y="158353"/>
                </a:cubicBezTo>
                <a:cubicBezTo>
                  <a:pt x="16669" y="162972"/>
                  <a:pt x="12953" y="166688"/>
                  <a:pt x="8334" y="166688"/>
                </a:cubicBezTo>
                <a:cubicBezTo>
                  <a:pt x="3716" y="166688"/>
                  <a:pt x="0" y="162972"/>
                  <a:pt x="0" y="158353"/>
                </a:cubicBezTo>
                <a:cubicBezTo>
                  <a:pt x="0" y="132343"/>
                  <a:pt x="13266" y="109423"/>
                  <a:pt x="33372" y="95949"/>
                </a:cubicBezTo>
                <a:cubicBezTo>
                  <a:pt x="45631" y="87754"/>
                  <a:pt x="60251" y="83344"/>
                  <a:pt x="75009" y="83344"/>
                </a:cubicBezTo>
                <a:lnTo>
                  <a:pt x="102791" y="83344"/>
                </a:lnTo>
                <a:cubicBezTo>
                  <a:pt x="107409" y="83344"/>
                  <a:pt x="111125" y="79628"/>
                  <a:pt x="111125" y="75009"/>
                </a:cubicBezTo>
                <a:cubicBezTo>
                  <a:pt x="111125" y="70391"/>
                  <a:pt x="107409" y="66675"/>
                  <a:pt x="102791" y="66675"/>
                </a:cubicBezTo>
                <a:lnTo>
                  <a:pt x="75009" y="66675"/>
                </a:lnTo>
                <a:cubicBezTo>
                  <a:pt x="61223" y="66675"/>
                  <a:pt x="48166" y="69731"/>
                  <a:pt x="36463" y="75183"/>
                </a:cubicBezTo>
                <a:cubicBezTo>
                  <a:pt x="44554" y="50874"/>
                  <a:pt x="67439" y="33337"/>
                  <a:pt x="94456" y="33337"/>
                </a:cubicBezTo>
                <a:cubicBezTo>
                  <a:pt x="117515" y="33337"/>
                  <a:pt x="134670" y="25663"/>
                  <a:pt x="146095" y="18058"/>
                </a:cubicBezTo>
                <a:cubicBezTo>
                  <a:pt x="152762" y="13613"/>
                  <a:pt x="158423" y="8300"/>
                  <a:pt x="163701" y="2327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779102" y="3149600"/>
            <a:ext cx="515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Transición Verde: Reconversión profesional hacia empleos verdes.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46850" y="3799842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22238" y="0"/>
                </a:moveTo>
                <a:cubicBezTo>
                  <a:pt x="122238" y="-6147"/>
                  <a:pt x="117272" y="-11112"/>
                  <a:pt x="111125" y="-11112"/>
                </a:cubicBezTo>
                <a:cubicBezTo>
                  <a:pt x="104978" y="-11112"/>
                  <a:pt x="100013" y="-6147"/>
                  <a:pt x="100013" y="0"/>
                </a:cubicBezTo>
                <a:lnTo>
                  <a:pt x="100013" y="22225"/>
                </a:lnTo>
                <a:lnTo>
                  <a:pt x="66675" y="22225"/>
                </a:lnTo>
                <a:cubicBezTo>
                  <a:pt x="48270" y="22225"/>
                  <a:pt x="33337" y="37157"/>
                  <a:pt x="33337" y="55563"/>
                </a:cubicBezTo>
                <a:lnTo>
                  <a:pt x="33337" y="133350"/>
                </a:lnTo>
                <a:cubicBezTo>
                  <a:pt x="33337" y="151755"/>
                  <a:pt x="48270" y="166688"/>
                  <a:pt x="66675" y="166688"/>
                </a:cubicBezTo>
                <a:lnTo>
                  <a:pt x="155575" y="166688"/>
                </a:lnTo>
                <a:cubicBezTo>
                  <a:pt x="173980" y="166688"/>
                  <a:pt x="188913" y="151755"/>
                  <a:pt x="188913" y="133350"/>
                </a:cubicBezTo>
                <a:lnTo>
                  <a:pt x="188913" y="55563"/>
                </a:lnTo>
                <a:cubicBezTo>
                  <a:pt x="188913" y="37157"/>
                  <a:pt x="173980" y="22225"/>
                  <a:pt x="155575" y="22225"/>
                </a:cubicBezTo>
                <a:lnTo>
                  <a:pt x="122238" y="22225"/>
                </a:lnTo>
                <a:lnTo>
                  <a:pt x="122238" y="0"/>
                </a:lnTo>
                <a:close/>
                <a:moveTo>
                  <a:pt x="55563" y="127794"/>
                </a:moveTo>
                <a:cubicBezTo>
                  <a:pt x="55563" y="123175"/>
                  <a:pt x="59278" y="119459"/>
                  <a:pt x="63897" y="119459"/>
                </a:cubicBezTo>
                <a:lnTo>
                  <a:pt x="75009" y="119459"/>
                </a:lnTo>
                <a:cubicBezTo>
                  <a:pt x="79628" y="119459"/>
                  <a:pt x="83344" y="123175"/>
                  <a:pt x="83344" y="127794"/>
                </a:cubicBezTo>
                <a:cubicBezTo>
                  <a:pt x="83344" y="132412"/>
                  <a:pt x="79628" y="136128"/>
                  <a:pt x="75009" y="136128"/>
                </a:cubicBezTo>
                <a:lnTo>
                  <a:pt x="63897" y="136128"/>
                </a:lnTo>
                <a:cubicBezTo>
                  <a:pt x="59278" y="136128"/>
                  <a:pt x="55563" y="132412"/>
                  <a:pt x="55563" y="127794"/>
                </a:cubicBezTo>
                <a:close/>
                <a:moveTo>
                  <a:pt x="97234" y="127794"/>
                </a:moveTo>
                <a:cubicBezTo>
                  <a:pt x="97234" y="123175"/>
                  <a:pt x="100950" y="119459"/>
                  <a:pt x="105569" y="119459"/>
                </a:cubicBezTo>
                <a:lnTo>
                  <a:pt x="116681" y="119459"/>
                </a:lnTo>
                <a:cubicBezTo>
                  <a:pt x="121300" y="119459"/>
                  <a:pt x="125016" y="123175"/>
                  <a:pt x="125016" y="127794"/>
                </a:cubicBezTo>
                <a:cubicBezTo>
                  <a:pt x="125016" y="132412"/>
                  <a:pt x="121300" y="136128"/>
                  <a:pt x="116681" y="136128"/>
                </a:cubicBezTo>
                <a:lnTo>
                  <a:pt x="105569" y="136128"/>
                </a:lnTo>
                <a:cubicBezTo>
                  <a:pt x="100950" y="136128"/>
                  <a:pt x="97234" y="132412"/>
                  <a:pt x="97234" y="127794"/>
                </a:cubicBezTo>
                <a:close/>
                <a:moveTo>
                  <a:pt x="138906" y="127794"/>
                </a:moveTo>
                <a:cubicBezTo>
                  <a:pt x="138906" y="123175"/>
                  <a:pt x="142622" y="119459"/>
                  <a:pt x="147241" y="119459"/>
                </a:cubicBezTo>
                <a:lnTo>
                  <a:pt x="158353" y="119459"/>
                </a:lnTo>
                <a:cubicBezTo>
                  <a:pt x="162972" y="119459"/>
                  <a:pt x="166688" y="123175"/>
                  <a:pt x="166688" y="127794"/>
                </a:cubicBezTo>
                <a:cubicBezTo>
                  <a:pt x="166688" y="132412"/>
                  <a:pt x="162972" y="136128"/>
                  <a:pt x="158353" y="136128"/>
                </a:cubicBezTo>
                <a:lnTo>
                  <a:pt x="147241" y="136128"/>
                </a:lnTo>
                <a:cubicBezTo>
                  <a:pt x="142622" y="136128"/>
                  <a:pt x="138906" y="132412"/>
                  <a:pt x="138906" y="127794"/>
                </a:cubicBezTo>
                <a:close/>
                <a:moveTo>
                  <a:pt x="77788" y="61119"/>
                </a:moveTo>
                <a:cubicBezTo>
                  <a:pt x="86987" y="61119"/>
                  <a:pt x="94456" y="68588"/>
                  <a:pt x="94456" y="77788"/>
                </a:cubicBezTo>
                <a:cubicBezTo>
                  <a:pt x="94456" y="86987"/>
                  <a:pt x="86987" y="94456"/>
                  <a:pt x="77788" y="94456"/>
                </a:cubicBezTo>
                <a:cubicBezTo>
                  <a:pt x="68588" y="94456"/>
                  <a:pt x="61119" y="86987"/>
                  <a:pt x="61119" y="77788"/>
                </a:cubicBezTo>
                <a:cubicBezTo>
                  <a:pt x="61119" y="68588"/>
                  <a:pt x="68588" y="61119"/>
                  <a:pt x="77788" y="61119"/>
                </a:cubicBezTo>
                <a:close/>
                <a:moveTo>
                  <a:pt x="127794" y="77788"/>
                </a:moveTo>
                <a:cubicBezTo>
                  <a:pt x="127794" y="68588"/>
                  <a:pt x="135263" y="61119"/>
                  <a:pt x="144463" y="61119"/>
                </a:cubicBezTo>
                <a:cubicBezTo>
                  <a:pt x="153662" y="61119"/>
                  <a:pt x="161131" y="68588"/>
                  <a:pt x="161131" y="77788"/>
                </a:cubicBezTo>
                <a:cubicBezTo>
                  <a:pt x="161131" y="86987"/>
                  <a:pt x="153662" y="94456"/>
                  <a:pt x="144463" y="94456"/>
                </a:cubicBezTo>
                <a:cubicBezTo>
                  <a:pt x="135263" y="94456"/>
                  <a:pt x="127794" y="86987"/>
                  <a:pt x="127794" y="77788"/>
                </a:cubicBezTo>
                <a:close/>
                <a:moveTo>
                  <a:pt x="22225" y="77788"/>
                </a:moveTo>
                <a:cubicBezTo>
                  <a:pt x="22225" y="71641"/>
                  <a:pt x="17259" y="66675"/>
                  <a:pt x="11112" y="66675"/>
                </a:cubicBezTo>
                <a:cubicBezTo>
                  <a:pt x="4966" y="66675"/>
                  <a:pt x="0" y="71641"/>
                  <a:pt x="0" y="77788"/>
                </a:cubicBezTo>
                <a:lnTo>
                  <a:pt x="0" y="111125"/>
                </a:lnTo>
                <a:cubicBezTo>
                  <a:pt x="0" y="117272"/>
                  <a:pt x="4966" y="122238"/>
                  <a:pt x="11112" y="122238"/>
                </a:cubicBezTo>
                <a:cubicBezTo>
                  <a:pt x="17259" y="122238"/>
                  <a:pt x="22225" y="117272"/>
                  <a:pt x="22225" y="111125"/>
                </a:cubicBezTo>
                <a:lnTo>
                  <a:pt x="22225" y="77788"/>
                </a:lnTo>
                <a:close/>
                <a:moveTo>
                  <a:pt x="211138" y="66675"/>
                </a:moveTo>
                <a:cubicBezTo>
                  <a:pt x="204991" y="66675"/>
                  <a:pt x="200025" y="71641"/>
                  <a:pt x="200025" y="77788"/>
                </a:cubicBezTo>
                <a:lnTo>
                  <a:pt x="200025" y="111125"/>
                </a:lnTo>
                <a:cubicBezTo>
                  <a:pt x="200025" y="117272"/>
                  <a:pt x="204991" y="122238"/>
                  <a:pt x="211138" y="122238"/>
                </a:cubicBezTo>
                <a:cubicBezTo>
                  <a:pt x="217284" y="122238"/>
                  <a:pt x="222250" y="117272"/>
                  <a:pt x="222250" y="111125"/>
                </a:cubicBezTo>
                <a:lnTo>
                  <a:pt x="222250" y="77788"/>
                </a:lnTo>
                <a:cubicBezTo>
                  <a:pt x="222250" y="71641"/>
                  <a:pt x="217284" y="66675"/>
                  <a:pt x="211138" y="66675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807200" y="3759200"/>
            <a:ext cx="494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Automatización: Anticipación y recualificaciones masivas.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54312" y="42824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96470" y="2986"/>
                </a:moveTo>
                <a:cubicBezTo>
                  <a:pt x="92199" y="-972"/>
                  <a:pt x="85601" y="-972"/>
                  <a:pt x="81364" y="2986"/>
                </a:cubicBezTo>
                <a:lnTo>
                  <a:pt x="3577" y="75218"/>
                </a:lnTo>
                <a:cubicBezTo>
                  <a:pt x="243" y="78343"/>
                  <a:pt x="-868" y="83170"/>
                  <a:pt x="799" y="87407"/>
                </a:cubicBezTo>
                <a:cubicBezTo>
                  <a:pt x="2466" y="91643"/>
                  <a:pt x="6529" y="94456"/>
                  <a:pt x="11112" y="94456"/>
                </a:cubicBezTo>
                <a:lnTo>
                  <a:pt x="16669" y="94456"/>
                </a:lnTo>
                <a:lnTo>
                  <a:pt x="16669" y="155575"/>
                </a:lnTo>
                <a:cubicBezTo>
                  <a:pt x="16669" y="167833"/>
                  <a:pt x="26635" y="177800"/>
                  <a:pt x="38894" y="177800"/>
                </a:cubicBezTo>
                <a:lnTo>
                  <a:pt x="138906" y="177800"/>
                </a:lnTo>
                <a:cubicBezTo>
                  <a:pt x="151165" y="177800"/>
                  <a:pt x="161131" y="167833"/>
                  <a:pt x="161131" y="155575"/>
                </a:cubicBezTo>
                <a:lnTo>
                  <a:pt x="161131" y="94456"/>
                </a:lnTo>
                <a:lnTo>
                  <a:pt x="166688" y="94456"/>
                </a:lnTo>
                <a:cubicBezTo>
                  <a:pt x="171271" y="94456"/>
                  <a:pt x="175369" y="91643"/>
                  <a:pt x="177036" y="87407"/>
                </a:cubicBezTo>
                <a:cubicBezTo>
                  <a:pt x="178703" y="83170"/>
                  <a:pt x="177592" y="78308"/>
                  <a:pt x="174258" y="75218"/>
                </a:cubicBezTo>
                <a:lnTo>
                  <a:pt x="96470" y="2986"/>
                </a:lnTo>
                <a:close/>
                <a:moveTo>
                  <a:pt x="83344" y="111125"/>
                </a:moveTo>
                <a:lnTo>
                  <a:pt x="94456" y="111125"/>
                </a:lnTo>
                <a:cubicBezTo>
                  <a:pt x="103659" y="111125"/>
                  <a:pt x="111125" y="118591"/>
                  <a:pt x="111125" y="127794"/>
                </a:cubicBezTo>
                <a:lnTo>
                  <a:pt x="111125" y="161131"/>
                </a:lnTo>
                <a:lnTo>
                  <a:pt x="66675" y="161131"/>
                </a:lnTo>
                <a:lnTo>
                  <a:pt x="66675" y="127794"/>
                </a:lnTo>
                <a:cubicBezTo>
                  <a:pt x="66675" y="118591"/>
                  <a:pt x="74141" y="111125"/>
                  <a:pt x="83344" y="111125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777672" y="4114800"/>
            <a:ext cx="515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Nuevas Formas de Trabajo: Adaptación de servicios al teletrabajo.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73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 4: Inclusión de Colectivos Vulnerables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352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Persisten brechas significativas en el acceso y la efectividad de las PAE para ciertos grupos.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946400"/>
            <a:ext cx="3759200" cy="1117600"/>
          </a:xfrm>
          <a:custGeom>
            <a:avLst/>
            <a:gdLst/>
            <a:ahLst/>
            <a:cxnLst/>
            <a:rect l="l" t="t" r="r" b="b"/>
            <a:pathLst>
              <a:path w="3759200" h="1117600">
                <a:moveTo>
                  <a:pt x="101601" y="0"/>
                </a:moveTo>
                <a:lnTo>
                  <a:pt x="3657599" y="0"/>
                </a:lnTo>
                <a:cubicBezTo>
                  <a:pt x="3713712" y="0"/>
                  <a:pt x="3759200" y="45488"/>
                  <a:pt x="3759200" y="101601"/>
                </a:cubicBezTo>
                <a:lnTo>
                  <a:pt x="3759200" y="1015999"/>
                </a:lnTo>
                <a:cubicBezTo>
                  <a:pt x="3759200" y="1072112"/>
                  <a:pt x="3713712" y="1117600"/>
                  <a:pt x="3657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962150" y="3124361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350" y="4763"/>
                </a:moveTo>
                <a:cubicBezTo>
                  <a:pt x="172777" y="4763"/>
                  <a:pt x="204787" y="36773"/>
                  <a:pt x="204787" y="76200"/>
                </a:cubicBezTo>
                <a:cubicBezTo>
                  <a:pt x="204787" y="115627"/>
                  <a:pt x="172777" y="147638"/>
                  <a:pt x="133350" y="147638"/>
                </a:cubicBezTo>
                <a:cubicBezTo>
                  <a:pt x="93923" y="147638"/>
                  <a:pt x="61913" y="115627"/>
                  <a:pt x="61912" y="76200"/>
                </a:cubicBezTo>
                <a:cubicBezTo>
                  <a:pt x="61912" y="36773"/>
                  <a:pt x="93923" y="4763"/>
                  <a:pt x="133350" y="4763"/>
                </a:cubicBezTo>
                <a:close/>
                <a:moveTo>
                  <a:pt x="115669" y="180975"/>
                </a:moveTo>
                <a:lnTo>
                  <a:pt x="151031" y="180975"/>
                </a:lnTo>
                <a:cubicBezTo>
                  <a:pt x="153353" y="180975"/>
                  <a:pt x="155734" y="181035"/>
                  <a:pt x="158055" y="181213"/>
                </a:cubicBezTo>
                <a:cubicBezTo>
                  <a:pt x="148411" y="198001"/>
                  <a:pt x="142875" y="217408"/>
                  <a:pt x="142875" y="238125"/>
                </a:cubicBezTo>
                <a:cubicBezTo>
                  <a:pt x="142875" y="263009"/>
                  <a:pt x="150852" y="286048"/>
                  <a:pt x="164306" y="304800"/>
                </a:cubicBezTo>
                <a:lnTo>
                  <a:pt x="27206" y="304800"/>
                </a:lnTo>
                <a:cubicBezTo>
                  <a:pt x="17443" y="304800"/>
                  <a:pt x="9525" y="296882"/>
                  <a:pt x="9525" y="287119"/>
                </a:cubicBezTo>
                <a:cubicBezTo>
                  <a:pt x="9525" y="228481"/>
                  <a:pt x="57031" y="180975"/>
                  <a:pt x="115669" y="180975"/>
                </a:cubicBezTo>
                <a:close/>
                <a:moveTo>
                  <a:pt x="171450" y="238125"/>
                </a:moveTo>
                <a:cubicBezTo>
                  <a:pt x="171450" y="190812"/>
                  <a:pt x="209862" y="152400"/>
                  <a:pt x="257175" y="152400"/>
                </a:cubicBezTo>
                <a:cubicBezTo>
                  <a:pt x="304488" y="152400"/>
                  <a:pt x="342900" y="190812"/>
                  <a:pt x="342900" y="238125"/>
                </a:cubicBezTo>
                <a:cubicBezTo>
                  <a:pt x="342900" y="285438"/>
                  <a:pt x="304488" y="323850"/>
                  <a:pt x="257175" y="323850"/>
                </a:cubicBezTo>
                <a:cubicBezTo>
                  <a:pt x="209862" y="323850"/>
                  <a:pt x="171450" y="285438"/>
                  <a:pt x="171450" y="238125"/>
                </a:cubicBezTo>
                <a:close/>
                <a:moveTo>
                  <a:pt x="257175" y="190500"/>
                </a:moveTo>
                <a:cubicBezTo>
                  <a:pt x="251936" y="190500"/>
                  <a:pt x="247650" y="194786"/>
                  <a:pt x="247650" y="200025"/>
                </a:cubicBezTo>
                <a:lnTo>
                  <a:pt x="247650" y="238125"/>
                </a:lnTo>
                <a:cubicBezTo>
                  <a:pt x="247650" y="243364"/>
                  <a:pt x="251936" y="247650"/>
                  <a:pt x="257175" y="247650"/>
                </a:cubicBezTo>
                <a:lnTo>
                  <a:pt x="285750" y="247650"/>
                </a:lnTo>
                <a:cubicBezTo>
                  <a:pt x="290989" y="247650"/>
                  <a:pt x="295275" y="243364"/>
                  <a:pt x="295275" y="238125"/>
                </a:cubicBezTo>
                <a:cubicBezTo>
                  <a:pt x="295275" y="232886"/>
                  <a:pt x="290989" y="228600"/>
                  <a:pt x="285750" y="228600"/>
                </a:cubicBezTo>
                <a:lnTo>
                  <a:pt x="266700" y="228600"/>
                </a:lnTo>
                <a:lnTo>
                  <a:pt x="266700" y="200025"/>
                </a:lnTo>
                <a:cubicBezTo>
                  <a:pt x="266700" y="194786"/>
                  <a:pt x="262414" y="190500"/>
                  <a:pt x="257175" y="190500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06400" y="3505522"/>
            <a:ext cx="345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Mayores de 45 años en paro de larga duración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16400" y="2946400"/>
            <a:ext cx="3759200" cy="1117600"/>
          </a:xfrm>
          <a:custGeom>
            <a:avLst/>
            <a:gdLst/>
            <a:ahLst/>
            <a:cxnLst/>
            <a:rect l="l" t="t" r="r" b="b"/>
            <a:pathLst>
              <a:path w="3759200" h="1117600">
                <a:moveTo>
                  <a:pt x="101601" y="0"/>
                </a:moveTo>
                <a:lnTo>
                  <a:pt x="3657599" y="0"/>
                </a:lnTo>
                <a:cubicBezTo>
                  <a:pt x="3713712" y="0"/>
                  <a:pt x="3759200" y="45488"/>
                  <a:pt x="3759200" y="101601"/>
                </a:cubicBezTo>
                <a:lnTo>
                  <a:pt x="3759200" y="1015999"/>
                </a:lnTo>
                <a:cubicBezTo>
                  <a:pt x="3759200" y="1072112"/>
                  <a:pt x="3713712" y="1117600"/>
                  <a:pt x="3657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943600" y="322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0962" y="23813"/>
                </a:moveTo>
                <a:cubicBezTo>
                  <a:pt x="80962" y="5413"/>
                  <a:pt x="95901" y="-9525"/>
                  <a:pt x="114300" y="-9525"/>
                </a:cubicBezTo>
                <a:cubicBezTo>
                  <a:pt x="132699" y="-9525"/>
                  <a:pt x="147638" y="5413"/>
                  <a:pt x="147638" y="23812"/>
                </a:cubicBezTo>
                <a:cubicBezTo>
                  <a:pt x="147638" y="42212"/>
                  <a:pt x="132699" y="57150"/>
                  <a:pt x="114300" y="57150"/>
                </a:cubicBezTo>
                <a:cubicBezTo>
                  <a:pt x="95901" y="57150"/>
                  <a:pt x="80962" y="42212"/>
                  <a:pt x="80962" y="23813"/>
                </a:cubicBezTo>
                <a:close/>
                <a:moveTo>
                  <a:pt x="70187" y="117634"/>
                </a:moveTo>
                <a:lnTo>
                  <a:pt x="77688" y="155138"/>
                </a:lnTo>
                <a:cubicBezTo>
                  <a:pt x="54709" y="162520"/>
                  <a:pt x="38100" y="184130"/>
                  <a:pt x="38100" y="209550"/>
                </a:cubicBezTo>
                <a:cubicBezTo>
                  <a:pt x="38100" y="241102"/>
                  <a:pt x="63698" y="266700"/>
                  <a:pt x="95250" y="266700"/>
                </a:cubicBezTo>
                <a:cubicBezTo>
                  <a:pt x="116443" y="266700"/>
                  <a:pt x="134957" y="255151"/>
                  <a:pt x="144840" y="238006"/>
                </a:cubicBezTo>
                <a:cubicBezTo>
                  <a:pt x="146209" y="238065"/>
                  <a:pt x="147578" y="238125"/>
                  <a:pt x="149007" y="238125"/>
                </a:cubicBezTo>
                <a:lnTo>
                  <a:pt x="151448" y="238125"/>
                </a:lnTo>
                <a:cubicBezTo>
                  <a:pt x="152043" y="238125"/>
                  <a:pt x="152698" y="238125"/>
                  <a:pt x="153293" y="238125"/>
                </a:cubicBezTo>
                <a:lnTo>
                  <a:pt x="186154" y="238125"/>
                </a:lnTo>
                <a:cubicBezTo>
                  <a:pt x="174010" y="276761"/>
                  <a:pt x="137934" y="304800"/>
                  <a:pt x="95250" y="304800"/>
                </a:cubicBezTo>
                <a:cubicBezTo>
                  <a:pt x="42624" y="304800"/>
                  <a:pt x="0" y="262176"/>
                  <a:pt x="0" y="209550"/>
                </a:cubicBezTo>
                <a:cubicBezTo>
                  <a:pt x="0" y="165616"/>
                  <a:pt x="29766" y="128647"/>
                  <a:pt x="70187" y="117634"/>
                </a:cubicBezTo>
                <a:close/>
                <a:moveTo>
                  <a:pt x="158651" y="100905"/>
                </a:moveTo>
                <a:lnTo>
                  <a:pt x="172760" y="171450"/>
                </a:lnTo>
                <a:lnTo>
                  <a:pt x="208776" y="171450"/>
                </a:lnTo>
                <a:cubicBezTo>
                  <a:pt x="228600" y="171450"/>
                  <a:pt x="246400" y="183773"/>
                  <a:pt x="253365" y="202347"/>
                </a:cubicBezTo>
                <a:lnTo>
                  <a:pt x="268545" y="242828"/>
                </a:lnTo>
                <a:lnTo>
                  <a:pt x="279678" y="239137"/>
                </a:lnTo>
                <a:cubicBezTo>
                  <a:pt x="289679" y="235803"/>
                  <a:pt x="300454" y="241221"/>
                  <a:pt x="303788" y="251162"/>
                </a:cubicBezTo>
                <a:cubicBezTo>
                  <a:pt x="307122" y="261104"/>
                  <a:pt x="301704" y="271939"/>
                  <a:pt x="291763" y="275273"/>
                </a:cubicBezTo>
                <a:lnTo>
                  <a:pt x="263188" y="284797"/>
                </a:lnTo>
                <a:cubicBezTo>
                  <a:pt x="253484" y="288012"/>
                  <a:pt x="242947" y="283012"/>
                  <a:pt x="239316" y="273427"/>
                </a:cubicBezTo>
                <a:lnTo>
                  <a:pt x="217706" y="215741"/>
                </a:lnTo>
                <a:cubicBezTo>
                  <a:pt x="216337" y="212050"/>
                  <a:pt x="212765" y="209550"/>
                  <a:pt x="208776" y="209550"/>
                </a:cubicBezTo>
                <a:lnTo>
                  <a:pt x="157520" y="209550"/>
                </a:lnTo>
                <a:cubicBezTo>
                  <a:pt x="157282" y="209550"/>
                  <a:pt x="157043" y="209550"/>
                  <a:pt x="156746" y="209550"/>
                </a:cubicBezTo>
                <a:lnTo>
                  <a:pt x="148947" y="209550"/>
                </a:lnTo>
                <a:cubicBezTo>
                  <a:pt x="130790" y="209550"/>
                  <a:pt x="115133" y="196751"/>
                  <a:pt x="111562" y="178951"/>
                </a:cubicBezTo>
                <a:lnTo>
                  <a:pt x="98405" y="112931"/>
                </a:lnTo>
                <a:cubicBezTo>
                  <a:pt x="94595" y="93940"/>
                  <a:pt x="109121" y="76200"/>
                  <a:pt x="128528" y="76200"/>
                </a:cubicBezTo>
                <a:cubicBezTo>
                  <a:pt x="143173" y="76200"/>
                  <a:pt x="155793" y="86558"/>
                  <a:pt x="158651" y="100905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816158" y="3683000"/>
            <a:ext cx="256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Personas con discapacidad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78800" y="2946400"/>
            <a:ext cx="3759200" cy="1117600"/>
          </a:xfrm>
          <a:custGeom>
            <a:avLst/>
            <a:gdLst/>
            <a:ahLst/>
            <a:cxnLst/>
            <a:rect l="l" t="t" r="r" b="b"/>
            <a:pathLst>
              <a:path w="3759200" h="1117600">
                <a:moveTo>
                  <a:pt x="101601" y="0"/>
                </a:moveTo>
                <a:lnTo>
                  <a:pt x="3657599" y="0"/>
                </a:lnTo>
                <a:cubicBezTo>
                  <a:pt x="3713712" y="0"/>
                  <a:pt x="3759200" y="45488"/>
                  <a:pt x="3759200" y="101601"/>
                </a:cubicBezTo>
                <a:lnTo>
                  <a:pt x="3759200" y="1015999"/>
                </a:lnTo>
                <a:cubicBezTo>
                  <a:pt x="3759200" y="1072112"/>
                  <a:pt x="3713712" y="1117600"/>
                  <a:pt x="3657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9867900" y="3225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611712" y="3683000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Población gitana e inmigrantes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4000" y="4267200"/>
            <a:ext cx="11684000" cy="1117600"/>
          </a:xfrm>
          <a:custGeom>
            <a:avLst/>
            <a:gdLst/>
            <a:ahLst/>
            <a:cxnLst/>
            <a:rect l="l" t="t" r="r" b="b"/>
            <a:pathLst>
              <a:path w="11684000" h="11176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1015999"/>
                </a:lnTo>
                <a:cubicBezTo>
                  <a:pt x="11684000" y="1072112"/>
                  <a:pt x="11638512" y="1117600"/>
                  <a:pt x="115823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43600" y="454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698" y="0"/>
                </a:moveTo>
                <a:cubicBezTo>
                  <a:pt x="161449" y="0"/>
                  <a:pt x="169485" y="4822"/>
                  <a:pt x="173653" y="12502"/>
                </a:cubicBezTo>
                <a:lnTo>
                  <a:pt x="302240" y="250627"/>
                </a:lnTo>
                <a:cubicBezTo>
                  <a:pt x="306229" y="258008"/>
                  <a:pt x="306050" y="266938"/>
                  <a:pt x="301764" y="274141"/>
                </a:cubicBezTo>
                <a:cubicBezTo>
                  <a:pt x="297478" y="281345"/>
                  <a:pt x="289679" y="285750"/>
                  <a:pt x="281345" y="285750"/>
                </a:cubicBezTo>
                <a:lnTo>
                  <a:pt x="24170" y="285750"/>
                </a:lnTo>
                <a:cubicBezTo>
                  <a:pt x="15776" y="285750"/>
                  <a:pt x="8037" y="281345"/>
                  <a:pt x="3750" y="274141"/>
                </a:cubicBezTo>
                <a:cubicBezTo>
                  <a:pt x="-536" y="266938"/>
                  <a:pt x="-714" y="258008"/>
                  <a:pt x="3274" y="250627"/>
                </a:cubicBezTo>
                <a:lnTo>
                  <a:pt x="131862" y="12502"/>
                </a:lnTo>
                <a:lnTo>
                  <a:pt x="133588" y="9763"/>
                </a:lnTo>
                <a:cubicBezTo>
                  <a:pt x="137934" y="3691"/>
                  <a:pt x="145018" y="0"/>
                  <a:pt x="152698" y="0"/>
                </a:cubicBezTo>
                <a:close/>
                <a:moveTo>
                  <a:pt x="101441" y="148769"/>
                </a:moveTo>
                <a:lnTo>
                  <a:pt x="117396" y="164723"/>
                </a:lnTo>
                <a:cubicBezTo>
                  <a:pt x="121087" y="168414"/>
                  <a:pt x="127159" y="168414"/>
                  <a:pt x="130850" y="164723"/>
                </a:cubicBezTo>
                <a:lnTo>
                  <a:pt x="156627" y="138946"/>
                </a:lnTo>
                <a:cubicBezTo>
                  <a:pt x="160199" y="135374"/>
                  <a:pt x="165021" y="133350"/>
                  <a:pt x="170081" y="133350"/>
                </a:cubicBezTo>
                <a:lnTo>
                  <a:pt x="195560" y="133350"/>
                </a:lnTo>
                <a:lnTo>
                  <a:pt x="152638" y="53876"/>
                </a:lnTo>
                <a:lnTo>
                  <a:pt x="101382" y="148769"/>
                </a:ln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716655" y="5003800"/>
            <a:ext cx="476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Población en zonas rurales o en riesgo de despoblación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6858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 5: Coordinación Multinivel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8034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efectividad del sistema depende de una coordinación fluida entre todos los niveles de la administración y con otras políticas sociales.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022600"/>
            <a:ext cx="5537200" cy="914400"/>
          </a:xfrm>
          <a:custGeom>
            <a:avLst/>
            <a:gdLst/>
            <a:ahLst/>
            <a:cxnLst/>
            <a:rect l="l" t="t" r="r" b="b"/>
            <a:pathLst>
              <a:path w="5537200" h="914400">
                <a:moveTo>
                  <a:pt x="101599" y="0"/>
                </a:moveTo>
                <a:lnTo>
                  <a:pt x="5435601" y="0"/>
                </a:lnTo>
                <a:cubicBezTo>
                  <a:pt x="5491713" y="0"/>
                  <a:pt x="5537200" y="45487"/>
                  <a:pt x="5537200" y="101599"/>
                </a:cubicBezTo>
                <a:lnTo>
                  <a:pt x="5537200" y="812801"/>
                </a:lnTo>
                <a:cubicBezTo>
                  <a:pt x="5537200" y="868913"/>
                  <a:pt x="5491713" y="914400"/>
                  <a:pt x="5435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72758" y="330708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43915" y="3175000"/>
            <a:ext cx="480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coordinación Estado-Autonomías-Localidades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4140200"/>
            <a:ext cx="5537200" cy="914400"/>
          </a:xfrm>
          <a:custGeom>
            <a:avLst/>
            <a:gdLst/>
            <a:ahLst/>
            <a:cxnLst/>
            <a:rect l="l" t="t" r="r" b="b"/>
            <a:pathLst>
              <a:path w="5537200" h="914400">
                <a:moveTo>
                  <a:pt x="101599" y="0"/>
                </a:moveTo>
                <a:lnTo>
                  <a:pt x="5435601" y="0"/>
                </a:lnTo>
                <a:cubicBezTo>
                  <a:pt x="5491713" y="0"/>
                  <a:pt x="5537200" y="45487"/>
                  <a:pt x="5537200" y="101599"/>
                </a:cubicBezTo>
                <a:lnTo>
                  <a:pt x="5537200" y="812801"/>
                </a:lnTo>
                <a:cubicBezTo>
                  <a:pt x="5537200" y="868913"/>
                  <a:pt x="5491713" y="914400"/>
                  <a:pt x="5435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50056" y="442468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cubicBezTo>
                  <a:pt x="154365" y="0"/>
                  <a:pt x="171450" y="12799"/>
                  <a:pt x="171450" y="28575"/>
                </a:cubicBezTo>
                <a:cubicBezTo>
                  <a:pt x="171450" y="34766"/>
                  <a:pt x="168831" y="40481"/>
                  <a:pt x="164306" y="45184"/>
                </a:cubicBezTo>
                <a:cubicBezTo>
                  <a:pt x="160377" y="49292"/>
                  <a:pt x="157163" y="54293"/>
                  <a:pt x="157163" y="60008"/>
                </a:cubicBezTo>
                <a:cubicBezTo>
                  <a:pt x="157163" y="68937"/>
                  <a:pt x="164425" y="76200"/>
                  <a:pt x="173355" y="76200"/>
                </a:cubicBezTo>
                <a:lnTo>
                  <a:pt x="200025" y="76200"/>
                </a:lnTo>
                <a:cubicBezTo>
                  <a:pt x="215801" y="76200"/>
                  <a:pt x="228600" y="88999"/>
                  <a:pt x="228600" y="104775"/>
                </a:cubicBezTo>
                <a:lnTo>
                  <a:pt x="228600" y="131445"/>
                </a:lnTo>
                <a:cubicBezTo>
                  <a:pt x="228600" y="140375"/>
                  <a:pt x="235863" y="147638"/>
                  <a:pt x="244793" y="147638"/>
                </a:cubicBezTo>
                <a:cubicBezTo>
                  <a:pt x="250448" y="147638"/>
                  <a:pt x="255508" y="144423"/>
                  <a:pt x="259616" y="140494"/>
                </a:cubicBezTo>
                <a:cubicBezTo>
                  <a:pt x="264319" y="136029"/>
                  <a:pt x="270034" y="133350"/>
                  <a:pt x="276225" y="133350"/>
                </a:cubicBezTo>
                <a:cubicBezTo>
                  <a:pt x="292001" y="133350"/>
                  <a:pt x="304800" y="150435"/>
                  <a:pt x="304800" y="171450"/>
                </a:cubicBezTo>
                <a:cubicBezTo>
                  <a:pt x="304800" y="192465"/>
                  <a:pt x="292001" y="209550"/>
                  <a:pt x="276225" y="209550"/>
                </a:cubicBezTo>
                <a:cubicBezTo>
                  <a:pt x="270034" y="209550"/>
                  <a:pt x="264259" y="206931"/>
                  <a:pt x="259616" y="202406"/>
                </a:cubicBezTo>
                <a:cubicBezTo>
                  <a:pt x="255508" y="198477"/>
                  <a:pt x="250507" y="195263"/>
                  <a:pt x="244793" y="195263"/>
                </a:cubicBezTo>
                <a:cubicBezTo>
                  <a:pt x="235863" y="195263"/>
                  <a:pt x="228600" y="202525"/>
                  <a:pt x="228600" y="211455"/>
                </a:cubicBezTo>
                <a:lnTo>
                  <a:pt x="228600" y="276225"/>
                </a:lnTo>
                <a:cubicBezTo>
                  <a:pt x="228600" y="292001"/>
                  <a:pt x="215801" y="304800"/>
                  <a:pt x="200025" y="304800"/>
                </a:cubicBezTo>
                <a:lnTo>
                  <a:pt x="166211" y="304800"/>
                </a:lnTo>
                <a:cubicBezTo>
                  <a:pt x="158591" y="304800"/>
                  <a:pt x="152400" y="298609"/>
                  <a:pt x="152400" y="290989"/>
                </a:cubicBezTo>
                <a:cubicBezTo>
                  <a:pt x="152400" y="285512"/>
                  <a:pt x="155853" y="280690"/>
                  <a:pt x="160258" y="277416"/>
                </a:cubicBezTo>
                <a:cubicBezTo>
                  <a:pt x="167164" y="272236"/>
                  <a:pt x="171450" y="265093"/>
                  <a:pt x="171450" y="257175"/>
                </a:cubicBezTo>
                <a:cubicBezTo>
                  <a:pt x="171450" y="241399"/>
                  <a:pt x="154365" y="228600"/>
                  <a:pt x="133350" y="228600"/>
                </a:cubicBezTo>
                <a:cubicBezTo>
                  <a:pt x="112335" y="228600"/>
                  <a:pt x="95250" y="241399"/>
                  <a:pt x="95250" y="257175"/>
                </a:cubicBezTo>
                <a:cubicBezTo>
                  <a:pt x="95250" y="265093"/>
                  <a:pt x="99536" y="272236"/>
                  <a:pt x="106442" y="277416"/>
                </a:cubicBezTo>
                <a:cubicBezTo>
                  <a:pt x="110847" y="280690"/>
                  <a:pt x="114300" y="285452"/>
                  <a:pt x="114300" y="290989"/>
                </a:cubicBezTo>
                <a:cubicBezTo>
                  <a:pt x="114300" y="298609"/>
                  <a:pt x="108109" y="304800"/>
                  <a:pt x="100489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4311"/>
                </a:lnTo>
                <a:cubicBezTo>
                  <a:pt x="0" y="196691"/>
                  <a:pt x="6191" y="190500"/>
                  <a:pt x="13811" y="190500"/>
                </a:cubicBezTo>
                <a:cubicBezTo>
                  <a:pt x="19288" y="190500"/>
                  <a:pt x="24110" y="193953"/>
                  <a:pt x="27384" y="198358"/>
                </a:cubicBezTo>
                <a:cubicBezTo>
                  <a:pt x="32564" y="205264"/>
                  <a:pt x="39707" y="209550"/>
                  <a:pt x="47625" y="209550"/>
                </a:cubicBezTo>
                <a:cubicBezTo>
                  <a:pt x="63401" y="209550"/>
                  <a:pt x="76200" y="192465"/>
                  <a:pt x="76200" y="171450"/>
                </a:cubicBezTo>
                <a:cubicBezTo>
                  <a:pt x="76200" y="150435"/>
                  <a:pt x="63401" y="133350"/>
                  <a:pt x="47625" y="133350"/>
                </a:cubicBezTo>
                <a:cubicBezTo>
                  <a:pt x="39707" y="133350"/>
                  <a:pt x="32564" y="137636"/>
                  <a:pt x="27384" y="144542"/>
                </a:cubicBezTo>
                <a:cubicBezTo>
                  <a:pt x="24110" y="148947"/>
                  <a:pt x="19348" y="152400"/>
                  <a:pt x="13811" y="152400"/>
                </a:cubicBezTo>
                <a:cubicBezTo>
                  <a:pt x="6191" y="152400"/>
                  <a:pt x="0" y="146209"/>
                  <a:pt x="0" y="138589"/>
                </a:cubicBezTo>
                <a:lnTo>
                  <a:pt x="0" y="104775"/>
                </a:lnTo>
                <a:cubicBezTo>
                  <a:pt x="0" y="88999"/>
                  <a:pt x="12799" y="76200"/>
                  <a:pt x="28575" y="76200"/>
                </a:cubicBezTo>
                <a:lnTo>
                  <a:pt x="93345" y="76200"/>
                </a:lnTo>
                <a:cubicBezTo>
                  <a:pt x="102275" y="76200"/>
                  <a:pt x="109537" y="68937"/>
                  <a:pt x="109537" y="60007"/>
                </a:cubicBezTo>
                <a:cubicBezTo>
                  <a:pt x="109537" y="54352"/>
                  <a:pt x="106323" y="49292"/>
                  <a:pt x="102394" y="45184"/>
                </a:cubicBezTo>
                <a:cubicBezTo>
                  <a:pt x="97929" y="40481"/>
                  <a:pt x="95250" y="34766"/>
                  <a:pt x="95250" y="28575"/>
                </a:cubicBezTo>
                <a:cubicBezTo>
                  <a:pt x="95250" y="12799"/>
                  <a:pt x="112335" y="0"/>
                  <a:pt x="133350" y="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98513" y="4292600"/>
            <a:ext cx="4838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Integrar servicios de empleo, sociales, educativos y sanitarios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5257800"/>
            <a:ext cx="5537200" cy="914400"/>
          </a:xfrm>
          <a:custGeom>
            <a:avLst/>
            <a:gdLst/>
            <a:ahLst/>
            <a:cxnLst/>
            <a:rect l="l" t="t" r="r" b="b"/>
            <a:pathLst>
              <a:path w="5537200" h="914400">
                <a:moveTo>
                  <a:pt x="101599" y="0"/>
                </a:moveTo>
                <a:lnTo>
                  <a:pt x="5435601" y="0"/>
                </a:lnTo>
                <a:cubicBezTo>
                  <a:pt x="5491713" y="0"/>
                  <a:pt x="5537200" y="45487"/>
                  <a:pt x="5537200" y="101599"/>
                </a:cubicBezTo>
                <a:lnTo>
                  <a:pt x="5537200" y="812801"/>
                </a:lnTo>
                <a:cubicBezTo>
                  <a:pt x="5537200" y="868913"/>
                  <a:pt x="5491713" y="914400"/>
                  <a:pt x="5435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82918" y="554228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28575"/>
                </a:moveTo>
                <a:cubicBezTo>
                  <a:pt x="304800" y="21967"/>
                  <a:pt x="301407" y="15835"/>
                  <a:pt x="295751" y="12383"/>
                </a:cubicBezTo>
                <a:cubicBezTo>
                  <a:pt x="290096" y="8930"/>
                  <a:pt x="283131" y="8573"/>
                  <a:pt x="277237" y="11549"/>
                </a:cubicBezTo>
                <a:lnTo>
                  <a:pt x="208062" y="46137"/>
                </a:lnTo>
                <a:lnTo>
                  <a:pt x="101263" y="10478"/>
                </a:lnTo>
                <a:cubicBezTo>
                  <a:pt x="96441" y="8870"/>
                  <a:pt x="91261" y="9227"/>
                  <a:pt x="86737" y="11490"/>
                </a:cubicBezTo>
                <a:lnTo>
                  <a:pt x="10537" y="49590"/>
                </a:lnTo>
                <a:cubicBezTo>
                  <a:pt x="4048" y="52864"/>
                  <a:pt x="0" y="59472"/>
                  <a:pt x="0" y="66675"/>
                </a:cubicBezTo>
                <a:lnTo>
                  <a:pt x="0" y="276225"/>
                </a:lnTo>
                <a:cubicBezTo>
                  <a:pt x="0" y="282833"/>
                  <a:pt x="3393" y="288965"/>
                  <a:pt x="9049" y="292418"/>
                </a:cubicBezTo>
                <a:cubicBezTo>
                  <a:pt x="14704" y="295870"/>
                  <a:pt x="21669" y="296227"/>
                  <a:pt x="27563" y="293251"/>
                </a:cubicBezTo>
                <a:lnTo>
                  <a:pt x="96679" y="258663"/>
                </a:lnTo>
                <a:lnTo>
                  <a:pt x="203478" y="294263"/>
                </a:lnTo>
                <a:cubicBezTo>
                  <a:pt x="208300" y="295870"/>
                  <a:pt x="213479" y="295513"/>
                  <a:pt x="218003" y="293251"/>
                </a:cubicBezTo>
                <a:lnTo>
                  <a:pt x="294203" y="255151"/>
                </a:lnTo>
                <a:cubicBezTo>
                  <a:pt x="300633" y="251936"/>
                  <a:pt x="304740" y="245328"/>
                  <a:pt x="304740" y="238125"/>
                </a:cubicBezTo>
                <a:lnTo>
                  <a:pt x="304740" y="28575"/>
                </a:lnTo>
                <a:close/>
                <a:moveTo>
                  <a:pt x="114300" y="224373"/>
                </a:moveTo>
                <a:lnTo>
                  <a:pt x="114300" y="55007"/>
                </a:lnTo>
                <a:lnTo>
                  <a:pt x="190500" y="80427"/>
                </a:lnTo>
                <a:lnTo>
                  <a:pt x="190500" y="249793"/>
                </a:lnTo>
                <a:lnTo>
                  <a:pt x="114300" y="224373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64394" y="5410200"/>
            <a:ext cx="477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Asegurar coherencia territorial con adaptación local</a:t>
            </a:r>
            <a:endParaRPr lang="en-US" sz="1600" dirty="0"/>
          </a:p>
        </p:txBody>
      </p:sp>
      <p:pic>
        <p:nvPicPr>
          <p:cNvPr id="13" name="Image 0" descr="https://kimi-web-img.moonshot.cn/img/c8.alamy.com/ebf0fdf3d0d108827eb148d0c511c118735c1103.jpg"/>
          <p:cNvPicPr>
            <a:picLocks noChangeAspect="1"/>
          </p:cNvPicPr>
          <p:nvPr/>
        </p:nvPicPr>
        <p:blipFill>
          <a:blip r:embed="rId3"/>
          <a:srcRect l="12885" r="12885"/>
          <a:stretch/>
        </p:blipFill>
        <p:spPr>
          <a:xfrm>
            <a:off x="7391400" y="1803400"/>
            <a:ext cx="3251200" cy="3251200"/>
          </a:xfrm>
          <a:prstGeom prst="roundRect">
            <a:avLst>
              <a:gd name="adj" fmla="val 3125"/>
            </a:avLst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Estrategia 2025-2028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304483"/>
            <a:ext cx="5640070" cy="11068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PARTE  06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1465" y="607504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91465" y="630872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91465" y="654240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29146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158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152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73164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1143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47625" y="0"/>
                </a:moveTo>
                <a:cubicBezTo>
                  <a:pt x="73968" y="0"/>
                  <a:pt x="95250" y="21282"/>
                  <a:pt x="95250" y="47625"/>
                </a:cubicBezTo>
                <a:lnTo>
                  <a:pt x="95250" y="71438"/>
                </a:lnTo>
                <a:lnTo>
                  <a:pt x="197941" y="45839"/>
                </a:lnTo>
                <a:cubicBezTo>
                  <a:pt x="254645" y="31700"/>
                  <a:pt x="314474" y="38249"/>
                  <a:pt x="366861" y="64443"/>
                </a:cubicBezTo>
                <a:cubicBezTo>
                  <a:pt x="435769" y="98971"/>
                  <a:pt x="516880" y="98971"/>
                  <a:pt x="585788" y="64443"/>
                </a:cubicBezTo>
                <a:lnTo>
                  <a:pt x="600075" y="57299"/>
                </a:lnTo>
                <a:cubicBezTo>
                  <a:pt x="630734" y="41821"/>
                  <a:pt x="666750" y="64145"/>
                  <a:pt x="666750" y="98375"/>
                </a:cubicBezTo>
                <a:lnTo>
                  <a:pt x="666750" y="514648"/>
                </a:lnTo>
                <a:cubicBezTo>
                  <a:pt x="666750" y="534442"/>
                  <a:pt x="654397" y="552301"/>
                  <a:pt x="635794" y="559296"/>
                </a:cubicBezTo>
                <a:lnTo>
                  <a:pt x="584150" y="578644"/>
                </a:lnTo>
                <a:cubicBezTo>
                  <a:pt x="515392" y="604391"/>
                  <a:pt x="438894" y="600373"/>
                  <a:pt x="373261" y="567630"/>
                </a:cubicBezTo>
                <a:cubicBezTo>
                  <a:pt x="316855" y="539353"/>
                  <a:pt x="252115" y="532358"/>
                  <a:pt x="190946" y="547687"/>
                </a:cubicBezTo>
                <a:lnTo>
                  <a:pt x="95250" y="571500"/>
                </a:lnTo>
                <a:lnTo>
                  <a:pt x="95250" y="714375"/>
                </a:lnTo>
                <a:cubicBezTo>
                  <a:pt x="95250" y="740718"/>
                  <a:pt x="73968" y="762000"/>
                  <a:pt x="47625" y="762000"/>
                </a:cubicBezTo>
                <a:cubicBezTo>
                  <a:pt x="21282" y="762000"/>
                  <a:pt x="0" y="740718"/>
                  <a:pt x="0" y="714375"/>
                </a:cubicBezTo>
                <a:lnTo>
                  <a:pt x="0" y="47625"/>
                </a:lnTo>
                <a:cubicBezTo>
                  <a:pt x="0" y="21282"/>
                  <a:pt x="21282" y="0"/>
                  <a:pt x="47625" y="0"/>
                </a:cubicBezTo>
                <a:close/>
                <a:moveTo>
                  <a:pt x="95250" y="278457"/>
                </a:moveTo>
                <a:lnTo>
                  <a:pt x="190500" y="257770"/>
                </a:lnTo>
                <a:lnTo>
                  <a:pt x="190500" y="355253"/>
                </a:lnTo>
                <a:lnTo>
                  <a:pt x="95250" y="375940"/>
                </a:lnTo>
                <a:lnTo>
                  <a:pt x="95250" y="473422"/>
                </a:lnTo>
                <a:lnTo>
                  <a:pt x="167878" y="455265"/>
                </a:lnTo>
                <a:cubicBezTo>
                  <a:pt x="175468" y="453330"/>
                  <a:pt x="182910" y="451693"/>
                  <a:pt x="190500" y="450354"/>
                </a:cubicBezTo>
                <a:lnTo>
                  <a:pt x="190500" y="355253"/>
                </a:lnTo>
                <a:lnTo>
                  <a:pt x="248394" y="342751"/>
                </a:lnTo>
                <a:cubicBezTo>
                  <a:pt x="260747" y="340072"/>
                  <a:pt x="273248" y="339030"/>
                  <a:pt x="285750" y="339626"/>
                </a:cubicBezTo>
                <a:lnTo>
                  <a:pt x="285750" y="244376"/>
                </a:lnTo>
                <a:cubicBezTo>
                  <a:pt x="305991" y="244971"/>
                  <a:pt x="326231" y="248245"/>
                  <a:pt x="345877" y="253901"/>
                </a:cubicBezTo>
                <a:lnTo>
                  <a:pt x="381000" y="264170"/>
                </a:lnTo>
                <a:lnTo>
                  <a:pt x="381000" y="363438"/>
                </a:lnTo>
                <a:lnTo>
                  <a:pt x="318939" y="345132"/>
                </a:lnTo>
                <a:cubicBezTo>
                  <a:pt x="308074" y="342007"/>
                  <a:pt x="296912" y="340072"/>
                  <a:pt x="285750" y="339477"/>
                </a:cubicBezTo>
                <a:lnTo>
                  <a:pt x="285750" y="445740"/>
                </a:lnTo>
                <a:cubicBezTo>
                  <a:pt x="318195" y="448568"/>
                  <a:pt x="350193" y="455712"/>
                  <a:pt x="381000" y="467171"/>
                </a:cubicBezTo>
                <a:lnTo>
                  <a:pt x="381000" y="363289"/>
                </a:lnTo>
                <a:lnTo>
                  <a:pt x="414784" y="373261"/>
                </a:lnTo>
                <a:cubicBezTo>
                  <a:pt x="434876" y="379214"/>
                  <a:pt x="455414" y="382786"/>
                  <a:pt x="476250" y="384274"/>
                </a:cubicBezTo>
                <a:lnTo>
                  <a:pt x="476250" y="288727"/>
                </a:lnTo>
                <a:cubicBezTo>
                  <a:pt x="464641" y="287536"/>
                  <a:pt x="453033" y="285304"/>
                  <a:pt x="441722" y="282029"/>
                </a:cubicBezTo>
                <a:lnTo>
                  <a:pt x="381000" y="264170"/>
                </a:lnTo>
                <a:lnTo>
                  <a:pt x="381000" y="171896"/>
                </a:lnTo>
                <a:cubicBezTo>
                  <a:pt x="361652" y="166241"/>
                  <a:pt x="342602" y="158800"/>
                  <a:pt x="324148" y="149572"/>
                </a:cubicBezTo>
                <a:cubicBezTo>
                  <a:pt x="311944" y="143470"/>
                  <a:pt x="298996" y="139154"/>
                  <a:pt x="285750" y="136475"/>
                </a:cubicBezTo>
                <a:lnTo>
                  <a:pt x="285750" y="244227"/>
                </a:lnTo>
                <a:cubicBezTo>
                  <a:pt x="266402" y="243632"/>
                  <a:pt x="247055" y="245418"/>
                  <a:pt x="228154" y="249585"/>
                </a:cubicBezTo>
                <a:lnTo>
                  <a:pt x="190500" y="257770"/>
                </a:lnTo>
                <a:lnTo>
                  <a:pt x="190500" y="145852"/>
                </a:lnTo>
                <a:lnTo>
                  <a:pt x="95250" y="169664"/>
                </a:lnTo>
                <a:lnTo>
                  <a:pt x="95250" y="278457"/>
                </a:lnTo>
                <a:close/>
                <a:moveTo>
                  <a:pt x="476250" y="499616"/>
                </a:moveTo>
                <a:cubicBezTo>
                  <a:pt x="501253" y="501848"/>
                  <a:pt x="526703" y="498574"/>
                  <a:pt x="550664" y="489496"/>
                </a:cubicBezTo>
                <a:lnTo>
                  <a:pt x="571500" y="481757"/>
                </a:lnTo>
                <a:lnTo>
                  <a:pt x="571500" y="375047"/>
                </a:lnTo>
                <a:lnTo>
                  <a:pt x="559743" y="377726"/>
                </a:lnTo>
                <a:cubicBezTo>
                  <a:pt x="532358" y="384125"/>
                  <a:pt x="504230" y="386209"/>
                  <a:pt x="476250" y="384423"/>
                </a:cubicBezTo>
                <a:lnTo>
                  <a:pt x="476250" y="499616"/>
                </a:lnTo>
                <a:close/>
                <a:moveTo>
                  <a:pt x="571500" y="277267"/>
                </a:moveTo>
                <a:lnTo>
                  <a:pt x="571500" y="171896"/>
                </a:lnTo>
                <a:cubicBezTo>
                  <a:pt x="540395" y="180975"/>
                  <a:pt x="508397" y="185440"/>
                  <a:pt x="476250" y="185440"/>
                </a:cubicBezTo>
                <a:lnTo>
                  <a:pt x="476250" y="288727"/>
                </a:lnTo>
                <a:cubicBezTo>
                  <a:pt x="496937" y="290810"/>
                  <a:pt x="517922" y="289471"/>
                  <a:pt x="538311" y="284857"/>
                </a:cubicBezTo>
                <a:lnTo>
                  <a:pt x="571500" y="277118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2235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Nueva Estrategia 2025-2028: Un Cambio de Época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8956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primera planificación bajo la Ley 3/2023, focalizada en asegurar el ejercicio efectivo de los derechos de los usuarios.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810000"/>
            <a:ext cx="9753600" cy="2032000"/>
          </a:xfrm>
          <a:custGeom>
            <a:avLst/>
            <a:gdLst/>
            <a:ahLst/>
            <a:cxnLst/>
            <a:rect l="l" t="t" r="r" b="b"/>
            <a:pathLst>
              <a:path w="9753600" h="2032000">
                <a:moveTo>
                  <a:pt x="152400" y="0"/>
                </a:moveTo>
                <a:lnTo>
                  <a:pt x="9601200" y="0"/>
                </a:lnTo>
                <a:cubicBezTo>
                  <a:pt x="9685312" y="0"/>
                  <a:pt x="9753600" y="68288"/>
                  <a:pt x="9753600" y="152400"/>
                </a:cubicBezTo>
                <a:lnTo>
                  <a:pt x="9753600" y="1879600"/>
                </a:lnTo>
                <a:cubicBezTo>
                  <a:pt x="9753600" y="1963712"/>
                  <a:pt x="9685312" y="2032000"/>
                  <a:pt x="9601200" y="2032000"/>
                </a:cubicBezTo>
                <a:lnTo>
                  <a:pt x="152400" y="2032000"/>
                </a:lnTo>
                <a:cubicBezTo>
                  <a:pt x="68288" y="2032000"/>
                  <a:pt x="0" y="1963712"/>
                  <a:pt x="0" y="187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04800" y="4114800"/>
            <a:ext cx="965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Ocho Objetivos Estratégicos en Siete Ejes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800" y="4622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Estrategia se estructura en torno a ejes de actuación clave: </a:t>
            </a:r>
            <a:r>
              <a:rPr lang="en-US" sz="16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orientación, formación, oportunidades de empleo, discapacidad, igualdad, emprendimiento y mejora institucional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con una evaluación permanente como pilar fundamental.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tc.usf.edu/7fa653e90831094eae778f97e635b301a62a2cee.gif"/>
          <p:cNvPicPr>
            <a:picLocks noChangeAspect="1"/>
          </p:cNvPicPr>
          <p:nvPr/>
        </p:nvPicPr>
        <p:blipFill>
          <a:blip r:embed="rId3"/>
          <a:srcRect t="17383" b="17383"/>
          <a:stretch/>
        </p:blipFill>
        <p:spPr>
          <a:xfrm>
            <a:off x="1549400" y="1803400"/>
            <a:ext cx="3251200" cy="3251200"/>
          </a:xfrm>
          <a:prstGeom prst="roundRect">
            <a:avLst>
              <a:gd name="adj" fmla="val 3125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54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Pilar Fundamental: La Cartera Común de Servicios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1371600"/>
            <a:ext cx="5435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Real Decreto 438/2024 transforma las PAE en </a:t>
            </a:r>
            <a:r>
              <a:rPr lang="en-US" sz="16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derechos subjetivos exigibles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garantizando un acompañamiento profesional a lo largo de toda la vida laboral.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02400" y="2794000"/>
            <a:ext cx="5435600" cy="546100"/>
          </a:xfrm>
          <a:custGeom>
            <a:avLst/>
            <a:gdLst/>
            <a:ahLst/>
            <a:cxnLst/>
            <a:rect l="l" t="t" r="r" b="b"/>
            <a:pathLst>
              <a:path w="5435600" h="5461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444498"/>
                </a:lnTo>
                <a:cubicBezTo>
                  <a:pt x="5435600" y="500611"/>
                  <a:pt x="5390111" y="546100"/>
                  <a:pt x="53339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6705600" y="289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82582" y="193536"/>
                </a:moveTo>
                <a:lnTo>
                  <a:pt x="96679" y="226576"/>
                </a:lnTo>
                <a:cubicBezTo>
                  <a:pt x="85130" y="231041"/>
                  <a:pt x="73759" y="219670"/>
                  <a:pt x="78224" y="208121"/>
                </a:cubicBezTo>
                <a:lnTo>
                  <a:pt x="111264" y="122218"/>
                </a:lnTo>
                <a:cubicBezTo>
                  <a:pt x="113228" y="117157"/>
                  <a:pt x="117157" y="113228"/>
                  <a:pt x="122218" y="111264"/>
                </a:cubicBezTo>
                <a:lnTo>
                  <a:pt x="208121" y="78224"/>
                </a:lnTo>
                <a:cubicBezTo>
                  <a:pt x="219670" y="73759"/>
                  <a:pt x="231041" y="85130"/>
                  <a:pt x="226576" y="96679"/>
                </a:cubicBezTo>
                <a:lnTo>
                  <a:pt x="193536" y="182582"/>
                </a:lnTo>
                <a:cubicBezTo>
                  <a:pt x="191631" y="187643"/>
                  <a:pt x="187643" y="191572"/>
                  <a:pt x="182582" y="193536"/>
                </a:cubicBezTo>
                <a:close/>
                <a:moveTo>
                  <a:pt x="171450" y="152400"/>
                </a:moveTo>
                <a:cubicBezTo>
                  <a:pt x="171450" y="141886"/>
                  <a:pt x="162914" y="133350"/>
                  <a:pt x="152400" y="133350"/>
                </a:cubicBezTo>
                <a:cubicBezTo>
                  <a:pt x="141886" y="133350"/>
                  <a:pt x="133350" y="141886"/>
                  <a:pt x="133350" y="152400"/>
                </a:cubicBezTo>
                <a:cubicBezTo>
                  <a:pt x="133350" y="162914"/>
                  <a:pt x="141886" y="171450"/>
                  <a:pt x="152400" y="171450"/>
                </a:cubicBezTo>
                <a:cubicBezTo>
                  <a:pt x="162914" y="171450"/>
                  <a:pt x="171450" y="162914"/>
                  <a:pt x="171450" y="15240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112000" y="2915927"/>
            <a:ext cx="347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Orientación y Asesoramiento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02400" y="3495042"/>
            <a:ext cx="5435600" cy="546100"/>
          </a:xfrm>
          <a:custGeom>
            <a:avLst/>
            <a:gdLst/>
            <a:ahLst/>
            <a:cxnLst/>
            <a:rect l="l" t="t" r="r" b="b"/>
            <a:pathLst>
              <a:path w="5435600" h="5461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444498"/>
                </a:lnTo>
                <a:cubicBezTo>
                  <a:pt x="5435600" y="500611"/>
                  <a:pt x="5390111" y="546100"/>
                  <a:pt x="53339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6667500" y="3596642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76200" y="57150"/>
                </a:moveTo>
                <a:cubicBezTo>
                  <a:pt x="76200" y="36135"/>
                  <a:pt x="93285" y="19050"/>
                  <a:pt x="114300" y="19050"/>
                </a:cubicBezTo>
                <a:lnTo>
                  <a:pt x="323850" y="19050"/>
                </a:lnTo>
                <a:cubicBezTo>
                  <a:pt x="344865" y="19050"/>
                  <a:pt x="361950" y="36135"/>
                  <a:pt x="361950" y="57150"/>
                </a:cubicBezTo>
                <a:lnTo>
                  <a:pt x="361950" y="200025"/>
                </a:lnTo>
                <a:lnTo>
                  <a:pt x="304800" y="200025"/>
                </a:lnTo>
                <a:lnTo>
                  <a:pt x="304800" y="190500"/>
                </a:lnTo>
                <a:cubicBezTo>
                  <a:pt x="304800" y="179963"/>
                  <a:pt x="296287" y="171450"/>
                  <a:pt x="285750" y="171450"/>
                </a:cubicBezTo>
                <a:lnTo>
                  <a:pt x="247650" y="171450"/>
                </a:lnTo>
                <a:cubicBezTo>
                  <a:pt x="237113" y="171450"/>
                  <a:pt x="228600" y="179963"/>
                  <a:pt x="228600" y="190500"/>
                </a:cubicBezTo>
                <a:lnTo>
                  <a:pt x="228600" y="200025"/>
                </a:lnTo>
                <a:lnTo>
                  <a:pt x="151745" y="200025"/>
                </a:lnTo>
                <a:cubicBezTo>
                  <a:pt x="158234" y="188833"/>
                  <a:pt x="161925" y="175796"/>
                  <a:pt x="161925" y="161925"/>
                </a:cubicBezTo>
                <a:cubicBezTo>
                  <a:pt x="161925" y="119836"/>
                  <a:pt x="127814" y="85725"/>
                  <a:pt x="85725" y="85725"/>
                </a:cubicBezTo>
                <a:cubicBezTo>
                  <a:pt x="82510" y="85725"/>
                  <a:pt x="79296" y="85904"/>
                  <a:pt x="76200" y="86320"/>
                </a:cubicBezTo>
                <a:lnTo>
                  <a:pt x="76200" y="57150"/>
                </a:lnTo>
                <a:close/>
                <a:moveTo>
                  <a:pt x="198239" y="266700"/>
                </a:moveTo>
                <a:cubicBezTo>
                  <a:pt x="195203" y="252293"/>
                  <a:pt x="188535" y="239256"/>
                  <a:pt x="179130" y="228600"/>
                </a:cubicBezTo>
                <a:lnTo>
                  <a:pt x="361950" y="228600"/>
                </a:lnTo>
                <a:cubicBezTo>
                  <a:pt x="361950" y="249615"/>
                  <a:pt x="344865" y="266700"/>
                  <a:pt x="323850" y="266700"/>
                </a:cubicBezTo>
                <a:lnTo>
                  <a:pt x="198239" y="266700"/>
                </a:lnTo>
                <a:close/>
                <a:moveTo>
                  <a:pt x="38100" y="161925"/>
                </a:moveTo>
                <a:cubicBezTo>
                  <a:pt x="38100" y="135640"/>
                  <a:pt x="59440" y="114300"/>
                  <a:pt x="85725" y="114300"/>
                </a:cubicBezTo>
                <a:cubicBezTo>
                  <a:pt x="112010" y="114300"/>
                  <a:pt x="133350" y="135640"/>
                  <a:pt x="133350" y="161925"/>
                </a:cubicBezTo>
                <a:cubicBezTo>
                  <a:pt x="133350" y="188210"/>
                  <a:pt x="112010" y="209550"/>
                  <a:pt x="85725" y="209550"/>
                </a:cubicBezTo>
                <a:cubicBezTo>
                  <a:pt x="59440" y="209550"/>
                  <a:pt x="38100" y="188210"/>
                  <a:pt x="38100" y="161925"/>
                </a:cubicBezTo>
                <a:close/>
                <a:moveTo>
                  <a:pt x="0" y="285750"/>
                </a:moveTo>
                <a:cubicBezTo>
                  <a:pt x="0" y="254198"/>
                  <a:pt x="25598" y="228600"/>
                  <a:pt x="57150" y="228600"/>
                </a:cubicBezTo>
                <a:lnTo>
                  <a:pt x="114300" y="228600"/>
                </a:lnTo>
                <a:cubicBezTo>
                  <a:pt x="145852" y="228600"/>
                  <a:pt x="171450" y="254198"/>
                  <a:pt x="171450" y="285750"/>
                </a:cubicBezTo>
                <a:cubicBezTo>
                  <a:pt x="171450" y="296287"/>
                  <a:pt x="162937" y="304800"/>
                  <a:pt x="152400" y="304800"/>
                </a:cubicBezTo>
                <a:lnTo>
                  <a:pt x="19050" y="304800"/>
                </a:lnTo>
                <a:cubicBezTo>
                  <a:pt x="8513" y="304800"/>
                  <a:pt x="0" y="296287"/>
                  <a:pt x="0" y="28575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112000" y="3616958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y Cualificación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02400" y="4196085"/>
            <a:ext cx="5435600" cy="546100"/>
          </a:xfrm>
          <a:custGeom>
            <a:avLst/>
            <a:gdLst/>
            <a:ahLst/>
            <a:cxnLst/>
            <a:rect l="l" t="t" r="r" b="b"/>
            <a:pathLst>
              <a:path w="5435600" h="5461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444498"/>
                </a:lnTo>
                <a:cubicBezTo>
                  <a:pt x="5435600" y="500611"/>
                  <a:pt x="5390111" y="546100"/>
                  <a:pt x="53339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686550" y="429768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60080" y="50721"/>
                </a:moveTo>
                <a:lnTo>
                  <a:pt x="90666" y="127873"/>
                </a:lnTo>
                <a:cubicBezTo>
                  <a:pt x="87928" y="130909"/>
                  <a:pt x="88047" y="135612"/>
                  <a:pt x="90964" y="138529"/>
                </a:cubicBezTo>
                <a:cubicBezTo>
                  <a:pt x="109121" y="156686"/>
                  <a:pt x="138589" y="156686"/>
                  <a:pt x="156746" y="138529"/>
                </a:cubicBezTo>
                <a:lnTo>
                  <a:pt x="175677" y="119598"/>
                </a:lnTo>
                <a:cubicBezTo>
                  <a:pt x="178177" y="117098"/>
                  <a:pt x="181332" y="115729"/>
                  <a:pt x="184547" y="115491"/>
                </a:cubicBezTo>
                <a:cubicBezTo>
                  <a:pt x="188595" y="115133"/>
                  <a:pt x="192762" y="116503"/>
                  <a:pt x="195858" y="119598"/>
                </a:cubicBezTo>
                <a:lnTo>
                  <a:pt x="300990" y="223838"/>
                </a:lnTo>
                <a:lnTo>
                  <a:pt x="342900" y="190500"/>
                </a:lnTo>
                <a:lnTo>
                  <a:pt x="342900" y="19050"/>
                </a:lnTo>
                <a:lnTo>
                  <a:pt x="276225" y="57150"/>
                </a:lnTo>
                <a:lnTo>
                  <a:pt x="262057" y="47685"/>
                </a:lnTo>
                <a:cubicBezTo>
                  <a:pt x="252651" y="41434"/>
                  <a:pt x="241637" y="38100"/>
                  <a:pt x="230326" y="38100"/>
                </a:cubicBezTo>
                <a:lnTo>
                  <a:pt x="188416" y="38100"/>
                </a:lnTo>
                <a:cubicBezTo>
                  <a:pt x="187762" y="38100"/>
                  <a:pt x="187047" y="38100"/>
                  <a:pt x="186392" y="38160"/>
                </a:cubicBezTo>
                <a:cubicBezTo>
                  <a:pt x="176332" y="38695"/>
                  <a:pt x="166866" y="43220"/>
                  <a:pt x="160080" y="50721"/>
                </a:cubicBezTo>
                <a:close/>
                <a:moveTo>
                  <a:pt x="69413" y="108764"/>
                </a:moveTo>
                <a:lnTo>
                  <a:pt x="132993" y="38100"/>
                </a:lnTo>
                <a:lnTo>
                  <a:pt x="109418" y="38100"/>
                </a:lnTo>
                <a:cubicBezTo>
                  <a:pt x="94238" y="38100"/>
                  <a:pt x="79712" y="44113"/>
                  <a:pt x="68997" y="54828"/>
                </a:cubicBezTo>
                <a:lnTo>
                  <a:pt x="66675" y="57150"/>
                </a:lnTo>
                <a:lnTo>
                  <a:pt x="0" y="19050"/>
                </a:lnTo>
                <a:lnTo>
                  <a:pt x="0" y="190500"/>
                </a:lnTo>
                <a:lnTo>
                  <a:pt x="93107" y="268069"/>
                </a:lnTo>
                <a:cubicBezTo>
                  <a:pt x="106799" y="279499"/>
                  <a:pt x="124063" y="285750"/>
                  <a:pt x="141863" y="285750"/>
                </a:cubicBezTo>
                <a:lnTo>
                  <a:pt x="151209" y="285750"/>
                </a:lnTo>
                <a:lnTo>
                  <a:pt x="147042" y="281583"/>
                </a:lnTo>
                <a:cubicBezTo>
                  <a:pt x="141446" y="275987"/>
                  <a:pt x="141446" y="266938"/>
                  <a:pt x="147042" y="261402"/>
                </a:cubicBezTo>
                <a:cubicBezTo>
                  <a:pt x="152638" y="255865"/>
                  <a:pt x="161687" y="255806"/>
                  <a:pt x="167223" y="261402"/>
                </a:cubicBezTo>
                <a:lnTo>
                  <a:pt x="191631" y="285810"/>
                </a:lnTo>
                <a:lnTo>
                  <a:pt x="196989" y="285810"/>
                </a:lnTo>
                <a:cubicBezTo>
                  <a:pt x="208359" y="285810"/>
                  <a:pt x="219492" y="283250"/>
                  <a:pt x="229612" y="278487"/>
                </a:cubicBezTo>
                <a:lnTo>
                  <a:pt x="213717" y="262533"/>
                </a:lnTo>
                <a:cubicBezTo>
                  <a:pt x="208121" y="256937"/>
                  <a:pt x="208121" y="247888"/>
                  <a:pt x="213717" y="242352"/>
                </a:cubicBezTo>
                <a:cubicBezTo>
                  <a:pt x="219313" y="236815"/>
                  <a:pt x="228362" y="236756"/>
                  <a:pt x="233898" y="242352"/>
                </a:cubicBezTo>
                <a:lnTo>
                  <a:pt x="252948" y="261402"/>
                </a:lnTo>
                <a:lnTo>
                  <a:pt x="263366" y="250984"/>
                </a:lnTo>
                <a:cubicBezTo>
                  <a:pt x="268665" y="245685"/>
                  <a:pt x="270212" y="238006"/>
                  <a:pt x="267891" y="231279"/>
                </a:cubicBezTo>
                <a:lnTo>
                  <a:pt x="185797" y="149840"/>
                </a:lnTo>
                <a:lnTo>
                  <a:pt x="176927" y="158710"/>
                </a:lnTo>
                <a:cubicBezTo>
                  <a:pt x="147578" y="188059"/>
                  <a:pt x="100072" y="188059"/>
                  <a:pt x="70723" y="158710"/>
                </a:cubicBezTo>
                <a:cubicBezTo>
                  <a:pt x="57031" y="145018"/>
                  <a:pt x="56495" y="123051"/>
                  <a:pt x="69413" y="108704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112000" y="4318000"/>
            <a:ext cx="341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Intermediación y Colocación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73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Permanente y Mejora Continua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1336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Estrategia 2025-2028 instaura un nuevo paradigma de gestión basado en la evidencia.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8845" y="314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5300" y="247650"/>
                </a:moveTo>
                <a:cubicBezTo>
                  <a:pt x="495300" y="302300"/>
                  <a:pt x="477560" y="352782"/>
                  <a:pt x="447675" y="393740"/>
                </a:cubicBezTo>
                <a:lnTo>
                  <a:pt x="598408" y="544592"/>
                </a:lnTo>
                <a:cubicBezTo>
                  <a:pt x="613291" y="559475"/>
                  <a:pt x="613291" y="583644"/>
                  <a:pt x="598408" y="598527"/>
                </a:cubicBezTo>
                <a:cubicBezTo>
                  <a:pt x="583525" y="613410"/>
                  <a:pt x="559356" y="613410"/>
                  <a:pt x="544473" y="598527"/>
                </a:cubicBezTo>
                <a:lnTo>
                  <a:pt x="393740" y="447675"/>
                </a:lnTo>
                <a:cubicBezTo>
                  <a:pt x="352782" y="477560"/>
                  <a:pt x="302300" y="495300"/>
                  <a:pt x="247650" y="495300"/>
                </a:cubicBezTo>
                <a:cubicBezTo>
                  <a:pt x="110847" y="495300"/>
                  <a:pt x="0" y="384453"/>
                  <a:pt x="0" y="247650"/>
                </a:cubicBezTo>
                <a:cubicBezTo>
                  <a:pt x="0" y="110847"/>
                  <a:pt x="110847" y="0"/>
                  <a:pt x="247650" y="0"/>
                </a:cubicBezTo>
                <a:cubicBezTo>
                  <a:pt x="384453" y="0"/>
                  <a:pt x="495300" y="110847"/>
                  <a:pt x="495300" y="247650"/>
                </a:cubicBezTo>
                <a:close/>
                <a:moveTo>
                  <a:pt x="247650" y="133350"/>
                </a:moveTo>
                <a:cubicBezTo>
                  <a:pt x="231815" y="133350"/>
                  <a:pt x="219075" y="146090"/>
                  <a:pt x="219075" y="161925"/>
                </a:cubicBezTo>
                <a:lnTo>
                  <a:pt x="219075" y="219075"/>
                </a:lnTo>
                <a:lnTo>
                  <a:pt x="161925" y="219075"/>
                </a:lnTo>
                <a:cubicBezTo>
                  <a:pt x="146090" y="219075"/>
                  <a:pt x="133350" y="231815"/>
                  <a:pt x="133350" y="247650"/>
                </a:cubicBezTo>
                <a:cubicBezTo>
                  <a:pt x="133350" y="263485"/>
                  <a:pt x="146090" y="276225"/>
                  <a:pt x="161925" y="276225"/>
                </a:cubicBezTo>
                <a:lnTo>
                  <a:pt x="219075" y="276225"/>
                </a:lnTo>
                <a:lnTo>
                  <a:pt x="219075" y="333375"/>
                </a:lnTo>
                <a:cubicBezTo>
                  <a:pt x="219075" y="349210"/>
                  <a:pt x="231815" y="361950"/>
                  <a:pt x="247650" y="361950"/>
                </a:cubicBezTo>
                <a:cubicBezTo>
                  <a:pt x="263485" y="361950"/>
                  <a:pt x="276225" y="349210"/>
                  <a:pt x="276225" y="333375"/>
                </a:cubicBezTo>
                <a:lnTo>
                  <a:pt x="276225" y="276225"/>
                </a:lnTo>
                <a:lnTo>
                  <a:pt x="333375" y="276225"/>
                </a:lnTo>
                <a:cubicBezTo>
                  <a:pt x="349210" y="276225"/>
                  <a:pt x="361950" y="263485"/>
                  <a:pt x="361950" y="247650"/>
                </a:cubicBezTo>
                <a:cubicBezTo>
                  <a:pt x="361950" y="231815"/>
                  <a:pt x="349210" y="219075"/>
                  <a:pt x="333375" y="219075"/>
                </a:cubicBezTo>
                <a:lnTo>
                  <a:pt x="276225" y="219075"/>
                </a:lnTo>
                <a:lnTo>
                  <a:pt x="276225" y="161925"/>
                </a:lnTo>
                <a:cubicBezTo>
                  <a:pt x="276225" y="146090"/>
                  <a:pt x="263485" y="133350"/>
                  <a:pt x="247650" y="133350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0045" y="4165600"/>
            <a:ext cx="307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Previa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0045" y="447040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políticas anteriores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05091" y="3530600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11140" y="31496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828540" y="4165600"/>
            <a:ext cx="269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Seguimiento Anual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8540" y="4470400"/>
            <a:ext cx="269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 de resultados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92428" y="3530600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50877" y="31496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348734" y="457200"/>
                </a:moveTo>
                <a:cubicBezTo>
                  <a:pt x="357426" y="430649"/>
                  <a:pt x="374809" y="406598"/>
                  <a:pt x="394454" y="385882"/>
                </a:cubicBezTo>
                <a:cubicBezTo>
                  <a:pt x="433387" y="344924"/>
                  <a:pt x="457200" y="289560"/>
                  <a:pt x="457200" y="228600"/>
                </a:cubicBezTo>
                <a:cubicBezTo>
                  <a:pt x="457200" y="102394"/>
                  <a:pt x="354806" y="0"/>
                  <a:pt x="228600" y="0"/>
                </a:cubicBezTo>
                <a:cubicBezTo>
                  <a:pt x="102394" y="0"/>
                  <a:pt x="0" y="102394"/>
                  <a:pt x="0" y="228600"/>
                </a:cubicBezTo>
                <a:cubicBezTo>
                  <a:pt x="0" y="289560"/>
                  <a:pt x="23813" y="344924"/>
                  <a:pt x="62746" y="385882"/>
                </a:cubicBezTo>
                <a:cubicBezTo>
                  <a:pt x="82391" y="406598"/>
                  <a:pt x="99893" y="430649"/>
                  <a:pt x="108466" y="457200"/>
                </a:cubicBezTo>
                <a:lnTo>
                  <a:pt x="348615" y="457200"/>
                </a:lnTo>
                <a:close/>
                <a:moveTo>
                  <a:pt x="342900" y="514350"/>
                </a:moveTo>
                <a:lnTo>
                  <a:pt x="114300" y="514350"/>
                </a:lnTo>
                <a:lnTo>
                  <a:pt x="114300" y="533400"/>
                </a:lnTo>
                <a:cubicBezTo>
                  <a:pt x="114300" y="586026"/>
                  <a:pt x="156924" y="628650"/>
                  <a:pt x="209550" y="628650"/>
                </a:cubicBezTo>
                <a:lnTo>
                  <a:pt x="247650" y="628650"/>
                </a:lnTo>
                <a:cubicBezTo>
                  <a:pt x="300276" y="628650"/>
                  <a:pt x="342900" y="586026"/>
                  <a:pt x="342900" y="533400"/>
                </a:cubicBezTo>
                <a:lnTo>
                  <a:pt x="342900" y="514350"/>
                </a:lnTo>
                <a:close/>
                <a:moveTo>
                  <a:pt x="219075" y="133350"/>
                </a:moveTo>
                <a:cubicBezTo>
                  <a:pt x="171688" y="133350"/>
                  <a:pt x="133350" y="171688"/>
                  <a:pt x="133350" y="219075"/>
                </a:cubicBezTo>
                <a:cubicBezTo>
                  <a:pt x="133350" y="234910"/>
                  <a:pt x="120610" y="247650"/>
                  <a:pt x="104775" y="247650"/>
                </a:cubicBezTo>
                <a:cubicBezTo>
                  <a:pt x="88940" y="247650"/>
                  <a:pt x="76200" y="234910"/>
                  <a:pt x="76200" y="219075"/>
                </a:cubicBezTo>
                <a:cubicBezTo>
                  <a:pt x="76200" y="140137"/>
                  <a:pt x="140137" y="76200"/>
                  <a:pt x="219075" y="76200"/>
                </a:cubicBezTo>
                <a:cubicBezTo>
                  <a:pt x="234910" y="76200"/>
                  <a:pt x="247650" y="88940"/>
                  <a:pt x="247650" y="104775"/>
                </a:cubicBezTo>
                <a:cubicBezTo>
                  <a:pt x="247650" y="120610"/>
                  <a:pt x="234910" y="133350"/>
                  <a:pt x="219075" y="133350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915877" y="416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y Ajuste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15877" y="44704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 continua del sistema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000" y="5130800"/>
            <a:ext cx="1168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Vinculación con la futura </a:t>
            </a:r>
            <a:r>
              <a:rPr lang="en-US" sz="1400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Agencia Estatal de Evaluación de Políticas Públicas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764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Financiación Plural y Sostenible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7940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mix de fuentes de financiación que permite una mayor capacidad de acción y adaptación a las necesidades regionales.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4013200"/>
            <a:ext cx="2692400" cy="508000"/>
          </a:xfrm>
          <a:custGeom>
            <a:avLst/>
            <a:gdLst/>
            <a:ahLst/>
            <a:cxnLst/>
            <a:rect l="l" t="t" r="r" b="b"/>
            <a:pathLst>
              <a:path w="2692400" h="508000">
                <a:moveTo>
                  <a:pt x="101600" y="0"/>
                </a:moveTo>
                <a:lnTo>
                  <a:pt x="2590800" y="0"/>
                </a:lnTo>
                <a:cubicBezTo>
                  <a:pt x="2646875" y="0"/>
                  <a:pt x="2692400" y="45525"/>
                  <a:pt x="2692400" y="101600"/>
                </a:cubicBezTo>
                <a:lnTo>
                  <a:pt x="2692400" y="406400"/>
                </a:lnTo>
                <a:cubicBezTo>
                  <a:pt x="2692400" y="462475"/>
                  <a:pt x="2646875" y="508000"/>
                  <a:pt x="25908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416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94734" y="2024"/>
                </a:moveTo>
                <a:cubicBezTo>
                  <a:pt x="98901" y="-675"/>
                  <a:pt x="104299" y="-675"/>
                  <a:pt x="108466" y="2024"/>
                </a:cubicBezTo>
                <a:lnTo>
                  <a:pt x="197366" y="59174"/>
                </a:lnTo>
                <a:cubicBezTo>
                  <a:pt x="202089" y="62230"/>
                  <a:pt x="204272" y="68024"/>
                  <a:pt x="202684" y="73422"/>
                </a:cubicBezTo>
                <a:cubicBezTo>
                  <a:pt x="201097" y="78819"/>
                  <a:pt x="196136" y="82550"/>
                  <a:pt x="190500" y="82550"/>
                </a:cubicBezTo>
                <a:lnTo>
                  <a:pt x="177800" y="82550"/>
                </a:lnTo>
                <a:lnTo>
                  <a:pt x="177800" y="165100"/>
                </a:lnTo>
                <a:lnTo>
                  <a:pt x="198120" y="180340"/>
                </a:lnTo>
                <a:cubicBezTo>
                  <a:pt x="201335" y="182721"/>
                  <a:pt x="203200" y="186492"/>
                  <a:pt x="203200" y="190500"/>
                </a:cubicBezTo>
                <a:cubicBezTo>
                  <a:pt x="203200" y="197525"/>
                  <a:pt x="197525" y="203200"/>
                  <a:pt x="190500" y="203200"/>
                </a:cubicBezTo>
                <a:lnTo>
                  <a:pt x="12700" y="203200"/>
                </a:lnTo>
                <a:cubicBezTo>
                  <a:pt x="5675" y="203200"/>
                  <a:pt x="0" y="197525"/>
                  <a:pt x="0" y="190500"/>
                </a:cubicBezTo>
                <a:cubicBezTo>
                  <a:pt x="0" y="186492"/>
                  <a:pt x="1865" y="182721"/>
                  <a:pt x="5080" y="180340"/>
                </a:cubicBezTo>
                <a:lnTo>
                  <a:pt x="25400" y="165100"/>
                </a:lnTo>
                <a:lnTo>
                  <a:pt x="25400" y="165100"/>
                </a:lnTo>
                <a:lnTo>
                  <a:pt x="25400" y="82550"/>
                </a:lnTo>
                <a:lnTo>
                  <a:pt x="12700" y="82550"/>
                </a:lnTo>
                <a:cubicBezTo>
                  <a:pt x="7064" y="82550"/>
                  <a:pt x="2103" y="78819"/>
                  <a:pt x="516" y="73422"/>
                </a:cubicBezTo>
                <a:cubicBezTo>
                  <a:pt x="-1072" y="68024"/>
                  <a:pt x="1111" y="62190"/>
                  <a:pt x="5834" y="59174"/>
                </a:cubicBezTo>
                <a:lnTo>
                  <a:pt x="94734" y="2024"/>
                </a:lnTo>
                <a:close/>
                <a:moveTo>
                  <a:pt x="133350" y="82550"/>
                </a:moveTo>
                <a:lnTo>
                  <a:pt x="133350" y="165100"/>
                </a:lnTo>
                <a:lnTo>
                  <a:pt x="158750" y="165100"/>
                </a:lnTo>
                <a:lnTo>
                  <a:pt x="158750" y="82550"/>
                </a:lnTo>
                <a:lnTo>
                  <a:pt x="133350" y="82550"/>
                </a:lnTo>
                <a:close/>
                <a:moveTo>
                  <a:pt x="88900" y="165100"/>
                </a:moveTo>
                <a:lnTo>
                  <a:pt x="114300" y="165100"/>
                </a:lnTo>
                <a:lnTo>
                  <a:pt x="114300" y="82550"/>
                </a:lnTo>
                <a:lnTo>
                  <a:pt x="88900" y="82550"/>
                </a:lnTo>
                <a:lnTo>
                  <a:pt x="88900" y="165100"/>
                </a:lnTo>
                <a:close/>
                <a:moveTo>
                  <a:pt x="44450" y="82550"/>
                </a:moveTo>
                <a:lnTo>
                  <a:pt x="44450" y="165100"/>
                </a:lnTo>
                <a:lnTo>
                  <a:pt x="69850" y="165100"/>
                </a:lnTo>
                <a:lnTo>
                  <a:pt x="69850" y="82550"/>
                </a:lnTo>
                <a:lnTo>
                  <a:pt x="44450" y="82550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62000" y="4140200"/>
            <a:ext cx="86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98800" y="4013200"/>
            <a:ext cx="2692400" cy="508000"/>
          </a:xfrm>
          <a:custGeom>
            <a:avLst/>
            <a:gdLst/>
            <a:ahLst/>
            <a:cxnLst/>
            <a:rect l="l" t="t" r="r" b="b"/>
            <a:pathLst>
              <a:path w="2692400" h="508000">
                <a:moveTo>
                  <a:pt x="101600" y="0"/>
                </a:moveTo>
                <a:lnTo>
                  <a:pt x="2590800" y="0"/>
                </a:lnTo>
                <a:cubicBezTo>
                  <a:pt x="2646875" y="0"/>
                  <a:pt x="2692400" y="45525"/>
                  <a:pt x="2692400" y="101600"/>
                </a:cubicBezTo>
                <a:lnTo>
                  <a:pt x="2692400" y="406400"/>
                </a:lnTo>
                <a:cubicBezTo>
                  <a:pt x="2692400" y="462475"/>
                  <a:pt x="2646875" y="508000"/>
                  <a:pt x="25908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302000" y="416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0800" y="38100"/>
                </a:moveTo>
                <a:lnTo>
                  <a:pt x="50800" y="31750"/>
                </a:lnTo>
                <a:cubicBezTo>
                  <a:pt x="50800" y="14208"/>
                  <a:pt x="84931" y="0"/>
                  <a:pt x="127000" y="0"/>
                </a:cubicBezTo>
                <a:cubicBezTo>
                  <a:pt x="169069" y="0"/>
                  <a:pt x="203200" y="14208"/>
                  <a:pt x="203200" y="31750"/>
                </a:cubicBezTo>
                <a:lnTo>
                  <a:pt x="203200" y="38100"/>
                </a:lnTo>
                <a:cubicBezTo>
                  <a:pt x="203200" y="50244"/>
                  <a:pt x="186809" y="60801"/>
                  <a:pt x="162719" y="66159"/>
                </a:cubicBezTo>
                <a:cubicBezTo>
                  <a:pt x="161766" y="65048"/>
                  <a:pt x="160774" y="63976"/>
                  <a:pt x="159782" y="62984"/>
                </a:cubicBezTo>
                <a:cubicBezTo>
                  <a:pt x="153630" y="56912"/>
                  <a:pt x="145693" y="52308"/>
                  <a:pt x="137398" y="48895"/>
                </a:cubicBezTo>
                <a:cubicBezTo>
                  <a:pt x="120769" y="41950"/>
                  <a:pt x="99100" y="38140"/>
                  <a:pt x="76200" y="38140"/>
                </a:cubicBezTo>
                <a:cubicBezTo>
                  <a:pt x="67508" y="38140"/>
                  <a:pt x="59015" y="38695"/>
                  <a:pt x="50879" y="39767"/>
                </a:cubicBezTo>
                <a:cubicBezTo>
                  <a:pt x="50800" y="39251"/>
                  <a:pt x="50800" y="38695"/>
                  <a:pt x="50800" y="38140"/>
                </a:cubicBezTo>
                <a:close/>
                <a:moveTo>
                  <a:pt x="171450" y="140097"/>
                </a:moveTo>
                <a:lnTo>
                  <a:pt x="171450" y="121761"/>
                </a:lnTo>
                <a:cubicBezTo>
                  <a:pt x="177443" y="120213"/>
                  <a:pt x="183078" y="118388"/>
                  <a:pt x="188198" y="116245"/>
                </a:cubicBezTo>
                <a:cubicBezTo>
                  <a:pt x="193437" y="114062"/>
                  <a:pt x="198557" y="111403"/>
                  <a:pt x="203200" y="108188"/>
                </a:cubicBezTo>
                <a:lnTo>
                  <a:pt x="203200" y="114300"/>
                </a:lnTo>
                <a:cubicBezTo>
                  <a:pt x="203200" y="124936"/>
                  <a:pt x="190698" y="134342"/>
                  <a:pt x="171450" y="140097"/>
                </a:cubicBezTo>
                <a:close/>
                <a:moveTo>
                  <a:pt x="171450" y="101997"/>
                </a:moveTo>
                <a:lnTo>
                  <a:pt x="171450" y="88900"/>
                </a:lnTo>
                <a:cubicBezTo>
                  <a:pt x="171450" y="87114"/>
                  <a:pt x="171291" y="85408"/>
                  <a:pt x="171053" y="83741"/>
                </a:cubicBezTo>
                <a:cubicBezTo>
                  <a:pt x="177205" y="82193"/>
                  <a:pt x="182959" y="80328"/>
                  <a:pt x="188198" y="78105"/>
                </a:cubicBezTo>
                <a:cubicBezTo>
                  <a:pt x="193437" y="75883"/>
                  <a:pt x="198557" y="73263"/>
                  <a:pt x="203200" y="70048"/>
                </a:cubicBezTo>
                <a:lnTo>
                  <a:pt x="203200" y="76160"/>
                </a:lnTo>
                <a:cubicBezTo>
                  <a:pt x="203200" y="86797"/>
                  <a:pt x="190698" y="96203"/>
                  <a:pt x="171450" y="101957"/>
                </a:cubicBezTo>
                <a:close/>
                <a:moveTo>
                  <a:pt x="0" y="95250"/>
                </a:moveTo>
                <a:lnTo>
                  <a:pt x="0" y="88900"/>
                </a:lnTo>
                <a:cubicBezTo>
                  <a:pt x="0" y="71358"/>
                  <a:pt x="34131" y="57150"/>
                  <a:pt x="76200" y="57150"/>
                </a:cubicBezTo>
                <a:cubicBezTo>
                  <a:pt x="118269" y="57150"/>
                  <a:pt x="152400" y="71358"/>
                  <a:pt x="152400" y="88900"/>
                </a:cubicBezTo>
                <a:lnTo>
                  <a:pt x="152400" y="95250"/>
                </a:lnTo>
                <a:cubicBezTo>
                  <a:pt x="152400" y="112792"/>
                  <a:pt x="118269" y="127000"/>
                  <a:pt x="76200" y="127000"/>
                </a:cubicBezTo>
                <a:cubicBezTo>
                  <a:pt x="34131" y="127000"/>
                  <a:pt x="0" y="112792"/>
                  <a:pt x="0" y="95250"/>
                </a:cubicBezTo>
                <a:close/>
                <a:moveTo>
                  <a:pt x="152400" y="133350"/>
                </a:moveTo>
                <a:cubicBezTo>
                  <a:pt x="152400" y="150892"/>
                  <a:pt x="118269" y="165100"/>
                  <a:pt x="76200" y="165100"/>
                </a:cubicBezTo>
                <a:cubicBezTo>
                  <a:pt x="34131" y="165100"/>
                  <a:pt x="0" y="150892"/>
                  <a:pt x="0" y="133350"/>
                </a:cubicBezTo>
                <a:lnTo>
                  <a:pt x="0" y="127238"/>
                </a:lnTo>
                <a:cubicBezTo>
                  <a:pt x="4604" y="130453"/>
                  <a:pt x="9723" y="133072"/>
                  <a:pt x="15002" y="135295"/>
                </a:cubicBezTo>
                <a:cubicBezTo>
                  <a:pt x="31631" y="142240"/>
                  <a:pt x="53300" y="146050"/>
                  <a:pt x="76200" y="146050"/>
                </a:cubicBezTo>
                <a:cubicBezTo>
                  <a:pt x="99100" y="146050"/>
                  <a:pt x="120769" y="142200"/>
                  <a:pt x="137398" y="135295"/>
                </a:cubicBezTo>
                <a:cubicBezTo>
                  <a:pt x="142637" y="133112"/>
                  <a:pt x="147757" y="130453"/>
                  <a:pt x="152400" y="127238"/>
                </a:cubicBezTo>
                <a:lnTo>
                  <a:pt x="152400" y="133350"/>
                </a:lnTo>
                <a:close/>
                <a:moveTo>
                  <a:pt x="152400" y="165338"/>
                </a:moveTo>
                <a:lnTo>
                  <a:pt x="152400" y="171450"/>
                </a:lnTo>
                <a:cubicBezTo>
                  <a:pt x="152400" y="188992"/>
                  <a:pt x="118269" y="203200"/>
                  <a:pt x="76200" y="203200"/>
                </a:cubicBezTo>
                <a:cubicBezTo>
                  <a:pt x="34131" y="203200"/>
                  <a:pt x="0" y="188992"/>
                  <a:pt x="0" y="171450"/>
                </a:cubicBezTo>
                <a:lnTo>
                  <a:pt x="0" y="165338"/>
                </a:lnTo>
                <a:cubicBezTo>
                  <a:pt x="4604" y="168553"/>
                  <a:pt x="9723" y="171172"/>
                  <a:pt x="15002" y="173395"/>
                </a:cubicBezTo>
                <a:cubicBezTo>
                  <a:pt x="31631" y="180340"/>
                  <a:pt x="53300" y="184150"/>
                  <a:pt x="76200" y="184150"/>
                </a:cubicBezTo>
                <a:cubicBezTo>
                  <a:pt x="99100" y="184150"/>
                  <a:pt x="120769" y="180300"/>
                  <a:pt x="137398" y="173395"/>
                </a:cubicBezTo>
                <a:cubicBezTo>
                  <a:pt x="142637" y="171212"/>
                  <a:pt x="147757" y="168553"/>
                  <a:pt x="152400" y="165338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06800" y="41402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Cuotas 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4673600"/>
            <a:ext cx="2692400" cy="508000"/>
          </a:xfrm>
          <a:custGeom>
            <a:avLst/>
            <a:gdLst/>
            <a:ahLst/>
            <a:cxnLst/>
            <a:rect l="l" t="t" r="r" b="b"/>
            <a:pathLst>
              <a:path w="2692400" h="508000">
                <a:moveTo>
                  <a:pt x="101600" y="0"/>
                </a:moveTo>
                <a:lnTo>
                  <a:pt x="2590800" y="0"/>
                </a:lnTo>
                <a:cubicBezTo>
                  <a:pt x="2646875" y="0"/>
                  <a:pt x="2692400" y="45525"/>
                  <a:pt x="2692400" y="101600"/>
                </a:cubicBezTo>
                <a:lnTo>
                  <a:pt x="2692400" y="406400"/>
                </a:lnTo>
                <a:cubicBezTo>
                  <a:pt x="2692400" y="462475"/>
                  <a:pt x="2646875" y="508000"/>
                  <a:pt x="25908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C200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57200" y="4826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6154" y="90686"/>
                </a:moveTo>
                <a:cubicBezTo>
                  <a:pt x="31433" y="53777"/>
                  <a:pt x="63222" y="25400"/>
                  <a:pt x="101600" y="25400"/>
                </a:cubicBezTo>
                <a:cubicBezTo>
                  <a:pt x="122634" y="25400"/>
                  <a:pt x="141684" y="33933"/>
                  <a:pt x="155496" y="47704"/>
                </a:cubicBezTo>
                <a:cubicBezTo>
                  <a:pt x="155575" y="47784"/>
                  <a:pt x="155654" y="47863"/>
                  <a:pt x="155734" y="47943"/>
                </a:cubicBezTo>
                <a:lnTo>
                  <a:pt x="158750" y="50800"/>
                </a:lnTo>
                <a:lnTo>
                  <a:pt x="139740" y="50800"/>
                </a:lnTo>
                <a:cubicBezTo>
                  <a:pt x="132715" y="50800"/>
                  <a:pt x="127040" y="56475"/>
                  <a:pt x="127040" y="63500"/>
                </a:cubicBezTo>
                <a:cubicBezTo>
                  <a:pt x="127040" y="70525"/>
                  <a:pt x="132715" y="76200"/>
                  <a:pt x="139740" y="76200"/>
                </a:cubicBezTo>
                <a:lnTo>
                  <a:pt x="190540" y="76200"/>
                </a:lnTo>
                <a:cubicBezTo>
                  <a:pt x="197564" y="76200"/>
                  <a:pt x="203240" y="70525"/>
                  <a:pt x="203240" y="63500"/>
                </a:cubicBezTo>
                <a:lnTo>
                  <a:pt x="203240" y="12700"/>
                </a:lnTo>
                <a:cubicBezTo>
                  <a:pt x="203240" y="5675"/>
                  <a:pt x="197564" y="0"/>
                  <a:pt x="190540" y="0"/>
                </a:cubicBezTo>
                <a:cubicBezTo>
                  <a:pt x="183515" y="0"/>
                  <a:pt x="177840" y="5675"/>
                  <a:pt x="177840" y="12700"/>
                </a:cubicBezTo>
                <a:lnTo>
                  <a:pt x="177840" y="33893"/>
                </a:lnTo>
                <a:lnTo>
                  <a:pt x="173355" y="29647"/>
                </a:lnTo>
                <a:cubicBezTo>
                  <a:pt x="154980" y="11351"/>
                  <a:pt x="129580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lose/>
                <a:moveTo>
                  <a:pt x="202168" y="116086"/>
                </a:moveTo>
                <a:cubicBezTo>
                  <a:pt x="203160" y="109141"/>
                  <a:pt x="198318" y="102711"/>
                  <a:pt x="191413" y="101719"/>
                </a:cubicBezTo>
                <a:cubicBezTo>
                  <a:pt x="184507" y="100727"/>
                  <a:pt x="178038" y="105569"/>
                  <a:pt x="177046" y="112474"/>
                </a:cubicBezTo>
                <a:cubicBezTo>
                  <a:pt x="171767" y="149384"/>
                  <a:pt x="139978" y="177760"/>
                  <a:pt x="101600" y="177760"/>
                </a:cubicBezTo>
                <a:cubicBezTo>
                  <a:pt x="80566" y="177760"/>
                  <a:pt x="61516" y="169228"/>
                  <a:pt x="47704" y="155456"/>
                </a:cubicBezTo>
                <a:cubicBezTo>
                  <a:pt x="47625" y="155377"/>
                  <a:pt x="47546" y="155297"/>
                  <a:pt x="47466" y="155218"/>
                </a:cubicBezTo>
                <a:lnTo>
                  <a:pt x="44450" y="152360"/>
                </a:lnTo>
                <a:lnTo>
                  <a:pt x="63460" y="152360"/>
                </a:lnTo>
                <a:cubicBezTo>
                  <a:pt x="70485" y="152360"/>
                  <a:pt x="76160" y="146685"/>
                  <a:pt x="76160" y="139660"/>
                </a:cubicBezTo>
                <a:cubicBezTo>
                  <a:pt x="76160" y="132636"/>
                  <a:pt x="70485" y="126960"/>
                  <a:pt x="63460" y="126960"/>
                </a:cubicBezTo>
                <a:lnTo>
                  <a:pt x="12700" y="127000"/>
                </a:lnTo>
                <a:cubicBezTo>
                  <a:pt x="9327" y="127000"/>
                  <a:pt x="6072" y="128349"/>
                  <a:pt x="3691" y="130770"/>
                </a:cubicBezTo>
                <a:cubicBezTo>
                  <a:pt x="1310" y="133191"/>
                  <a:pt x="-40" y="136406"/>
                  <a:pt x="0" y="139819"/>
                </a:cubicBezTo>
                <a:lnTo>
                  <a:pt x="397" y="190222"/>
                </a:lnTo>
                <a:cubicBezTo>
                  <a:pt x="437" y="197247"/>
                  <a:pt x="6191" y="202883"/>
                  <a:pt x="13216" y="202803"/>
                </a:cubicBezTo>
                <a:cubicBezTo>
                  <a:pt x="20241" y="202724"/>
                  <a:pt x="25876" y="197009"/>
                  <a:pt x="25797" y="189984"/>
                </a:cubicBezTo>
                <a:lnTo>
                  <a:pt x="25638" y="169545"/>
                </a:lnTo>
                <a:lnTo>
                  <a:pt x="29885" y="173553"/>
                </a:lnTo>
                <a:cubicBezTo>
                  <a:pt x="48260" y="191849"/>
                  <a:pt x="73620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62000" y="4800600"/>
            <a:ext cx="81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98800" y="4673600"/>
            <a:ext cx="2692400" cy="508000"/>
          </a:xfrm>
          <a:custGeom>
            <a:avLst/>
            <a:gdLst/>
            <a:ahLst/>
            <a:cxnLst/>
            <a:rect l="l" t="t" r="r" b="b"/>
            <a:pathLst>
              <a:path w="2692400" h="508000">
                <a:moveTo>
                  <a:pt x="101600" y="0"/>
                </a:moveTo>
                <a:lnTo>
                  <a:pt x="2590800" y="0"/>
                </a:lnTo>
                <a:cubicBezTo>
                  <a:pt x="2646875" y="0"/>
                  <a:pt x="2692400" y="45525"/>
                  <a:pt x="2692400" y="101600"/>
                </a:cubicBezTo>
                <a:lnTo>
                  <a:pt x="2692400" y="406400"/>
                </a:lnTo>
                <a:cubicBezTo>
                  <a:pt x="2692400" y="462475"/>
                  <a:pt x="2646875" y="508000"/>
                  <a:pt x="25908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314700" y="4826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25400" y="12700"/>
                </a:moveTo>
                <a:cubicBezTo>
                  <a:pt x="25400" y="5675"/>
                  <a:pt x="19725" y="0"/>
                  <a:pt x="12700" y="0"/>
                </a:cubicBezTo>
                <a:cubicBezTo>
                  <a:pt x="5675" y="0"/>
                  <a:pt x="0" y="5675"/>
                  <a:pt x="0" y="12700"/>
                </a:cubicBezTo>
                <a:lnTo>
                  <a:pt x="0" y="190500"/>
                </a:lnTo>
                <a:cubicBezTo>
                  <a:pt x="0" y="197525"/>
                  <a:pt x="5675" y="203200"/>
                  <a:pt x="12700" y="203200"/>
                </a:cubicBezTo>
                <a:cubicBezTo>
                  <a:pt x="19725" y="203200"/>
                  <a:pt x="25400" y="197525"/>
                  <a:pt x="25400" y="190500"/>
                </a:cubicBezTo>
                <a:lnTo>
                  <a:pt x="25400" y="142240"/>
                </a:lnTo>
                <a:lnTo>
                  <a:pt x="50284" y="134779"/>
                </a:lnTo>
                <a:cubicBezTo>
                  <a:pt x="66913" y="129778"/>
                  <a:pt x="84852" y="131326"/>
                  <a:pt x="100370" y="139105"/>
                </a:cubicBezTo>
                <a:cubicBezTo>
                  <a:pt x="117316" y="147598"/>
                  <a:pt x="137081" y="148630"/>
                  <a:pt x="154821" y="141962"/>
                </a:cubicBezTo>
                <a:lnTo>
                  <a:pt x="169545" y="136446"/>
                </a:lnTo>
                <a:cubicBezTo>
                  <a:pt x="174506" y="134580"/>
                  <a:pt x="177800" y="129857"/>
                  <a:pt x="177800" y="124539"/>
                </a:cubicBezTo>
                <a:lnTo>
                  <a:pt x="177800" y="26233"/>
                </a:lnTo>
                <a:cubicBezTo>
                  <a:pt x="177800" y="17105"/>
                  <a:pt x="168196" y="11152"/>
                  <a:pt x="160020" y="15240"/>
                </a:cubicBezTo>
                <a:lnTo>
                  <a:pt x="155337" y="17582"/>
                </a:lnTo>
                <a:cubicBezTo>
                  <a:pt x="137517" y="26511"/>
                  <a:pt x="116523" y="26511"/>
                  <a:pt x="98663" y="17582"/>
                </a:cubicBezTo>
                <a:cubicBezTo>
                  <a:pt x="84217" y="10358"/>
                  <a:pt x="67588" y="8930"/>
                  <a:pt x="52149" y="13573"/>
                </a:cubicBezTo>
                <a:lnTo>
                  <a:pt x="25400" y="21590"/>
                </a:lnTo>
                <a:lnTo>
                  <a:pt x="25400" y="12700"/>
                </a:ln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06800" y="4800600"/>
            <a:ext cx="170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Autonómicos</a:t>
            </a:r>
            <a:endParaRPr lang="en-US" sz="1600" dirty="0"/>
          </a:p>
        </p:txBody>
      </p:sp>
      <p:pic>
        <p:nvPicPr>
          <p:cNvPr id="16" name="Image 0" descr="https://kimi-web-img.moonshot.cn/img/api.time.com/2cba5b611dc31ed2542c8a7d5f415d58ff7d96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1803400"/>
            <a:ext cx="3251200" cy="3251200"/>
          </a:xfrm>
          <a:prstGeom prst="roundRect">
            <a:avLst>
              <a:gd name="adj" fmla="val 3125"/>
            </a:avLst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84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Ruta Hacia 2028: Claves para el Éxito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206500" y="3048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00AEE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543050" y="33274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91631" y="15538"/>
                </a:moveTo>
                <a:cubicBezTo>
                  <a:pt x="180469" y="4376"/>
                  <a:pt x="162342" y="4376"/>
                  <a:pt x="151180" y="15538"/>
                </a:cubicBezTo>
                <a:lnTo>
                  <a:pt x="8305" y="158413"/>
                </a:lnTo>
                <a:cubicBezTo>
                  <a:pt x="-2857" y="169575"/>
                  <a:pt x="-2857" y="187702"/>
                  <a:pt x="8305" y="198864"/>
                </a:cubicBezTo>
                <a:cubicBezTo>
                  <a:pt x="19467" y="210026"/>
                  <a:pt x="37594" y="210026"/>
                  <a:pt x="48756" y="198864"/>
                </a:cubicBezTo>
                <a:lnTo>
                  <a:pt x="142875" y="104745"/>
                </a:lnTo>
                <a:lnTo>
                  <a:pt x="142875" y="435769"/>
                </a:lnTo>
                <a:cubicBezTo>
                  <a:pt x="142875" y="451574"/>
                  <a:pt x="155644" y="464344"/>
                  <a:pt x="171450" y="464344"/>
                </a:cubicBezTo>
                <a:cubicBezTo>
                  <a:pt x="187256" y="464344"/>
                  <a:pt x="200025" y="451574"/>
                  <a:pt x="200025" y="435769"/>
                </a:cubicBezTo>
                <a:lnTo>
                  <a:pt x="200025" y="104745"/>
                </a:lnTo>
                <a:lnTo>
                  <a:pt x="294144" y="198864"/>
                </a:lnTo>
                <a:cubicBezTo>
                  <a:pt x="305306" y="210026"/>
                  <a:pt x="323433" y="210026"/>
                  <a:pt x="334595" y="198864"/>
                </a:cubicBezTo>
                <a:cubicBezTo>
                  <a:pt x="345758" y="187702"/>
                  <a:pt x="345758" y="169575"/>
                  <a:pt x="334595" y="158413"/>
                </a:cubicBezTo>
                <a:lnTo>
                  <a:pt x="191720" y="15538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0" y="41656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Incrementar Inversión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470400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Acercar el gasto a la media europea.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27500" y="3048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080F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349750" y="3327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921000" y="41656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Desplegar Servicios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1000" y="4470400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Garantizar la Cartera Común.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48500" y="3048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FFC200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7270750" y="3327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85725"/>
                </a:moveTo>
                <a:cubicBezTo>
                  <a:pt x="57150" y="54203"/>
                  <a:pt x="82778" y="28575"/>
                  <a:pt x="114300" y="28575"/>
                </a:cubicBezTo>
                <a:lnTo>
                  <a:pt x="457200" y="28575"/>
                </a:lnTo>
                <a:cubicBezTo>
                  <a:pt x="488722" y="28575"/>
                  <a:pt x="514350" y="54203"/>
                  <a:pt x="514350" y="85725"/>
                </a:cubicBezTo>
                <a:lnTo>
                  <a:pt x="514350" y="300038"/>
                </a:lnTo>
                <a:lnTo>
                  <a:pt x="457200" y="300038"/>
                </a:lnTo>
                <a:lnTo>
                  <a:pt x="457200" y="85725"/>
                </a:lnTo>
                <a:lnTo>
                  <a:pt x="114300" y="85725"/>
                </a:lnTo>
                <a:lnTo>
                  <a:pt x="114300" y="300038"/>
                </a:lnTo>
                <a:lnTo>
                  <a:pt x="57150" y="300038"/>
                </a:lnTo>
                <a:lnTo>
                  <a:pt x="57150" y="85725"/>
                </a:lnTo>
                <a:close/>
                <a:moveTo>
                  <a:pt x="0" y="360045"/>
                </a:moveTo>
                <a:cubicBezTo>
                  <a:pt x="0" y="350580"/>
                  <a:pt x="7680" y="342900"/>
                  <a:pt x="17145" y="342900"/>
                </a:cubicBezTo>
                <a:lnTo>
                  <a:pt x="554355" y="342900"/>
                </a:lnTo>
                <a:cubicBezTo>
                  <a:pt x="563820" y="342900"/>
                  <a:pt x="571500" y="350580"/>
                  <a:pt x="571500" y="360045"/>
                </a:cubicBezTo>
                <a:cubicBezTo>
                  <a:pt x="571500" y="397907"/>
                  <a:pt x="540782" y="428625"/>
                  <a:pt x="502920" y="428625"/>
                </a:cubicBezTo>
                <a:lnTo>
                  <a:pt x="68580" y="428625"/>
                </a:lnTo>
                <a:cubicBezTo>
                  <a:pt x="30718" y="428625"/>
                  <a:pt x="0" y="397907"/>
                  <a:pt x="0" y="360045"/>
                </a:cubicBezTo>
                <a:close/>
                <a:moveTo>
                  <a:pt x="250924" y="186630"/>
                </a:moveTo>
                <a:lnTo>
                  <a:pt x="223242" y="214313"/>
                </a:lnTo>
                <a:lnTo>
                  <a:pt x="250924" y="241995"/>
                </a:lnTo>
                <a:cubicBezTo>
                  <a:pt x="259318" y="250388"/>
                  <a:pt x="259318" y="263962"/>
                  <a:pt x="250924" y="272266"/>
                </a:cubicBezTo>
                <a:cubicBezTo>
                  <a:pt x="242530" y="280571"/>
                  <a:pt x="228957" y="280660"/>
                  <a:pt x="220653" y="272266"/>
                </a:cubicBezTo>
                <a:lnTo>
                  <a:pt x="177790" y="229404"/>
                </a:lnTo>
                <a:cubicBezTo>
                  <a:pt x="169396" y="221010"/>
                  <a:pt x="169396" y="207437"/>
                  <a:pt x="177790" y="199132"/>
                </a:cubicBezTo>
                <a:lnTo>
                  <a:pt x="220653" y="156270"/>
                </a:lnTo>
                <a:cubicBezTo>
                  <a:pt x="229046" y="147876"/>
                  <a:pt x="242620" y="147876"/>
                  <a:pt x="250924" y="156270"/>
                </a:cubicBezTo>
                <a:cubicBezTo>
                  <a:pt x="259229" y="164663"/>
                  <a:pt x="259318" y="178237"/>
                  <a:pt x="250924" y="186541"/>
                </a:cubicBezTo>
                <a:close/>
                <a:moveTo>
                  <a:pt x="350937" y="156270"/>
                </a:moveTo>
                <a:lnTo>
                  <a:pt x="393799" y="199132"/>
                </a:lnTo>
                <a:cubicBezTo>
                  <a:pt x="402193" y="207526"/>
                  <a:pt x="402193" y="221099"/>
                  <a:pt x="393799" y="229404"/>
                </a:cubicBezTo>
                <a:lnTo>
                  <a:pt x="350937" y="272266"/>
                </a:lnTo>
                <a:cubicBezTo>
                  <a:pt x="342543" y="280660"/>
                  <a:pt x="328970" y="280660"/>
                  <a:pt x="320665" y="272266"/>
                </a:cubicBezTo>
                <a:cubicBezTo>
                  <a:pt x="312360" y="263872"/>
                  <a:pt x="312271" y="250299"/>
                  <a:pt x="320665" y="241995"/>
                </a:cubicBezTo>
                <a:lnTo>
                  <a:pt x="348347" y="214313"/>
                </a:lnTo>
                <a:lnTo>
                  <a:pt x="320665" y="186630"/>
                </a:lnTo>
                <a:cubicBezTo>
                  <a:pt x="312271" y="178237"/>
                  <a:pt x="312271" y="164663"/>
                  <a:pt x="320665" y="156359"/>
                </a:cubicBezTo>
                <a:cubicBezTo>
                  <a:pt x="329059" y="148054"/>
                  <a:pt x="342632" y="147965"/>
                  <a:pt x="350937" y="156359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842000" y="41656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Profundizar Digitalización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42000" y="4470400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la eficiencia y accesibilidad.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969500" y="3048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FF5E5E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0248900" y="3327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763000" y="41656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Reforzar Coordinación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63000" y="4470400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Integrar políticas a todos los niveles.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304483"/>
            <a:ext cx="5640070" cy="11068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6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PARTE  </a:t>
            </a: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1465" y="607504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91465" y="630872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91465" y="654240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29146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158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152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73164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30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Conclusiones: Claves del Éxito para el Próximo Ciclo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794000"/>
            <a:ext cx="5740400" cy="965200"/>
          </a:xfrm>
          <a:custGeom>
            <a:avLst/>
            <a:gdLst/>
            <a:ahLst/>
            <a:cxnLst/>
            <a:rect l="l" t="t" r="r" b="b"/>
            <a:pathLst>
              <a:path w="5740400" h="965200">
                <a:moveTo>
                  <a:pt x="101597" y="0"/>
                </a:moveTo>
                <a:lnTo>
                  <a:pt x="5638803" y="0"/>
                </a:lnTo>
                <a:cubicBezTo>
                  <a:pt x="5694913" y="0"/>
                  <a:pt x="5740400" y="45487"/>
                  <a:pt x="5740400" y="101597"/>
                </a:cubicBezTo>
                <a:lnTo>
                  <a:pt x="5740400" y="863603"/>
                </a:lnTo>
                <a:cubicBezTo>
                  <a:pt x="5740400" y="919713"/>
                  <a:pt x="5694913" y="965200"/>
                  <a:pt x="56388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74675" y="3073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219200" y="2997200"/>
            <a:ext cx="379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 Inversión + Evaluación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19200" y="3302000"/>
            <a:ext cx="379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Combinar recursos con rigor científico.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2794000"/>
            <a:ext cx="5740400" cy="965200"/>
          </a:xfrm>
          <a:custGeom>
            <a:avLst/>
            <a:gdLst/>
            <a:ahLst/>
            <a:cxnLst/>
            <a:rect l="l" t="t" r="r" b="b"/>
            <a:pathLst>
              <a:path w="5740400" h="965200">
                <a:moveTo>
                  <a:pt x="101597" y="0"/>
                </a:moveTo>
                <a:lnTo>
                  <a:pt x="5638803" y="0"/>
                </a:lnTo>
                <a:cubicBezTo>
                  <a:pt x="5694913" y="0"/>
                  <a:pt x="5740400" y="45487"/>
                  <a:pt x="5740400" y="101597"/>
                </a:cubicBezTo>
                <a:lnTo>
                  <a:pt x="5740400" y="863603"/>
                </a:lnTo>
                <a:cubicBezTo>
                  <a:pt x="5740400" y="919713"/>
                  <a:pt x="5694913" y="965200"/>
                  <a:pt x="56388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6470650" y="30734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90872" y="5953"/>
                </a:moveTo>
                <a:cubicBezTo>
                  <a:pt x="240156" y="5953"/>
                  <a:pt x="280169" y="45966"/>
                  <a:pt x="280169" y="95250"/>
                </a:cubicBezTo>
                <a:cubicBezTo>
                  <a:pt x="280169" y="144534"/>
                  <a:pt x="240156" y="184547"/>
                  <a:pt x="190872" y="184547"/>
                </a:cubicBezTo>
                <a:cubicBezTo>
                  <a:pt x="141588" y="184547"/>
                  <a:pt x="101575" y="144534"/>
                  <a:pt x="101575" y="95250"/>
                </a:cubicBezTo>
                <a:cubicBezTo>
                  <a:pt x="101575" y="45966"/>
                  <a:pt x="141588" y="5953"/>
                  <a:pt x="190872" y="5953"/>
                </a:cubicBezTo>
                <a:close/>
                <a:moveTo>
                  <a:pt x="168697" y="226219"/>
                </a:moveTo>
                <a:lnTo>
                  <a:pt x="212899" y="226219"/>
                </a:lnTo>
                <a:lnTo>
                  <a:pt x="214015" y="226219"/>
                </a:lnTo>
                <a:cubicBezTo>
                  <a:pt x="204415" y="246162"/>
                  <a:pt x="208211" y="269528"/>
                  <a:pt x="222572" y="285378"/>
                </a:cubicBezTo>
                <a:cubicBezTo>
                  <a:pt x="207541" y="301972"/>
                  <a:pt x="204118" y="326901"/>
                  <a:pt x="215578" y="347439"/>
                </a:cubicBezTo>
                <a:lnTo>
                  <a:pt x="232321" y="377503"/>
                </a:lnTo>
                <a:cubicBezTo>
                  <a:pt x="232990" y="378693"/>
                  <a:pt x="233735" y="379884"/>
                  <a:pt x="234479" y="381000"/>
                </a:cubicBezTo>
                <a:lnTo>
                  <a:pt x="58117" y="381000"/>
                </a:lnTo>
                <a:cubicBezTo>
                  <a:pt x="45913" y="381000"/>
                  <a:pt x="36016" y="371103"/>
                  <a:pt x="36016" y="358899"/>
                </a:cubicBezTo>
                <a:cubicBezTo>
                  <a:pt x="36016" y="285601"/>
                  <a:pt x="95399" y="226219"/>
                  <a:pt x="168697" y="226219"/>
                </a:cubicBezTo>
                <a:close/>
                <a:moveTo>
                  <a:pt x="321915" y="184249"/>
                </a:moveTo>
                <a:cubicBezTo>
                  <a:pt x="321915" y="174352"/>
                  <a:pt x="329878" y="166390"/>
                  <a:pt x="339775" y="166390"/>
                </a:cubicBezTo>
                <a:lnTo>
                  <a:pt x="375493" y="166390"/>
                </a:lnTo>
                <a:cubicBezTo>
                  <a:pt x="385390" y="166390"/>
                  <a:pt x="393353" y="174352"/>
                  <a:pt x="393353" y="184249"/>
                </a:cubicBezTo>
                <a:lnTo>
                  <a:pt x="393353" y="188788"/>
                </a:lnTo>
                <a:cubicBezTo>
                  <a:pt x="393353" y="202853"/>
                  <a:pt x="411287" y="213196"/>
                  <a:pt x="423490" y="206201"/>
                </a:cubicBezTo>
                <a:lnTo>
                  <a:pt x="427211" y="204043"/>
                </a:lnTo>
                <a:cubicBezTo>
                  <a:pt x="435843" y="199058"/>
                  <a:pt x="446931" y="202109"/>
                  <a:pt x="451768" y="210815"/>
                </a:cubicBezTo>
                <a:lnTo>
                  <a:pt x="468437" y="240729"/>
                </a:lnTo>
                <a:cubicBezTo>
                  <a:pt x="473050" y="249064"/>
                  <a:pt x="470371" y="259482"/>
                  <a:pt x="462335" y="264542"/>
                </a:cubicBezTo>
                <a:lnTo>
                  <a:pt x="458837" y="266700"/>
                </a:lnTo>
                <a:cubicBezTo>
                  <a:pt x="446782" y="274216"/>
                  <a:pt x="446782" y="296391"/>
                  <a:pt x="458837" y="303981"/>
                </a:cubicBezTo>
                <a:lnTo>
                  <a:pt x="462260" y="306139"/>
                </a:lnTo>
                <a:cubicBezTo>
                  <a:pt x="470297" y="311200"/>
                  <a:pt x="473050" y="321618"/>
                  <a:pt x="468437" y="329952"/>
                </a:cubicBezTo>
                <a:lnTo>
                  <a:pt x="451693" y="360015"/>
                </a:lnTo>
                <a:cubicBezTo>
                  <a:pt x="446856" y="368722"/>
                  <a:pt x="435769" y="371847"/>
                  <a:pt x="427137" y="366787"/>
                </a:cubicBezTo>
                <a:lnTo>
                  <a:pt x="423490" y="364629"/>
                </a:lnTo>
                <a:cubicBezTo>
                  <a:pt x="411287" y="357560"/>
                  <a:pt x="393353" y="367978"/>
                  <a:pt x="393353" y="382042"/>
                </a:cubicBezTo>
                <a:lnTo>
                  <a:pt x="393353" y="386581"/>
                </a:lnTo>
                <a:cubicBezTo>
                  <a:pt x="393353" y="396478"/>
                  <a:pt x="385390" y="404440"/>
                  <a:pt x="375493" y="404440"/>
                </a:cubicBezTo>
                <a:lnTo>
                  <a:pt x="339775" y="404440"/>
                </a:lnTo>
                <a:cubicBezTo>
                  <a:pt x="329878" y="404440"/>
                  <a:pt x="321915" y="396478"/>
                  <a:pt x="321915" y="386581"/>
                </a:cubicBezTo>
                <a:lnTo>
                  <a:pt x="321915" y="382191"/>
                </a:lnTo>
                <a:cubicBezTo>
                  <a:pt x="321915" y="368052"/>
                  <a:pt x="303907" y="357634"/>
                  <a:pt x="291629" y="364703"/>
                </a:cubicBezTo>
                <a:lnTo>
                  <a:pt x="288057" y="366787"/>
                </a:lnTo>
                <a:cubicBezTo>
                  <a:pt x="279425" y="371773"/>
                  <a:pt x="268412" y="368722"/>
                  <a:pt x="263500" y="360015"/>
                </a:cubicBezTo>
                <a:lnTo>
                  <a:pt x="246683" y="329952"/>
                </a:lnTo>
                <a:cubicBezTo>
                  <a:pt x="242069" y="321618"/>
                  <a:pt x="244748" y="311125"/>
                  <a:pt x="252859" y="306065"/>
                </a:cubicBezTo>
                <a:lnTo>
                  <a:pt x="256133" y="304056"/>
                </a:lnTo>
                <a:cubicBezTo>
                  <a:pt x="268263" y="296540"/>
                  <a:pt x="268263" y="274216"/>
                  <a:pt x="256133" y="266700"/>
                </a:cubicBezTo>
                <a:lnTo>
                  <a:pt x="252785" y="264616"/>
                </a:lnTo>
                <a:cubicBezTo>
                  <a:pt x="244673" y="259556"/>
                  <a:pt x="241995" y="249064"/>
                  <a:pt x="246608" y="240729"/>
                </a:cubicBezTo>
                <a:lnTo>
                  <a:pt x="263351" y="210741"/>
                </a:lnTo>
                <a:cubicBezTo>
                  <a:pt x="268188" y="202034"/>
                  <a:pt x="279276" y="198983"/>
                  <a:pt x="287834" y="203969"/>
                </a:cubicBezTo>
                <a:lnTo>
                  <a:pt x="291405" y="206053"/>
                </a:lnTo>
                <a:cubicBezTo>
                  <a:pt x="303684" y="213122"/>
                  <a:pt x="321692" y="202704"/>
                  <a:pt x="321692" y="188565"/>
                </a:cubicBezTo>
                <a:lnTo>
                  <a:pt x="321692" y="184175"/>
                </a:lnTo>
                <a:close/>
                <a:moveTo>
                  <a:pt x="396255" y="285601"/>
                </a:moveTo>
                <a:cubicBezTo>
                  <a:pt x="396255" y="264245"/>
                  <a:pt x="378916" y="246906"/>
                  <a:pt x="357560" y="246906"/>
                </a:cubicBezTo>
                <a:cubicBezTo>
                  <a:pt x="336203" y="246906"/>
                  <a:pt x="318864" y="264245"/>
                  <a:pt x="318864" y="285601"/>
                </a:cubicBezTo>
                <a:cubicBezTo>
                  <a:pt x="318864" y="306958"/>
                  <a:pt x="336203" y="324296"/>
                  <a:pt x="357560" y="324296"/>
                </a:cubicBezTo>
                <a:cubicBezTo>
                  <a:pt x="378916" y="324296"/>
                  <a:pt x="396255" y="306958"/>
                  <a:pt x="396255" y="285601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162800" y="2997200"/>
            <a:ext cx="3695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Servicios Personalizados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62800" y="3302000"/>
            <a:ext cx="369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Itinerarios adaptados a cada persona.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3962400"/>
            <a:ext cx="5740400" cy="965200"/>
          </a:xfrm>
          <a:custGeom>
            <a:avLst/>
            <a:gdLst/>
            <a:ahLst/>
            <a:cxnLst/>
            <a:rect l="l" t="t" r="r" b="b"/>
            <a:pathLst>
              <a:path w="5740400" h="965200">
                <a:moveTo>
                  <a:pt x="101597" y="0"/>
                </a:moveTo>
                <a:lnTo>
                  <a:pt x="5638803" y="0"/>
                </a:lnTo>
                <a:cubicBezTo>
                  <a:pt x="5694913" y="0"/>
                  <a:pt x="5740400" y="45487"/>
                  <a:pt x="5740400" y="101597"/>
                </a:cubicBezTo>
                <a:lnTo>
                  <a:pt x="5740400" y="863603"/>
                </a:lnTo>
                <a:cubicBezTo>
                  <a:pt x="5740400" y="919713"/>
                  <a:pt x="5694913" y="965200"/>
                  <a:pt x="56388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C200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74675" y="4241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219200" y="4165600"/>
            <a:ext cx="401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Activa-Pasiva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9200" y="4470400"/>
            <a:ext cx="401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Coherencia entre protección y activación.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7600" y="3962400"/>
            <a:ext cx="5740400" cy="965200"/>
          </a:xfrm>
          <a:custGeom>
            <a:avLst/>
            <a:gdLst/>
            <a:ahLst/>
            <a:cxnLst/>
            <a:rect l="l" t="t" r="r" b="b"/>
            <a:pathLst>
              <a:path w="5740400" h="965200">
                <a:moveTo>
                  <a:pt x="101597" y="0"/>
                </a:moveTo>
                <a:lnTo>
                  <a:pt x="5638803" y="0"/>
                </a:lnTo>
                <a:cubicBezTo>
                  <a:pt x="5694913" y="0"/>
                  <a:pt x="5740400" y="45487"/>
                  <a:pt x="5740400" y="101597"/>
                </a:cubicBezTo>
                <a:lnTo>
                  <a:pt x="5740400" y="863603"/>
                </a:lnTo>
                <a:cubicBezTo>
                  <a:pt x="5740400" y="919713"/>
                  <a:pt x="5694913" y="965200"/>
                  <a:pt x="56388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470650" y="42418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87957" y="46434"/>
                </a:moveTo>
                <a:cubicBezTo>
                  <a:pt x="75530" y="42267"/>
                  <a:pt x="68759" y="28724"/>
                  <a:pt x="72926" y="16297"/>
                </a:cubicBezTo>
                <a:cubicBezTo>
                  <a:pt x="77093" y="3870"/>
                  <a:pt x="90562" y="-2902"/>
                  <a:pt x="103063" y="1191"/>
                </a:cubicBezTo>
                <a:lnTo>
                  <a:pt x="187151" y="29245"/>
                </a:lnTo>
                <a:cubicBezTo>
                  <a:pt x="197495" y="11757"/>
                  <a:pt x="216619" y="0"/>
                  <a:pt x="238423" y="0"/>
                </a:cubicBezTo>
                <a:cubicBezTo>
                  <a:pt x="271314" y="0"/>
                  <a:pt x="297954" y="26640"/>
                  <a:pt x="297954" y="59531"/>
                </a:cubicBezTo>
                <a:cubicBezTo>
                  <a:pt x="297954" y="61764"/>
                  <a:pt x="297805" y="63922"/>
                  <a:pt x="297582" y="66080"/>
                </a:cubicBezTo>
                <a:lnTo>
                  <a:pt x="388813" y="96515"/>
                </a:lnTo>
                <a:cubicBezTo>
                  <a:pt x="401315" y="100682"/>
                  <a:pt x="408012" y="114151"/>
                  <a:pt x="403845" y="126653"/>
                </a:cubicBezTo>
                <a:cubicBezTo>
                  <a:pt x="399678" y="139154"/>
                  <a:pt x="386209" y="145852"/>
                  <a:pt x="373707" y="141684"/>
                </a:cubicBezTo>
                <a:lnTo>
                  <a:pt x="272876" y="108049"/>
                </a:lnTo>
                <a:cubicBezTo>
                  <a:pt x="269528" y="110430"/>
                  <a:pt x="265956" y="112440"/>
                  <a:pt x="262161" y="114151"/>
                </a:cubicBezTo>
                <a:lnTo>
                  <a:pt x="262161" y="357262"/>
                </a:lnTo>
                <a:cubicBezTo>
                  <a:pt x="262161" y="370433"/>
                  <a:pt x="251520" y="381074"/>
                  <a:pt x="238348" y="381074"/>
                </a:cubicBezTo>
                <a:lnTo>
                  <a:pt x="95473" y="381074"/>
                </a:lnTo>
                <a:cubicBezTo>
                  <a:pt x="82302" y="381074"/>
                  <a:pt x="71661" y="370433"/>
                  <a:pt x="71661" y="357262"/>
                </a:cubicBezTo>
                <a:cubicBezTo>
                  <a:pt x="71661" y="344091"/>
                  <a:pt x="82302" y="333449"/>
                  <a:pt x="95473" y="333449"/>
                </a:cubicBezTo>
                <a:lnTo>
                  <a:pt x="214536" y="333449"/>
                </a:lnTo>
                <a:lnTo>
                  <a:pt x="214536" y="114151"/>
                </a:lnTo>
                <a:cubicBezTo>
                  <a:pt x="198909" y="107305"/>
                  <a:pt x="186854" y="94059"/>
                  <a:pt x="181645" y="77688"/>
                </a:cubicBezTo>
                <a:lnTo>
                  <a:pt x="87957" y="46434"/>
                </a:lnTo>
                <a:close/>
                <a:moveTo>
                  <a:pt x="149423" y="214313"/>
                </a:moveTo>
                <a:lnTo>
                  <a:pt x="95473" y="121890"/>
                </a:lnTo>
                <a:lnTo>
                  <a:pt x="41597" y="214313"/>
                </a:lnTo>
                <a:lnTo>
                  <a:pt x="149423" y="214313"/>
                </a:lnTo>
                <a:close/>
                <a:moveTo>
                  <a:pt x="95548" y="285750"/>
                </a:moveTo>
                <a:cubicBezTo>
                  <a:pt x="48741" y="285750"/>
                  <a:pt x="9823" y="260449"/>
                  <a:pt x="1786" y="227037"/>
                </a:cubicBezTo>
                <a:cubicBezTo>
                  <a:pt x="-149" y="218852"/>
                  <a:pt x="2530" y="210443"/>
                  <a:pt x="6772" y="203150"/>
                </a:cubicBezTo>
                <a:lnTo>
                  <a:pt x="77614" y="81707"/>
                </a:lnTo>
                <a:cubicBezTo>
                  <a:pt x="81335" y="75307"/>
                  <a:pt x="88181" y="71438"/>
                  <a:pt x="95548" y="71438"/>
                </a:cubicBezTo>
                <a:cubicBezTo>
                  <a:pt x="102915" y="71438"/>
                  <a:pt x="109761" y="75381"/>
                  <a:pt x="113481" y="81707"/>
                </a:cubicBezTo>
                <a:lnTo>
                  <a:pt x="184324" y="203150"/>
                </a:lnTo>
                <a:cubicBezTo>
                  <a:pt x="188565" y="210443"/>
                  <a:pt x="191244" y="218852"/>
                  <a:pt x="189309" y="227037"/>
                </a:cubicBezTo>
                <a:cubicBezTo>
                  <a:pt x="181273" y="260375"/>
                  <a:pt x="142354" y="285750"/>
                  <a:pt x="95548" y="285750"/>
                </a:cubicBezTo>
                <a:close/>
                <a:moveTo>
                  <a:pt x="380405" y="217140"/>
                </a:moveTo>
                <a:lnTo>
                  <a:pt x="326529" y="309563"/>
                </a:lnTo>
                <a:lnTo>
                  <a:pt x="434355" y="309563"/>
                </a:lnTo>
                <a:lnTo>
                  <a:pt x="380479" y="217140"/>
                </a:lnTo>
                <a:close/>
                <a:moveTo>
                  <a:pt x="474166" y="322287"/>
                </a:moveTo>
                <a:cubicBezTo>
                  <a:pt x="466130" y="355699"/>
                  <a:pt x="427211" y="381000"/>
                  <a:pt x="380405" y="381000"/>
                </a:cubicBezTo>
                <a:cubicBezTo>
                  <a:pt x="333598" y="381000"/>
                  <a:pt x="294680" y="355699"/>
                  <a:pt x="286643" y="322287"/>
                </a:cubicBezTo>
                <a:cubicBezTo>
                  <a:pt x="284708" y="314102"/>
                  <a:pt x="287387" y="305693"/>
                  <a:pt x="291629" y="298400"/>
                </a:cubicBezTo>
                <a:lnTo>
                  <a:pt x="362471" y="176957"/>
                </a:lnTo>
                <a:cubicBezTo>
                  <a:pt x="366192" y="170557"/>
                  <a:pt x="373038" y="166688"/>
                  <a:pt x="380405" y="166688"/>
                </a:cubicBezTo>
                <a:cubicBezTo>
                  <a:pt x="387772" y="166688"/>
                  <a:pt x="394618" y="170631"/>
                  <a:pt x="398338" y="176957"/>
                </a:cubicBezTo>
                <a:lnTo>
                  <a:pt x="469181" y="298400"/>
                </a:lnTo>
                <a:cubicBezTo>
                  <a:pt x="473422" y="305693"/>
                  <a:pt x="476101" y="314102"/>
                  <a:pt x="474166" y="322287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162800" y="416560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Acceso Equitativo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62800" y="4470400"/>
            <a:ext cx="412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Garantizar el acceso a todos los colectivos.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68155" y="6143625"/>
            <a:ext cx="2667000" cy="51117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368155" y="6143625"/>
            <a:ext cx="2667000" cy="5111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368155" y="5563870"/>
            <a:ext cx="2667000" cy="51117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368155" y="5563870"/>
            <a:ext cx="2667000" cy="5111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0710" y="1315085"/>
            <a:ext cx="8588375" cy="17710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THANKS!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146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5158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152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3164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01165" y="1215390"/>
            <a:ext cx="8762365" cy="1905635"/>
          </a:xfrm>
          <a:prstGeom prst="rect">
            <a:avLst/>
          </a:prstGeom>
          <a:solidFill>
            <a:srgbClr val="000000">
              <a:alpha val="0"/>
            </a:srgbClr>
          </a:solidFill>
          <a:ln w="571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701165" y="1215390"/>
            <a:ext cx="8762365" cy="19056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7" name="Image 0" descr="https://kimi-img.moonshot.cn/pub/slides/slides_tmpl/image/25-08-27-19:57:41-d2nf5d98bjvh7rlivslg.png"/>
          <p:cNvPicPr>
            <a:picLocks noChangeAspect="1"/>
          </p:cNvPicPr>
          <p:nvPr/>
        </p:nvPicPr>
        <p:blipFill>
          <a:blip r:embed="rId3"/>
          <a:srcRect b="42278"/>
          <a:stretch/>
        </p:blipFill>
        <p:spPr>
          <a:xfrm>
            <a:off x="2338070" y="2733675"/>
            <a:ext cx="7030085" cy="41243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415780" y="5588635"/>
            <a:ext cx="2619375" cy="554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Kimi AI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415780" y="6151880"/>
            <a:ext cx="2619375" cy="554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2025/01/01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91465" y="607504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291465" y="630872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291465" y="6542405"/>
            <a:ext cx="607496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1781</Words>
  <Application>Microsoft Office PowerPoint</Application>
  <PresentationFormat>Panorámica</PresentationFormat>
  <Paragraphs>307</Paragraphs>
  <Slides>41</Slides>
  <Notes>41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4" baseType="lpstr">
      <vt:lpstr>MiSans</vt:lpstr>
      <vt:lpstr>Arial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Políticas Activas de Empleo 2025</dc:title>
  <dc:subject>Políticas Activas de Empleo 2025</dc:subject>
  <dc:creator>Kimi</dc:creator>
  <cp:lastModifiedBy>Manuel Alejandro Hidalgo Perez</cp:lastModifiedBy>
  <cp:revision>3</cp:revision>
  <dcterms:created xsi:type="dcterms:W3CDTF">2025-10-04T14:13:24Z</dcterms:created>
  <dcterms:modified xsi:type="dcterms:W3CDTF">2025-10-05T10:38:44Z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{"Label":"Políticas Activas de Empleo 2025","ContentProducer":"001191110108MACG2KBH8F10000","ProduceID":"d3gf0qgpe77mlq8iffhg","ReservedCode1":"","ContentPropagator":"001191110108MACG2KBH8F20000","PropagateID":"d3gf0qgpe77mlq8iffhg","ReservedCode2":""}</vt:lpwstr>
  </property>
</Properties>
</file>