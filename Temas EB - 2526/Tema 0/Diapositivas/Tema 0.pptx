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94" r:id="rId22"/>
  </p:sldIdLst>
  <p:sldSz cx="12192000" cy="6858000"/>
  <p:notesSz cx="6858000" cy="12192000"/>
  <p:embeddedFontLst>
    <p:embeddedFont>
      <p:font typeface="MiSans" panose="020B0604020202020204" charset="-122"/>
      <p:regular r:id="rId24"/>
    </p:embeddedFont>
    <p:embeddedFont>
      <p:font typeface="Noto Sans SC" panose="020B0604020202020204" charset="-128"/>
      <p:regular r:id="rId25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0213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jp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0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jp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0-d2nf6b18bjvh7rlj013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0"/>
            <a:ext cx="10287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72390" y="-84455"/>
            <a:ext cx="13742035" cy="7143115"/>
          </a:xfrm>
          <a:prstGeom prst="rect">
            <a:avLst/>
          </a:prstGeom>
          <a:gradFill flip="none" rotWithShape="1">
            <a:gsLst>
              <a:gs pos="0">
                <a:srgbClr val="EAEEF4"/>
              </a:gs>
              <a:gs pos="14000">
                <a:srgbClr val="EFF3F7"/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-72390" y="-84455"/>
            <a:ext cx="13742035" cy="71431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1450859" y="428881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11450859" y="42888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1450859" y="525855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11450859" y="52585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450859" y="622829"/>
            <a:ext cx="209306" cy="42231"/>
          </a:xfrm>
          <a:prstGeom prst="rect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11450859" y="622829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099607" y="629319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15" name="Image 1" descr="https://kimi-img.moonshot.cn/pub/slides/slides_tmpl/image/25-08-27-19:59:30-d2nf68h8bjvh7rlj00p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rot="16200000">
            <a:off x="1080135" y="44450"/>
            <a:ext cx="262890" cy="117030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26745" y="2816860"/>
            <a:ext cx="7075805" cy="14465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Políticas Sociolaborales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Tema 0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kimi-img.moonshot.cn/pub/slides/slides_tmpl/image/25-08-27-19:59:33-d2nf6998bjvh7rlj00rg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9631680" y="1380490"/>
            <a:ext cx="1750695" cy="1423035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8-27-19:59:33-d2nf6998bjvh7rlj00t0.png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290955" y="4163060"/>
            <a:ext cx="3957955" cy="448119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360250" y="2693787"/>
            <a:ext cx="1619250" cy="66794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01.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5543890" y="2926197"/>
            <a:ext cx="626808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Políticas Sociolaborales</a:t>
            </a:r>
            <a:endParaRPr lang="en-US" sz="1600" dirty="0"/>
          </a:p>
        </p:txBody>
      </p:sp>
      <p:sp>
        <p:nvSpPr>
          <p:cNvPr id="7" name="Text 2"/>
          <p:cNvSpPr/>
          <p:nvPr/>
        </p:nvSpPr>
        <p:spPr>
          <a:xfrm>
            <a:off x="228314" y="2980055"/>
            <a:ext cx="3581686" cy="129778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CONTENIDOS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TEMA 0</a:t>
            </a:r>
            <a:endParaRPr lang="en-US" sz="1600" dirty="0"/>
          </a:p>
        </p:txBody>
      </p:sp>
      <p:pic>
        <p:nvPicPr>
          <p:cNvPr id="8" name="Image 3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9" name="Image 4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4360250" y="3478012"/>
            <a:ext cx="1619250" cy="66794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02.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5543890" y="3710422"/>
            <a:ext cx="626808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Estructura y áreas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4360250" y="4247632"/>
            <a:ext cx="1619250" cy="66794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03.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5543890" y="4480042"/>
            <a:ext cx="626808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959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Desafíos actuales</a:t>
            </a: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 flipH="1">
            <a:off x="4472010" y="2880477"/>
            <a:ext cx="127000" cy="34290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4"/>
          <p:cNvSpPr/>
          <p:nvPr/>
        </p:nvSpPr>
        <p:spPr>
          <a:xfrm flipH="1">
            <a:off x="4472010" y="3695182"/>
            <a:ext cx="127000" cy="34290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15"/>
          <p:cNvSpPr/>
          <p:nvPr/>
        </p:nvSpPr>
        <p:spPr>
          <a:xfrm flipH="1">
            <a:off x="4472010" y="4447657"/>
            <a:ext cx="127000" cy="342900"/>
          </a:xfrm>
          <a:prstGeom prst="line">
            <a:avLst/>
          </a:prstGeom>
          <a:noFill/>
          <a:ln w="28575">
            <a:solidFill>
              <a:srgbClr val="577FD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19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0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1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3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1" name="Shape 24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2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3" name="Shape 26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27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5" name="Shape 28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29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7" name="Shape 30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Text 31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39" name="Text 0">
            <a:extLst>
              <a:ext uri="{FF2B5EF4-FFF2-40B4-BE49-F238E27FC236}">
                <a16:creationId xmlns:a16="http://schemas.microsoft.com/office/drawing/2014/main" id="{D18CC01B-2319-420A-13CB-5CADC82F64B5}"/>
              </a:ext>
            </a:extLst>
          </p:cNvPr>
          <p:cNvSpPr/>
          <p:nvPr/>
        </p:nvSpPr>
        <p:spPr>
          <a:xfrm>
            <a:off x="4458970" y="520621"/>
            <a:ext cx="1619250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32-d2nf6918bjvh7rlj00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8-27-19:59:33-d2nf6998bjvh7rlj00q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8-27-19:59:30-d2nf68h8bjvh7rlj00p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4295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F2F7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Políticas Sociolaborales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2765" y="3225800"/>
            <a:ext cx="11161395" cy="1572260"/>
          </a:xfrm>
          <a:prstGeom prst="roundRect">
            <a:avLst/>
          </a:prstGeom>
          <a:gradFill flip="none" rotWithShape="1">
            <a:gsLst>
              <a:gs pos="0">
                <a:srgbClr val="2F5BEE">
                  <a:alpha val="25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>
                  <a:alpha val="7800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532765" y="3225800"/>
            <a:ext cx="11161395" cy="15722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32765" y="4980305"/>
            <a:ext cx="11161395" cy="1572260"/>
          </a:xfrm>
          <a:prstGeom prst="roundRect">
            <a:avLst/>
          </a:prstGeom>
          <a:gradFill flip="none" rotWithShape="1">
            <a:gsLst>
              <a:gs pos="0">
                <a:srgbClr val="2F5BEE">
                  <a:alpha val="25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>
                  <a:alpha val="78000"/>
                </a:srgbClr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32765" y="4980305"/>
            <a:ext cx="11161395" cy="15722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32765" y="1504315"/>
            <a:ext cx="11161395" cy="1572260"/>
          </a:xfrm>
          <a:prstGeom prst="roundRect">
            <a:avLst/>
          </a:prstGeom>
          <a:gradFill flip="none" rotWithShape="1">
            <a:gsLst>
              <a:gs pos="0">
                <a:srgbClr val="2F5BEE">
                  <a:alpha val="25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>
                  <a:alpha val="78000"/>
                </a:srgbClr>
              </a:gs>
            </a:gsLst>
            <a:path path="circle">
              <a:fillToRect r="100000" b="100000"/>
            </a:path>
            <a:tileRect l="-100000" t="-100000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532765" y="1504315"/>
            <a:ext cx="11161395" cy="15722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1020" y="53213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Qué son las políticas sociales</a:t>
            </a:r>
            <a:endParaRPr lang="en-US" sz="1600" dirty="0"/>
          </a:p>
        </p:txBody>
      </p:sp>
      <p:pic>
        <p:nvPicPr>
          <p:cNvPr id="10" name="Image 1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21075" y="1966595"/>
            <a:ext cx="77952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 objetivo principal es asegurar que los beneficios del desarrollo alcancen a todas las capas de la sociedad de manera equitativa, centrándose en derechos sociales como salud, educación, vivienda, pensiones y seguridad alimentaria.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3521075" y="1614805"/>
            <a:ext cx="7733665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458595" y="3715385"/>
            <a:ext cx="779526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políticas sociales son medidas gubernamentales que buscan reducir desigualdades sociales y mejorar el bienestar de la población a través de la redistribución de recursos y oportunidades.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58595" y="3363595"/>
            <a:ext cx="779526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Objetivo Principal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3225165" y="5445760"/>
            <a:ext cx="779526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Incluyen programas de salud pública universal, sistemas de educación gratuita, vivienda social, programas de seguridad alimentaria y sistemas de pensiones y seguridad social.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3225165" y="5093970"/>
            <a:ext cx="7794625" cy="366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Ejemplos</a:t>
            </a:r>
            <a:endParaRPr lang="en-US" sz="1600" dirty="0"/>
          </a:p>
        </p:txBody>
      </p:sp>
      <p:pic>
        <p:nvPicPr>
          <p:cNvPr id="18" name="Image 3" descr="https://kimi-img.moonshot.cn/pub/slides/slides_tmpl/image/25-08-27-19:59:37-d2nf6a98bjvh7rlj00ug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369695" y="1567180"/>
            <a:ext cx="1396365" cy="1476375"/>
          </a:xfrm>
          <a:prstGeom prst="rect">
            <a:avLst/>
          </a:prstGeom>
        </p:spPr>
      </p:pic>
      <p:pic>
        <p:nvPicPr>
          <p:cNvPr id="19" name="Image 4" descr="https://kimi-img.moonshot.cn/pub/slides/slides_tmpl/image/25-08-27-19:59:49-d2nf6d98bjvh7rlj01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1" y="2131785"/>
            <a:ext cx="876300" cy="889000"/>
          </a:xfrm>
          <a:prstGeom prst="rect">
            <a:avLst/>
          </a:prstGeom>
        </p:spPr>
      </p:pic>
      <p:pic>
        <p:nvPicPr>
          <p:cNvPr id="20" name="Image 5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4675" y="1614805"/>
            <a:ext cx="1204595" cy="12090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2114550" y="184912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22" name="Image 6" descr="https://kimi-img.moonshot.cn/pub/slides/slides_tmpl/image/25-08-27-19:59:37-d2nf6a98bjvh7rlj00ug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1069340" y="5031105"/>
            <a:ext cx="1396365" cy="1476375"/>
          </a:xfrm>
          <a:prstGeom prst="rect">
            <a:avLst/>
          </a:prstGeom>
        </p:spPr>
      </p:pic>
      <p:pic>
        <p:nvPicPr>
          <p:cNvPr id="23" name="Image 7" descr="https://kimi-img.moonshot.cn/pub/slides/slides_tmpl/image/25-08-27-19:59:49-d2nf6d98bjvh7rlj01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288" y="5641023"/>
            <a:ext cx="876300" cy="889000"/>
          </a:xfrm>
          <a:prstGeom prst="rect">
            <a:avLst/>
          </a:prstGeom>
        </p:spPr>
      </p:pic>
      <p:pic>
        <p:nvPicPr>
          <p:cNvPr id="24" name="Image 8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4320" y="5078730"/>
            <a:ext cx="1204595" cy="120904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1711325" y="5327015"/>
            <a:ext cx="866140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26" name="Image 9" descr="https://kimi-img.moonshot.cn/pub/slides/slides_tmpl/image/25-08-27-19:59:37-d2nf6a98bjvh7rlj00ug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>
            <a:off x="9723120" y="3263265"/>
            <a:ext cx="1396365" cy="1476375"/>
          </a:xfrm>
          <a:prstGeom prst="rect">
            <a:avLst/>
          </a:prstGeom>
        </p:spPr>
      </p:pic>
      <p:pic>
        <p:nvPicPr>
          <p:cNvPr id="27" name="Image 10" descr="https://kimi-img.moonshot.cn/pub/slides/slides_tmpl/image/25-08-27-19:59:49-d2nf6d98bjvh7rlj01f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053" y="3858578"/>
            <a:ext cx="876300" cy="889000"/>
          </a:xfrm>
          <a:prstGeom prst="rect">
            <a:avLst/>
          </a:prstGeom>
        </p:spPr>
      </p:pic>
      <p:pic>
        <p:nvPicPr>
          <p:cNvPr id="28" name="Image 11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8100" y="3310890"/>
            <a:ext cx="1204595" cy="1209040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10387965" y="3547745"/>
            <a:ext cx="866140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50-d2nf6dh8bjvh7rlj01h0.png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-240665" y="-157480"/>
            <a:ext cx="12669520" cy="71913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16000" y="812800"/>
            <a:ext cx="1064958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Qué son las políticas laborales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2770505" y="2576195"/>
            <a:ext cx="7731760" cy="1384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políticas laborales son medidas que afectan directamente las relaciones entre trabajadores y empleadores en el mercado de trabajo, regulando y mejorando las condiciones laborales.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770505" y="1993265"/>
            <a:ext cx="7732395" cy="588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770505" y="4587875"/>
            <a:ext cx="7731760" cy="147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Incluyen legislación laboral, negociación colectiva, seguridad y salud en el trabajo, formación y capacitación profesional, y políticas de empleo y desempleo.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770505" y="4004945"/>
            <a:ext cx="7732395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Componentes</a:t>
            </a:r>
            <a:endParaRPr lang="en-US" sz="1600" dirty="0"/>
          </a:p>
        </p:txBody>
      </p:sp>
      <p:pic>
        <p:nvPicPr>
          <p:cNvPr id="8" name="Image 1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8595" y="1953895"/>
            <a:ext cx="688340" cy="69151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04406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pic>
        <p:nvPicPr>
          <p:cNvPr id="10" name="Image 2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8595" y="3961130"/>
            <a:ext cx="688340" cy="69151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405130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1807845" y="2580640"/>
            <a:ext cx="0" cy="147066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2F5BEE">
                    <a:alpha val="61000"/>
                  </a:srgbClr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0-d2nf6b18bjvh7rlj0120.jp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52-d2nf6e18bjvh7rlj01l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475" y="2244725"/>
            <a:ext cx="10607675" cy="4876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1660" y="53213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Políticas sociolaborales: definición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3340100" y="1816100"/>
            <a:ext cx="251523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Objetivo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3354070" y="2431415"/>
            <a:ext cx="2613660" cy="2726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 objetivo es regular y mejorar las condiciones del mercado laboral, abordando aspectos como empleo, formación profesional y protección social.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285865" y="1816100"/>
            <a:ext cx="251523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Componentes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299835" y="2431415"/>
            <a:ext cx="2658745" cy="2726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Incluyen intervención en el mercado laboral, promoción de empleo, formación profesional y garantía de derechos laborales básicos.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217660" y="2431415"/>
            <a:ext cx="251523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Importancia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9231630" y="3046730"/>
            <a:ext cx="2658745" cy="2726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Estas políticas son esenciales para corregir fallos del mercado y promover una mayor equidad social en el contexto del desarrollo económico.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82270" y="2431415"/>
            <a:ext cx="2515235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77190" y="3046730"/>
            <a:ext cx="2613660" cy="2726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políticas sociolaborales son un punto de convergencia entre políticas sociales y laborales, buscando mejorar el bienestar social a través de la regulación del mercado laboral.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11406074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0"/>
          <p:cNvSpPr/>
          <p:nvPr/>
        </p:nvSpPr>
        <p:spPr>
          <a:xfrm>
            <a:off x="11406074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11406074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2"/>
          <p:cNvSpPr/>
          <p:nvPr/>
        </p:nvSpPr>
        <p:spPr>
          <a:xfrm>
            <a:off x="11406074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11406074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4"/>
          <p:cNvSpPr/>
          <p:nvPr/>
        </p:nvSpPr>
        <p:spPr>
          <a:xfrm>
            <a:off x="11406074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0-d2nf6b18bjvh7rlj0120.jp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64580" y="3318510"/>
            <a:ext cx="5267325" cy="2867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mercado por sí solo no garantiza equidad ni eficiencia. Las políticas sociolaborales corrigen estos fallos, promoviendo empleo digno y cohesión social, y asegurando que los beneficios del desarrollo alcancen a todos.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913765" y="918210"/>
            <a:ext cx="10468610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Por qué necesitamos políticas sociolaborales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166485" y="2667635"/>
            <a:ext cx="5436870" cy="511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Justificación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7" name="Image 1" descr="https://kimi-img.moonshot.cn/pub/slides/slides_tmpl/image/25-08-27-19:59:37-d2nf6a98bjvh7rlj00ug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214120" y="2749550"/>
            <a:ext cx="2677795" cy="2831465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08-27-19:59:38-d2nf6ah8bjvh7rlj00vg.png"/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4748530" y="2228850"/>
            <a:ext cx="717550" cy="520700"/>
          </a:xfrm>
          <a:prstGeom prst="rect">
            <a:avLst/>
          </a:prstGeom>
        </p:spPr>
      </p:pic>
      <p:pic>
        <p:nvPicPr>
          <p:cNvPr id="9" name="Image 3" descr="https://kimi-img.moonshot.cn/pub/slides/slides_tmpl/image/25-08-27-19:59:38-d2nf6ah8bjvh7rlj010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0190" y="4832985"/>
            <a:ext cx="943610" cy="346075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 rot="19800000">
            <a:off x="1225968" y="3994193"/>
            <a:ext cx="1696082" cy="1703277"/>
          </a:xfrm>
          <a:custGeom>
            <a:avLst/>
            <a:gdLst/>
            <a:ahLst/>
            <a:cxnLst/>
            <a:rect l="l" t="t" r="r" b="b"/>
            <a:pathLst>
              <a:path w="1696082" h="1703277">
                <a:moveTo>
                  <a:pt x="604939" y="1663790"/>
                </a:moveTo>
                <a:lnTo>
                  <a:pt x="1091144" y="1663790"/>
                </a:lnTo>
                <a:lnTo>
                  <a:pt x="1019677" y="1685975"/>
                </a:lnTo>
                <a:cubicBezTo>
                  <a:pt x="964237" y="1697320"/>
                  <a:pt x="906835" y="1703277"/>
                  <a:pt x="848041" y="1703277"/>
                </a:cubicBezTo>
                <a:cubicBezTo>
                  <a:pt x="789247" y="1703277"/>
                  <a:pt x="731845" y="1697320"/>
                  <a:pt x="676406" y="1685975"/>
                </a:cubicBezTo>
                <a:close/>
                <a:moveTo>
                  <a:pt x="365869" y="1552871"/>
                </a:moveTo>
                <a:lnTo>
                  <a:pt x="1330213" y="1552871"/>
                </a:lnTo>
                <a:lnTo>
                  <a:pt x="1324202" y="1557831"/>
                </a:lnTo>
                <a:lnTo>
                  <a:pt x="1260590" y="1592358"/>
                </a:lnTo>
                <a:lnTo>
                  <a:pt x="435492" y="1592358"/>
                </a:lnTo>
                <a:lnTo>
                  <a:pt x="371880" y="1557831"/>
                </a:lnTo>
                <a:close/>
                <a:moveTo>
                  <a:pt x="236033" y="1441952"/>
                </a:moveTo>
                <a:lnTo>
                  <a:pt x="1460050" y="1441952"/>
                </a:lnTo>
                <a:lnTo>
                  <a:pt x="1450243" y="1453838"/>
                </a:lnTo>
                <a:lnTo>
                  <a:pt x="1416790" y="1481438"/>
                </a:lnTo>
                <a:lnTo>
                  <a:pt x="279292" y="1481438"/>
                </a:lnTo>
                <a:lnTo>
                  <a:pt x="245840" y="1453838"/>
                </a:lnTo>
                <a:close/>
                <a:moveTo>
                  <a:pt x="144515" y="1331032"/>
                </a:moveTo>
                <a:lnTo>
                  <a:pt x="1551567" y="1331032"/>
                </a:lnTo>
                <a:lnTo>
                  <a:pt x="1518988" y="1370519"/>
                </a:lnTo>
                <a:lnTo>
                  <a:pt x="177095" y="1370519"/>
                </a:lnTo>
                <a:close/>
                <a:moveTo>
                  <a:pt x="83397" y="1220113"/>
                </a:moveTo>
                <a:lnTo>
                  <a:pt x="1612686" y="1220113"/>
                </a:lnTo>
                <a:lnTo>
                  <a:pt x="1591253" y="1259600"/>
                </a:lnTo>
                <a:lnTo>
                  <a:pt x="104830" y="1259600"/>
                </a:lnTo>
                <a:close/>
                <a:moveTo>
                  <a:pt x="40373" y="1109194"/>
                </a:moveTo>
                <a:lnTo>
                  <a:pt x="1655709" y="1109194"/>
                </a:lnTo>
                <a:lnTo>
                  <a:pt x="1643451" y="1148680"/>
                </a:lnTo>
                <a:lnTo>
                  <a:pt x="52631" y="1148680"/>
                </a:lnTo>
                <a:close/>
                <a:moveTo>
                  <a:pt x="11181" y="998274"/>
                </a:moveTo>
                <a:lnTo>
                  <a:pt x="1684901" y="998274"/>
                </a:lnTo>
                <a:lnTo>
                  <a:pt x="1682381" y="1023274"/>
                </a:lnTo>
                <a:lnTo>
                  <a:pt x="1677883" y="1037761"/>
                </a:lnTo>
                <a:lnTo>
                  <a:pt x="18199" y="1037761"/>
                </a:lnTo>
                <a:lnTo>
                  <a:pt x="13702" y="1023274"/>
                </a:lnTo>
                <a:close/>
                <a:moveTo>
                  <a:pt x="0" y="887355"/>
                </a:moveTo>
                <a:lnTo>
                  <a:pt x="1696082" y="887355"/>
                </a:lnTo>
                <a:lnTo>
                  <a:pt x="1692102" y="926842"/>
                </a:lnTo>
                <a:lnTo>
                  <a:pt x="3980" y="926842"/>
                </a:lnTo>
                <a:close/>
                <a:moveTo>
                  <a:pt x="3980" y="776435"/>
                </a:moveTo>
                <a:lnTo>
                  <a:pt x="1692102" y="776435"/>
                </a:lnTo>
                <a:lnTo>
                  <a:pt x="1696082" y="815922"/>
                </a:lnTo>
                <a:lnTo>
                  <a:pt x="0" y="815922"/>
                </a:lnTo>
                <a:close/>
                <a:moveTo>
                  <a:pt x="18199" y="665516"/>
                </a:moveTo>
                <a:lnTo>
                  <a:pt x="1677884" y="665516"/>
                </a:lnTo>
                <a:lnTo>
                  <a:pt x="1682381" y="680003"/>
                </a:lnTo>
                <a:lnTo>
                  <a:pt x="1684901" y="705003"/>
                </a:lnTo>
                <a:lnTo>
                  <a:pt x="11181" y="705003"/>
                </a:lnTo>
                <a:lnTo>
                  <a:pt x="13702" y="680003"/>
                </a:lnTo>
                <a:close/>
                <a:moveTo>
                  <a:pt x="52631" y="554597"/>
                </a:moveTo>
                <a:lnTo>
                  <a:pt x="1643453" y="554597"/>
                </a:lnTo>
                <a:lnTo>
                  <a:pt x="1655710" y="594083"/>
                </a:lnTo>
                <a:lnTo>
                  <a:pt x="40373" y="594083"/>
                </a:lnTo>
                <a:close/>
                <a:moveTo>
                  <a:pt x="104829" y="443677"/>
                </a:moveTo>
                <a:lnTo>
                  <a:pt x="1591253" y="443677"/>
                </a:lnTo>
                <a:lnTo>
                  <a:pt x="1612686" y="483164"/>
                </a:lnTo>
                <a:lnTo>
                  <a:pt x="83396" y="483164"/>
                </a:lnTo>
                <a:close/>
                <a:moveTo>
                  <a:pt x="177094" y="332758"/>
                </a:moveTo>
                <a:lnTo>
                  <a:pt x="1518989" y="332758"/>
                </a:lnTo>
                <a:lnTo>
                  <a:pt x="1551568" y="372245"/>
                </a:lnTo>
                <a:lnTo>
                  <a:pt x="144514" y="372245"/>
                </a:lnTo>
                <a:close/>
                <a:moveTo>
                  <a:pt x="279291" y="221839"/>
                </a:moveTo>
                <a:lnTo>
                  <a:pt x="1416792" y="221839"/>
                </a:lnTo>
                <a:lnTo>
                  <a:pt x="1450243" y="249439"/>
                </a:lnTo>
                <a:lnTo>
                  <a:pt x="1460050" y="261325"/>
                </a:lnTo>
                <a:lnTo>
                  <a:pt x="236032" y="261325"/>
                </a:lnTo>
                <a:lnTo>
                  <a:pt x="245840" y="249439"/>
                </a:lnTo>
                <a:close/>
                <a:moveTo>
                  <a:pt x="435490" y="110919"/>
                </a:moveTo>
                <a:lnTo>
                  <a:pt x="1260592" y="110919"/>
                </a:lnTo>
                <a:lnTo>
                  <a:pt x="1324202" y="145446"/>
                </a:lnTo>
                <a:lnTo>
                  <a:pt x="1330214" y="150406"/>
                </a:lnTo>
                <a:lnTo>
                  <a:pt x="365868" y="150406"/>
                </a:lnTo>
                <a:lnTo>
                  <a:pt x="371880" y="145446"/>
                </a:lnTo>
                <a:close/>
                <a:moveTo>
                  <a:pt x="848020" y="0"/>
                </a:moveTo>
                <a:lnTo>
                  <a:pt x="848063" y="0"/>
                </a:lnTo>
                <a:lnTo>
                  <a:pt x="935117" y="4396"/>
                </a:lnTo>
                <a:cubicBezTo>
                  <a:pt x="963746" y="7304"/>
                  <a:pt x="991958" y="11629"/>
                  <a:pt x="1019677" y="17302"/>
                </a:cubicBezTo>
                <a:lnTo>
                  <a:pt x="1091147" y="39487"/>
                </a:lnTo>
                <a:lnTo>
                  <a:pt x="604936" y="39487"/>
                </a:lnTo>
                <a:lnTo>
                  <a:pt x="676406" y="17302"/>
                </a:lnTo>
                <a:cubicBezTo>
                  <a:pt x="704126" y="11629"/>
                  <a:pt x="732336" y="7304"/>
                  <a:pt x="760966" y="4396"/>
                </a:cubicBezTo>
                <a:close/>
              </a:path>
            </a:pathLst>
          </a:custGeom>
          <a:solidFill>
            <a:srgbClr val="00B0F0">
              <a:alpha val="30196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5"/>
          <p:cNvSpPr/>
          <p:nvPr/>
        </p:nvSpPr>
        <p:spPr>
          <a:xfrm rot="19800000">
            <a:off x="1225968" y="3994193"/>
            <a:ext cx="1696082" cy="170327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2" name="Image 4" descr="https://kimi-img.moonshot.cn/pub/slides/slides_tmpl/image/25-08-27-19:59:42-d2nf6bh8bjvh7rlj015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22525" y="2265680"/>
            <a:ext cx="2326005" cy="2326005"/>
          </a:xfrm>
          <a:prstGeom prst="rect">
            <a:avLst/>
          </a:prstGeom>
        </p:spPr>
      </p:pic>
      <p:pic>
        <p:nvPicPr>
          <p:cNvPr id="13" name="Image 5" descr="https://kimi-img.moonshot.cn/pub/slides/slides_tmpl/image/25-08-27-19:59:38-d2nf6ah8bjvh7rlj010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0700000">
            <a:off x="3891915" y="3684270"/>
            <a:ext cx="1569720" cy="1429385"/>
          </a:xfrm>
          <a:prstGeom prst="rect">
            <a:avLst/>
          </a:prstGeom>
        </p:spPr>
      </p:pic>
      <p:pic>
        <p:nvPicPr>
          <p:cNvPr id="14" name="Image 6" descr="https://kimi-img.moonshot.cn/pub/slides/slides_tmpl/image/25-08-27-19:59:39-d2nf6ap8bjvh7rlj011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3765" y="4944110"/>
            <a:ext cx="461645" cy="462915"/>
          </a:xfrm>
          <a:prstGeom prst="rect">
            <a:avLst/>
          </a:prstGeom>
        </p:spPr>
      </p:pic>
      <p:sp>
        <p:nvSpPr>
          <p:cNvPr id="15" name="Shape 6"/>
          <p:cNvSpPr/>
          <p:nvPr/>
        </p:nvSpPr>
        <p:spPr>
          <a:xfrm>
            <a:off x="2415540" y="2202815"/>
            <a:ext cx="2395855" cy="2395855"/>
          </a:xfrm>
          <a:prstGeom prst="ellipse">
            <a:avLst/>
          </a:prstGeom>
          <a:gradFill flip="none" rotWithShape="1">
            <a:gsLst>
              <a:gs pos="0">
                <a:srgbClr val="0C24C4"/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7"/>
          <p:cNvSpPr/>
          <p:nvPr/>
        </p:nvSpPr>
        <p:spPr>
          <a:xfrm>
            <a:off x="2415540" y="2202815"/>
            <a:ext cx="2395855" cy="23958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7" name="Image 7" descr="https://kimi-img.moonshot.cn/pub/slides/slides_tmpl/image/25-08-27-19:59:33-d2nf6998bjvh7rlj00sg.png"/>
          <p:cNvPicPr>
            <a:picLocks noChangeAspect="1"/>
          </p:cNvPicPr>
          <p:nvPr/>
        </p:nvPicPr>
        <p:blipFill>
          <a:blip r:embed="rId10">
            <a:alphaModFix amt="60000"/>
          </a:blip>
          <a:stretch>
            <a:fillRect/>
          </a:stretch>
        </p:blipFill>
        <p:spPr>
          <a:xfrm rot="1740000">
            <a:off x="10302240" y="1891030"/>
            <a:ext cx="805815" cy="847725"/>
          </a:xfrm>
          <a:prstGeom prst="rect">
            <a:avLst/>
          </a:prstGeom>
        </p:spPr>
      </p:pic>
      <p:pic>
        <p:nvPicPr>
          <p:cNvPr id="18" name="Image 8" descr="https://kimi-img.moonshot.cn/pub/slides/slides_tmpl/image/25-08-27-19:59:39-d2nf6ap8bjvh7rlj0110.png"/>
          <p:cNvPicPr>
            <a:picLocks noChangeAspect="1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>
            <a:off x="10052050" y="-999490"/>
            <a:ext cx="3007995" cy="3016250"/>
          </a:xfrm>
          <a:prstGeom prst="rect">
            <a:avLst/>
          </a:prstGeom>
        </p:spPr>
      </p:pic>
      <p:sp>
        <p:nvSpPr>
          <p:cNvPr id="19" name="Shape 8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9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1" name="Shape 10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1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3" name="Shape 12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13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5" name="Shape 14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15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7" name="Shape 16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1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9" name="Shape 1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19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0-d2nf6b18bjvh7rlj0120.jp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49-d2nf6d98bjvh7rlj01eg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635" y="2811780"/>
            <a:ext cx="12191365" cy="451548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1020" y="53213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Funciones de las políticas sociolaborales</a:t>
            </a:r>
            <a:endParaRPr lang="en-US" sz="1600" dirty="0"/>
          </a:p>
        </p:txBody>
      </p:sp>
      <p:pic>
        <p:nvPicPr>
          <p:cNvPr id="5" name="Image 2" descr="https://kimi-img.moonshot.cn/pub/slides/slides_tmpl/image/25-08-27-19:59:33-d2nf6998bjvh7rlj00sg.png"/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 rot="1740000">
            <a:off x="9091295" y="1026795"/>
            <a:ext cx="805815" cy="847725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08-27-19:59:39-d2nf6ap8bjvh7rlj0110.png"/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>
            <a:off x="10052050" y="-999490"/>
            <a:ext cx="3007995" cy="3016250"/>
          </a:xfrm>
          <a:prstGeom prst="rect">
            <a:avLst/>
          </a:prstGeom>
        </p:spPr>
      </p:pic>
      <p:pic>
        <p:nvPicPr>
          <p:cNvPr id="7" name="Image 4" descr="https://kimi-img.moonshot.cn/pub/slides/slides_tmpl/image/25-08-27-19:59:33-d2nf6998bjvh7rlj00sg.png"/>
          <p:cNvPicPr>
            <a:picLocks noChangeAspect="1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1740000">
            <a:off x="3428365" y="5163185"/>
            <a:ext cx="425450" cy="447675"/>
          </a:xfrm>
          <a:prstGeom prst="rect">
            <a:avLst/>
          </a:prstGeom>
        </p:spPr>
      </p:pic>
      <p:pic>
        <p:nvPicPr>
          <p:cNvPr id="8" name="Image 5" descr="https://kimi-img.moonshot.cn/pub/slides/slides_tmpl/image/25-08-27-19:59:33-d2nf6998bjvh7rlj00sg.png"/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 rot="1740000">
            <a:off x="11146790" y="5626100"/>
            <a:ext cx="425450" cy="447675"/>
          </a:xfrm>
          <a:prstGeom prst="rect">
            <a:avLst/>
          </a:prstGeom>
        </p:spPr>
      </p:pic>
      <p:sp>
        <p:nvSpPr>
          <p:cNvPr id="9" name="Shape 1"/>
          <p:cNvSpPr/>
          <p:nvPr/>
        </p:nvSpPr>
        <p:spPr>
          <a:xfrm>
            <a:off x="4296410" y="1910080"/>
            <a:ext cx="3388995" cy="374142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2"/>
          <p:cNvSpPr/>
          <p:nvPr/>
        </p:nvSpPr>
        <p:spPr>
          <a:xfrm>
            <a:off x="4296410" y="1910080"/>
            <a:ext cx="3388995" cy="37414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Text 3"/>
          <p:cNvSpPr/>
          <p:nvPr/>
        </p:nvSpPr>
        <p:spPr>
          <a:xfrm>
            <a:off x="4587240" y="2909570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Alterar la distribución de ingresos y riqueza resultante del mercado, mediante políticas de salario mínimo, impuestos progresivos y transferencias a trabajadores de bajos ingresos.</a:t>
            </a:r>
            <a:endParaRPr lang="en-US" sz="1600" dirty="0"/>
          </a:p>
        </p:txBody>
      </p:sp>
      <p:sp>
        <p:nvSpPr>
          <p:cNvPr id="12" name="Text 4"/>
          <p:cNvSpPr/>
          <p:nvPr/>
        </p:nvSpPr>
        <p:spPr>
          <a:xfrm>
            <a:off x="4587240" y="2195830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Redistribución</a:t>
            </a:r>
            <a:endParaRPr lang="en-US" sz="1600" dirty="0"/>
          </a:p>
        </p:txBody>
      </p:sp>
      <p:sp>
        <p:nvSpPr>
          <p:cNvPr id="13" name="Shape 5"/>
          <p:cNvSpPr/>
          <p:nvPr/>
        </p:nvSpPr>
        <p:spPr>
          <a:xfrm>
            <a:off x="7752080" y="2186305"/>
            <a:ext cx="3388995" cy="374142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9000"/>
                </a:srgbClr>
              </a:gs>
              <a:gs pos="26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6"/>
          <p:cNvSpPr/>
          <p:nvPr/>
        </p:nvSpPr>
        <p:spPr>
          <a:xfrm>
            <a:off x="7752080" y="2186305"/>
            <a:ext cx="3388995" cy="37414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5" name="Text 7"/>
          <p:cNvSpPr/>
          <p:nvPr/>
        </p:nvSpPr>
        <p:spPr>
          <a:xfrm>
            <a:off x="8042910" y="3185795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Proporcionar servicios públicos y garantizar derechos sociales, como empleo público, formación profesional y protección laboral básica.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8042910" y="247205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Provisión de Servicios</a:t>
            </a:r>
            <a:endParaRPr lang="en-US" sz="1600" dirty="0"/>
          </a:p>
        </p:txBody>
      </p:sp>
      <p:pic>
        <p:nvPicPr>
          <p:cNvPr id="17" name="Image 6" descr="https://kimi-img.moonshot.cn/pub/slides/slides_tmpl/image/25-08-27-19:59:39-d2nf6ap8bjvh7rlj0110.png"/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>
            <a:off x="-1176020" y="5157470"/>
            <a:ext cx="3007995" cy="3016250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791845" y="1572895"/>
            <a:ext cx="3388995" cy="374142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1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0"/>
          <p:cNvSpPr/>
          <p:nvPr/>
        </p:nvSpPr>
        <p:spPr>
          <a:xfrm>
            <a:off x="791845" y="1572895"/>
            <a:ext cx="3388995" cy="37414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Text 11"/>
          <p:cNvSpPr/>
          <p:nvPr/>
        </p:nvSpPr>
        <p:spPr>
          <a:xfrm>
            <a:off x="1082675" y="2572385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Suavizar ciclos económicos, reduciendo la severidad de las recesiones y controlando los excesos durante los períodos de auge, mediante políticas de empleo anticíclicas.</a:t>
            </a:r>
            <a:endParaRPr lang="en-US" sz="1600" dirty="0"/>
          </a:p>
        </p:txBody>
      </p:sp>
      <p:sp>
        <p:nvSpPr>
          <p:cNvPr id="21" name="Text 12"/>
          <p:cNvSpPr/>
          <p:nvPr/>
        </p:nvSpPr>
        <p:spPr>
          <a:xfrm>
            <a:off x="1082675" y="185864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Estabilización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32-d2nf6918bjvh7rlj00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8-27-19:59:33-d2nf6998bjvh7rlj00q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8-27-19:59:30-d2nf68h8bjvh7rlj00p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4295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F2F7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Estructura y áreas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41-d2nf6b98bjvh7rlj014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540" y="5133340"/>
            <a:ext cx="475615" cy="93281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2155" y="905510"/>
            <a:ext cx="1064958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Políticas de empleo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732155" y="2329180"/>
            <a:ext cx="3596640" cy="699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732155" y="3028950"/>
            <a:ext cx="3596640" cy="2962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políticas de empleo buscan alcanzar el pleno empleo y la cohesión social, estando estrechamente ligadas a la política económica general.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7999730" y="2329815"/>
            <a:ext cx="3806190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Ejemplos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999730" y="3023870"/>
            <a:ext cx="3596640" cy="2765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Incluyen programas de creación directa de empleo, incentivos fiscales para la contratación, reducción de la jornada laboral, programas de empleo juvenil y fomento del emprendimiento.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328795" y="4899025"/>
            <a:ext cx="3431540" cy="1268095"/>
          </a:xfrm>
          <a:prstGeom prst="trapezoid">
            <a:avLst>
              <a:gd name="adj" fmla="val 26039"/>
            </a:avLst>
          </a:prstGeom>
          <a:gradFill flip="none" rotWithShape="1">
            <a:gsLst>
              <a:gs pos="0">
                <a:srgbClr val="577FD2">
                  <a:alpha val="21000"/>
                </a:srgbClr>
              </a:gs>
              <a:gs pos="68000">
                <a:srgbClr val="F3F7FA">
                  <a:alpha val="0"/>
                </a:srgbClr>
              </a:gs>
              <a:gs pos="100000">
                <a:srgbClr val="F3F7FA">
                  <a:alpha val="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6"/>
          <p:cNvSpPr/>
          <p:nvPr/>
        </p:nvSpPr>
        <p:spPr>
          <a:xfrm>
            <a:off x="4328795" y="4899025"/>
            <a:ext cx="3431540" cy="126809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1" name="Image 2" descr="https://kimi-img.moonshot.cn/pub/slides/slides_tmpl/image/25-08-27-19:59:45-d2nf6c98bjvh7rlj01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9780" y="2643505"/>
            <a:ext cx="2904490" cy="3145790"/>
          </a:xfrm>
          <a:prstGeom prst="rect">
            <a:avLst/>
          </a:prstGeom>
        </p:spPr>
      </p:pic>
      <p:pic>
        <p:nvPicPr>
          <p:cNvPr id="12" name="Image 3" descr="https://kimi-img.moonshot.cn/pub/slides/slides_tmpl/image/25-08-27-19:59:42-d2nf6bh8bjvh7rlj0160.png"/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 flipH="1" flipV="1">
            <a:off x="6543040" y="2043430"/>
            <a:ext cx="1456690" cy="1456690"/>
          </a:xfrm>
          <a:prstGeom prst="rect">
            <a:avLst/>
          </a:prstGeom>
        </p:spPr>
      </p:pic>
      <p:pic>
        <p:nvPicPr>
          <p:cNvPr id="13" name="Image 4" descr="https://kimi-img.moonshot.cn/pub/slides/slides_tmpl/image/25-08-27-19:59:39-d2nf6ap8bjvh7rlj0110.png"/>
          <p:cNvPicPr>
            <a:picLocks noChangeAspect="1"/>
          </p:cNvPicPr>
          <p:nvPr/>
        </p:nvPicPr>
        <p:blipFill>
          <a:blip r:embed="rId7">
            <a:alphaModFix amt="60000"/>
          </a:blip>
          <a:stretch>
            <a:fillRect/>
          </a:stretch>
        </p:blipFill>
        <p:spPr>
          <a:xfrm>
            <a:off x="4328795" y="5132070"/>
            <a:ext cx="461645" cy="462915"/>
          </a:xfrm>
          <a:prstGeom prst="rect">
            <a:avLst/>
          </a:prstGeom>
        </p:spPr>
      </p:pic>
      <p:pic>
        <p:nvPicPr>
          <p:cNvPr id="14" name="Image 5" descr="https://kimi-img.moonshot.cn/pub/slides/slides_tmpl/image/25-08-27-19:59:30-d2nf68h8bjvh7rlj00p0.png"/>
          <p:cNvPicPr>
            <a:picLocks noChangeAspect="1"/>
          </p:cNvPicPr>
          <p:nvPr/>
        </p:nvPicPr>
        <p:blipFill>
          <a:blip r:embed="rId8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8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9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0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1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2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3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2" name="Shape 14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15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4" name="Shape 16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17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6" name="Shape 18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19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10800000">
            <a:off x="581660" y="1812290"/>
            <a:ext cx="2198370" cy="540385"/>
          </a:xfrm>
          <a:custGeom>
            <a:avLst/>
            <a:gdLst/>
            <a:ahLst/>
            <a:cxnLst/>
            <a:rect l="l" t="t" r="r" b="b"/>
            <a:pathLst>
              <a:path w="2198370" h="540385">
                <a:moveTo>
                  <a:pt x="81200" y="342224"/>
                </a:moveTo>
                <a:lnTo>
                  <a:pt x="81200" y="342224"/>
                </a:lnTo>
                <a:cubicBezTo>
                  <a:pt x="122620" y="299123"/>
                  <a:pt x="122620" y="240044"/>
                  <a:pt x="81200" y="196980"/>
                </a:cubicBezTo>
                <a:lnTo>
                  <a:pt x="81200" y="196980"/>
                </a:lnTo>
                <a:cubicBezTo>
                  <a:pt x="0" y="114505"/>
                  <a:pt x="79561" y="0"/>
                  <a:pt x="215392" y="0"/>
                </a:cubicBezTo>
                <a:lnTo>
                  <a:pt x="1920054" y="0"/>
                </a:lnTo>
                <a:cubicBezTo>
                  <a:pt x="1973095" y="0"/>
                  <a:pt x="2024447" y="18488"/>
                  <a:pt x="2055934" y="50481"/>
                </a:cubicBezTo>
                <a:lnTo>
                  <a:pt x="2198370" y="196980"/>
                </a:lnTo>
                <a:cubicBezTo>
                  <a:pt x="2239790" y="240044"/>
                  <a:pt x="2239790" y="299123"/>
                  <a:pt x="2198370" y="342224"/>
                </a:cubicBezTo>
                <a:lnTo>
                  <a:pt x="2055934" y="488686"/>
                </a:lnTo>
                <a:cubicBezTo>
                  <a:pt x="2024447" y="520717"/>
                  <a:pt x="1973095" y="540385"/>
                  <a:pt x="1920054" y="540385"/>
                </a:cubicBezTo>
                <a:lnTo>
                  <a:pt x="215392" y="540385"/>
                </a:lnTo>
                <a:cubicBezTo>
                  <a:pt x="79561" y="540385"/>
                  <a:pt x="0" y="424699"/>
                  <a:pt x="81200" y="342224"/>
                </a:cubicBezTo>
                <a:close/>
              </a:path>
            </a:pathLst>
          </a:custGeom>
          <a:gradFill flip="none" rotWithShape="1">
            <a:gsLst>
              <a:gs pos="0">
                <a:srgbClr val="2F5BEE"/>
              </a:gs>
              <a:gs pos="24000">
                <a:srgbClr val="91CBF6">
                  <a:alpha val="50000"/>
                </a:srgbClr>
              </a:gs>
              <a:gs pos="39000">
                <a:srgbClr val="91CBF6"/>
              </a:gs>
              <a:gs pos="100000">
                <a:srgbClr val="91CBF6">
                  <a:alpha val="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 rot="10800000">
            <a:off x="581660" y="1812290"/>
            <a:ext cx="2198370" cy="54038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077595" y="1812290"/>
            <a:ext cx="4129405" cy="548005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B8BF7">
                  <a:alpha val="23000"/>
                </a:srgbClr>
              </a:gs>
              <a:gs pos="84000">
                <a:srgbClr val="FFFFFF">
                  <a:alpha val="57000"/>
                </a:srgbClr>
              </a:gs>
              <a:gs pos="100000">
                <a:srgbClr val="FFFFFF">
                  <a:alpha val="5700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1077595" y="1812290"/>
            <a:ext cx="4129405" cy="54800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54455" y="1931035"/>
            <a:ext cx="37719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76020" y="2435225"/>
            <a:ext cx="4496435" cy="1709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políticas de formación profesional se centran en la promoción y formación profesional en el trabajo, adaptándose a los cambios en el mercado laboral.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10800000">
            <a:off x="581660" y="4219575"/>
            <a:ext cx="2198370" cy="540385"/>
          </a:xfrm>
          <a:custGeom>
            <a:avLst/>
            <a:gdLst/>
            <a:ahLst/>
            <a:cxnLst/>
            <a:rect l="l" t="t" r="r" b="b"/>
            <a:pathLst>
              <a:path w="2198370" h="540385">
                <a:moveTo>
                  <a:pt x="81200" y="342224"/>
                </a:moveTo>
                <a:lnTo>
                  <a:pt x="81200" y="342224"/>
                </a:lnTo>
                <a:cubicBezTo>
                  <a:pt x="122620" y="299123"/>
                  <a:pt x="122620" y="240044"/>
                  <a:pt x="81200" y="196980"/>
                </a:cubicBezTo>
                <a:lnTo>
                  <a:pt x="81200" y="196980"/>
                </a:lnTo>
                <a:cubicBezTo>
                  <a:pt x="0" y="114505"/>
                  <a:pt x="79561" y="0"/>
                  <a:pt x="215392" y="0"/>
                </a:cubicBezTo>
                <a:lnTo>
                  <a:pt x="1920054" y="0"/>
                </a:lnTo>
                <a:cubicBezTo>
                  <a:pt x="1973095" y="0"/>
                  <a:pt x="2024447" y="18488"/>
                  <a:pt x="2055934" y="50481"/>
                </a:cubicBezTo>
                <a:lnTo>
                  <a:pt x="2198370" y="196980"/>
                </a:lnTo>
                <a:cubicBezTo>
                  <a:pt x="2239790" y="240044"/>
                  <a:pt x="2239790" y="299123"/>
                  <a:pt x="2198370" y="342224"/>
                </a:cubicBezTo>
                <a:lnTo>
                  <a:pt x="2055934" y="488686"/>
                </a:lnTo>
                <a:cubicBezTo>
                  <a:pt x="2024447" y="520717"/>
                  <a:pt x="1973095" y="540385"/>
                  <a:pt x="1920054" y="540385"/>
                </a:cubicBezTo>
                <a:lnTo>
                  <a:pt x="215392" y="540385"/>
                </a:lnTo>
                <a:cubicBezTo>
                  <a:pt x="79561" y="540385"/>
                  <a:pt x="0" y="424699"/>
                  <a:pt x="81200" y="342224"/>
                </a:cubicBezTo>
                <a:close/>
              </a:path>
            </a:pathLst>
          </a:custGeom>
          <a:gradFill flip="none" rotWithShape="1">
            <a:gsLst>
              <a:gs pos="0">
                <a:srgbClr val="2F5BEE"/>
              </a:gs>
              <a:gs pos="24000">
                <a:srgbClr val="91CBF6">
                  <a:alpha val="50000"/>
                </a:srgbClr>
              </a:gs>
              <a:gs pos="39000">
                <a:srgbClr val="91CBF6"/>
              </a:gs>
              <a:gs pos="100000">
                <a:srgbClr val="91CBF6">
                  <a:alpha val="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 rot="10800000">
            <a:off x="581660" y="4219575"/>
            <a:ext cx="2198370" cy="54038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77595" y="4219575"/>
            <a:ext cx="4129405" cy="548005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B8BF7">
                  <a:alpha val="23000"/>
                </a:srgbClr>
              </a:gs>
              <a:gs pos="84000">
                <a:srgbClr val="FFFFFF">
                  <a:alpha val="57000"/>
                </a:srgbClr>
              </a:gs>
              <a:gs pos="100000">
                <a:srgbClr val="FFFFFF">
                  <a:alpha val="5700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1077595" y="4219575"/>
            <a:ext cx="4129405" cy="54800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54455" y="4338320"/>
            <a:ext cx="37719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Objetivo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76020" y="4842510"/>
            <a:ext cx="4496435" cy="1805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 objetivo es mejorar la empleabilidad de los trabajadores, adaptándolos a las demandas cambiantes del mercado y promoviendo la movilidad profesional.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 rot="10800000">
            <a:off x="6457315" y="1812290"/>
            <a:ext cx="2198370" cy="540385"/>
          </a:xfrm>
          <a:custGeom>
            <a:avLst/>
            <a:gdLst/>
            <a:ahLst/>
            <a:cxnLst/>
            <a:rect l="l" t="t" r="r" b="b"/>
            <a:pathLst>
              <a:path w="2198370" h="540385">
                <a:moveTo>
                  <a:pt x="81200" y="342224"/>
                </a:moveTo>
                <a:lnTo>
                  <a:pt x="81200" y="342224"/>
                </a:lnTo>
                <a:cubicBezTo>
                  <a:pt x="122620" y="299123"/>
                  <a:pt x="122620" y="240044"/>
                  <a:pt x="81200" y="196980"/>
                </a:cubicBezTo>
                <a:lnTo>
                  <a:pt x="81200" y="196980"/>
                </a:lnTo>
                <a:cubicBezTo>
                  <a:pt x="0" y="114505"/>
                  <a:pt x="79561" y="0"/>
                  <a:pt x="215392" y="0"/>
                </a:cubicBezTo>
                <a:lnTo>
                  <a:pt x="1920054" y="0"/>
                </a:lnTo>
                <a:cubicBezTo>
                  <a:pt x="1973095" y="0"/>
                  <a:pt x="2024447" y="18488"/>
                  <a:pt x="2055934" y="50481"/>
                </a:cubicBezTo>
                <a:lnTo>
                  <a:pt x="2198370" y="196980"/>
                </a:lnTo>
                <a:cubicBezTo>
                  <a:pt x="2239790" y="240044"/>
                  <a:pt x="2239790" y="299123"/>
                  <a:pt x="2198370" y="342224"/>
                </a:cubicBezTo>
                <a:lnTo>
                  <a:pt x="2055934" y="488686"/>
                </a:lnTo>
                <a:cubicBezTo>
                  <a:pt x="2024447" y="520717"/>
                  <a:pt x="1973095" y="540385"/>
                  <a:pt x="1920054" y="540385"/>
                </a:cubicBezTo>
                <a:lnTo>
                  <a:pt x="215392" y="540385"/>
                </a:lnTo>
                <a:cubicBezTo>
                  <a:pt x="79561" y="540385"/>
                  <a:pt x="0" y="424699"/>
                  <a:pt x="81200" y="342224"/>
                </a:cubicBezTo>
                <a:close/>
              </a:path>
            </a:pathLst>
          </a:custGeom>
          <a:gradFill flip="none" rotWithShape="1">
            <a:gsLst>
              <a:gs pos="0">
                <a:srgbClr val="2F5BEE"/>
              </a:gs>
              <a:gs pos="24000">
                <a:srgbClr val="91CBF6">
                  <a:alpha val="50000"/>
                </a:srgbClr>
              </a:gs>
              <a:gs pos="39000">
                <a:srgbClr val="91CBF6"/>
              </a:gs>
              <a:gs pos="100000">
                <a:srgbClr val="91CBF6">
                  <a:alpha val="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 rot="10800000">
            <a:off x="6457315" y="1812290"/>
            <a:ext cx="2198370" cy="54038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953250" y="1812290"/>
            <a:ext cx="4129405" cy="548005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B8BF7">
                  <a:alpha val="23000"/>
                </a:srgbClr>
              </a:gs>
              <a:gs pos="84000">
                <a:srgbClr val="FFFFFF">
                  <a:alpha val="57000"/>
                </a:srgbClr>
              </a:gs>
              <a:gs pos="100000">
                <a:srgbClr val="FFFFFF">
                  <a:alpha val="5700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6953250" y="1812290"/>
            <a:ext cx="4129405" cy="54800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208520" y="1931035"/>
            <a:ext cx="37719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Ejemplos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051675" y="2435225"/>
            <a:ext cx="4496435" cy="1709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Incluyen programas de formación continua, certificación de competencias laborales, reconversión profesional y colaboraciones entre empresas e instituciones educativas.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 rot="10800000">
            <a:off x="6457315" y="4219575"/>
            <a:ext cx="2198370" cy="540385"/>
          </a:xfrm>
          <a:custGeom>
            <a:avLst/>
            <a:gdLst/>
            <a:ahLst/>
            <a:cxnLst/>
            <a:rect l="l" t="t" r="r" b="b"/>
            <a:pathLst>
              <a:path w="2198370" h="540385">
                <a:moveTo>
                  <a:pt x="81200" y="342224"/>
                </a:moveTo>
                <a:lnTo>
                  <a:pt x="81200" y="342224"/>
                </a:lnTo>
                <a:cubicBezTo>
                  <a:pt x="122620" y="299123"/>
                  <a:pt x="122620" y="240044"/>
                  <a:pt x="81200" y="196980"/>
                </a:cubicBezTo>
                <a:lnTo>
                  <a:pt x="81200" y="196980"/>
                </a:lnTo>
                <a:cubicBezTo>
                  <a:pt x="0" y="114505"/>
                  <a:pt x="79561" y="0"/>
                  <a:pt x="215392" y="0"/>
                </a:cubicBezTo>
                <a:lnTo>
                  <a:pt x="1920054" y="0"/>
                </a:lnTo>
                <a:cubicBezTo>
                  <a:pt x="1973095" y="0"/>
                  <a:pt x="2024447" y="18488"/>
                  <a:pt x="2055934" y="50481"/>
                </a:cubicBezTo>
                <a:lnTo>
                  <a:pt x="2198370" y="196980"/>
                </a:lnTo>
                <a:cubicBezTo>
                  <a:pt x="2239790" y="240044"/>
                  <a:pt x="2239790" y="299123"/>
                  <a:pt x="2198370" y="342224"/>
                </a:cubicBezTo>
                <a:lnTo>
                  <a:pt x="2055934" y="488686"/>
                </a:lnTo>
                <a:cubicBezTo>
                  <a:pt x="2024447" y="520717"/>
                  <a:pt x="1973095" y="540385"/>
                  <a:pt x="1920054" y="540385"/>
                </a:cubicBezTo>
                <a:lnTo>
                  <a:pt x="215392" y="540385"/>
                </a:lnTo>
                <a:cubicBezTo>
                  <a:pt x="79561" y="540385"/>
                  <a:pt x="0" y="424699"/>
                  <a:pt x="81200" y="342224"/>
                </a:cubicBezTo>
                <a:close/>
              </a:path>
            </a:pathLst>
          </a:custGeom>
          <a:gradFill flip="none" rotWithShape="1">
            <a:gsLst>
              <a:gs pos="0">
                <a:srgbClr val="2F5BEE"/>
              </a:gs>
              <a:gs pos="24000">
                <a:srgbClr val="91CBF6">
                  <a:alpha val="50000"/>
                </a:srgbClr>
              </a:gs>
              <a:gs pos="39000">
                <a:srgbClr val="91CBF6"/>
              </a:gs>
              <a:gs pos="100000">
                <a:srgbClr val="91CBF6">
                  <a:alpha val="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 rot="10800000">
            <a:off x="6457315" y="4219575"/>
            <a:ext cx="2198370" cy="54038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953250" y="4219575"/>
            <a:ext cx="4129405" cy="548005"/>
          </a:xfrm>
          <a:prstGeom prst="roundRect">
            <a:avLst>
              <a:gd name="adj" fmla="val 16667"/>
            </a:avLst>
          </a:prstGeom>
          <a:gradFill flip="none" rotWithShape="1">
            <a:gsLst>
              <a:gs pos="0">
                <a:srgbClr val="4B8BF7">
                  <a:alpha val="23000"/>
                </a:srgbClr>
              </a:gs>
              <a:gs pos="84000">
                <a:srgbClr val="FFFFFF">
                  <a:alpha val="57000"/>
                </a:srgbClr>
              </a:gs>
              <a:gs pos="100000">
                <a:srgbClr val="FFFFFF">
                  <a:alpha val="57000"/>
                </a:srgbClr>
              </a:gs>
            </a:gsLst>
            <a:lin ang="108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1"/>
          <p:cNvSpPr/>
          <p:nvPr/>
        </p:nvSpPr>
        <p:spPr>
          <a:xfrm>
            <a:off x="6953250" y="4219575"/>
            <a:ext cx="4129405" cy="548005"/>
          </a:xfrm>
          <a:prstGeom prst="rect">
            <a:avLst/>
          </a:prstGeom>
          <a:noFill/>
          <a:ln/>
        </p:spPr>
        <p:txBody>
          <a:bodyPr wrap="square" lIns="121920" tIns="121920" rIns="121920" bIns="1219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208520" y="4338320"/>
            <a:ext cx="37719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Importancia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051675" y="4842510"/>
            <a:ext cx="4496435" cy="1805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Son esenciales para mantener la competitividad del país y adaptar la fuerza laboral a las nuevas tecnologías y demandas del mercado global.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81660" y="532130"/>
            <a:ext cx="10966450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Políticas de formación profesional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51-d2nf6dp8bjvh7rlj01j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45615" y="1824990"/>
            <a:ext cx="10120630" cy="439547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path path="circle">
              <a:fillToRect l="100000" t="100000"/>
            </a:path>
            <a:tileRect r="-100000" b="-100000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1745615" y="1824990"/>
            <a:ext cx="10120630" cy="43954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1020" y="532130"/>
            <a:ext cx="10993120" cy="979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Protección a la familia y conciliación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268855" y="3138805"/>
            <a:ext cx="2513965" cy="2987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políticas de protección a la familia buscan conciliar la vida laboral y familiar, reconociendo la importancia de ambas esferas en la vida de las personas.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246630" y="2352040"/>
            <a:ext cx="251460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591175" y="3145790"/>
            <a:ext cx="2513965" cy="298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Incluyen permisos parentales remunerados, flexibilidad horaria, teletrabajo y servicios de guardería en el lugar de trabajo.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568950" y="2359025"/>
            <a:ext cx="251460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Ejemplos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874760" y="3166110"/>
            <a:ext cx="2513965" cy="2959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Estas políticas son cruciales para reducir la brecha de género y permitir que tanto hombres como mujeres puedan equilibrar sus responsabilidades profesionales y familiares.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852535" y="2379345"/>
            <a:ext cx="251460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Impacto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177791" y="3709209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8518526" y="3709209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1" descr="https://kimi-img.moonshot.cn/pub/slides/slides_tmpl/image/25-08-27-19:59:38-d2nf6ah8bjvh7rlj010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660000">
            <a:off x="859790" y="1539875"/>
            <a:ext cx="1212850" cy="1104900"/>
          </a:xfrm>
          <a:prstGeom prst="rect">
            <a:avLst/>
          </a:prstGeom>
        </p:spPr>
      </p:pic>
      <p:pic>
        <p:nvPicPr>
          <p:cNvPr id="15" name="Image 2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6860" y="2763520"/>
            <a:ext cx="534670" cy="537210"/>
          </a:xfrm>
          <a:prstGeom prst="rect">
            <a:avLst/>
          </a:prstGeom>
        </p:spPr>
      </p:pic>
      <p:pic>
        <p:nvPicPr>
          <p:cNvPr id="16" name="Image 3" descr="https://kimi-img.moonshot.cn/pub/slides/slides_tmpl/image/25-08-27-19:59:50-d2nf6dh8bjvh7rlj01i0.png"/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 rot="1080000">
            <a:off x="-203835" y="4772025"/>
            <a:ext cx="852805" cy="2002790"/>
          </a:xfrm>
          <a:prstGeom prst="rect">
            <a:avLst/>
          </a:prstGeom>
        </p:spPr>
      </p:pic>
      <p:pic>
        <p:nvPicPr>
          <p:cNvPr id="17" name="Image 4" descr="https://kimi-img.moonshot.cn/pub/slides/slides_tmpl/image/25-08-27-19:59:30-d2nf68h8bjvh7rlj00p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9-d2nf6ap8bjvh7rlj011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34-d2nf69h8bjvh7rlj00t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6670" y="2538730"/>
            <a:ext cx="8061960" cy="348805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2F5BEE"/>
          </a:solidFill>
          <a:ln w="19050">
            <a:solidFill>
              <a:srgbClr val="4874C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1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2F5BEE"/>
          </a:solidFill>
          <a:ln w="19050">
            <a:solidFill>
              <a:srgbClr val="4874C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3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2F5BEE"/>
          </a:solidFill>
          <a:ln w="19050">
            <a:solidFill>
              <a:srgbClr val="4874C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7"/>
          <p:cNvSpPr/>
          <p:nvPr/>
        </p:nvSpPr>
        <p:spPr>
          <a:xfrm>
            <a:off x="713105" y="2722245"/>
            <a:ext cx="7322820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Cohesión económica y territorial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13105" y="3688715"/>
            <a:ext cx="65830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13105" y="4150360"/>
            <a:ext cx="6583680" cy="173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políticas de cohesión económica y territorial buscan reducir disparidades regionales a través de transferencias de recursos y inversiones en infraestructuras, generando empleo local y fomentando el desarrollo equitativo.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0-d2nf6b18bjvh7rlj0120.jp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46-d2nf6ch8bjvh7rlj01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9745"/>
            <a:ext cx="12192000" cy="58610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2155" y="753110"/>
            <a:ext cx="1064958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Inclusión y colectivos vulnerables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671830" y="3678555"/>
            <a:ext cx="4998085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1129348" y="4100830"/>
            <a:ext cx="4083050" cy="212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políticas de inclusión se centran en la integración laboral de grupos vulnerables, combatiendo la exclusión social y promoviendo la igualdad de oportunidades.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539865" y="3678555"/>
            <a:ext cx="4998085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Ejemplos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997383" y="4100830"/>
            <a:ext cx="4083050" cy="212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Incluyen programas de inserción laboral, cuotas para personas con discapacidad, economía social y apoyo a emprendedores en riesgo de exclusión.</a:t>
            </a:r>
            <a:endParaRPr lang="en-US" sz="1600" dirty="0"/>
          </a:p>
        </p:txBody>
      </p:sp>
      <p:pic>
        <p:nvPicPr>
          <p:cNvPr id="9" name="Image 2" descr="https://kimi-img.moonshot.cn/pub/slides/slides_tmpl/image/25-08-27-19:59:48-d2nf6d18bjvh7rlj01cg.png"/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2615883" y="1976755"/>
            <a:ext cx="1348105" cy="1344930"/>
          </a:xfrm>
          <a:prstGeom prst="rect">
            <a:avLst/>
          </a:prstGeom>
        </p:spPr>
      </p:pic>
      <p:pic>
        <p:nvPicPr>
          <p:cNvPr id="10" name="Image 3" descr="https://kimi-img.moonshot.cn/pub/slides/slides_tmpl/image/25-08-27-19:59:47-d2nf6cp8bjvh7rlj01b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4748" y="2197418"/>
            <a:ext cx="1244600" cy="1193800"/>
          </a:xfrm>
          <a:prstGeom prst="rect">
            <a:avLst/>
          </a:prstGeom>
        </p:spPr>
      </p:pic>
      <p:pic>
        <p:nvPicPr>
          <p:cNvPr id="11" name="Image 4" descr="https://kimi-img.moonshot.cn/pub/slides/slides_tmpl/image/25-08-27-19:59:38-d2nf6ah8bjvh7rlj010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700000">
            <a:off x="3609023" y="2885440"/>
            <a:ext cx="530225" cy="48323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913063" y="228981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Shape 6"/>
          <p:cNvSpPr/>
          <p:nvPr/>
        </p:nvSpPr>
        <p:spPr>
          <a:xfrm>
            <a:off x="6104891" y="2514139"/>
            <a:ext cx="0" cy="2578100"/>
          </a:xfrm>
          <a:prstGeom prst="line">
            <a:avLst/>
          </a:prstGeom>
          <a:noFill/>
          <a:ln w="19050">
            <a:gradFill flip="none" rotWithShape="1">
              <a:gsLst>
                <a:gs pos="0">
                  <a:srgbClr val="2F5BEE">
                    <a:alpha val="61000"/>
                  </a:srgbClr>
                </a:gs>
                <a:gs pos="100000">
                  <a:srgbClr val="8DD4F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5" descr="https://kimi-img.moonshot.cn/pub/slides/slides_tmpl/image/25-08-27-19:59:48-d2nf6d18bjvh7rlj01cg.png"/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8483600" y="1976755"/>
            <a:ext cx="1348105" cy="1344930"/>
          </a:xfrm>
          <a:prstGeom prst="rect">
            <a:avLst/>
          </a:prstGeom>
        </p:spPr>
      </p:pic>
      <p:pic>
        <p:nvPicPr>
          <p:cNvPr id="15" name="Image 6" descr="https://kimi-img.moonshot.cn/pub/slides/slides_tmpl/image/25-08-27-19:59:47-d2nf6cp8bjvh7rlj01b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0850" y="2188143"/>
            <a:ext cx="1244600" cy="1193800"/>
          </a:xfrm>
          <a:prstGeom prst="rect">
            <a:avLst/>
          </a:prstGeom>
        </p:spPr>
      </p:pic>
      <p:pic>
        <p:nvPicPr>
          <p:cNvPr id="16" name="Image 7" descr="https://kimi-img.moonshot.cn/pub/slides/slides_tmpl/image/25-08-27-19:59:38-d2nf6ah8bjvh7rlj010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700000">
            <a:off x="9476740" y="2885440"/>
            <a:ext cx="530225" cy="483235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8693150" y="2289810"/>
            <a:ext cx="928370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32-d2nf6918bjvh7rlj00q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68880"/>
            <a:ext cx="5182870" cy="183515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8-27-19:59:33-d2nf6998bjvh7rlj00q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0829" y="3260408"/>
            <a:ext cx="1701800" cy="17018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1110" y="2028825"/>
            <a:ext cx="2790825" cy="280035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8-27-19:59:30-d2nf68h8bjvh7rlj00p0.png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197052" y="2654618"/>
            <a:ext cx="1618942" cy="14295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0" dirty="0">
                <a:solidFill>
                  <a:srgbClr val="F2F7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586105" y="3133090"/>
            <a:ext cx="7769860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4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Desafíos actuales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3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4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6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8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0"/>
          <p:cNvSpPr/>
          <p:nvPr/>
        </p:nvSpPr>
        <p:spPr>
          <a:xfrm>
            <a:off x="531399" y="6143377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2"/>
          <p:cNvSpPr/>
          <p:nvPr/>
        </p:nvSpPr>
        <p:spPr>
          <a:xfrm>
            <a:off x="531399" y="6240351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solidFill>
            <a:srgbClr val="92ABDF"/>
          </a:solidFill>
          <a:ln w="1905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4"/>
          <p:cNvSpPr/>
          <p:nvPr/>
        </p:nvSpPr>
        <p:spPr>
          <a:xfrm>
            <a:off x="531399" y="6337325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4-d2nf6c18bjvh7rlj018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51-d2nf6dp8bjvh7rlj01k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32130"/>
            <a:ext cx="12192000" cy="58864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81660" y="75311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Automatización y empleo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581660" y="2120900"/>
            <a:ext cx="5175250" cy="401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581660" y="2522220"/>
            <a:ext cx="5175885" cy="148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automatización y digitalización están transformando el mercado laboral, generando tanto destrucción como creación de empleo.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533515" y="2120900"/>
            <a:ext cx="5175250" cy="401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Estrategias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533515" y="2522220"/>
            <a:ext cx="5176520" cy="1483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 necesitan políticas de formación en habilidades digitales y apoyo a la transición hacia nuevos tipos de empleo, como el trabajo remoto y las profesiones emergentes.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81660" y="4095115"/>
            <a:ext cx="5175250" cy="401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Desafío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81660" y="4496435"/>
            <a:ext cx="5175885" cy="1763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principal desafío es la recualificación continua de la fuerza laboral para adaptarse a las nuevas demandas tecnológicas y evitar la precariedad laboral.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533515" y="4095115"/>
            <a:ext cx="5175250" cy="402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Importancia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33515" y="4496435"/>
            <a:ext cx="5176520" cy="1763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adaptación a la automatización es crucial para mantener la competitividad y la empleabilidad en un entorno económico en constante evolución.</a:t>
            </a:r>
            <a:endParaRPr lang="en-US" sz="1600" dirty="0"/>
          </a:p>
        </p:txBody>
      </p:sp>
      <p:pic>
        <p:nvPicPr>
          <p:cNvPr id="13" name="Image 2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751820" y="999490"/>
            <a:ext cx="762000" cy="76200"/>
          </a:xfrm>
          <a:prstGeom prst="rect">
            <a:avLst/>
          </a:prstGeom>
        </p:spPr>
      </p:pic>
      <p:pic>
        <p:nvPicPr>
          <p:cNvPr id="14" name="Image 3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 flipV="1">
            <a:off x="10751820" y="1130300"/>
            <a:ext cx="7620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6298" y="65786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Envejecimiento poblacional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/>
          <p:nvPr/>
        </p:nvSpPr>
        <p:spPr>
          <a:xfrm>
            <a:off x="576149" y="49825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576149" y="59522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solidFill>
            <a:srgbClr val="92ABDF"/>
          </a:solidFill>
          <a:ln w="12700">
            <a:solidFill>
              <a:srgbClr val="92ABD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576149" y="69219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0" name="Image 1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74065" y="1918970"/>
            <a:ext cx="3388995" cy="45148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162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8"/>
          <p:cNvSpPr/>
          <p:nvPr/>
        </p:nvSpPr>
        <p:spPr>
          <a:xfrm>
            <a:off x="774065" y="1918970"/>
            <a:ext cx="3388995" cy="451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120140" y="3669665"/>
            <a:ext cx="2761615" cy="298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envejecimiento de la población es un fenómeno demográfico que plantea desafíos significativos para las políticas públicas.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097915" y="2960370"/>
            <a:ext cx="280543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</a:t>
            </a:r>
            <a:endParaRPr lang="en-US" sz="1600" dirty="0"/>
          </a:p>
        </p:txBody>
      </p:sp>
      <p:pic>
        <p:nvPicPr>
          <p:cNvPr id="16" name="Image 3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0905" y="2049780"/>
            <a:ext cx="688340" cy="69151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152015" y="2136140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pic>
        <p:nvPicPr>
          <p:cNvPr id="18" name="Image 4" descr="https://kimi-img.moonshot.cn/pub/slides/slides_tmpl/image/25-08-27-19:59:47-d2nf6cp8bjvh7rlj01c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56740" y="2232025"/>
            <a:ext cx="1288415" cy="33020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4437380" y="1918335"/>
            <a:ext cx="3388995" cy="45148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162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3"/>
          <p:cNvSpPr/>
          <p:nvPr/>
        </p:nvSpPr>
        <p:spPr>
          <a:xfrm>
            <a:off x="4437380" y="1918335"/>
            <a:ext cx="3388995" cy="451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4755515" y="3669665"/>
            <a:ext cx="2761615" cy="298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Entre los desafíos se encuentran la sostenibilidad de los sistemas de pensiones, la necesidad de prolongar la vida laboral y la adaptación de los puestos de trabajo para los trabajadores mayores.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4733290" y="2960370"/>
            <a:ext cx="280543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Desafíos</a:t>
            </a:r>
            <a:endParaRPr lang="en-US" sz="1600" dirty="0"/>
          </a:p>
        </p:txBody>
      </p:sp>
      <p:pic>
        <p:nvPicPr>
          <p:cNvPr id="23" name="Image 5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6280" y="2049780"/>
            <a:ext cx="688340" cy="69151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796915" y="214185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pic>
        <p:nvPicPr>
          <p:cNvPr id="25" name="Image 6" descr="https://kimi-img.moonshot.cn/pub/slides/slides_tmpl/image/25-08-27-19:59:47-d2nf6cp8bjvh7rlj01c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2115" y="2232025"/>
            <a:ext cx="1288415" cy="33020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8082915" y="1918970"/>
            <a:ext cx="3388995" cy="4514850"/>
          </a:xfrm>
          <a:prstGeom prst="roundRect">
            <a:avLst>
              <a:gd name="adj" fmla="val 7194"/>
            </a:avLst>
          </a:prstGeom>
          <a:gradFill flip="none" rotWithShape="1">
            <a:gsLst>
              <a:gs pos="0">
                <a:srgbClr val="2F5BEE">
                  <a:alpha val="17000"/>
                </a:srgbClr>
              </a:gs>
              <a:gs pos="57000">
                <a:srgbClr val="EAEEF4">
                  <a:alpha val="0"/>
                </a:srgbClr>
              </a:gs>
              <a:gs pos="100000">
                <a:srgbClr val="FFFFFF"/>
              </a:gs>
            </a:gsLst>
            <a:lin ang="1620000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18"/>
          <p:cNvSpPr/>
          <p:nvPr/>
        </p:nvSpPr>
        <p:spPr>
          <a:xfrm>
            <a:off x="8082915" y="1918970"/>
            <a:ext cx="3388995" cy="45148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28" name="Text 19"/>
          <p:cNvSpPr/>
          <p:nvPr/>
        </p:nvSpPr>
        <p:spPr>
          <a:xfrm>
            <a:off x="8395970" y="3669665"/>
            <a:ext cx="2761615" cy="298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Las políticas deben equilibrar el apoyo a los trabajadores mayores con la entrada de jóvenes al mercado laboral, promoviendo la inclusión intergeneracional.</a:t>
            </a:r>
            <a:endParaRPr lang="en-US" sz="1600" dirty="0"/>
          </a:p>
        </p:txBody>
      </p:sp>
      <p:sp>
        <p:nvSpPr>
          <p:cNvPr id="29" name="Text 20"/>
          <p:cNvSpPr/>
          <p:nvPr/>
        </p:nvSpPr>
        <p:spPr>
          <a:xfrm>
            <a:off x="8373745" y="2960370"/>
            <a:ext cx="2805430" cy="786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Estrategias</a:t>
            </a:r>
            <a:endParaRPr lang="en-US" sz="1600" dirty="0"/>
          </a:p>
        </p:txBody>
      </p:sp>
      <p:pic>
        <p:nvPicPr>
          <p:cNvPr id="30" name="Image 7" descr="https://kimi-img.moonshot.cn/pub/slides/slides_tmpl/image/25-08-27-19:59:33-d2nf6998bjvh7rlj00r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735" y="2049780"/>
            <a:ext cx="688340" cy="691515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9431020" y="2145665"/>
            <a:ext cx="688975" cy="536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pic>
        <p:nvPicPr>
          <p:cNvPr id="32" name="Image 8" descr="https://kimi-img.moonshot.cn/pub/slides/slides_tmpl/image/25-08-27-19:59:47-d2nf6cp8bjvh7rlj01c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2570" y="2232025"/>
            <a:ext cx="1288415" cy="330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47-d2nf6cp8bjvh7rlj01a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8-27-19:59:42-d2nf6bh8bjvh7rlj017g.png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461645" y="1942465"/>
            <a:ext cx="11273790" cy="450786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875" y="646430"/>
            <a:ext cx="1064958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Globalización y deslocalización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821055" y="2287905"/>
            <a:ext cx="4998085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795655" y="2704465"/>
            <a:ext cx="4998085" cy="1598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globalización económica ha intensificado la competencia internacional por empleos y ha llevado a la deslocalización de industrias en busca de costos más bajos.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457950" y="4302760"/>
            <a:ext cx="4998085" cy="385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Desafío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457950" y="4719320"/>
            <a:ext cx="4998085" cy="1598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desafío es mantener estándares laborales adecuados en un contexto globalizado, protegiendo los derechos de los trabajadores y la competitividad de las empresas.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3-d2nf6998bjvh7rlj00s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27760" y="3359150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transición ecológica hacia una economía más sostenible implica la eliminación de empleos en sectores contaminantes y la creación de 'empleos verdes'.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1127760" y="2645410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728210" y="2799715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 desafío es facilitar la transición de los trabajadores afectados, proporcionando formación en nuevas habilidades relacionadas con la sostenibilidad.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728210" y="2085975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Desafío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28025" y="3491230"/>
            <a:ext cx="2853055" cy="2515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 necesitan políticas de reconversión profesional y apoyo a regiones dependientes de industrias contaminantes para adaptarse a la nueva economía verde.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28025" y="2777490"/>
            <a:ext cx="2853690" cy="831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Estrategias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56298" y="657860"/>
            <a:ext cx="1047940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Transición ecológica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267201" y="3391074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7924801" y="3391074"/>
            <a:ext cx="0" cy="928914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pic>
        <p:nvPicPr>
          <p:cNvPr id="12" name="Image 1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428625"/>
            <a:ext cx="762000" cy="76200"/>
          </a:xfrm>
          <a:prstGeom prst="rect">
            <a:avLst/>
          </a:prstGeom>
        </p:spPr>
      </p:pic>
      <p:pic>
        <p:nvPicPr>
          <p:cNvPr id="13" name="Image 2" descr="https://kimi-img.moonshot.cn/pub/slides/slides_tmpl/image/25-08-27-19:59:30-d2nf68h8bjvh7rlj00pg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flipV="1">
            <a:off x="10751820" y="559435"/>
            <a:ext cx="762000" cy="76200"/>
          </a:xfrm>
          <a:prstGeom prst="rect">
            <a:avLst/>
          </a:prstGeom>
        </p:spPr>
      </p:pic>
      <p:pic>
        <p:nvPicPr>
          <p:cNvPr id="14" name="Image 3" descr="https://kimi-img.moonshot.cn/pub/slides/slides_tmpl/image/25-08-27-19:59:49-d2nf6d98bjvh7rlj01fg.png"/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59055" y="5581650"/>
            <a:ext cx="12192000" cy="13144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37-d2nf6a98bjvh7rlj00v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" y="0"/>
            <a:ext cx="12191365" cy="68611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86730" y="3714750"/>
            <a:ext cx="5795645" cy="2319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La 'gig economy' y otras formas de trabajo no tradicionales están transformando el mercado laboral, planteando desafíos en términos de protección social y regulación.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488055" y="1666875"/>
            <a:ext cx="7894320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3600" dirty="0">
                <a:solidFill>
                  <a:srgbClr val="0D0D0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Nuevas formas de empleo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799330" y="3131820"/>
            <a:ext cx="65830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en-US" sz="2000" dirty="0">
                <a:solidFill>
                  <a:srgbClr val="577FD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Definición</a:t>
            </a:r>
            <a:endParaRPr lang="en-US" sz="1600" dirty="0"/>
          </a:p>
        </p:txBody>
      </p:sp>
      <p:pic>
        <p:nvPicPr>
          <p:cNvPr id="6" name="Image 1" descr="https://kimi-img.moonshot.cn/pub/slides/slides_tmpl/image/25-08-27-19:59:30-d2nf68h8bjvh7rlj00p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rot="16200000">
            <a:off x="10665460" y="-8255"/>
            <a:ext cx="262890" cy="11703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318547" y="6332566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19:59:52-d2nf6e18bjvh7rlj01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40"/>
            <a:ext cx="12192000" cy="68554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9100" y="2726690"/>
            <a:ext cx="7735570" cy="147193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46000"/>
                </a:srgbClr>
              </a:gs>
              <a:gs pos="30000">
                <a:srgbClr val="F9FBFD">
                  <a:alpha val="69000"/>
                </a:srgbClr>
              </a:gs>
              <a:gs pos="82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1"/>
          <p:cNvSpPr/>
          <p:nvPr/>
        </p:nvSpPr>
        <p:spPr>
          <a:xfrm>
            <a:off x="419100" y="2726690"/>
            <a:ext cx="7735570" cy="147193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2359" y="810670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732359" y="810670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2359" y="907644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732359" y="907644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2359" y="1004618"/>
            <a:ext cx="209306" cy="42231"/>
          </a:xfrm>
          <a:prstGeom prst="rect">
            <a:avLst/>
          </a:prstGeom>
          <a:solidFill>
            <a:srgbClr val="808080"/>
          </a:solidFill>
          <a:ln w="1905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732359" y="1004618"/>
            <a:ext cx="209306" cy="422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  <p:pic>
        <p:nvPicPr>
          <p:cNvPr id="11" name="Image 1" descr="https://kimi-img.moonshot.cn/pub/slides/slides_tmpl/image/25-08-27-19:59:30-d2nf68h8bjvh7rlj00p0.png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 rot="16200000">
            <a:off x="10665460" y="330200"/>
            <a:ext cx="262890" cy="11703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6745" y="5819775"/>
            <a:ext cx="4345305" cy="33147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Shape 11"/>
          <p:cNvSpPr/>
          <p:nvPr/>
        </p:nvSpPr>
        <p:spPr>
          <a:xfrm>
            <a:off x="5099607" y="5982681"/>
            <a:ext cx="2063750" cy="0"/>
          </a:xfrm>
          <a:prstGeom prst="straightConnector1">
            <a:avLst/>
          </a:prstGeom>
          <a:noFill/>
          <a:ln w="9525">
            <a:solidFill>
              <a:srgbClr val="000000">
                <a:alpha val="21961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2"/>
          <p:cNvSpPr/>
          <p:nvPr/>
        </p:nvSpPr>
        <p:spPr>
          <a:xfrm>
            <a:off x="626745" y="3064510"/>
            <a:ext cx="11033760" cy="8934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3"/>
          <p:cNvSpPr/>
          <p:nvPr/>
        </p:nvSpPr>
        <p:spPr>
          <a:xfrm>
            <a:off x="626745" y="3064510"/>
            <a:ext cx="11033760" cy="8934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b"/>
          <a:lstStyle/>
          <a:p>
            <a:pPr marL="0" indent="0">
              <a:lnSpc>
                <a:spcPct val="130000"/>
              </a:lnSpc>
              <a:buNone/>
            </a:pPr>
            <a:r>
              <a:rPr lang="en-US" sz="54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¡GRACIAS POR ATENDER！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1119</Words>
  <Application>Microsoft Office PowerPoint</Application>
  <PresentationFormat>Panorámica</PresentationFormat>
  <Paragraphs>139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5" baseType="lpstr">
      <vt:lpstr>MiSans</vt:lpstr>
      <vt:lpstr>Arial</vt:lpstr>
      <vt:lpstr>Noto Sans SC</vt:lpstr>
      <vt:lpstr>Custom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Economía Social y del Trabajo</dc:title>
  <dc:subject>Economía Social y del Trabajo</dc:subject>
  <dc:creator>Kimi</dc:creator>
  <cp:lastModifiedBy>Manuel Alejandro Hidalgo Perez</cp:lastModifiedBy>
  <cp:revision>5</cp:revision>
  <dcterms:created xsi:type="dcterms:W3CDTF">2025-09-07T09:27:46Z</dcterms:created>
  <dcterms:modified xsi:type="dcterms:W3CDTF">2025-09-09T16:28:43Z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{"Label":"Economía Social y del Trabajo","ContentProducer":"001191110108MACG2KBH8F10000","ProduceID":"d2ttks9qcjqvd3544rsg","ReservedCode1":"","ContentPropagator":"001191110108MACG2KBH8F20000","PropagateID":"d2ttks9qcjqvd3544rsg","ReservedCode2":""}</vt:lpwstr>
  </property>
</Properties>
</file>