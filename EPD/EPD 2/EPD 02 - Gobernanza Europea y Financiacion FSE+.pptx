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71" r:id="rId22"/>
    <p:sldId id="272" r:id="rId23"/>
    <p:sldId id="273" r:id="rId24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4" r:id="rId25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psll_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Outfit"/>
              </a:rPr>
              <a:t>POLÍTICAS SOCIOLABORALES Y DE EMPLEO</a:t>
            </a:r>
          </a:p>
          <a:p>
            <a:pPr algn="ctr">
              <a:spcBef>
                <a:spcPts val="800"/>
              </a:spcBef>
            </a:pPr>
            <a:r>
              <a:rPr sz="1800" b="1" i="0">
                <a:solidFill>
                  <a:srgbClr val="EDB090"/>
                </a:solidFill>
                <a:latin typeface="Outfit"/>
              </a:rPr>
              <a:t>EPD 2 · Gobernanza Europea y Financiación FSE+</a:t>
            </a:r>
          </a:p>
          <a:p>
            <a:pPr algn="ctr">
              <a:spcBef>
                <a:spcPts val="600"/>
              </a:spcBef>
            </a:pPr>
            <a:r>
              <a:rPr sz="1400" b="0" i="1">
                <a:solidFill>
                  <a:srgbClr val="F4F8F5"/>
                </a:solidFill>
                <a:latin typeface="Calibri"/>
              </a:rPr>
              <a:t>Del Pilar Europeo de Derechos Sociales a las Políticas Activas en Andalucía (2021–2027)</a:t>
            </a:r>
          </a:p>
          <a:p>
            <a:pPr algn="ctr">
              <a:spcBef>
                <a:spcPts val="1200"/>
              </a:spcBef>
            </a:pPr>
            <a:r>
              <a:rPr sz="1100" b="0" i="0">
                <a:solidFill>
                  <a:srgbClr val="76927A"/>
                </a:solidFill>
                <a:latin typeface="Calibri"/>
              </a:rPr>
              <a:t>Enseñanzas Prácticas y Desarrollo  ·  Semestre 1  ·  Código 102023  ·  Universidad Pablo de Olavide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126480"/>
            <a:ext cx="452628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2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F3A30"/>
                </a:solidFill>
                <a:latin typeface="Calibri"/>
              </a:rPr>
              <a:t>Grado en Relaciones Laborales y Recursos Humanos  ·  Doble Grado en Derecho y Relaciones Laborales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Hoja de Ruta y Cronograma de Trabajo (90 minutos)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73936"/>
            <a:ext cx="1773936" cy="4133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98F71"/>
                </a:solidFill>
                <a:latin typeface="Outfit"/>
              </a:defRPr>
            </a:pPr>
            <a:r>
              <a:t>FASE 00  ·  00–10 min</a:t>
            </a:r>
          </a:p>
          <a:p>
            <a:pPr>
              <a:spcAft>
                <a:spcPts val="1000"/>
              </a:spcAft>
              <a:defRPr sz="1300" b="1">
                <a:solidFill>
                  <a:srgbClr val="113927"/>
                </a:solidFill>
                <a:latin typeface="Outfit"/>
              </a:defRPr>
            </a:pPr>
            <a:r>
              <a:t>Radiografía del Problema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Prensa: Noticias de actualidad (ABC, Expansión) sobre edadismo y desempleo sénior.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Datos Eurostat: 41,4% de los parados tienen 45+ años (+7,5 pp sobre la UE-27).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Cronificación: 1 de cada 3 desempleados son de larga duración (&gt; 1 año).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645920"/>
            <a:ext cx="1993392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73936"/>
            <a:ext cx="1773936" cy="4133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13927"/>
                </a:solidFill>
                <a:latin typeface="Outfit"/>
              </a:defRPr>
            </a:pPr>
            <a:r>
              <a:t>FASE 01  ·  10–25 min</a:t>
            </a:r>
          </a:p>
          <a:p>
            <a:pPr>
              <a:spcAft>
                <a:spcPts val="1000"/>
              </a:spcAft>
              <a:defRPr sz="1300" b="1">
                <a:solidFill>
                  <a:srgbClr val="113927"/>
                </a:solidFill>
                <a:latin typeface="Outfit"/>
              </a:defRPr>
            </a:pPr>
            <a:r>
              <a:t>Presentación del Marco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PEDS: 20 principios rectores. Foco nuclear en Principios 4 (apoyo activo) y 3 (igualdad).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Gobernanza: Semestre Europeo y Recomendaciones del Consejo a España (CSR).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Arquitectura: Marco Financiero 2021-2027 y Fondos Estructurales (FSE+).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645920"/>
            <a:ext cx="1993392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1773936"/>
            <a:ext cx="1773936" cy="4133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13927"/>
                </a:solidFill>
                <a:latin typeface="Outfit"/>
              </a:defRPr>
            </a:pPr>
            <a:r>
              <a:t>FASE 02  ·  25–45 min</a:t>
            </a:r>
          </a:p>
          <a:p>
            <a:pPr>
              <a:spcAft>
                <a:spcPts val="1000"/>
              </a:spcAft>
              <a:defRPr sz="1300" b="1">
                <a:solidFill>
                  <a:srgbClr val="113927"/>
                </a:solidFill>
                <a:latin typeface="Outfit"/>
              </a:defRPr>
            </a:pPr>
            <a:r>
              <a:t>Taller de Rastreo FSE+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Dinámica: Búsqueda y cotejo guiado en equipos (3 estudiantes).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Normativa: Reglamento UE 2021/1057 (DOUE). Búsqueda exclusiva en Artículo 4.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Colectivos: Parados de larga duración (OE1) y modernización de servicios de empleo (OE3).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645920"/>
            <a:ext cx="1993392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4" y="1773936"/>
            <a:ext cx="1773936" cy="4133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13927"/>
                </a:solidFill>
                <a:latin typeface="Outfit"/>
              </a:defRPr>
            </a:pPr>
            <a:r>
              <a:t>FASE 03  ·  45–65 min</a:t>
            </a:r>
          </a:p>
          <a:p>
            <a:pPr>
              <a:spcAft>
                <a:spcPts val="1000"/>
              </a:spcAft>
              <a:defRPr sz="1300" b="1">
                <a:solidFill>
                  <a:srgbClr val="113927"/>
                </a:solidFill>
                <a:latin typeface="Outfit"/>
              </a:defRPr>
            </a:pPr>
            <a:r>
              <a:t>Análisis Comparado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Nivel Estatal: Programa ÉFESO: prioridades nacionales y bonificaciones de Seguridad Social.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Nivel Regional: Programa FSE+ Andalucía: tasa de cofinanciación comunitaria del 85%.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Contraste: Complementariedad, subsidiariedad y tipología de medidas.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645920"/>
            <a:ext cx="1993392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1773936"/>
            <a:ext cx="1773936" cy="4133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13927"/>
                </a:solidFill>
                <a:latin typeface="Outfit"/>
              </a:defRPr>
            </a:pPr>
            <a:r>
              <a:t>FASE 04  ·  65–90 min</a:t>
            </a:r>
          </a:p>
          <a:p>
            <a:pPr>
              <a:spcAft>
                <a:spcPts val="1000"/>
              </a:spcAft>
              <a:defRPr sz="1300" b="1">
                <a:solidFill>
                  <a:srgbClr val="113927"/>
                </a:solidFill>
                <a:latin typeface="Outfit"/>
              </a:defRPr>
            </a:pPr>
            <a:r>
              <a:t>Entregable de Equipo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Formato: Informe técnico cooperativo en la app con firma digital y sellado SHA-256.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Plataforma: Buzón digital oficial del Aula Virtual de PSLL.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• Evaluación: 0,50 puntos de evaluación continua (rúbrica formativa).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6927A"/>
                </a:solidFill>
                <a:latin typeface="Outfit"/>
              </a:defRPr>
            </a:pPr>
            <a:r>
              <a:t>EPD 2 · GOBERNANZA EUROPEA Y FINANCIACIÓN FSE+</a:t>
            </a:r>
          </a:p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Fase 0 · El Enigma del Edadismo en la Prensa Económica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3544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19456" rIns="219456" bIns="219456"/>
          <a:lstStyle/>
          <a:p>
            <a:pPr algn="ctr">
              <a:spcAft>
                <a:spcPts val="12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1. El Debate Social en la Prensa Económica</a:t>
            </a:r>
          </a:p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📰 ABC · Economía:</a:t>
            </a:r>
          </a:p>
          <a:p>
            <a:pPr>
              <a:spcAft>
                <a:spcPts val="1200"/>
              </a:spcAft>
              <a:defRPr sz="1400" b="1">
                <a:solidFill>
                  <a:srgbClr val="0B1C36"/>
                </a:solidFill>
                <a:latin typeface="Calibri"/>
              </a:defRPr>
            </a:pPr>
            <a:r>
              <a:t>«El edadismo no da tregua: tres de cada cuatro parados de más de 50 años llevan más de un año buscando empleo».</a:t>
            </a:r>
          </a:p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📰 Expansión · Mercado Laboral:</a:t>
            </a:r>
          </a:p>
          <a:p>
            <a:pPr>
              <a:spcAft>
                <a:spcPts val="1400"/>
              </a:spcAft>
              <a:defRPr sz="1400" b="1">
                <a:solidFill>
                  <a:srgbClr val="0B1C36"/>
                </a:solidFill>
                <a:latin typeface="Calibri"/>
              </a:defRPr>
            </a:pPr>
            <a:r>
              <a:t>«El drama del desempleo de mayor edad: brecha estructural y barreras persistentes de reinserción laboral».</a:t>
            </a:r>
          </a:p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🎯 El Enigma para el Aula:</a:t>
            </a:r>
          </a:p>
          <a:p>
            <a:pPr>
              <a:defRPr sz="1300">
                <a:solidFill>
                  <a:srgbClr val="2F3A30"/>
                </a:solidFill>
                <a:latin typeface="Calibri"/>
              </a:defRPr>
            </a:pPr>
            <a:r>
              <a:t>¿Por qué en un contexto de creación agregada de empleo los trabajadores maduros quedan rezagados? ¿Es un fallo de mercado, sesgo de selección o desajuste formativo?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39512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tIns="219456" rIns="219456" bIns="219456"/>
          <a:lstStyle/>
          <a:p>
            <a:pPr algn="ctr">
              <a:spcAft>
                <a:spcPts val="1400"/>
              </a:spcAft>
              <a:defRPr sz="1600" b="1">
                <a:solidFill>
                  <a:srgbClr val="113927"/>
                </a:solidFill>
                <a:latin typeface="Outfit"/>
              </a:defRPr>
            </a:pPr>
            <a:r>
              <a:t>2. Radiografía del Reto Estructural (EPA / Eurostat 2024)</a:t>
            </a:r>
          </a:p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41,4%  ·  Parados Sénior en España (45+ años)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Supera en +7,5 pp la media europea (33,9% en la UE-27). El desempleo español es marcadamente más envejecido.</a:t>
            </a:r>
          </a:p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33,3%  ·  Tasa de Paro de Larga Duración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1 de cada 3 personas desempleadas en España lleva más de 12 meses buscando empleo activamente.</a:t>
            </a:r>
          </a:p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x 2,7  ·  Envejecimiento del Desempleo en 20 años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El grupo de 55+ años casi se triplicó: pasó del 7,0% del total en 2005 al 18,8% en 2024.</a:t>
            </a:r>
          </a:p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75%  ·  Cronificación en Mayores de 50 años</a:t>
            </a:r>
          </a:p>
          <a:p>
            <a:pPr>
              <a:spcAft>
                <a:spcPts val="600"/>
              </a:spcAft>
              <a:defRPr sz="1100">
                <a:solidFill>
                  <a:srgbClr val="2F3A30"/>
                </a:solidFill>
                <a:latin typeface="Calibri"/>
              </a:defRPr>
            </a:pPr>
            <a:r>
              <a:t>Tres de cada cuatro personas desempleadas mayores de 50 años permanecen en paro de larga duración.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76927A"/>
                </a:solidFill>
                <a:latin typeface="Outfit"/>
              </a:defRPr>
            </a:pPr>
            <a:r>
              <a:t>EPD 2 · GOBERNANZA EUROPEA Y FINANCIACIÓN FSE+</a:t>
            </a:r>
          </a:p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Fase 0 · Radiografía Empírica Oficial (Eurostat 2024)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3544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· Universidad Pablo de Olavide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212080" cy="3063240"/>
          </a:xfrm>
          <a:prstGeom prst="rect">
            <a:avLst/>
          </a:prstGeom>
        </p:spPr>
      </p:pic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1645920"/>
            <a:ext cx="5212080" cy="3063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892040"/>
            <a:ext cx="10725912" cy="132588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spcAft>
                <a:spcPts val="400"/>
              </a:spcAft>
              <a:defRPr sz="1400" b="1">
                <a:solidFill>
                  <a:srgbClr val="113927"/>
                </a:solidFill>
                <a:latin typeface="Outfit"/>
              </a:defRPr>
            </a:pPr>
            <a:r>
              <a:t>💡 Conclusión del Diagnóstico: La Doble Penalización de Edad y Duración</a:t>
            </a:r>
          </a:p>
          <a:p>
            <a:pPr>
              <a:defRPr sz="1200">
                <a:solidFill>
                  <a:srgbClr val="2F3A30"/>
                </a:solidFill>
                <a:latin typeface="Calibri"/>
              </a:defRPr>
            </a:pPr>
            <a:r>
              <a:t>• Envejecimiento estructural: España concentra una cuota de paro sénior (41,4%) significativamente superior a la media comunitaria.</a:t>
            </a:r>
            <a:br/>
            <a:r>
              <a:t>• Histerésis y trampa del desempleo: A mayor edad, la probabilidad de salir del paro decae exponencialmente. Esta evidencia empírica es la que legitima y fundamenta la respuesta de la Unión Europea (Fase 1: PEDS) y la cofinanciación prioritaria del FSE+ (Fases 2 y 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76927A"/>
                </a:solidFill>
                <a:latin typeface="Outfit"/>
              </a:defRPr>
            </a:pPr>
            <a:r>
              <a:t>EPD 2 · GOBERNANZA EUROPEA Y FINANCIACIÓN FSE+</a:t>
            </a:r>
          </a:p>
          <a:p>
            <a:pPr>
              <a:defRPr sz="2000" b="1">
                <a:solidFill>
                  <a:srgbClr val="113927"/>
                </a:solidFill>
                <a:latin typeface="Outfit"/>
              </a:defRPr>
            </a:pPr>
            <a:r>
              <a:t>Fase 0 · Objetivos de Aprendizaje: ¿Qué queremos lograr hoy?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3544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76927A"/>
                </a:solidFill>
                <a:latin typeface="Calibri"/>
              </a:defRPr>
            </a:pPr>
            <a:r>
              <a:t>Políticas Sociolaborales y de Empleo · Grado en RRLL y RRHH · Universidad Pablo de Olavide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591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Calibri"/>
              </a:defRPr>
            </a:pPr>
            <a:r>
              <a:t>Al finalizar la sesión práctica de hoy en el aula, el estudiante será capaz de dominar 5 competencias nucleares: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5912" cy="859536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0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19656"/>
            <a:ext cx="658368" cy="603503"/>
          </a:xfrm>
          <a:prstGeom prst="roundRect">
            <a:avLst/>
          </a:prstGeom>
          <a:solidFill>
            <a:srgbClr val="113927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Outfit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755648"/>
            <a:ext cx="9674352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98F71"/>
                </a:solidFill>
                <a:latin typeface="Outfit"/>
              </a:rPr>
              <a:t>[EVIDENCIA EMPÍRICA]  </a:t>
            </a:r>
            <a:r>
              <a:rPr sz="1250" b="1">
                <a:solidFill>
                  <a:srgbClr val="113927"/>
                </a:solidFill>
                <a:latin typeface="Outfit"/>
              </a:rPr>
              <a:t>Dimensionar empíricamente la vulnerabilidad del empleo sénior</a:t>
            </a:r>
          </a:p>
          <a:p>
            <a:r>
              <a:rPr sz="1100">
                <a:solidFill>
                  <a:srgbClr val="2F3A30"/>
                </a:solidFill>
                <a:latin typeface="Calibri"/>
              </a:rPr>
              <a:t>Interpretar las estadísticas de Eurostat que demuestran la sobre-representación de personas de más de 45 años en el desempleo español (41,4%) y el riesgo de cronificación en parados de larga duración.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24328"/>
            <a:ext cx="10725912" cy="859536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0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752344"/>
            <a:ext cx="658368" cy="603503"/>
          </a:xfrm>
          <a:prstGeom prst="roundRect">
            <a:avLst/>
          </a:prstGeom>
          <a:solidFill>
            <a:srgbClr val="76927A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Outfit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688336"/>
            <a:ext cx="9674352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98F71"/>
                </a:solidFill>
                <a:latin typeface="Outfit"/>
              </a:rPr>
              <a:t>[GOBERNANZA MULTINIVEL]  </a:t>
            </a:r>
            <a:r>
              <a:rPr sz="1250" b="1">
                <a:solidFill>
                  <a:srgbClr val="113927"/>
                </a:solidFill>
                <a:latin typeface="Outfit"/>
              </a:rPr>
              <a:t>Reconstruir la cadena de gobernanza multinivel</a:t>
            </a:r>
          </a:p>
          <a:p>
            <a:r>
              <a:rPr sz="1100">
                <a:solidFill>
                  <a:srgbClr val="2F3A30"/>
                </a:solidFill>
                <a:latin typeface="Calibri"/>
              </a:rPr>
              <a:t>Comprender cómo un principio político acordado en Bruselas o Gotemburgo (Pilar Europeo) se traduce en recomendaciones macroeconómicas (Semestre Europeo), se financia mediante un fondo estructural (FSE+) y se ejecuta en Andalucía a través de programas cofinanciados.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57016"/>
            <a:ext cx="10725912" cy="859536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0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3685032"/>
            <a:ext cx="658368" cy="603503"/>
          </a:xfrm>
          <a:prstGeom prst="roundRect">
            <a:avLst/>
          </a:prstGeom>
          <a:solidFill>
            <a:srgbClr val="113927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Outfit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3621024"/>
            <a:ext cx="9674352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98F71"/>
                </a:solidFill>
                <a:latin typeface="Outfit"/>
              </a:rPr>
              <a:t>[FUENTES PRIMARIAS]  </a:t>
            </a:r>
            <a:r>
              <a:rPr sz="1250" b="1">
                <a:solidFill>
                  <a:srgbClr val="113927"/>
                </a:solidFill>
                <a:latin typeface="Outfit"/>
              </a:rPr>
              <a:t>Localizar e interpretar fuentes normativas primarias</a:t>
            </a:r>
          </a:p>
          <a:p>
            <a:r>
              <a:rPr sz="1100">
                <a:solidFill>
                  <a:srgbClr val="2F3A30"/>
                </a:solidFill>
                <a:latin typeface="Calibri"/>
              </a:rPr>
              <a:t>Navegar con soltura por el Diario Oficial de la Unión Europea (DOUE), el portal de Fondos Europeos y la Unidad Administradora del FSE (UAFSE), localizando artículos, líneas y objetivos específicos.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89704"/>
            <a:ext cx="10725912" cy="859536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0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4617720"/>
            <a:ext cx="658368" cy="603503"/>
          </a:xfrm>
          <a:prstGeom prst="roundRect">
            <a:avLst/>
          </a:prstGeom>
          <a:solidFill>
            <a:srgbClr val="76927A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Outfit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4553712"/>
            <a:ext cx="9674352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98F71"/>
                </a:solidFill>
                <a:latin typeface="Outfit"/>
              </a:rPr>
              <a:t>[NIVEL ESTATAL VS. REGIONAL]  </a:t>
            </a:r>
            <a:r>
              <a:rPr sz="1250" b="1">
                <a:solidFill>
                  <a:srgbClr val="113927"/>
                </a:solidFill>
                <a:latin typeface="Outfit"/>
              </a:rPr>
              <a:t>Diferenciar el nivel estatal del nivel autonómico</a:t>
            </a:r>
          </a:p>
          <a:p>
            <a:r>
              <a:rPr sz="1100">
                <a:solidFill>
                  <a:srgbClr val="2F3A30"/>
                </a:solidFill>
                <a:latin typeface="Calibri"/>
              </a:rPr>
              <a:t>Analizar el reparto competencial y financiero entre el programa estatal ÉFESO (Ministerio de Trabajo) y el programa regional FSE+ Andalucía (Junta de Andalucía), comprendiendo el significado de una tasa de cofinanciación comunitaria del 85%.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22392"/>
            <a:ext cx="10725912" cy="859536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0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5550407"/>
            <a:ext cx="658368" cy="603503"/>
          </a:xfrm>
          <a:prstGeom prst="roundRect">
            <a:avLst/>
          </a:prstGeom>
          <a:solidFill>
            <a:srgbClr val="113927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500" b="1">
                <a:solidFill>
                  <a:srgbClr val="FFFFFF"/>
                </a:solidFill>
                <a:latin typeface="Outfit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5486400"/>
            <a:ext cx="9674352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98F71"/>
                </a:solidFill>
                <a:latin typeface="Outfit"/>
              </a:rPr>
              <a:t>[FUNDAMENTACIÓN TÉCNICA]  </a:t>
            </a:r>
            <a:r>
              <a:rPr sz="1250" b="1">
                <a:solidFill>
                  <a:srgbClr val="113927"/>
                </a:solidFill>
                <a:latin typeface="Outfit"/>
              </a:rPr>
              <a:t>Fundamentar técnicamente la atención prioritaria a dos colectivos críticos</a:t>
            </a:r>
          </a:p>
          <a:p>
            <a:r>
              <a:rPr sz="1100">
                <a:solidFill>
                  <a:srgbClr val="2F3A30"/>
                </a:solidFill>
                <a:latin typeface="Calibri"/>
              </a:rPr>
              <a:t>Justificar por qué los parados de larga duración y los mayores de 45 años requieren líneas presupuestarias blindadas frente a la simple política pasiva o genérica.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1 · El Pilar Europeo de Derechos Sociales (PEDS) como Eje Nuclear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 tIns="76200" bIns="76200" lIns="101600" rIns="1016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13927"/>
                </a:solidFill>
                <a:latin typeface="Outfit"/>
              </a:rPr>
              <a:t>¿Qué es el PEDS y por qué es decisivo?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sz="1250" b="1">
                <a:solidFill>
                  <a:srgbClr val="113927"/>
                </a:solidFill>
                <a:latin typeface="Calibri"/>
              </a:rPr>
              <a:t>Brújula Social de la UE (Gotemburgo y Oporto)
</a:t>
            </a:r>
            <a:r>
              <a:rPr sz="1150">
                <a:solidFill>
                  <a:srgbClr val="2F3A30"/>
                </a:solidFill>
                <a:latin typeface="Calibri"/>
              </a:rPr>
              <a:t>Proclamado en 2017 y refrendado con el Plan de Acción de Oporto (2021) como marco vinculante de principios y derechos sociales.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E98F71"/>
                </a:solidFill>
                <a:latin typeface="Calibri"/>
              </a:rPr>
              <a:t>Grandes Metas Sociales UE para 2030 (Oporto)
</a:t>
            </a:r>
            <a:r>
              <a:rPr sz="1150">
                <a:solidFill>
                  <a:srgbClr val="2F3A30"/>
                </a:solidFill>
                <a:latin typeface="Calibri"/>
              </a:rPr>
              <a:t>• Empleo: Al menos el </a:t>
            </a:r>
            <a:r>
              <a:rPr sz="1150" b="1">
                <a:solidFill>
                  <a:srgbClr val="E98F71"/>
                </a:solidFill>
                <a:latin typeface="Calibri"/>
              </a:rPr>
              <a:t>78% de ocupación</a:t>
            </a:r>
            <a:r>
              <a:rPr sz="1150">
                <a:solidFill>
                  <a:srgbClr val="2F3A30"/>
                </a:solidFill>
                <a:latin typeface="Calibri"/>
              </a:rPr>
              <a:t> (población 20–64 años).
</a:t>
            </a:r>
            <a:r>
              <a:rPr sz="1150">
                <a:solidFill>
                  <a:srgbClr val="2F3A30"/>
                </a:solidFill>
                <a:latin typeface="Calibri"/>
              </a:rPr>
              <a:t>• Formación: Al menos el </a:t>
            </a:r>
            <a:r>
              <a:rPr sz="1150" b="1">
                <a:solidFill>
                  <a:srgbClr val="113927"/>
                </a:solidFill>
                <a:latin typeface="Calibri"/>
              </a:rPr>
              <a:t>60% de adultos</a:t>
            </a:r>
            <a:r>
              <a:rPr sz="1150">
                <a:solidFill>
                  <a:srgbClr val="2F3A30"/>
                </a:solidFill>
                <a:latin typeface="Calibri"/>
              </a:rPr>
              <a:t> en formación cada año.
</a:t>
            </a:r>
            <a:r>
              <a:rPr sz="1150">
                <a:solidFill>
                  <a:srgbClr val="2F3A30"/>
                </a:solidFill>
                <a:latin typeface="Calibri"/>
              </a:rPr>
              <a:t>• Inclusión: Reducir en </a:t>
            </a:r>
            <a:r>
              <a:rPr sz="1150" b="1">
                <a:solidFill>
                  <a:srgbClr val="113927"/>
                </a:solidFill>
                <a:latin typeface="Calibri"/>
              </a:rPr>
              <a:t>15 millones</a:t>
            </a:r>
            <a:r>
              <a:rPr sz="1150">
                <a:solidFill>
                  <a:srgbClr val="2F3A30"/>
                </a:solidFill>
                <a:latin typeface="Calibri"/>
              </a:rPr>
              <a:t> las personas en riesgo de pobreza.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1">
                <a:solidFill>
                  <a:srgbClr val="113927"/>
                </a:solidFill>
                <a:latin typeface="Calibri"/>
              </a:rPr>
              <a:t>De la directriz política al presupuesto (FSE+)
</a:t>
            </a:r>
            <a:r>
              <a:rPr sz="1150">
                <a:solidFill>
                  <a:srgbClr val="2F3A30"/>
                </a:solidFill>
                <a:latin typeface="Calibri"/>
              </a:rPr>
              <a:t>Establece 20 principios rectores. Condiciona las recomendaciones del Semestre Europeo y la asignación financiera finalista del FSE+ (2021–2027).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98F71"/>
                </a:solidFill>
                <a:latin typeface="Outfit"/>
              </a:rPr>
              <a:t>Los 3 Principios Nucleares para el Empleo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Principio 4 · Apoyo activo para el empleo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Toda persona tiene derecho a asistencia oportuna y personalizada: búsqueda de empleo, formación y recualificación. Los parados de larga duración tienen derecho a una evaluación individualizada a más tardar a los 18 meses de paro.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Principio 1 · Educación, formación y aprendizaje permanente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Derecho a educación y formación continua de calidad para mantener o adquirir capacidades que permitan participar plenamente en la sociedad y transitar con éxito en el mercado laboral.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Principio 3 · Igualdad de oportunidades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Prohibición de toda discriminación por motivos de sexo, raza, religión o EDAD. Mandato expreso de garantizar la inserción laboral de colectivos subrepresentados o vulnerables.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1 · El Semestre Europeo: El Ciclo Anual de Coordinación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76927A"/>
                </a:solidFill>
                <a:latin typeface="Outfit"/>
              </a:rPr>
              <a:t>Paso 1 · Paquete de Otoño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Diagnóstico Comunitario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Estudio Prospectivo Anual: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La Comisión analiza las prioridades de crecimiento económico y empleo.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Cuadro de Indicadores Sociales: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Social Scoreboard: monitoriza la situación de cada país según los 20 principios del PEDS.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Informe Conjunto (JER):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Examina la tasa de paro de larga duración, la brecha de género y la inactividad senior.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98F71"/>
                </a:solidFill>
                <a:latin typeface="Outfit"/>
              </a:rPr>
              <a:t>Paso 2 · Paquete de Primavera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Recomendaciones (CSR)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Informes por País: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Evaluación detallada de los desequilibrios sociolaborales estructurales de España.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Recomendaciones Específicas: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Country-Specific Recommendations (CSR) aprobadas por el Consejo de la UE.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Mandato Específico: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Instan a España a reformar la intermediación laboral, evaluar políticas activas y reducir la dualidad.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13927"/>
                </a:solidFill>
                <a:latin typeface="Outfit"/>
              </a:rPr>
              <a:t>Paso 3 · Presupuesto y Reformas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Traducción Presupuestaria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Plan Nacional de Reformas: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El Gobierno de España traslada las CSR a reformas legislativas vinculantes.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Condicionalidad FSE+: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Los fondos estructurales exigen alineación obligatoria con las recomendaciones europeas.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Cofinanciación Regional: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Las comunidades autónomas deben orientar sus programas operativos a estos objetivos.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1 · Arquitectura de la Política de Cohesión (2021–2027)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574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10241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1. Marco Financiero Plurianual (MFP) y Disposiciones Comunes (RDC 2021/1060)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El Reglamento (UE) 2021/1060 fija las reglas compartidas de los fondos europeos. Establece 5 Objetivos Políticos (OP). El OP4 es 'Una Europa más social e inclusiva mediante la aplicación del PEDS'. Para recibir fondos, los Estados deben cumplir 'Condiciones Habilitadoras Favorecedoras' (marcos estratégicos de empleo juvenil, políticas de género y activación de parados de larga duración).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10728655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10241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2. El Fondo Social Europeo Plus (FSE+ · Reglamento UE 2021/1057)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2F3A30"/>
                </a:solidFill>
                <a:latin typeface="Calibri"/>
              </a:rPr>
              <a:t>Dotado con más de 99.000 M€ para el periodo 2021-2027, el FSE+ integra el antiguo FSE, la Iniciativa de Empleo Juvenil (IEJ), el FEAD y el programa EaSI. En España se articula mediante el Acuerdo de Asociación 2021-2027, que distribuye los fondos entre programas plurirregionales (estatales, como ÉFESO) y programas regionales (uno por Comunidad Autónoma, gestionado por sus gobiernos autonómicos).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La Cadena de Transmisión Multinivel: De Bruselas al Barrio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23160" cy="39319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84832"/>
            <a:ext cx="2093976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6927A"/>
                </a:solidFill>
                <a:latin typeface="Outfit"/>
              </a:rPr>
              <a:t>Nivel 1 · UE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13927"/>
                </a:solidFill>
                <a:latin typeface="Outfit"/>
              </a:rPr>
              <a:t>Directrices Estratégicas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PEDS (2017):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20 principios sociales rectores.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Semestre Europeo: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Recomendaciones Específicas (CSR).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Reglamento FSE+: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Art. 4: Objetivos Específicos (OE1 y OE3).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920240"/>
            <a:ext cx="2423160" cy="39319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84832"/>
            <a:ext cx="2093976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13927"/>
                </a:solidFill>
                <a:latin typeface="Outfit"/>
              </a:rPr>
              <a:t>Nivel 2 · Estado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13927"/>
                </a:solidFill>
                <a:latin typeface="Outfit"/>
              </a:rPr>
              <a:t>Acuerdo de Asociación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UAFSE (MITES):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Autoridad de gestión nacional.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Programa ÉFESO: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Programa estatal plurirregional.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Medidas Clave: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Bonificaciones de SS e itinerarios comunes.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920240"/>
            <a:ext cx="2423160" cy="39319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2084832"/>
            <a:ext cx="2093976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E98F71"/>
                </a:solidFill>
                <a:latin typeface="Outfit"/>
              </a:rPr>
              <a:t>Nivel 3 · CCAA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13927"/>
                </a:solidFill>
                <a:latin typeface="Outfit"/>
              </a:rPr>
              <a:t>Programas Regionales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Junta de Andalucía: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Consejería de Empleo y SAE.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Tasa Cofinanciación: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85% aporte UE / 15% aporte autonómico.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Intervenciones: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Subvenciones locales, orientación senior y autoempleo.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15984" y="1920240"/>
            <a:ext cx="2423160" cy="39319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0576" y="2084832"/>
            <a:ext cx="2093976" cy="3602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6927A"/>
                </a:solidFill>
                <a:latin typeface="Outfit"/>
              </a:rPr>
              <a:t>Nivel 4 · Territorio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113927"/>
                </a:solidFill>
                <a:latin typeface="Outfit"/>
              </a:rPr>
              <a:t>Beneficiario Final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Orientación SAE: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Perfilado e itinerario individualizado.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Formación Modular: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Competencias digitales y recualificación.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Contrato Indefinido: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Inserción real de un parado &gt; 50 años en Sevilla.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2 · Taller de Rastreo Documental en Equipos (15–35 min)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98F71"/>
                </a:solidFill>
                <a:latin typeface="Outfit"/>
              </a:rPr>
              <a:t>Dinámica de Trabajo Cooperativo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Organización en aula
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Equipos de 3–4 estudiantes. Distribución de roles: analista normativo, rastreador de datos y redactor.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Material de trabajo
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Hoja de trabajo del estudiante (disponible en Aula Virtual) y acceso a portales oficiales (DOUE, BOE, MITES, UAFSE).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Pregunta disparadora
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¿Cómo se traduce un principio político europeo ('apoyo activo') en un texto con fuerza de ley que obliga a financiar medidas concretas en España?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Misión del Analista Sociolaboral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Objetivo 1 · Localizar el Reglamento FSE+
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Rastrear el Reglamento (UE) 2021/1057 del Parlamento Europeo y del Consejo en el Diario Oficial de la Unión Europea (DOUE).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Objetivo 2 · Escanear el Artículo 4.1
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Identificar los Objetivos Específicos (OE) asignados a empleo y servicios públicos de intermediación laboral.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Objetivo 3 · Detectar el tratamiento de PLD y mayores
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¿Dónde se menciona de forma expresa a los parados de larga duración y a las personas de edad avanzada?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2 · Reglamento (UE) 2021/1057: Objetivos Específicos (Art. 4)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OE1 · Artículo 4.1.a (Acceso al Empleo)</a:t>
            </a:r>
          </a:p>
          <a:p>
            <a:pPr>
              <a:spcBef>
                <a:spcPts val="800"/>
              </a:spcBef>
            </a:pPr>
            <a:r>
              <a:rPr sz="1400" b="0" i="1">
                <a:solidFill>
                  <a:srgbClr val="2F3A30"/>
                </a:solidFill>
                <a:latin typeface="Calibri"/>
              </a:rPr>
              <a:t>«Mejorar el acceso al empleo y a medidas de activación de todos los demandantes de empleo, y en particular de los jóvenes, especialmente a través de la Garantía Juvenil, los parados de larga duración y los grupos desfavorecidos en el mercado laboral, y de las personas inactivas...»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Claves operativas de aplicación: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• Obliga a priorizar itinerarios integrados de activación.
• Financia formación adaptada y adquisición de competencias digitales.
• Incentiva la contratación por cuenta ajena y el autoempleo.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76927A"/>
                </a:solidFill>
                <a:latin typeface="Outfit"/>
              </a:rPr>
              <a:t>OE3 · Artículo 4.1.c (Modernización de Servicios)</a:t>
            </a:r>
          </a:p>
          <a:p>
            <a:pPr>
              <a:spcBef>
                <a:spcPts val="800"/>
              </a:spcBef>
            </a:pPr>
            <a:r>
              <a:rPr sz="1400" b="0" i="1">
                <a:solidFill>
                  <a:srgbClr val="2F3A30"/>
                </a:solidFill>
                <a:latin typeface="Calibri"/>
              </a:rPr>
              <a:t>«Promover una modernización de las instituciones y los servicios del mercado de trabajo para evaluar y anticipar las necesidades de competencias y garantizar una asistencia oportuna y adaptada a las necesidades del mercado laboral...»</a:t>
            </a:r>
          </a:p>
          <a:p>
            <a:pPr>
              <a:spcBef>
                <a:spcPts val="12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Claves operativas de aplicación: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• Transformación digital del SEPE y el Servicio Andaluz de Empleo (SAE).
• Herramientas de perfilado estadístico e intermediación algorítmica.
• Formación continua y refuerzo de orientadores laborales.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2 · El Diagnóstico Comunitario: Desempleo de Larga Duración y Edad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13927"/>
                </a:solidFill>
                <a:latin typeface="Outfit"/>
              </a:rPr>
              <a:t>Barrera 1 · Obsolescencia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Brecha de Competencias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Definición Comunitaria: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Parado de Larga Duración (PLD): inscripción ininterrumpida ≥ 12 meses.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Desactualización: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Pérdida acelerada de competencias digitales y tecnológicas requeridas por las empresas.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Efecto Desánimo: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Sensación de inutilidad tras meses de búsqueda sin respuesta, derivando en inactividad.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98F71"/>
                </a:solidFill>
                <a:latin typeface="Outfit"/>
              </a:rPr>
              <a:t>Barrera 2 · Discriminación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Edadismo Laboral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El filtro de los 45/52 años: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Sesgo patronal que asocia erróneamente edad con menor adaptabilidad o mayor coste.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Rigidez Salarial: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Reserva salarial asociada a cualificaciones pasadas que ya no cotizan en el mercado.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Principio 3 del PEDS: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Mandato explícito de erradicar la discriminación por edad en los procesos de selección.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76927A"/>
                </a:solidFill>
                <a:latin typeface="Outfit"/>
              </a:rPr>
              <a:t>Barrera 3 · Institucional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Intermediación Ineficaz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Tasa de intermediación pública: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Históricamente baja en España (&lt; 3-5% de colocaciones directas por SPE).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Mandato del OE3 FSE+: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Invertir en perfilado predictivo para intervenir ANTES de que el paro supere los 12 meses.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Alianza Público-Privada: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Cooperación con agencias de colocación para prospección proactiva de puestos vacantes.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3 · Análisis Comparado: Programa ÉFESO vs. FSE+ Andalucía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Programa ÉFESO (Nivel Estatal)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Naturaleza: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Programa estatal plurirregional gestionado por el MITES (UAFSE) y el SEPE.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Finalidad: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Garantizar estándares mínimos y cohesión sociolaboral en todo el territorio nacional.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Prioridad 1: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Empleo, adaptabilidad, emprendimiento y economía social.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Medida Estrella: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Bonificaciones estatales en las cotizaciones a la Seguridad Social por contratación indefinida de parados de larga duración y mayores de 45 años (RDL 1/2023).</a:t>
            </a:r>
          </a:p>
          <a:p>
            <a:pPr>
              <a:spcBef>
                <a:spcPts val="800"/>
              </a:spcBef>
              <a:defRPr sz="1100" b="1">
                <a:solidFill>
                  <a:srgbClr val="113927"/>
                </a:solidFill>
                <a:latin typeface="Calibri"/>
              </a:defRPr>
            </a:pPr>
            <a:r>
              <a:t>🌐 Web Oficial: Portal UAFSE · MITES (FSE21_27/programas/p_efeso)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98F71"/>
                </a:solidFill>
                <a:latin typeface="Outfit"/>
              </a:rPr>
              <a:t>Programa FSE+ Andalucía (Nivel Regional)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E98F71"/>
                </a:solidFill>
                <a:latin typeface="Calibri"/>
              </a:rPr>
              <a:t>Naturaleza: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Programa regional gestionado por la Junta de Andalucía (Consejería de Empleo y SAE).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E98F71"/>
                </a:solidFill>
                <a:latin typeface="Calibri"/>
              </a:rPr>
              <a:t>Finalidad: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Cerrar la brecha de desempleo estructural andaluz adaptando las intervenciones al tejido productivo local.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E98F71"/>
                </a:solidFill>
                <a:latin typeface="Calibri"/>
              </a:rPr>
              <a:t>Tasa de Financiación: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85% COFINANCIACIÓN COMUNITARIA (región en transición / menos desarrollada).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E98F71"/>
                </a:solidFill>
                <a:latin typeface="Calibri"/>
              </a:rPr>
              <a:t>Medida Estrella: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Incentivos directos a la contratación indefinida autonómica (1.A.06), activación y orientación personalizada en el SAE (1.A.05) y apoyo al autoempleo (1.A.01).</a:t>
            </a:r>
          </a:p>
          <a:p>
            <a:pPr>
              <a:spcBef>
                <a:spcPts val="800"/>
              </a:spcBef>
              <a:defRPr sz="1100" b="1">
                <a:solidFill>
                  <a:srgbClr val="E98F71"/>
                </a:solidFill>
                <a:latin typeface="Calibri"/>
              </a:defRPr>
            </a:pPr>
            <a:r>
              <a:t>🌐 Web Oficial: Fondos Europeos Junta (europeos-social-2021-2027)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3 · Medidas Clave del Programa ÉFESO (Nacional)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76927A"/>
                </a:solidFill>
                <a:latin typeface="Outfit"/>
              </a:rPr>
              <a:t>Medida 1.a.01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Itinerarios de Inserción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Objetivo: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Desarrollo de itinerarios integrados y personalizados para demandantes de empleo vulnerables.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Contenido: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Entrevistas diagnósticas en profundidad, tutorización continua y seguimiento post-colocación.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76927A"/>
                </a:solidFill>
                <a:latin typeface="Calibri"/>
              </a:rPr>
              <a:t>Destinatarios: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Parados de larga duración con especiales dificultades de inserción sociolaboral.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13927"/>
                </a:solidFill>
                <a:latin typeface="Outfit"/>
              </a:rPr>
              <a:t>Medida 1.a.02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Formación para el Empleo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Objetivo: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Adquisición de nuevas cualificaciones alineadas con la transición digital y ecológica.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Contenido: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Cursos vinculados al Catálogo Nacional de Cualificaciones Profesionales (certificados oficiales).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Formato: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Formación dual y microcredenciales modulares para personas trabajadoras desempleadas.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18288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98F71"/>
                </a:solidFill>
                <a:latin typeface="Outfit"/>
              </a:rPr>
              <a:t>Medida 1.a.04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113927"/>
                </a:solidFill>
                <a:latin typeface="Outfit"/>
              </a:rPr>
              <a:t>Incentivos y Bonificaciones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Objetivo: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Reducir la cuña fiscal y el coste de contratación indefinida soportado por la empresa.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Contenido: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Bonificaciones en la cuota patronal a la Seguridad Social (marco RDL 1/2023).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98F71"/>
                </a:solidFill>
                <a:latin typeface="Calibri"/>
              </a:rPr>
              <a:t>Importe Clave: 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Hasta 110–128 €/mes (1.320–1.536 €/año) por contratar a parados de larga duración ≥ 45 años.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3 · Programa FSE+ Andalucía: Financiación y Medidas Autonómicas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75488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297680" cy="4023360"/>
          </a:xfrm>
          <a:prstGeom prst="rect">
            <a:avLst/>
          </a:prstGeom>
          <a:noFill/>
        </p:spPr>
        <p:txBody>
          <a:bodyPr wrap="square" tIns="76200" bIns="76200" lIns="101600" rIns="10160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98F71"/>
                </a:solidFill>
                <a:latin typeface="Outfit"/>
              </a:rPr>
              <a:t>La Tasa de Cofinanciación del 85%</a:t>
            </a:r>
          </a:p>
          <a:p>
            <a:pPr>
              <a:lnSpc>
                <a:spcPct val="110000"/>
              </a:lnSpc>
              <a:spcBef>
                <a:spcPts val="300"/>
              </a:spcBef>
              <a:spcAft>
                <a:spcPts val="400"/>
              </a:spcAft>
            </a:pPr>
            <a:r>
              <a:rPr sz="1250" b="1">
                <a:solidFill>
                  <a:srgbClr val="113927"/>
                </a:solidFill>
                <a:latin typeface="Calibri"/>
              </a:rPr>
              <a:t>Marco de Cohesión (Región Menos Desarrollada)
</a:t>
            </a:r>
            <a:r>
              <a:rPr sz="1150">
                <a:solidFill>
                  <a:srgbClr val="2F3A30"/>
                </a:solidFill>
                <a:latin typeface="Calibri"/>
              </a:rPr>
              <a:t>Por su nivel de PIB pc y desempleo estructural, Andalucía accede a la tasa tope del 85% de cofinanciación comunitaria (Art. 112 Reglamento UE 2021/1060).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>
                <a:solidFill>
                  <a:srgbClr val="113927"/>
                </a:solidFill>
                <a:latin typeface="Calibri"/>
              </a:rPr>
              <a:t>Mecánica Presupuestaria (Reparto 85 / 15)
</a:t>
            </a:r>
            <a:r>
              <a:rPr sz="1150">
                <a:solidFill>
                  <a:srgbClr val="2F3A30"/>
                </a:solidFill>
                <a:latin typeface="Calibri"/>
              </a:rPr>
              <a:t>Por cada 100 € ejecutados en un programa de empleo:
• Unión Europea (FSE+): 85 € (85%)
• Junta de Andalucía: 15 € (15%)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1">
                <a:solidFill>
                  <a:srgbClr val="E98F71"/>
                </a:solidFill>
                <a:latin typeface="Calibri"/>
              </a:rPr>
              <a:t>Efecto Multiplicador (6,67x)
</a:t>
            </a:r>
            <a:r>
              <a:rPr sz="1150">
                <a:solidFill>
                  <a:srgbClr val="2F3A30"/>
                </a:solidFill>
                <a:latin typeface="Calibri"/>
              </a:rPr>
              <a:t>Por cada 1 € autonómico, la UE inyecta 5,67 € adicionales. En una ayuda de 4.500 € (Línea 1.A.06), la UE financia 3.825 € y la Junta solo 675 €.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45920"/>
            <a:ext cx="5669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13927"/>
                </a:solidFill>
                <a:latin typeface="Outfit"/>
              </a:rPr>
              <a:t>Intervenciones Autonómicas Destacadas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1.A.01 · Fomento del Autoempleo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Ayudas a tanto alzado para el inicio de actividad y tarifa plana ampliada para emprendedores senior.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1.A.05 · Activación y Orientación (SAE)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Refuerzo de la red de oficinas del Servicio Andaluz de Empleo con asesores dedicados a parados de larga duración.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1.A.06 · Incentivos a la Contratación Indefinida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Subvenciones directas a empresas andaluzas de 3.500 € a 5.500 € por formalizar contratos indefinidos a mayores de 45 años.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1.A.07 · Conversión a Tiempo Completo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Estímulo para transformar contratos a tiempo parcial en jornadas completas para reducir la subocupación involuntaria.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3 · Matriz Comparativa: Complementariedad Multinivel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72865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Outfit"/>
                        </a:rPr>
                        <a:t>Dimensión Analítica</a:t>
                      </a:r>
                    </a:p>
                  </a:txBody>
                  <a:tcPr>
                    <a:solidFill>
                      <a:srgbClr val="1139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Outfit"/>
                        </a:rPr>
                        <a:t>Programa ÉFESO (Estatal)</a:t>
                      </a:r>
                    </a:p>
                  </a:txBody>
                  <a:tcPr>
                    <a:solidFill>
                      <a:srgbClr val="1139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Outfit"/>
                        </a:rPr>
                        <a:t>Programa FSE+ Andalucía (Regional)</a:t>
                      </a:r>
                    </a:p>
                  </a:txBody>
                  <a:tcPr>
                    <a:solidFill>
                      <a:srgbClr val="11392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3927"/>
                          </a:solidFill>
                          <a:latin typeface="Outfit"/>
                        </a:rPr>
                        <a:t>Ámbito territorial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Nacional plurirregional (todas las CCAA)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Autonómico exclusivo (Andalucía)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3927"/>
                          </a:solidFill>
                          <a:latin typeface="Outfit"/>
                        </a:rPr>
                        <a:t>Autoridad de Gestión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UAFSE (Ministerio de Trabajo y Economía Social)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Consejería de Empleo, Empresa y Trabajo Autónomo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3927"/>
                          </a:solidFill>
                          <a:latin typeface="Outfit"/>
                        </a:rPr>
                        <a:t>Tasa de cofinanciación UE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Variable según categoría regional (40% a 85%)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85% cofinanciación comunitaria fija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3927"/>
                          </a:solidFill>
                          <a:latin typeface="Outfit"/>
                        </a:rPr>
                        <a:t>Tipología de instrumentos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Bonificaciones estatales de cuotas a la SS (RDL 1/2023) y certificados de profesionalidad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Subvenciones directas a pymes (1.A.06), microcréditos y orientación en oficinas SAE (1.A.05)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3927"/>
                          </a:solidFill>
                          <a:latin typeface="Outfit"/>
                        </a:rPr>
                        <a:t>Principio de gobernanza</a:t>
                      </a:r>
                    </a:p>
                  </a:txBody>
                  <a:tcPr>
                    <a:solidFill>
                      <a:srgbClr val="F4F8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Asegura equidad y normas comunes en todo el 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F3A30"/>
                          </a:solidFill>
                          <a:latin typeface="Calibri"/>
                        </a:rPr>
                        <a:t>Subsidiariedad: máxima proximidad a las necesidades locales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6927A"/>
                </a:solidFill>
                <a:latin typeface="Outfit"/>
              </a:rPr>
              <a:t>EPD 2 • GOBERNANZA EUROPEA Y FINANCIACIÓN FSE+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2200" b="1">
                <a:solidFill>
                  <a:srgbClr val="113927"/>
                </a:solidFill>
                <a:latin typeface="Outfit"/>
              </a:rPr>
              <a:t>Fase 3 • Pauta Metodológica para el Eje 2: Cómo Contrastar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76927A"/>
                </a:solidFill>
                <a:latin typeface="Calibri"/>
              </a:rPr>
              <a:t>Políticas Sociolaborales y de Empleo • Grado en RRLL y RRHH •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3818" cy="4450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1520" y="1825920"/>
            <a:ext cx="3023818" cy="409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113927"/>
                </a:solidFill>
                <a:latin typeface="Outfit"/>
              </a:rPr>
              <a:t>1. Mecánica del Incentivo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76927A"/>
                </a:solidFill>
                <a:latin typeface="Calibri"/>
              </a:rPr>
              <a:t>¿Cómo llega el dinero a la empresa?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</a:pPr>
            <a:r>
              <a:rPr sz="1100" b="1">
                <a:solidFill>
                  <a:srgbClr val="113927"/>
                </a:solidFill>
                <a:latin typeface="Calibri"/>
              </a:rPr>
              <a:t>• Estado (ÉFESO / RDL 1/2023): </a:t>
            </a:r>
            <a:r>
              <a:rPr sz="1100">
                <a:solidFill>
                  <a:srgbClr val="2F3A30"/>
                </a:solidFill>
                <a:latin typeface="Calibri"/>
              </a:rPr>
              <a:t>Bonificación diferida en cuotas de Seg. Social (128 €/mes durante 3 años = 4.608 € acumulados). Es un descuento fiscal mensual; no aporta inyección directa de liquidez en la contratación.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</a:pPr>
            <a:r>
              <a:rPr sz="1100" b="1">
                <a:solidFill>
                  <a:srgbClr val="113927"/>
                </a:solidFill>
                <a:latin typeface="Calibri"/>
              </a:rPr>
              <a:t>• Andalucía (FSE+ / Línea 1.A.06): </a:t>
            </a:r>
            <a:r>
              <a:rPr sz="1100">
                <a:solidFill>
                  <a:srgbClr val="2F3A30"/>
                </a:solidFill>
                <a:latin typeface="Calibri"/>
              </a:rPr>
              <a:t>Subvención directa de 4.500 € a fondo perdido abonada en cuenta bancaria a la pyme, dotándola de liquidez operativa inmediata para amortiguar el coste salarial inicial.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645920"/>
            <a:ext cx="3423818" cy="4450000"/>
          </a:xfrm>
          <a:prstGeom prst="roundRect">
            <a:avLst/>
          </a:prstGeom>
          <a:solidFill>
            <a:srgbClr val="F4F8F5"/>
          </a:solidFill>
          <a:ln w="2540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3938" y="1825920"/>
            <a:ext cx="3023818" cy="409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E98F71"/>
                </a:solidFill>
                <a:latin typeface="Outfit"/>
              </a:rPr>
              <a:t>2. Palanca del 85% y Multiplicador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76927A"/>
                </a:solidFill>
                <a:latin typeface="Calibri"/>
              </a:rPr>
              <a:t>¿Cuánto financia la UE y cuánto la Junta?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</a:pPr>
            <a:r>
              <a:rPr sz="1100" b="1">
                <a:solidFill>
                  <a:srgbClr val="113927"/>
                </a:solidFill>
                <a:latin typeface="Calibri"/>
              </a:rPr>
              <a:t>• Cofinanciación comunitaria tope (85%): </a:t>
            </a:r>
            <a:r>
              <a:rPr sz="1100">
                <a:solidFill>
                  <a:srgbClr val="2F3A30"/>
                </a:solidFill>
                <a:latin typeface="Calibri"/>
              </a:rPr>
              <a:t>Por ser región menos desarrollada, de cada ayuda de 4.500 €, la UE paga 3.825 € (85%) y la Junta solo aporta 675 € (15%).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</a:pPr>
            <a:r>
              <a:rPr sz="1100" b="1">
                <a:solidFill>
                  <a:srgbClr val="113927"/>
                </a:solidFill>
                <a:latin typeface="Calibri"/>
              </a:rPr>
              <a:t>• Efecto multiplicador (6,67x): </a:t>
            </a:r>
            <a:r>
              <a:rPr sz="1100">
                <a:solidFill>
                  <a:srgbClr val="2F3A30"/>
                </a:solidFill>
                <a:latin typeface="Calibri"/>
              </a:rPr>
              <a:t>Por cada 1 € del presupuesto andaluz, Europa inyecta 5,67 €. Con solo 675.000 € autonómicos se financian 1.000 contratos indefinidos sénior.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1645920"/>
            <a:ext cx="3423818" cy="44500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769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6356" y="1825920"/>
            <a:ext cx="3023818" cy="409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76927A"/>
                </a:solidFill>
                <a:latin typeface="Outfit"/>
              </a:rPr>
              <a:t>3. Condicionalidad y Estabilidad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113927"/>
                </a:solidFill>
                <a:latin typeface="Calibri"/>
              </a:rPr>
              <a:t>¿Qué compromiso se exige a la pyme?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</a:pPr>
            <a:r>
              <a:rPr sz="1100" b="1">
                <a:solidFill>
                  <a:srgbClr val="113927"/>
                </a:solidFill>
                <a:latin typeface="Calibri"/>
              </a:rPr>
              <a:t>• Exigencia de permanencia vinculante: </a:t>
            </a:r>
            <a:r>
              <a:rPr sz="1100">
                <a:solidFill>
                  <a:srgbClr val="2F3A30"/>
                </a:solidFill>
                <a:latin typeface="Calibri"/>
              </a:rPr>
              <a:t>La ayuda andaluza obliga a mantener el contrato indefinido a jornada completa al menos 24 meses continuos (so pena de reintegro total con intereses).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800"/>
              </a:spcAft>
            </a:pPr>
            <a:r>
              <a:rPr sz="1100" b="1">
                <a:solidFill>
                  <a:srgbClr val="113927"/>
                </a:solidFill>
                <a:latin typeface="Calibri"/>
              </a:rPr>
              <a:t>• Eficacia frente al edadismo: </a:t>
            </a:r>
            <a:r>
              <a:rPr sz="1100">
                <a:solidFill>
                  <a:srgbClr val="2F3A30"/>
                </a:solidFill>
                <a:latin typeface="Calibri"/>
              </a:rPr>
              <a:t>Evita el efecto sustitución y la rotación efímera, garantizando un empleo estable y sostenible para el colectivo mayor de 45–50 años.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Fase 4 · Redacción y Subida del Entregable Individual 2 (60–90 min)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98F71"/>
                </a:solidFill>
                <a:latin typeface="Outfit"/>
              </a:rPr>
              <a:t>Estructura del Informe Técnico (400–600 palabras)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Sección 1 · Trazabilidad Jurídica (150 palabras)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Vincular el PEDS (Principios 4 y 1) con los Objetivos Específicos OE1 y OE3 del FSE+ (Art. 4 Reglamento UE 2021/1057) para parados de larga duración.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Sección 2 · Análisis Comparativo de Medidas (200 palabras)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Contrastar una medida estatal de ÉFESO (ej. bonificación SS) con una medida autonómica de FSE+ Andalucía (ej. ayuda 1.A.06), explicando el impacto de la cofinanciación al 85%.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Sección 3 · Dictamen Crítico Aplicado (150 palabras)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Proponer dos recomendaciones para mejorar la empleabilidad de un parado mayor de 50 años en Sevilla combinando ambas vías.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13927"/>
                </a:solidFill>
                <a:latin typeface="Outfit"/>
              </a:rPr>
              <a:t>Criterios de Evaluación Oficial (0,50 puntos)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Trazabilidad Normativa (0,15 pts)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Identificación precisa de artículos, principios del PEDS y códigos OE del reglamento comunitario.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Rigor Técnico y Financiero (0,20 pts)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Comprensión exacta de la tasa de cofinanciación comunitaria (85%) y distinción de roles entre MITES y Junta de Andalucía.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113927"/>
                </a:solidFill>
                <a:latin typeface="Calibri"/>
              </a:rPr>
              <a:t>Propuesta Aplicada y Viabilidad (0,15 pts)
</a:t>
            </a:r>
            <a:r>
              <a:rPr sz="1300" b="0" i="0">
                <a:solidFill>
                  <a:srgbClr val="2F3A30"/>
                </a:solidFill>
                <a:latin typeface="Calibri"/>
              </a:rPr>
              <a:t>Coherencia de la solución sociolaboral planteada para el colectivo de mayor edad en el contexto andaluz.</a:t>
            </a:r>
          </a:p>
          <a:p>
            <a:pPr>
              <a:spcBef>
                <a:spcPts val="800"/>
              </a:spcBef>
              <a:defRPr sz="1100" b="1">
                <a:solidFill>
                  <a:srgbClr val="113927"/>
                </a:solidFill>
                <a:latin typeface="Calibri"/>
              </a:defRPr>
            </a:pPr>
            <a:r>
              <a:t>Entrega en equipos de hasta 3 personas. Sellado digital SHA-256 en la app y descarga del PDF oficial (un solo envío por equipo al Aula Virtual).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6927A"/>
                </a:solidFill>
                <a:latin typeface="Outfit"/>
              </a:rPr>
              <a:t>EPD 2 · GOBERNANZA EUROPEA Y FINANCIACIÓN FSE+</a:t>
            </a:r>
          </a:p>
          <a:p>
            <a:r>
              <a:rPr sz="2200" b="1" i="0">
                <a:solidFill>
                  <a:srgbClr val="113927"/>
                </a:solidFill>
                <a:latin typeface="Outfit"/>
              </a:rPr>
              <a:t>Conclusiones Clave y Conexión con EPD 3</a:t>
            </a:r>
          </a:p>
        </p:txBody>
      </p:sp>
      <p:pic>
        <p:nvPicPr>
          <p:cNvPr id="3" name="Picture 2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411480"/>
            <a:ext cx="926287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44652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 b="0" i="0">
                <a:solidFill>
                  <a:srgbClr val="76927A"/>
                </a:solidFill>
                <a:latin typeface="Calibri"/>
              </a:rPr>
              <a:t>Políticas Sociolaborales y de Empleo · Grado en RRLL y RRHH · Universidad Pablo de Olavide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139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13927"/>
                </a:solidFill>
                <a:latin typeface="Outfit"/>
              </a:rPr>
              <a:t>Síntesis de Aprendizaje · ¿Qué nos llevamos hoy?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• La política activa no nace en el vacío: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Todo programa de empleo aplicado en Sevilla responde a una cadena jerárquica comunitaria: PEDS ➔ Semestre Europeo ➔ Reglamento FSE+ ➔ Programación Operativa.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• La condicionalidad y la cofinanciación mandan: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Los Estados miembros y las CC.AA. no gastan libremente los fondos: están obligados a justificar indicadores de resultado (inserción y cualificación) para desbloquear el reembolso de Bruselas.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• Andalucía como máxima receptora: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La tasa del 85% convierte al FSE+ en el motor financiero imprescindible para cualquier política activa frente al desempleo de larga duración en nuestra comunidad autónoma.</a:t>
            </a:r>
          </a:p>
          <a:p>
            <a:pPr>
              <a:spcBef>
                <a:spcPts val="1000"/>
              </a:spcBef>
            </a:pPr>
            <a:r>
              <a:rPr sz="1400" b="1" i="0">
                <a:solidFill>
                  <a:srgbClr val="113927"/>
                </a:solidFill>
                <a:latin typeface="Calibri"/>
              </a:rPr>
              <a:t>• Avance EPD 3: Del marco financiero a la contratación laboral: </a:t>
            </a:r>
            <a:r>
              <a:rPr sz="1400" b="0" i="0">
                <a:solidFill>
                  <a:srgbClr val="2F3A30"/>
                </a:solidFill>
                <a:latin typeface="Calibri"/>
              </a:rPr>
              <a:t>En la siguiente sesión analizaremos la otra cara de la moneda: el marco regulatorio del contrato de trabajo y el impacto de la Reforma Laboral de 2021 sobre la estabilidad y la contratación indefinida.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